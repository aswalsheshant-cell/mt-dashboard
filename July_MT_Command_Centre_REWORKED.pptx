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6858000" cy="12191695"/>
  <p:notesSz cx="12191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Sheet1!$B$2:$B$7</c:f>
              <c:numCache>
                <c:formatCode>General</c:formatCode>
                <c:ptCount val="6"/>
                <c:pt idx="0">
                  <c:v>10.0524</c:v>
                </c:pt>
                <c:pt idx="1">
                  <c:v>9.7986</c:v>
                </c:pt>
                <c:pt idx="2">
                  <c:v>11.9527</c:v>
                </c:pt>
                <c:pt idx="3">
                  <c:v>6.8914</c:v>
                </c:pt>
                <c:pt idx="4">
                  <c:v>7.8306</c:v>
                </c:pt>
                <c:pt idx="5">
                  <c:v>2.6873</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West</c:v>
                  </c:pt>
                  <c:pt idx="1">
                    <c:v>S-1</c:v>
                  </c:pt>
                  <c:pt idx="2">
                    <c:v>North</c:v>
                  </c:pt>
                  <c:pt idx="3">
                    <c:v>S-2</c:v>
                  </c:pt>
                  <c:pt idx="4">
                    <c:v>East</c:v>
                  </c:pt>
                  <c:pt idx="5">
                    <c:v>Central</c:v>
                  </c:pt>
                </c:lvl>
              </c:multiLvlStrCache>
            </c:multiLvlStrRef>
          </c:cat>
          <c:val>
            <c:numRef>
              <c:f>Sheet1!$C$2:$C$7</c:f>
              <c:numCache>
                <c:formatCode>General</c:formatCode>
                <c:ptCount val="6"/>
                <c:pt idx="0">
                  <c:v>8.2769</c:v>
                </c:pt>
                <c:pt idx="1">
                  <c:v>8.1886</c:v>
                </c:pt>
                <c:pt idx="2">
                  <c:v>6.9873</c:v>
                </c:pt>
                <c:pt idx="3">
                  <c:v>4.9102</c:v>
                </c:pt>
                <c:pt idx="4">
                  <c:v>3.5511</c:v>
                </c:pt>
                <c:pt idx="5">
                  <c:v>2.1177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riser</c:v>
                </c:pt>
              </c:strCache>
            </c:strRef>
          </c:tx>
          <c:spPr>
            <a:solidFill>
              <a:srgbClr val="FFFFFF"/>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Sheet1!$B$2:$B$4</c:f>
              <c:numCache>
                <c:formatCode>General</c:formatCode>
                <c:ptCount val="3"/>
                <c:pt idx="0">
                  <c:v>0</c:v>
                </c:pt>
                <c:pt idx="1">
                  <c:v>33.96</c:v>
                </c:pt>
                <c:pt idx="2">
                  <c:v>0</c:v>
                </c:pt>
              </c:numCache>
            </c:numRef>
          </c:val>
        </c:ser>
        <c:ser>
          <c:idx val="1"/>
          <c:order val="1"/>
          <c:tx>
            <c:strRef>
              <c:f>Sheet1!$C$1</c:f>
              <c:strCache>
                <c:ptCount val="1"/>
                <c:pt idx="0">
                  <c:v>MT primary</c:v>
                </c:pt>
              </c:strCache>
            </c:strRef>
          </c:tx>
          <c:spPr>
            <a:solidFill>
              <a:srgbClr val="2E7DA8"/>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Sheet1!$C$2:$C$4</c:f>
              <c:numCache>
                <c:formatCode>General</c:formatCode>
                <c:ptCount val="3"/>
                <c:pt idx="0">
                  <c:v>47.02</c:v>
                </c:pt>
                <c:pt idx="1">
                  <c:v/>
                </c:pt>
                <c:pt idx="2">
                  <c:v/>
                </c:pt>
              </c:numCache>
            </c:numRef>
          </c:val>
        </c:ser>
        <c:ser>
          <c:idx val="2"/>
          <c:order val="2"/>
          <c:tx>
            <c:strRef>
              <c:f>Sheet1!$D$1</c:f>
              <c:strCache>
                <c:ptCount val="1"/>
                <c:pt idx="0">
                  <c:v>not converted</c:v>
                </c:pt>
              </c:strCache>
            </c:strRef>
          </c:tx>
          <c:spPr>
            <a:solidFill>
              <a:srgbClr val="D6544D"/>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Sheet1!$D$2:$D$4</c:f>
              <c:numCache>
                <c:formatCode>General</c:formatCode>
                <c:ptCount val="3"/>
                <c:pt idx="0">
                  <c:v/>
                </c:pt>
                <c:pt idx="1">
                  <c:v>13.06</c:v>
                </c:pt>
                <c:pt idx="2">
                  <c:v/>
                </c:pt>
              </c:numCache>
            </c:numRef>
          </c:val>
        </c:ser>
        <c:ser>
          <c:idx val="3"/>
          <c:order val="3"/>
          <c:tx>
            <c:strRef>
              <c:f>Sheet1!$E$1</c:f>
              <c:strCache>
                <c:ptCount val="1"/>
                <c:pt idx="0">
                  <c:v>MT offtake</c:v>
                </c:pt>
              </c:strCache>
            </c:strRef>
          </c:tx>
          <c:spPr>
            <a:solidFill>
              <a:srgbClr val="28A596"/>
            </a:solidFill>
            <a:effectLst/>
          </c:spPr>
          <c:invertIfNegative val="0"/>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Primary</c:v>
                  </c:pt>
                  <c:pt idx="1">
                    <c:v>Gap</c:v>
                  </c:pt>
                  <c:pt idx="2">
                    <c:v>Offtake</c:v>
                  </c:pt>
                </c:lvl>
              </c:multiLvlStrCache>
            </c:multiLvlStrRef>
          </c:cat>
          <c:val>
            <c:numRef>
              <c:f>Sheet1!$E$2:$E$4</c:f>
              <c:numCache>
                <c:formatCode>General</c:formatCode>
                <c:ptCount val="3"/>
                <c:pt idx="0">
                  <c:v/>
                </c:pt>
                <c:pt idx="1">
                  <c:v/>
                </c:pt>
                <c:pt idx="2">
                  <c:v>33.96</c:v>
                </c:pt>
              </c:numCache>
            </c:numRef>
          </c:val>
        </c:ser>
        <c:dLbls>
          <c:numFmt formatCode="0.00;;" sourceLinked="0"/>
          <c:txPr>
            <a:bodyPr/>
            <a:lstStyle/>
            <a:p>
              <a:pPr>
                <a:defRPr b="0" i="0" strike="noStrike" sz="64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Recoverable</c:v>
                </c:pt>
              </c:strCache>
            </c:strRef>
          </c:tx>
          <c:spPr>
            <a:solidFill>
              <a:srgbClr val="2B9A66"/>
            </a:solidFill>
            <a:effectLst/>
          </c:spPr>
          <c:invertIfNegative val="0"/>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Sheet1!$A$2:$A$4</c:f>
              <c:multiLvlStrCache>
                <c:ptCount val="3"/>
                <c:lvl>
                  <c:pt idx="0">
                    <c:v>South-2</c:v>
                  </c:pt>
                  <c:pt idx="1">
                    <c:v>East</c:v>
                  </c:pt>
                  <c:pt idx="2">
                    <c:v>North</c:v>
                  </c:pt>
                </c:lvl>
              </c:multiLvlStrCache>
            </c:multiLvlStrRef>
          </c:cat>
          <c:val>
            <c:numRef>
              <c:f>Sheet1!$B$2:$B$4</c:f>
              <c:numCache>
                <c:formatCode>General</c:formatCode>
                <c:ptCount val="3"/>
                <c:pt idx="0">
                  <c:v>0.9</c:v>
                </c:pt>
                <c:pt idx="1">
                  <c:v>2.55</c:v>
                </c:pt>
                <c:pt idx="2">
                  <c:v>2.79</c:v>
                </c:pt>
              </c:numCache>
            </c:numRef>
          </c:val>
        </c:ser>
        <c:dLbls>
          <c:numFmt formatCode="0.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3.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48</c:v>
                </c:pt>
                <c:pt idx="1">
                  <c:v>42.32</c:v>
                </c:pt>
                <c:pt idx="2">
                  <c:v>39.41</c:v>
                </c:pt>
                <c:pt idx="3">
                  <c:v>47.02</c:v>
                </c:pt>
              </c:numCache>
            </c:numRef>
          </c:val>
        </c:ser>
        <c:ser>
          <c:idx val="1"/>
          <c:order val="1"/>
          <c:tx>
            <c:strRef>
              <c:f>Sheet1!$C$1</c:f>
              <c:strCache>
                <c:ptCount val="1"/>
                <c:pt idx="0">
                  <c:v>Offtake</c:v>
                </c:pt>
              </c:strCache>
            </c:strRef>
          </c:tx>
          <c:spPr>
            <a:solidFill>
              <a:srgbClr val="28A596"/>
            </a:solidFill>
            <a:effectLst/>
          </c:spPr>
          <c:invertIfNegative val="0"/>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cat>
            <c:multiLvlStrRef>
              <c:f>Sheet1!$A$2:$A$5</c:f>
              <c:multiLvlStrCache>
                <c:ptCount val="4"/>
                <c:lvl>
                  <c:pt idx="0">
                    <c:v>Apr</c:v>
                  </c:pt>
                  <c:pt idx="1">
                    <c:v>May</c:v>
                  </c:pt>
                  <c:pt idx="2">
                    <c:v>Jun</c:v>
                  </c:pt>
                  <c:pt idx="3">
                    <c:v>Jul</c:v>
                  </c:pt>
                </c:lvl>
              </c:multiLvlStrCache>
            </c:multiLvlStrRef>
          </c:cat>
          <c:val>
            <c:numRef>
              <c:f>Sheet1!$C$2:$C$5</c:f>
              <c:numCache>
                <c:formatCode>General</c:formatCode>
                <c:ptCount val="4"/>
                <c:pt idx="0">
                  <c:v>33.6</c:v>
                </c:pt>
                <c:pt idx="1">
                  <c:v>38.11</c:v>
                </c:pt>
                <c:pt idx="2">
                  <c:v>36.04</c:v>
                </c:pt>
                <c:pt idx="3">
                  <c:v>33.96</c:v>
                </c:pt>
              </c:numCache>
            </c:numRef>
          </c:val>
        </c:ser>
        <c:dLbls>
          <c:numFmt formatCode="0.0" sourceLinked="0"/>
          <c:txPr>
            <a:bodyPr/>
            <a:lstStyle/>
            <a:p>
              <a:pPr>
                <a:defRPr b="0" i="0" strike="noStrike" sz="600" u="none">
                  <a:solidFill>
                    <a:srgbClr val="183B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55"/>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2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Conversion</c:v>
                </c:pt>
              </c:strCache>
            </c:strRef>
          </c:tx>
          <c:spPr>
            <a:solidFill>
              <a:srgbClr val="D6544D"/>
            </a:solidFill>
            <a:ln w="31750" cap="flat">
              <a:solidFill>
                <a:srgbClr val="D6544D"/>
              </a:solidFill>
              <a:prstDash val="solid"/>
              <a:round/>
            </a:ln>
            <a:effectLst/>
          </c:spPr>
          <c:invertIfNegative val="0"/>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Sheet1!$A$2:$A$5</c:f>
              <c:multiLvlStrCache>
                <c:ptCount val="4"/>
                <c:lvl>
                  <c:pt idx="0">
                    <c:v>Apr</c:v>
                  </c:pt>
                  <c:pt idx="1">
                    <c:v>May</c:v>
                  </c:pt>
                  <c:pt idx="2">
                    <c:v>Jun</c:v>
                  </c:pt>
                  <c:pt idx="3">
                    <c:v>Jul</c:v>
                  </c:pt>
                </c:lvl>
              </c:multiLvlStrCache>
            </c:multiLvlStrRef>
          </c:cat>
          <c:val>
            <c:numRef>
              <c:f>Sheet1!$B$2:$B$5</c:f>
              <c:numCache>
                <c:formatCode>General</c:formatCode>
                <c:ptCount val="4"/>
                <c:pt idx="0">
                  <c:v>70</c:v>
                </c:pt>
                <c:pt idx="1">
                  <c:v>90.1</c:v>
                </c:pt>
                <c:pt idx="2">
                  <c:v>91.4</c:v>
                </c:pt>
                <c:pt idx="3">
                  <c:v>72.2</c:v>
                </c:pt>
              </c:numCache>
            </c:numRef>
          </c:val>
          <c:smooth val="0"/>
        </c:ser>
        <c:dLbls>
          <c:numFmt formatCode="0.0" sourceLinked="0"/>
          <c:txPr>
            <a:bodyPr/>
            <a:lstStyle/>
            <a:p>
              <a:pPr>
                <a:defRPr b="0" i="0" strike="noStrike" sz="660" u="none">
                  <a:solidFill>
                    <a:srgbClr val="183B39"/>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West</c:v>
                </c:pt>
              </c:strCache>
            </c:strRef>
          </c:tx>
          <c:spPr>
            <a:solidFill>
              <a:srgbClr val="2B9A66"/>
            </a:solidFill>
            <a:ln>
              <a:noFill/>
            </a:ln>
            <a:effectLst/>
          </c:spPr>
          <c:marker>
            <c:symbol val="circle"/>
            <c:size val="9"/>
            <c:spPr>
              <a:solidFill>
                <a:srgbClr val="2B9A66"/>
              </a:solidFill>
              <a:ln w="9525" cap="flat">
                <a:solidFill>
                  <a:srgbClr val="2B9A66"/>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Sheet1!$B$2:$B$6</c:f>
              <c:numCache>
                <c:formatCode>General</c:formatCode>
                <c:ptCount val="5"/>
                <c:pt idx="0">
                  <c:v>85.2</c:v>
                </c:pt>
                <c:pt idx="1">
                  <c:v/>
                </c:pt>
                <c:pt idx="2">
                  <c:v/>
                </c:pt>
                <c:pt idx="3">
                  <c:v/>
                </c:pt>
                <c:pt idx="4">
                  <c:v/>
                </c:pt>
              </c:numCache>
            </c:numRef>
          </c:yVal>
          <c:smooth val="0"/>
        </c:ser>
        <c:ser>
          <c:idx val="1"/>
          <c:order val="1"/>
          <c:tx>
            <c:strRef>
              <c:f>Sheet1!$C$1</c:f>
              <c:strCache>
                <c:ptCount val="1"/>
                <c:pt idx="0">
                  <c:v>South-1</c:v>
                </c:pt>
              </c:strCache>
            </c:strRef>
          </c:tx>
          <c:spPr>
            <a:solidFill>
              <a:srgbClr val="2B9A66"/>
            </a:solidFill>
            <a:ln>
              <a:noFill/>
            </a:ln>
            <a:effectLst/>
          </c:spPr>
          <c:marker>
            <c:symbol val="circle"/>
            <c:size val="9"/>
            <c:spPr>
              <a:solidFill>
                <a:srgbClr val="2B9A66"/>
              </a:solidFill>
              <a:ln w="9525" cap="flat">
                <a:solidFill>
                  <a:srgbClr val="2B9A66"/>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Sheet1!$C$2:$C$6</c:f>
              <c:numCache>
                <c:formatCode>General</c:formatCode>
                <c:ptCount val="5"/>
                <c:pt idx="0">
                  <c:v/>
                </c:pt>
                <c:pt idx="1">
                  <c:v>86.3</c:v>
                </c:pt>
                <c:pt idx="2">
                  <c:v/>
                </c:pt>
                <c:pt idx="3">
                  <c:v/>
                </c:pt>
                <c:pt idx="4">
                  <c:v/>
                </c:pt>
              </c:numCache>
            </c:numRef>
          </c:yVal>
          <c:smooth val="0"/>
        </c:ser>
        <c:ser>
          <c:idx val="2"/>
          <c:order val="2"/>
          <c:tx>
            <c:strRef>
              <c:f>Sheet1!$D$1</c:f>
              <c:strCache>
                <c:ptCount val="1"/>
                <c:pt idx="0">
                  <c:v>South-2</c:v>
                </c:pt>
              </c:strCache>
            </c:strRef>
          </c:tx>
          <c:spPr>
            <a:solidFill>
              <a:srgbClr val="F2B84B"/>
            </a:solidFill>
            <a:ln>
              <a:noFill/>
            </a:ln>
            <a:effectLst/>
          </c:spPr>
          <c:marker>
            <c:symbol val="circle"/>
            <c:size val="9"/>
            <c:spPr>
              <a:solidFill>
                <a:srgbClr val="F2B84B"/>
              </a:solidFill>
              <a:ln w="9525" cap="flat">
                <a:solidFill>
                  <a:srgbClr val="F2B84B"/>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Sheet1!$D$2:$D$6</c:f>
              <c:numCache>
                <c:formatCode>General</c:formatCode>
                <c:ptCount val="5"/>
                <c:pt idx="0">
                  <c:v/>
                </c:pt>
                <c:pt idx="1">
                  <c:v/>
                </c:pt>
                <c:pt idx="2">
                  <c:v>72.4</c:v>
                </c:pt>
                <c:pt idx="3">
                  <c:v/>
                </c:pt>
                <c:pt idx="4">
                  <c:v/>
                </c:pt>
              </c:numCache>
            </c:numRef>
          </c:yVal>
          <c:smooth val="0"/>
        </c:ser>
        <c:ser>
          <c:idx val="3"/>
          <c:order val="3"/>
          <c:tx>
            <c:strRef>
              <c:f>Sheet1!$E$1</c:f>
              <c:strCache>
                <c:ptCount val="1"/>
                <c:pt idx="0">
                  <c:v>North</c:v>
                </c:pt>
              </c:strCache>
            </c:strRef>
          </c:tx>
          <c:spPr>
            <a:solidFill>
              <a:srgbClr val="D6544D"/>
            </a:solidFill>
            <a:ln>
              <a:noFill/>
            </a:ln>
            <a:effectLst/>
          </c:spPr>
          <c:marker>
            <c:symbol val="circle"/>
            <c:size val="9"/>
            <c:spPr>
              <a:solidFill>
                <a:srgbClr val="D6544D"/>
              </a:solidFill>
              <a:ln w="9525" cap="flat">
                <a:solidFill>
                  <a:srgbClr val="D6544D"/>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Sheet1!$E$2:$E$6</c:f>
              <c:numCache>
                <c:formatCode>General</c:formatCode>
                <c:ptCount val="5"/>
                <c:pt idx="0">
                  <c:v/>
                </c:pt>
                <c:pt idx="1">
                  <c:v/>
                </c:pt>
                <c:pt idx="2">
                  <c:v/>
                </c:pt>
                <c:pt idx="3">
                  <c:v>61.2</c:v>
                </c:pt>
                <c:pt idx="4">
                  <c:v/>
                </c:pt>
              </c:numCache>
            </c:numRef>
          </c:yVal>
          <c:smooth val="0"/>
        </c:ser>
        <c:ser>
          <c:idx val="4"/>
          <c:order val="4"/>
          <c:tx>
            <c:strRef>
              <c:f>Sheet1!$F$1</c:f>
              <c:strCache>
                <c:ptCount val="1"/>
                <c:pt idx="0">
                  <c:v>East</c:v>
                </c:pt>
              </c:strCache>
            </c:strRef>
          </c:tx>
          <c:spPr>
            <a:solidFill>
              <a:srgbClr val="D6544D"/>
            </a:solidFill>
            <a:ln>
              <a:noFill/>
            </a:ln>
            <a:effectLst/>
          </c:spPr>
          <c:marker>
            <c:symbol val="circle"/>
            <c:size val="9"/>
            <c:spPr>
              <a:solidFill>
                <a:srgbClr val="D6544D"/>
              </a:solidFill>
              <a:ln w="9525" cap="flat">
                <a:solidFill>
                  <a:srgbClr val="D6544D"/>
                </a:solidFill>
                <a:prstDash val="solid"/>
                <a:round/>
              </a:ln>
              <a:effectLst/>
            </c:spPr>
          </c:marker>
          <c:xVal>
            <c:numRef>
              <c:f>Sheet1!$A$2:$A$6</c:f>
              <c:numCache>
                <c:formatCode>General</c:formatCode>
                <c:ptCount val="5"/>
                <c:pt idx="0">
                  <c:v>-19.5</c:v>
                </c:pt>
                <c:pt idx="1">
                  <c:v>-10.5</c:v>
                </c:pt>
                <c:pt idx="2">
                  <c:v>4.3</c:v>
                </c:pt>
                <c:pt idx="3">
                  <c:v>16.4</c:v>
                </c:pt>
                <c:pt idx="4">
                  <c:v>62.8</c:v>
                </c:pt>
              </c:numCache>
            </c:numRef>
          </c:xVal>
          <c:yVal>
            <c:numRef>
              <c:f>Sheet1!$F$2:$F$6</c:f>
              <c:numCache>
                <c:formatCode>General</c:formatCode>
                <c:ptCount val="5"/>
                <c:pt idx="0">
                  <c:v/>
                </c:pt>
                <c:pt idx="1">
                  <c:v/>
                </c:pt>
                <c:pt idx="2">
                  <c:v/>
                </c:pt>
                <c:pt idx="3">
                  <c:v/>
                </c:pt>
                <c:pt idx="4">
                  <c:v>49.9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70"/>
          <c:min val="-30"/>
        </c:scaling>
        <c:delete val="0"/>
        <c:axPos val="b"/>
        <c:title>
          <c:tx>
            <c:rich>
              <a:bodyPr/>
              <a:lstStyle/>
              <a:p>
                <a:pPr>
                  <a:defRPr sz="640" b="0" i="0" u="none" strike="noStrike">
                    <a:solidFill>
                      <a:srgbClr val="000000"/>
                    </a:solidFill>
                    <a:latin typeface="Arial"/>
                  </a:defRPr>
                </a:pPr>
                <a:r>
                  <a:rPr sz="640" b="0" i="0" u="none" strike="noStrike">
                    <a:solidFill>
                      <a:srgbClr val="000000"/>
                    </a:solidFill>
                    <a:latin typeface="Arial"/>
                  </a:rPr>
                  <a:t>July primary vs Q1 monthly run-rate, %</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valAx>
      <c:valAx>
        <c:axId val="2094734552"/>
        <c:scaling>
          <c:orientation val="minMax"/>
          <c:max val="95"/>
          <c:min val="40"/>
        </c:scaling>
        <c:delete val="0"/>
        <c:axPos val="l"/>
        <c:majorGridlines>
          <c:spPr>
            <a:ln w="6350" cap="flat">
              <a:solidFill>
                <a:srgbClr val="E8F0EE"/>
              </a:solidFill>
              <a:prstDash val="solid"/>
              <a:round/>
            </a:ln>
          </c:spPr>
        </c:majorGridlines>
        <c:title>
          <c:tx>
            <c:rich>
              <a:bodyPr/>
              <a:lstStyle/>
              <a:p>
                <a:pPr>
                  <a:defRPr sz="640" b="0" i="0" u="none" strike="noStrike">
                    <a:solidFill>
                      <a:srgbClr val="000000"/>
                    </a:solidFill>
                    <a:latin typeface="Arial"/>
                  </a:defRPr>
                </a:pPr>
                <a:r>
                  <a:rPr sz="640" b="0" i="0" u="none" strike="noStrike">
                    <a:solidFill>
                      <a:srgbClr val="000000"/>
                    </a:solidFill>
                    <a:latin typeface="Arial"/>
                  </a:rPr>
                  <a:t>July conversion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midCat"/>
      </c:valAx>
      <c:spPr>
        <a:noFill/>
        <a:ln w="12700" cap="flat">
          <a:solidFill>
            <a:srgbClr val="FFFFFF"/>
          </a:solidFill>
        </a:ln>
        <a:effectLst/>
      </c:spPr>
    </c:plotArea>
    <c:legend>
      <c:legendPos val="r"/>
      <c:overlay val="0"/>
      <c:txPr>
        <a:bodyPr/>
        <a:lstStyle/>
        <a:p>
          <a:pPr>
            <a:defRPr sz="640">
              <a:solidFill>
                <a:srgbClr val="5F716E"/>
              </a:solidFill>
            </a:defRPr>
          </a:pPr>
          <a:endParaRPr lang="en-US"/>
        </a:p>
      </c:txPr>
    </c:legend>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2.0929</c:v>
                </c:pt>
                <c:pt idx="1">
                  <c:v>2.454</c:v>
                </c:pt>
                <c:pt idx="2">
                  <c:v>2.423</c:v>
                </c:pt>
                <c:pt idx="3">
                  <c:v>2.726</c:v>
                </c:pt>
                <c:pt idx="4">
                  <c:v>2.8988</c:v>
                </c:pt>
                <c:pt idx="5">
                  <c:v>2.3895</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1.3295</c:v>
                </c:pt>
                <c:pt idx="1">
                  <c:v>1.5493</c:v>
                </c:pt>
                <c:pt idx="2">
                  <c:v>1.5924</c:v>
                </c:pt>
                <c:pt idx="3">
                  <c:v>1.6361</c:v>
                </c:pt>
                <c:pt idx="4">
                  <c:v>1.7881</c:v>
                </c:pt>
                <c:pt idx="5">
                  <c:v>1.5283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0.4378</c:v>
                </c:pt>
                <c:pt idx="1">
                  <c:v>1.0265</c:v>
                </c:pt>
                <c:pt idx="2">
                  <c:v>0.9663</c:v>
                </c:pt>
                <c:pt idx="3">
                  <c:v>0.815</c:v>
                </c:pt>
                <c:pt idx="4">
                  <c:v>0.4599</c:v>
                </c:pt>
                <c:pt idx="5">
                  <c:v>0.219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1.1237</c:v>
                </c:pt>
                <c:pt idx="1">
                  <c:v>1.3265</c:v>
                </c:pt>
                <c:pt idx="2">
                  <c:v>1.4203</c:v>
                </c:pt>
                <c:pt idx="3">
                  <c:v>2.0396</c:v>
                </c:pt>
                <c:pt idx="4">
                  <c:v>2.1851</c:v>
                </c:pt>
                <c:pt idx="5">
                  <c:v>2.8436</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0.3484</c:v>
                </c:pt>
                <c:pt idx="1">
                  <c:v>0.6647</c:v>
                </c:pt>
                <c:pt idx="2">
                  <c:v>0.728</c:v>
                </c:pt>
                <c:pt idx="3">
                  <c:v>1.0665</c:v>
                </c:pt>
                <c:pt idx="4">
                  <c:v>0.6722</c:v>
                </c:pt>
                <c:pt idx="5">
                  <c:v>0.5503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0.1706</c:v>
                </c:pt>
                <c:pt idx="1">
                  <c:v>0.1715</c:v>
                </c:pt>
                <c:pt idx="2">
                  <c:v>0.1977</c:v>
                </c:pt>
                <c:pt idx="3">
                  <c:v>0.1672</c:v>
                </c:pt>
                <c:pt idx="4">
                  <c:v>0.1629</c:v>
                </c:pt>
                <c:pt idx="5">
                  <c:v>0.2181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0.9362</c:v>
                </c:pt>
                <c:pt idx="1">
                  <c:v>1.0264</c:v>
                </c:pt>
                <c:pt idx="2">
                  <c:v>1.0769</c:v>
                </c:pt>
                <c:pt idx="3">
                  <c:v>1.2856</c:v>
                </c:pt>
                <c:pt idx="4">
                  <c:v>1.1223</c:v>
                </c:pt>
                <c:pt idx="5">
                  <c:v>1.1188</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0.8603</c:v>
                </c:pt>
                <c:pt idx="1">
                  <c:v>0.9523</c:v>
                </c:pt>
                <c:pt idx="2">
                  <c:v>0.9632</c:v>
                </c:pt>
                <c:pt idx="3">
                  <c:v>1.2141</c:v>
                </c:pt>
                <c:pt idx="4">
                  <c:v>1.2798</c:v>
                </c:pt>
                <c:pt idx="5">
                  <c:v>1.2277</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0.2641</c:v>
                </c:pt>
                <c:pt idx="1">
                  <c:v>0.3788</c:v>
                </c:pt>
                <c:pt idx="2">
                  <c:v>0.4567</c:v>
                </c:pt>
                <c:pt idx="3">
                  <c:v>0.4755</c:v>
                </c:pt>
                <c:pt idx="4">
                  <c:v>0.3346</c:v>
                </c:pt>
                <c:pt idx="5">
                  <c:v>0.3219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0.3679</c:v>
                </c:pt>
                <c:pt idx="1">
                  <c:v>0.3982</c:v>
                </c:pt>
                <c:pt idx="2">
                  <c:v>0.5194</c:v>
                </c:pt>
                <c:pt idx="3">
                  <c:v>0.7716</c:v>
                </c:pt>
                <c:pt idx="4">
                  <c:v>0.7147</c:v>
                </c:pt>
                <c:pt idx="5">
                  <c:v>1.1802</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0.2529</c:v>
                </c:pt>
                <c:pt idx="1">
                  <c:v>0.4333</c:v>
                </c:pt>
                <c:pt idx="2">
                  <c:v>0.6458</c:v>
                </c:pt>
                <c:pt idx="3">
                  <c:v>0.8138</c:v>
                </c:pt>
                <c:pt idx="4">
                  <c:v>0.5066</c:v>
                </c:pt>
                <c:pt idx="5">
                  <c:v>0.607</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0.1424</c:v>
                </c:pt>
                <c:pt idx="1">
                  <c:v>0.1456</c:v>
                </c:pt>
                <c:pt idx="2">
                  <c:v>0.1665</c:v>
                </c:pt>
                <c:pt idx="3">
                  <c:v>0.1917</c:v>
                </c:pt>
                <c:pt idx="4">
                  <c:v>0.1937</c:v>
                </c:pt>
                <c:pt idx="5">
                  <c:v>0.1866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1.7192</c:v>
                </c:pt>
                <c:pt idx="1">
                  <c:v>2.0835</c:v>
                </c:pt>
                <c:pt idx="2">
                  <c:v>2.232</c:v>
                </c:pt>
                <c:pt idx="3">
                  <c:v>2.4319</c:v>
                </c:pt>
                <c:pt idx="4">
                  <c:v>2.2778</c:v>
                </c:pt>
                <c:pt idx="5">
                  <c:v>2.0919</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1.2172</c:v>
                </c:pt>
                <c:pt idx="1">
                  <c:v>1.3299</c:v>
                </c:pt>
                <c:pt idx="2">
                  <c:v>1.6309</c:v>
                </c:pt>
                <c:pt idx="3">
                  <c:v>1.7503</c:v>
                </c:pt>
                <c:pt idx="4">
                  <c:v>1.6847</c:v>
                </c:pt>
                <c:pt idx="5">
                  <c:v>1.6785</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0.386</c:v>
                </c:pt>
                <c:pt idx="1">
                  <c:v>0.6555</c:v>
                </c:pt>
                <c:pt idx="2">
                  <c:v>0.7694</c:v>
                </c:pt>
                <c:pt idx="3">
                  <c:v>0.79</c:v>
                </c:pt>
                <c:pt idx="4">
                  <c:v>0.5647</c:v>
                </c:pt>
                <c:pt idx="5">
                  <c:v>0.3459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0.4877</c:v>
                </c:pt>
                <c:pt idx="1">
                  <c:v>0.664</c:v>
                </c:pt>
                <c:pt idx="2">
                  <c:v>0.7389</c:v>
                </c:pt>
                <c:pt idx="3">
                  <c:v>1.0867</c:v>
                </c:pt>
                <c:pt idx="4">
                  <c:v>1.1125</c:v>
                </c:pt>
                <c:pt idx="5">
                  <c:v>1.4139</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0.2136</c:v>
                </c:pt>
                <c:pt idx="1">
                  <c:v>0.4238</c:v>
                </c:pt>
                <c:pt idx="2">
                  <c:v>0.478</c:v>
                </c:pt>
                <c:pt idx="3">
                  <c:v>0.7077</c:v>
                </c:pt>
                <c:pt idx="4">
                  <c:v>0.511</c:v>
                </c:pt>
                <c:pt idx="5">
                  <c:v>0.3638</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0.0733</c:v>
                </c:pt>
                <c:pt idx="1">
                  <c:v>0.1001</c:v>
                </c:pt>
                <c:pt idx="2">
                  <c:v>0.1125</c:v>
                </c:pt>
                <c:pt idx="3">
                  <c:v>0.1097</c:v>
                </c:pt>
                <c:pt idx="4">
                  <c:v>0.0996</c:v>
                </c:pt>
                <c:pt idx="5">
                  <c:v>0.1021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0.7289</c:v>
                </c:pt>
                <c:pt idx="1">
                  <c:v>0.8852</c:v>
                </c:pt>
                <c:pt idx="2">
                  <c:v>0.8872</c:v>
                </c:pt>
                <c:pt idx="3">
                  <c:v>1.0779</c:v>
                </c:pt>
                <c:pt idx="4">
                  <c:v>1.227</c:v>
                </c:pt>
                <c:pt idx="5">
                  <c:v>1.0426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0.6614</c:v>
                </c:pt>
                <c:pt idx="1">
                  <c:v>0.7824</c:v>
                </c:pt>
                <c:pt idx="2">
                  <c:v>0.8401</c:v>
                </c:pt>
                <c:pt idx="3">
                  <c:v>0.8741</c:v>
                </c:pt>
                <c:pt idx="4">
                  <c:v>0.9952</c:v>
                </c:pt>
                <c:pt idx="5">
                  <c:v>0.9423</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0.121</c:v>
                </c:pt>
                <c:pt idx="1">
                  <c:v>0.247</c:v>
                </c:pt>
                <c:pt idx="2">
                  <c:v>0.2813</c:v>
                </c:pt>
                <c:pt idx="3">
                  <c:v>0.2857</c:v>
                </c:pt>
                <c:pt idx="4">
                  <c:v>0.2002</c:v>
                </c:pt>
                <c:pt idx="5">
                  <c:v>0.1361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0.1124</c:v>
                </c:pt>
                <c:pt idx="1">
                  <c:v>0.1877</c:v>
                </c:pt>
                <c:pt idx="2">
                  <c:v>0.2935</c:v>
                </c:pt>
                <c:pt idx="3">
                  <c:v>0.4778</c:v>
                </c:pt>
                <c:pt idx="4">
                  <c:v>0.503</c:v>
                </c:pt>
                <c:pt idx="5">
                  <c:v>0.5594</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0.0861</c:v>
                </c:pt>
                <c:pt idx="1">
                  <c:v>0.1261</c:v>
                </c:pt>
                <c:pt idx="2">
                  <c:v>0.1731</c:v>
                </c:pt>
                <c:pt idx="3">
                  <c:v>0.363</c:v>
                </c:pt>
                <c:pt idx="4">
                  <c:v>0.2045</c:v>
                </c:pt>
                <c:pt idx="5">
                  <c:v>0.1963</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0.04</c:v>
                </c:pt>
                <c:pt idx="1">
                  <c:v>0.0385</c:v>
                </c:pt>
                <c:pt idx="2">
                  <c:v>0.0454</c:v>
                </c:pt>
                <c:pt idx="3">
                  <c:v>0.0486</c:v>
                </c:pt>
                <c:pt idx="4">
                  <c:v>0.0433</c:v>
                </c:pt>
                <c:pt idx="5">
                  <c:v>0.0516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0.8135</c:v>
                </c:pt>
                <c:pt idx="1">
                  <c:v>0.9932</c:v>
                </c:pt>
                <c:pt idx="2">
                  <c:v>1.0007</c:v>
                </c:pt>
                <c:pt idx="3">
                  <c:v>1.148</c:v>
                </c:pt>
                <c:pt idx="4">
                  <c:v>1.049</c:v>
                </c:pt>
                <c:pt idx="5">
                  <c:v>1.3383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5400" cap="flat">
              <a:solidFill>
                <a:srgbClr val="F2B8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0.0606</c:v>
                </c:pt>
                <c:pt idx="1">
                  <c:v>0.0795</c:v>
                </c:pt>
                <c:pt idx="2">
                  <c:v>0.1159</c:v>
                </c:pt>
                <c:pt idx="3">
                  <c:v>0.1131</c:v>
                </c:pt>
                <c:pt idx="4">
                  <c:v>0.1543</c:v>
                </c:pt>
                <c:pt idx="5">
                  <c:v>0.473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0.5446</c:v>
                </c:pt>
              </c:numCache>
            </c:numRef>
          </c:val>
          <c:smooth val="0"/>
        </c:ser>
        <c:ser>
          <c:idx val="1"/>
          <c:order val="1"/>
          <c:tx>
            <c:strRef>
              <c:f>Sheet1!$C$1</c:f>
              <c:strCache>
                <c:ptCount val="1"/>
                <c:pt idx="0">
                  <c:v>Shampoo</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0.3981</c:v>
                </c:pt>
              </c:numCache>
            </c:numRef>
          </c:val>
          <c:smooth val="0"/>
        </c:ser>
        <c:ser>
          <c:idx val="2"/>
          <c:order val="2"/>
          <c:tx>
            <c:strRef>
              <c:f>Sheet1!$D$1</c:f>
              <c:strCache>
                <c:ptCount val="1"/>
                <c:pt idx="0">
                  <c:v>Sun Care</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0.0918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0</c:v>
                </c:pt>
                <c:pt idx="1">
                  <c:v>0</c:v>
                </c:pt>
                <c:pt idx="2">
                  <c:v>0</c:v>
                </c:pt>
                <c:pt idx="3">
                  <c:v>0</c:v>
                </c:pt>
                <c:pt idx="4">
                  <c:v>0</c:v>
                </c:pt>
                <c:pt idx="5">
                  <c:v>0.6611</c:v>
                </c:pt>
              </c:numCache>
            </c:numRef>
          </c:val>
          <c:smooth val="0"/>
        </c:ser>
        <c:ser>
          <c:idx val="1"/>
          <c:order val="1"/>
          <c:tx>
            <c:strRef>
              <c:f>Sheet1!$C$1</c:f>
              <c:strCache>
                <c:ptCount val="1"/>
                <c:pt idx="0">
                  <c:v>Sun Care</c:v>
                </c:pt>
              </c:strCache>
            </c:strRef>
          </c:tx>
          <c:spPr>
            <a:solidFill>
              <a:srgbClr val="2E7DA8"/>
            </a:solidFill>
            <a:ln w="22225"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0</c:v>
                </c:pt>
                <c:pt idx="1">
                  <c:v>0</c:v>
                </c:pt>
                <c:pt idx="2">
                  <c:v>0</c:v>
                </c:pt>
                <c:pt idx="3">
                  <c:v>0</c:v>
                </c:pt>
                <c:pt idx="4">
                  <c:v>0</c:v>
                </c:pt>
                <c:pt idx="5">
                  <c:v>0.1806</c:v>
                </c:pt>
              </c:numCache>
            </c:numRef>
          </c:val>
          <c:smooth val="0"/>
        </c:ser>
        <c:ser>
          <c:idx val="2"/>
          <c:order val="2"/>
          <c:tx>
            <c:strRef>
              <c:f>Sheet1!$D$1</c:f>
              <c:strCache>
                <c:ptCount val="1"/>
                <c:pt idx="0">
                  <c:v>Face Serum</c:v>
                </c:pt>
              </c:strCache>
            </c:strRef>
          </c:tx>
          <c:spPr>
            <a:solidFill>
              <a:srgbClr val="D6544D"/>
            </a:solidFill>
            <a:ln w="22225"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c:v>
                </c:pt>
                <c:pt idx="1">
                  <c:v>0</c:v>
                </c:pt>
                <c:pt idx="2">
                  <c:v>0</c:v>
                </c:pt>
                <c:pt idx="3">
                  <c:v>0</c:v>
                </c:pt>
                <c:pt idx="4">
                  <c:v>0</c:v>
                </c:pt>
                <c:pt idx="5">
                  <c:v>0.0184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28A596"/>
            </a:solidFill>
            <a:ln w="22225"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58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SIS primary</c:v>
                </c:pt>
              </c:strCache>
            </c:strRef>
          </c:tx>
          <c:spPr>
            <a:solidFill>
              <a:srgbClr val="2E7DA8"/>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2E7DA8"/>
              </a:solidFill>
              <a:effectLst/>
            </c:spPr>
          </c:dPt>
          <c:dPt>
            <c:idx val="1"/>
            <c:invertIfNegative val="0"/>
            <c:bubble3D val="0"/>
            <c:spPr>
              <a:solidFill>
                <a:srgbClr val="2E7DA8"/>
              </a:solidFill>
              <a:effectLst/>
            </c:spPr>
          </c:dPt>
          <c:dPt>
            <c:idx val="2"/>
            <c:invertIfNegative val="0"/>
            <c:bubble3D val="0"/>
            <c:spPr>
              <a:solidFill>
                <a:srgbClr val="2E7DA8"/>
              </a:solidFill>
              <a:effectLst/>
            </c:spPr>
          </c:dPt>
          <c:dPt>
            <c:idx val="3"/>
            <c:invertIfNegative val="0"/>
            <c:bubble3D val="0"/>
            <c:spPr>
              <a:solidFill>
                <a:srgbClr val="D6544D"/>
              </a:solidFill>
              <a:effectLst/>
            </c:spPr>
          </c:dPt>
          <c:cat>
            <c:multiLvlStrRef>
              <c:f>Sheet1!$A$2:$A$5</c:f>
              <c:multiLvlStrCache>
                <c:ptCount val="4"/>
                <c:lvl>
                  <c:pt idx="0">
                    <c:v>April</c:v>
                  </c:pt>
                  <c:pt idx="1">
                    <c:v>May</c:v>
                  </c:pt>
                  <c:pt idx="2">
                    <c:v>June</c:v>
                  </c:pt>
                  <c:pt idx="3">
                    <c:v>July</c:v>
                  </c:pt>
                </c:lvl>
              </c:multiLvlStrCache>
            </c:multiLvlStrRef>
          </c:cat>
          <c:val>
            <c:numRef>
              <c:f>Sheet1!$B$2:$B$5</c:f>
              <c:numCache>
                <c:formatCode>General</c:formatCode>
                <c:ptCount val="4"/>
                <c:pt idx="0">
                  <c:v>6.43</c:v>
                </c:pt>
                <c:pt idx="1">
                  <c:v>1.42</c:v>
                </c:pt>
                <c:pt idx="2">
                  <c:v>19.3</c:v>
                </c:pt>
                <c:pt idx="3">
                  <c:v>-0.64</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SIS primary</c:v>
                </c:pt>
              </c:strCache>
            </c:strRef>
          </c:tx>
          <c:spPr>
            <a:solidFill>
              <a:srgbClr val="D6544D"/>
            </a:solidFill>
            <a:effectLst/>
          </c:spPr>
          <c:invertIfNegative val="0"/>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D6544D"/>
              </a:solidFill>
              <a:effectLst/>
            </c:spPr>
          </c:dPt>
          <c:dPt>
            <c:idx val="1"/>
            <c:invertIfNegative val="0"/>
            <c:bubble3D val="0"/>
            <c:spPr>
              <a:solidFill>
                <a:srgbClr val="28A596"/>
              </a:solidFill>
              <a:effectLst/>
            </c:spPr>
          </c:dPt>
          <c:dPt>
            <c:idx val="2"/>
            <c:invertIfNegative val="0"/>
            <c:bubble3D val="0"/>
            <c:spPr>
              <a:solidFill>
                <a:srgbClr val="28A596"/>
              </a:solidFill>
              <a:effectLst/>
            </c:spPr>
          </c:dPt>
          <c:dPt>
            <c:idx val="3"/>
            <c:invertIfNegative val="0"/>
            <c:bubble3D val="0"/>
            <c:spPr>
              <a:solidFill>
                <a:srgbClr val="F2B84B"/>
              </a:solidFill>
              <a:effectLst/>
            </c:spPr>
          </c:dPt>
          <c:dPt>
            <c:idx val="4"/>
            <c:invertIfNegative val="0"/>
            <c:bubble3D val="0"/>
            <c:spPr>
              <a:solidFill>
                <a:srgbClr val="28A596"/>
              </a:solidFill>
              <a:effectLst/>
            </c:spPr>
          </c:dPt>
          <c:cat>
            <c:multiLvlStrRef>
              <c:f>Sheet1!$A$2:$A$6</c:f>
              <c:multiLvlStrCache>
                <c:ptCount val="5"/>
                <c:lvl>
                  <c:pt idx="0">
                    <c:v>BBlunt</c:v>
                  </c:pt>
                  <c:pt idx="1">
                    <c:v>Aqualogica</c:v>
                  </c:pt>
                  <c:pt idx="2">
                    <c:v>Mamaearth</c:v>
                  </c:pt>
                  <c:pt idx="3">
                    <c:v>Lumineve</c:v>
                  </c:pt>
                  <c:pt idx="4">
                    <c:v>The Derma Co</c:v>
                  </c:pt>
                </c:lvl>
              </c:multiLvlStrCache>
            </c:multiLvlStrRef>
          </c:cat>
          <c:val>
            <c:numRef>
              <c:f>Sheet1!$B$2:$B$6</c:f>
              <c:numCache>
                <c:formatCode>General</c:formatCode>
                <c:ptCount val="5"/>
                <c:pt idx="0">
                  <c:v>-0.4</c:v>
                </c:pt>
                <c:pt idx="1">
                  <c:v>3.79</c:v>
                </c:pt>
                <c:pt idx="2">
                  <c:v>3.87</c:v>
                </c:pt>
                <c:pt idx="3">
                  <c:v>7.69</c:v>
                </c:pt>
                <c:pt idx="4">
                  <c:v>11.57</c:v>
                </c:pt>
              </c:numCache>
            </c:numRef>
          </c:val>
        </c:ser>
        <c:dLbls>
          <c:numFmt formatCode="0.0" sourceLinked="0"/>
          <c:txPr>
            <a:bodyPr/>
            <a:lstStyle/>
            <a:p>
              <a:pPr>
                <a:defRPr b="0" i="0" strike="noStrike" sz="64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4"/>
          <c:min val="-4"/>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Offtake</c:v>
                </c:pt>
              </c:strCache>
            </c:strRef>
          </c:tx>
          <c:spPr>
            <a:solidFill>
              <a:srgbClr val="28A596"/>
            </a:solidFill>
            <a:ln w="28575" cap="flat">
              <a:solidFill>
                <a:srgbClr val="28A596"/>
              </a:solidFill>
              <a:prstDash val="solid"/>
              <a:round/>
            </a:ln>
            <a:effectLst/>
          </c:spPr>
          <c:invertIfNegative val="0"/>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1.6358</c:v>
                </c:pt>
                <c:pt idx="1">
                  <c:v>1.6812</c:v>
                </c:pt>
                <c:pt idx="2">
                  <c:v>1.7321</c:v>
                </c:pt>
                <c:pt idx="3">
                  <c:v>2.2883</c:v>
                </c:pt>
                <c:pt idx="4">
                  <c:v>2.0787</c:v>
                </c:pt>
                <c:pt idx="5">
                  <c:v>2.1667</c:v>
                </c:pt>
                <c:pt idx="6">
                  <c:v>2.0664</c:v>
                </c:pt>
              </c:numCache>
            </c:numRef>
          </c:val>
          <c:smooth val="0"/>
        </c:ser>
        <c:dLbls>
          <c:numFmt formatCode="0.0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Active EANs</c:v>
                </c:pt>
              </c:strCache>
            </c:strRef>
          </c:tx>
          <c:spPr>
            <a:solidFill>
              <a:srgbClr val="F2B84B"/>
            </a:solidFill>
            <a:ln w="28575" cap="flat">
              <a:solidFill>
                <a:srgbClr val="F2B84B"/>
              </a:solidFill>
              <a:prstDash val="solid"/>
              <a:round/>
            </a:ln>
            <a:effectLst/>
          </c:spPr>
          <c:invertIfNegative val="0"/>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c:symbol val="circle"/>
            <c:size val="6"/>
            <c:spPr>
              <a:solidFill>
                <a:srgbClr val="F2B84B"/>
              </a:solidFill>
              <a:ln w="9525" cap="flat">
                <a:solidFill>
                  <a:srgbClr val="F2B84B"/>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222</c:v>
                </c:pt>
                <c:pt idx="1">
                  <c:v>217</c:v>
                </c:pt>
                <c:pt idx="2">
                  <c:v>203</c:v>
                </c:pt>
                <c:pt idx="3">
                  <c:v>196</c:v>
                </c:pt>
                <c:pt idx="4">
                  <c:v>190</c:v>
                </c:pt>
                <c:pt idx="5">
                  <c:v>200</c:v>
                </c:pt>
                <c:pt idx="6">
                  <c:v>198</c:v>
                </c:pt>
              </c:numCache>
            </c:numRef>
          </c:val>
          <c:smooth val="0"/>
        </c:ser>
        <c:dLbls>
          <c:numFmt formatCode="#,##0" sourceLinked="0"/>
          <c:txPr>
            <a:bodyPr/>
            <a:lstStyle/>
            <a:p>
              <a:pPr>
                <a:defRPr b="0" i="0" strike="noStrike" sz="600" u="none">
                  <a:solidFill>
                    <a:srgbClr val="5F716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mix %</c:v>
                </c:pt>
              </c:strCache>
            </c:strRef>
          </c:tx>
          <c:spPr>
            <a:solidFill>
              <a:srgbClr val="F2B84B"/>
            </a:solidFill>
            <a:effectLst/>
          </c:spPr>
          <c:invertIfNegative val="0"/>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F2B84B"/>
              </a:solidFill>
              <a:effectLst/>
            </c:spPr>
          </c:dPt>
          <c:dPt>
            <c:idx val="1"/>
            <c:invertIfNegative val="0"/>
            <c:bubble3D val="0"/>
            <c:spPr>
              <a:solidFill>
                <a:srgbClr val="2B9A66"/>
              </a:solidFill>
              <a:effectLst/>
            </c:spPr>
          </c:dPt>
          <c:dPt>
            <c:idx val="2"/>
            <c:invertIfNegative val="0"/>
            <c:bubble3D val="0"/>
            <c:spPr>
              <a:solidFill>
                <a:srgbClr val="2B9A66"/>
              </a:solidFill>
              <a:effectLst/>
            </c:spPr>
          </c:dPt>
          <c:dPt>
            <c:idx val="3"/>
            <c:invertIfNegative val="0"/>
            <c:bubble3D val="0"/>
            <c:spPr>
              <a:solidFill>
                <a:srgbClr val="2B9A66"/>
              </a:solidFill>
              <a:effectLst/>
            </c:spPr>
          </c:dPt>
          <c:dPt>
            <c:idx val="4"/>
            <c:invertIfNegative val="0"/>
            <c:bubble3D val="0"/>
            <c:spPr>
              <a:solidFill>
                <a:srgbClr val="D6544D"/>
              </a:solidFill>
              <a:effectLst/>
            </c:spPr>
          </c:dPt>
          <c:dPt>
            <c:idx val="5"/>
            <c:invertIfNegative val="0"/>
            <c:bubble3D val="0"/>
            <c:spPr>
              <a:solidFill>
                <a:srgbClr val="D6544D"/>
              </a:solidFill>
              <a:effectLst/>
            </c:spPr>
          </c:dPt>
          <c:cat>
            <c:multiLvlStrRef>
              <c:f>Sheet1!$A$2:$A$7</c:f>
              <c:multiLvlStrCache>
                <c:ptCount val="6"/>
                <c:lvl>
                  <c:pt idx="0">
                    <c:v>South-2</c:v>
                  </c:pt>
                  <c:pt idx="1">
                    <c:v>West</c:v>
                  </c:pt>
                  <c:pt idx="2">
                    <c:v>South-1</c:v>
                  </c:pt>
                  <c:pt idx="3">
                    <c:v>Central</c:v>
                  </c:pt>
                  <c:pt idx="4">
                    <c:v>North</c:v>
                  </c:pt>
                  <c:pt idx="5">
                    <c:v>East</c:v>
                  </c:pt>
                </c:lvl>
              </c:multiLvlStrCache>
            </c:multiLvlStrRef>
          </c:cat>
          <c:val>
            <c:numRef>
              <c:f>Sheet1!$B$2:$B$7</c:f>
              <c:numCache>
                <c:formatCode>General</c:formatCode>
                <c:ptCount val="6"/>
                <c:pt idx="0">
                  <c:v>6.37</c:v>
                </c:pt>
                <c:pt idx="1">
                  <c:v>6.58</c:v>
                </c:pt>
                <c:pt idx="2">
                  <c:v>7.88</c:v>
                </c:pt>
                <c:pt idx="3">
                  <c:v>8.54</c:v>
                </c:pt>
                <c:pt idx="4">
                  <c:v>9.24</c:v>
                </c:pt>
                <c:pt idx="5">
                  <c:v>10.23</c:v>
                </c:pt>
              </c:numCache>
            </c:numRef>
          </c:val>
        </c:ser>
        <c:dLbls>
          <c:numFmt formatCode="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2"/>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NPI offtake</c:v>
                </c:pt>
              </c:strCache>
            </c:strRef>
          </c:tx>
          <c:spPr>
            <a:solidFill>
              <a:srgbClr val="5F716E"/>
            </a:solidFill>
            <a:effectLst/>
          </c:spPr>
          <c:invertIfNegative val="0"/>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dPt>
            <c:idx val="0"/>
            <c:invertIfNegative val="0"/>
            <c:bubble3D val="0"/>
            <c:spPr>
              <a:solidFill>
                <a:srgbClr val="5F716E"/>
              </a:solidFill>
              <a:effectLst/>
            </c:spPr>
          </c:dPt>
          <c:dPt>
            <c:idx val="1"/>
            <c:invertIfNegative val="0"/>
            <c:bubble3D val="0"/>
            <c:spPr>
              <a:solidFill>
                <a:srgbClr val="5F716E"/>
              </a:solidFill>
              <a:effectLst/>
            </c:spPr>
          </c:dPt>
          <c:dPt>
            <c:idx val="2"/>
            <c:invertIfNegative val="0"/>
            <c:bubble3D val="0"/>
            <c:spPr>
              <a:solidFill>
                <a:srgbClr val="5F716E"/>
              </a:solidFill>
              <a:effectLst/>
            </c:spPr>
          </c:dPt>
          <c:dPt>
            <c:idx val="3"/>
            <c:invertIfNegative val="0"/>
            <c:bubble3D val="0"/>
            <c:spPr>
              <a:solidFill>
                <a:srgbClr val="5F716E"/>
              </a:solidFill>
              <a:effectLst/>
            </c:spPr>
          </c:dPt>
          <c:dPt>
            <c:idx val="4"/>
            <c:invertIfNegative val="0"/>
            <c:bubble3D val="0"/>
            <c:spPr>
              <a:solidFill>
                <a:srgbClr val="5F716E"/>
              </a:solidFill>
              <a:effectLst/>
            </c:spPr>
          </c:dPt>
          <c:dPt>
            <c:idx val="5"/>
            <c:invertIfNegative val="0"/>
            <c:bubble3D val="0"/>
            <c:spPr>
              <a:solidFill>
                <a:srgbClr val="5F716E"/>
              </a:solidFill>
              <a:effectLst/>
            </c:spPr>
          </c:dPt>
          <c:dPt>
            <c:idx val="6"/>
            <c:invertIfNegative val="0"/>
            <c:bubble3D val="0"/>
            <c:spPr>
              <a:solidFill>
                <a:srgbClr val="F2B84B"/>
              </a:solidFill>
              <a:effectLst/>
            </c:spPr>
          </c:dPt>
          <c:dPt>
            <c:idx val="7"/>
            <c:invertIfNegative val="0"/>
            <c:bubble3D val="0"/>
            <c:spPr>
              <a:solidFill>
                <a:srgbClr val="D6544D"/>
              </a:solidFill>
              <a:effectLst/>
            </c:spPr>
          </c:dPt>
          <c:cat>
            <c:multiLvlStrRef>
              <c:f>Sheet1!$A$2:$A$9</c:f>
              <c:multiLvlStrCache>
                <c:ptCount val="8"/>
                <c:lvl>
                  <c:pt idx="0">
                    <c:v>Sancus</c:v>
                  </c:pt>
                  <c:pt idx="1">
                    <c:v>Wellness</c:v>
                  </c:pt>
                  <c:pt idx="2">
                    <c:v>Metro</c:v>
                  </c:pt>
                  <c:pt idx="3">
                    <c:v>Health &amp; Glow</c:v>
                  </c:pt>
                  <c:pt idx="4">
                    <c:v>FSN / Nykaa</c:v>
                  </c:pt>
                  <c:pt idx="5">
                    <c:v>Lulu</c:v>
                  </c:pt>
                  <c:pt idx="6">
                    <c:v>DMart</c:v>
                  </c:pt>
                  <c:pt idx="7">
                    <c:v>Reliance</c:v>
                  </c:pt>
                </c:lvl>
              </c:multiLvlStrCache>
            </c:multiLvlStrRef>
          </c:cat>
          <c:val>
            <c:numRef>
              <c:f>Sheet1!$B$2:$B$9</c:f>
              <c:numCache>
                <c:formatCode>General</c:formatCode>
                <c:ptCount val="8"/>
                <c:pt idx="0">
                  <c:v>0.03</c:v>
                </c:pt>
                <c:pt idx="1">
                  <c:v>0.04</c:v>
                </c:pt>
                <c:pt idx="2">
                  <c:v>0.05</c:v>
                </c:pt>
                <c:pt idx="3">
                  <c:v>0.06</c:v>
                </c:pt>
                <c:pt idx="4">
                  <c:v>0.13</c:v>
                </c:pt>
                <c:pt idx="5">
                  <c:v>0.18</c:v>
                </c:pt>
                <c:pt idx="6">
                  <c:v>0.98</c:v>
                </c:pt>
                <c:pt idx="7">
                  <c:v>1.3</c:v>
                </c:pt>
              </c:numCache>
            </c:numRef>
          </c:val>
        </c:ser>
        <c:dLbls>
          <c:numFmt formatCode="0.00" sourceLinked="0"/>
          <c:txPr>
            <a:bodyPr/>
            <a:lstStyle/>
            <a:p>
              <a:pPr>
                <a:defRPr b="0" i="0" strike="noStrike" sz="620" u="none">
                  <a:solidFill>
                    <a:srgbClr val="183B39"/>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1.6"/>
        </c:scaling>
        <c:delete val="0"/>
        <c:axPos val="b"/>
        <c:majorGridlines>
          <c:spPr>
            <a:ln w="6350" cap="flat">
              <a:solidFill>
                <a:srgbClr val="E8F0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Sheet1!$B$2:$B$9</c:f>
              <c:numCache>
                <c:formatCode>General</c:formatCode>
                <c:ptCount val="8"/>
                <c:pt idx="0">
                  <c:v>18.2536</c:v>
                </c:pt>
                <c:pt idx="1">
                  <c:v>15.6615</c:v>
                </c:pt>
                <c:pt idx="2">
                  <c:v>7.2003</c:v>
                </c:pt>
                <c:pt idx="3">
                  <c:v>2.079</c:v>
                </c:pt>
                <c:pt idx="4">
                  <c:v>0</c:v>
                </c:pt>
                <c:pt idx="5">
                  <c:v>0.4855</c:v>
                </c:pt>
                <c:pt idx="6">
                  <c:v>0.2203</c:v>
                </c:pt>
                <c:pt idx="7">
                  <c:v>1.8449</c:v>
                </c:pt>
              </c:numCache>
            </c:numRef>
          </c:val>
        </c:ser>
        <c:ser>
          <c:idx val="1"/>
          <c:order val="1"/>
          <c:tx>
            <c:strRef>
              <c:f>Sheet1!$C$1</c:f>
              <c:strCache>
                <c:ptCount val="1"/>
                <c:pt idx="0">
                  <c:v>Offtake</c:v>
                </c:pt>
              </c:strCache>
            </c:strRef>
          </c:tx>
          <c:spPr>
            <a:solidFill>
              <a:srgbClr val="28A5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DMart</c:v>
                  </c:pt>
                  <c:pt idx="1">
                    <c:v>Reliance</c:v>
                  </c:pt>
                  <c:pt idx="2">
                    <c:v>Apollo</c:v>
                  </c:pt>
                  <c:pt idx="3">
                    <c:v>FSN / Nykaa</c:v>
                  </c:pt>
                  <c:pt idx="4">
                    <c:v>Lulu</c:v>
                  </c:pt>
                  <c:pt idx="5">
                    <c:v>Wellness Forever</c:v>
                  </c:pt>
                  <c:pt idx="6">
                    <c:v>Health &amp; Glow</c:v>
                  </c:pt>
                  <c:pt idx="7">
                    <c:v>Metro</c:v>
                  </c:pt>
                </c:lvl>
              </c:multiLvlStrCache>
            </c:multiLvlStrRef>
          </c:cat>
          <c:val>
            <c:numRef>
              <c:f>Sheet1!$C$2:$C$9</c:f>
              <c:numCache>
                <c:formatCode>General</c:formatCode>
                <c:ptCount val="8"/>
                <c:pt idx="0">
                  <c:v>13.9672</c:v>
                </c:pt>
                <c:pt idx="1">
                  <c:v>8.0564</c:v>
                </c:pt>
                <c:pt idx="2">
                  <c:v>7.1816</c:v>
                </c:pt>
                <c:pt idx="3">
                  <c:v>2.0664</c:v>
                </c:pt>
                <c:pt idx="4">
                  <c:v>1.6977</c:v>
                </c:pt>
                <c:pt idx="5">
                  <c:v>0.7209</c:v>
                </c:pt>
                <c:pt idx="6">
                  <c:v>0.5081</c:v>
                </c:pt>
                <c:pt idx="7">
                  <c:v>0.4858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Primary</c:v>
                </c:pt>
              </c:strCache>
            </c:strRef>
          </c:tx>
          <c:spPr>
            <a:solidFill>
              <a:srgbClr val="2E7DA8"/>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Sheet1!$B$2:$B$3</c:f>
              <c:numCache>
                <c:formatCode>General</c:formatCode>
                <c:ptCount val="2"/>
                <c:pt idx="0">
                  <c:v>33.38</c:v>
                </c:pt>
                <c:pt idx="1">
                  <c:v>15.19</c:v>
                </c:pt>
              </c:numCache>
            </c:numRef>
          </c:val>
        </c:ser>
        <c:ser>
          <c:idx val="1"/>
          <c:order val="1"/>
          <c:tx>
            <c:strRef>
              <c:f>Sheet1!$C$1</c:f>
              <c:strCache>
                <c:ptCount val="1"/>
                <c:pt idx="0">
                  <c:v>Offtake</c:v>
                </c:pt>
              </c:strCache>
            </c:strRef>
          </c:tx>
          <c:spPr>
            <a:solidFill>
              <a:srgbClr val="28A596"/>
            </a:solidFill>
            <a:effectLst/>
          </c:spPr>
          <c:invertIfNegative val="0"/>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cat>
            <c:multiLvlStrRef>
              <c:f>Sheet1!$A$2:$A$3</c:f>
              <c:multiLvlStrCache>
                <c:ptCount val="2"/>
                <c:lvl>
                  <c:pt idx="0">
                    <c:v>Mamaearth</c:v>
                  </c:pt>
                  <c:pt idx="1">
                    <c:v>The Derma Co.</c:v>
                  </c:pt>
                </c:lvl>
              </c:multiLvlStrCache>
            </c:multiLvlStrRef>
          </c:cat>
          <c:val>
            <c:numRef>
              <c:f>Sheet1!$C$2:$C$3</c:f>
              <c:numCache>
                <c:formatCode>General</c:formatCode>
                <c:ptCount val="2"/>
                <c:pt idx="0">
                  <c:v>24.49</c:v>
                </c:pt>
                <c:pt idx="1">
                  <c:v>11.03</c:v>
                </c:pt>
              </c:numCache>
            </c:numRef>
          </c:val>
        </c:ser>
        <c:dLbls>
          <c:numFmt formatCode="0.00" sourceLinked="0"/>
          <c:txPr>
            <a:bodyPr/>
            <a:lstStyle/>
            <a:p>
              <a:pPr>
                <a:defRPr b="0" i="0" strike="noStrike" sz="660" u="none">
                  <a:solidFill>
                    <a:srgbClr val="183B39"/>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max val="40"/>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4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7.0274</c:v>
                </c:pt>
                <c:pt idx="1">
                  <c:v>8.1685</c:v>
                </c:pt>
                <c:pt idx="2">
                  <c:v>8.5475</c:v>
                </c:pt>
                <c:pt idx="3">
                  <c:v>9.6257</c:v>
                </c:pt>
                <c:pt idx="4">
                  <c:v>9.6513</c:v>
                </c:pt>
                <c:pt idx="5">
                  <c:v>8.5257</c:v>
                </c:pt>
              </c:numCache>
            </c:numRef>
          </c:val>
          <c:smooth val="0"/>
        </c:ser>
        <c:ser>
          <c:idx val="1"/>
          <c:order val="1"/>
          <c:tx>
            <c:strRef>
              <c:f>Sheet1!$C$1</c:f>
              <c:strCache>
                <c:ptCount val="1"/>
                <c:pt idx="0">
                  <c:v>Shampoo</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4.8066</c:v>
                </c:pt>
                <c:pt idx="1">
                  <c:v>5.3825</c:v>
                </c:pt>
                <c:pt idx="2">
                  <c:v>6.1125</c:v>
                </c:pt>
                <c:pt idx="3">
                  <c:v>6.6803</c:v>
                </c:pt>
                <c:pt idx="4">
                  <c:v>6.8695</c:v>
                </c:pt>
                <c:pt idx="5">
                  <c:v>6.9504</c:v>
                </c:pt>
              </c:numCache>
            </c:numRef>
          </c:val>
          <c:smooth val="0"/>
        </c:ser>
        <c:ser>
          <c:idx val="2"/>
          <c:order val="2"/>
          <c:tx>
            <c:strRef>
              <c:f>Sheet1!$D$1</c:f>
              <c:strCache>
                <c:ptCount val="1"/>
                <c:pt idx="0">
                  <c:v>Sun Care</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1.5518</c:v>
                </c:pt>
                <c:pt idx="1">
                  <c:v>2.7323</c:v>
                </c:pt>
                <c:pt idx="2">
                  <c:v>3.095</c:v>
                </c:pt>
                <c:pt idx="3">
                  <c:v>2.9543</c:v>
                </c:pt>
                <c:pt idx="4">
                  <c:v>1.991</c:v>
                </c:pt>
                <c:pt idx="5">
                  <c:v>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Face Cleanser</c:v>
                </c:pt>
              </c:strCache>
            </c:strRef>
          </c:tx>
          <c:spPr>
            <a:solidFill>
              <a:srgbClr val="28A596"/>
            </a:solidFill>
            <a:ln w="25400" cap="flat">
              <a:solidFill>
                <a:srgbClr val="28A59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8A596"/>
              </a:solidFill>
              <a:ln w="9525" cap="flat">
                <a:solidFill>
                  <a:srgbClr val="28A596"/>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Sheet1!$B$2:$B$7</c:f>
              <c:numCache>
                <c:formatCode>General</c:formatCode>
                <c:ptCount val="6"/>
                <c:pt idx="0">
                  <c:v>2.2515</c:v>
                </c:pt>
                <c:pt idx="1">
                  <c:v>2.7532</c:v>
                </c:pt>
                <c:pt idx="2">
                  <c:v>3.2367</c:v>
                </c:pt>
                <c:pt idx="3">
                  <c:v>4.6282</c:v>
                </c:pt>
                <c:pt idx="4">
                  <c:v>4.8318</c:v>
                </c:pt>
                <c:pt idx="5">
                  <c:v>7.1312</c:v>
                </c:pt>
              </c:numCache>
            </c:numRef>
          </c:val>
          <c:smooth val="0"/>
        </c:ser>
        <c:ser>
          <c:idx val="1"/>
          <c:order val="1"/>
          <c:tx>
            <c:strRef>
              <c:f>Sheet1!$C$1</c:f>
              <c:strCache>
                <c:ptCount val="1"/>
                <c:pt idx="0">
                  <c:v>Sun Care</c:v>
                </c:pt>
              </c:strCache>
            </c:strRef>
          </c:tx>
          <c:spPr>
            <a:solidFill>
              <a:srgbClr val="2E7DA8"/>
            </a:solidFill>
            <a:ln w="25400" cap="flat">
              <a:solidFill>
                <a:srgbClr val="2E7D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E7DA8"/>
              </a:solidFill>
              <a:ln w="9525" cap="flat">
                <a:solidFill>
                  <a:srgbClr val="2E7DA8"/>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Sheet1!$C$2:$C$7</c:f>
              <c:numCache>
                <c:formatCode>General</c:formatCode>
                <c:ptCount val="6"/>
                <c:pt idx="0">
                  <c:v>1.0422</c:v>
                </c:pt>
                <c:pt idx="1">
                  <c:v>1.8094</c:v>
                </c:pt>
                <c:pt idx="2">
                  <c:v>2.274</c:v>
                </c:pt>
                <c:pt idx="3">
                  <c:v>3.1776</c:v>
                </c:pt>
                <c:pt idx="4">
                  <c:v>2.0479</c:v>
                </c:pt>
                <c:pt idx="5">
                  <c:v>1.9915</c:v>
                </c:pt>
              </c:numCache>
            </c:numRef>
          </c:val>
          <c:smooth val="0"/>
        </c:ser>
        <c:ser>
          <c:idx val="2"/>
          <c:order val="2"/>
          <c:tx>
            <c:strRef>
              <c:f>Sheet1!$D$1</c:f>
              <c:strCache>
                <c:ptCount val="1"/>
                <c:pt idx="0">
                  <c:v>Face Serum</c:v>
                </c:pt>
              </c:strCache>
            </c:strRef>
          </c:tx>
          <c:spPr>
            <a:solidFill>
              <a:srgbClr val="D6544D"/>
            </a:solidFill>
            <a:ln w="25400" cap="flat">
              <a:solidFill>
                <a:srgbClr val="D654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6544D"/>
              </a:solidFill>
              <a:ln w="9525" cap="flat">
                <a:solidFill>
                  <a:srgbClr val="D6544D"/>
                </a:solidFill>
                <a:prstDash val="solid"/>
                <a:round/>
              </a:ln>
              <a:effectLst/>
            </c:spPr>
          </c:marker>
          <c:cat>
            <c:multiLvlStrRef>
              <c:f>Sheet1!$A$2:$A$7</c:f>
              <c:multiLvlStrCache>
                <c:ptCount val="6"/>
                <c:lvl>
                  <c:pt idx="0">
                    <c:v>Feb 26</c:v>
                  </c:pt>
                  <c:pt idx="1">
                    <c:v>Mar 26</c:v>
                  </c:pt>
                  <c:pt idx="2">
                    <c:v>Apr 26</c:v>
                  </c:pt>
                  <c:pt idx="3">
                    <c:v>May 26</c:v>
                  </c:pt>
                  <c:pt idx="4">
                    <c:v>Jun 26</c:v>
                  </c:pt>
                  <c:pt idx="5">
                    <c:v>Jul 26</c:v>
                  </c:pt>
                </c:lvl>
              </c:multiLvlStrCache>
            </c:multiLvlStrRef>
          </c:cat>
          <c:val>
            <c:numRef>
              <c:f>Sheet1!$D$2:$D$7</c:f>
              <c:numCache>
                <c:formatCode>General</c:formatCode>
                <c:ptCount val="6"/>
                <c:pt idx="0">
                  <c:v>0.5635</c:v>
                </c:pt>
                <c:pt idx="1">
                  <c:v>0.5748</c:v>
                </c:pt>
                <c:pt idx="2">
                  <c:v>0.6938</c:v>
                </c:pt>
                <c:pt idx="3">
                  <c:v>0.6607</c:v>
                </c:pt>
                <c:pt idx="4">
                  <c:v>0.6635</c:v>
                </c:pt>
                <c:pt idx="5">
                  <c:v>0.6285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F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20" b="0" i="0" u="none" strike="noStrike">
                <a:solidFill>
                  <a:srgbClr val="5F716E"/>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600">
              <a:solidFill>
                <a:srgbClr val="5F716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July Modern Trade Growth Command Centre</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Honasa Consumer | Primary, offtake, portfolio and execution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05840"/>
          </a:xfrm>
          <a:prstGeom prst="roundRect">
            <a:avLst>
              <a:gd name="adj" fmla="val 2727"/>
            </a:avLst>
          </a:prstGeom>
          <a:solidFill>
            <a:srgbClr val="DFF2ED"/>
          </a:solidFill>
          <a:ln w="12700">
            <a:solidFill>
              <a:srgbClr val="28A596"/>
            </a:solidFill>
            <a:prstDash val="solid"/>
          </a:ln>
        </p:spPr>
      </p:sp>
      <p:sp>
        <p:nvSpPr>
          <p:cNvPr id="20" name="Text 18"/>
          <p:cNvSpPr/>
          <p:nvPr/>
        </p:nvSpPr>
        <p:spPr>
          <a:xfrm>
            <a:off x="411480" y="1353312"/>
            <a:ext cx="6035040" cy="310896"/>
          </a:xfrm>
          <a:prstGeom prst="rect">
            <a:avLst/>
          </a:prstGeom>
          <a:noFill/>
          <a:ln/>
        </p:spPr>
        <p:txBody>
          <a:bodyPr wrap="square" lIns="0" tIns="0" rIns="0" bIns="0" rtlCol="0" anchor="ctr"/>
          <a:lstStyle/>
          <a:p>
            <a:pPr algn="ctr" indent="0" marL="0">
              <a:buNone/>
            </a:pPr>
            <a:r>
              <a:rPr lang="en-US" sz="1200" b="1" dirty="0">
                <a:solidFill>
                  <a:srgbClr val="116F68"/>
                </a:solidFill>
                <a:latin typeface="Calibri Light" pitchFamily="34" charset="0"/>
                <a:ea typeface="Calibri Light" pitchFamily="34" charset="-122"/>
                <a:cs typeface="Calibri Light" pitchFamily="34" charset="-120"/>
              </a:rPr>
              <a:t>₹6.22 Cr of MT offtake is recoverable at your own internal benchmark</a:t>
            </a:r>
            <a:endParaRPr lang="en-US" sz="1200" dirty="0"/>
          </a:p>
        </p:txBody>
      </p:sp>
      <p:sp>
        <p:nvSpPr>
          <p:cNvPr id="21" name="Text 19"/>
          <p:cNvSpPr/>
          <p:nvPr/>
        </p:nvSpPr>
        <p:spPr>
          <a:xfrm>
            <a:off x="411480" y="1700784"/>
            <a:ext cx="6035040" cy="219456"/>
          </a:xfrm>
          <a:prstGeom prst="rect">
            <a:avLst/>
          </a:prstGeom>
          <a:noFill/>
          <a:ln/>
        </p:spPr>
        <p:txBody>
          <a:bodyPr wrap="square" lIns="0" tIns="0" rIns="0" bIns="0" rtlCol="0" anchor="t"/>
          <a:lstStyle/>
          <a:p>
            <a:pPr algn="ctr" indent="0" marL="0">
              <a:buNone/>
            </a:pPr>
            <a:r>
              <a:rPr lang="en-US" sz="800" b="1" dirty="0">
                <a:solidFill>
                  <a:srgbClr val="183B39"/>
                </a:solidFill>
                <a:latin typeface="Calibri" pitchFamily="34" charset="0"/>
                <a:ea typeface="Calibri" pitchFamily="34" charset="-122"/>
                <a:cs typeface="Calibri" pitchFamily="34" charset="-120"/>
              </a:rPr>
              <a:t>₹33.96 Cr MT offtake  •  72.2% MT conversion  •  ₹13.06 Cr MT gap  •  eB2B and SIS reported separately</a:t>
            </a:r>
            <a:endParaRPr lang="en-US" sz="800" dirty="0"/>
          </a:p>
        </p:txBody>
      </p:sp>
      <p:sp>
        <p:nvSpPr>
          <p:cNvPr id="22" name="Text 20"/>
          <p:cNvSpPr/>
          <p:nvPr/>
        </p:nvSpPr>
        <p:spPr>
          <a:xfrm>
            <a:off x="484632" y="1938528"/>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Modern Trade accounts only. If North, East and South-2 converted at the rate West and South-1 already achieve, MT conversion moves 72.2% → 85.5% with no additional primary. The previous pack read ₹36.10 Cr at 73.4% because the Nykaa (FSN) eB2B account was carried as a "Pan India" zone.</a:t>
            </a:r>
            <a:endParaRPr lang="en-US" sz="720" dirty="0"/>
          </a:p>
        </p:txBody>
      </p:sp>
      <p:sp>
        <p:nvSpPr>
          <p:cNvPr id="23" name="Shape 21"/>
          <p:cNvSpPr/>
          <p:nvPr/>
        </p:nvSpPr>
        <p:spPr>
          <a:xfrm>
            <a:off x="265176" y="2414016"/>
            <a:ext cx="2017776" cy="2615184"/>
          </a:xfrm>
          <a:prstGeom prst="roundRect">
            <a:avLst>
              <a:gd name="adj" fmla="val 906"/>
            </a:avLst>
          </a:prstGeom>
          <a:solidFill>
            <a:srgbClr val="FFFFFF"/>
          </a:solidFill>
          <a:ln w="9525">
            <a:solidFill>
              <a:srgbClr val="C8DCD7"/>
            </a:solidFill>
            <a:prstDash val="solid"/>
          </a:ln>
        </p:spPr>
      </p:sp>
      <p:sp>
        <p:nvSpPr>
          <p:cNvPr id="24" name="Shape 22"/>
          <p:cNvSpPr/>
          <p:nvPr/>
        </p:nvSpPr>
        <p:spPr>
          <a:xfrm>
            <a:off x="265176" y="2414016"/>
            <a:ext cx="2017776" cy="274320"/>
          </a:xfrm>
          <a:prstGeom prst="rect">
            <a:avLst/>
          </a:prstGeom>
          <a:solidFill>
            <a:srgbClr val="116F68"/>
          </a:solidFill>
          <a:ln/>
        </p:spPr>
      </p:sp>
      <p:sp>
        <p:nvSpPr>
          <p:cNvPr id="25" name="Text 23"/>
          <p:cNvSpPr/>
          <p:nvPr/>
        </p:nvSpPr>
        <p:spPr>
          <a:xfrm>
            <a:off x="347472"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SALES FLOW</a:t>
            </a:r>
            <a:endParaRPr lang="en-US" sz="700" dirty="0"/>
          </a:p>
        </p:txBody>
      </p:sp>
      <p:sp>
        <p:nvSpPr>
          <p:cNvPr id="26" name="Text 24"/>
          <p:cNvSpPr/>
          <p:nvPr/>
        </p:nvSpPr>
        <p:spPr>
          <a:xfrm>
            <a:off x="356616" y="2779776"/>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zone (₹ Cr)</a:t>
            </a:r>
            <a:endParaRPr lang="en-US" sz="720" dirty="0"/>
          </a:p>
        </p:txBody>
      </p:sp>
      <p:graphicFrame>
        <p:nvGraphicFramePr>
          <p:cNvPr id="27" name="Chart 0" descr=""/>
          <p:cNvGraphicFramePr/>
          <p:nvPr/>
        </p:nvGraphicFramePr>
        <p:xfrm>
          <a:off x="338328" y="2980944"/>
          <a:ext cx="1871472" cy="1389888"/>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p:nvPr/>
        </p:nvSpPr>
        <p:spPr>
          <a:xfrm>
            <a:off x="356616" y="4535424"/>
            <a:ext cx="1834896" cy="402336"/>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West and South-1 convert 82–84%. North and East convert 46–59% on more primary.</a:t>
            </a:r>
            <a:endParaRPr lang="en-US" sz="680" dirty="0"/>
          </a:p>
        </p:txBody>
      </p:sp>
      <p:sp>
        <p:nvSpPr>
          <p:cNvPr id="29" name="Shape 26"/>
          <p:cNvSpPr/>
          <p:nvPr/>
        </p:nvSpPr>
        <p:spPr>
          <a:xfrm>
            <a:off x="2420112" y="2414016"/>
            <a:ext cx="2017776" cy="2615184"/>
          </a:xfrm>
          <a:prstGeom prst="roundRect">
            <a:avLst>
              <a:gd name="adj" fmla="val 906"/>
            </a:avLst>
          </a:prstGeom>
          <a:solidFill>
            <a:srgbClr val="FFFFFF"/>
          </a:solidFill>
          <a:ln w="9525">
            <a:solidFill>
              <a:srgbClr val="C8DCD7"/>
            </a:solidFill>
            <a:prstDash val="solid"/>
          </a:ln>
        </p:spPr>
      </p:sp>
      <p:sp>
        <p:nvSpPr>
          <p:cNvPr id="30" name="Shape 27"/>
          <p:cNvSpPr/>
          <p:nvPr/>
        </p:nvSpPr>
        <p:spPr>
          <a:xfrm>
            <a:off x="2420112" y="2414016"/>
            <a:ext cx="2017776" cy="274320"/>
          </a:xfrm>
          <a:prstGeom prst="rect">
            <a:avLst/>
          </a:prstGeom>
          <a:solidFill>
            <a:srgbClr val="D6544D"/>
          </a:solidFill>
          <a:ln/>
        </p:spPr>
      </p:sp>
      <p:sp>
        <p:nvSpPr>
          <p:cNvPr id="31" name="Text 28"/>
          <p:cNvSpPr/>
          <p:nvPr/>
        </p:nvSpPr>
        <p:spPr>
          <a:xfrm>
            <a:off x="2502408"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MT GAP</a:t>
            </a:r>
            <a:endParaRPr lang="en-US" sz="700" dirty="0"/>
          </a:p>
        </p:txBody>
      </p:sp>
      <p:sp>
        <p:nvSpPr>
          <p:cNvPr id="32" name="Text 29"/>
          <p:cNvSpPr/>
          <p:nvPr/>
        </p:nvSpPr>
        <p:spPr>
          <a:xfrm>
            <a:off x="2511552" y="2779776"/>
            <a:ext cx="1834896" cy="219456"/>
          </a:xfrm>
          <a:prstGeom prst="rect">
            <a:avLst/>
          </a:prstGeom>
          <a:noFill/>
          <a:ln/>
        </p:spPr>
        <p:txBody>
          <a:bodyPr wrap="square" lIns="0" tIns="0" rIns="0" bIns="0" rtlCol="0" anchor="t"/>
          <a:lstStyle/>
          <a:p>
            <a:pPr algn="ctr" indent="0" marL="0">
              <a:buNone/>
            </a:pPr>
            <a:r>
              <a:rPr lang="en-US" sz="740" b="1" dirty="0">
                <a:solidFill>
                  <a:srgbClr val="D6544D"/>
                </a:solidFill>
                <a:latin typeface="Calibri" pitchFamily="34" charset="0"/>
                <a:ea typeface="Calibri" pitchFamily="34" charset="-122"/>
                <a:cs typeface="Calibri" pitchFamily="34" charset="-120"/>
              </a:rPr>
              <a:t>₹13.06 Cr billed and not yet sold through</a:t>
            </a:r>
            <a:endParaRPr lang="en-US" sz="740" dirty="0"/>
          </a:p>
        </p:txBody>
      </p:sp>
      <p:graphicFrame>
        <p:nvGraphicFramePr>
          <p:cNvPr id="33" name="Chart 1" descr=""/>
          <p:cNvGraphicFramePr/>
          <p:nvPr/>
        </p:nvGraphicFramePr>
        <p:xfrm>
          <a:off x="2456688" y="3017520"/>
          <a:ext cx="1944624" cy="1481328"/>
        </p:xfrm>
        <a:graphic xmlns:a="http://schemas.openxmlformats.org/drawingml/2006/main">
          <a:graphicData uri="http://schemas.openxmlformats.org/drawingml/2006/chart">
            <c:chart xmlns:c="http://schemas.openxmlformats.org/drawingml/2006/chart" r:id="rId2"/>
          </a:graphicData>
        </a:graphic>
      </p:graphicFrame>
      <p:sp>
        <p:nvSpPr>
          <p:cNvPr id="34" name="Text 30"/>
          <p:cNvSpPr/>
          <p:nvPr/>
        </p:nvSpPr>
        <p:spPr>
          <a:xfrm>
            <a:off x="2529840" y="4553712"/>
            <a:ext cx="1798320" cy="475488"/>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North and East hold ₹7.97 Cr of the gap — 61% of it in two zones. eB2B ₹2.20 Cr and SIS carry their own flow, on their own pages.</a:t>
            </a:r>
            <a:endParaRPr lang="en-US" sz="680" dirty="0"/>
          </a:p>
        </p:txBody>
      </p:sp>
      <p:sp>
        <p:nvSpPr>
          <p:cNvPr id="35" name="Shape 31"/>
          <p:cNvSpPr/>
          <p:nvPr/>
        </p:nvSpPr>
        <p:spPr>
          <a:xfrm>
            <a:off x="4575048" y="2414016"/>
            <a:ext cx="2017776" cy="2615184"/>
          </a:xfrm>
          <a:prstGeom prst="roundRect">
            <a:avLst>
              <a:gd name="adj" fmla="val 906"/>
            </a:avLst>
          </a:prstGeom>
          <a:solidFill>
            <a:srgbClr val="FFFFFF"/>
          </a:solidFill>
          <a:ln w="9525">
            <a:solidFill>
              <a:srgbClr val="C8DCD7"/>
            </a:solidFill>
            <a:prstDash val="solid"/>
          </a:ln>
        </p:spPr>
      </p:sp>
      <p:sp>
        <p:nvSpPr>
          <p:cNvPr id="36" name="Shape 32"/>
          <p:cNvSpPr/>
          <p:nvPr/>
        </p:nvSpPr>
        <p:spPr>
          <a:xfrm>
            <a:off x="4575048" y="2414016"/>
            <a:ext cx="2017776" cy="274320"/>
          </a:xfrm>
          <a:prstGeom prst="rect">
            <a:avLst/>
          </a:prstGeom>
          <a:solidFill>
            <a:srgbClr val="2B9A66"/>
          </a:solidFill>
          <a:ln/>
        </p:spPr>
      </p:sp>
      <p:sp>
        <p:nvSpPr>
          <p:cNvPr id="37" name="Text 33"/>
          <p:cNvSpPr/>
          <p:nvPr/>
        </p:nvSpPr>
        <p:spPr>
          <a:xfrm>
            <a:off x="4657344" y="243230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PRIZE</a:t>
            </a:r>
            <a:endParaRPr lang="en-US" sz="700" dirty="0"/>
          </a:p>
        </p:txBody>
      </p:sp>
      <p:sp>
        <p:nvSpPr>
          <p:cNvPr id="38" name="Text 34"/>
          <p:cNvSpPr/>
          <p:nvPr/>
        </p:nvSpPr>
        <p:spPr>
          <a:xfrm>
            <a:off x="4666488" y="2779776"/>
            <a:ext cx="1834896" cy="365760"/>
          </a:xfrm>
          <a:prstGeom prst="rect">
            <a:avLst/>
          </a:prstGeom>
          <a:noFill/>
          <a:ln/>
        </p:spPr>
        <p:txBody>
          <a:bodyPr wrap="square" lIns="0" tIns="0" rIns="0" bIns="0" rtlCol="0" anchor="t"/>
          <a:lstStyle/>
          <a:p>
            <a:pPr algn="ctr" indent="0" marL="0">
              <a:buNone/>
            </a:pPr>
            <a:r>
              <a:rPr lang="en-US" sz="1900" b="1" dirty="0">
                <a:solidFill>
                  <a:srgbClr val="2B9A66"/>
                </a:solidFill>
                <a:latin typeface="Calibri Light" pitchFamily="34" charset="0"/>
                <a:ea typeface="Calibri Light" pitchFamily="34" charset="-122"/>
                <a:cs typeface="Calibri Light" pitchFamily="34" charset="-120"/>
              </a:rPr>
              <a:t>₹6.22 Cr</a:t>
            </a:r>
            <a:endParaRPr lang="en-US" sz="1900" dirty="0"/>
          </a:p>
        </p:txBody>
      </p:sp>
      <p:sp>
        <p:nvSpPr>
          <p:cNvPr id="39" name="Text 35"/>
          <p:cNvSpPr/>
          <p:nvPr/>
        </p:nvSpPr>
        <p:spPr>
          <a:xfrm>
            <a:off x="4666488" y="3163824"/>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one month, no extra primary</a:t>
            </a:r>
            <a:endParaRPr lang="en-US" sz="680" dirty="0"/>
          </a:p>
        </p:txBody>
      </p:sp>
      <p:sp>
        <p:nvSpPr>
          <p:cNvPr id="40" name="Text 36"/>
          <p:cNvSpPr/>
          <p:nvPr/>
        </p:nvSpPr>
        <p:spPr>
          <a:xfrm>
            <a:off x="4666488" y="3383280"/>
            <a:ext cx="1834896"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Recoverable by zone (₹ Cr)</a:t>
            </a:r>
            <a:endParaRPr lang="en-US" sz="720" dirty="0"/>
          </a:p>
        </p:txBody>
      </p:sp>
      <p:graphicFrame>
        <p:nvGraphicFramePr>
          <p:cNvPr id="41" name="Chart 2" descr=""/>
          <p:cNvGraphicFramePr/>
          <p:nvPr/>
        </p:nvGraphicFramePr>
        <p:xfrm>
          <a:off x="4593336" y="3584448"/>
          <a:ext cx="1944624" cy="1005840"/>
        </p:xfrm>
        <a:graphic xmlns:a="http://schemas.openxmlformats.org/drawingml/2006/main">
          <a:graphicData uri="http://schemas.openxmlformats.org/drawingml/2006/chart">
            <c:chart xmlns:c="http://schemas.openxmlformats.org/drawingml/2006/chart" r:id="rId3"/>
          </a:graphicData>
        </a:graphic>
      </p:graphicFrame>
      <p:sp>
        <p:nvSpPr>
          <p:cNvPr id="42" name="Text 37"/>
          <p:cNvSpPr/>
          <p:nvPr/>
        </p:nvSpPr>
        <p:spPr>
          <a:xfrm>
            <a:off x="4666488" y="4626864"/>
            <a:ext cx="1834896" cy="201168"/>
          </a:xfrm>
          <a:prstGeom prst="rect">
            <a:avLst/>
          </a:prstGeom>
          <a:noFill/>
          <a:ln/>
        </p:spPr>
        <p:txBody>
          <a:bodyPr wrap="square" lIns="0" tIns="0" rIns="0" bIns="0" rtlCol="0" anchor="t"/>
          <a:lstStyle/>
          <a:p>
            <a:pPr indent="0" marL="0">
              <a:lnSpc>
                <a:spcPct val="92000"/>
              </a:lnSpc>
              <a:buNone/>
            </a:pPr>
            <a:r>
              <a:rPr lang="en-US" sz="620" dirty="0">
                <a:solidFill>
                  <a:srgbClr val="5F716E"/>
                </a:solidFill>
                <a:latin typeface="Calibri" pitchFamily="34" charset="0"/>
                <a:ea typeface="Calibri" pitchFamily="34" charset="-122"/>
                <a:cs typeface="Calibri" pitchFamily="34" charset="-120"/>
              </a:rPr>
              <a:t>West +0.05 and Central +0.13 are below the ₹0.25 Cr floor.</a:t>
            </a:r>
            <a:endParaRPr lang="en-US" sz="620" dirty="0"/>
          </a:p>
        </p:txBody>
      </p:sp>
      <p:sp>
        <p:nvSpPr>
          <p:cNvPr id="43" name="Shape 38"/>
          <p:cNvSpPr/>
          <p:nvPr/>
        </p:nvSpPr>
        <p:spPr>
          <a:xfrm>
            <a:off x="265176" y="5175504"/>
            <a:ext cx="2017776" cy="2615184"/>
          </a:xfrm>
          <a:prstGeom prst="roundRect">
            <a:avLst>
              <a:gd name="adj" fmla="val 906"/>
            </a:avLst>
          </a:prstGeom>
          <a:solidFill>
            <a:srgbClr val="FFFFFF"/>
          </a:solidFill>
          <a:ln w="9525">
            <a:solidFill>
              <a:srgbClr val="C8DCD7"/>
            </a:solidFill>
            <a:prstDash val="solid"/>
          </a:ln>
        </p:spPr>
      </p:sp>
      <p:sp>
        <p:nvSpPr>
          <p:cNvPr id="44" name="Shape 39"/>
          <p:cNvSpPr/>
          <p:nvPr/>
        </p:nvSpPr>
        <p:spPr>
          <a:xfrm>
            <a:off x="265176" y="5175504"/>
            <a:ext cx="2017776" cy="274320"/>
          </a:xfrm>
          <a:prstGeom prst="rect">
            <a:avLst/>
          </a:prstGeom>
          <a:solidFill>
            <a:srgbClr val="D6544D"/>
          </a:solidFill>
          <a:ln/>
        </p:spPr>
      </p:sp>
      <p:sp>
        <p:nvSpPr>
          <p:cNvPr id="45" name="Text 40"/>
          <p:cNvSpPr/>
          <p:nvPr/>
        </p:nvSpPr>
        <p:spPr>
          <a:xfrm>
            <a:off x="347472"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 ONE-ACCOUNT MONTH</a:t>
            </a:r>
            <a:endParaRPr lang="en-US" sz="700" dirty="0"/>
          </a:p>
        </p:txBody>
      </p:sp>
      <p:sp>
        <p:nvSpPr>
          <p:cNvPr id="46" name="Text 41"/>
          <p:cNvSpPr/>
          <p:nvPr/>
        </p:nvSpPr>
        <p:spPr>
          <a:xfrm>
            <a:off x="356616" y="5541264"/>
            <a:ext cx="1834896" cy="329184"/>
          </a:xfrm>
          <a:prstGeom prst="rect">
            <a:avLst/>
          </a:prstGeom>
          <a:noFill/>
          <a:ln/>
        </p:spPr>
        <p:txBody>
          <a:bodyPr wrap="square" lIns="0" tIns="0" rIns="0" bIns="0" rtlCol="0" anchor="t"/>
          <a:lstStyle/>
          <a:p>
            <a:pPr algn="ctr" indent="0" marL="0">
              <a:buNone/>
            </a:pPr>
            <a:r>
              <a:rPr lang="en-US" sz="1700" b="1" dirty="0">
                <a:solidFill>
                  <a:srgbClr val="D6544D"/>
                </a:solidFill>
                <a:latin typeface="Calibri Light" pitchFamily="34" charset="0"/>
                <a:ea typeface="Calibri Light" pitchFamily="34" charset="-122"/>
                <a:cs typeface="Calibri Light" pitchFamily="34" charset="-120"/>
              </a:rPr>
              <a:t>−₹1.42 Cr</a:t>
            </a:r>
            <a:endParaRPr lang="en-US" sz="1700" dirty="0"/>
          </a:p>
        </p:txBody>
      </p:sp>
      <p:sp>
        <p:nvSpPr>
          <p:cNvPr id="47" name="Text 42"/>
          <p:cNvSpPr/>
          <p:nvPr/>
        </p:nvSpPr>
        <p:spPr>
          <a:xfrm>
            <a:off x="356616" y="5888736"/>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48" name="Shape 43"/>
          <p:cNvSpPr/>
          <p:nvPr/>
        </p:nvSpPr>
        <p:spPr>
          <a:xfrm>
            <a:off x="374904" y="6176772"/>
            <a:ext cx="50292" cy="50292"/>
          </a:xfrm>
          <a:prstGeom prst="ellipse">
            <a:avLst/>
          </a:prstGeom>
          <a:solidFill>
            <a:srgbClr val="28A596"/>
          </a:solidFill>
          <a:ln/>
        </p:spPr>
      </p:sp>
      <p:sp>
        <p:nvSpPr>
          <p:cNvPr id="49" name="Text 44"/>
          <p:cNvSpPr/>
          <p:nvPr/>
        </p:nvSpPr>
        <p:spPr>
          <a:xfrm>
            <a:off x="493776" y="6126480"/>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Modern Trade fell ₹1.29 Cr month on month.</a:t>
            </a:r>
            <a:endParaRPr lang="en-US" sz="690" dirty="0"/>
          </a:p>
        </p:txBody>
      </p:sp>
      <p:sp>
        <p:nvSpPr>
          <p:cNvPr id="50" name="Shape 45"/>
          <p:cNvSpPr/>
          <p:nvPr/>
        </p:nvSpPr>
        <p:spPr>
          <a:xfrm>
            <a:off x="374904" y="6560820"/>
            <a:ext cx="50292" cy="50292"/>
          </a:xfrm>
          <a:prstGeom prst="ellipse">
            <a:avLst/>
          </a:prstGeom>
          <a:solidFill>
            <a:srgbClr val="2B9A66"/>
          </a:solidFill>
          <a:ln/>
        </p:spPr>
      </p:sp>
      <p:sp>
        <p:nvSpPr>
          <p:cNvPr id="51" name="Text 46"/>
          <p:cNvSpPr/>
          <p:nvPr/>
        </p:nvSpPr>
        <p:spPr>
          <a:xfrm>
            <a:off x="493776" y="6510528"/>
            <a:ext cx="1679448"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comparable chain, combined, grew ₹0.13 Cr.</a:t>
            </a:r>
            <a:endParaRPr lang="en-US" sz="690" dirty="0"/>
          </a:p>
        </p:txBody>
      </p:sp>
      <p:sp>
        <p:nvSpPr>
          <p:cNvPr id="52" name="Shape 47"/>
          <p:cNvSpPr/>
          <p:nvPr/>
        </p:nvSpPr>
        <p:spPr>
          <a:xfrm>
            <a:off x="374904" y="6944868"/>
            <a:ext cx="50292" cy="50292"/>
          </a:xfrm>
          <a:prstGeom prst="ellipse">
            <a:avLst/>
          </a:prstGeom>
          <a:solidFill>
            <a:srgbClr val="D6544D"/>
          </a:solidFill>
          <a:ln/>
        </p:spPr>
      </p:sp>
      <p:sp>
        <p:nvSpPr>
          <p:cNvPr id="53" name="Text 48"/>
          <p:cNvSpPr/>
          <p:nvPr/>
        </p:nvSpPr>
        <p:spPr>
          <a:xfrm>
            <a:off x="493776" y="6894576"/>
            <a:ext cx="1679448"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This is not a broad softening — it is one account.</a:t>
            </a:r>
            <a:endParaRPr lang="en-US" sz="690" dirty="0"/>
          </a:p>
        </p:txBody>
      </p:sp>
      <p:sp>
        <p:nvSpPr>
          <p:cNvPr id="54" name="Shape 49"/>
          <p:cNvSpPr/>
          <p:nvPr/>
        </p:nvSpPr>
        <p:spPr>
          <a:xfrm>
            <a:off x="2420112" y="5175504"/>
            <a:ext cx="2017776" cy="2615184"/>
          </a:xfrm>
          <a:prstGeom prst="roundRect">
            <a:avLst>
              <a:gd name="adj" fmla="val 906"/>
            </a:avLst>
          </a:prstGeom>
          <a:solidFill>
            <a:srgbClr val="FFFFFF"/>
          </a:solidFill>
          <a:ln w="9525">
            <a:solidFill>
              <a:srgbClr val="C8DCD7"/>
            </a:solidFill>
            <a:prstDash val="solid"/>
          </a:ln>
        </p:spPr>
      </p:sp>
      <p:sp>
        <p:nvSpPr>
          <p:cNvPr id="55" name="Shape 50"/>
          <p:cNvSpPr/>
          <p:nvPr/>
        </p:nvSpPr>
        <p:spPr>
          <a:xfrm>
            <a:off x="2420112" y="5175504"/>
            <a:ext cx="2017776" cy="274320"/>
          </a:xfrm>
          <a:prstGeom prst="rect">
            <a:avLst/>
          </a:prstGeom>
          <a:solidFill>
            <a:srgbClr val="F2B84B"/>
          </a:solidFill>
          <a:ln/>
        </p:spPr>
      </p:sp>
      <p:sp>
        <p:nvSpPr>
          <p:cNvPr id="56" name="Text 51"/>
          <p:cNvSpPr/>
          <p:nvPr/>
        </p:nvSpPr>
        <p:spPr>
          <a:xfrm>
            <a:off x="2502408"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NPI IS MIS-TARGETED</a:t>
            </a:r>
            <a:endParaRPr lang="en-US" sz="700" dirty="0"/>
          </a:p>
        </p:txBody>
      </p:sp>
      <p:sp>
        <p:nvSpPr>
          <p:cNvPr id="57" name="Text 52"/>
          <p:cNvSpPr/>
          <p:nvPr/>
        </p:nvSpPr>
        <p:spPr>
          <a:xfrm>
            <a:off x="2511552" y="5541264"/>
            <a:ext cx="1834896" cy="329184"/>
          </a:xfrm>
          <a:prstGeom prst="rect">
            <a:avLst/>
          </a:prstGeom>
          <a:noFill/>
          <a:ln/>
        </p:spPr>
        <p:txBody>
          <a:bodyPr wrap="square" lIns="0" tIns="0" rIns="0" bIns="0" rtlCol="0" anchor="t"/>
          <a:lstStyle/>
          <a:p>
            <a:pPr algn="ctr" indent="0" marL="0">
              <a:buNone/>
            </a:pPr>
            <a:r>
              <a:rPr lang="en-US" sz="1700" b="1" dirty="0">
                <a:solidFill>
                  <a:srgbClr val="F2B84B"/>
                </a:solidFill>
                <a:latin typeface="Calibri Light" pitchFamily="34" charset="0"/>
                <a:ea typeface="Calibri Light" pitchFamily="34" charset="-122"/>
                <a:cs typeface="Calibri Light" pitchFamily="34" charset="-120"/>
              </a:rPr>
              <a:t>82.4%</a:t>
            </a:r>
            <a:endParaRPr lang="en-US" sz="1700" dirty="0"/>
          </a:p>
        </p:txBody>
      </p:sp>
      <p:sp>
        <p:nvSpPr>
          <p:cNvPr id="58" name="Text 53"/>
          <p:cNvSpPr/>
          <p:nvPr/>
        </p:nvSpPr>
        <p:spPr>
          <a:xfrm>
            <a:off x="2529840" y="5888736"/>
            <a:ext cx="1798320" cy="274320"/>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of NPI value sits in the two worst-converting accounts</a:t>
            </a:r>
            <a:endParaRPr lang="en-US" sz="680" dirty="0"/>
          </a:p>
        </p:txBody>
      </p:sp>
      <p:sp>
        <p:nvSpPr>
          <p:cNvPr id="59" name="Shape 54"/>
          <p:cNvSpPr/>
          <p:nvPr/>
        </p:nvSpPr>
        <p:spPr>
          <a:xfrm>
            <a:off x="2529840" y="6268212"/>
            <a:ext cx="50292" cy="50292"/>
          </a:xfrm>
          <a:prstGeom prst="ellipse">
            <a:avLst/>
          </a:prstGeom>
          <a:solidFill>
            <a:srgbClr val="D6544D"/>
          </a:solidFill>
          <a:ln/>
        </p:spPr>
      </p:sp>
      <p:sp>
        <p:nvSpPr>
          <p:cNvPr id="60" name="Text 55"/>
          <p:cNvSpPr/>
          <p:nvPr/>
        </p:nvSpPr>
        <p:spPr>
          <a:xfrm>
            <a:off x="2648712" y="6217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Reliance alone holds 47.1% of NPI at 51.4% conversion.</a:t>
            </a:r>
            <a:endParaRPr lang="en-US" sz="690" dirty="0"/>
          </a:p>
        </p:txBody>
      </p:sp>
      <p:sp>
        <p:nvSpPr>
          <p:cNvPr id="61" name="Shape 56"/>
          <p:cNvSpPr/>
          <p:nvPr/>
        </p:nvSpPr>
        <p:spPr>
          <a:xfrm>
            <a:off x="2529840" y="6633972"/>
            <a:ext cx="50292" cy="50292"/>
          </a:xfrm>
          <a:prstGeom prst="ellipse">
            <a:avLst/>
          </a:prstGeom>
          <a:solidFill>
            <a:srgbClr val="D6544D"/>
          </a:solidFill>
          <a:ln/>
        </p:spPr>
      </p:sp>
      <p:sp>
        <p:nvSpPr>
          <p:cNvPr id="62" name="Text 57"/>
          <p:cNvSpPr/>
          <p:nvPr/>
        </p:nvSpPr>
        <p:spPr>
          <a:xfrm>
            <a:off x="2648712" y="6583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runs the highest NPI mix (10.2%) on the worst flow (49.9%).</a:t>
            </a:r>
            <a:endParaRPr lang="en-US" sz="690" dirty="0"/>
          </a:p>
        </p:txBody>
      </p:sp>
      <p:sp>
        <p:nvSpPr>
          <p:cNvPr id="63" name="Shape 58"/>
          <p:cNvSpPr/>
          <p:nvPr/>
        </p:nvSpPr>
        <p:spPr>
          <a:xfrm>
            <a:off x="2529840" y="6999732"/>
            <a:ext cx="50292" cy="50292"/>
          </a:xfrm>
          <a:prstGeom prst="ellipse">
            <a:avLst/>
          </a:prstGeom>
          <a:solidFill>
            <a:srgbClr val="28A596"/>
          </a:solidFill>
          <a:ln/>
        </p:spPr>
      </p:sp>
      <p:sp>
        <p:nvSpPr>
          <p:cNvPr id="64" name="Text 59"/>
          <p:cNvSpPr/>
          <p:nvPr/>
        </p:nvSpPr>
        <p:spPr>
          <a:xfrm>
            <a:off x="2648712" y="694944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Launches will read as product failure when they are flow failure.</a:t>
            </a:r>
            <a:endParaRPr lang="en-US" sz="690" dirty="0"/>
          </a:p>
        </p:txBody>
      </p:sp>
      <p:sp>
        <p:nvSpPr>
          <p:cNvPr id="65" name="Shape 60"/>
          <p:cNvSpPr/>
          <p:nvPr/>
        </p:nvSpPr>
        <p:spPr>
          <a:xfrm>
            <a:off x="4575048" y="5175504"/>
            <a:ext cx="2017776" cy="2615184"/>
          </a:xfrm>
          <a:prstGeom prst="roundRect">
            <a:avLst>
              <a:gd name="adj" fmla="val 906"/>
            </a:avLst>
          </a:prstGeom>
          <a:solidFill>
            <a:srgbClr val="FFFFFF"/>
          </a:solidFill>
          <a:ln w="9525">
            <a:solidFill>
              <a:srgbClr val="C8DCD7"/>
            </a:solidFill>
            <a:prstDash val="solid"/>
          </a:ln>
        </p:spPr>
      </p:sp>
      <p:sp>
        <p:nvSpPr>
          <p:cNvPr id="66" name="Shape 61"/>
          <p:cNvSpPr/>
          <p:nvPr/>
        </p:nvSpPr>
        <p:spPr>
          <a:xfrm>
            <a:off x="4575048" y="5175504"/>
            <a:ext cx="2017776" cy="274320"/>
          </a:xfrm>
          <a:prstGeom prst="rect">
            <a:avLst/>
          </a:prstGeom>
          <a:solidFill>
            <a:srgbClr val="116F68"/>
          </a:solidFill>
          <a:ln/>
        </p:spPr>
      </p:sp>
      <p:sp>
        <p:nvSpPr>
          <p:cNvPr id="67" name="Text 62"/>
          <p:cNvSpPr/>
          <p:nvPr/>
        </p:nvSpPr>
        <p:spPr>
          <a:xfrm>
            <a:off x="4657344" y="519379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GEOGRAPHIC ENGINES</a:t>
            </a:r>
            <a:endParaRPr lang="en-US" sz="700" dirty="0"/>
          </a:p>
        </p:txBody>
      </p:sp>
      <p:sp>
        <p:nvSpPr>
          <p:cNvPr id="68" name="Shape 63"/>
          <p:cNvSpPr/>
          <p:nvPr/>
        </p:nvSpPr>
        <p:spPr>
          <a:xfrm>
            <a:off x="4684776" y="5628132"/>
            <a:ext cx="50292" cy="50292"/>
          </a:xfrm>
          <a:prstGeom prst="ellipse">
            <a:avLst/>
          </a:prstGeom>
          <a:solidFill>
            <a:srgbClr val="2B9A66"/>
          </a:solidFill>
          <a:ln/>
        </p:spPr>
      </p:sp>
      <p:sp>
        <p:nvSpPr>
          <p:cNvPr id="69" name="Text 64"/>
          <p:cNvSpPr/>
          <p:nvPr/>
        </p:nvSpPr>
        <p:spPr>
          <a:xfrm>
            <a:off x="4803648" y="557784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West ₹8.27 Cr at 85.2% — national benchmark.</a:t>
            </a:r>
            <a:endParaRPr lang="en-US" sz="700" dirty="0"/>
          </a:p>
        </p:txBody>
      </p:sp>
      <p:sp>
        <p:nvSpPr>
          <p:cNvPr id="70" name="Shape 65"/>
          <p:cNvSpPr/>
          <p:nvPr/>
        </p:nvSpPr>
        <p:spPr>
          <a:xfrm>
            <a:off x="4684776" y="5993892"/>
            <a:ext cx="50292" cy="50292"/>
          </a:xfrm>
          <a:prstGeom prst="ellipse">
            <a:avLst/>
          </a:prstGeom>
          <a:solidFill>
            <a:srgbClr val="2B9A66"/>
          </a:solidFill>
          <a:ln/>
        </p:spPr>
      </p:sp>
      <p:sp>
        <p:nvSpPr>
          <p:cNvPr id="71" name="Text 66"/>
          <p:cNvSpPr/>
          <p:nvPr/>
        </p:nvSpPr>
        <p:spPr>
          <a:xfrm>
            <a:off x="4803648" y="594360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South-1 ₹8.18 Cr at 86.3% — best flow in the country.</a:t>
            </a:r>
            <a:endParaRPr lang="en-US" sz="700" dirty="0"/>
          </a:p>
        </p:txBody>
      </p:sp>
      <p:sp>
        <p:nvSpPr>
          <p:cNvPr id="72" name="Shape 67"/>
          <p:cNvSpPr/>
          <p:nvPr/>
        </p:nvSpPr>
        <p:spPr>
          <a:xfrm>
            <a:off x="4684776" y="6359652"/>
            <a:ext cx="50292" cy="50292"/>
          </a:xfrm>
          <a:prstGeom prst="ellipse">
            <a:avLst/>
          </a:prstGeom>
          <a:solidFill>
            <a:srgbClr val="D6544D"/>
          </a:solidFill>
          <a:ln/>
        </p:spPr>
      </p:sp>
      <p:sp>
        <p:nvSpPr>
          <p:cNvPr id="73" name="Text 68"/>
          <p:cNvSpPr/>
          <p:nvPr/>
        </p:nvSpPr>
        <p:spPr>
          <a:xfrm>
            <a:off x="4803648" y="630936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₹4.41 Cr gap — largest recovery pool.</a:t>
            </a:r>
            <a:endParaRPr lang="en-US" sz="700" dirty="0"/>
          </a:p>
        </p:txBody>
      </p:sp>
      <p:sp>
        <p:nvSpPr>
          <p:cNvPr id="74" name="Shape 69"/>
          <p:cNvSpPr/>
          <p:nvPr/>
        </p:nvSpPr>
        <p:spPr>
          <a:xfrm>
            <a:off x="4684776" y="6725412"/>
            <a:ext cx="50292" cy="50292"/>
          </a:xfrm>
          <a:prstGeom prst="ellipse">
            <a:avLst/>
          </a:prstGeom>
          <a:solidFill>
            <a:srgbClr val="D6544D"/>
          </a:solidFill>
          <a:ln/>
        </p:spPr>
      </p:sp>
      <p:sp>
        <p:nvSpPr>
          <p:cNvPr id="75" name="Text 70"/>
          <p:cNvSpPr/>
          <p:nvPr/>
        </p:nvSpPr>
        <p:spPr>
          <a:xfrm>
            <a:off x="4803648" y="667512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East 49.9% conversion — weakest flow, highest NPI mix.</a:t>
            </a:r>
            <a:endParaRPr lang="en-US" sz="700" dirty="0"/>
          </a:p>
        </p:txBody>
      </p:sp>
      <p:sp>
        <p:nvSpPr>
          <p:cNvPr id="76" name="Shape 71"/>
          <p:cNvSpPr/>
          <p:nvPr/>
        </p:nvSpPr>
        <p:spPr>
          <a:xfrm>
            <a:off x="4684776" y="7091172"/>
            <a:ext cx="50292" cy="50292"/>
          </a:xfrm>
          <a:prstGeom prst="ellipse">
            <a:avLst/>
          </a:prstGeom>
          <a:solidFill>
            <a:srgbClr val="F2B84B"/>
          </a:solidFill>
          <a:ln/>
        </p:spPr>
      </p:sp>
      <p:sp>
        <p:nvSpPr>
          <p:cNvPr id="77" name="Text 72"/>
          <p:cNvSpPr/>
          <p:nvPr/>
        </p:nvSpPr>
        <p:spPr>
          <a:xfrm>
            <a:off x="4803648" y="7040880"/>
            <a:ext cx="1679448"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South-2 now clears the floor at +₹0.90 Cr recoverable.</a:t>
            </a:r>
            <a:endParaRPr lang="en-US" sz="700" dirty="0"/>
          </a:p>
        </p:txBody>
      </p:sp>
      <p:sp>
        <p:nvSpPr>
          <p:cNvPr id="78" name="Shape 73"/>
          <p:cNvSpPr/>
          <p:nvPr/>
        </p:nvSpPr>
        <p:spPr>
          <a:xfrm>
            <a:off x="265176" y="7936992"/>
            <a:ext cx="2017776" cy="2615184"/>
          </a:xfrm>
          <a:prstGeom prst="roundRect">
            <a:avLst>
              <a:gd name="adj" fmla="val 906"/>
            </a:avLst>
          </a:prstGeom>
          <a:solidFill>
            <a:srgbClr val="FFFFFF"/>
          </a:solidFill>
          <a:ln w="9525">
            <a:solidFill>
              <a:srgbClr val="C8DCD7"/>
            </a:solidFill>
            <a:prstDash val="solid"/>
          </a:ln>
        </p:spPr>
      </p:sp>
      <p:sp>
        <p:nvSpPr>
          <p:cNvPr id="79" name="Shape 74"/>
          <p:cNvSpPr/>
          <p:nvPr/>
        </p:nvSpPr>
        <p:spPr>
          <a:xfrm>
            <a:off x="265176" y="7936992"/>
            <a:ext cx="2017776" cy="274320"/>
          </a:xfrm>
          <a:prstGeom prst="rect">
            <a:avLst/>
          </a:prstGeom>
          <a:solidFill>
            <a:srgbClr val="116F68"/>
          </a:solidFill>
          <a:ln/>
        </p:spPr>
      </p:sp>
      <p:sp>
        <p:nvSpPr>
          <p:cNvPr id="80" name="Text 75"/>
          <p:cNvSpPr/>
          <p:nvPr/>
        </p:nvSpPr>
        <p:spPr>
          <a:xfrm>
            <a:off x="347472"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90-DAY MOVES</a:t>
            </a:r>
            <a:endParaRPr lang="en-US" sz="700" dirty="0"/>
          </a:p>
        </p:txBody>
      </p:sp>
      <p:sp>
        <p:nvSpPr>
          <p:cNvPr id="81" name="Shape 76"/>
          <p:cNvSpPr/>
          <p:nvPr/>
        </p:nvSpPr>
        <p:spPr>
          <a:xfrm>
            <a:off x="374904" y="8389620"/>
            <a:ext cx="50292" cy="50292"/>
          </a:xfrm>
          <a:prstGeom prst="ellipse">
            <a:avLst/>
          </a:prstGeom>
          <a:solidFill>
            <a:srgbClr val="28A596"/>
          </a:solidFill>
          <a:ln/>
        </p:spPr>
      </p:sp>
      <p:sp>
        <p:nvSpPr>
          <p:cNvPr id="82" name="Text 77"/>
          <p:cNvSpPr/>
          <p:nvPr/>
        </p:nvSpPr>
        <p:spPr>
          <a:xfrm>
            <a:off x="493776"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0–30d: map Lulu, Wellness and H&amp;G primary — ₹2.23 Cr blind.</a:t>
            </a:r>
            <a:endParaRPr lang="en-US" sz="700" dirty="0"/>
          </a:p>
        </p:txBody>
      </p:sp>
      <p:sp>
        <p:nvSpPr>
          <p:cNvPr id="83" name="Shape 78"/>
          <p:cNvSpPr/>
          <p:nvPr/>
        </p:nvSpPr>
        <p:spPr>
          <a:xfrm>
            <a:off x="374904" y="8773668"/>
            <a:ext cx="50292" cy="50292"/>
          </a:xfrm>
          <a:prstGeom prst="ellipse">
            <a:avLst/>
          </a:prstGeom>
          <a:solidFill>
            <a:srgbClr val="28A596"/>
          </a:solidFill>
          <a:ln/>
        </p:spPr>
      </p:sp>
      <p:sp>
        <p:nvSpPr>
          <p:cNvPr id="84" name="Text 79"/>
          <p:cNvSpPr/>
          <p:nvPr/>
        </p:nvSpPr>
        <p:spPr>
          <a:xfrm>
            <a:off x="493776"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0–30d: cap East and North primary at trailing 3-month offtake.</a:t>
            </a:r>
            <a:endParaRPr lang="en-US" sz="700" dirty="0"/>
          </a:p>
        </p:txBody>
      </p:sp>
      <p:sp>
        <p:nvSpPr>
          <p:cNvPr id="85" name="Shape 80"/>
          <p:cNvSpPr/>
          <p:nvPr/>
        </p:nvSpPr>
        <p:spPr>
          <a:xfrm>
            <a:off x="374904" y="9157716"/>
            <a:ext cx="50292" cy="50292"/>
          </a:xfrm>
          <a:prstGeom prst="ellipse">
            <a:avLst/>
          </a:prstGeom>
          <a:solidFill>
            <a:srgbClr val="28A596"/>
          </a:solidFill>
          <a:ln/>
        </p:spPr>
      </p:sp>
      <p:sp>
        <p:nvSpPr>
          <p:cNvPr id="86" name="Text 81"/>
          <p:cNvSpPr/>
          <p:nvPr/>
        </p:nvSpPr>
        <p:spPr>
          <a:xfrm>
            <a:off x="493776"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31–60d: Reliance recovery loop across North, East and Central.</a:t>
            </a:r>
            <a:endParaRPr lang="en-US" sz="700" dirty="0"/>
          </a:p>
        </p:txBody>
      </p:sp>
      <p:sp>
        <p:nvSpPr>
          <p:cNvPr id="87" name="Shape 82"/>
          <p:cNvSpPr/>
          <p:nvPr/>
        </p:nvSpPr>
        <p:spPr>
          <a:xfrm>
            <a:off x="374904" y="9541764"/>
            <a:ext cx="50292" cy="50292"/>
          </a:xfrm>
          <a:prstGeom prst="ellipse">
            <a:avLst/>
          </a:prstGeom>
          <a:solidFill>
            <a:srgbClr val="28A596"/>
          </a:solidFill>
          <a:ln/>
        </p:spPr>
      </p:sp>
      <p:sp>
        <p:nvSpPr>
          <p:cNvPr id="88" name="Text 83"/>
          <p:cNvSpPr/>
          <p:nvPr/>
        </p:nvSpPr>
        <p:spPr>
          <a:xfrm>
            <a:off x="493776"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61–90d: reset loading rules by verified conversion, not by target.</a:t>
            </a:r>
            <a:endParaRPr lang="en-US" sz="700" dirty="0"/>
          </a:p>
        </p:txBody>
      </p:sp>
      <p:sp>
        <p:nvSpPr>
          <p:cNvPr id="89" name="Shape 84"/>
          <p:cNvSpPr/>
          <p:nvPr/>
        </p:nvSpPr>
        <p:spPr>
          <a:xfrm>
            <a:off x="374904" y="9925812"/>
            <a:ext cx="50292" cy="50292"/>
          </a:xfrm>
          <a:prstGeom prst="ellipse">
            <a:avLst/>
          </a:prstGeom>
          <a:solidFill>
            <a:srgbClr val="28A596"/>
          </a:solidFill>
          <a:ln/>
        </p:spPr>
      </p:sp>
      <p:sp>
        <p:nvSpPr>
          <p:cNvPr id="90" name="Text 85"/>
          <p:cNvSpPr/>
          <p:nvPr/>
        </p:nvSpPr>
        <p:spPr>
          <a:xfrm>
            <a:off x="493776"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Scale only what offtake has already proven.</a:t>
            </a:r>
            <a:endParaRPr lang="en-US" sz="700" dirty="0"/>
          </a:p>
        </p:txBody>
      </p:sp>
      <p:sp>
        <p:nvSpPr>
          <p:cNvPr id="91" name="Shape 86"/>
          <p:cNvSpPr/>
          <p:nvPr/>
        </p:nvSpPr>
        <p:spPr>
          <a:xfrm>
            <a:off x="2420112" y="7936992"/>
            <a:ext cx="2017776" cy="2615184"/>
          </a:xfrm>
          <a:prstGeom prst="roundRect">
            <a:avLst>
              <a:gd name="adj" fmla="val 906"/>
            </a:avLst>
          </a:prstGeom>
          <a:solidFill>
            <a:srgbClr val="FFFFFF"/>
          </a:solidFill>
          <a:ln w="9525">
            <a:solidFill>
              <a:srgbClr val="C8DCD7"/>
            </a:solidFill>
            <a:prstDash val="solid"/>
          </a:ln>
        </p:spPr>
      </p:sp>
      <p:sp>
        <p:nvSpPr>
          <p:cNvPr id="92" name="Shape 87"/>
          <p:cNvSpPr/>
          <p:nvPr/>
        </p:nvSpPr>
        <p:spPr>
          <a:xfrm>
            <a:off x="2420112" y="7936992"/>
            <a:ext cx="2017776" cy="274320"/>
          </a:xfrm>
          <a:prstGeom prst="rect">
            <a:avLst/>
          </a:prstGeom>
          <a:solidFill>
            <a:srgbClr val="116F68"/>
          </a:solidFill>
          <a:ln/>
        </p:spPr>
      </p:sp>
      <p:sp>
        <p:nvSpPr>
          <p:cNvPr id="93" name="Text 88"/>
          <p:cNvSpPr/>
          <p:nvPr/>
        </p:nvSpPr>
        <p:spPr>
          <a:xfrm>
            <a:off x="2502408"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SCOREBOARD</a:t>
            </a:r>
            <a:endParaRPr lang="en-US" sz="700" dirty="0"/>
          </a:p>
        </p:txBody>
      </p:sp>
      <p:sp>
        <p:nvSpPr>
          <p:cNvPr id="94" name="Shape 89"/>
          <p:cNvSpPr/>
          <p:nvPr/>
        </p:nvSpPr>
        <p:spPr>
          <a:xfrm>
            <a:off x="2529840" y="8389620"/>
            <a:ext cx="50292" cy="50292"/>
          </a:xfrm>
          <a:prstGeom prst="ellipse">
            <a:avLst/>
          </a:prstGeom>
          <a:solidFill>
            <a:srgbClr val="28A596"/>
          </a:solidFill>
          <a:ln/>
        </p:spPr>
      </p:sp>
      <p:sp>
        <p:nvSpPr>
          <p:cNvPr id="95" name="Text 90"/>
          <p:cNvSpPr/>
          <p:nvPr/>
        </p:nvSpPr>
        <p:spPr>
          <a:xfrm>
            <a:off x="2648712" y="8339328"/>
            <a:ext cx="1679448" cy="365760"/>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MT flow conversion — the one metric. 72.2% → 85.5%.</a:t>
            </a:r>
            <a:endParaRPr lang="en-US" sz="700" dirty="0"/>
          </a:p>
        </p:txBody>
      </p:sp>
      <p:sp>
        <p:nvSpPr>
          <p:cNvPr id="96" name="Shape 91"/>
          <p:cNvSpPr/>
          <p:nvPr/>
        </p:nvSpPr>
        <p:spPr>
          <a:xfrm>
            <a:off x="2529840" y="8773668"/>
            <a:ext cx="50292" cy="50292"/>
          </a:xfrm>
          <a:prstGeom prst="ellipse">
            <a:avLst/>
          </a:prstGeom>
          <a:solidFill>
            <a:srgbClr val="28A596"/>
          </a:solidFill>
          <a:ln/>
        </p:spPr>
      </p:sp>
      <p:sp>
        <p:nvSpPr>
          <p:cNvPr id="97" name="Text 92"/>
          <p:cNvSpPr/>
          <p:nvPr/>
        </p:nvSpPr>
        <p:spPr>
          <a:xfrm>
            <a:off x="2648712"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North gap −₹2.78 Cr and East −₹2.54 Cr against benchmark, weekly.</a:t>
            </a:r>
            <a:endParaRPr lang="en-US" sz="700" dirty="0"/>
          </a:p>
        </p:txBody>
      </p:sp>
      <p:sp>
        <p:nvSpPr>
          <p:cNvPr id="98" name="Shape 93"/>
          <p:cNvSpPr/>
          <p:nvPr/>
        </p:nvSpPr>
        <p:spPr>
          <a:xfrm>
            <a:off x="2529840" y="9157716"/>
            <a:ext cx="50292" cy="50292"/>
          </a:xfrm>
          <a:prstGeom prst="ellipse">
            <a:avLst/>
          </a:prstGeom>
          <a:solidFill>
            <a:srgbClr val="28A596"/>
          </a:solidFill>
          <a:ln/>
        </p:spPr>
      </p:sp>
      <p:sp>
        <p:nvSpPr>
          <p:cNvPr id="99" name="Text 94"/>
          <p:cNvSpPr/>
          <p:nvPr/>
        </p:nvSpPr>
        <p:spPr>
          <a:xfrm>
            <a:off x="2648712"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Hero-SKU OSA above 95% in priority stores.</a:t>
            </a:r>
            <a:endParaRPr lang="en-US" sz="700" dirty="0"/>
          </a:p>
        </p:txBody>
      </p:sp>
      <p:sp>
        <p:nvSpPr>
          <p:cNvPr id="100" name="Shape 95"/>
          <p:cNvSpPr/>
          <p:nvPr/>
        </p:nvSpPr>
        <p:spPr>
          <a:xfrm>
            <a:off x="2529840" y="9541764"/>
            <a:ext cx="50292" cy="50292"/>
          </a:xfrm>
          <a:prstGeom prst="ellipse">
            <a:avLst/>
          </a:prstGeom>
          <a:solidFill>
            <a:srgbClr val="28A596"/>
          </a:solidFill>
          <a:ln/>
        </p:spPr>
      </p:sp>
      <p:sp>
        <p:nvSpPr>
          <p:cNvPr id="101" name="Text 96"/>
          <p:cNvSpPr/>
          <p:nvPr/>
        </p:nvSpPr>
        <p:spPr>
          <a:xfrm>
            <a:off x="2648712"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Unmapped chains: zero before the August pack ships.</a:t>
            </a:r>
            <a:endParaRPr lang="en-US" sz="700" dirty="0"/>
          </a:p>
        </p:txBody>
      </p:sp>
      <p:sp>
        <p:nvSpPr>
          <p:cNvPr id="102" name="Shape 97"/>
          <p:cNvSpPr/>
          <p:nvPr/>
        </p:nvSpPr>
        <p:spPr>
          <a:xfrm>
            <a:off x="2529840" y="9925812"/>
            <a:ext cx="50292" cy="50292"/>
          </a:xfrm>
          <a:prstGeom prst="ellipse">
            <a:avLst/>
          </a:prstGeom>
          <a:solidFill>
            <a:srgbClr val="2B9A66"/>
          </a:solidFill>
          <a:ln/>
        </p:spPr>
      </p:sp>
      <p:sp>
        <p:nvSpPr>
          <p:cNvPr id="103" name="Text 98"/>
          <p:cNvSpPr/>
          <p:nvPr/>
        </p:nvSpPr>
        <p:spPr>
          <a:xfrm>
            <a:off x="2648712"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Channel purity: no eB2B or SIS value inside any MT zone.</a:t>
            </a:r>
            <a:endParaRPr lang="en-US" sz="700" dirty="0"/>
          </a:p>
        </p:txBody>
      </p:sp>
      <p:sp>
        <p:nvSpPr>
          <p:cNvPr id="104" name="Shape 99"/>
          <p:cNvSpPr/>
          <p:nvPr/>
        </p:nvSpPr>
        <p:spPr>
          <a:xfrm>
            <a:off x="4575048" y="7936992"/>
            <a:ext cx="2017776" cy="2615184"/>
          </a:xfrm>
          <a:prstGeom prst="roundRect">
            <a:avLst>
              <a:gd name="adj" fmla="val 906"/>
            </a:avLst>
          </a:prstGeom>
          <a:solidFill>
            <a:srgbClr val="FFFFFF"/>
          </a:solidFill>
          <a:ln w="9525">
            <a:solidFill>
              <a:srgbClr val="C8DCD7"/>
            </a:solidFill>
            <a:prstDash val="solid"/>
          </a:ln>
        </p:spPr>
      </p:sp>
      <p:sp>
        <p:nvSpPr>
          <p:cNvPr id="105" name="Shape 100"/>
          <p:cNvSpPr/>
          <p:nvPr/>
        </p:nvSpPr>
        <p:spPr>
          <a:xfrm>
            <a:off x="4575048" y="7936992"/>
            <a:ext cx="2017776" cy="274320"/>
          </a:xfrm>
          <a:prstGeom prst="rect">
            <a:avLst/>
          </a:prstGeom>
          <a:solidFill>
            <a:srgbClr val="5F716E"/>
          </a:solidFill>
          <a:ln/>
        </p:spPr>
      </p:sp>
      <p:sp>
        <p:nvSpPr>
          <p:cNvPr id="106" name="Text 101"/>
          <p:cNvSpPr/>
          <p:nvPr/>
        </p:nvSpPr>
        <p:spPr>
          <a:xfrm>
            <a:off x="4657344" y="795528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DECISION SAFEGUARDS</a:t>
            </a:r>
            <a:endParaRPr lang="en-US" sz="700" dirty="0"/>
          </a:p>
        </p:txBody>
      </p:sp>
      <p:sp>
        <p:nvSpPr>
          <p:cNvPr id="107" name="Shape 102"/>
          <p:cNvSpPr/>
          <p:nvPr/>
        </p:nvSpPr>
        <p:spPr>
          <a:xfrm>
            <a:off x="4684776" y="8389620"/>
            <a:ext cx="50292" cy="50292"/>
          </a:xfrm>
          <a:prstGeom prst="ellipse">
            <a:avLst/>
          </a:prstGeom>
          <a:solidFill>
            <a:srgbClr val="5F716E"/>
          </a:solidFill>
          <a:ln/>
        </p:spPr>
      </p:sp>
      <p:sp>
        <p:nvSpPr>
          <p:cNvPr id="108" name="Text 103"/>
          <p:cNvSpPr/>
          <p:nvPr/>
        </p:nvSpPr>
        <p:spPr>
          <a:xfrm>
            <a:off x="4803648" y="8339328"/>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Flow gap is not inventory or stock cover — it is unconverted billing.</a:t>
            </a:r>
            <a:endParaRPr lang="en-US" sz="700" dirty="0"/>
          </a:p>
        </p:txBody>
      </p:sp>
      <p:sp>
        <p:nvSpPr>
          <p:cNvPr id="109" name="Shape 104"/>
          <p:cNvSpPr/>
          <p:nvPr/>
        </p:nvSpPr>
        <p:spPr>
          <a:xfrm>
            <a:off x="4684776" y="8773668"/>
            <a:ext cx="50292" cy="50292"/>
          </a:xfrm>
          <a:prstGeom prst="ellipse">
            <a:avLst/>
          </a:prstGeom>
          <a:solidFill>
            <a:srgbClr val="5F716E"/>
          </a:solidFill>
          <a:ln/>
        </p:spPr>
      </p:sp>
      <p:sp>
        <p:nvSpPr>
          <p:cNvPr id="110" name="Text 105"/>
          <p:cNvSpPr/>
          <p:nvPr/>
        </p:nvSpPr>
        <p:spPr>
          <a:xfrm>
            <a:off x="4803648" y="8723376"/>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Conversion above 100% is a timing or stock signal, never a success.</a:t>
            </a:r>
            <a:endParaRPr lang="en-US" sz="700" dirty="0"/>
          </a:p>
        </p:txBody>
      </p:sp>
      <p:sp>
        <p:nvSpPr>
          <p:cNvPr id="111" name="Shape 106"/>
          <p:cNvSpPr/>
          <p:nvPr/>
        </p:nvSpPr>
        <p:spPr>
          <a:xfrm>
            <a:off x="4684776" y="9157716"/>
            <a:ext cx="50292" cy="50292"/>
          </a:xfrm>
          <a:prstGeom prst="ellipse">
            <a:avLst/>
          </a:prstGeom>
          <a:solidFill>
            <a:srgbClr val="5F716E"/>
          </a:solidFill>
          <a:ln/>
        </p:spPr>
      </p:sp>
      <p:sp>
        <p:nvSpPr>
          <p:cNvPr id="112" name="Text 107"/>
          <p:cNvSpPr/>
          <p:nvPr/>
        </p:nvSpPr>
        <p:spPr>
          <a:xfrm>
            <a:off x="4803648" y="9107424"/>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 is shown below a ₹0.25 Cr materiality floor.</a:t>
            </a:r>
            <a:endParaRPr lang="en-US" sz="700" dirty="0"/>
          </a:p>
        </p:txBody>
      </p:sp>
      <p:sp>
        <p:nvSpPr>
          <p:cNvPr id="113" name="Shape 108"/>
          <p:cNvSpPr/>
          <p:nvPr/>
        </p:nvSpPr>
        <p:spPr>
          <a:xfrm>
            <a:off x="4684776" y="9541764"/>
            <a:ext cx="50292" cy="50292"/>
          </a:xfrm>
          <a:prstGeom prst="ellipse">
            <a:avLst/>
          </a:prstGeom>
          <a:solidFill>
            <a:srgbClr val="5F716E"/>
          </a:solidFill>
          <a:ln/>
        </p:spPr>
      </p:sp>
      <p:sp>
        <p:nvSpPr>
          <p:cNvPr id="114" name="Text 109"/>
          <p:cNvSpPr/>
          <p:nvPr/>
        </p:nvSpPr>
        <p:spPr>
          <a:xfrm>
            <a:off x="4803648" y="9491472"/>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Apollo national 99.7% averages 121–149% zone errors — do not quote it.</a:t>
            </a:r>
            <a:endParaRPr lang="en-US" sz="700" dirty="0"/>
          </a:p>
        </p:txBody>
      </p:sp>
      <p:sp>
        <p:nvSpPr>
          <p:cNvPr id="115" name="Shape 110"/>
          <p:cNvSpPr/>
          <p:nvPr/>
        </p:nvSpPr>
        <p:spPr>
          <a:xfrm>
            <a:off x="4684776" y="9925812"/>
            <a:ext cx="50292" cy="50292"/>
          </a:xfrm>
          <a:prstGeom prst="ellipse">
            <a:avLst/>
          </a:prstGeom>
          <a:solidFill>
            <a:srgbClr val="5F716E"/>
          </a:solidFill>
          <a:ln/>
        </p:spPr>
      </p:sp>
      <p:sp>
        <p:nvSpPr>
          <p:cNvPr id="116" name="Text 111"/>
          <p:cNvSpPr/>
          <p:nvPr/>
        </p:nvSpPr>
        <p:spPr>
          <a:xfrm>
            <a:off x="4803648" y="9875520"/>
            <a:ext cx="1679448" cy="365760"/>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YoY or target claim without a matched comparator.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Q1 FY27: Modern Trade grew 66.6% to ₹107.75 Cr</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Quarter in review | Apr–Jun 2026 vs Apr–Jun 2025 | Modern Trade accounts only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OFFTAKE</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350" b="1" dirty="0">
                <a:solidFill>
                  <a:srgbClr val="28A596"/>
                </a:solidFill>
                <a:latin typeface="Calibri Light" pitchFamily="34" charset="0"/>
                <a:ea typeface="Calibri Light" pitchFamily="34" charset="-122"/>
                <a:cs typeface="Calibri Light" pitchFamily="34" charset="-120"/>
              </a:rPr>
              <a:t>₹107.75 Cr</a:t>
            </a:r>
            <a:endParaRPr lang="en-US" sz="13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vs ₹64.69 Cr in Q1 FY26</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B9A6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GROWTH</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+66.6%</a:t>
            </a:r>
            <a:endParaRPr lang="en-US" sz="17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blended read was +63.6%</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MT PRIMARY</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350" b="1" dirty="0">
                <a:solidFill>
                  <a:srgbClr val="2E7DA8"/>
                </a:solidFill>
                <a:latin typeface="Calibri Light" pitchFamily="34" charset="0"/>
                <a:ea typeface="Calibri Light" pitchFamily="34" charset="-122"/>
                <a:cs typeface="Calibri Light" pitchFamily="34" charset="-120"/>
              </a:rPr>
              <a:t>₹129.73 Cr</a:t>
            </a:r>
            <a:endParaRPr lang="en-US" sz="13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Channel == MT, three months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Q1 CONVERSION</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83.1%</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fell to 72.2%</a:t>
            </a:r>
            <a:endParaRPr lang="en-US" sz="680" dirty="0"/>
          </a:p>
        </p:txBody>
      </p:sp>
      <p:sp>
        <p:nvSpPr>
          <p:cNvPr id="39" name="Shape 37"/>
          <p:cNvSpPr/>
          <p:nvPr/>
        </p:nvSpPr>
        <p:spPr>
          <a:xfrm>
            <a:off x="265176" y="2231136"/>
            <a:ext cx="6327648" cy="603504"/>
          </a:xfrm>
          <a:prstGeom prst="roundRect">
            <a:avLst>
              <a:gd name="adj" fmla="val 4545"/>
            </a:avLst>
          </a:prstGeom>
          <a:solidFill>
            <a:srgbClr val="DFF2ED"/>
          </a:solidFill>
          <a:ln w="12700">
            <a:solidFill>
              <a:srgbClr val="28A596"/>
            </a:solidFill>
            <a:prstDash val="solid"/>
          </a:ln>
        </p:spPr>
      </p:sp>
      <p:sp>
        <p:nvSpPr>
          <p:cNvPr id="40" name="Text 38"/>
          <p:cNvSpPr/>
          <p:nvPr/>
        </p:nvSpPr>
        <p:spPr>
          <a:xfrm>
            <a:off x="393192" y="230428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EXCLUDING eB2B MAKES MT LOOK BETTER, NOT WORSE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June pack reported Q1 at ₹114.39 Cr and +63.6% on a blended MT + eB2B base. Nykaa (FSN) grew only 25% against the network’s 67%, so carrying it inside MT held the headline down. On a Modern Trade base the quarter grew 66.6%.</a:t>
            </a:r>
            <a:endParaRPr lang="en-US" sz="700" dirty="0"/>
          </a:p>
        </p:txBody>
      </p:sp>
      <p:sp>
        <p:nvSpPr>
          <p:cNvPr id="41" name="Shape 39"/>
          <p:cNvSpPr/>
          <p:nvPr/>
        </p:nvSpPr>
        <p:spPr>
          <a:xfrm>
            <a:off x="265176" y="2980944"/>
            <a:ext cx="6327648" cy="256032"/>
          </a:xfrm>
          <a:prstGeom prst="rect">
            <a:avLst/>
          </a:prstGeom>
          <a:solidFill>
            <a:srgbClr val="116F68"/>
          </a:solidFill>
          <a:ln/>
        </p:spPr>
      </p:sp>
      <p:sp>
        <p:nvSpPr>
          <p:cNvPr id="42" name="Text 40"/>
          <p:cNvSpPr/>
          <p:nvPr/>
        </p:nvSpPr>
        <p:spPr>
          <a:xfrm>
            <a:off x="374904" y="29992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 Q1 FY27 vs Q1 FY26 (MODERN TRADE ONLY)</a:t>
            </a:r>
            <a:endParaRPr lang="en-US" sz="720" dirty="0"/>
          </a:p>
        </p:txBody>
      </p:sp>
      <p:sp>
        <p:nvSpPr>
          <p:cNvPr id="43" name="Shape 41"/>
          <p:cNvSpPr/>
          <p:nvPr/>
        </p:nvSpPr>
        <p:spPr>
          <a:xfrm>
            <a:off x="265176" y="3328416"/>
            <a:ext cx="6327648" cy="256032"/>
          </a:xfrm>
          <a:prstGeom prst="rect">
            <a:avLst/>
          </a:prstGeom>
          <a:solidFill>
            <a:srgbClr val="116F68"/>
          </a:solidFill>
          <a:ln/>
        </p:spPr>
      </p:sp>
      <p:sp>
        <p:nvSpPr>
          <p:cNvPr id="44" name="Text 42"/>
          <p:cNvSpPr/>
          <p:nvPr/>
        </p:nvSpPr>
        <p:spPr>
          <a:xfrm>
            <a:off x="320040" y="3346704"/>
            <a:ext cx="108243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45" name="Text 43"/>
          <p:cNvSpPr/>
          <p:nvPr/>
        </p:nvSpPr>
        <p:spPr>
          <a:xfrm>
            <a:off x="151220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FY26</a:t>
            </a:r>
            <a:endParaRPr lang="en-US" sz="660" dirty="0"/>
          </a:p>
        </p:txBody>
      </p:sp>
      <p:sp>
        <p:nvSpPr>
          <p:cNvPr id="46" name="Text 44"/>
          <p:cNvSpPr/>
          <p:nvPr/>
        </p:nvSpPr>
        <p:spPr>
          <a:xfrm>
            <a:off x="2429256" y="3346704"/>
            <a:ext cx="80732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FY27</a:t>
            </a:r>
            <a:endParaRPr lang="en-US" sz="660" dirty="0"/>
          </a:p>
        </p:txBody>
      </p:sp>
      <p:sp>
        <p:nvSpPr>
          <p:cNvPr id="47" name="Text 45"/>
          <p:cNvSpPr/>
          <p:nvPr/>
        </p:nvSpPr>
        <p:spPr>
          <a:xfrm>
            <a:off x="3346306"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GROWTH</a:t>
            </a:r>
            <a:endParaRPr lang="en-US" sz="660" dirty="0"/>
          </a:p>
        </p:txBody>
      </p:sp>
      <p:sp>
        <p:nvSpPr>
          <p:cNvPr id="48" name="Text 46"/>
          <p:cNvSpPr/>
          <p:nvPr/>
        </p:nvSpPr>
        <p:spPr>
          <a:xfrm>
            <a:off x="4217504" y="3346704"/>
            <a:ext cx="57806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49" name="Text 47"/>
          <p:cNvSpPr/>
          <p:nvPr/>
        </p:nvSpPr>
        <p:spPr>
          <a:xfrm>
            <a:off x="4905292"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50" name="Text 48"/>
          <p:cNvSpPr/>
          <p:nvPr/>
        </p:nvSpPr>
        <p:spPr>
          <a:xfrm>
            <a:off x="5776490" y="3346704"/>
            <a:ext cx="7614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51" name="Shape 49"/>
          <p:cNvSpPr/>
          <p:nvPr/>
        </p:nvSpPr>
        <p:spPr>
          <a:xfrm>
            <a:off x="265176" y="3584448"/>
            <a:ext cx="6327648" cy="310896"/>
          </a:xfrm>
          <a:prstGeom prst="rect">
            <a:avLst/>
          </a:prstGeom>
          <a:solidFill>
            <a:srgbClr val="F4F9F8"/>
          </a:solidFill>
          <a:ln/>
        </p:spPr>
      </p:sp>
      <p:sp>
        <p:nvSpPr>
          <p:cNvPr id="52" name="Shape 50"/>
          <p:cNvSpPr/>
          <p:nvPr/>
        </p:nvSpPr>
        <p:spPr>
          <a:xfrm>
            <a:off x="265176" y="3895344"/>
            <a:ext cx="6327648" cy="0"/>
          </a:xfrm>
          <a:prstGeom prst="line">
            <a:avLst/>
          </a:prstGeom>
          <a:noFill/>
          <a:ln w="6350">
            <a:solidFill>
              <a:srgbClr val="C8DCD7"/>
            </a:solidFill>
            <a:prstDash val="solid"/>
          </a:ln>
        </p:spPr>
      </p:sp>
      <p:sp>
        <p:nvSpPr>
          <p:cNvPr id="53" name="Text 51"/>
          <p:cNvSpPr/>
          <p:nvPr/>
        </p:nvSpPr>
        <p:spPr>
          <a:xfrm>
            <a:off x="320040" y="358444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54" name="Text 52"/>
          <p:cNvSpPr/>
          <p:nvPr/>
        </p:nvSpPr>
        <p:spPr>
          <a:xfrm>
            <a:off x="1512206" y="3584448"/>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18.77</a:t>
            </a:r>
            <a:endParaRPr lang="en-US" sz="740" dirty="0"/>
          </a:p>
        </p:txBody>
      </p:sp>
      <p:sp>
        <p:nvSpPr>
          <p:cNvPr id="55" name="Text 53"/>
          <p:cNvSpPr/>
          <p:nvPr/>
        </p:nvSpPr>
        <p:spPr>
          <a:xfrm>
            <a:off x="2429256" y="358444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29.05</a:t>
            </a:r>
            <a:endParaRPr lang="en-US" sz="740" dirty="0"/>
          </a:p>
        </p:txBody>
      </p:sp>
      <p:sp>
        <p:nvSpPr>
          <p:cNvPr id="56" name="Text 54"/>
          <p:cNvSpPr/>
          <p:nvPr/>
        </p:nvSpPr>
        <p:spPr>
          <a:xfrm>
            <a:off x="3346306"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+55%</a:t>
            </a:r>
            <a:endParaRPr lang="en-US" sz="740" dirty="0"/>
          </a:p>
        </p:txBody>
      </p:sp>
      <p:sp>
        <p:nvSpPr>
          <p:cNvPr id="57" name="Text 55"/>
          <p:cNvSpPr/>
          <p:nvPr/>
        </p:nvSpPr>
        <p:spPr>
          <a:xfrm>
            <a:off x="4217504" y="358444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27.0%</a:t>
            </a:r>
            <a:endParaRPr lang="en-US" sz="740" dirty="0"/>
          </a:p>
        </p:txBody>
      </p:sp>
      <p:sp>
        <p:nvSpPr>
          <p:cNvPr id="58" name="Text 56"/>
          <p:cNvSpPr/>
          <p:nvPr/>
        </p:nvSpPr>
        <p:spPr>
          <a:xfrm>
            <a:off x="4905292" y="3584448"/>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59" name="Text 57"/>
          <p:cNvSpPr/>
          <p:nvPr/>
        </p:nvSpPr>
        <p:spPr>
          <a:xfrm>
            <a:off x="5776490" y="3584448"/>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60" name="Shape 58"/>
          <p:cNvSpPr/>
          <p:nvPr/>
        </p:nvSpPr>
        <p:spPr>
          <a:xfrm>
            <a:off x="265176" y="4206240"/>
            <a:ext cx="6327648" cy="0"/>
          </a:xfrm>
          <a:prstGeom prst="line">
            <a:avLst/>
          </a:prstGeom>
          <a:noFill/>
          <a:ln w="6350">
            <a:solidFill>
              <a:srgbClr val="C8DCD7"/>
            </a:solidFill>
            <a:prstDash val="solid"/>
          </a:ln>
        </p:spPr>
      </p:sp>
      <p:sp>
        <p:nvSpPr>
          <p:cNvPr id="61" name="Text 59"/>
          <p:cNvSpPr/>
          <p:nvPr/>
        </p:nvSpPr>
        <p:spPr>
          <a:xfrm>
            <a:off x="320040" y="3895344"/>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62" name="Text 60"/>
          <p:cNvSpPr/>
          <p:nvPr/>
        </p:nvSpPr>
        <p:spPr>
          <a:xfrm>
            <a:off x="1512206" y="3895344"/>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15.83</a:t>
            </a:r>
            <a:endParaRPr lang="en-US" sz="740" dirty="0"/>
          </a:p>
        </p:txBody>
      </p:sp>
      <p:sp>
        <p:nvSpPr>
          <p:cNvPr id="63" name="Text 61"/>
          <p:cNvSpPr/>
          <p:nvPr/>
        </p:nvSpPr>
        <p:spPr>
          <a:xfrm>
            <a:off x="2429256" y="3895344"/>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26.41</a:t>
            </a:r>
            <a:endParaRPr lang="en-US" sz="740" dirty="0"/>
          </a:p>
        </p:txBody>
      </p:sp>
      <p:sp>
        <p:nvSpPr>
          <p:cNvPr id="64" name="Text 62"/>
          <p:cNvSpPr/>
          <p:nvPr/>
        </p:nvSpPr>
        <p:spPr>
          <a:xfrm>
            <a:off x="3346306"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65" name="Text 63"/>
          <p:cNvSpPr/>
          <p:nvPr/>
        </p:nvSpPr>
        <p:spPr>
          <a:xfrm>
            <a:off x="4217504" y="3895344"/>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24.5%</a:t>
            </a:r>
            <a:endParaRPr lang="en-US" sz="740" dirty="0"/>
          </a:p>
        </p:txBody>
      </p:sp>
      <p:sp>
        <p:nvSpPr>
          <p:cNvPr id="66" name="Text 64"/>
          <p:cNvSpPr/>
          <p:nvPr/>
        </p:nvSpPr>
        <p:spPr>
          <a:xfrm>
            <a:off x="4905292" y="3895344"/>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90.0%</a:t>
            </a:r>
            <a:endParaRPr lang="en-US" sz="740" dirty="0"/>
          </a:p>
        </p:txBody>
      </p:sp>
      <p:sp>
        <p:nvSpPr>
          <p:cNvPr id="67" name="Text 65"/>
          <p:cNvSpPr/>
          <p:nvPr/>
        </p:nvSpPr>
        <p:spPr>
          <a:xfrm>
            <a:off x="5776490" y="3895344"/>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68" name="Shape 66"/>
          <p:cNvSpPr/>
          <p:nvPr/>
        </p:nvSpPr>
        <p:spPr>
          <a:xfrm>
            <a:off x="265176" y="4206240"/>
            <a:ext cx="6327648" cy="310896"/>
          </a:xfrm>
          <a:prstGeom prst="rect">
            <a:avLst/>
          </a:prstGeom>
          <a:solidFill>
            <a:srgbClr val="F4F9F8"/>
          </a:solidFill>
          <a:ln/>
        </p:spPr>
      </p:sp>
      <p:sp>
        <p:nvSpPr>
          <p:cNvPr id="69" name="Shape 67"/>
          <p:cNvSpPr/>
          <p:nvPr/>
        </p:nvSpPr>
        <p:spPr>
          <a:xfrm>
            <a:off x="265176" y="4517136"/>
            <a:ext cx="6327648" cy="0"/>
          </a:xfrm>
          <a:prstGeom prst="line">
            <a:avLst/>
          </a:prstGeom>
          <a:noFill/>
          <a:ln w="6350">
            <a:solidFill>
              <a:srgbClr val="C8DCD7"/>
            </a:solidFill>
            <a:prstDash val="solid"/>
          </a:ln>
        </p:spPr>
      </p:sp>
      <p:sp>
        <p:nvSpPr>
          <p:cNvPr id="70" name="Text 68"/>
          <p:cNvSpPr/>
          <p:nvPr/>
        </p:nvSpPr>
        <p:spPr>
          <a:xfrm>
            <a:off x="320040" y="4206240"/>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71" name="Text 69"/>
          <p:cNvSpPr/>
          <p:nvPr/>
        </p:nvSpPr>
        <p:spPr>
          <a:xfrm>
            <a:off x="1512206" y="4206240"/>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13.56</a:t>
            </a:r>
            <a:endParaRPr lang="en-US" sz="740" dirty="0"/>
          </a:p>
        </p:txBody>
      </p:sp>
      <p:sp>
        <p:nvSpPr>
          <p:cNvPr id="72" name="Text 70"/>
          <p:cNvSpPr/>
          <p:nvPr/>
        </p:nvSpPr>
        <p:spPr>
          <a:xfrm>
            <a:off x="2429256" y="4206240"/>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24.89</a:t>
            </a:r>
            <a:endParaRPr lang="en-US" sz="740" dirty="0"/>
          </a:p>
        </p:txBody>
      </p:sp>
      <p:sp>
        <p:nvSpPr>
          <p:cNvPr id="73" name="Text 71"/>
          <p:cNvSpPr/>
          <p:nvPr/>
        </p:nvSpPr>
        <p:spPr>
          <a:xfrm>
            <a:off x="3346306" y="4206240"/>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+84%</a:t>
            </a:r>
            <a:endParaRPr lang="en-US" sz="740" dirty="0"/>
          </a:p>
        </p:txBody>
      </p:sp>
      <p:sp>
        <p:nvSpPr>
          <p:cNvPr id="74" name="Text 72"/>
          <p:cNvSpPr/>
          <p:nvPr/>
        </p:nvSpPr>
        <p:spPr>
          <a:xfrm>
            <a:off x="4217504" y="4206240"/>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23.1%</a:t>
            </a:r>
            <a:endParaRPr lang="en-US" sz="740" dirty="0"/>
          </a:p>
        </p:txBody>
      </p:sp>
      <p:sp>
        <p:nvSpPr>
          <p:cNvPr id="75" name="Text 73"/>
          <p:cNvSpPr/>
          <p:nvPr/>
        </p:nvSpPr>
        <p:spPr>
          <a:xfrm>
            <a:off x="4905292" y="4206240"/>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76" name="Text 74"/>
          <p:cNvSpPr/>
          <p:nvPr/>
        </p:nvSpPr>
        <p:spPr>
          <a:xfrm>
            <a:off x="5776490" y="4206240"/>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77" name="Shape 75"/>
          <p:cNvSpPr/>
          <p:nvPr/>
        </p:nvSpPr>
        <p:spPr>
          <a:xfrm>
            <a:off x="265176" y="4828032"/>
            <a:ext cx="6327648" cy="0"/>
          </a:xfrm>
          <a:prstGeom prst="line">
            <a:avLst/>
          </a:prstGeom>
          <a:noFill/>
          <a:ln w="6350">
            <a:solidFill>
              <a:srgbClr val="C8DCD7"/>
            </a:solidFill>
            <a:prstDash val="solid"/>
          </a:ln>
        </p:spPr>
      </p:sp>
      <p:sp>
        <p:nvSpPr>
          <p:cNvPr id="78" name="Text 76"/>
          <p:cNvSpPr/>
          <p:nvPr/>
        </p:nvSpPr>
        <p:spPr>
          <a:xfrm>
            <a:off x="320040" y="4517136"/>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79" name="Text 77"/>
          <p:cNvSpPr/>
          <p:nvPr/>
        </p:nvSpPr>
        <p:spPr>
          <a:xfrm>
            <a:off x="1512206" y="4517136"/>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9.52</a:t>
            </a:r>
            <a:endParaRPr lang="en-US" sz="740" dirty="0"/>
          </a:p>
        </p:txBody>
      </p:sp>
      <p:sp>
        <p:nvSpPr>
          <p:cNvPr id="80" name="Text 78"/>
          <p:cNvSpPr/>
          <p:nvPr/>
        </p:nvSpPr>
        <p:spPr>
          <a:xfrm>
            <a:off x="2429256" y="4517136"/>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15.76</a:t>
            </a:r>
            <a:endParaRPr lang="en-US" sz="740" dirty="0"/>
          </a:p>
        </p:txBody>
      </p:sp>
      <p:sp>
        <p:nvSpPr>
          <p:cNvPr id="81" name="Text 79"/>
          <p:cNvSpPr/>
          <p:nvPr/>
        </p:nvSpPr>
        <p:spPr>
          <a:xfrm>
            <a:off x="3346306" y="4517136"/>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+66%</a:t>
            </a:r>
            <a:endParaRPr lang="en-US" sz="740" dirty="0"/>
          </a:p>
        </p:txBody>
      </p:sp>
      <p:sp>
        <p:nvSpPr>
          <p:cNvPr id="82" name="Text 80"/>
          <p:cNvSpPr/>
          <p:nvPr/>
        </p:nvSpPr>
        <p:spPr>
          <a:xfrm>
            <a:off x="4217504" y="4517136"/>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14.6%</a:t>
            </a:r>
            <a:endParaRPr lang="en-US" sz="740" dirty="0"/>
          </a:p>
        </p:txBody>
      </p:sp>
      <p:sp>
        <p:nvSpPr>
          <p:cNvPr id="83" name="Text 81"/>
          <p:cNvSpPr/>
          <p:nvPr/>
        </p:nvSpPr>
        <p:spPr>
          <a:xfrm>
            <a:off x="4905292" y="4517136"/>
            <a:ext cx="76147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84" name="Text 82"/>
          <p:cNvSpPr/>
          <p:nvPr/>
        </p:nvSpPr>
        <p:spPr>
          <a:xfrm>
            <a:off x="5776490" y="4517136"/>
            <a:ext cx="761470" cy="310896"/>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85" name="Shape 83"/>
          <p:cNvSpPr/>
          <p:nvPr/>
        </p:nvSpPr>
        <p:spPr>
          <a:xfrm>
            <a:off x="265176" y="4828032"/>
            <a:ext cx="6327648" cy="310896"/>
          </a:xfrm>
          <a:prstGeom prst="rect">
            <a:avLst/>
          </a:prstGeom>
          <a:solidFill>
            <a:srgbClr val="F4F9F8"/>
          </a:solidFill>
          <a:ln/>
        </p:spPr>
      </p:sp>
      <p:sp>
        <p:nvSpPr>
          <p:cNvPr id="86" name="Shape 84"/>
          <p:cNvSpPr/>
          <p:nvPr/>
        </p:nvSpPr>
        <p:spPr>
          <a:xfrm>
            <a:off x="265176" y="5138928"/>
            <a:ext cx="6327648" cy="0"/>
          </a:xfrm>
          <a:prstGeom prst="line">
            <a:avLst/>
          </a:prstGeom>
          <a:noFill/>
          <a:ln w="6350">
            <a:solidFill>
              <a:srgbClr val="C8DCD7"/>
            </a:solidFill>
            <a:prstDash val="solid"/>
          </a:ln>
        </p:spPr>
      </p:sp>
      <p:sp>
        <p:nvSpPr>
          <p:cNvPr id="87" name="Text 85"/>
          <p:cNvSpPr/>
          <p:nvPr/>
        </p:nvSpPr>
        <p:spPr>
          <a:xfrm>
            <a:off x="320040" y="4828032"/>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88" name="Text 86"/>
          <p:cNvSpPr/>
          <p:nvPr/>
        </p:nvSpPr>
        <p:spPr>
          <a:xfrm>
            <a:off x="1512206" y="4828032"/>
            <a:ext cx="807322"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7.01</a:t>
            </a:r>
            <a:endParaRPr lang="en-US" sz="740" dirty="0"/>
          </a:p>
        </p:txBody>
      </p:sp>
      <p:sp>
        <p:nvSpPr>
          <p:cNvPr id="89" name="Text 87"/>
          <p:cNvSpPr/>
          <p:nvPr/>
        </p:nvSpPr>
        <p:spPr>
          <a:xfrm>
            <a:off x="2429256" y="4828032"/>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11.73</a:t>
            </a:r>
            <a:endParaRPr lang="en-US" sz="740" dirty="0"/>
          </a:p>
        </p:txBody>
      </p:sp>
      <p:sp>
        <p:nvSpPr>
          <p:cNvPr id="90" name="Text 88"/>
          <p:cNvSpPr/>
          <p:nvPr/>
        </p:nvSpPr>
        <p:spPr>
          <a:xfrm>
            <a:off x="3346306"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+67%</a:t>
            </a:r>
            <a:endParaRPr lang="en-US" sz="740" dirty="0"/>
          </a:p>
        </p:txBody>
      </p:sp>
      <p:sp>
        <p:nvSpPr>
          <p:cNvPr id="91" name="Text 89"/>
          <p:cNvSpPr/>
          <p:nvPr/>
        </p:nvSpPr>
        <p:spPr>
          <a:xfrm>
            <a:off x="4217504" y="4828032"/>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10.9%</a:t>
            </a:r>
            <a:endParaRPr lang="en-US" sz="740" dirty="0"/>
          </a:p>
        </p:txBody>
      </p:sp>
      <p:sp>
        <p:nvSpPr>
          <p:cNvPr id="92" name="Text 90"/>
          <p:cNvSpPr/>
          <p:nvPr/>
        </p:nvSpPr>
        <p:spPr>
          <a:xfrm>
            <a:off x="4905292" y="4828032"/>
            <a:ext cx="761470" cy="310896"/>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89.7%</a:t>
            </a:r>
            <a:endParaRPr lang="en-US" sz="740" dirty="0"/>
          </a:p>
        </p:txBody>
      </p:sp>
      <p:sp>
        <p:nvSpPr>
          <p:cNvPr id="93" name="Text 91"/>
          <p:cNvSpPr/>
          <p:nvPr/>
        </p:nvSpPr>
        <p:spPr>
          <a:xfrm>
            <a:off x="5776490" y="4828032"/>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94" name="Shape 92"/>
          <p:cNvSpPr/>
          <p:nvPr/>
        </p:nvSpPr>
        <p:spPr>
          <a:xfrm>
            <a:off x="265176" y="5449824"/>
            <a:ext cx="6327648" cy="0"/>
          </a:xfrm>
          <a:prstGeom prst="line">
            <a:avLst/>
          </a:prstGeom>
          <a:noFill/>
          <a:ln w="6350">
            <a:solidFill>
              <a:srgbClr val="C8DCD7"/>
            </a:solidFill>
            <a:prstDash val="solid"/>
          </a:ln>
        </p:spPr>
      </p:sp>
      <p:sp>
        <p:nvSpPr>
          <p:cNvPr id="95" name="Text 93"/>
          <p:cNvSpPr/>
          <p:nvPr/>
        </p:nvSpPr>
        <p:spPr>
          <a:xfrm>
            <a:off x="320040" y="5138928"/>
            <a:ext cx="1082438" cy="310896"/>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TOTAL MT</a:t>
            </a:r>
            <a:endParaRPr lang="en-US" sz="740" dirty="0"/>
          </a:p>
        </p:txBody>
      </p:sp>
      <p:sp>
        <p:nvSpPr>
          <p:cNvPr id="96" name="Text 94"/>
          <p:cNvSpPr/>
          <p:nvPr/>
        </p:nvSpPr>
        <p:spPr>
          <a:xfrm>
            <a:off x="151220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64.69</a:t>
            </a:r>
            <a:endParaRPr lang="en-US" sz="740" dirty="0"/>
          </a:p>
        </p:txBody>
      </p:sp>
      <p:sp>
        <p:nvSpPr>
          <p:cNvPr id="97" name="Text 95"/>
          <p:cNvSpPr/>
          <p:nvPr/>
        </p:nvSpPr>
        <p:spPr>
          <a:xfrm>
            <a:off x="2429256" y="5138928"/>
            <a:ext cx="807322"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107.75</a:t>
            </a:r>
            <a:endParaRPr lang="en-US" sz="740" dirty="0"/>
          </a:p>
        </p:txBody>
      </p:sp>
      <p:sp>
        <p:nvSpPr>
          <p:cNvPr id="98" name="Text 96"/>
          <p:cNvSpPr/>
          <p:nvPr/>
        </p:nvSpPr>
        <p:spPr>
          <a:xfrm>
            <a:off x="3346306" y="5138928"/>
            <a:ext cx="761470" cy="310896"/>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+66.6%</a:t>
            </a:r>
            <a:endParaRPr lang="en-US" sz="740" dirty="0"/>
          </a:p>
        </p:txBody>
      </p:sp>
      <p:sp>
        <p:nvSpPr>
          <p:cNvPr id="99" name="Text 97"/>
          <p:cNvSpPr/>
          <p:nvPr/>
        </p:nvSpPr>
        <p:spPr>
          <a:xfrm>
            <a:off x="4217504" y="5138928"/>
            <a:ext cx="578060" cy="310896"/>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100%</a:t>
            </a:r>
            <a:endParaRPr lang="en-US" sz="740" dirty="0"/>
          </a:p>
        </p:txBody>
      </p:sp>
      <p:sp>
        <p:nvSpPr>
          <p:cNvPr id="100" name="Text 98"/>
          <p:cNvSpPr/>
          <p:nvPr/>
        </p:nvSpPr>
        <p:spPr>
          <a:xfrm>
            <a:off x="4905292" y="5138928"/>
            <a:ext cx="761470" cy="310896"/>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83.1%</a:t>
            </a:r>
            <a:endParaRPr lang="en-US" sz="740" dirty="0"/>
          </a:p>
        </p:txBody>
      </p:sp>
      <p:sp>
        <p:nvSpPr>
          <p:cNvPr id="101" name="Text 99"/>
          <p:cNvSpPr/>
          <p:nvPr/>
        </p:nvSpPr>
        <p:spPr>
          <a:xfrm>
            <a:off x="5776490" y="5138928"/>
            <a:ext cx="761470" cy="310896"/>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72.2%</a:t>
            </a:r>
            <a:endParaRPr lang="en-US" sz="740" dirty="0"/>
          </a:p>
        </p:txBody>
      </p:sp>
      <p:sp>
        <p:nvSpPr>
          <p:cNvPr id="102" name="Text 100"/>
          <p:cNvSpPr/>
          <p:nvPr/>
        </p:nvSpPr>
        <p:spPr>
          <a:xfrm>
            <a:off x="265176" y="5504688"/>
            <a:ext cx="6327648" cy="219456"/>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Central carried no primary in Apr–Jun and appears from July, so it has no Q1 comparative. eB2B (FSN) grew 25% to ₹6.53 Cr and is reported on page 13.</a:t>
            </a:r>
            <a:endParaRPr lang="en-US" sz="660" dirty="0"/>
          </a:p>
        </p:txBody>
      </p:sp>
      <p:sp>
        <p:nvSpPr>
          <p:cNvPr id="103" name="Shape 101"/>
          <p:cNvSpPr/>
          <p:nvPr/>
        </p:nvSpPr>
        <p:spPr>
          <a:xfrm>
            <a:off x="265176" y="5815584"/>
            <a:ext cx="3090672" cy="2139696"/>
          </a:xfrm>
          <a:prstGeom prst="roundRect">
            <a:avLst>
              <a:gd name="adj" fmla="val 855"/>
            </a:avLst>
          </a:prstGeom>
          <a:solidFill>
            <a:srgbClr val="FFFFFF"/>
          </a:solidFill>
          <a:ln w="9525">
            <a:solidFill>
              <a:srgbClr val="C8DCD7"/>
            </a:solidFill>
            <a:prstDash val="solid"/>
          </a:ln>
        </p:spPr>
      </p:sp>
      <p:sp>
        <p:nvSpPr>
          <p:cNvPr id="104" name="Shape 102"/>
          <p:cNvSpPr/>
          <p:nvPr/>
        </p:nvSpPr>
        <p:spPr>
          <a:xfrm>
            <a:off x="265176" y="5815584"/>
            <a:ext cx="3090672" cy="274320"/>
          </a:xfrm>
          <a:prstGeom prst="rect">
            <a:avLst/>
          </a:prstGeom>
          <a:solidFill>
            <a:srgbClr val="116F68"/>
          </a:solidFill>
          <a:ln/>
        </p:spPr>
      </p:sp>
      <p:sp>
        <p:nvSpPr>
          <p:cNvPr id="105" name="Text 103"/>
          <p:cNvSpPr/>
          <p:nvPr/>
        </p:nvSpPr>
        <p:spPr>
          <a:xfrm>
            <a:off x="347472"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CHAIN — Q1 FY27 (₹ Cr)</a:t>
            </a:r>
            <a:endParaRPr lang="en-US" sz="700" dirty="0"/>
          </a:p>
        </p:txBody>
      </p:sp>
      <p:sp>
        <p:nvSpPr>
          <p:cNvPr id="106" name="Text 104"/>
          <p:cNvSpPr/>
          <p:nvPr/>
        </p:nvSpPr>
        <p:spPr>
          <a:xfrm>
            <a:off x="374904"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107" name="Text 105"/>
          <p:cNvSpPr/>
          <p:nvPr/>
        </p:nvSpPr>
        <p:spPr>
          <a:xfrm>
            <a:off x="1874520"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26.00</a:t>
            </a:r>
            <a:endParaRPr lang="en-US" sz="700" dirty="0"/>
          </a:p>
        </p:txBody>
      </p:sp>
      <p:sp>
        <p:nvSpPr>
          <p:cNvPr id="108" name="Text 106"/>
          <p:cNvSpPr/>
          <p:nvPr/>
        </p:nvSpPr>
        <p:spPr>
          <a:xfrm>
            <a:off x="2386584"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42.32</a:t>
            </a:r>
            <a:endParaRPr lang="en-US" sz="720" dirty="0"/>
          </a:p>
        </p:txBody>
      </p:sp>
      <p:sp>
        <p:nvSpPr>
          <p:cNvPr id="109" name="Text 107"/>
          <p:cNvSpPr/>
          <p:nvPr/>
        </p:nvSpPr>
        <p:spPr>
          <a:xfrm>
            <a:off x="2898648"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+63%</a:t>
            </a:r>
            <a:endParaRPr lang="en-US" sz="700" dirty="0"/>
          </a:p>
        </p:txBody>
      </p:sp>
      <p:sp>
        <p:nvSpPr>
          <p:cNvPr id="110" name="Text 108"/>
          <p:cNvSpPr/>
          <p:nvPr/>
        </p:nvSpPr>
        <p:spPr>
          <a:xfrm>
            <a:off x="374904"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111" name="Text 109"/>
          <p:cNvSpPr/>
          <p:nvPr/>
        </p:nvSpPr>
        <p:spPr>
          <a:xfrm>
            <a:off x="1874520"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19.08</a:t>
            </a:r>
            <a:endParaRPr lang="en-US" sz="700" dirty="0"/>
          </a:p>
        </p:txBody>
      </p:sp>
      <p:sp>
        <p:nvSpPr>
          <p:cNvPr id="112" name="Text 110"/>
          <p:cNvSpPr/>
          <p:nvPr/>
        </p:nvSpPr>
        <p:spPr>
          <a:xfrm>
            <a:off x="2386584"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28.06</a:t>
            </a:r>
            <a:endParaRPr lang="en-US" sz="720" dirty="0"/>
          </a:p>
        </p:txBody>
      </p:sp>
      <p:sp>
        <p:nvSpPr>
          <p:cNvPr id="113" name="Text 111"/>
          <p:cNvSpPr/>
          <p:nvPr/>
        </p:nvSpPr>
        <p:spPr>
          <a:xfrm>
            <a:off x="2898648"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+47%</a:t>
            </a:r>
            <a:endParaRPr lang="en-US" sz="700" dirty="0"/>
          </a:p>
        </p:txBody>
      </p:sp>
      <p:sp>
        <p:nvSpPr>
          <p:cNvPr id="114" name="Text 112"/>
          <p:cNvSpPr/>
          <p:nvPr/>
        </p:nvSpPr>
        <p:spPr>
          <a:xfrm>
            <a:off x="374904" y="6784848"/>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Apollo</a:t>
            </a:r>
            <a:endParaRPr lang="en-US" sz="720" dirty="0"/>
          </a:p>
        </p:txBody>
      </p:sp>
      <p:sp>
        <p:nvSpPr>
          <p:cNvPr id="115" name="Text 113"/>
          <p:cNvSpPr/>
          <p:nvPr/>
        </p:nvSpPr>
        <p:spPr>
          <a:xfrm>
            <a:off x="1874520"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7.93</a:t>
            </a:r>
            <a:endParaRPr lang="en-US" sz="700" dirty="0"/>
          </a:p>
        </p:txBody>
      </p:sp>
      <p:sp>
        <p:nvSpPr>
          <p:cNvPr id="116" name="Text 114"/>
          <p:cNvSpPr/>
          <p:nvPr/>
        </p:nvSpPr>
        <p:spPr>
          <a:xfrm>
            <a:off x="2386584"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21.73</a:t>
            </a:r>
            <a:endParaRPr lang="en-US" sz="720" dirty="0"/>
          </a:p>
        </p:txBody>
      </p:sp>
      <p:sp>
        <p:nvSpPr>
          <p:cNvPr id="117" name="Text 115"/>
          <p:cNvSpPr/>
          <p:nvPr/>
        </p:nvSpPr>
        <p:spPr>
          <a:xfrm>
            <a:off x="2898648"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+174%</a:t>
            </a:r>
            <a:endParaRPr lang="en-US" sz="700" dirty="0"/>
          </a:p>
        </p:txBody>
      </p:sp>
      <p:sp>
        <p:nvSpPr>
          <p:cNvPr id="118" name="Text 116"/>
          <p:cNvSpPr/>
          <p:nvPr/>
        </p:nvSpPr>
        <p:spPr>
          <a:xfrm>
            <a:off x="374904"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Lulu</a:t>
            </a:r>
            <a:endParaRPr lang="en-US" sz="720" dirty="0"/>
          </a:p>
        </p:txBody>
      </p:sp>
      <p:sp>
        <p:nvSpPr>
          <p:cNvPr id="119" name="Text 117"/>
          <p:cNvSpPr/>
          <p:nvPr/>
        </p:nvSpPr>
        <p:spPr>
          <a:xfrm>
            <a:off x="1874520"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1.24</a:t>
            </a:r>
            <a:endParaRPr lang="en-US" sz="700" dirty="0"/>
          </a:p>
        </p:txBody>
      </p:sp>
      <p:sp>
        <p:nvSpPr>
          <p:cNvPr id="120" name="Text 118"/>
          <p:cNvSpPr/>
          <p:nvPr/>
        </p:nvSpPr>
        <p:spPr>
          <a:xfrm>
            <a:off x="2386584"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3.33</a:t>
            </a:r>
            <a:endParaRPr lang="en-US" sz="720" dirty="0"/>
          </a:p>
        </p:txBody>
      </p:sp>
      <p:sp>
        <p:nvSpPr>
          <p:cNvPr id="121" name="Text 119"/>
          <p:cNvSpPr/>
          <p:nvPr/>
        </p:nvSpPr>
        <p:spPr>
          <a:xfrm>
            <a:off x="2898648" y="7086600"/>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+169%</a:t>
            </a:r>
            <a:endParaRPr lang="en-US" sz="700" dirty="0"/>
          </a:p>
        </p:txBody>
      </p:sp>
      <p:sp>
        <p:nvSpPr>
          <p:cNvPr id="122" name="Text 120"/>
          <p:cNvSpPr/>
          <p:nvPr/>
        </p:nvSpPr>
        <p:spPr>
          <a:xfrm>
            <a:off x="374904" y="7388352"/>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123" name="Text 121"/>
          <p:cNvSpPr/>
          <p:nvPr/>
        </p:nvSpPr>
        <p:spPr>
          <a:xfrm>
            <a:off x="1874520" y="7388352"/>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2.49</a:t>
            </a:r>
            <a:endParaRPr lang="en-US" sz="700" dirty="0"/>
          </a:p>
        </p:txBody>
      </p:sp>
      <p:sp>
        <p:nvSpPr>
          <p:cNvPr id="124" name="Text 122"/>
          <p:cNvSpPr/>
          <p:nvPr/>
        </p:nvSpPr>
        <p:spPr>
          <a:xfrm>
            <a:off x="2386584" y="7388352"/>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2.91</a:t>
            </a:r>
            <a:endParaRPr lang="en-US" sz="720" dirty="0"/>
          </a:p>
        </p:txBody>
      </p:sp>
      <p:sp>
        <p:nvSpPr>
          <p:cNvPr id="125" name="Text 123"/>
          <p:cNvSpPr/>
          <p:nvPr/>
        </p:nvSpPr>
        <p:spPr>
          <a:xfrm>
            <a:off x="2898648" y="7388352"/>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+17%</a:t>
            </a:r>
            <a:endParaRPr lang="en-US" sz="700" dirty="0"/>
          </a:p>
        </p:txBody>
      </p:sp>
      <p:sp>
        <p:nvSpPr>
          <p:cNvPr id="126" name="Text 124"/>
          <p:cNvSpPr/>
          <p:nvPr/>
        </p:nvSpPr>
        <p:spPr>
          <a:xfrm>
            <a:off x="374904" y="7699248"/>
            <a:ext cx="2871216" cy="274320"/>
          </a:xfrm>
          <a:prstGeom prst="rect">
            <a:avLst/>
          </a:prstGeom>
          <a:noFill/>
          <a:ln/>
        </p:spPr>
        <p:txBody>
          <a:bodyPr wrap="square" lIns="0" tIns="0" rIns="0" bIns="0" rtlCol="0" anchor="t"/>
          <a:lstStyle/>
          <a:p>
            <a:pPr indent="0" marL="0">
              <a:lnSpc>
                <a:spcPct val="90000"/>
              </a:lnSpc>
              <a:buNone/>
            </a:pPr>
            <a:r>
              <a:rPr lang="en-US" sz="660" dirty="0">
                <a:solidFill>
                  <a:srgbClr val="5F716E"/>
                </a:solidFill>
                <a:latin typeface="Calibri" pitchFamily="34" charset="0"/>
                <a:ea typeface="Calibri" pitchFamily="34" charset="-122"/>
                <a:cs typeface="Calibri" pitchFamily="34" charset="-120"/>
              </a:rPr>
              <a:t>Apollo added ₹13.80 Cr — the largest absolute gain of any account, off a base a third of DMart’s.</a:t>
            </a:r>
            <a:endParaRPr lang="en-US" sz="660" dirty="0"/>
          </a:p>
        </p:txBody>
      </p:sp>
      <p:sp>
        <p:nvSpPr>
          <p:cNvPr id="127" name="Shape 125"/>
          <p:cNvSpPr/>
          <p:nvPr/>
        </p:nvSpPr>
        <p:spPr>
          <a:xfrm>
            <a:off x="3502152" y="5815584"/>
            <a:ext cx="3090672" cy="2139696"/>
          </a:xfrm>
          <a:prstGeom prst="roundRect">
            <a:avLst>
              <a:gd name="adj" fmla="val 855"/>
            </a:avLst>
          </a:prstGeom>
          <a:solidFill>
            <a:srgbClr val="FFFFFF"/>
          </a:solidFill>
          <a:ln w="9525">
            <a:solidFill>
              <a:srgbClr val="C8DCD7"/>
            </a:solidFill>
            <a:prstDash val="solid"/>
          </a:ln>
        </p:spPr>
      </p:sp>
      <p:sp>
        <p:nvSpPr>
          <p:cNvPr id="128" name="Shape 126"/>
          <p:cNvSpPr/>
          <p:nvPr/>
        </p:nvSpPr>
        <p:spPr>
          <a:xfrm>
            <a:off x="3502152" y="5815584"/>
            <a:ext cx="3090672" cy="274320"/>
          </a:xfrm>
          <a:prstGeom prst="rect">
            <a:avLst/>
          </a:prstGeom>
          <a:solidFill>
            <a:srgbClr val="28A596"/>
          </a:solidFill>
          <a:ln/>
        </p:spPr>
      </p:sp>
      <p:sp>
        <p:nvSpPr>
          <p:cNvPr id="129" name="Text 127"/>
          <p:cNvSpPr/>
          <p:nvPr/>
        </p:nvSpPr>
        <p:spPr>
          <a:xfrm>
            <a:off x="3584448" y="5833872"/>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Q1 FY27 (₹ Cr)</a:t>
            </a:r>
            <a:endParaRPr lang="en-US" sz="700" dirty="0"/>
          </a:p>
        </p:txBody>
      </p:sp>
      <p:sp>
        <p:nvSpPr>
          <p:cNvPr id="130" name="Text 128"/>
          <p:cNvSpPr/>
          <p:nvPr/>
        </p:nvSpPr>
        <p:spPr>
          <a:xfrm>
            <a:off x="3611880" y="6181344"/>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a:t>
            </a:r>
            <a:endParaRPr lang="en-US" sz="720" dirty="0"/>
          </a:p>
        </p:txBody>
      </p:sp>
      <p:sp>
        <p:nvSpPr>
          <p:cNvPr id="131" name="Text 129"/>
          <p:cNvSpPr/>
          <p:nvPr/>
        </p:nvSpPr>
        <p:spPr>
          <a:xfrm>
            <a:off x="5111496" y="6181344"/>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61.42</a:t>
            </a:r>
            <a:endParaRPr lang="en-US" sz="700" dirty="0"/>
          </a:p>
        </p:txBody>
      </p:sp>
      <p:sp>
        <p:nvSpPr>
          <p:cNvPr id="132" name="Text 130"/>
          <p:cNvSpPr/>
          <p:nvPr/>
        </p:nvSpPr>
        <p:spPr>
          <a:xfrm>
            <a:off x="5623560" y="6181344"/>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82.54</a:t>
            </a:r>
            <a:endParaRPr lang="en-US" sz="720" dirty="0"/>
          </a:p>
        </p:txBody>
      </p:sp>
      <p:sp>
        <p:nvSpPr>
          <p:cNvPr id="133" name="Text 131"/>
          <p:cNvSpPr/>
          <p:nvPr/>
        </p:nvSpPr>
        <p:spPr>
          <a:xfrm>
            <a:off x="6135624" y="6181344"/>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+34%</a:t>
            </a:r>
            <a:endParaRPr lang="en-US" sz="700" dirty="0"/>
          </a:p>
        </p:txBody>
      </p:sp>
      <p:sp>
        <p:nvSpPr>
          <p:cNvPr id="134" name="Text 132"/>
          <p:cNvSpPr/>
          <p:nvPr/>
        </p:nvSpPr>
        <p:spPr>
          <a:xfrm>
            <a:off x="3611880" y="6483096"/>
            <a:ext cx="1536192" cy="27432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a:t>
            </a:r>
            <a:endParaRPr lang="en-US" sz="720" dirty="0"/>
          </a:p>
        </p:txBody>
      </p:sp>
      <p:sp>
        <p:nvSpPr>
          <p:cNvPr id="135" name="Text 133"/>
          <p:cNvSpPr/>
          <p:nvPr/>
        </p:nvSpPr>
        <p:spPr>
          <a:xfrm>
            <a:off x="5111496" y="6483096"/>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6.34</a:t>
            </a:r>
            <a:endParaRPr lang="en-US" sz="700" dirty="0"/>
          </a:p>
        </p:txBody>
      </p:sp>
      <p:sp>
        <p:nvSpPr>
          <p:cNvPr id="136" name="Text 134"/>
          <p:cNvSpPr/>
          <p:nvPr/>
        </p:nvSpPr>
        <p:spPr>
          <a:xfrm>
            <a:off x="5623560" y="6483096"/>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29.51</a:t>
            </a:r>
            <a:endParaRPr lang="en-US" sz="720" dirty="0"/>
          </a:p>
        </p:txBody>
      </p:sp>
      <p:sp>
        <p:nvSpPr>
          <p:cNvPr id="137" name="Text 135"/>
          <p:cNvSpPr/>
          <p:nvPr/>
        </p:nvSpPr>
        <p:spPr>
          <a:xfrm>
            <a:off x="6135624" y="6483096"/>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+365%</a:t>
            </a:r>
            <a:endParaRPr lang="en-US" sz="700" dirty="0"/>
          </a:p>
        </p:txBody>
      </p:sp>
      <p:sp>
        <p:nvSpPr>
          <p:cNvPr id="138" name="Text 136"/>
          <p:cNvSpPr/>
          <p:nvPr/>
        </p:nvSpPr>
        <p:spPr>
          <a:xfrm>
            <a:off x="3611880" y="6784848"/>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Aqualogica</a:t>
            </a:r>
            <a:endParaRPr lang="en-US" sz="720" dirty="0"/>
          </a:p>
        </p:txBody>
      </p:sp>
      <p:sp>
        <p:nvSpPr>
          <p:cNvPr id="139" name="Text 137"/>
          <p:cNvSpPr/>
          <p:nvPr/>
        </p:nvSpPr>
        <p:spPr>
          <a:xfrm>
            <a:off x="5111496" y="6784848"/>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1.69</a:t>
            </a:r>
            <a:endParaRPr lang="en-US" sz="700" dirty="0"/>
          </a:p>
        </p:txBody>
      </p:sp>
      <p:sp>
        <p:nvSpPr>
          <p:cNvPr id="140" name="Text 138"/>
          <p:cNvSpPr/>
          <p:nvPr/>
        </p:nvSpPr>
        <p:spPr>
          <a:xfrm>
            <a:off x="5623560" y="6784848"/>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1.96</a:t>
            </a:r>
            <a:endParaRPr lang="en-US" sz="720" dirty="0"/>
          </a:p>
        </p:txBody>
      </p:sp>
      <p:sp>
        <p:nvSpPr>
          <p:cNvPr id="141" name="Text 139"/>
          <p:cNvSpPr/>
          <p:nvPr/>
        </p:nvSpPr>
        <p:spPr>
          <a:xfrm>
            <a:off x="6135624" y="6784848"/>
            <a:ext cx="365760" cy="274320"/>
          </a:xfrm>
          <a:prstGeom prst="rect">
            <a:avLst/>
          </a:prstGeom>
          <a:noFill/>
          <a:ln/>
        </p:spPr>
        <p:txBody>
          <a:bodyPr wrap="square" lIns="0" tIns="0" rIns="0" bIns="0" rtlCol="0" anchor="t"/>
          <a:lstStyle/>
          <a:p>
            <a:pPr algn="r" indent="0" marL="0">
              <a:buNone/>
            </a:pPr>
            <a:r>
              <a:rPr lang="en-US" sz="700" b="1" dirty="0">
                <a:solidFill>
                  <a:srgbClr val="2B9A66"/>
                </a:solidFill>
                <a:latin typeface="Calibri" pitchFamily="34" charset="0"/>
                <a:ea typeface="Calibri" pitchFamily="34" charset="-122"/>
                <a:cs typeface="Calibri" pitchFamily="34" charset="-120"/>
              </a:rPr>
              <a:t>+16%</a:t>
            </a:r>
            <a:endParaRPr lang="en-US" sz="700" dirty="0"/>
          </a:p>
        </p:txBody>
      </p:sp>
      <p:sp>
        <p:nvSpPr>
          <p:cNvPr id="142" name="Text 140"/>
          <p:cNvSpPr/>
          <p:nvPr/>
        </p:nvSpPr>
        <p:spPr>
          <a:xfrm>
            <a:off x="3611880" y="7086600"/>
            <a:ext cx="1536192" cy="274320"/>
          </a:xfrm>
          <a:prstGeom prst="rect">
            <a:avLst/>
          </a:prstGeom>
          <a:noFill/>
          <a:ln/>
        </p:spPr>
        <p:txBody>
          <a:bodyPr wrap="square" lIns="0" tIns="0" rIns="0" bIns="0" rtlCol="0" anchor="t"/>
          <a:lstStyle/>
          <a:p>
            <a:pPr indent="0" marL="0">
              <a:buNone/>
            </a:pPr>
            <a:r>
              <a:rPr lang="en-US" sz="720" dirty="0">
                <a:solidFill>
                  <a:srgbClr val="183B39"/>
                </a:solidFill>
                <a:latin typeface="Calibri" pitchFamily="34" charset="0"/>
                <a:ea typeface="Calibri" pitchFamily="34" charset="-122"/>
                <a:cs typeface="Calibri" pitchFamily="34" charset="-120"/>
              </a:rPr>
              <a:t>Other brands</a:t>
            </a:r>
            <a:endParaRPr lang="en-US" sz="720" dirty="0"/>
          </a:p>
        </p:txBody>
      </p:sp>
      <p:sp>
        <p:nvSpPr>
          <p:cNvPr id="143" name="Text 141"/>
          <p:cNvSpPr/>
          <p:nvPr/>
        </p:nvSpPr>
        <p:spPr>
          <a:xfrm>
            <a:off x="5111496" y="7086600"/>
            <a:ext cx="457200" cy="274320"/>
          </a:xfrm>
          <a:prstGeom prst="rect">
            <a:avLst/>
          </a:prstGeom>
          <a:noFill/>
          <a:ln/>
        </p:spPr>
        <p:txBody>
          <a:bodyPr wrap="square" lIns="0" tIns="0" rIns="0" bIns="0" rtlCol="0" anchor="t"/>
          <a:lstStyle/>
          <a:p>
            <a:pPr algn="r" indent="0" marL="0">
              <a:buNone/>
            </a:pPr>
            <a:r>
              <a:rPr lang="en-US" sz="700" dirty="0">
                <a:solidFill>
                  <a:srgbClr val="5F716E"/>
                </a:solidFill>
                <a:latin typeface="Calibri" pitchFamily="34" charset="0"/>
                <a:ea typeface="Calibri" pitchFamily="34" charset="-122"/>
                <a:cs typeface="Calibri" pitchFamily="34" charset="-120"/>
              </a:rPr>
              <a:t>0.44</a:t>
            </a:r>
            <a:endParaRPr lang="en-US" sz="700" dirty="0"/>
          </a:p>
        </p:txBody>
      </p:sp>
      <p:sp>
        <p:nvSpPr>
          <p:cNvPr id="144" name="Text 142"/>
          <p:cNvSpPr/>
          <p:nvPr/>
        </p:nvSpPr>
        <p:spPr>
          <a:xfrm>
            <a:off x="5623560" y="7086600"/>
            <a:ext cx="475488" cy="274320"/>
          </a:xfrm>
          <a:prstGeom prst="rect">
            <a:avLst/>
          </a:prstGeom>
          <a:noFill/>
          <a:ln/>
        </p:spPr>
        <p:txBody>
          <a:bodyPr wrap="square" lIns="0" tIns="0" rIns="0" bIns="0" rtlCol="0" anchor="t"/>
          <a:lstStyle/>
          <a:p>
            <a:pPr algn="r" indent="0" marL="0">
              <a:buNone/>
            </a:pPr>
            <a:r>
              <a:rPr lang="en-US" sz="720" b="1" dirty="0">
                <a:solidFill>
                  <a:srgbClr val="183B39"/>
                </a:solidFill>
                <a:latin typeface="Calibri" pitchFamily="34" charset="0"/>
                <a:ea typeface="Calibri" pitchFamily="34" charset="-122"/>
                <a:cs typeface="Calibri" pitchFamily="34" charset="-120"/>
              </a:rPr>
              <a:t>0.36</a:t>
            </a:r>
            <a:endParaRPr lang="en-US" sz="720" dirty="0"/>
          </a:p>
        </p:txBody>
      </p:sp>
      <p:sp>
        <p:nvSpPr>
          <p:cNvPr id="145" name="Text 143"/>
          <p:cNvSpPr/>
          <p:nvPr/>
        </p:nvSpPr>
        <p:spPr>
          <a:xfrm>
            <a:off x="6135624" y="7086600"/>
            <a:ext cx="365760" cy="274320"/>
          </a:xfrm>
          <a:prstGeom prst="rect">
            <a:avLst/>
          </a:prstGeom>
          <a:noFill/>
          <a:ln/>
        </p:spPr>
        <p:txBody>
          <a:bodyPr wrap="square" lIns="0" tIns="0" rIns="0" bIns="0" rtlCol="0" anchor="t"/>
          <a:lstStyle/>
          <a:p>
            <a:pPr algn="r" indent="0" marL="0">
              <a:buNone/>
            </a:pPr>
            <a:r>
              <a:rPr lang="en-US" sz="700" b="1" dirty="0">
                <a:solidFill>
                  <a:srgbClr val="D6544D"/>
                </a:solidFill>
                <a:latin typeface="Calibri" pitchFamily="34" charset="0"/>
                <a:ea typeface="Calibri" pitchFamily="34" charset="-122"/>
                <a:cs typeface="Calibri" pitchFamily="34" charset="-120"/>
              </a:rPr>
              <a:t>−18%</a:t>
            </a:r>
            <a:endParaRPr lang="en-US" sz="700" dirty="0"/>
          </a:p>
        </p:txBody>
      </p:sp>
      <p:sp>
        <p:nvSpPr>
          <p:cNvPr id="146" name="Text 144"/>
          <p:cNvSpPr/>
          <p:nvPr/>
        </p:nvSpPr>
        <p:spPr>
          <a:xfrm>
            <a:off x="3611880" y="7479792"/>
            <a:ext cx="2871216" cy="457200"/>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The Derma Co. added ₹23.17 Cr — 54% of all Q1 growth — off a base one tenth of Mamaearth’s. Its scale-up is the quarter’s biggest commercial event.</a:t>
            </a:r>
            <a:endParaRPr lang="en-US" sz="680" dirty="0"/>
          </a:p>
        </p:txBody>
      </p:sp>
      <p:sp>
        <p:nvSpPr>
          <p:cNvPr id="147" name="Shape 145"/>
          <p:cNvSpPr/>
          <p:nvPr/>
        </p:nvSpPr>
        <p:spPr>
          <a:xfrm>
            <a:off x="265176" y="8101584"/>
            <a:ext cx="6327648" cy="256032"/>
          </a:xfrm>
          <a:prstGeom prst="rect">
            <a:avLst/>
          </a:prstGeom>
          <a:solidFill>
            <a:srgbClr val="116F68"/>
          </a:solidFill>
          <a:ln/>
        </p:spPr>
      </p:sp>
      <p:sp>
        <p:nvSpPr>
          <p:cNvPr id="148" name="Text 146"/>
          <p:cNvSpPr/>
          <p:nvPr/>
        </p:nvSpPr>
        <p:spPr>
          <a:xfrm>
            <a:off x="374904" y="81198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Q1 READOUT</a:t>
            </a:r>
            <a:endParaRPr lang="en-US" sz="720" dirty="0"/>
          </a:p>
        </p:txBody>
      </p:sp>
      <p:sp>
        <p:nvSpPr>
          <p:cNvPr id="149" name="Shape 147"/>
          <p:cNvSpPr/>
          <p:nvPr/>
        </p:nvSpPr>
        <p:spPr>
          <a:xfrm>
            <a:off x="356616" y="8517636"/>
            <a:ext cx="50292" cy="50292"/>
          </a:xfrm>
          <a:prstGeom prst="ellipse">
            <a:avLst/>
          </a:prstGeom>
          <a:solidFill>
            <a:srgbClr val="28A596"/>
          </a:solidFill>
          <a:ln/>
        </p:spPr>
      </p:sp>
      <p:sp>
        <p:nvSpPr>
          <p:cNvPr id="150" name="Text 148"/>
          <p:cNvSpPr/>
          <p:nvPr/>
        </p:nvSpPr>
        <p:spPr>
          <a:xfrm>
            <a:off x="475488" y="8467344"/>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Every zone grew more than 55% and South-1 led at +84%. Growth is broad-based, not carried by one geography.</a:t>
            </a:r>
            <a:endParaRPr lang="en-US" sz="740" dirty="0"/>
          </a:p>
        </p:txBody>
      </p:sp>
      <p:sp>
        <p:nvSpPr>
          <p:cNvPr id="151" name="Shape 149"/>
          <p:cNvSpPr/>
          <p:nvPr/>
        </p:nvSpPr>
        <p:spPr>
          <a:xfrm>
            <a:off x="356616" y="8901684"/>
            <a:ext cx="50292" cy="50292"/>
          </a:xfrm>
          <a:prstGeom prst="ellipse">
            <a:avLst/>
          </a:prstGeom>
          <a:solidFill>
            <a:srgbClr val="28A596"/>
          </a:solidFill>
          <a:ln/>
        </p:spPr>
      </p:sp>
      <p:sp>
        <p:nvSpPr>
          <p:cNvPr id="152" name="Text 150"/>
          <p:cNvSpPr/>
          <p:nvPr/>
        </p:nvSpPr>
        <p:spPr>
          <a:xfrm>
            <a:off x="475488" y="8851392"/>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at +365% supplied 54% of the quarter’s growth on a tenth of Mamaearth’s base — the portfolio is genuinely widening.</a:t>
            </a:r>
            <a:endParaRPr lang="en-US" sz="740" dirty="0"/>
          </a:p>
        </p:txBody>
      </p:sp>
      <p:sp>
        <p:nvSpPr>
          <p:cNvPr id="153" name="Shape 151"/>
          <p:cNvSpPr/>
          <p:nvPr/>
        </p:nvSpPr>
        <p:spPr>
          <a:xfrm>
            <a:off x="356616" y="9285732"/>
            <a:ext cx="50292" cy="50292"/>
          </a:xfrm>
          <a:prstGeom prst="ellipse">
            <a:avLst/>
          </a:prstGeom>
          <a:solidFill>
            <a:srgbClr val="28A596"/>
          </a:solidFill>
          <a:ln/>
        </p:spPr>
      </p:sp>
      <p:sp>
        <p:nvSpPr>
          <p:cNvPr id="154" name="Text 152"/>
          <p:cNvSpPr/>
          <p:nvPr/>
        </p:nvSpPr>
        <p:spPr>
          <a:xfrm>
            <a:off x="475488" y="923544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at +174% is the fastest material account, now ₹21.73 Cr and ahead of its Q1 FY26 position by ₹13.80 Cr.</a:t>
            </a:r>
            <a:endParaRPr lang="en-US" sz="740" dirty="0"/>
          </a:p>
        </p:txBody>
      </p:sp>
      <p:sp>
        <p:nvSpPr>
          <p:cNvPr id="155" name="Shape 153"/>
          <p:cNvSpPr/>
          <p:nvPr/>
        </p:nvSpPr>
        <p:spPr>
          <a:xfrm>
            <a:off x="356616" y="9669780"/>
            <a:ext cx="50292" cy="50292"/>
          </a:xfrm>
          <a:prstGeom prst="ellipse">
            <a:avLst/>
          </a:prstGeom>
          <a:solidFill>
            <a:srgbClr val="D6544D"/>
          </a:solidFill>
          <a:ln/>
        </p:spPr>
      </p:sp>
      <p:sp>
        <p:nvSpPr>
          <p:cNvPr id="156" name="Text 154"/>
          <p:cNvSpPr/>
          <p:nvPr/>
        </p:nvSpPr>
        <p:spPr>
          <a:xfrm>
            <a:off x="475488" y="9619488"/>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Q1 converted at 83.1%; July converted at 72.2% — and the two zones that led Q1 conversion fell hardest. Page 3 explains why.</a:t>
            </a:r>
            <a:endParaRPr lang="en-US" sz="7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did not break — it is the quarter-opening load, and April did the same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Why July conversion fell | monthly Modern Trade flow, Apr–Jul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Q1 FY27 cut from the Apr/May/Jun month sources with Channel == MT · Q1 FY26 comparatives from the June 2026 MT offtake pack, restated MT-only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969264"/>
          </a:xfrm>
          <a:prstGeom prst="roundRect">
            <a:avLst>
              <a:gd name="adj" fmla="val 2830"/>
            </a:avLst>
          </a:prstGeom>
          <a:solidFill>
            <a:srgbClr val="DFF2ED"/>
          </a:solidFill>
          <a:ln w="12700">
            <a:solidFill>
              <a:srgbClr val="28A596"/>
            </a:solidFill>
            <a:prstDash val="solid"/>
          </a:ln>
        </p:spPr>
      </p:sp>
      <p:sp>
        <p:nvSpPr>
          <p:cNvPr id="20" name="Text 18"/>
          <p:cNvSpPr/>
          <p:nvPr/>
        </p:nvSpPr>
        <p:spPr>
          <a:xfrm>
            <a:off x="411480" y="1353312"/>
            <a:ext cx="6035040" cy="292608"/>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Conversion collapses in the first month of every quarter, then recovers</a:t>
            </a:r>
            <a:endParaRPr lang="en-US" sz="1150" dirty="0"/>
          </a:p>
        </p:txBody>
      </p:sp>
      <p:sp>
        <p:nvSpPr>
          <p:cNvPr id="21" name="Text 19"/>
          <p:cNvSpPr/>
          <p:nvPr/>
        </p:nvSpPr>
        <p:spPr>
          <a:xfrm>
            <a:off x="411480" y="1682496"/>
            <a:ext cx="6035040" cy="219456"/>
          </a:xfrm>
          <a:prstGeom prst="rect">
            <a:avLst/>
          </a:prstGeom>
          <a:noFill/>
          <a:ln/>
        </p:spPr>
        <p:txBody>
          <a:bodyPr wrap="square" lIns="0" tIns="0" rIns="0" bIns="0" rtlCol="0" anchor="t"/>
          <a:lstStyle/>
          <a:p>
            <a:pPr algn="ctr" indent="0" marL="0">
              <a:buNone/>
            </a:pPr>
            <a:r>
              <a:rPr lang="en-US" sz="900" b="1" dirty="0">
                <a:solidFill>
                  <a:srgbClr val="183B39"/>
                </a:solidFill>
                <a:latin typeface="Calibri" pitchFamily="34" charset="0"/>
                <a:ea typeface="Calibri" pitchFamily="34" charset="-122"/>
                <a:cs typeface="Calibri" pitchFamily="34" charset="-120"/>
              </a:rPr>
              <a:t>Apr 70.0%   →   May 90.1%   →   Jun 91.4%   →   Jul 72.2%</a:t>
            </a:r>
            <a:endParaRPr lang="en-US" sz="900" dirty="0"/>
          </a:p>
        </p:txBody>
      </p:sp>
      <p:sp>
        <p:nvSpPr>
          <p:cNvPr id="22" name="Text 20"/>
          <p:cNvSpPr/>
          <p:nvPr/>
        </p:nvSpPr>
        <p:spPr>
          <a:xfrm>
            <a:off x="484632" y="1920240"/>
            <a:ext cx="5888736" cy="256032"/>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April opened Q1 with ₹48.00 Cr of primary against ₹33.60 Cr of offtake. July opened Q2 with ₹47.02 Cr against ₹33.96 Cr. The two months are the same event, one quarter apart. Reading July on its own turns a billing rhythm into a performance crisis.</a:t>
            </a:r>
            <a:endParaRPr lang="en-US" sz="720" dirty="0"/>
          </a:p>
        </p:txBody>
      </p:sp>
      <p:sp>
        <p:nvSpPr>
          <p:cNvPr id="23" name="Text 21"/>
          <p:cNvSpPr/>
          <p:nvPr/>
        </p:nvSpPr>
        <p:spPr>
          <a:xfrm>
            <a:off x="265176"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primary vs offtake by month (₹ Cr)</a:t>
            </a:r>
            <a:endParaRPr lang="en-US" sz="720" dirty="0"/>
          </a:p>
        </p:txBody>
      </p:sp>
      <p:graphicFrame>
        <p:nvGraphicFramePr>
          <p:cNvPr id="24" name="Chart 0" descr=""/>
          <p:cNvGraphicFramePr/>
          <p:nvPr/>
        </p:nvGraphicFramePr>
        <p:xfrm>
          <a:off x="246888" y="2578608"/>
          <a:ext cx="3090672" cy="1517904"/>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p:nvPr/>
        </p:nvSpPr>
        <p:spPr>
          <a:xfrm>
            <a:off x="3502152" y="237744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MT flow conversion by month (%)</a:t>
            </a:r>
            <a:endParaRPr lang="en-US" sz="720" dirty="0"/>
          </a:p>
        </p:txBody>
      </p:sp>
      <p:graphicFrame>
        <p:nvGraphicFramePr>
          <p:cNvPr id="26" name="Chart 1" descr=""/>
          <p:cNvGraphicFramePr/>
          <p:nvPr/>
        </p:nvGraphicFramePr>
        <p:xfrm>
          <a:off x="3483864" y="2578608"/>
          <a:ext cx="3090672" cy="1517904"/>
        </p:xfrm>
        <a:graphic xmlns:a="http://schemas.openxmlformats.org/drawingml/2006/main">
          <a:graphicData uri="http://schemas.openxmlformats.org/drawingml/2006/chart">
            <c:chart xmlns:c="http://schemas.openxmlformats.org/drawingml/2006/chart" r:id="rId2"/>
          </a:graphicData>
        </a:graphic>
      </p:graphicFrame>
      <p:sp>
        <p:nvSpPr>
          <p:cNvPr id="27" name="Shape 23"/>
          <p:cNvSpPr/>
          <p:nvPr/>
        </p:nvSpPr>
        <p:spPr>
          <a:xfrm>
            <a:off x="265176" y="4261104"/>
            <a:ext cx="6327648" cy="256032"/>
          </a:xfrm>
          <a:prstGeom prst="rect">
            <a:avLst/>
          </a:prstGeom>
          <a:solidFill>
            <a:srgbClr val="D6544D"/>
          </a:solidFill>
          <a:ln/>
        </p:spPr>
      </p:sp>
      <p:sp>
        <p:nvSpPr>
          <p:cNvPr id="28" name="Text 24"/>
          <p:cNvSpPr/>
          <p:nvPr/>
        </p:nvSpPr>
        <p:spPr>
          <a:xfrm>
            <a:off x="374904" y="4279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ZONES THAT LOADED HARDEST CONVERTED WORST</a:t>
            </a:r>
            <a:endParaRPr lang="en-US" sz="720" dirty="0"/>
          </a:p>
        </p:txBody>
      </p:sp>
      <p:sp>
        <p:nvSpPr>
          <p:cNvPr id="29" name="Shape 25"/>
          <p:cNvSpPr/>
          <p:nvPr/>
        </p:nvSpPr>
        <p:spPr>
          <a:xfrm>
            <a:off x="265176" y="4608576"/>
            <a:ext cx="6327648" cy="256032"/>
          </a:xfrm>
          <a:prstGeom prst="rect">
            <a:avLst/>
          </a:prstGeom>
          <a:solidFill>
            <a:srgbClr val="116F68"/>
          </a:solidFill>
          <a:ln/>
        </p:spPr>
      </p:sp>
      <p:sp>
        <p:nvSpPr>
          <p:cNvPr id="30" name="Text 26"/>
          <p:cNvSpPr/>
          <p:nvPr/>
        </p:nvSpPr>
        <p:spPr>
          <a:xfrm>
            <a:off x="320040" y="4626864"/>
            <a:ext cx="94488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31" name="Text 27"/>
          <p:cNvSpPr/>
          <p:nvPr/>
        </p:nvSpPr>
        <p:spPr>
          <a:xfrm>
            <a:off x="1374648" y="4626864"/>
            <a:ext cx="147218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MONTHLY AVG PRIMARY</a:t>
            </a:r>
            <a:endParaRPr lang="en-US" sz="660" dirty="0"/>
          </a:p>
        </p:txBody>
      </p:sp>
      <p:sp>
        <p:nvSpPr>
          <p:cNvPr id="32" name="Text 28"/>
          <p:cNvSpPr/>
          <p:nvPr/>
        </p:nvSpPr>
        <p:spPr>
          <a:xfrm>
            <a:off x="2956560" y="4626864"/>
            <a:ext cx="9448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PRIMARY</a:t>
            </a:r>
            <a:endParaRPr lang="en-US" sz="660" dirty="0"/>
          </a:p>
        </p:txBody>
      </p:sp>
      <p:sp>
        <p:nvSpPr>
          <p:cNvPr id="33" name="Text 29"/>
          <p:cNvSpPr/>
          <p:nvPr/>
        </p:nvSpPr>
        <p:spPr>
          <a:xfrm>
            <a:off x="4011168" y="4626864"/>
            <a:ext cx="85699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LOAD vs Q1</a:t>
            </a:r>
            <a:endParaRPr lang="en-US" sz="660" dirty="0"/>
          </a:p>
        </p:txBody>
      </p:sp>
      <p:sp>
        <p:nvSpPr>
          <p:cNvPr id="34" name="Text 30"/>
          <p:cNvSpPr/>
          <p:nvPr/>
        </p:nvSpPr>
        <p:spPr>
          <a:xfrm>
            <a:off x="4977892" y="4626864"/>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Q1 CONV.</a:t>
            </a:r>
            <a:endParaRPr lang="en-US" sz="660" dirty="0"/>
          </a:p>
        </p:txBody>
      </p:sp>
      <p:sp>
        <p:nvSpPr>
          <p:cNvPr id="35" name="Text 31"/>
          <p:cNvSpPr/>
          <p:nvPr/>
        </p:nvSpPr>
        <p:spPr>
          <a:xfrm>
            <a:off x="5812790" y="4626864"/>
            <a:ext cx="72517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 CONV.</a:t>
            </a:r>
            <a:endParaRPr lang="en-US" sz="660" dirty="0"/>
          </a:p>
        </p:txBody>
      </p:sp>
      <p:sp>
        <p:nvSpPr>
          <p:cNvPr id="36" name="Shape 32"/>
          <p:cNvSpPr/>
          <p:nvPr/>
        </p:nvSpPr>
        <p:spPr>
          <a:xfrm>
            <a:off x="265176" y="4864608"/>
            <a:ext cx="6327648" cy="292608"/>
          </a:xfrm>
          <a:prstGeom prst="rect">
            <a:avLst/>
          </a:prstGeom>
          <a:solidFill>
            <a:srgbClr val="F4F9F8"/>
          </a:solidFill>
          <a:ln/>
        </p:spPr>
      </p:sp>
      <p:sp>
        <p:nvSpPr>
          <p:cNvPr id="37" name="Shape 33"/>
          <p:cNvSpPr/>
          <p:nvPr/>
        </p:nvSpPr>
        <p:spPr>
          <a:xfrm>
            <a:off x="265176" y="5157216"/>
            <a:ext cx="6327648" cy="0"/>
          </a:xfrm>
          <a:prstGeom prst="line">
            <a:avLst/>
          </a:prstGeom>
          <a:noFill/>
          <a:ln w="6350">
            <a:solidFill>
              <a:srgbClr val="C8DCD7"/>
            </a:solidFill>
            <a:prstDash val="solid"/>
          </a:ln>
        </p:spPr>
      </p:sp>
      <p:sp>
        <p:nvSpPr>
          <p:cNvPr id="38" name="Text 34"/>
          <p:cNvSpPr/>
          <p:nvPr/>
        </p:nvSpPr>
        <p:spPr>
          <a:xfrm>
            <a:off x="320040" y="4864608"/>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39" name="Text 35"/>
          <p:cNvSpPr/>
          <p:nvPr/>
        </p:nvSpPr>
        <p:spPr>
          <a:xfrm>
            <a:off x="1374648" y="4864608"/>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4.36</a:t>
            </a:r>
            <a:endParaRPr lang="en-US" sz="740" dirty="0"/>
          </a:p>
        </p:txBody>
      </p:sp>
      <p:sp>
        <p:nvSpPr>
          <p:cNvPr id="40" name="Text 36"/>
          <p:cNvSpPr/>
          <p:nvPr/>
        </p:nvSpPr>
        <p:spPr>
          <a:xfrm>
            <a:off x="2956560" y="4864608"/>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1" name="Text 37"/>
          <p:cNvSpPr/>
          <p:nvPr/>
        </p:nvSpPr>
        <p:spPr>
          <a:xfrm>
            <a:off x="4011168" y="4864608"/>
            <a:ext cx="856996"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+62.8%</a:t>
            </a:r>
            <a:endParaRPr lang="en-US" sz="740" dirty="0"/>
          </a:p>
        </p:txBody>
      </p:sp>
      <p:sp>
        <p:nvSpPr>
          <p:cNvPr id="42" name="Text 38"/>
          <p:cNvSpPr/>
          <p:nvPr/>
        </p:nvSpPr>
        <p:spPr>
          <a:xfrm>
            <a:off x="4977892" y="4864608"/>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89.7%</a:t>
            </a:r>
            <a:endParaRPr lang="en-US" sz="740" dirty="0"/>
          </a:p>
        </p:txBody>
      </p:sp>
      <p:sp>
        <p:nvSpPr>
          <p:cNvPr id="43" name="Text 39"/>
          <p:cNvSpPr/>
          <p:nvPr/>
        </p:nvSpPr>
        <p:spPr>
          <a:xfrm>
            <a:off x="5812790" y="4864608"/>
            <a:ext cx="725170"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4" name="Shape 40"/>
          <p:cNvSpPr/>
          <p:nvPr/>
        </p:nvSpPr>
        <p:spPr>
          <a:xfrm>
            <a:off x="265176" y="5449824"/>
            <a:ext cx="6327648" cy="0"/>
          </a:xfrm>
          <a:prstGeom prst="line">
            <a:avLst/>
          </a:prstGeom>
          <a:noFill/>
          <a:ln w="6350">
            <a:solidFill>
              <a:srgbClr val="C8DCD7"/>
            </a:solidFill>
            <a:prstDash val="solid"/>
          </a:ln>
        </p:spPr>
      </p:sp>
      <p:sp>
        <p:nvSpPr>
          <p:cNvPr id="45" name="Text 41"/>
          <p:cNvSpPr/>
          <p:nvPr/>
        </p:nvSpPr>
        <p:spPr>
          <a:xfrm>
            <a:off x="320040" y="5157216"/>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46" name="Text 42"/>
          <p:cNvSpPr/>
          <p:nvPr/>
        </p:nvSpPr>
        <p:spPr>
          <a:xfrm>
            <a:off x="1374648" y="5157216"/>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9.78</a:t>
            </a:r>
            <a:endParaRPr lang="en-US" sz="740" dirty="0"/>
          </a:p>
        </p:txBody>
      </p:sp>
      <p:sp>
        <p:nvSpPr>
          <p:cNvPr id="47" name="Text 43"/>
          <p:cNvSpPr/>
          <p:nvPr/>
        </p:nvSpPr>
        <p:spPr>
          <a:xfrm>
            <a:off x="2956560" y="5157216"/>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48" name="Text 44"/>
          <p:cNvSpPr/>
          <p:nvPr/>
        </p:nvSpPr>
        <p:spPr>
          <a:xfrm>
            <a:off x="4011168" y="5157216"/>
            <a:ext cx="856996"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+16.4%</a:t>
            </a:r>
            <a:endParaRPr lang="en-US" sz="740" dirty="0"/>
          </a:p>
        </p:txBody>
      </p:sp>
      <p:sp>
        <p:nvSpPr>
          <p:cNvPr id="49" name="Text 45"/>
          <p:cNvSpPr/>
          <p:nvPr/>
        </p:nvSpPr>
        <p:spPr>
          <a:xfrm>
            <a:off x="4977892" y="5157216"/>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90.0%</a:t>
            </a:r>
            <a:endParaRPr lang="en-US" sz="740" dirty="0"/>
          </a:p>
        </p:txBody>
      </p:sp>
      <p:sp>
        <p:nvSpPr>
          <p:cNvPr id="50" name="Text 46"/>
          <p:cNvSpPr/>
          <p:nvPr/>
        </p:nvSpPr>
        <p:spPr>
          <a:xfrm>
            <a:off x="5812790" y="5157216"/>
            <a:ext cx="725170" cy="292608"/>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61.2%</a:t>
            </a:r>
            <a:endParaRPr lang="en-US" sz="740" dirty="0"/>
          </a:p>
        </p:txBody>
      </p:sp>
      <p:sp>
        <p:nvSpPr>
          <p:cNvPr id="51" name="Shape 47"/>
          <p:cNvSpPr/>
          <p:nvPr/>
        </p:nvSpPr>
        <p:spPr>
          <a:xfrm>
            <a:off x="265176" y="5449824"/>
            <a:ext cx="6327648" cy="292608"/>
          </a:xfrm>
          <a:prstGeom prst="rect">
            <a:avLst/>
          </a:prstGeom>
          <a:solidFill>
            <a:srgbClr val="F4F9F8"/>
          </a:solidFill>
          <a:ln/>
        </p:spPr>
      </p:sp>
      <p:sp>
        <p:nvSpPr>
          <p:cNvPr id="52" name="Shape 48"/>
          <p:cNvSpPr/>
          <p:nvPr/>
        </p:nvSpPr>
        <p:spPr>
          <a:xfrm>
            <a:off x="265176" y="5742432"/>
            <a:ext cx="6327648" cy="0"/>
          </a:xfrm>
          <a:prstGeom prst="line">
            <a:avLst/>
          </a:prstGeom>
          <a:noFill/>
          <a:ln w="6350">
            <a:solidFill>
              <a:srgbClr val="C8DCD7"/>
            </a:solidFill>
            <a:prstDash val="solid"/>
          </a:ln>
        </p:spPr>
      </p:sp>
      <p:sp>
        <p:nvSpPr>
          <p:cNvPr id="53" name="Text 49"/>
          <p:cNvSpPr/>
          <p:nvPr/>
        </p:nvSpPr>
        <p:spPr>
          <a:xfrm>
            <a:off x="320040" y="5449824"/>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4" name="Text 50"/>
          <p:cNvSpPr/>
          <p:nvPr/>
        </p:nvSpPr>
        <p:spPr>
          <a:xfrm>
            <a:off x="1374648" y="5449824"/>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6.45</a:t>
            </a:r>
            <a:endParaRPr lang="en-US" sz="740" dirty="0"/>
          </a:p>
        </p:txBody>
      </p:sp>
      <p:sp>
        <p:nvSpPr>
          <p:cNvPr id="55" name="Text 51"/>
          <p:cNvSpPr/>
          <p:nvPr/>
        </p:nvSpPr>
        <p:spPr>
          <a:xfrm>
            <a:off x="2956560" y="5449824"/>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6" name="Text 52"/>
          <p:cNvSpPr/>
          <p:nvPr/>
        </p:nvSpPr>
        <p:spPr>
          <a:xfrm>
            <a:off x="4011168" y="5449824"/>
            <a:ext cx="856996" cy="292608"/>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+4.3%</a:t>
            </a:r>
            <a:endParaRPr lang="en-US" sz="740" dirty="0"/>
          </a:p>
        </p:txBody>
      </p:sp>
      <p:sp>
        <p:nvSpPr>
          <p:cNvPr id="57" name="Text 53"/>
          <p:cNvSpPr/>
          <p:nvPr/>
        </p:nvSpPr>
        <p:spPr>
          <a:xfrm>
            <a:off x="4977892" y="5449824"/>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81.4%</a:t>
            </a:r>
            <a:endParaRPr lang="en-US" sz="740" dirty="0"/>
          </a:p>
        </p:txBody>
      </p:sp>
      <p:sp>
        <p:nvSpPr>
          <p:cNvPr id="58" name="Text 54"/>
          <p:cNvSpPr/>
          <p:nvPr/>
        </p:nvSpPr>
        <p:spPr>
          <a:xfrm>
            <a:off x="5812790" y="5449824"/>
            <a:ext cx="725170" cy="292608"/>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72.4%</a:t>
            </a:r>
            <a:endParaRPr lang="en-US" sz="740" dirty="0"/>
          </a:p>
        </p:txBody>
      </p:sp>
      <p:sp>
        <p:nvSpPr>
          <p:cNvPr id="59" name="Shape 55"/>
          <p:cNvSpPr/>
          <p:nvPr/>
        </p:nvSpPr>
        <p:spPr>
          <a:xfrm>
            <a:off x="265176" y="6035040"/>
            <a:ext cx="6327648" cy="0"/>
          </a:xfrm>
          <a:prstGeom prst="line">
            <a:avLst/>
          </a:prstGeom>
          <a:noFill/>
          <a:ln w="6350">
            <a:solidFill>
              <a:srgbClr val="C8DCD7"/>
            </a:solidFill>
            <a:prstDash val="solid"/>
          </a:ln>
        </p:spPr>
      </p:sp>
      <p:sp>
        <p:nvSpPr>
          <p:cNvPr id="60" name="Text 56"/>
          <p:cNvSpPr/>
          <p:nvPr/>
        </p:nvSpPr>
        <p:spPr>
          <a:xfrm>
            <a:off x="320040" y="5742432"/>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61" name="Text 57"/>
          <p:cNvSpPr/>
          <p:nvPr/>
        </p:nvSpPr>
        <p:spPr>
          <a:xfrm>
            <a:off x="1374648" y="5742432"/>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10.59</a:t>
            </a:r>
            <a:endParaRPr lang="en-US" sz="740" dirty="0"/>
          </a:p>
        </p:txBody>
      </p:sp>
      <p:sp>
        <p:nvSpPr>
          <p:cNvPr id="62" name="Text 58"/>
          <p:cNvSpPr/>
          <p:nvPr/>
        </p:nvSpPr>
        <p:spPr>
          <a:xfrm>
            <a:off x="2956560" y="5742432"/>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63" name="Text 59"/>
          <p:cNvSpPr/>
          <p:nvPr/>
        </p:nvSpPr>
        <p:spPr>
          <a:xfrm>
            <a:off x="4011168" y="5742432"/>
            <a:ext cx="856996"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−10.5%</a:t>
            </a:r>
            <a:endParaRPr lang="en-US" sz="740" dirty="0"/>
          </a:p>
        </p:txBody>
      </p:sp>
      <p:sp>
        <p:nvSpPr>
          <p:cNvPr id="64" name="Text 60"/>
          <p:cNvSpPr/>
          <p:nvPr/>
        </p:nvSpPr>
        <p:spPr>
          <a:xfrm>
            <a:off x="4977892" y="5742432"/>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78.3%</a:t>
            </a:r>
            <a:endParaRPr lang="en-US" sz="740" dirty="0"/>
          </a:p>
        </p:txBody>
      </p:sp>
      <p:sp>
        <p:nvSpPr>
          <p:cNvPr id="65" name="Text 61"/>
          <p:cNvSpPr/>
          <p:nvPr/>
        </p:nvSpPr>
        <p:spPr>
          <a:xfrm>
            <a:off x="5812790" y="5742432"/>
            <a:ext cx="725170"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86.3%</a:t>
            </a:r>
            <a:endParaRPr lang="en-US" sz="740" dirty="0"/>
          </a:p>
        </p:txBody>
      </p:sp>
      <p:sp>
        <p:nvSpPr>
          <p:cNvPr id="66" name="Shape 62"/>
          <p:cNvSpPr/>
          <p:nvPr/>
        </p:nvSpPr>
        <p:spPr>
          <a:xfrm>
            <a:off x="265176" y="6035040"/>
            <a:ext cx="6327648" cy="292608"/>
          </a:xfrm>
          <a:prstGeom prst="rect">
            <a:avLst/>
          </a:prstGeom>
          <a:solidFill>
            <a:srgbClr val="F4F9F8"/>
          </a:solidFill>
          <a:ln/>
        </p:spPr>
      </p:sp>
      <p:sp>
        <p:nvSpPr>
          <p:cNvPr id="67" name="Shape 63"/>
          <p:cNvSpPr/>
          <p:nvPr/>
        </p:nvSpPr>
        <p:spPr>
          <a:xfrm>
            <a:off x="265176" y="6327648"/>
            <a:ext cx="6327648" cy="0"/>
          </a:xfrm>
          <a:prstGeom prst="line">
            <a:avLst/>
          </a:prstGeom>
          <a:noFill/>
          <a:ln w="6350">
            <a:solidFill>
              <a:srgbClr val="C8DCD7"/>
            </a:solidFill>
            <a:prstDash val="solid"/>
          </a:ln>
        </p:spPr>
      </p:sp>
      <p:sp>
        <p:nvSpPr>
          <p:cNvPr id="68" name="Text 64"/>
          <p:cNvSpPr/>
          <p:nvPr/>
        </p:nvSpPr>
        <p:spPr>
          <a:xfrm>
            <a:off x="320040" y="6035040"/>
            <a:ext cx="944880" cy="292608"/>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69" name="Text 65"/>
          <p:cNvSpPr/>
          <p:nvPr/>
        </p:nvSpPr>
        <p:spPr>
          <a:xfrm>
            <a:off x="1374648" y="6035040"/>
            <a:ext cx="1472184"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12.06</a:t>
            </a:r>
            <a:endParaRPr lang="en-US" sz="740" dirty="0"/>
          </a:p>
        </p:txBody>
      </p:sp>
      <p:sp>
        <p:nvSpPr>
          <p:cNvPr id="70" name="Text 66"/>
          <p:cNvSpPr/>
          <p:nvPr/>
        </p:nvSpPr>
        <p:spPr>
          <a:xfrm>
            <a:off x="2956560" y="6035040"/>
            <a:ext cx="94488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1" name="Text 67"/>
          <p:cNvSpPr/>
          <p:nvPr/>
        </p:nvSpPr>
        <p:spPr>
          <a:xfrm>
            <a:off x="4011168" y="6035040"/>
            <a:ext cx="856996"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−19.5%</a:t>
            </a:r>
            <a:endParaRPr lang="en-US" sz="740" dirty="0"/>
          </a:p>
        </p:txBody>
      </p:sp>
      <p:sp>
        <p:nvSpPr>
          <p:cNvPr id="72" name="Text 68"/>
          <p:cNvSpPr/>
          <p:nvPr/>
        </p:nvSpPr>
        <p:spPr>
          <a:xfrm>
            <a:off x="4977892" y="6035040"/>
            <a:ext cx="725170" cy="292608"/>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80.3%</a:t>
            </a:r>
            <a:endParaRPr lang="en-US" sz="740" dirty="0"/>
          </a:p>
        </p:txBody>
      </p:sp>
      <p:sp>
        <p:nvSpPr>
          <p:cNvPr id="73" name="Text 69"/>
          <p:cNvSpPr/>
          <p:nvPr/>
        </p:nvSpPr>
        <p:spPr>
          <a:xfrm>
            <a:off x="5812790" y="6035040"/>
            <a:ext cx="725170" cy="292608"/>
          </a:xfrm>
          <a:prstGeom prst="rect">
            <a:avLst/>
          </a:prstGeom>
          <a:noFill/>
          <a:ln/>
        </p:spPr>
        <p:txBody>
          <a:bodyPr wrap="square" lIns="0" tIns="0" rIns="0" bIns="0" rtlCol="0" anchor="ctr"/>
          <a:lstStyle/>
          <a:p>
            <a:pPr algn="r" indent="0" marL="0">
              <a:buNone/>
            </a:pPr>
            <a:r>
              <a:rPr lang="en-US" sz="740" dirty="0">
                <a:solidFill>
                  <a:srgbClr val="2B9A66"/>
                </a:solidFill>
                <a:latin typeface="Calibri" pitchFamily="34" charset="0"/>
                <a:ea typeface="Calibri" pitchFamily="34" charset="-122"/>
                <a:cs typeface="Calibri" pitchFamily="34" charset="-120"/>
              </a:rPr>
              <a:t>85.2%</a:t>
            </a:r>
            <a:endParaRPr lang="en-US" sz="740" dirty="0"/>
          </a:p>
        </p:txBody>
      </p:sp>
      <p:sp>
        <p:nvSpPr>
          <p:cNvPr id="74" name="Text 70"/>
          <p:cNvSpPr/>
          <p:nvPr/>
        </p:nvSpPr>
        <p:spPr>
          <a:xfrm>
            <a:off x="265176" y="6382512"/>
            <a:ext cx="6327648" cy="274320"/>
          </a:xfrm>
          <a:prstGeom prst="rect">
            <a:avLst/>
          </a:prstGeom>
          <a:noFill/>
          <a:ln/>
        </p:spPr>
        <p:txBody>
          <a:bodyPr wrap="square" lIns="0" tIns="0" rIns="0" bIns="0" rtlCol="0" anchor="t"/>
          <a:lstStyle/>
          <a:p>
            <a:pPr indent="0" marL="0">
              <a:lnSpc>
                <a:spcPct val="94000"/>
              </a:lnSpc>
              <a:buNone/>
            </a:pPr>
            <a:r>
              <a:rPr lang="en-US" sz="680" dirty="0">
                <a:solidFill>
                  <a:srgbClr val="5F716E"/>
                </a:solidFill>
                <a:latin typeface="Calibri" pitchFamily="34" charset="0"/>
                <a:ea typeface="Calibri" pitchFamily="34" charset="-122"/>
                <a:cs typeface="Calibri" pitchFamily="34" charset="-120"/>
              </a:rPr>
              <a:t>Ranked by July load against each zone’s own Q1 run-rate. The order is monotonic: every zone that billed above its Q1 average lost conversion, every zone that billed below it gained. Assortment, pricing and execution do not move that cleanly.</a:t>
            </a:r>
            <a:endParaRPr lang="en-US" sz="680" dirty="0"/>
          </a:p>
        </p:txBody>
      </p:sp>
      <p:sp>
        <p:nvSpPr>
          <p:cNvPr id="75" name="Text 71"/>
          <p:cNvSpPr/>
          <p:nvPr/>
        </p:nvSpPr>
        <p:spPr>
          <a:xfrm>
            <a:off x="265176" y="6711696"/>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July load against each zone’s own Q1 run-rate (x) versus July conversion (y)</a:t>
            </a:r>
            <a:endParaRPr lang="en-US" sz="720" dirty="0"/>
          </a:p>
        </p:txBody>
      </p:sp>
      <p:graphicFrame>
        <p:nvGraphicFramePr>
          <p:cNvPr id="76" name="Chart 2" descr=""/>
          <p:cNvGraphicFramePr/>
          <p:nvPr/>
        </p:nvGraphicFramePr>
        <p:xfrm>
          <a:off x="246888" y="6912864"/>
          <a:ext cx="6327648" cy="1517904"/>
        </p:xfrm>
        <a:graphic xmlns:a="http://schemas.openxmlformats.org/drawingml/2006/main">
          <a:graphicData uri="http://schemas.openxmlformats.org/drawingml/2006/chart">
            <c:chart xmlns:c="http://schemas.openxmlformats.org/drawingml/2006/chart" r:id="rId3"/>
          </a:graphicData>
        </a:graphic>
      </p:graphicFrame>
      <p:sp>
        <p:nvSpPr>
          <p:cNvPr id="77" name="Text 72"/>
          <p:cNvSpPr/>
          <p:nvPr/>
        </p:nvSpPr>
        <p:spPr>
          <a:xfrm>
            <a:off x="265176" y="8467344"/>
            <a:ext cx="6327648" cy="219456"/>
          </a:xfrm>
          <a:prstGeom prst="rect">
            <a:avLst/>
          </a:prstGeom>
          <a:noFill/>
          <a:ln/>
        </p:spPr>
        <p:txBody>
          <a:bodyPr wrap="square" lIns="0" tIns="0" rIns="0" bIns="0" rtlCol="0" anchor="t"/>
          <a:lstStyle/>
          <a:p>
            <a:pPr indent="0" marL="0">
              <a:lnSpc>
                <a:spcPct val="92000"/>
              </a:lnSpc>
              <a:buNone/>
            </a:pPr>
            <a:r>
              <a:rPr lang="en-US" sz="660" dirty="0">
                <a:solidFill>
                  <a:srgbClr val="5F716E"/>
                </a:solidFill>
                <a:latin typeface="Calibri" pitchFamily="34" charset="0"/>
                <a:ea typeface="Calibri" pitchFamily="34" charset="-122"/>
                <a:cs typeface="Calibri" pitchFamily="34" charset="-120"/>
              </a:rPr>
              <a:t>Five points, one per zone. The downward slope is the finding: conversion falls as the zone bills further above its own quarterly rate.</a:t>
            </a:r>
            <a:endParaRPr lang="en-US" sz="660" dirty="0"/>
          </a:p>
        </p:txBody>
      </p:sp>
      <p:sp>
        <p:nvSpPr>
          <p:cNvPr id="78" name="Shape 73"/>
          <p:cNvSpPr/>
          <p:nvPr/>
        </p:nvSpPr>
        <p:spPr>
          <a:xfrm>
            <a:off x="265176" y="8778240"/>
            <a:ext cx="2036064" cy="1719072"/>
          </a:xfrm>
          <a:prstGeom prst="roundRect">
            <a:avLst>
              <a:gd name="adj" fmla="val 1064"/>
            </a:avLst>
          </a:prstGeom>
          <a:solidFill>
            <a:srgbClr val="FFFFFF"/>
          </a:solidFill>
          <a:ln w="9525">
            <a:solidFill>
              <a:srgbClr val="C8DCD7"/>
            </a:solidFill>
            <a:prstDash val="solid"/>
          </a:ln>
        </p:spPr>
      </p:sp>
      <p:sp>
        <p:nvSpPr>
          <p:cNvPr id="79" name="Shape 74"/>
          <p:cNvSpPr/>
          <p:nvPr/>
        </p:nvSpPr>
        <p:spPr>
          <a:xfrm>
            <a:off x="265176" y="8778240"/>
            <a:ext cx="2036064" cy="274320"/>
          </a:xfrm>
          <a:prstGeom prst="rect">
            <a:avLst/>
          </a:prstGeom>
          <a:solidFill>
            <a:srgbClr val="D6544D"/>
          </a:solidFill>
          <a:ln/>
        </p:spPr>
      </p:sp>
      <p:sp>
        <p:nvSpPr>
          <p:cNvPr id="80" name="Text 75"/>
          <p:cNvSpPr/>
          <p:nvPr/>
        </p:nvSpPr>
        <p:spPr>
          <a:xfrm>
            <a:off x="347472"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THIS CHANGES</a:t>
            </a:r>
            <a:endParaRPr lang="en-US" sz="700" dirty="0"/>
          </a:p>
        </p:txBody>
      </p:sp>
      <p:sp>
        <p:nvSpPr>
          <p:cNvPr id="81" name="Text 76"/>
          <p:cNvSpPr/>
          <p:nvPr/>
        </p:nvSpPr>
        <p:spPr>
          <a:xfrm>
            <a:off x="356616" y="9144000"/>
            <a:ext cx="1853184" cy="274320"/>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East is not broken</a:t>
            </a:r>
            <a:endParaRPr lang="en-US" sz="1150" dirty="0"/>
          </a:p>
        </p:txBody>
      </p:sp>
      <p:sp>
        <p:nvSpPr>
          <p:cNvPr id="82" name="Shape 77"/>
          <p:cNvSpPr/>
          <p:nvPr/>
        </p:nvSpPr>
        <p:spPr>
          <a:xfrm>
            <a:off x="374904" y="9541764"/>
            <a:ext cx="50292" cy="50292"/>
          </a:xfrm>
          <a:prstGeom prst="ellipse">
            <a:avLst/>
          </a:prstGeom>
          <a:solidFill>
            <a:srgbClr val="D6544D"/>
          </a:solidFill>
          <a:ln/>
        </p:spPr>
      </p:sp>
      <p:sp>
        <p:nvSpPr>
          <p:cNvPr id="83" name="Text 78"/>
          <p:cNvSpPr/>
          <p:nvPr/>
        </p:nvSpPr>
        <p:spPr>
          <a:xfrm>
            <a:off x="493776"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East converted at 89.7% across Q1 — second best in the country.</a:t>
            </a:r>
            <a:endParaRPr lang="en-US" sz="690" dirty="0"/>
          </a:p>
        </p:txBody>
      </p:sp>
      <p:sp>
        <p:nvSpPr>
          <p:cNvPr id="84" name="Shape 79"/>
          <p:cNvSpPr/>
          <p:nvPr/>
        </p:nvSpPr>
        <p:spPr>
          <a:xfrm>
            <a:off x="374904" y="9889236"/>
            <a:ext cx="50292" cy="50292"/>
          </a:xfrm>
          <a:prstGeom prst="ellipse">
            <a:avLst/>
          </a:prstGeom>
          <a:solidFill>
            <a:srgbClr val="D6544D"/>
          </a:solidFill>
          <a:ln/>
        </p:spPr>
      </p:sp>
      <p:sp>
        <p:nvSpPr>
          <p:cNvPr id="85" name="Text 80"/>
          <p:cNvSpPr/>
          <p:nvPr/>
        </p:nvSpPr>
        <p:spPr>
          <a:xfrm>
            <a:off x="493776"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Its July primary is 62.8% above its own Q1 monthly run-rate.</a:t>
            </a:r>
            <a:endParaRPr lang="en-US" sz="690" dirty="0"/>
          </a:p>
        </p:txBody>
      </p:sp>
      <p:sp>
        <p:nvSpPr>
          <p:cNvPr id="86" name="Shape 81"/>
          <p:cNvSpPr/>
          <p:nvPr/>
        </p:nvSpPr>
        <p:spPr>
          <a:xfrm>
            <a:off x="374904" y="10236708"/>
            <a:ext cx="50292" cy="50292"/>
          </a:xfrm>
          <a:prstGeom prst="ellipse">
            <a:avLst/>
          </a:prstGeom>
          <a:solidFill>
            <a:srgbClr val="D6544D"/>
          </a:solidFill>
          <a:ln/>
        </p:spPr>
      </p:sp>
      <p:sp>
        <p:nvSpPr>
          <p:cNvPr id="87" name="Text 82"/>
          <p:cNvSpPr/>
          <p:nvPr/>
        </p:nvSpPr>
        <p:spPr>
          <a:xfrm>
            <a:off x="493776"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49.9% read on a 63% load spike is arithmetic, not an execution failure.</a:t>
            </a:r>
            <a:endParaRPr lang="en-US" sz="690" dirty="0"/>
          </a:p>
        </p:txBody>
      </p:sp>
      <p:sp>
        <p:nvSpPr>
          <p:cNvPr id="88" name="Shape 83"/>
          <p:cNvSpPr/>
          <p:nvPr/>
        </p:nvSpPr>
        <p:spPr>
          <a:xfrm>
            <a:off x="2410968" y="8778240"/>
            <a:ext cx="2036064" cy="1719072"/>
          </a:xfrm>
          <a:prstGeom prst="roundRect">
            <a:avLst>
              <a:gd name="adj" fmla="val 1064"/>
            </a:avLst>
          </a:prstGeom>
          <a:solidFill>
            <a:srgbClr val="FFFFFF"/>
          </a:solidFill>
          <a:ln w="9525">
            <a:solidFill>
              <a:srgbClr val="C8DCD7"/>
            </a:solidFill>
            <a:prstDash val="solid"/>
          </a:ln>
        </p:spPr>
      </p:sp>
      <p:sp>
        <p:nvSpPr>
          <p:cNvPr id="89" name="Shape 84"/>
          <p:cNvSpPr/>
          <p:nvPr/>
        </p:nvSpPr>
        <p:spPr>
          <a:xfrm>
            <a:off x="2410968" y="8778240"/>
            <a:ext cx="2036064" cy="274320"/>
          </a:xfrm>
          <a:prstGeom prst="rect">
            <a:avLst/>
          </a:prstGeom>
          <a:solidFill>
            <a:srgbClr val="F2B84B"/>
          </a:solidFill>
          <a:ln/>
        </p:spPr>
      </p:sp>
      <p:sp>
        <p:nvSpPr>
          <p:cNvPr id="90" name="Text 85"/>
          <p:cNvSpPr/>
          <p:nvPr/>
        </p:nvSpPr>
        <p:spPr>
          <a:xfrm>
            <a:off x="2493264"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STAYS TRUE</a:t>
            </a:r>
            <a:endParaRPr lang="en-US" sz="700" dirty="0"/>
          </a:p>
        </p:txBody>
      </p:sp>
      <p:sp>
        <p:nvSpPr>
          <p:cNvPr id="91" name="Text 86"/>
          <p:cNvSpPr/>
          <p:nvPr/>
        </p:nvSpPr>
        <p:spPr>
          <a:xfrm>
            <a:off x="2502408" y="9144000"/>
            <a:ext cx="1853184" cy="274320"/>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The stock is real</a:t>
            </a:r>
            <a:endParaRPr lang="en-US" sz="1150" dirty="0"/>
          </a:p>
        </p:txBody>
      </p:sp>
      <p:sp>
        <p:nvSpPr>
          <p:cNvPr id="92" name="Shape 87"/>
          <p:cNvSpPr/>
          <p:nvPr/>
        </p:nvSpPr>
        <p:spPr>
          <a:xfrm>
            <a:off x="2520696" y="9541764"/>
            <a:ext cx="50292" cy="50292"/>
          </a:xfrm>
          <a:prstGeom prst="ellipse">
            <a:avLst/>
          </a:prstGeom>
          <a:solidFill>
            <a:srgbClr val="F2B84B"/>
          </a:solidFill>
          <a:ln/>
        </p:spPr>
      </p:sp>
      <p:sp>
        <p:nvSpPr>
          <p:cNvPr id="93" name="Text 88"/>
          <p:cNvSpPr/>
          <p:nvPr/>
        </p:nvSpPr>
        <p:spPr>
          <a:xfrm>
            <a:off x="2639568"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₹13.06 Cr is billed and not yet sold through, whatever caused it.</a:t>
            </a:r>
            <a:endParaRPr lang="en-US" sz="690" dirty="0"/>
          </a:p>
        </p:txBody>
      </p:sp>
      <p:sp>
        <p:nvSpPr>
          <p:cNvPr id="94" name="Shape 89"/>
          <p:cNvSpPr/>
          <p:nvPr/>
        </p:nvSpPr>
        <p:spPr>
          <a:xfrm>
            <a:off x="2520696" y="9889236"/>
            <a:ext cx="50292" cy="50292"/>
          </a:xfrm>
          <a:prstGeom prst="ellipse">
            <a:avLst/>
          </a:prstGeom>
          <a:solidFill>
            <a:srgbClr val="F2B84B"/>
          </a:solidFill>
          <a:ln/>
        </p:spPr>
      </p:sp>
      <p:sp>
        <p:nvSpPr>
          <p:cNvPr id="95" name="Text 90"/>
          <p:cNvSpPr/>
          <p:nvPr/>
        </p:nvSpPr>
        <p:spPr>
          <a:xfrm>
            <a:off x="2639568"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either sells in August or it suppresses the next order.</a:t>
            </a:r>
            <a:endParaRPr lang="en-US" sz="690" dirty="0"/>
          </a:p>
        </p:txBody>
      </p:sp>
      <p:sp>
        <p:nvSpPr>
          <p:cNvPr id="96" name="Shape 91"/>
          <p:cNvSpPr/>
          <p:nvPr/>
        </p:nvSpPr>
        <p:spPr>
          <a:xfrm>
            <a:off x="2520696" y="10236708"/>
            <a:ext cx="50292" cy="50292"/>
          </a:xfrm>
          <a:prstGeom prst="ellipse">
            <a:avLst/>
          </a:prstGeom>
          <a:solidFill>
            <a:srgbClr val="F2B84B"/>
          </a:solidFill>
          <a:ln/>
        </p:spPr>
      </p:sp>
      <p:sp>
        <p:nvSpPr>
          <p:cNvPr id="97" name="Text 92"/>
          <p:cNvSpPr/>
          <p:nvPr/>
        </p:nvSpPr>
        <p:spPr>
          <a:xfrm>
            <a:off x="2639568"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₹6.22 Cr benchmark gap stands as an August recovery target.</a:t>
            </a:r>
            <a:endParaRPr lang="en-US" sz="690" dirty="0"/>
          </a:p>
        </p:txBody>
      </p:sp>
      <p:sp>
        <p:nvSpPr>
          <p:cNvPr id="98" name="Shape 93"/>
          <p:cNvSpPr/>
          <p:nvPr/>
        </p:nvSpPr>
        <p:spPr>
          <a:xfrm>
            <a:off x="4556760" y="8778240"/>
            <a:ext cx="2036064" cy="1719072"/>
          </a:xfrm>
          <a:prstGeom prst="roundRect">
            <a:avLst>
              <a:gd name="adj" fmla="val 1064"/>
            </a:avLst>
          </a:prstGeom>
          <a:solidFill>
            <a:srgbClr val="FFFFFF"/>
          </a:solidFill>
          <a:ln w="9525">
            <a:solidFill>
              <a:srgbClr val="C8DCD7"/>
            </a:solidFill>
            <a:prstDash val="solid"/>
          </a:ln>
        </p:spPr>
      </p:sp>
      <p:sp>
        <p:nvSpPr>
          <p:cNvPr id="99" name="Shape 94"/>
          <p:cNvSpPr/>
          <p:nvPr/>
        </p:nvSpPr>
        <p:spPr>
          <a:xfrm>
            <a:off x="4556760" y="8778240"/>
            <a:ext cx="2036064" cy="274320"/>
          </a:xfrm>
          <a:prstGeom prst="rect">
            <a:avLst/>
          </a:prstGeom>
          <a:solidFill>
            <a:srgbClr val="2B9A66"/>
          </a:solidFill>
          <a:ln/>
        </p:spPr>
      </p:sp>
      <p:sp>
        <p:nvSpPr>
          <p:cNvPr id="100" name="Text 95"/>
          <p:cNvSpPr/>
          <p:nvPr/>
        </p:nvSpPr>
        <p:spPr>
          <a:xfrm>
            <a:off x="4639056" y="879652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TO DO DIFFERENTLY</a:t>
            </a:r>
            <a:endParaRPr lang="en-US" sz="700" dirty="0"/>
          </a:p>
        </p:txBody>
      </p:sp>
      <p:sp>
        <p:nvSpPr>
          <p:cNvPr id="101" name="Text 96"/>
          <p:cNvSpPr/>
          <p:nvPr/>
        </p:nvSpPr>
        <p:spPr>
          <a:xfrm>
            <a:off x="4648200" y="9144000"/>
            <a:ext cx="1853184" cy="274320"/>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Phase the quarter</a:t>
            </a:r>
            <a:endParaRPr lang="en-US" sz="1150" dirty="0"/>
          </a:p>
        </p:txBody>
      </p:sp>
      <p:sp>
        <p:nvSpPr>
          <p:cNvPr id="102" name="Shape 97"/>
          <p:cNvSpPr/>
          <p:nvPr/>
        </p:nvSpPr>
        <p:spPr>
          <a:xfrm>
            <a:off x="4666488" y="9541764"/>
            <a:ext cx="50292" cy="50292"/>
          </a:xfrm>
          <a:prstGeom prst="ellipse">
            <a:avLst/>
          </a:prstGeom>
          <a:solidFill>
            <a:srgbClr val="2B9A66"/>
          </a:solidFill>
          <a:ln/>
        </p:spPr>
      </p:sp>
      <p:sp>
        <p:nvSpPr>
          <p:cNvPr id="103" name="Text 98"/>
          <p:cNvSpPr/>
          <p:nvPr/>
        </p:nvSpPr>
        <p:spPr>
          <a:xfrm>
            <a:off x="4785360" y="9491472"/>
            <a:ext cx="1697736" cy="329184"/>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Judge conversion on a rolling quarter, never on the opening month.</a:t>
            </a:r>
            <a:endParaRPr lang="en-US" sz="690" dirty="0"/>
          </a:p>
        </p:txBody>
      </p:sp>
      <p:sp>
        <p:nvSpPr>
          <p:cNvPr id="104" name="Shape 99"/>
          <p:cNvSpPr/>
          <p:nvPr/>
        </p:nvSpPr>
        <p:spPr>
          <a:xfrm>
            <a:off x="4666488" y="9889236"/>
            <a:ext cx="50292" cy="50292"/>
          </a:xfrm>
          <a:prstGeom prst="ellipse">
            <a:avLst/>
          </a:prstGeom>
          <a:solidFill>
            <a:srgbClr val="2B9A66"/>
          </a:solidFill>
          <a:ln/>
        </p:spPr>
      </p:sp>
      <p:sp>
        <p:nvSpPr>
          <p:cNvPr id="105" name="Text 100"/>
          <p:cNvSpPr/>
          <p:nvPr/>
        </p:nvSpPr>
        <p:spPr>
          <a:xfrm>
            <a:off x="4785360" y="9838944"/>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month-1 primary at the trailing quarterly run-rate, by zone.</a:t>
            </a:r>
            <a:endParaRPr lang="en-US" sz="690" dirty="0"/>
          </a:p>
        </p:txBody>
      </p:sp>
      <p:sp>
        <p:nvSpPr>
          <p:cNvPr id="106" name="Shape 101"/>
          <p:cNvSpPr/>
          <p:nvPr/>
        </p:nvSpPr>
        <p:spPr>
          <a:xfrm>
            <a:off x="4666488" y="10236708"/>
            <a:ext cx="50292" cy="50292"/>
          </a:xfrm>
          <a:prstGeom prst="ellipse">
            <a:avLst/>
          </a:prstGeom>
          <a:solidFill>
            <a:srgbClr val="2B9A66"/>
          </a:solidFill>
          <a:ln/>
        </p:spPr>
      </p:sp>
      <p:sp>
        <p:nvSpPr>
          <p:cNvPr id="107" name="Text 102"/>
          <p:cNvSpPr/>
          <p:nvPr/>
        </p:nvSpPr>
        <p:spPr>
          <a:xfrm>
            <a:off x="4785360" y="10186416"/>
            <a:ext cx="1697736"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Re-read East and North in the August pack before funding any intervention.</a:t>
            </a:r>
            <a:endParaRPr lang="en-US" sz="690" dirty="0"/>
          </a:p>
        </p:txBody>
      </p:sp>
      <p:sp>
        <p:nvSpPr>
          <p:cNvPr id="108" name="Shape 103"/>
          <p:cNvSpPr/>
          <p:nvPr/>
        </p:nvSpPr>
        <p:spPr>
          <a:xfrm>
            <a:off x="265176" y="10643616"/>
            <a:ext cx="6327648" cy="603504"/>
          </a:xfrm>
          <a:prstGeom prst="roundRect">
            <a:avLst>
              <a:gd name="adj" fmla="val 4545"/>
            </a:avLst>
          </a:prstGeom>
          <a:solidFill>
            <a:srgbClr val="FBEDEC"/>
          </a:solidFill>
          <a:ln w="12700">
            <a:solidFill>
              <a:srgbClr val="D6544D"/>
            </a:solidFill>
            <a:prstDash val="solid"/>
          </a:ln>
        </p:spPr>
      </p:sp>
      <p:sp>
        <p:nvSpPr>
          <p:cNvPr id="109" name="Text 104"/>
          <p:cNvSpPr/>
          <p:nvPr/>
        </p:nvSpPr>
        <p:spPr>
          <a:xfrm>
            <a:off x="393192" y="10716768"/>
            <a:ext cx="6071616" cy="475488"/>
          </a:xfrm>
          <a:prstGeom prst="rect">
            <a:avLst/>
          </a:prstGeom>
          <a:noFill/>
          <a:ln/>
        </p:spPr>
        <p:txBody>
          <a:bodyPr wrap="square" lIns="0" tIns="0" rIns="0" bIns="0" rtlCol="0" anchor="t"/>
          <a:lstStyle/>
          <a:p>
            <a:pPr indent="0" marL="0">
              <a:lnSpc>
                <a:spcPct val="94000"/>
              </a:lnSpc>
              <a:buNone/>
            </a:pPr>
            <a:r>
              <a:rPr lang="en-US" sz="700" b="1" dirty="0">
                <a:solidFill>
                  <a:srgbClr val="D6544D"/>
                </a:solidFill>
                <a:latin typeface="Calibri" pitchFamily="34" charset="0"/>
                <a:ea typeface="Calibri" pitchFamily="34" charset="-122"/>
                <a:cs typeface="Calibri" pitchFamily="34" charset="-120"/>
              </a:rPr>
              <a:t>READ THE REST OF THIS PACK WITH THIS IN MIND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The zone pages that follow report July on its own, because that is the month under review. Every July conversion figure in them is depressed by the quarter-opening load shown above. Use them to locate where the billed stock sits — not to rank zone capability. Q1 already did that, and it ranked North and East first.</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Convert reporting into a State × Chain × SKU growth engine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Decision framework | measures in force now, and the fields still to be reconciled</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841248"/>
          </a:xfrm>
          <a:prstGeom prst="roundRect">
            <a:avLst>
              <a:gd name="adj" fmla="val 3261"/>
            </a:avLst>
          </a:prstGeom>
          <a:solidFill>
            <a:srgbClr val="DFF2ED"/>
          </a:solidFill>
          <a:ln w="12700">
            <a:solidFill>
              <a:srgbClr val="28A596"/>
            </a:solidFill>
            <a:prstDash val="solid"/>
          </a:ln>
        </p:spPr>
      </p:sp>
      <p:sp>
        <p:nvSpPr>
          <p:cNvPr id="20" name="Text 18"/>
          <p:cNvSpPr/>
          <p:nvPr/>
        </p:nvSpPr>
        <p:spPr>
          <a:xfrm>
            <a:off x="429768" y="1371600"/>
            <a:ext cx="5998464" cy="329184"/>
          </a:xfrm>
          <a:prstGeom prst="rect">
            <a:avLst/>
          </a:prstGeom>
          <a:noFill/>
          <a:ln/>
        </p:spPr>
        <p:txBody>
          <a:bodyPr wrap="square" lIns="0" tIns="0" rIns="0" bIns="0" rtlCol="0" anchor="ctr"/>
          <a:lstStyle/>
          <a:p>
            <a:pPr algn="ctr" indent="0" marL="0">
              <a:buNone/>
            </a:pPr>
            <a:r>
              <a:rPr lang="en-US" sz="1050" b="1" dirty="0">
                <a:solidFill>
                  <a:srgbClr val="116F68"/>
                </a:solidFill>
                <a:latin typeface="Calibri Light" pitchFamily="34" charset="0"/>
                <a:ea typeface="Calibri Light" pitchFamily="34" charset="-122"/>
                <a:cs typeface="Calibri Light" pitchFamily="34" charset="-120"/>
              </a:rPr>
              <a:t>The decision is not "push more primary" — it is "find proven demand constrained by execution."</a:t>
            </a:r>
            <a:endParaRPr lang="en-US" sz="1050" dirty="0"/>
          </a:p>
        </p:txBody>
      </p:sp>
      <p:sp>
        <p:nvSpPr>
          <p:cNvPr id="21" name="Text 19"/>
          <p:cNvSpPr/>
          <p:nvPr/>
        </p:nvSpPr>
        <p:spPr>
          <a:xfrm>
            <a:off x="484632" y="1737360"/>
            <a:ext cx="5888736" cy="274320"/>
          </a:xfrm>
          <a:prstGeom prst="rect">
            <a:avLst/>
          </a:prstGeom>
          <a:noFill/>
          <a:ln/>
        </p:spPr>
        <p:txBody>
          <a:bodyPr wrap="square" lIns="0" tIns="0" rIns="0" bIns="0" rtlCol="0" anchor="t"/>
          <a:lstStyle/>
          <a:p>
            <a:pPr algn="ctr" indent="0" marL="0">
              <a:lnSpc>
                <a:spcPct val="94000"/>
              </a:lnSpc>
              <a:buNone/>
            </a:pPr>
            <a:r>
              <a:rPr lang="en-US" sz="720" dirty="0">
                <a:solidFill>
                  <a:srgbClr val="5F716E"/>
                </a:solidFill>
                <a:latin typeface="Calibri" pitchFamily="34" charset="0"/>
                <a:ea typeface="Calibri" pitchFamily="34" charset="-122"/>
                <a:cs typeface="Calibri" pitchFamily="34" charset="-120"/>
              </a:rPr>
              <a:t>Six rules below are live on July data. SAH, PDO, OOS and stock fields join only after reconciliation — they are named as gaps, not quoted as findings.</a:t>
            </a:r>
            <a:endParaRPr lang="en-US" sz="720" dirty="0"/>
          </a:p>
        </p:txBody>
      </p:sp>
      <p:sp>
        <p:nvSpPr>
          <p:cNvPr id="22" name="Shape 20"/>
          <p:cNvSpPr/>
          <p:nvPr/>
        </p:nvSpPr>
        <p:spPr>
          <a:xfrm>
            <a:off x="265176" y="2231136"/>
            <a:ext cx="2017776" cy="2432304"/>
          </a:xfrm>
          <a:prstGeom prst="roundRect">
            <a:avLst>
              <a:gd name="adj" fmla="val 906"/>
            </a:avLst>
          </a:prstGeom>
          <a:solidFill>
            <a:srgbClr val="FFFFFF"/>
          </a:solidFill>
          <a:ln w="9525">
            <a:solidFill>
              <a:srgbClr val="C8DCD7"/>
            </a:solidFill>
            <a:prstDash val="solid"/>
          </a:ln>
        </p:spPr>
      </p:sp>
      <p:sp>
        <p:nvSpPr>
          <p:cNvPr id="23" name="Shape 21"/>
          <p:cNvSpPr/>
          <p:nvPr/>
        </p:nvSpPr>
        <p:spPr>
          <a:xfrm>
            <a:off x="265176" y="2231136"/>
            <a:ext cx="2017776" cy="274320"/>
          </a:xfrm>
          <a:prstGeom prst="rect">
            <a:avLst/>
          </a:prstGeom>
          <a:solidFill>
            <a:srgbClr val="116F68"/>
          </a:solidFill>
          <a:ln/>
        </p:spPr>
      </p:sp>
      <p:sp>
        <p:nvSpPr>
          <p:cNvPr id="24" name="Text 22"/>
          <p:cNvSpPr/>
          <p:nvPr/>
        </p:nvSpPr>
        <p:spPr>
          <a:xfrm>
            <a:off x="347472"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ONE METRIC</a:t>
            </a:r>
            <a:endParaRPr lang="en-US" sz="700" dirty="0"/>
          </a:p>
        </p:txBody>
      </p:sp>
      <p:sp>
        <p:nvSpPr>
          <p:cNvPr id="25" name="Text 23"/>
          <p:cNvSpPr/>
          <p:nvPr/>
        </p:nvSpPr>
        <p:spPr>
          <a:xfrm>
            <a:off x="356616"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Flow conversion</a:t>
            </a:r>
            <a:endParaRPr lang="en-US" sz="1150" dirty="0"/>
          </a:p>
        </p:txBody>
      </p:sp>
      <p:sp>
        <p:nvSpPr>
          <p:cNvPr id="26" name="Shape 24"/>
          <p:cNvSpPr/>
          <p:nvPr/>
        </p:nvSpPr>
        <p:spPr>
          <a:xfrm>
            <a:off x="374904" y="3031236"/>
            <a:ext cx="50292" cy="50292"/>
          </a:xfrm>
          <a:prstGeom prst="ellipse">
            <a:avLst/>
          </a:prstGeom>
          <a:solidFill>
            <a:srgbClr val="116F68"/>
          </a:solidFill>
          <a:ln/>
        </p:spPr>
      </p:sp>
      <p:sp>
        <p:nvSpPr>
          <p:cNvPr id="27" name="Text 25"/>
          <p:cNvSpPr/>
          <p:nvPr/>
        </p:nvSpPr>
        <p:spPr>
          <a:xfrm>
            <a:off x="493776"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Offtake ÷ primary on comparable mapped cuts.</a:t>
            </a:r>
            <a:endParaRPr lang="en-US" sz="690" dirty="0"/>
          </a:p>
        </p:txBody>
      </p:sp>
      <p:sp>
        <p:nvSpPr>
          <p:cNvPr id="28" name="Shape 26"/>
          <p:cNvSpPr/>
          <p:nvPr/>
        </p:nvSpPr>
        <p:spPr>
          <a:xfrm>
            <a:off x="374904" y="3396996"/>
            <a:ext cx="50292" cy="50292"/>
          </a:xfrm>
          <a:prstGeom prst="ellipse">
            <a:avLst/>
          </a:prstGeom>
          <a:solidFill>
            <a:srgbClr val="116F68"/>
          </a:solidFill>
          <a:ln/>
        </p:spPr>
      </p:sp>
      <p:sp>
        <p:nvSpPr>
          <p:cNvPr id="29" name="Text 27"/>
          <p:cNvSpPr/>
          <p:nvPr/>
        </p:nvSpPr>
        <p:spPr>
          <a:xfrm>
            <a:off x="493776"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Every other KPI is supporting, not equal.</a:t>
            </a:r>
            <a:endParaRPr lang="en-US" sz="690" dirty="0"/>
          </a:p>
        </p:txBody>
      </p:sp>
      <p:sp>
        <p:nvSpPr>
          <p:cNvPr id="30" name="Shape 28"/>
          <p:cNvSpPr/>
          <p:nvPr/>
        </p:nvSpPr>
        <p:spPr>
          <a:xfrm>
            <a:off x="374904" y="3762756"/>
            <a:ext cx="50292" cy="50292"/>
          </a:xfrm>
          <a:prstGeom prst="ellipse">
            <a:avLst/>
          </a:prstGeom>
          <a:solidFill>
            <a:srgbClr val="116F68"/>
          </a:solidFill>
          <a:ln/>
        </p:spPr>
      </p:sp>
      <p:sp>
        <p:nvSpPr>
          <p:cNvPr id="31" name="Text 29"/>
          <p:cNvSpPr/>
          <p:nvPr/>
        </p:nvSpPr>
        <p:spPr>
          <a:xfrm>
            <a:off x="493776"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Target: 73.4% → above 85% this quarter.</a:t>
            </a:r>
            <a:endParaRPr lang="en-US" sz="690" dirty="0"/>
          </a:p>
        </p:txBody>
      </p:sp>
      <p:sp>
        <p:nvSpPr>
          <p:cNvPr id="32" name="Shape 30"/>
          <p:cNvSpPr/>
          <p:nvPr/>
        </p:nvSpPr>
        <p:spPr>
          <a:xfrm>
            <a:off x="374904" y="4128516"/>
            <a:ext cx="50292" cy="50292"/>
          </a:xfrm>
          <a:prstGeom prst="ellipse">
            <a:avLst/>
          </a:prstGeom>
          <a:solidFill>
            <a:srgbClr val="116F68"/>
          </a:solidFill>
          <a:ln/>
        </p:spPr>
      </p:sp>
      <p:sp>
        <p:nvSpPr>
          <p:cNvPr id="33" name="Text 31"/>
          <p:cNvSpPr/>
          <p:nvPr/>
        </p:nvSpPr>
        <p:spPr>
          <a:xfrm>
            <a:off x="493776"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Read it by zone and chain — never as a national average alone.</a:t>
            </a:r>
            <a:endParaRPr lang="en-US" sz="690" dirty="0"/>
          </a:p>
        </p:txBody>
      </p:sp>
      <p:sp>
        <p:nvSpPr>
          <p:cNvPr id="34" name="Shape 32"/>
          <p:cNvSpPr/>
          <p:nvPr/>
        </p:nvSpPr>
        <p:spPr>
          <a:xfrm>
            <a:off x="2420112" y="2231136"/>
            <a:ext cx="2017776" cy="2432304"/>
          </a:xfrm>
          <a:prstGeom prst="roundRect">
            <a:avLst>
              <a:gd name="adj" fmla="val 906"/>
            </a:avLst>
          </a:prstGeom>
          <a:solidFill>
            <a:srgbClr val="FFFFFF"/>
          </a:solidFill>
          <a:ln w="9525">
            <a:solidFill>
              <a:srgbClr val="C8DCD7"/>
            </a:solidFill>
            <a:prstDash val="solid"/>
          </a:ln>
        </p:spPr>
      </p:sp>
      <p:sp>
        <p:nvSpPr>
          <p:cNvPr id="35" name="Shape 33"/>
          <p:cNvSpPr/>
          <p:nvPr/>
        </p:nvSpPr>
        <p:spPr>
          <a:xfrm>
            <a:off x="2420112" y="2231136"/>
            <a:ext cx="2017776" cy="274320"/>
          </a:xfrm>
          <a:prstGeom prst="rect">
            <a:avLst/>
          </a:prstGeom>
          <a:solidFill>
            <a:srgbClr val="F2B84B"/>
          </a:solidFill>
          <a:ln/>
        </p:spPr>
      </p:sp>
      <p:sp>
        <p:nvSpPr>
          <p:cNvPr id="36" name="Text 34"/>
          <p:cNvSpPr/>
          <p:nvPr/>
        </p:nvSpPr>
        <p:spPr>
          <a:xfrm>
            <a:off x="2502408"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37" name="Text 35"/>
          <p:cNvSpPr/>
          <p:nvPr/>
        </p:nvSpPr>
        <p:spPr>
          <a:xfrm>
            <a:off x="2511552" y="2596896"/>
            <a:ext cx="1834896" cy="310896"/>
          </a:xfrm>
          <a:prstGeom prst="rect">
            <a:avLst/>
          </a:prstGeom>
          <a:noFill/>
          <a:ln/>
        </p:spPr>
        <p:txBody>
          <a:bodyPr wrap="square" lIns="0" tIns="0" rIns="0" bIns="0" rtlCol="0" anchor="ctr"/>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₹0.25 Cr</a:t>
            </a:r>
            <a:endParaRPr lang="en-US" sz="1150" dirty="0"/>
          </a:p>
        </p:txBody>
      </p:sp>
      <p:sp>
        <p:nvSpPr>
          <p:cNvPr id="38" name="Shape 36"/>
          <p:cNvSpPr/>
          <p:nvPr/>
        </p:nvSpPr>
        <p:spPr>
          <a:xfrm>
            <a:off x="2529840" y="3031236"/>
            <a:ext cx="50292" cy="50292"/>
          </a:xfrm>
          <a:prstGeom prst="ellipse">
            <a:avLst/>
          </a:prstGeom>
          <a:solidFill>
            <a:srgbClr val="F2B84B"/>
          </a:solidFill>
          <a:ln/>
        </p:spPr>
      </p:sp>
      <p:sp>
        <p:nvSpPr>
          <p:cNvPr id="39" name="Text 37"/>
          <p:cNvSpPr/>
          <p:nvPr/>
        </p:nvSpPr>
        <p:spPr>
          <a:xfrm>
            <a:off x="2648712"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growth % is shown, ranked or coloured below this base.</a:t>
            </a:r>
            <a:endParaRPr lang="en-US" sz="690" dirty="0"/>
          </a:p>
        </p:txBody>
      </p:sp>
      <p:sp>
        <p:nvSpPr>
          <p:cNvPr id="40" name="Shape 38"/>
          <p:cNvSpPr/>
          <p:nvPr/>
        </p:nvSpPr>
        <p:spPr>
          <a:xfrm>
            <a:off x="2529840" y="3396996"/>
            <a:ext cx="50292" cy="50292"/>
          </a:xfrm>
          <a:prstGeom prst="ellipse">
            <a:avLst/>
          </a:prstGeom>
          <a:solidFill>
            <a:srgbClr val="F2B84B"/>
          </a:solidFill>
          <a:ln/>
        </p:spPr>
      </p:sp>
      <p:sp>
        <p:nvSpPr>
          <p:cNvPr id="41" name="Text 39"/>
          <p:cNvSpPr/>
          <p:nvPr/>
        </p:nvSpPr>
        <p:spPr>
          <a:xfrm>
            <a:off x="2648712"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42" name="Shape 40"/>
          <p:cNvSpPr/>
          <p:nvPr/>
        </p:nvSpPr>
        <p:spPr>
          <a:xfrm>
            <a:off x="2529840" y="3762756"/>
            <a:ext cx="50292" cy="50292"/>
          </a:xfrm>
          <a:prstGeom prst="ellipse">
            <a:avLst/>
          </a:prstGeom>
          <a:solidFill>
            <a:srgbClr val="F2B84B"/>
          </a:solidFill>
          <a:ln/>
        </p:spPr>
      </p:sp>
      <p:sp>
        <p:nvSpPr>
          <p:cNvPr id="43" name="Text 41"/>
          <p:cNvSpPr/>
          <p:nvPr/>
        </p:nvSpPr>
        <p:spPr>
          <a:xfrm>
            <a:off x="2648712"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8 of 13 rows from the chain scorecard.</a:t>
            </a:r>
            <a:endParaRPr lang="en-US" sz="690" dirty="0"/>
          </a:p>
        </p:txBody>
      </p:sp>
      <p:sp>
        <p:nvSpPr>
          <p:cNvPr id="44" name="Shape 42"/>
          <p:cNvSpPr/>
          <p:nvPr/>
        </p:nvSpPr>
        <p:spPr>
          <a:xfrm>
            <a:off x="2529840" y="4128516"/>
            <a:ext cx="50292" cy="50292"/>
          </a:xfrm>
          <a:prstGeom prst="ellipse">
            <a:avLst/>
          </a:prstGeom>
          <a:solidFill>
            <a:srgbClr val="F2B84B"/>
          </a:solidFill>
          <a:ln/>
        </p:spPr>
      </p:sp>
      <p:sp>
        <p:nvSpPr>
          <p:cNvPr id="45" name="Text 43"/>
          <p:cNvSpPr/>
          <p:nvPr/>
        </p:nvSpPr>
        <p:spPr>
          <a:xfrm>
            <a:off x="2648712"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Stops a ₹1 lakh move outranking a ₹1.42 Cr decline.</a:t>
            </a:r>
            <a:endParaRPr lang="en-US" sz="690" dirty="0"/>
          </a:p>
        </p:txBody>
      </p:sp>
      <p:sp>
        <p:nvSpPr>
          <p:cNvPr id="46" name="Shape 44"/>
          <p:cNvSpPr/>
          <p:nvPr/>
        </p:nvSpPr>
        <p:spPr>
          <a:xfrm>
            <a:off x="4575048" y="2231136"/>
            <a:ext cx="2017776" cy="2432304"/>
          </a:xfrm>
          <a:prstGeom prst="roundRect">
            <a:avLst>
              <a:gd name="adj" fmla="val 906"/>
            </a:avLst>
          </a:prstGeom>
          <a:solidFill>
            <a:srgbClr val="FFFFFF"/>
          </a:solidFill>
          <a:ln w="9525">
            <a:solidFill>
              <a:srgbClr val="C8DCD7"/>
            </a:solidFill>
            <a:prstDash val="solid"/>
          </a:ln>
        </p:spPr>
      </p:sp>
      <p:sp>
        <p:nvSpPr>
          <p:cNvPr id="47" name="Shape 45"/>
          <p:cNvSpPr/>
          <p:nvPr/>
        </p:nvSpPr>
        <p:spPr>
          <a:xfrm>
            <a:off x="4575048" y="2231136"/>
            <a:ext cx="2017776" cy="274320"/>
          </a:xfrm>
          <a:prstGeom prst="rect">
            <a:avLst/>
          </a:prstGeom>
          <a:solidFill>
            <a:srgbClr val="116F68"/>
          </a:solidFill>
          <a:ln/>
        </p:spPr>
      </p:sp>
      <p:sp>
        <p:nvSpPr>
          <p:cNvPr id="48" name="Text 46"/>
          <p:cNvSpPr/>
          <p:nvPr/>
        </p:nvSpPr>
        <p:spPr>
          <a:xfrm>
            <a:off x="4657344" y="2249424"/>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DISTRIBUTION PRODUCTIVITY</a:t>
            </a:r>
            <a:endParaRPr lang="en-US" sz="700" dirty="0"/>
          </a:p>
        </p:txBody>
      </p:sp>
      <p:sp>
        <p:nvSpPr>
          <p:cNvPr id="49" name="Text 47"/>
          <p:cNvSpPr/>
          <p:nvPr/>
        </p:nvSpPr>
        <p:spPr>
          <a:xfrm>
            <a:off x="4666488" y="2596896"/>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SPD = share ÷ WD</a:t>
            </a:r>
            <a:endParaRPr lang="en-US" sz="1150" dirty="0"/>
          </a:p>
        </p:txBody>
      </p:sp>
      <p:sp>
        <p:nvSpPr>
          <p:cNvPr id="50" name="Shape 48"/>
          <p:cNvSpPr/>
          <p:nvPr/>
        </p:nvSpPr>
        <p:spPr>
          <a:xfrm>
            <a:off x="4684776" y="3031236"/>
            <a:ext cx="50292" cy="50292"/>
          </a:xfrm>
          <a:prstGeom prst="ellipse">
            <a:avLst/>
          </a:prstGeom>
          <a:solidFill>
            <a:srgbClr val="116F68"/>
          </a:solidFill>
          <a:ln/>
        </p:spPr>
      </p:sp>
      <p:sp>
        <p:nvSpPr>
          <p:cNvPr id="51" name="Text 49"/>
          <p:cNvSpPr/>
          <p:nvPr/>
        </p:nvSpPr>
        <p:spPr>
          <a:xfrm>
            <a:off x="4803648" y="2980944"/>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per point of weighted distribution.</a:t>
            </a:r>
            <a:endParaRPr lang="en-US" sz="690" dirty="0"/>
          </a:p>
        </p:txBody>
      </p:sp>
      <p:sp>
        <p:nvSpPr>
          <p:cNvPr id="52" name="Shape 50"/>
          <p:cNvSpPr/>
          <p:nvPr/>
        </p:nvSpPr>
        <p:spPr>
          <a:xfrm>
            <a:off x="4684776" y="3396996"/>
            <a:ext cx="50292" cy="50292"/>
          </a:xfrm>
          <a:prstGeom prst="ellipse">
            <a:avLst/>
          </a:prstGeom>
          <a:solidFill>
            <a:srgbClr val="116F68"/>
          </a:solidFill>
          <a:ln/>
        </p:spPr>
      </p:sp>
      <p:sp>
        <p:nvSpPr>
          <p:cNvPr id="53" name="Text 51"/>
          <p:cNvSpPr/>
          <p:nvPr/>
        </p:nvSpPr>
        <p:spPr>
          <a:xfrm>
            <a:off x="4803648" y="334670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Face Wash 0.118 · Shampoo 0.045 · TDC FW 0.015.</a:t>
            </a:r>
            <a:endParaRPr lang="en-US" sz="690" dirty="0"/>
          </a:p>
        </p:txBody>
      </p:sp>
      <p:sp>
        <p:nvSpPr>
          <p:cNvPr id="54" name="Shape 52"/>
          <p:cNvSpPr/>
          <p:nvPr/>
        </p:nvSpPr>
        <p:spPr>
          <a:xfrm>
            <a:off x="4684776" y="3762756"/>
            <a:ext cx="50292" cy="50292"/>
          </a:xfrm>
          <a:prstGeom prst="ellipse">
            <a:avLst/>
          </a:prstGeom>
          <a:solidFill>
            <a:srgbClr val="116F68"/>
          </a:solidFill>
          <a:ln/>
        </p:spPr>
      </p:sp>
      <p:sp>
        <p:nvSpPr>
          <p:cNvPr id="55" name="Text 53"/>
          <p:cNvSpPr/>
          <p:nvPr/>
        </p:nvSpPr>
        <p:spPr>
          <a:xfrm>
            <a:off x="4803648" y="371246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Low SPD on wide WD means fix the shelf, not add doors.</a:t>
            </a:r>
            <a:endParaRPr lang="en-US" sz="690" dirty="0"/>
          </a:p>
        </p:txBody>
      </p:sp>
      <p:sp>
        <p:nvSpPr>
          <p:cNvPr id="56" name="Shape 54"/>
          <p:cNvSpPr/>
          <p:nvPr/>
        </p:nvSpPr>
        <p:spPr>
          <a:xfrm>
            <a:off x="4684776" y="4128516"/>
            <a:ext cx="50292" cy="50292"/>
          </a:xfrm>
          <a:prstGeom prst="ellipse">
            <a:avLst/>
          </a:prstGeom>
          <a:solidFill>
            <a:srgbClr val="116F68"/>
          </a:solidFill>
          <a:ln/>
        </p:spPr>
      </p:sp>
      <p:sp>
        <p:nvSpPr>
          <p:cNvPr id="57" name="Text 55"/>
          <p:cNvSpPr/>
          <p:nvPr/>
        </p:nvSpPr>
        <p:spPr>
          <a:xfrm>
            <a:off x="4803648" y="4078224"/>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Pair with PDO once store-count fields reconcile.</a:t>
            </a:r>
            <a:endParaRPr lang="en-US" sz="690" dirty="0"/>
          </a:p>
        </p:txBody>
      </p:sp>
      <p:sp>
        <p:nvSpPr>
          <p:cNvPr id="58" name="Shape 56"/>
          <p:cNvSpPr/>
          <p:nvPr/>
        </p:nvSpPr>
        <p:spPr>
          <a:xfrm>
            <a:off x="265176" y="4809744"/>
            <a:ext cx="2017776" cy="2432304"/>
          </a:xfrm>
          <a:prstGeom prst="roundRect">
            <a:avLst>
              <a:gd name="adj" fmla="val 906"/>
            </a:avLst>
          </a:prstGeom>
          <a:solidFill>
            <a:srgbClr val="FFFFFF"/>
          </a:solidFill>
          <a:ln w="9525">
            <a:solidFill>
              <a:srgbClr val="C8DCD7"/>
            </a:solidFill>
            <a:prstDash val="solid"/>
          </a:ln>
        </p:spPr>
      </p:sp>
      <p:sp>
        <p:nvSpPr>
          <p:cNvPr id="59" name="Shape 57"/>
          <p:cNvSpPr/>
          <p:nvPr/>
        </p:nvSpPr>
        <p:spPr>
          <a:xfrm>
            <a:off x="265176" y="4809744"/>
            <a:ext cx="2017776" cy="274320"/>
          </a:xfrm>
          <a:prstGeom prst="rect">
            <a:avLst/>
          </a:prstGeom>
          <a:solidFill>
            <a:srgbClr val="D6544D"/>
          </a:solidFill>
          <a:ln/>
        </p:spPr>
      </p:sp>
      <p:sp>
        <p:nvSpPr>
          <p:cNvPr id="60" name="Text 58"/>
          <p:cNvSpPr/>
          <p:nvPr/>
        </p:nvSpPr>
        <p:spPr>
          <a:xfrm>
            <a:off x="347472"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NEVER NET</a:t>
            </a:r>
            <a:endParaRPr lang="en-US" sz="700" dirty="0"/>
          </a:p>
        </p:txBody>
      </p:sp>
      <p:sp>
        <p:nvSpPr>
          <p:cNvPr id="61" name="Text 59"/>
          <p:cNvSpPr/>
          <p:nvPr/>
        </p:nvSpPr>
        <p:spPr>
          <a:xfrm>
            <a:off x="356616" y="5175504"/>
            <a:ext cx="1834896" cy="310896"/>
          </a:xfrm>
          <a:prstGeom prst="rect">
            <a:avLst/>
          </a:prstGeom>
          <a:noFill/>
          <a:ln/>
        </p:spPr>
        <p:txBody>
          <a:bodyPr wrap="square" lIns="0" tIns="0" rIns="0" bIns="0" rtlCol="0" anchor="ctr"/>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Two gap lines</a:t>
            </a:r>
            <a:endParaRPr lang="en-US" sz="1150" dirty="0"/>
          </a:p>
        </p:txBody>
      </p:sp>
      <p:sp>
        <p:nvSpPr>
          <p:cNvPr id="62" name="Shape 60"/>
          <p:cNvSpPr/>
          <p:nvPr/>
        </p:nvSpPr>
        <p:spPr>
          <a:xfrm>
            <a:off x="374904" y="5609844"/>
            <a:ext cx="50292" cy="50292"/>
          </a:xfrm>
          <a:prstGeom prst="ellipse">
            <a:avLst/>
          </a:prstGeom>
          <a:solidFill>
            <a:srgbClr val="D6544D"/>
          </a:solidFill>
          <a:ln/>
        </p:spPr>
      </p:sp>
      <p:sp>
        <p:nvSpPr>
          <p:cNvPr id="63" name="Text 61"/>
          <p:cNvSpPr/>
          <p:nvPr/>
        </p:nvSpPr>
        <p:spPr>
          <a:xfrm>
            <a:off x="493776"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Positive gap = billed but unsold. ₹13.27 Cr.</a:t>
            </a:r>
            <a:endParaRPr lang="en-US" sz="690" dirty="0"/>
          </a:p>
        </p:txBody>
      </p:sp>
      <p:sp>
        <p:nvSpPr>
          <p:cNvPr id="64" name="Shape 62"/>
          <p:cNvSpPr/>
          <p:nvPr/>
        </p:nvSpPr>
        <p:spPr>
          <a:xfrm>
            <a:off x="374904" y="5975604"/>
            <a:ext cx="50292" cy="50292"/>
          </a:xfrm>
          <a:prstGeom prst="ellipse">
            <a:avLst/>
          </a:prstGeom>
          <a:solidFill>
            <a:srgbClr val="D6544D"/>
          </a:solidFill>
          <a:ln/>
        </p:spPr>
      </p:sp>
      <p:sp>
        <p:nvSpPr>
          <p:cNvPr id="65" name="Text 63"/>
          <p:cNvSpPr/>
          <p:nvPr/>
        </p:nvSpPr>
        <p:spPr>
          <a:xfrm>
            <a:off x="493776"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Negative gap = sold but unmapped. ₹2.23 Cr.</a:t>
            </a:r>
            <a:endParaRPr lang="en-US" sz="690" dirty="0"/>
          </a:p>
        </p:txBody>
      </p:sp>
      <p:sp>
        <p:nvSpPr>
          <p:cNvPr id="66" name="Shape 64"/>
          <p:cNvSpPr/>
          <p:nvPr/>
        </p:nvSpPr>
        <p:spPr>
          <a:xfrm>
            <a:off x="374904" y="6341364"/>
            <a:ext cx="50292" cy="50292"/>
          </a:xfrm>
          <a:prstGeom prst="ellipse">
            <a:avLst/>
          </a:prstGeom>
          <a:solidFill>
            <a:srgbClr val="D6544D"/>
          </a:solidFill>
          <a:ln/>
        </p:spPr>
      </p:sp>
      <p:sp>
        <p:nvSpPr>
          <p:cNvPr id="67" name="Text 65"/>
          <p:cNvSpPr/>
          <p:nvPr/>
        </p:nvSpPr>
        <p:spPr>
          <a:xfrm>
            <a:off x="493776"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Netting them hid ₹2.06 Cr of recoverable value.</a:t>
            </a:r>
            <a:endParaRPr lang="en-US" sz="690" dirty="0"/>
          </a:p>
        </p:txBody>
      </p:sp>
      <p:sp>
        <p:nvSpPr>
          <p:cNvPr id="68" name="Shape 66"/>
          <p:cNvSpPr/>
          <p:nvPr/>
        </p:nvSpPr>
        <p:spPr>
          <a:xfrm>
            <a:off x="374904" y="6707124"/>
            <a:ext cx="50292" cy="50292"/>
          </a:xfrm>
          <a:prstGeom prst="ellipse">
            <a:avLst/>
          </a:prstGeom>
          <a:solidFill>
            <a:srgbClr val="D6544D"/>
          </a:solidFill>
          <a:ln/>
        </p:spPr>
      </p:sp>
      <p:sp>
        <p:nvSpPr>
          <p:cNvPr id="69" name="Text 67"/>
          <p:cNvSpPr/>
          <p:nvPr/>
        </p:nvSpPr>
        <p:spPr>
          <a:xfrm>
            <a:off x="493776"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 and zone gaps must share one stated base.</a:t>
            </a:r>
            <a:endParaRPr lang="en-US" sz="690" dirty="0"/>
          </a:p>
        </p:txBody>
      </p:sp>
      <p:sp>
        <p:nvSpPr>
          <p:cNvPr id="70" name="Shape 68"/>
          <p:cNvSpPr/>
          <p:nvPr/>
        </p:nvSpPr>
        <p:spPr>
          <a:xfrm>
            <a:off x="2420112" y="4809744"/>
            <a:ext cx="2017776" cy="2432304"/>
          </a:xfrm>
          <a:prstGeom prst="roundRect">
            <a:avLst>
              <a:gd name="adj" fmla="val 906"/>
            </a:avLst>
          </a:prstGeom>
          <a:solidFill>
            <a:srgbClr val="FFFFFF"/>
          </a:solidFill>
          <a:ln w="9525">
            <a:solidFill>
              <a:srgbClr val="C8DCD7"/>
            </a:solidFill>
            <a:prstDash val="solid"/>
          </a:ln>
        </p:spPr>
      </p:sp>
      <p:sp>
        <p:nvSpPr>
          <p:cNvPr id="71" name="Shape 69"/>
          <p:cNvSpPr/>
          <p:nvPr/>
        </p:nvSpPr>
        <p:spPr>
          <a:xfrm>
            <a:off x="2420112" y="4809744"/>
            <a:ext cx="2017776" cy="274320"/>
          </a:xfrm>
          <a:prstGeom prst="rect">
            <a:avLst/>
          </a:prstGeom>
          <a:solidFill>
            <a:srgbClr val="116F68"/>
          </a:solidFill>
          <a:ln/>
        </p:spPr>
      </p:sp>
      <p:sp>
        <p:nvSpPr>
          <p:cNvPr id="72" name="Text 70"/>
          <p:cNvSpPr/>
          <p:nvPr/>
        </p:nvSpPr>
        <p:spPr>
          <a:xfrm>
            <a:off x="2502408"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MARKET × FLOW RULE</a:t>
            </a:r>
            <a:endParaRPr lang="en-US" sz="700" dirty="0"/>
          </a:p>
        </p:txBody>
      </p:sp>
      <p:sp>
        <p:nvSpPr>
          <p:cNvPr id="73" name="Text 71"/>
          <p:cNvSpPr/>
          <p:nvPr/>
        </p:nvSpPr>
        <p:spPr>
          <a:xfrm>
            <a:off x="2511552" y="5175504"/>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Scale / Fix / Hold</a:t>
            </a:r>
            <a:endParaRPr lang="en-US" sz="1150" dirty="0"/>
          </a:p>
        </p:txBody>
      </p:sp>
      <p:sp>
        <p:nvSpPr>
          <p:cNvPr id="74" name="Shape 72"/>
          <p:cNvSpPr/>
          <p:nvPr/>
        </p:nvSpPr>
        <p:spPr>
          <a:xfrm>
            <a:off x="2529840" y="5609844"/>
            <a:ext cx="50292" cy="50292"/>
          </a:xfrm>
          <a:prstGeom prst="ellipse">
            <a:avLst/>
          </a:prstGeom>
          <a:solidFill>
            <a:srgbClr val="116F68"/>
          </a:solidFill>
          <a:ln/>
        </p:spPr>
      </p:sp>
      <p:sp>
        <p:nvSpPr>
          <p:cNvPr id="75" name="Text 73"/>
          <p:cNvSpPr/>
          <p:nvPr/>
        </p:nvSpPr>
        <p:spPr>
          <a:xfrm>
            <a:off x="2648712"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Share up + offtake up → scale.</a:t>
            </a:r>
            <a:endParaRPr lang="en-US" sz="690" dirty="0"/>
          </a:p>
        </p:txBody>
      </p:sp>
      <p:sp>
        <p:nvSpPr>
          <p:cNvPr id="76" name="Shape 74"/>
          <p:cNvSpPr/>
          <p:nvPr/>
        </p:nvSpPr>
        <p:spPr>
          <a:xfrm>
            <a:off x="2529840" y="5975604"/>
            <a:ext cx="50292" cy="50292"/>
          </a:xfrm>
          <a:prstGeom prst="ellipse">
            <a:avLst/>
          </a:prstGeom>
          <a:solidFill>
            <a:srgbClr val="116F68"/>
          </a:solidFill>
          <a:ln/>
        </p:spPr>
      </p:sp>
      <p:sp>
        <p:nvSpPr>
          <p:cNvPr id="77" name="Text 75"/>
          <p:cNvSpPr/>
          <p:nvPr/>
        </p:nvSpPr>
        <p:spPr>
          <a:xfrm>
            <a:off x="2648712"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Primary up + offtake weak → stop loading.</a:t>
            </a:r>
            <a:endParaRPr lang="en-US" sz="690" dirty="0"/>
          </a:p>
        </p:txBody>
      </p:sp>
      <p:sp>
        <p:nvSpPr>
          <p:cNvPr id="78" name="Shape 76"/>
          <p:cNvSpPr/>
          <p:nvPr/>
        </p:nvSpPr>
        <p:spPr>
          <a:xfrm>
            <a:off x="2529840" y="6341364"/>
            <a:ext cx="50292" cy="50292"/>
          </a:xfrm>
          <a:prstGeom prst="ellipse">
            <a:avLst/>
          </a:prstGeom>
          <a:solidFill>
            <a:srgbClr val="116F68"/>
          </a:solidFill>
          <a:ln/>
        </p:spPr>
      </p:sp>
      <p:sp>
        <p:nvSpPr>
          <p:cNvPr id="79" name="Text 77"/>
          <p:cNvSpPr/>
          <p:nvPr/>
        </p:nvSpPr>
        <p:spPr>
          <a:xfrm>
            <a:off x="2648712"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Offtake up + supply weak → replenish.</a:t>
            </a:r>
            <a:endParaRPr lang="en-US" sz="690" dirty="0"/>
          </a:p>
        </p:txBody>
      </p:sp>
      <p:sp>
        <p:nvSpPr>
          <p:cNvPr id="80" name="Shape 78"/>
          <p:cNvSpPr/>
          <p:nvPr/>
        </p:nvSpPr>
        <p:spPr>
          <a:xfrm>
            <a:off x="2529840" y="6707124"/>
            <a:ext cx="50292" cy="50292"/>
          </a:xfrm>
          <a:prstGeom prst="ellipse">
            <a:avLst/>
          </a:prstGeom>
          <a:solidFill>
            <a:srgbClr val="116F68"/>
          </a:solidFill>
          <a:ln/>
        </p:spPr>
      </p:sp>
      <p:sp>
        <p:nvSpPr>
          <p:cNvPr id="81" name="Text 79"/>
          <p:cNvSpPr/>
          <p:nvPr/>
        </p:nvSpPr>
        <p:spPr>
          <a:xfrm>
            <a:off x="2648712"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Share down → validate competitor or OOS transfer first.</a:t>
            </a:r>
            <a:endParaRPr lang="en-US" sz="690" dirty="0"/>
          </a:p>
        </p:txBody>
      </p:sp>
      <p:sp>
        <p:nvSpPr>
          <p:cNvPr id="82" name="Shape 80"/>
          <p:cNvSpPr/>
          <p:nvPr/>
        </p:nvSpPr>
        <p:spPr>
          <a:xfrm>
            <a:off x="4575048" y="4809744"/>
            <a:ext cx="2017776" cy="2432304"/>
          </a:xfrm>
          <a:prstGeom prst="roundRect">
            <a:avLst>
              <a:gd name="adj" fmla="val 906"/>
            </a:avLst>
          </a:prstGeom>
          <a:solidFill>
            <a:srgbClr val="FFFFFF"/>
          </a:solidFill>
          <a:ln w="9525">
            <a:solidFill>
              <a:srgbClr val="C8DCD7"/>
            </a:solidFill>
            <a:prstDash val="solid"/>
          </a:ln>
        </p:spPr>
      </p:sp>
      <p:sp>
        <p:nvSpPr>
          <p:cNvPr id="83" name="Shape 81"/>
          <p:cNvSpPr/>
          <p:nvPr/>
        </p:nvSpPr>
        <p:spPr>
          <a:xfrm>
            <a:off x="4575048" y="4809744"/>
            <a:ext cx="2017776" cy="274320"/>
          </a:xfrm>
          <a:prstGeom prst="rect">
            <a:avLst/>
          </a:prstGeom>
          <a:solidFill>
            <a:srgbClr val="2B9A66"/>
          </a:solidFill>
          <a:ln/>
        </p:spPr>
      </p:sp>
      <p:sp>
        <p:nvSpPr>
          <p:cNvPr id="84" name="Text 82"/>
          <p:cNvSpPr/>
          <p:nvPr/>
        </p:nvSpPr>
        <p:spPr>
          <a:xfrm>
            <a:off x="4657344" y="4828032"/>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SIZE BEFORE YOU ACT</a:t>
            </a:r>
            <a:endParaRPr lang="en-US" sz="700" dirty="0"/>
          </a:p>
        </p:txBody>
      </p:sp>
      <p:sp>
        <p:nvSpPr>
          <p:cNvPr id="85" name="Text 83"/>
          <p:cNvSpPr/>
          <p:nvPr/>
        </p:nvSpPr>
        <p:spPr>
          <a:xfrm>
            <a:off x="4666488" y="5175504"/>
            <a:ext cx="1834896" cy="310896"/>
          </a:xfrm>
          <a:prstGeom prst="rect">
            <a:avLst/>
          </a:prstGeom>
          <a:noFill/>
          <a:ln/>
        </p:spPr>
        <p:txBody>
          <a:bodyPr wrap="square" lIns="0" tIns="0" rIns="0" bIns="0" rtlCol="0" anchor="ctr"/>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Expected value</a:t>
            </a:r>
            <a:endParaRPr lang="en-US" sz="1150" dirty="0"/>
          </a:p>
        </p:txBody>
      </p:sp>
      <p:sp>
        <p:nvSpPr>
          <p:cNvPr id="86" name="Shape 84"/>
          <p:cNvSpPr/>
          <p:nvPr/>
        </p:nvSpPr>
        <p:spPr>
          <a:xfrm>
            <a:off x="4684776" y="5609844"/>
            <a:ext cx="50292" cy="50292"/>
          </a:xfrm>
          <a:prstGeom prst="ellipse">
            <a:avLst/>
          </a:prstGeom>
          <a:solidFill>
            <a:srgbClr val="2B9A66"/>
          </a:solidFill>
          <a:ln/>
        </p:spPr>
      </p:sp>
      <p:sp>
        <p:nvSpPr>
          <p:cNvPr id="87" name="Text 85"/>
          <p:cNvSpPr/>
          <p:nvPr/>
        </p:nvSpPr>
        <p:spPr>
          <a:xfrm>
            <a:off x="4803648" y="5559552"/>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Rank every action by ₹ at stake × likelihood × cost.</a:t>
            </a:r>
            <a:endParaRPr lang="en-US" sz="690" dirty="0"/>
          </a:p>
        </p:txBody>
      </p:sp>
      <p:sp>
        <p:nvSpPr>
          <p:cNvPr id="88" name="Shape 86"/>
          <p:cNvSpPr/>
          <p:nvPr/>
        </p:nvSpPr>
        <p:spPr>
          <a:xfrm>
            <a:off x="4684776" y="5975604"/>
            <a:ext cx="50292" cy="50292"/>
          </a:xfrm>
          <a:prstGeom prst="ellipse">
            <a:avLst/>
          </a:prstGeom>
          <a:solidFill>
            <a:srgbClr val="2B9A66"/>
          </a:solidFill>
          <a:ln/>
        </p:spPr>
      </p:sp>
      <p:sp>
        <p:nvSpPr>
          <p:cNvPr id="89" name="Text 87"/>
          <p:cNvSpPr/>
          <p:nvPr/>
        </p:nvSpPr>
        <p:spPr>
          <a:xfrm>
            <a:off x="4803648" y="592531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Benchmark against a zone that already performs, not a target.</a:t>
            </a:r>
            <a:endParaRPr lang="en-US" sz="690" dirty="0"/>
          </a:p>
        </p:txBody>
      </p:sp>
      <p:sp>
        <p:nvSpPr>
          <p:cNvPr id="90" name="Shape 88"/>
          <p:cNvSpPr/>
          <p:nvPr/>
        </p:nvSpPr>
        <p:spPr>
          <a:xfrm>
            <a:off x="4684776" y="6341364"/>
            <a:ext cx="50292" cy="50292"/>
          </a:xfrm>
          <a:prstGeom prst="ellipse">
            <a:avLst/>
          </a:prstGeom>
          <a:solidFill>
            <a:srgbClr val="2B9A66"/>
          </a:solidFill>
          <a:ln/>
        </p:spPr>
      </p:sp>
      <p:sp>
        <p:nvSpPr>
          <p:cNvPr id="91" name="Text 89"/>
          <p:cNvSpPr/>
          <p:nvPr/>
        </p:nvSpPr>
        <p:spPr>
          <a:xfrm>
            <a:off x="4803648" y="629107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State the do-nothing baseline so an action can be killed.</a:t>
            </a:r>
            <a:endParaRPr lang="en-US" sz="690" dirty="0"/>
          </a:p>
        </p:txBody>
      </p:sp>
      <p:sp>
        <p:nvSpPr>
          <p:cNvPr id="92" name="Shape 90"/>
          <p:cNvSpPr/>
          <p:nvPr/>
        </p:nvSpPr>
        <p:spPr>
          <a:xfrm>
            <a:off x="4684776" y="6707124"/>
            <a:ext cx="50292" cy="50292"/>
          </a:xfrm>
          <a:prstGeom prst="ellipse">
            <a:avLst/>
          </a:prstGeom>
          <a:solidFill>
            <a:srgbClr val="2B9A66"/>
          </a:solidFill>
          <a:ln/>
        </p:spPr>
      </p:sp>
      <p:sp>
        <p:nvSpPr>
          <p:cNvPr id="93" name="Text 91"/>
          <p:cNvSpPr/>
          <p:nvPr/>
        </p:nvSpPr>
        <p:spPr>
          <a:xfrm>
            <a:off x="4803648" y="6656832"/>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Annualise only after a controlled pilot.</a:t>
            </a:r>
            <a:endParaRPr lang="en-US" sz="690" dirty="0"/>
          </a:p>
        </p:txBody>
      </p:sp>
      <p:sp>
        <p:nvSpPr>
          <p:cNvPr id="94" name="Shape 92"/>
          <p:cNvSpPr/>
          <p:nvPr/>
        </p:nvSpPr>
        <p:spPr>
          <a:xfrm>
            <a:off x="265176" y="7388352"/>
            <a:ext cx="2017776" cy="2432304"/>
          </a:xfrm>
          <a:prstGeom prst="roundRect">
            <a:avLst>
              <a:gd name="adj" fmla="val 906"/>
            </a:avLst>
          </a:prstGeom>
          <a:solidFill>
            <a:srgbClr val="FFFFFF"/>
          </a:solidFill>
          <a:ln w="9525">
            <a:solidFill>
              <a:srgbClr val="C8DCD7"/>
            </a:solidFill>
            <a:prstDash val="solid"/>
          </a:ln>
        </p:spPr>
      </p:sp>
      <p:sp>
        <p:nvSpPr>
          <p:cNvPr id="95" name="Shape 93"/>
          <p:cNvSpPr/>
          <p:nvPr/>
        </p:nvSpPr>
        <p:spPr>
          <a:xfrm>
            <a:off x="265176" y="7388352"/>
            <a:ext cx="2017776" cy="274320"/>
          </a:xfrm>
          <a:prstGeom prst="rect">
            <a:avLst/>
          </a:prstGeom>
          <a:solidFill>
            <a:srgbClr val="116F68"/>
          </a:solidFill>
          <a:ln/>
        </p:spPr>
      </p:sp>
      <p:sp>
        <p:nvSpPr>
          <p:cNvPr id="96" name="Text 94"/>
          <p:cNvSpPr/>
          <p:nvPr/>
        </p:nvSpPr>
        <p:spPr>
          <a:xfrm>
            <a:off x="347472"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HERO-SKU AVAILABILITY</a:t>
            </a:r>
            <a:endParaRPr lang="en-US" sz="700" dirty="0"/>
          </a:p>
        </p:txBody>
      </p:sp>
      <p:sp>
        <p:nvSpPr>
          <p:cNvPr id="97" name="Text 95"/>
          <p:cNvSpPr/>
          <p:nvPr/>
        </p:nvSpPr>
        <p:spPr>
          <a:xfrm>
            <a:off x="356616"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Must-stock first</a:t>
            </a:r>
            <a:endParaRPr lang="en-US" sz="1150" dirty="0"/>
          </a:p>
        </p:txBody>
      </p:sp>
      <p:sp>
        <p:nvSpPr>
          <p:cNvPr id="98" name="Shape 96"/>
          <p:cNvSpPr/>
          <p:nvPr/>
        </p:nvSpPr>
        <p:spPr>
          <a:xfrm>
            <a:off x="374904" y="8188452"/>
            <a:ext cx="50292" cy="50292"/>
          </a:xfrm>
          <a:prstGeom prst="ellipse">
            <a:avLst/>
          </a:prstGeom>
          <a:solidFill>
            <a:srgbClr val="116F68"/>
          </a:solidFill>
          <a:ln/>
        </p:spPr>
      </p:sp>
      <p:sp>
        <p:nvSpPr>
          <p:cNvPr id="99" name="Text 97"/>
          <p:cNvSpPr/>
          <p:nvPr/>
        </p:nvSpPr>
        <p:spPr>
          <a:xfrm>
            <a:off x="493776"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Measure hero availability %, not SKU count.</a:t>
            </a:r>
            <a:endParaRPr lang="en-US" sz="690" dirty="0"/>
          </a:p>
        </p:txBody>
      </p:sp>
      <p:sp>
        <p:nvSpPr>
          <p:cNvPr id="100" name="Shape 98"/>
          <p:cNvSpPr/>
          <p:nvPr/>
        </p:nvSpPr>
        <p:spPr>
          <a:xfrm>
            <a:off x="374904" y="8554212"/>
            <a:ext cx="50292" cy="50292"/>
          </a:xfrm>
          <a:prstGeom prst="ellipse">
            <a:avLst/>
          </a:prstGeom>
          <a:solidFill>
            <a:srgbClr val="116F68"/>
          </a:solidFill>
          <a:ln/>
        </p:spPr>
      </p:sp>
      <p:sp>
        <p:nvSpPr>
          <p:cNvPr id="101" name="Text 99"/>
          <p:cNvSpPr/>
          <p:nvPr/>
        </p:nvSpPr>
        <p:spPr>
          <a:xfrm>
            <a:off x="493776"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missing #1 hero should fail the assortment score outright.</a:t>
            </a:r>
            <a:endParaRPr lang="en-US" sz="690" dirty="0"/>
          </a:p>
        </p:txBody>
      </p:sp>
      <p:sp>
        <p:nvSpPr>
          <p:cNvPr id="102" name="Shape 100"/>
          <p:cNvSpPr/>
          <p:nvPr/>
        </p:nvSpPr>
        <p:spPr>
          <a:xfrm>
            <a:off x="374904" y="8919972"/>
            <a:ext cx="50292" cy="50292"/>
          </a:xfrm>
          <a:prstGeom prst="ellipse">
            <a:avLst/>
          </a:prstGeom>
          <a:solidFill>
            <a:srgbClr val="116F68"/>
          </a:solidFill>
          <a:ln/>
        </p:spPr>
      </p:sp>
      <p:sp>
        <p:nvSpPr>
          <p:cNvPr id="103" name="Text 101"/>
          <p:cNvSpPr/>
          <p:nvPr/>
        </p:nvSpPr>
        <p:spPr>
          <a:xfrm>
            <a:off x="493776"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Long tail follows proven heroes — never leads them.</a:t>
            </a:r>
            <a:endParaRPr lang="en-US" sz="690" dirty="0"/>
          </a:p>
        </p:txBody>
      </p:sp>
      <p:sp>
        <p:nvSpPr>
          <p:cNvPr id="104" name="Shape 102"/>
          <p:cNvSpPr/>
          <p:nvPr/>
        </p:nvSpPr>
        <p:spPr>
          <a:xfrm>
            <a:off x="374904" y="9285732"/>
            <a:ext cx="50292" cy="50292"/>
          </a:xfrm>
          <a:prstGeom prst="ellipse">
            <a:avLst/>
          </a:prstGeom>
          <a:solidFill>
            <a:srgbClr val="116F68"/>
          </a:solidFill>
          <a:ln/>
        </p:spPr>
      </p:sp>
      <p:sp>
        <p:nvSpPr>
          <p:cNvPr id="105" name="Text 103"/>
          <p:cNvSpPr/>
          <p:nvPr/>
        </p:nvSpPr>
        <p:spPr>
          <a:xfrm>
            <a:off x="493776"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Protect availability before any discounting.</a:t>
            </a:r>
            <a:endParaRPr lang="en-US" sz="690" dirty="0"/>
          </a:p>
        </p:txBody>
      </p:sp>
      <p:sp>
        <p:nvSpPr>
          <p:cNvPr id="106" name="Shape 104"/>
          <p:cNvSpPr/>
          <p:nvPr/>
        </p:nvSpPr>
        <p:spPr>
          <a:xfrm>
            <a:off x="2420112" y="7388352"/>
            <a:ext cx="2017776" cy="2432304"/>
          </a:xfrm>
          <a:prstGeom prst="roundRect">
            <a:avLst>
              <a:gd name="adj" fmla="val 906"/>
            </a:avLst>
          </a:prstGeom>
          <a:solidFill>
            <a:srgbClr val="FFFFFF"/>
          </a:solidFill>
          <a:ln w="9525">
            <a:solidFill>
              <a:srgbClr val="C8DCD7"/>
            </a:solidFill>
            <a:prstDash val="solid"/>
          </a:ln>
        </p:spPr>
      </p:sp>
      <p:sp>
        <p:nvSpPr>
          <p:cNvPr id="107" name="Shape 105"/>
          <p:cNvSpPr/>
          <p:nvPr/>
        </p:nvSpPr>
        <p:spPr>
          <a:xfrm>
            <a:off x="2420112" y="7388352"/>
            <a:ext cx="2017776" cy="274320"/>
          </a:xfrm>
          <a:prstGeom prst="rect">
            <a:avLst/>
          </a:prstGeom>
          <a:solidFill>
            <a:srgbClr val="116F68"/>
          </a:solidFill>
          <a:ln/>
        </p:spPr>
      </p:sp>
      <p:sp>
        <p:nvSpPr>
          <p:cNvPr id="108" name="Text 106"/>
          <p:cNvSpPr/>
          <p:nvPr/>
        </p:nvSpPr>
        <p:spPr>
          <a:xfrm>
            <a:off x="2502408"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ARCHITECTURE</a:t>
            </a:r>
            <a:endParaRPr lang="en-US" sz="700" dirty="0"/>
          </a:p>
        </p:txBody>
      </p:sp>
      <p:sp>
        <p:nvSpPr>
          <p:cNvPr id="109" name="Text 107"/>
          <p:cNvSpPr/>
          <p:nvPr/>
        </p:nvSpPr>
        <p:spPr>
          <a:xfrm>
            <a:off x="2511552" y="7754112"/>
            <a:ext cx="1834896" cy="310896"/>
          </a:xfrm>
          <a:prstGeom prst="rect">
            <a:avLst/>
          </a:prstGeom>
          <a:noFill/>
          <a:ln/>
        </p:spPr>
        <p:txBody>
          <a:bodyPr wrap="square" lIns="0" tIns="0" rIns="0" bIns="0" rtlCol="0" anchor="ctr"/>
          <a:lstStyle/>
          <a:p>
            <a:pPr algn="ctr" indent="0" marL="0">
              <a:buNone/>
            </a:pPr>
            <a:r>
              <a:rPr lang="en-US" sz="1150" b="1" dirty="0">
                <a:solidFill>
                  <a:srgbClr val="116F68"/>
                </a:solidFill>
                <a:latin typeface="Calibri Light" pitchFamily="34" charset="0"/>
                <a:ea typeface="Calibri Light" pitchFamily="34" charset="-122"/>
                <a:cs typeface="Calibri Light" pitchFamily="34" charset="-120"/>
              </a:rPr>
              <a:t>4 pack roles</a:t>
            </a:r>
            <a:endParaRPr lang="en-US" sz="1150" dirty="0"/>
          </a:p>
        </p:txBody>
      </p:sp>
      <p:sp>
        <p:nvSpPr>
          <p:cNvPr id="110" name="Shape 108"/>
          <p:cNvSpPr/>
          <p:nvPr/>
        </p:nvSpPr>
        <p:spPr>
          <a:xfrm>
            <a:off x="2529840" y="8188452"/>
            <a:ext cx="50292" cy="50292"/>
          </a:xfrm>
          <a:prstGeom prst="ellipse">
            <a:avLst/>
          </a:prstGeom>
          <a:solidFill>
            <a:srgbClr val="116F68"/>
          </a:solidFill>
          <a:ln/>
        </p:spPr>
      </p:sp>
      <p:sp>
        <p:nvSpPr>
          <p:cNvPr id="111" name="Text 109"/>
          <p:cNvSpPr/>
          <p:nvPr/>
        </p:nvSpPr>
        <p:spPr>
          <a:xfrm>
            <a:off x="2648712"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Traffic · core-volume · premium upgrade · dead.</a:t>
            </a:r>
            <a:endParaRPr lang="en-US" sz="690" dirty="0"/>
          </a:p>
        </p:txBody>
      </p:sp>
      <p:sp>
        <p:nvSpPr>
          <p:cNvPr id="112" name="Shape 110"/>
          <p:cNvSpPr/>
          <p:nvPr/>
        </p:nvSpPr>
        <p:spPr>
          <a:xfrm>
            <a:off x="2529840" y="8554212"/>
            <a:ext cx="50292" cy="50292"/>
          </a:xfrm>
          <a:prstGeom prst="ellipse">
            <a:avLst/>
          </a:prstGeom>
          <a:solidFill>
            <a:srgbClr val="116F68"/>
          </a:solidFill>
          <a:ln/>
        </p:spPr>
      </p:sp>
      <p:sp>
        <p:nvSpPr>
          <p:cNvPr id="113" name="Text 111"/>
          <p:cNvSpPr/>
          <p:nvPr/>
        </p:nvSpPr>
        <p:spPr>
          <a:xfrm>
            <a:off x="2648712"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Not every format gets every pack.</a:t>
            </a:r>
            <a:endParaRPr lang="en-US" sz="690" dirty="0"/>
          </a:p>
        </p:txBody>
      </p:sp>
      <p:sp>
        <p:nvSpPr>
          <p:cNvPr id="114" name="Shape 112"/>
          <p:cNvSpPr/>
          <p:nvPr/>
        </p:nvSpPr>
        <p:spPr>
          <a:xfrm>
            <a:off x="2529840" y="8919972"/>
            <a:ext cx="50292" cy="50292"/>
          </a:xfrm>
          <a:prstGeom prst="ellipse">
            <a:avLst/>
          </a:prstGeom>
          <a:solidFill>
            <a:srgbClr val="116F68"/>
          </a:solidFill>
          <a:ln/>
        </p:spPr>
      </p:sp>
      <p:sp>
        <p:nvSpPr>
          <p:cNvPr id="115" name="Text 113"/>
          <p:cNvSpPr/>
          <p:nvPr/>
        </p:nvSpPr>
        <p:spPr>
          <a:xfrm>
            <a:off x="2648712"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Retire dead packs before adding new ones.</a:t>
            </a:r>
            <a:endParaRPr lang="en-US" sz="690" dirty="0"/>
          </a:p>
        </p:txBody>
      </p:sp>
      <p:sp>
        <p:nvSpPr>
          <p:cNvPr id="116" name="Shape 114"/>
          <p:cNvSpPr/>
          <p:nvPr/>
        </p:nvSpPr>
        <p:spPr>
          <a:xfrm>
            <a:off x="2529840" y="9285732"/>
            <a:ext cx="50292" cy="50292"/>
          </a:xfrm>
          <a:prstGeom prst="ellipse">
            <a:avLst/>
          </a:prstGeom>
          <a:solidFill>
            <a:srgbClr val="116F68"/>
          </a:solidFill>
          <a:ln/>
        </p:spPr>
      </p:sp>
      <p:sp>
        <p:nvSpPr>
          <p:cNvPr id="117" name="Text 115"/>
          <p:cNvSpPr/>
          <p:nvPr/>
        </p:nvSpPr>
        <p:spPr>
          <a:xfrm>
            <a:off x="2648712"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Judge a pack on sales per store, not listings won.</a:t>
            </a:r>
            <a:endParaRPr lang="en-US" sz="690" dirty="0"/>
          </a:p>
        </p:txBody>
      </p:sp>
      <p:sp>
        <p:nvSpPr>
          <p:cNvPr id="118" name="Shape 116"/>
          <p:cNvSpPr/>
          <p:nvPr/>
        </p:nvSpPr>
        <p:spPr>
          <a:xfrm>
            <a:off x="4575048" y="7388352"/>
            <a:ext cx="2017776" cy="2432304"/>
          </a:xfrm>
          <a:prstGeom prst="roundRect">
            <a:avLst>
              <a:gd name="adj" fmla="val 906"/>
            </a:avLst>
          </a:prstGeom>
          <a:solidFill>
            <a:srgbClr val="FFFFFF"/>
          </a:solidFill>
          <a:ln w="9525">
            <a:solidFill>
              <a:srgbClr val="C8DCD7"/>
            </a:solidFill>
            <a:prstDash val="solid"/>
          </a:ln>
        </p:spPr>
      </p:sp>
      <p:sp>
        <p:nvSpPr>
          <p:cNvPr id="119" name="Shape 117"/>
          <p:cNvSpPr/>
          <p:nvPr/>
        </p:nvSpPr>
        <p:spPr>
          <a:xfrm>
            <a:off x="4575048" y="7388352"/>
            <a:ext cx="2017776" cy="274320"/>
          </a:xfrm>
          <a:prstGeom prst="rect">
            <a:avLst/>
          </a:prstGeom>
          <a:solidFill>
            <a:srgbClr val="5F716E"/>
          </a:solidFill>
          <a:ln/>
        </p:spPr>
      </p:sp>
      <p:sp>
        <p:nvSpPr>
          <p:cNvPr id="120" name="Text 118"/>
          <p:cNvSpPr/>
          <p:nvPr/>
        </p:nvSpPr>
        <p:spPr>
          <a:xfrm>
            <a:off x="4657344" y="7406640"/>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FIELDS STILL MISSING</a:t>
            </a:r>
            <a:endParaRPr lang="en-US" sz="700" dirty="0"/>
          </a:p>
        </p:txBody>
      </p:sp>
      <p:sp>
        <p:nvSpPr>
          <p:cNvPr id="121" name="Text 119"/>
          <p:cNvSpPr/>
          <p:nvPr/>
        </p:nvSpPr>
        <p:spPr>
          <a:xfrm>
            <a:off x="4666488" y="7754112"/>
            <a:ext cx="1834896" cy="310896"/>
          </a:xfrm>
          <a:prstGeom prst="rect">
            <a:avLst/>
          </a:prstGeom>
          <a:noFill/>
          <a:ln/>
        </p:spPr>
        <p:txBody>
          <a:bodyPr wrap="square" lIns="0" tIns="0" rIns="0" bIns="0" rtlCol="0" anchor="ctr"/>
          <a:lstStyle/>
          <a:p>
            <a:pPr algn="ctr" indent="0" marL="0">
              <a:buNone/>
            </a:pPr>
            <a:r>
              <a:rPr lang="en-US" sz="1150" b="1" dirty="0">
                <a:solidFill>
                  <a:srgbClr val="5F716E"/>
                </a:solidFill>
                <a:latin typeface="Calibri Light" pitchFamily="34" charset="0"/>
                <a:ea typeface="Calibri Light" pitchFamily="34" charset="-122"/>
                <a:cs typeface="Calibri Light" pitchFamily="34" charset="-120"/>
              </a:rPr>
              <a:t>Reconcile first</a:t>
            </a:r>
            <a:endParaRPr lang="en-US" sz="1150" dirty="0"/>
          </a:p>
        </p:txBody>
      </p:sp>
      <p:sp>
        <p:nvSpPr>
          <p:cNvPr id="122" name="Shape 120"/>
          <p:cNvSpPr/>
          <p:nvPr/>
        </p:nvSpPr>
        <p:spPr>
          <a:xfrm>
            <a:off x="4684776" y="8188452"/>
            <a:ext cx="50292" cy="50292"/>
          </a:xfrm>
          <a:prstGeom prst="ellipse">
            <a:avLst/>
          </a:prstGeom>
          <a:solidFill>
            <a:srgbClr val="5F716E"/>
          </a:solidFill>
          <a:ln/>
        </p:spPr>
      </p:sp>
      <p:sp>
        <p:nvSpPr>
          <p:cNvPr id="123" name="Text 121"/>
          <p:cNvSpPr/>
          <p:nvPr/>
        </p:nvSpPr>
        <p:spPr>
          <a:xfrm>
            <a:off x="4803648" y="8138160"/>
            <a:ext cx="1679448"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24" name="Shape 122"/>
          <p:cNvSpPr/>
          <p:nvPr/>
        </p:nvSpPr>
        <p:spPr>
          <a:xfrm>
            <a:off x="4684776" y="8554212"/>
            <a:ext cx="50292" cy="50292"/>
          </a:xfrm>
          <a:prstGeom prst="ellipse">
            <a:avLst/>
          </a:prstGeom>
          <a:solidFill>
            <a:srgbClr val="5F716E"/>
          </a:solidFill>
          <a:ln/>
        </p:spPr>
      </p:sp>
      <p:sp>
        <p:nvSpPr>
          <p:cNvPr id="125" name="Text 123"/>
          <p:cNvSpPr/>
          <p:nvPr/>
        </p:nvSpPr>
        <p:spPr>
          <a:xfrm>
            <a:off x="4803648" y="850392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Without them, cause is inferred and not measured.</a:t>
            </a:r>
            <a:endParaRPr lang="en-US" sz="690" dirty="0"/>
          </a:p>
        </p:txBody>
      </p:sp>
      <p:sp>
        <p:nvSpPr>
          <p:cNvPr id="126" name="Shape 124"/>
          <p:cNvSpPr/>
          <p:nvPr/>
        </p:nvSpPr>
        <p:spPr>
          <a:xfrm>
            <a:off x="4684776" y="8919972"/>
            <a:ext cx="50292" cy="50292"/>
          </a:xfrm>
          <a:prstGeom prst="ellipse">
            <a:avLst/>
          </a:prstGeom>
          <a:solidFill>
            <a:srgbClr val="5F716E"/>
          </a:solidFill>
          <a:ln/>
        </p:spPr>
      </p:sp>
      <p:sp>
        <p:nvSpPr>
          <p:cNvPr id="127" name="Text 125"/>
          <p:cNvSpPr/>
          <p:nvPr/>
        </p:nvSpPr>
        <p:spPr>
          <a:xfrm>
            <a:off x="4803648" y="886968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factless store × article × month table supplies the denominator.</a:t>
            </a:r>
            <a:endParaRPr lang="en-US" sz="690" dirty="0"/>
          </a:p>
        </p:txBody>
      </p:sp>
      <p:sp>
        <p:nvSpPr>
          <p:cNvPr id="128" name="Shape 126"/>
          <p:cNvSpPr/>
          <p:nvPr/>
        </p:nvSpPr>
        <p:spPr>
          <a:xfrm>
            <a:off x="4684776" y="9285732"/>
            <a:ext cx="50292" cy="50292"/>
          </a:xfrm>
          <a:prstGeom prst="ellipse">
            <a:avLst/>
          </a:prstGeom>
          <a:solidFill>
            <a:srgbClr val="5F716E"/>
          </a:solidFill>
          <a:ln/>
        </p:spPr>
      </p:sp>
      <p:sp>
        <p:nvSpPr>
          <p:cNvPr id="129" name="Text 127"/>
          <p:cNvSpPr/>
          <p:nvPr/>
        </p:nvSpPr>
        <p:spPr>
          <a:xfrm>
            <a:off x="4803648" y="9235440"/>
            <a:ext cx="1679448"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causal claim until these tie to source.</a:t>
            </a:r>
            <a:endParaRPr lang="en-US" sz="69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The shelf is already wide — Mamaearth is under-earning on it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Nielsen MT | share and weighted distribution, MAT Jun 2026 | pack detail May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Nielsen RMS June 2026 value share · Market_Share_By_PackSize_June26 · share-per-point derived as value share ÷ weighted distribution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FACE WASH</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750" b="1" dirty="0">
                <a:solidFill>
                  <a:srgbClr val="28A596"/>
                </a:solidFill>
                <a:latin typeface="Calibri Light" pitchFamily="34" charset="0"/>
                <a:ea typeface="Calibri Light" pitchFamily="34" charset="-122"/>
                <a:cs typeface="Calibri Light" pitchFamily="34" charset="-120"/>
              </a:rPr>
              <a:t>10.5%</a:t>
            </a:r>
            <a:endParaRPr lang="en-US" sz="17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#4 share · 89.0% WD · SPD #4 of 6</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D6544D"/>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SHAMPOO</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3.7%</a:t>
            </a:r>
            <a:endParaRPr lang="en-US" sz="17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 share · 81.5% WD · SPD #6 of 6</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F2B84B"/>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THE DERMA CO. FW</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0.4%</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27.3% WD — a genuine width gap</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AVAILABLE AT PEER RATE</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+7.9 pts</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both categories, no new doors</a:t>
            </a:r>
            <a:endParaRPr lang="en-US" sz="680" dirty="0"/>
          </a:p>
        </p:txBody>
      </p:sp>
      <p:sp>
        <p:nvSpPr>
          <p:cNvPr id="39" name="Shape 37"/>
          <p:cNvSpPr/>
          <p:nvPr/>
        </p:nvSpPr>
        <p:spPr>
          <a:xfrm>
            <a:off x="265176" y="2231136"/>
            <a:ext cx="6327648" cy="713232"/>
          </a:xfrm>
          <a:prstGeom prst="roundRect">
            <a:avLst>
              <a:gd name="adj" fmla="val 3846"/>
            </a:avLst>
          </a:prstGeom>
          <a:solidFill>
            <a:srgbClr val="DFF2ED"/>
          </a:solidFill>
          <a:ln w="12700">
            <a:solidFill>
              <a:srgbClr val="28A596"/>
            </a:solidFill>
            <a:prstDash val="solid"/>
          </a:ln>
        </p:spPr>
      </p:sp>
      <p:sp>
        <p:nvSpPr>
          <p:cNvPr id="40" name="Text 38"/>
          <p:cNvSpPr/>
          <p:nvPr/>
        </p:nvSpPr>
        <p:spPr>
          <a:xfrm>
            <a:off x="411480" y="2322576"/>
            <a:ext cx="6035040" cy="274320"/>
          </a:xfrm>
          <a:prstGeom prst="rect">
            <a:avLst/>
          </a:prstGeom>
          <a:noFill/>
          <a:ln/>
        </p:spPr>
        <p:txBody>
          <a:bodyPr wrap="square" lIns="0" tIns="0" rIns="0" bIns="0" rtlCol="0" anchor="ctr"/>
          <a:lstStyle/>
          <a:p>
            <a:pPr algn="ctr" indent="0" marL="0">
              <a:buNone/>
            </a:pPr>
            <a:r>
              <a:rPr lang="en-US" sz="1100" b="1" dirty="0">
                <a:solidFill>
                  <a:srgbClr val="116F68"/>
                </a:solidFill>
                <a:latin typeface="Calibri Light" pitchFamily="34" charset="0"/>
                <a:ea typeface="Calibri Light" pitchFamily="34" charset="-122"/>
                <a:cs typeface="Calibri Light" pitchFamily="34" charset="-120"/>
              </a:rPr>
              <a:t>Garnier holds the same shelf we do and earns 3.7 share points more from it</a:t>
            </a:r>
            <a:endParaRPr lang="en-US" sz="1100" dirty="0"/>
          </a:p>
        </p:txBody>
      </p:sp>
      <p:sp>
        <p:nvSpPr>
          <p:cNvPr id="41" name="Text 39"/>
          <p:cNvSpPr/>
          <p:nvPr/>
        </p:nvSpPr>
        <p:spPr>
          <a:xfrm>
            <a:off x="484632" y="2596896"/>
            <a:ext cx="5888736" cy="310896"/>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Garnier 90.3% weighted distribution → 14.2% share.  Mamaearth 89.0% → 10.5%. Distribution is not the constraint in Face Wash, and it is not the constraint in Shampoo either — we hold 81.5% of the shelf and earn the lowest share per point of the top six brands.</a:t>
            </a:r>
            <a:endParaRPr lang="en-US" sz="700" dirty="0"/>
          </a:p>
        </p:txBody>
      </p:sp>
      <p:sp>
        <p:nvSpPr>
          <p:cNvPr id="42" name="Shape 40"/>
          <p:cNvSpPr/>
          <p:nvPr/>
        </p:nvSpPr>
        <p:spPr>
          <a:xfrm>
            <a:off x="265176" y="3090672"/>
            <a:ext cx="6327648" cy="256032"/>
          </a:xfrm>
          <a:prstGeom prst="rect">
            <a:avLst/>
          </a:prstGeom>
          <a:solidFill>
            <a:srgbClr val="116F68"/>
          </a:solidFill>
          <a:ln/>
        </p:spPr>
      </p:sp>
      <p:sp>
        <p:nvSpPr>
          <p:cNvPr id="43" name="Text 41"/>
          <p:cNvSpPr/>
          <p:nvPr/>
        </p:nvSpPr>
        <p:spPr>
          <a:xfrm>
            <a:off x="374904" y="31089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SHARE PER POINT OF DISTRIBUTION — RANKED (MAT JUN 2026)</a:t>
            </a:r>
            <a:endParaRPr lang="en-US" sz="720" dirty="0"/>
          </a:p>
        </p:txBody>
      </p:sp>
      <p:sp>
        <p:nvSpPr>
          <p:cNvPr id="44" name="Text 42"/>
          <p:cNvSpPr/>
          <p:nvPr/>
        </p:nvSpPr>
        <p:spPr>
          <a:xfrm>
            <a:off x="265176" y="34381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Face Wash</a:t>
            </a:r>
            <a:endParaRPr lang="en-US" sz="720" dirty="0"/>
          </a:p>
        </p:txBody>
      </p:sp>
      <p:sp>
        <p:nvSpPr>
          <p:cNvPr id="45" name="Shape 43"/>
          <p:cNvSpPr/>
          <p:nvPr/>
        </p:nvSpPr>
        <p:spPr>
          <a:xfrm>
            <a:off x="265176" y="3621024"/>
            <a:ext cx="3090672" cy="256032"/>
          </a:xfrm>
          <a:prstGeom prst="rect">
            <a:avLst/>
          </a:prstGeom>
          <a:solidFill>
            <a:srgbClr val="116F68"/>
          </a:solidFill>
          <a:ln/>
        </p:spPr>
      </p:sp>
      <p:sp>
        <p:nvSpPr>
          <p:cNvPr id="46" name="Text 44"/>
          <p:cNvSpPr/>
          <p:nvPr/>
        </p:nvSpPr>
        <p:spPr>
          <a:xfrm>
            <a:off x="320040" y="3639312"/>
            <a:ext cx="102100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47" name="Text 45"/>
          <p:cNvSpPr/>
          <p:nvPr/>
        </p:nvSpPr>
        <p:spPr>
          <a:xfrm>
            <a:off x="1450774"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a:t>
            </a:r>
            <a:endParaRPr lang="en-US" sz="660" dirty="0"/>
          </a:p>
        </p:txBody>
      </p:sp>
      <p:sp>
        <p:nvSpPr>
          <p:cNvPr id="48" name="Text 46"/>
          <p:cNvSpPr/>
          <p:nvPr/>
        </p:nvSpPr>
        <p:spPr>
          <a:xfrm>
            <a:off x="1948296" y="3639312"/>
            <a:ext cx="34256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ND</a:t>
            </a:r>
            <a:endParaRPr lang="en-US" sz="660" dirty="0"/>
          </a:p>
        </p:txBody>
      </p:sp>
      <p:sp>
        <p:nvSpPr>
          <p:cNvPr id="49" name="Text 47"/>
          <p:cNvSpPr/>
          <p:nvPr/>
        </p:nvSpPr>
        <p:spPr>
          <a:xfrm>
            <a:off x="2400590"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WD</a:t>
            </a:r>
            <a:endParaRPr lang="en-US" sz="660" dirty="0"/>
          </a:p>
        </p:txBody>
      </p:sp>
      <p:sp>
        <p:nvSpPr>
          <p:cNvPr id="50" name="Text 48"/>
          <p:cNvSpPr/>
          <p:nvPr/>
        </p:nvSpPr>
        <p:spPr>
          <a:xfrm>
            <a:off x="2898113" y="3639312"/>
            <a:ext cx="40287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SPD</a:t>
            </a:r>
            <a:endParaRPr lang="en-US" sz="660" dirty="0"/>
          </a:p>
        </p:txBody>
      </p:sp>
      <p:sp>
        <p:nvSpPr>
          <p:cNvPr id="51" name="Shape 49"/>
          <p:cNvSpPr/>
          <p:nvPr/>
        </p:nvSpPr>
        <p:spPr>
          <a:xfrm>
            <a:off x="265176" y="3877056"/>
            <a:ext cx="3090672" cy="237744"/>
          </a:xfrm>
          <a:prstGeom prst="rect">
            <a:avLst/>
          </a:prstGeom>
          <a:solidFill>
            <a:srgbClr val="F4F9F8"/>
          </a:solidFill>
          <a:ln/>
        </p:spPr>
      </p:sp>
      <p:sp>
        <p:nvSpPr>
          <p:cNvPr id="52" name="Shape 50"/>
          <p:cNvSpPr/>
          <p:nvPr/>
        </p:nvSpPr>
        <p:spPr>
          <a:xfrm>
            <a:off x="265176" y="4114800"/>
            <a:ext cx="3090672" cy="0"/>
          </a:xfrm>
          <a:prstGeom prst="line">
            <a:avLst/>
          </a:prstGeom>
          <a:noFill/>
          <a:ln w="6350">
            <a:solidFill>
              <a:srgbClr val="C8DCD7"/>
            </a:solidFill>
            <a:prstDash val="solid"/>
          </a:ln>
        </p:spPr>
      </p:sp>
      <p:sp>
        <p:nvSpPr>
          <p:cNvPr id="53" name="Text 51"/>
          <p:cNvSpPr/>
          <p:nvPr/>
        </p:nvSpPr>
        <p:spPr>
          <a:xfrm>
            <a:off x="320040" y="3877056"/>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Himalaya</a:t>
            </a:r>
            <a:endParaRPr lang="en-US" sz="700" dirty="0"/>
          </a:p>
        </p:txBody>
      </p:sp>
      <p:sp>
        <p:nvSpPr>
          <p:cNvPr id="54" name="Text 52"/>
          <p:cNvSpPr/>
          <p:nvPr/>
        </p:nvSpPr>
        <p:spPr>
          <a:xfrm>
            <a:off x="1450774"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22.6%</a:t>
            </a:r>
            <a:endParaRPr lang="en-US" sz="700" dirty="0"/>
          </a:p>
        </p:txBody>
      </p:sp>
      <p:sp>
        <p:nvSpPr>
          <p:cNvPr id="55" name="Text 53"/>
          <p:cNvSpPr/>
          <p:nvPr/>
        </p:nvSpPr>
        <p:spPr>
          <a:xfrm>
            <a:off x="1948296" y="387705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56" name="Text 54"/>
          <p:cNvSpPr/>
          <p:nvPr/>
        </p:nvSpPr>
        <p:spPr>
          <a:xfrm>
            <a:off x="2400590"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99.8%</a:t>
            </a:r>
            <a:endParaRPr lang="en-US" sz="700" dirty="0"/>
          </a:p>
        </p:txBody>
      </p:sp>
      <p:sp>
        <p:nvSpPr>
          <p:cNvPr id="57" name="Text 55"/>
          <p:cNvSpPr/>
          <p:nvPr/>
        </p:nvSpPr>
        <p:spPr>
          <a:xfrm>
            <a:off x="2898113" y="3877056"/>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0.226</a:t>
            </a:r>
            <a:endParaRPr lang="en-US" sz="700" dirty="0"/>
          </a:p>
        </p:txBody>
      </p:sp>
      <p:sp>
        <p:nvSpPr>
          <p:cNvPr id="58" name="Shape 56"/>
          <p:cNvSpPr/>
          <p:nvPr/>
        </p:nvSpPr>
        <p:spPr>
          <a:xfrm>
            <a:off x="265176" y="4352544"/>
            <a:ext cx="3090672" cy="0"/>
          </a:xfrm>
          <a:prstGeom prst="line">
            <a:avLst/>
          </a:prstGeom>
          <a:noFill/>
          <a:ln w="6350">
            <a:solidFill>
              <a:srgbClr val="C8DCD7"/>
            </a:solidFill>
            <a:prstDash val="solid"/>
          </a:ln>
        </p:spPr>
      </p:sp>
      <p:sp>
        <p:nvSpPr>
          <p:cNvPr id="59" name="Text 57"/>
          <p:cNvSpPr/>
          <p:nvPr/>
        </p:nvSpPr>
        <p:spPr>
          <a:xfrm>
            <a:off x="320040" y="4114800"/>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Garnier</a:t>
            </a:r>
            <a:endParaRPr lang="en-US" sz="700" dirty="0"/>
          </a:p>
        </p:txBody>
      </p:sp>
      <p:sp>
        <p:nvSpPr>
          <p:cNvPr id="60" name="Text 58"/>
          <p:cNvSpPr/>
          <p:nvPr/>
        </p:nvSpPr>
        <p:spPr>
          <a:xfrm>
            <a:off x="1450774"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14.2%</a:t>
            </a:r>
            <a:endParaRPr lang="en-US" sz="700" dirty="0"/>
          </a:p>
        </p:txBody>
      </p:sp>
      <p:sp>
        <p:nvSpPr>
          <p:cNvPr id="61" name="Text 59"/>
          <p:cNvSpPr/>
          <p:nvPr/>
        </p:nvSpPr>
        <p:spPr>
          <a:xfrm>
            <a:off x="1948296" y="4114800"/>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62" name="Text 60"/>
          <p:cNvSpPr/>
          <p:nvPr/>
        </p:nvSpPr>
        <p:spPr>
          <a:xfrm>
            <a:off x="2400590"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90.3%</a:t>
            </a:r>
            <a:endParaRPr lang="en-US" sz="700" dirty="0"/>
          </a:p>
        </p:txBody>
      </p:sp>
      <p:sp>
        <p:nvSpPr>
          <p:cNvPr id="63" name="Text 61"/>
          <p:cNvSpPr/>
          <p:nvPr/>
        </p:nvSpPr>
        <p:spPr>
          <a:xfrm>
            <a:off x="2898113" y="4114800"/>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0.157</a:t>
            </a:r>
            <a:endParaRPr lang="en-US" sz="700" dirty="0"/>
          </a:p>
        </p:txBody>
      </p:sp>
      <p:sp>
        <p:nvSpPr>
          <p:cNvPr id="64" name="Shape 62"/>
          <p:cNvSpPr/>
          <p:nvPr/>
        </p:nvSpPr>
        <p:spPr>
          <a:xfrm>
            <a:off x="265176" y="4352544"/>
            <a:ext cx="3090672" cy="237744"/>
          </a:xfrm>
          <a:prstGeom prst="rect">
            <a:avLst/>
          </a:prstGeom>
          <a:solidFill>
            <a:srgbClr val="F4F9F8"/>
          </a:solidFill>
          <a:ln/>
        </p:spPr>
      </p:sp>
      <p:sp>
        <p:nvSpPr>
          <p:cNvPr id="65" name="Shape 63"/>
          <p:cNvSpPr/>
          <p:nvPr/>
        </p:nvSpPr>
        <p:spPr>
          <a:xfrm>
            <a:off x="265176" y="4590288"/>
            <a:ext cx="3090672" cy="0"/>
          </a:xfrm>
          <a:prstGeom prst="line">
            <a:avLst/>
          </a:prstGeom>
          <a:noFill/>
          <a:ln w="6350">
            <a:solidFill>
              <a:srgbClr val="C8DCD7"/>
            </a:solidFill>
            <a:prstDash val="solid"/>
          </a:ln>
        </p:spPr>
      </p:sp>
      <p:sp>
        <p:nvSpPr>
          <p:cNvPr id="66" name="Text 64"/>
          <p:cNvSpPr/>
          <p:nvPr/>
        </p:nvSpPr>
        <p:spPr>
          <a:xfrm>
            <a:off x="320040" y="4352544"/>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Pond's</a:t>
            </a:r>
            <a:endParaRPr lang="en-US" sz="700" dirty="0"/>
          </a:p>
        </p:txBody>
      </p:sp>
      <p:sp>
        <p:nvSpPr>
          <p:cNvPr id="67" name="Text 65"/>
          <p:cNvSpPr/>
          <p:nvPr/>
        </p:nvSpPr>
        <p:spPr>
          <a:xfrm>
            <a:off x="1450774"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13.8%</a:t>
            </a:r>
            <a:endParaRPr lang="en-US" sz="700" dirty="0"/>
          </a:p>
        </p:txBody>
      </p:sp>
      <p:sp>
        <p:nvSpPr>
          <p:cNvPr id="68" name="Text 66"/>
          <p:cNvSpPr/>
          <p:nvPr/>
        </p:nvSpPr>
        <p:spPr>
          <a:xfrm>
            <a:off x="1948296" y="4352544"/>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69" name="Text 67"/>
          <p:cNvSpPr/>
          <p:nvPr/>
        </p:nvSpPr>
        <p:spPr>
          <a:xfrm>
            <a:off x="2400590"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98.8%</a:t>
            </a:r>
            <a:endParaRPr lang="en-US" sz="700" dirty="0"/>
          </a:p>
        </p:txBody>
      </p:sp>
      <p:sp>
        <p:nvSpPr>
          <p:cNvPr id="70" name="Text 68"/>
          <p:cNvSpPr/>
          <p:nvPr/>
        </p:nvSpPr>
        <p:spPr>
          <a:xfrm>
            <a:off x="2898113" y="4352544"/>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0.140</a:t>
            </a:r>
            <a:endParaRPr lang="en-US" sz="700" dirty="0"/>
          </a:p>
        </p:txBody>
      </p:sp>
      <p:sp>
        <p:nvSpPr>
          <p:cNvPr id="71" name="Shape 69"/>
          <p:cNvSpPr/>
          <p:nvPr/>
        </p:nvSpPr>
        <p:spPr>
          <a:xfrm>
            <a:off x="265176" y="4828032"/>
            <a:ext cx="3090672" cy="0"/>
          </a:xfrm>
          <a:prstGeom prst="line">
            <a:avLst/>
          </a:prstGeom>
          <a:noFill/>
          <a:ln w="6350">
            <a:solidFill>
              <a:srgbClr val="C8DCD7"/>
            </a:solidFill>
            <a:prstDash val="solid"/>
          </a:ln>
        </p:spPr>
      </p:sp>
      <p:sp>
        <p:nvSpPr>
          <p:cNvPr id="72" name="Text 70"/>
          <p:cNvSpPr/>
          <p:nvPr/>
        </p:nvSpPr>
        <p:spPr>
          <a:xfrm>
            <a:off x="320040" y="4590288"/>
            <a:ext cx="1021006"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73" name="Text 71"/>
          <p:cNvSpPr/>
          <p:nvPr/>
        </p:nvSpPr>
        <p:spPr>
          <a:xfrm>
            <a:off x="1450774" y="4590288"/>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10.5%</a:t>
            </a:r>
            <a:endParaRPr lang="en-US" sz="700" dirty="0"/>
          </a:p>
        </p:txBody>
      </p:sp>
      <p:sp>
        <p:nvSpPr>
          <p:cNvPr id="74" name="Text 72"/>
          <p:cNvSpPr/>
          <p:nvPr/>
        </p:nvSpPr>
        <p:spPr>
          <a:xfrm>
            <a:off x="1948296" y="4590288"/>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75" name="Text 73"/>
          <p:cNvSpPr/>
          <p:nvPr/>
        </p:nvSpPr>
        <p:spPr>
          <a:xfrm>
            <a:off x="2400590" y="4590288"/>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89.0%</a:t>
            </a:r>
            <a:endParaRPr lang="en-US" sz="700" dirty="0"/>
          </a:p>
        </p:txBody>
      </p:sp>
      <p:sp>
        <p:nvSpPr>
          <p:cNvPr id="76" name="Text 74"/>
          <p:cNvSpPr/>
          <p:nvPr/>
        </p:nvSpPr>
        <p:spPr>
          <a:xfrm>
            <a:off x="2898113" y="4590288"/>
            <a:ext cx="402871" cy="237744"/>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0.118</a:t>
            </a:r>
            <a:endParaRPr lang="en-US" sz="700" dirty="0"/>
          </a:p>
        </p:txBody>
      </p:sp>
      <p:sp>
        <p:nvSpPr>
          <p:cNvPr id="77" name="Shape 75"/>
          <p:cNvSpPr/>
          <p:nvPr/>
        </p:nvSpPr>
        <p:spPr>
          <a:xfrm>
            <a:off x="265176" y="4828032"/>
            <a:ext cx="3090672" cy="237744"/>
          </a:xfrm>
          <a:prstGeom prst="rect">
            <a:avLst/>
          </a:prstGeom>
          <a:solidFill>
            <a:srgbClr val="F4F9F8"/>
          </a:solidFill>
          <a:ln/>
        </p:spPr>
      </p:sp>
      <p:sp>
        <p:nvSpPr>
          <p:cNvPr id="78" name="Shape 76"/>
          <p:cNvSpPr/>
          <p:nvPr/>
        </p:nvSpPr>
        <p:spPr>
          <a:xfrm>
            <a:off x="265176" y="5065776"/>
            <a:ext cx="3090672" cy="0"/>
          </a:xfrm>
          <a:prstGeom prst="line">
            <a:avLst/>
          </a:prstGeom>
          <a:noFill/>
          <a:ln w="6350">
            <a:solidFill>
              <a:srgbClr val="C8DCD7"/>
            </a:solidFill>
            <a:prstDash val="solid"/>
          </a:ln>
        </p:spPr>
      </p:sp>
      <p:sp>
        <p:nvSpPr>
          <p:cNvPr id="79" name="Text 77"/>
          <p:cNvSpPr/>
          <p:nvPr/>
        </p:nvSpPr>
        <p:spPr>
          <a:xfrm>
            <a:off x="320040" y="4828032"/>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Clean &amp; Clear</a:t>
            </a:r>
            <a:endParaRPr lang="en-US" sz="700" dirty="0"/>
          </a:p>
        </p:txBody>
      </p:sp>
      <p:sp>
        <p:nvSpPr>
          <p:cNvPr id="80" name="Text 78"/>
          <p:cNvSpPr/>
          <p:nvPr/>
        </p:nvSpPr>
        <p:spPr>
          <a:xfrm>
            <a:off x="1450774"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7.5%</a:t>
            </a:r>
            <a:endParaRPr lang="en-US" sz="700" dirty="0"/>
          </a:p>
        </p:txBody>
      </p:sp>
      <p:sp>
        <p:nvSpPr>
          <p:cNvPr id="81" name="Text 79"/>
          <p:cNvSpPr/>
          <p:nvPr/>
        </p:nvSpPr>
        <p:spPr>
          <a:xfrm>
            <a:off x="1948296" y="4828032"/>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82" name="Text 80"/>
          <p:cNvSpPr/>
          <p:nvPr/>
        </p:nvSpPr>
        <p:spPr>
          <a:xfrm>
            <a:off x="2400590"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98.3%</a:t>
            </a:r>
            <a:endParaRPr lang="en-US" sz="700" dirty="0"/>
          </a:p>
        </p:txBody>
      </p:sp>
      <p:sp>
        <p:nvSpPr>
          <p:cNvPr id="83" name="Text 81"/>
          <p:cNvSpPr/>
          <p:nvPr/>
        </p:nvSpPr>
        <p:spPr>
          <a:xfrm>
            <a:off x="2898113" y="4828032"/>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0.076</a:t>
            </a:r>
            <a:endParaRPr lang="en-US" sz="700" dirty="0"/>
          </a:p>
        </p:txBody>
      </p:sp>
      <p:sp>
        <p:nvSpPr>
          <p:cNvPr id="84" name="Shape 82"/>
          <p:cNvSpPr/>
          <p:nvPr/>
        </p:nvSpPr>
        <p:spPr>
          <a:xfrm>
            <a:off x="265176" y="5303520"/>
            <a:ext cx="3090672" cy="0"/>
          </a:xfrm>
          <a:prstGeom prst="line">
            <a:avLst/>
          </a:prstGeom>
          <a:noFill/>
          <a:ln w="6350">
            <a:solidFill>
              <a:srgbClr val="C8DCD7"/>
            </a:solidFill>
            <a:prstDash val="solid"/>
          </a:ln>
        </p:spPr>
      </p:sp>
      <p:sp>
        <p:nvSpPr>
          <p:cNvPr id="85" name="Text 83"/>
          <p:cNvSpPr/>
          <p:nvPr/>
        </p:nvSpPr>
        <p:spPr>
          <a:xfrm>
            <a:off x="320040" y="5065776"/>
            <a:ext cx="1021006" cy="237744"/>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The Derma Co.</a:t>
            </a:r>
            <a:endParaRPr lang="en-US" sz="700" dirty="0"/>
          </a:p>
        </p:txBody>
      </p:sp>
      <p:sp>
        <p:nvSpPr>
          <p:cNvPr id="86" name="Text 84"/>
          <p:cNvSpPr/>
          <p:nvPr/>
        </p:nvSpPr>
        <p:spPr>
          <a:xfrm>
            <a:off x="1450774" y="5065776"/>
            <a:ext cx="38779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0.4%</a:t>
            </a:r>
            <a:endParaRPr lang="en-US" sz="700" dirty="0"/>
          </a:p>
        </p:txBody>
      </p:sp>
      <p:sp>
        <p:nvSpPr>
          <p:cNvPr id="87" name="Text 85"/>
          <p:cNvSpPr/>
          <p:nvPr/>
        </p:nvSpPr>
        <p:spPr>
          <a:xfrm>
            <a:off x="1948296" y="506577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88" name="Text 86"/>
          <p:cNvSpPr/>
          <p:nvPr/>
        </p:nvSpPr>
        <p:spPr>
          <a:xfrm>
            <a:off x="2400590" y="5065776"/>
            <a:ext cx="38779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27.3%</a:t>
            </a:r>
            <a:endParaRPr lang="en-US" sz="700" dirty="0"/>
          </a:p>
        </p:txBody>
      </p:sp>
      <p:sp>
        <p:nvSpPr>
          <p:cNvPr id="89" name="Text 87"/>
          <p:cNvSpPr/>
          <p:nvPr/>
        </p:nvSpPr>
        <p:spPr>
          <a:xfrm>
            <a:off x="2898113" y="5065776"/>
            <a:ext cx="402871" cy="237744"/>
          </a:xfrm>
          <a:prstGeom prst="rect">
            <a:avLst/>
          </a:prstGeom>
          <a:noFill/>
          <a:ln/>
        </p:spPr>
        <p:txBody>
          <a:bodyPr wrap="square" lIns="0" tIns="0" rIns="0" bIns="0" rtlCol="0" anchor="ctr"/>
          <a:lstStyle/>
          <a:p>
            <a:pPr algn="r" indent="0" marL="0">
              <a:buNone/>
            </a:pPr>
            <a:r>
              <a:rPr lang="en-US" sz="700" b="1" dirty="0">
                <a:solidFill>
                  <a:srgbClr val="5F716E"/>
                </a:solidFill>
                <a:latin typeface="Calibri" pitchFamily="34" charset="0"/>
                <a:ea typeface="Calibri" pitchFamily="34" charset="-122"/>
                <a:cs typeface="Calibri" pitchFamily="34" charset="-120"/>
              </a:rPr>
              <a:t>0.015</a:t>
            </a:r>
            <a:endParaRPr lang="en-US" sz="700" dirty="0"/>
          </a:p>
        </p:txBody>
      </p:sp>
      <p:sp>
        <p:nvSpPr>
          <p:cNvPr id="90" name="Text 88"/>
          <p:cNvSpPr/>
          <p:nvPr/>
        </p:nvSpPr>
        <p:spPr>
          <a:xfrm>
            <a:off x="3502152" y="34381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Shampoo</a:t>
            </a:r>
            <a:endParaRPr lang="en-US" sz="720" dirty="0"/>
          </a:p>
        </p:txBody>
      </p:sp>
      <p:sp>
        <p:nvSpPr>
          <p:cNvPr id="91" name="Shape 89"/>
          <p:cNvSpPr/>
          <p:nvPr/>
        </p:nvSpPr>
        <p:spPr>
          <a:xfrm>
            <a:off x="3502152" y="3621024"/>
            <a:ext cx="3090672" cy="256032"/>
          </a:xfrm>
          <a:prstGeom prst="rect">
            <a:avLst/>
          </a:prstGeom>
          <a:solidFill>
            <a:srgbClr val="116F68"/>
          </a:solidFill>
          <a:ln/>
        </p:spPr>
      </p:sp>
      <p:sp>
        <p:nvSpPr>
          <p:cNvPr id="92" name="Text 90"/>
          <p:cNvSpPr/>
          <p:nvPr/>
        </p:nvSpPr>
        <p:spPr>
          <a:xfrm>
            <a:off x="3557016" y="3639312"/>
            <a:ext cx="102100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93" name="Text 91"/>
          <p:cNvSpPr/>
          <p:nvPr/>
        </p:nvSpPr>
        <p:spPr>
          <a:xfrm>
            <a:off x="4687750"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a:t>
            </a:r>
            <a:endParaRPr lang="en-US" sz="660" dirty="0"/>
          </a:p>
        </p:txBody>
      </p:sp>
      <p:sp>
        <p:nvSpPr>
          <p:cNvPr id="94" name="Text 92"/>
          <p:cNvSpPr/>
          <p:nvPr/>
        </p:nvSpPr>
        <p:spPr>
          <a:xfrm>
            <a:off x="5185272" y="3639312"/>
            <a:ext cx="34256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ND</a:t>
            </a:r>
            <a:endParaRPr lang="en-US" sz="660" dirty="0"/>
          </a:p>
        </p:txBody>
      </p:sp>
      <p:sp>
        <p:nvSpPr>
          <p:cNvPr id="95" name="Text 93"/>
          <p:cNvSpPr/>
          <p:nvPr/>
        </p:nvSpPr>
        <p:spPr>
          <a:xfrm>
            <a:off x="5637566" y="3639312"/>
            <a:ext cx="3877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WD</a:t>
            </a:r>
            <a:endParaRPr lang="en-US" sz="660" dirty="0"/>
          </a:p>
        </p:txBody>
      </p:sp>
      <p:sp>
        <p:nvSpPr>
          <p:cNvPr id="96" name="Text 94"/>
          <p:cNvSpPr/>
          <p:nvPr/>
        </p:nvSpPr>
        <p:spPr>
          <a:xfrm>
            <a:off x="6135089" y="3639312"/>
            <a:ext cx="40287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SPD</a:t>
            </a:r>
            <a:endParaRPr lang="en-US" sz="660" dirty="0"/>
          </a:p>
        </p:txBody>
      </p:sp>
      <p:sp>
        <p:nvSpPr>
          <p:cNvPr id="97" name="Shape 95"/>
          <p:cNvSpPr/>
          <p:nvPr/>
        </p:nvSpPr>
        <p:spPr>
          <a:xfrm>
            <a:off x="3502152" y="3877056"/>
            <a:ext cx="3090672" cy="237744"/>
          </a:xfrm>
          <a:prstGeom prst="rect">
            <a:avLst/>
          </a:prstGeom>
          <a:solidFill>
            <a:srgbClr val="F4F9F8"/>
          </a:solidFill>
          <a:ln/>
        </p:spPr>
      </p:sp>
      <p:sp>
        <p:nvSpPr>
          <p:cNvPr id="98" name="Shape 96"/>
          <p:cNvSpPr/>
          <p:nvPr/>
        </p:nvSpPr>
        <p:spPr>
          <a:xfrm>
            <a:off x="3502152" y="4114800"/>
            <a:ext cx="3090672" cy="0"/>
          </a:xfrm>
          <a:prstGeom prst="line">
            <a:avLst/>
          </a:prstGeom>
          <a:noFill/>
          <a:ln w="6350">
            <a:solidFill>
              <a:srgbClr val="C8DCD7"/>
            </a:solidFill>
            <a:prstDash val="solid"/>
          </a:ln>
        </p:spPr>
      </p:sp>
      <p:sp>
        <p:nvSpPr>
          <p:cNvPr id="99" name="Text 97"/>
          <p:cNvSpPr/>
          <p:nvPr/>
        </p:nvSpPr>
        <p:spPr>
          <a:xfrm>
            <a:off x="3557016" y="3877056"/>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Dove</a:t>
            </a:r>
            <a:endParaRPr lang="en-US" sz="700" dirty="0"/>
          </a:p>
        </p:txBody>
      </p:sp>
      <p:sp>
        <p:nvSpPr>
          <p:cNvPr id="100" name="Text 98"/>
          <p:cNvSpPr/>
          <p:nvPr/>
        </p:nvSpPr>
        <p:spPr>
          <a:xfrm>
            <a:off x="4687750"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16.6%</a:t>
            </a:r>
            <a:endParaRPr lang="en-US" sz="700" dirty="0"/>
          </a:p>
        </p:txBody>
      </p:sp>
      <p:sp>
        <p:nvSpPr>
          <p:cNvPr id="101" name="Text 99"/>
          <p:cNvSpPr/>
          <p:nvPr/>
        </p:nvSpPr>
        <p:spPr>
          <a:xfrm>
            <a:off x="5185272" y="387705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02" name="Text 100"/>
          <p:cNvSpPr/>
          <p:nvPr/>
        </p:nvSpPr>
        <p:spPr>
          <a:xfrm>
            <a:off x="5637566" y="3877056"/>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99.7%</a:t>
            </a:r>
            <a:endParaRPr lang="en-US" sz="700" dirty="0"/>
          </a:p>
        </p:txBody>
      </p:sp>
      <p:sp>
        <p:nvSpPr>
          <p:cNvPr id="103" name="Text 101"/>
          <p:cNvSpPr/>
          <p:nvPr/>
        </p:nvSpPr>
        <p:spPr>
          <a:xfrm>
            <a:off x="6135089" y="3877056"/>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0.166</a:t>
            </a:r>
            <a:endParaRPr lang="en-US" sz="700" dirty="0"/>
          </a:p>
        </p:txBody>
      </p:sp>
      <p:sp>
        <p:nvSpPr>
          <p:cNvPr id="104" name="Shape 102"/>
          <p:cNvSpPr/>
          <p:nvPr/>
        </p:nvSpPr>
        <p:spPr>
          <a:xfrm>
            <a:off x="3502152" y="4352544"/>
            <a:ext cx="3090672" cy="0"/>
          </a:xfrm>
          <a:prstGeom prst="line">
            <a:avLst/>
          </a:prstGeom>
          <a:noFill/>
          <a:ln w="6350">
            <a:solidFill>
              <a:srgbClr val="C8DCD7"/>
            </a:solidFill>
            <a:prstDash val="solid"/>
          </a:ln>
        </p:spPr>
      </p:sp>
      <p:sp>
        <p:nvSpPr>
          <p:cNvPr id="105" name="Text 103"/>
          <p:cNvSpPr/>
          <p:nvPr/>
        </p:nvSpPr>
        <p:spPr>
          <a:xfrm>
            <a:off x="3557016" y="4114800"/>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L'Oréal Paris</a:t>
            </a:r>
            <a:endParaRPr lang="en-US" sz="700" dirty="0"/>
          </a:p>
        </p:txBody>
      </p:sp>
      <p:sp>
        <p:nvSpPr>
          <p:cNvPr id="106" name="Text 104"/>
          <p:cNvSpPr/>
          <p:nvPr/>
        </p:nvSpPr>
        <p:spPr>
          <a:xfrm>
            <a:off x="4687750"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12.8%</a:t>
            </a:r>
            <a:endParaRPr lang="en-US" sz="700" dirty="0"/>
          </a:p>
        </p:txBody>
      </p:sp>
      <p:sp>
        <p:nvSpPr>
          <p:cNvPr id="107" name="Text 105"/>
          <p:cNvSpPr/>
          <p:nvPr/>
        </p:nvSpPr>
        <p:spPr>
          <a:xfrm>
            <a:off x="5185272" y="4114800"/>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08" name="Text 106"/>
          <p:cNvSpPr/>
          <p:nvPr/>
        </p:nvSpPr>
        <p:spPr>
          <a:xfrm>
            <a:off x="5637566" y="4114800"/>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91.6%</a:t>
            </a:r>
            <a:endParaRPr lang="en-US" sz="700" dirty="0"/>
          </a:p>
        </p:txBody>
      </p:sp>
      <p:sp>
        <p:nvSpPr>
          <p:cNvPr id="109" name="Text 107"/>
          <p:cNvSpPr/>
          <p:nvPr/>
        </p:nvSpPr>
        <p:spPr>
          <a:xfrm>
            <a:off x="6135089" y="4114800"/>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0.140</a:t>
            </a:r>
            <a:endParaRPr lang="en-US" sz="700" dirty="0"/>
          </a:p>
        </p:txBody>
      </p:sp>
      <p:sp>
        <p:nvSpPr>
          <p:cNvPr id="110" name="Shape 108"/>
          <p:cNvSpPr/>
          <p:nvPr/>
        </p:nvSpPr>
        <p:spPr>
          <a:xfrm>
            <a:off x="3502152" y="4352544"/>
            <a:ext cx="3090672" cy="237744"/>
          </a:xfrm>
          <a:prstGeom prst="rect">
            <a:avLst/>
          </a:prstGeom>
          <a:solidFill>
            <a:srgbClr val="F4F9F8"/>
          </a:solidFill>
          <a:ln/>
        </p:spPr>
      </p:sp>
      <p:sp>
        <p:nvSpPr>
          <p:cNvPr id="111" name="Shape 109"/>
          <p:cNvSpPr/>
          <p:nvPr/>
        </p:nvSpPr>
        <p:spPr>
          <a:xfrm>
            <a:off x="3502152" y="4590288"/>
            <a:ext cx="3090672" cy="0"/>
          </a:xfrm>
          <a:prstGeom prst="line">
            <a:avLst/>
          </a:prstGeom>
          <a:noFill/>
          <a:ln w="6350">
            <a:solidFill>
              <a:srgbClr val="C8DCD7"/>
            </a:solidFill>
            <a:prstDash val="solid"/>
          </a:ln>
        </p:spPr>
      </p:sp>
      <p:sp>
        <p:nvSpPr>
          <p:cNvPr id="112" name="Text 110"/>
          <p:cNvSpPr/>
          <p:nvPr/>
        </p:nvSpPr>
        <p:spPr>
          <a:xfrm>
            <a:off x="3557016" y="4352544"/>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Head &amp; Shoulders</a:t>
            </a:r>
            <a:endParaRPr lang="en-US" sz="700" dirty="0"/>
          </a:p>
        </p:txBody>
      </p:sp>
      <p:sp>
        <p:nvSpPr>
          <p:cNvPr id="113" name="Text 111"/>
          <p:cNvSpPr/>
          <p:nvPr/>
        </p:nvSpPr>
        <p:spPr>
          <a:xfrm>
            <a:off x="4687750"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13.0%</a:t>
            </a:r>
            <a:endParaRPr lang="en-US" sz="700" dirty="0"/>
          </a:p>
        </p:txBody>
      </p:sp>
      <p:sp>
        <p:nvSpPr>
          <p:cNvPr id="114" name="Text 112"/>
          <p:cNvSpPr/>
          <p:nvPr/>
        </p:nvSpPr>
        <p:spPr>
          <a:xfrm>
            <a:off x="5185272" y="4352544"/>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15" name="Text 113"/>
          <p:cNvSpPr/>
          <p:nvPr/>
        </p:nvSpPr>
        <p:spPr>
          <a:xfrm>
            <a:off x="5637566" y="4352544"/>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99.6%</a:t>
            </a:r>
            <a:endParaRPr lang="en-US" sz="700" dirty="0"/>
          </a:p>
        </p:txBody>
      </p:sp>
      <p:sp>
        <p:nvSpPr>
          <p:cNvPr id="116" name="Text 114"/>
          <p:cNvSpPr/>
          <p:nvPr/>
        </p:nvSpPr>
        <p:spPr>
          <a:xfrm>
            <a:off x="6135089" y="4352544"/>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0.131</a:t>
            </a:r>
            <a:endParaRPr lang="en-US" sz="700" dirty="0"/>
          </a:p>
        </p:txBody>
      </p:sp>
      <p:sp>
        <p:nvSpPr>
          <p:cNvPr id="117" name="Shape 115"/>
          <p:cNvSpPr/>
          <p:nvPr/>
        </p:nvSpPr>
        <p:spPr>
          <a:xfrm>
            <a:off x="3502152" y="4828032"/>
            <a:ext cx="3090672" cy="0"/>
          </a:xfrm>
          <a:prstGeom prst="line">
            <a:avLst/>
          </a:prstGeom>
          <a:noFill/>
          <a:ln w="6350">
            <a:solidFill>
              <a:srgbClr val="C8DCD7"/>
            </a:solidFill>
            <a:prstDash val="solid"/>
          </a:ln>
        </p:spPr>
      </p:sp>
      <p:sp>
        <p:nvSpPr>
          <p:cNvPr id="118" name="Text 116"/>
          <p:cNvSpPr/>
          <p:nvPr/>
        </p:nvSpPr>
        <p:spPr>
          <a:xfrm>
            <a:off x="3557016" y="4590288"/>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Sunsilk</a:t>
            </a:r>
            <a:endParaRPr lang="en-US" sz="700" dirty="0"/>
          </a:p>
        </p:txBody>
      </p:sp>
      <p:sp>
        <p:nvSpPr>
          <p:cNvPr id="119" name="Text 117"/>
          <p:cNvSpPr/>
          <p:nvPr/>
        </p:nvSpPr>
        <p:spPr>
          <a:xfrm>
            <a:off x="4687750" y="4590288"/>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9.6%</a:t>
            </a:r>
            <a:endParaRPr lang="en-US" sz="700" dirty="0"/>
          </a:p>
        </p:txBody>
      </p:sp>
      <p:sp>
        <p:nvSpPr>
          <p:cNvPr id="120" name="Text 118"/>
          <p:cNvSpPr/>
          <p:nvPr/>
        </p:nvSpPr>
        <p:spPr>
          <a:xfrm>
            <a:off x="5185272" y="4590288"/>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21" name="Text 119"/>
          <p:cNvSpPr/>
          <p:nvPr/>
        </p:nvSpPr>
        <p:spPr>
          <a:xfrm>
            <a:off x="5637566" y="4590288"/>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99.4%</a:t>
            </a:r>
            <a:endParaRPr lang="en-US" sz="700" dirty="0"/>
          </a:p>
        </p:txBody>
      </p:sp>
      <p:sp>
        <p:nvSpPr>
          <p:cNvPr id="122" name="Text 120"/>
          <p:cNvSpPr/>
          <p:nvPr/>
        </p:nvSpPr>
        <p:spPr>
          <a:xfrm>
            <a:off x="6135089" y="4590288"/>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0.097</a:t>
            </a:r>
            <a:endParaRPr lang="en-US" sz="700" dirty="0"/>
          </a:p>
        </p:txBody>
      </p:sp>
      <p:sp>
        <p:nvSpPr>
          <p:cNvPr id="123" name="Shape 121"/>
          <p:cNvSpPr/>
          <p:nvPr/>
        </p:nvSpPr>
        <p:spPr>
          <a:xfrm>
            <a:off x="3502152" y="4828032"/>
            <a:ext cx="3090672" cy="237744"/>
          </a:xfrm>
          <a:prstGeom prst="rect">
            <a:avLst/>
          </a:prstGeom>
          <a:solidFill>
            <a:srgbClr val="F4F9F8"/>
          </a:solidFill>
          <a:ln/>
        </p:spPr>
      </p:sp>
      <p:sp>
        <p:nvSpPr>
          <p:cNvPr id="124" name="Shape 122"/>
          <p:cNvSpPr/>
          <p:nvPr/>
        </p:nvSpPr>
        <p:spPr>
          <a:xfrm>
            <a:off x="3502152" y="5065776"/>
            <a:ext cx="3090672" cy="0"/>
          </a:xfrm>
          <a:prstGeom prst="line">
            <a:avLst/>
          </a:prstGeom>
          <a:noFill/>
          <a:ln w="6350">
            <a:solidFill>
              <a:srgbClr val="C8DCD7"/>
            </a:solidFill>
            <a:prstDash val="solid"/>
          </a:ln>
        </p:spPr>
      </p:sp>
      <p:sp>
        <p:nvSpPr>
          <p:cNvPr id="125" name="Text 123"/>
          <p:cNvSpPr/>
          <p:nvPr/>
        </p:nvSpPr>
        <p:spPr>
          <a:xfrm>
            <a:off x="3557016" y="4828032"/>
            <a:ext cx="1021006"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Clinic Plus</a:t>
            </a:r>
            <a:endParaRPr lang="en-US" sz="700" dirty="0"/>
          </a:p>
        </p:txBody>
      </p:sp>
      <p:sp>
        <p:nvSpPr>
          <p:cNvPr id="126" name="Text 124"/>
          <p:cNvSpPr/>
          <p:nvPr/>
        </p:nvSpPr>
        <p:spPr>
          <a:xfrm>
            <a:off x="4687750"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9.6%</a:t>
            </a:r>
            <a:endParaRPr lang="en-US" sz="700" dirty="0"/>
          </a:p>
        </p:txBody>
      </p:sp>
      <p:sp>
        <p:nvSpPr>
          <p:cNvPr id="127" name="Text 125"/>
          <p:cNvSpPr/>
          <p:nvPr/>
        </p:nvSpPr>
        <p:spPr>
          <a:xfrm>
            <a:off x="5185272" y="4828032"/>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28" name="Text 126"/>
          <p:cNvSpPr/>
          <p:nvPr/>
        </p:nvSpPr>
        <p:spPr>
          <a:xfrm>
            <a:off x="5637566" y="4828032"/>
            <a:ext cx="387795"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99.4%</a:t>
            </a:r>
            <a:endParaRPr lang="en-US" sz="700" dirty="0"/>
          </a:p>
        </p:txBody>
      </p:sp>
      <p:sp>
        <p:nvSpPr>
          <p:cNvPr id="129" name="Text 127"/>
          <p:cNvSpPr/>
          <p:nvPr/>
        </p:nvSpPr>
        <p:spPr>
          <a:xfrm>
            <a:off x="6135089" y="4828032"/>
            <a:ext cx="402871"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0.097</a:t>
            </a:r>
            <a:endParaRPr lang="en-US" sz="700" dirty="0"/>
          </a:p>
        </p:txBody>
      </p:sp>
      <p:sp>
        <p:nvSpPr>
          <p:cNvPr id="130" name="Shape 128"/>
          <p:cNvSpPr/>
          <p:nvPr/>
        </p:nvSpPr>
        <p:spPr>
          <a:xfrm>
            <a:off x="3502152" y="5303520"/>
            <a:ext cx="3090672" cy="0"/>
          </a:xfrm>
          <a:prstGeom prst="line">
            <a:avLst/>
          </a:prstGeom>
          <a:noFill/>
          <a:ln w="6350">
            <a:solidFill>
              <a:srgbClr val="C8DCD7"/>
            </a:solidFill>
            <a:prstDash val="solid"/>
          </a:ln>
        </p:spPr>
      </p:sp>
      <p:sp>
        <p:nvSpPr>
          <p:cNvPr id="131" name="Text 129"/>
          <p:cNvSpPr/>
          <p:nvPr/>
        </p:nvSpPr>
        <p:spPr>
          <a:xfrm>
            <a:off x="3557016" y="5065776"/>
            <a:ext cx="1021006"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132" name="Text 130"/>
          <p:cNvSpPr/>
          <p:nvPr/>
        </p:nvSpPr>
        <p:spPr>
          <a:xfrm>
            <a:off x="4687750" y="5065776"/>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3.7%</a:t>
            </a:r>
            <a:endParaRPr lang="en-US" sz="700" dirty="0"/>
          </a:p>
        </p:txBody>
      </p:sp>
      <p:sp>
        <p:nvSpPr>
          <p:cNvPr id="133" name="Text 131"/>
          <p:cNvSpPr/>
          <p:nvPr/>
        </p:nvSpPr>
        <p:spPr>
          <a:xfrm>
            <a:off x="5185272" y="5065776"/>
            <a:ext cx="342565"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a:t>
            </a:r>
            <a:endParaRPr lang="en-US" sz="700" dirty="0"/>
          </a:p>
        </p:txBody>
      </p:sp>
      <p:sp>
        <p:nvSpPr>
          <p:cNvPr id="134" name="Text 132"/>
          <p:cNvSpPr/>
          <p:nvPr/>
        </p:nvSpPr>
        <p:spPr>
          <a:xfrm>
            <a:off x="5637566" y="5065776"/>
            <a:ext cx="387795"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81.5%</a:t>
            </a:r>
            <a:endParaRPr lang="en-US" sz="700" dirty="0"/>
          </a:p>
        </p:txBody>
      </p:sp>
      <p:sp>
        <p:nvSpPr>
          <p:cNvPr id="135" name="Text 133"/>
          <p:cNvSpPr/>
          <p:nvPr/>
        </p:nvSpPr>
        <p:spPr>
          <a:xfrm>
            <a:off x="6135089" y="5065776"/>
            <a:ext cx="402871"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0.045</a:t>
            </a:r>
            <a:endParaRPr lang="en-US" sz="700" dirty="0"/>
          </a:p>
        </p:txBody>
      </p:sp>
      <p:sp>
        <p:nvSpPr>
          <p:cNvPr id="136" name="Text 134"/>
          <p:cNvSpPr/>
          <p:nvPr/>
        </p:nvSpPr>
        <p:spPr>
          <a:xfrm>
            <a:off x="265176" y="5358384"/>
            <a:ext cx="6327648" cy="365760"/>
          </a:xfrm>
          <a:prstGeom prst="rect">
            <a:avLst/>
          </a:prstGeom>
          <a:noFill/>
          <a:ln/>
        </p:spPr>
        <p:txBody>
          <a:bodyPr wrap="square" lIns="0" tIns="0" rIns="0" bIns="0" rtlCol="0" anchor="t"/>
          <a:lstStyle/>
          <a:p>
            <a:pPr indent="0" marL="0">
              <a:lnSpc>
                <a:spcPct val="94000"/>
              </a:lnSpc>
              <a:buNone/>
            </a:pPr>
            <a:r>
              <a:rPr lang="en-US" sz="650" dirty="0">
                <a:solidFill>
                  <a:srgbClr val="5F716E"/>
                </a:solidFill>
                <a:latin typeface="Calibri" pitchFamily="34" charset="0"/>
                <a:ea typeface="Calibri" pitchFamily="34" charset="-122"/>
                <a:cs typeface="Calibri" pitchFamily="34" charset="-120"/>
              </a:rPr>
              <a:t>SPD = value share ÷ weighted distribution: the share each point of shelf presence earns. Numeric distribution (ND) is not supplied in any source we hold, so share = ND × (WD ÷ ND) × SPD can only be read on its last term — we cannot yet tell whether 89.0% WD means most stores or a few very large ones. SPD here is a hand-cut stand-in for the MS vs TDP Index already written in PowerBI/DAX/05_TDP_Measures.dax, which cannot run until the TDP feed exists.</a:t>
            </a:r>
            <a:endParaRPr lang="en-US" sz="650" dirty="0"/>
          </a:p>
        </p:txBody>
      </p:sp>
      <p:sp>
        <p:nvSpPr>
          <p:cNvPr id="137" name="Shape 135"/>
          <p:cNvSpPr/>
          <p:nvPr/>
        </p:nvSpPr>
        <p:spPr>
          <a:xfrm>
            <a:off x="265176" y="5760720"/>
            <a:ext cx="3090672" cy="1444752"/>
          </a:xfrm>
          <a:prstGeom prst="roundRect">
            <a:avLst>
              <a:gd name="adj" fmla="val 1266"/>
            </a:avLst>
          </a:prstGeom>
          <a:solidFill>
            <a:srgbClr val="FFFFFF"/>
          </a:solidFill>
          <a:ln w="9525">
            <a:solidFill>
              <a:srgbClr val="C8DCD7"/>
            </a:solidFill>
            <a:prstDash val="solid"/>
          </a:ln>
        </p:spPr>
      </p:sp>
      <p:sp>
        <p:nvSpPr>
          <p:cNvPr id="138" name="Shape 136"/>
          <p:cNvSpPr/>
          <p:nvPr/>
        </p:nvSpPr>
        <p:spPr>
          <a:xfrm>
            <a:off x="265176" y="5760720"/>
            <a:ext cx="3090672" cy="274320"/>
          </a:xfrm>
          <a:prstGeom prst="rect">
            <a:avLst/>
          </a:prstGeom>
          <a:solidFill>
            <a:srgbClr val="F2B84B"/>
          </a:solidFill>
          <a:ln/>
        </p:spPr>
      </p:sp>
      <p:sp>
        <p:nvSpPr>
          <p:cNvPr id="139" name="Text 137"/>
          <p:cNvSpPr/>
          <p:nvPr/>
        </p:nvSpPr>
        <p:spPr>
          <a:xfrm>
            <a:off x="347472" y="577900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FACE WASH — CLOSE TO GARNIER</a:t>
            </a:r>
            <a:endParaRPr lang="en-US" sz="700" dirty="0"/>
          </a:p>
        </p:txBody>
      </p:sp>
      <p:sp>
        <p:nvSpPr>
          <p:cNvPr id="140" name="Text 138"/>
          <p:cNvSpPr/>
          <p:nvPr/>
        </p:nvSpPr>
        <p:spPr>
          <a:xfrm>
            <a:off x="356616" y="6126480"/>
            <a:ext cx="2907792" cy="274320"/>
          </a:xfrm>
          <a:prstGeom prst="rect">
            <a:avLst/>
          </a:prstGeom>
          <a:noFill/>
          <a:ln/>
        </p:spPr>
        <p:txBody>
          <a:bodyPr wrap="square" lIns="0" tIns="0" rIns="0" bIns="0" rtlCol="0" anchor="ctr"/>
          <a:lstStyle/>
          <a:p>
            <a:pPr algn="ctr" indent="0" marL="0">
              <a:buNone/>
            </a:pPr>
            <a:r>
              <a:rPr lang="en-US" sz="1250" b="1" dirty="0">
                <a:solidFill>
                  <a:srgbClr val="F2B84B"/>
                </a:solidFill>
                <a:latin typeface="Calibri Light" pitchFamily="34" charset="0"/>
                <a:ea typeface="Calibri Light" pitchFamily="34" charset="-122"/>
                <a:cs typeface="Calibri Light" pitchFamily="34" charset="-120"/>
              </a:rPr>
              <a:t>+3.7 pts  ·  ~₹3.0 Cr / month</a:t>
            </a:r>
            <a:endParaRPr lang="en-US" sz="1250" dirty="0"/>
          </a:p>
        </p:txBody>
      </p:sp>
      <p:sp>
        <p:nvSpPr>
          <p:cNvPr id="141" name="Text 139"/>
          <p:cNvSpPr/>
          <p:nvPr/>
        </p:nvSpPr>
        <p:spPr>
          <a:xfrm>
            <a:off x="356616" y="6419088"/>
            <a:ext cx="2907792" cy="146304"/>
          </a:xfrm>
          <a:prstGeom prst="rect">
            <a:avLst/>
          </a:prstGeom>
          <a:noFill/>
          <a:ln/>
        </p:spPr>
        <p:txBody>
          <a:bodyPr wrap="square" lIns="0" tIns="0" rIns="0" bIns="0" rtlCol="0" anchor="t"/>
          <a:lstStyle/>
          <a:p>
            <a:pPr algn="ctr" indent="0" marL="0">
              <a:buNone/>
            </a:pPr>
            <a:r>
              <a:rPr lang="en-US" sz="630" dirty="0">
                <a:solidFill>
                  <a:srgbClr val="5F716E"/>
                </a:solidFill>
                <a:latin typeface="Calibri" pitchFamily="34" charset="0"/>
                <a:ea typeface="Calibri" pitchFamily="34" charset="-122"/>
                <a:cs typeface="Calibri" pitchFamily="34" charset="-120"/>
              </a:rPr>
              <a:t>Nielsen MT Face Wash ≈ ₹81 Cr / month, so one share point is worth ₹0.81 Cr</a:t>
            </a:r>
            <a:endParaRPr lang="en-US" sz="630" dirty="0"/>
          </a:p>
        </p:txBody>
      </p:sp>
      <p:sp>
        <p:nvSpPr>
          <p:cNvPr id="142" name="Shape 140"/>
          <p:cNvSpPr/>
          <p:nvPr/>
        </p:nvSpPr>
        <p:spPr>
          <a:xfrm>
            <a:off x="374904" y="6670548"/>
            <a:ext cx="50292" cy="50292"/>
          </a:xfrm>
          <a:prstGeom prst="ellipse">
            <a:avLst/>
          </a:prstGeom>
          <a:solidFill>
            <a:srgbClr val="F2B84B"/>
          </a:solidFill>
          <a:ln/>
        </p:spPr>
      </p:sp>
      <p:sp>
        <p:nvSpPr>
          <p:cNvPr id="143" name="Text 141"/>
          <p:cNvSpPr/>
          <p:nvPr/>
        </p:nvSpPr>
        <p:spPr>
          <a:xfrm>
            <a:off x="493776" y="6620256"/>
            <a:ext cx="2752344" cy="265176"/>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Garnier earns 14.2% on 90.3% WD; we earn 10.5% on 89.0%.</a:t>
            </a:r>
            <a:endParaRPr lang="en-US" sz="690" dirty="0"/>
          </a:p>
        </p:txBody>
      </p:sp>
      <p:sp>
        <p:nvSpPr>
          <p:cNvPr id="144" name="Shape 142"/>
          <p:cNvSpPr/>
          <p:nvPr/>
        </p:nvSpPr>
        <p:spPr>
          <a:xfrm>
            <a:off x="374904" y="6954012"/>
            <a:ext cx="50292" cy="50292"/>
          </a:xfrm>
          <a:prstGeom prst="ellipse">
            <a:avLst/>
          </a:prstGeom>
          <a:solidFill>
            <a:srgbClr val="F2B84B"/>
          </a:solidFill>
          <a:ln/>
        </p:spPr>
      </p:sp>
      <p:sp>
        <p:nvSpPr>
          <p:cNvPr id="145" name="Text 143"/>
          <p:cNvSpPr/>
          <p:nvPr/>
        </p:nvSpPr>
        <p:spPr>
          <a:xfrm>
            <a:off x="493776" y="6903720"/>
            <a:ext cx="2752344" cy="265176"/>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Same shelf, 26% less share per point. The gap is velocity, not reach.</a:t>
            </a:r>
            <a:endParaRPr lang="en-US" sz="690" dirty="0"/>
          </a:p>
        </p:txBody>
      </p:sp>
      <p:sp>
        <p:nvSpPr>
          <p:cNvPr id="146" name="Shape 144"/>
          <p:cNvSpPr/>
          <p:nvPr/>
        </p:nvSpPr>
        <p:spPr>
          <a:xfrm>
            <a:off x="3502152" y="5760720"/>
            <a:ext cx="3090672" cy="1444752"/>
          </a:xfrm>
          <a:prstGeom prst="roundRect">
            <a:avLst>
              <a:gd name="adj" fmla="val 1266"/>
            </a:avLst>
          </a:prstGeom>
          <a:solidFill>
            <a:srgbClr val="FFFFFF"/>
          </a:solidFill>
          <a:ln w="9525">
            <a:solidFill>
              <a:srgbClr val="C8DCD7"/>
            </a:solidFill>
            <a:prstDash val="solid"/>
          </a:ln>
        </p:spPr>
      </p:sp>
      <p:sp>
        <p:nvSpPr>
          <p:cNvPr id="147" name="Shape 145"/>
          <p:cNvSpPr/>
          <p:nvPr/>
        </p:nvSpPr>
        <p:spPr>
          <a:xfrm>
            <a:off x="3502152" y="5760720"/>
            <a:ext cx="3090672" cy="274320"/>
          </a:xfrm>
          <a:prstGeom prst="rect">
            <a:avLst/>
          </a:prstGeom>
          <a:solidFill>
            <a:srgbClr val="D6544D"/>
          </a:solidFill>
          <a:ln/>
        </p:spPr>
      </p:sp>
      <p:sp>
        <p:nvSpPr>
          <p:cNvPr id="148" name="Text 146"/>
          <p:cNvSpPr/>
          <p:nvPr/>
        </p:nvSpPr>
        <p:spPr>
          <a:xfrm>
            <a:off x="3584448" y="577900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SHAMPOO — REACH THE WEAKEST PEER</a:t>
            </a:r>
            <a:endParaRPr lang="en-US" sz="700" dirty="0"/>
          </a:p>
        </p:txBody>
      </p:sp>
      <p:sp>
        <p:nvSpPr>
          <p:cNvPr id="149" name="Text 147"/>
          <p:cNvSpPr/>
          <p:nvPr/>
        </p:nvSpPr>
        <p:spPr>
          <a:xfrm>
            <a:off x="3593592" y="6126480"/>
            <a:ext cx="2907792" cy="274320"/>
          </a:xfrm>
          <a:prstGeom prst="rect">
            <a:avLst/>
          </a:prstGeom>
          <a:noFill/>
          <a:ln/>
        </p:spPr>
        <p:txBody>
          <a:bodyPr wrap="square" lIns="0" tIns="0" rIns="0" bIns="0" rtlCol="0" anchor="ctr"/>
          <a:lstStyle/>
          <a:p>
            <a:pPr algn="ctr" indent="0" marL="0">
              <a:buNone/>
            </a:pPr>
            <a:r>
              <a:rPr lang="en-US" sz="1250" b="1" dirty="0">
                <a:solidFill>
                  <a:srgbClr val="D6544D"/>
                </a:solidFill>
                <a:latin typeface="Calibri Light" pitchFamily="34" charset="0"/>
                <a:ea typeface="Calibri Light" pitchFamily="34" charset="-122"/>
                <a:cs typeface="Calibri Light" pitchFamily="34" charset="-120"/>
              </a:rPr>
              <a:t>+4.2 pts  ·  ~₹6.9 Cr / month</a:t>
            </a:r>
            <a:endParaRPr lang="en-US" sz="1250" dirty="0"/>
          </a:p>
        </p:txBody>
      </p:sp>
      <p:sp>
        <p:nvSpPr>
          <p:cNvPr id="150" name="Text 148"/>
          <p:cNvSpPr/>
          <p:nvPr/>
        </p:nvSpPr>
        <p:spPr>
          <a:xfrm>
            <a:off x="3593592" y="6419088"/>
            <a:ext cx="2907792" cy="146304"/>
          </a:xfrm>
          <a:prstGeom prst="rect">
            <a:avLst/>
          </a:prstGeom>
          <a:noFill/>
          <a:ln/>
        </p:spPr>
        <p:txBody>
          <a:bodyPr wrap="square" lIns="0" tIns="0" rIns="0" bIns="0" rtlCol="0" anchor="t"/>
          <a:lstStyle/>
          <a:p>
            <a:pPr algn="ctr" indent="0" marL="0">
              <a:buNone/>
            </a:pPr>
            <a:r>
              <a:rPr lang="en-US" sz="630" dirty="0">
                <a:solidFill>
                  <a:srgbClr val="5F716E"/>
                </a:solidFill>
                <a:latin typeface="Calibri" pitchFamily="34" charset="0"/>
                <a:ea typeface="Calibri" pitchFamily="34" charset="-122"/>
                <a:cs typeface="Calibri" pitchFamily="34" charset="-120"/>
              </a:rPr>
              <a:t>Nielsen MT Shampoo ≈ ₹164 Cr / month, so one share point is worth ₹1.64 Cr</a:t>
            </a:r>
            <a:endParaRPr lang="en-US" sz="630" dirty="0"/>
          </a:p>
        </p:txBody>
      </p:sp>
      <p:sp>
        <p:nvSpPr>
          <p:cNvPr id="151" name="Shape 149"/>
          <p:cNvSpPr/>
          <p:nvPr/>
        </p:nvSpPr>
        <p:spPr>
          <a:xfrm>
            <a:off x="3611880" y="6670548"/>
            <a:ext cx="50292" cy="50292"/>
          </a:xfrm>
          <a:prstGeom prst="ellipse">
            <a:avLst/>
          </a:prstGeom>
          <a:solidFill>
            <a:srgbClr val="D6544D"/>
          </a:solidFill>
          <a:ln/>
        </p:spPr>
      </p:sp>
      <p:sp>
        <p:nvSpPr>
          <p:cNvPr id="152" name="Text 150"/>
          <p:cNvSpPr/>
          <p:nvPr/>
        </p:nvSpPr>
        <p:spPr>
          <a:xfrm>
            <a:off x="3730752" y="6620256"/>
            <a:ext cx="2752344" cy="265176"/>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At Sunsilk's 0.097 — the weakest of the five peers — 81.5% WD yields 7.9%.</a:t>
            </a:r>
            <a:endParaRPr lang="en-US" sz="690" dirty="0"/>
          </a:p>
        </p:txBody>
      </p:sp>
      <p:sp>
        <p:nvSpPr>
          <p:cNvPr id="153" name="Shape 151"/>
          <p:cNvSpPr/>
          <p:nvPr/>
        </p:nvSpPr>
        <p:spPr>
          <a:xfrm>
            <a:off x="3611880" y="6954012"/>
            <a:ext cx="50292" cy="50292"/>
          </a:xfrm>
          <a:prstGeom prst="ellipse">
            <a:avLst/>
          </a:prstGeom>
          <a:solidFill>
            <a:srgbClr val="D6544D"/>
          </a:solidFill>
          <a:ln/>
        </p:spPr>
      </p:sp>
      <p:sp>
        <p:nvSpPr>
          <p:cNvPr id="154" name="Text 152"/>
          <p:cNvSpPr/>
          <p:nvPr/>
        </p:nvSpPr>
        <p:spPr>
          <a:xfrm>
            <a:off x="3730752" y="6903720"/>
            <a:ext cx="2752344" cy="265176"/>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conservative benchmark; the peer median is 0.131.</a:t>
            </a:r>
            <a:endParaRPr lang="en-US" sz="690" dirty="0"/>
          </a:p>
        </p:txBody>
      </p:sp>
      <p:sp>
        <p:nvSpPr>
          <p:cNvPr id="155" name="Shape 153"/>
          <p:cNvSpPr/>
          <p:nvPr/>
        </p:nvSpPr>
        <p:spPr>
          <a:xfrm>
            <a:off x="265176" y="7333488"/>
            <a:ext cx="6327648" cy="256032"/>
          </a:xfrm>
          <a:prstGeom prst="rect">
            <a:avLst/>
          </a:prstGeom>
          <a:solidFill>
            <a:srgbClr val="116F68"/>
          </a:solidFill>
          <a:ln/>
        </p:spPr>
      </p:sp>
      <p:sp>
        <p:nvSpPr>
          <p:cNvPr id="156" name="Text 154"/>
          <p:cNvSpPr/>
          <p:nvPr/>
        </p:nvSpPr>
        <p:spPr>
          <a:xfrm>
            <a:off x="374904" y="735177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PACK ARCHITECTURE — WHERE THE VOLUME ACTUALLY SITS (MAY 2026)</a:t>
            </a:r>
            <a:endParaRPr lang="en-US" sz="720" dirty="0"/>
          </a:p>
        </p:txBody>
      </p:sp>
      <p:sp>
        <p:nvSpPr>
          <p:cNvPr id="157" name="Text 155"/>
          <p:cNvSpPr/>
          <p:nvPr/>
        </p:nvSpPr>
        <p:spPr>
          <a:xfrm>
            <a:off x="265176" y="768096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Face Wash</a:t>
            </a:r>
            <a:endParaRPr lang="en-US" sz="720" dirty="0"/>
          </a:p>
        </p:txBody>
      </p:sp>
      <p:sp>
        <p:nvSpPr>
          <p:cNvPr id="158" name="Shape 156"/>
          <p:cNvSpPr/>
          <p:nvPr/>
        </p:nvSpPr>
        <p:spPr>
          <a:xfrm>
            <a:off x="265176" y="7863840"/>
            <a:ext cx="3090672" cy="256032"/>
          </a:xfrm>
          <a:prstGeom prst="rect">
            <a:avLst/>
          </a:prstGeom>
          <a:solidFill>
            <a:srgbClr val="116F68"/>
          </a:solidFill>
          <a:ln/>
        </p:spPr>
      </p:sp>
      <p:sp>
        <p:nvSpPr>
          <p:cNvPr id="159" name="Text 157"/>
          <p:cNvSpPr/>
          <p:nvPr/>
        </p:nvSpPr>
        <p:spPr>
          <a:xfrm>
            <a:off x="320040" y="7882128"/>
            <a:ext cx="89373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PACK</a:t>
            </a:r>
            <a:endParaRPr lang="en-US" sz="660" dirty="0"/>
          </a:p>
        </p:txBody>
      </p:sp>
      <p:sp>
        <p:nvSpPr>
          <p:cNvPr id="160" name="Text 158"/>
          <p:cNvSpPr/>
          <p:nvPr/>
        </p:nvSpPr>
        <p:spPr>
          <a:xfrm>
            <a:off x="1323505" y="7882128"/>
            <a:ext cx="51242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161" name="Text 159"/>
          <p:cNvSpPr/>
          <p:nvPr/>
        </p:nvSpPr>
        <p:spPr>
          <a:xfrm>
            <a:off x="1945653" y="7882128"/>
            <a:ext cx="61276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162" name="Text 160"/>
          <p:cNvSpPr/>
          <p:nvPr/>
        </p:nvSpPr>
        <p:spPr>
          <a:xfrm>
            <a:off x="2668148" y="7882128"/>
            <a:ext cx="63283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YoY</a:t>
            </a:r>
            <a:endParaRPr lang="en-US" sz="660" dirty="0"/>
          </a:p>
        </p:txBody>
      </p:sp>
      <p:sp>
        <p:nvSpPr>
          <p:cNvPr id="163" name="Shape 161"/>
          <p:cNvSpPr/>
          <p:nvPr/>
        </p:nvSpPr>
        <p:spPr>
          <a:xfrm>
            <a:off x="265176" y="8119872"/>
            <a:ext cx="3090672" cy="237744"/>
          </a:xfrm>
          <a:prstGeom prst="rect">
            <a:avLst/>
          </a:prstGeom>
          <a:solidFill>
            <a:srgbClr val="F4F9F8"/>
          </a:solidFill>
          <a:ln/>
        </p:spPr>
      </p:sp>
      <p:sp>
        <p:nvSpPr>
          <p:cNvPr id="164" name="Shape 162"/>
          <p:cNvSpPr/>
          <p:nvPr/>
        </p:nvSpPr>
        <p:spPr>
          <a:xfrm>
            <a:off x="265176" y="8357616"/>
            <a:ext cx="3090672" cy="0"/>
          </a:xfrm>
          <a:prstGeom prst="line">
            <a:avLst/>
          </a:prstGeom>
          <a:noFill/>
          <a:ln w="6350">
            <a:solidFill>
              <a:srgbClr val="C8DCD7"/>
            </a:solidFill>
            <a:prstDash val="solid"/>
          </a:ln>
        </p:spPr>
      </p:sp>
      <p:sp>
        <p:nvSpPr>
          <p:cNvPr id="165" name="Text 163"/>
          <p:cNvSpPr/>
          <p:nvPr/>
        </p:nvSpPr>
        <p:spPr>
          <a:xfrm>
            <a:off x="320040" y="8119872"/>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150 ml</a:t>
            </a:r>
            <a:endParaRPr lang="en-US" sz="700" dirty="0"/>
          </a:p>
        </p:txBody>
      </p:sp>
      <p:sp>
        <p:nvSpPr>
          <p:cNvPr id="166" name="Text 164"/>
          <p:cNvSpPr/>
          <p:nvPr/>
        </p:nvSpPr>
        <p:spPr>
          <a:xfrm>
            <a:off x="1323505" y="8119872"/>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58%</a:t>
            </a:r>
            <a:endParaRPr lang="en-US" sz="700" dirty="0"/>
          </a:p>
        </p:txBody>
      </p:sp>
      <p:sp>
        <p:nvSpPr>
          <p:cNvPr id="167" name="Text 165"/>
          <p:cNvSpPr/>
          <p:nvPr/>
        </p:nvSpPr>
        <p:spPr>
          <a:xfrm>
            <a:off x="1945653" y="8119872"/>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5.53</a:t>
            </a:r>
            <a:endParaRPr lang="en-US" sz="700" dirty="0"/>
          </a:p>
        </p:txBody>
      </p:sp>
      <p:sp>
        <p:nvSpPr>
          <p:cNvPr id="168" name="Text 166"/>
          <p:cNvSpPr/>
          <p:nvPr/>
        </p:nvSpPr>
        <p:spPr>
          <a:xfrm>
            <a:off x="2668148" y="8119872"/>
            <a:ext cx="632836" cy="237744"/>
          </a:xfrm>
          <a:prstGeom prst="rect">
            <a:avLst/>
          </a:prstGeom>
          <a:noFill/>
          <a:ln/>
        </p:spPr>
        <p:txBody>
          <a:bodyPr wrap="square" lIns="0" tIns="0" rIns="0" bIns="0" rtlCol="0" anchor="ctr"/>
          <a:lstStyle/>
          <a:p>
            <a:pPr algn="r" indent="0" marL="0">
              <a:buNone/>
            </a:pPr>
            <a:r>
              <a:rPr lang="en-US" sz="700" b="1" dirty="0">
                <a:solidFill>
                  <a:srgbClr val="2B9A66"/>
                </a:solidFill>
                <a:latin typeface="Calibri" pitchFamily="34" charset="0"/>
                <a:ea typeface="Calibri" pitchFamily="34" charset="-122"/>
                <a:cs typeface="Calibri" pitchFamily="34" charset="-120"/>
              </a:rPr>
              <a:t>+98%</a:t>
            </a:r>
            <a:endParaRPr lang="en-US" sz="700" dirty="0"/>
          </a:p>
        </p:txBody>
      </p:sp>
      <p:sp>
        <p:nvSpPr>
          <p:cNvPr id="169" name="Shape 167"/>
          <p:cNvSpPr/>
          <p:nvPr/>
        </p:nvSpPr>
        <p:spPr>
          <a:xfrm>
            <a:off x="265176" y="8595360"/>
            <a:ext cx="3090672" cy="0"/>
          </a:xfrm>
          <a:prstGeom prst="line">
            <a:avLst/>
          </a:prstGeom>
          <a:noFill/>
          <a:ln w="6350">
            <a:solidFill>
              <a:srgbClr val="C8DCD7"/>
            </a:solidFill>
            <a:prstDash val="solid"/>
          </a:ln>
        </p:spPr>
      </p:sp>
      <p:sp>
        <p:nvSpPr>
          <p:cNvPr id="170" name="Text 168"/>
          <p:cNvSpPr/>
          <p:nvPr/>
        </p:nvSpPr>
        <p:spPr>
          <a:xfrm>
            <a:off x="320040" y="8357616"/>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100 ml</a:t>
            </a:r>
            <a:endParaRPr lang="en-US" sz="700" dirty="0"/>
          </a:p>
        </p:txBody>
      </p:sp>
      <p:sp>
        <p:nvSpPr>
          <p:cNvPr id="171" name="Text 169"/>
          <p:cNvSpPr/>
          <p:nvPr/>
        </p:nvSpPr>
        <p:spPr>
          <a:xfrm>
            <a:off x="1323505" y="8357616"/>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21%</a:t>
            </a:r>
            <a:endParaRPr lang="en-US" sz="700" dirty="0"/>
          </a:p>
        </p:txBody>
      </p:sp>
      <p:sp>
        <p:nvSpPr>
          <p:cNvPr id="172" name="Text 170"/>
          <p:cNvSpPr/>
          <p:nvPr/>
        </p:nvSpPr>
        <p:spPr>
          <a:xfrm>
            <a:off x="1945653" y="8357616"/>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1.96</a:t>
            </a:r>
            <a:endParaRPr lang="en-US" sz="700" dirty="0"/>
          </a:p>
        </p:txBody>
      </p:sp>
      <p:sp>
        <p:nvSpPr>
          <p:cNvPr id="173" name="Text 171"/>
          <p:cNvSpPr/>
          <p:nvPr/>
        </p:nvSpPr>
        <p:spPr>
          <a:xfrm>
            <a:off x="2668148" y="8357616"/>
            <a:ext cx="632836"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−11%</a:t>
            </a:r>
            <a:endParaRPr lang="en-US" sz="700" dirty="0"/>
          </a:p>
        </p:txBody>
      </p:sp>
      <p:sp>
        <p:nvSpPr>
          <p:cNvPr id="174" name="Shape 172"/>
          <p:cNvSpPr/>
          <p:nvPr/>
        </p:nvSpPr>
        <p:spPr>
          <a:xfrm>
            <a:off x="265176" y="8595360"/>
            <a:ext cx="3090672" cy="237744"/>
          </a:xfrm>
          <a:prstGeom prst="rect">
            <a:avLst/>
          </a:prstGeom>
          <a:solidFill>
            <a:srgbClr val="F4F9F8"/>
          </a:solidFill>
          <a:ln/>
        </p:spPr>
      </p:sp>
      <p:sp>
        <p:nvSpPr>
          <p:cNvPr id="175" name="Shape 173"/>
          <p:cNvSpPr/>
          <p:nvPr/>
        </p:nvSpPr>
        <p:spPr>
          <a:xfrm>
            <a:off x="265176" y="8833104"/>
            <a:ext cx="3090672" cy="0"/>
          </a:xfrm>
          <a:prstGeom prst="line">
            <a:avLst/>
          </a:prstGeom>
          <a:noFill/>
          <a:ln w="6350">
            <a:solidFill>
              <a:srgbClr val="C8DCD7"/>
            </a:solidFill>
            <a:prstDash val="solid"/>
          </a:ln>
        </p:spPr>
      </p:sp>
      <p:sp>
        <p:nvSpPr>
          <p:cNvPr id="176" name="Text 174"/>
          <p:cNvSpPr/>
          <p:nvPr/>
        </p:nvSpPr>
        <p:spPr>
          <a:xfrm>
            <a:off x="320040" y="8595360"/>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200 ml</a:t>
            </a:r>
            <a:endParaRPr lang="en-US" sz="700" dirty="0"/>
          </a:p>
        </p:txBody>
      </p:sp>
      <p:sp>
        <p:nvSpPr>
          <p:cNvPr id="177" name="Text 175"/>
          <p:cNvSpPr/>
          <p:nvPr/>
        </p:nvSpPr>
        <p:spPr>
          <a:xfrm>
            <a:off x="1323505" y="8595360"/>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a:t>
            </a:r>
            <a:endParaRPr lang="en-US" sz="700" dirty="0"/>
          </a:p>
        </p:txBody>
      </p:sp>
      <p:sp>
        <p:nvSpPr>
          <p:cNvPr id="178" name="Text 176"/>
          <p:cNvSpPr/>
          <p:nvPr/>
        </p:nvSpPr>
        <p:spPr>
          <a:xfrm>
            <a:off x="1945653" y="8595360"/>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1.06</a:t>
            </a:r>
            <a:endParaRPr lang="en-US" sz="700" dirty="0"/>
          </a:p>
        </p:txBody>
      </p:sp>
      <p:sp>
        <p:nvSpPr>
          <p:cNvPr id="179" name="Text 177"/>
          <p:cNvSpPr/>
          <p:nvPr/>
        </p:nvSpPr>
        <p:spPr>
          <a:xfrm>
            <a:off x="2668148" y="8595360"/>
            <a:ext cx="632836"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new</a:t>
            </a:r>
            <a:endParaRPr lang="en-US" sz="700" dirty="0"/>
          </a:p>
        </p:txBody>
      </p:sp>
      <p:sp>
        <p:nvSpPr>
          <p:cNvPr id="180" name="Shape 178"/>
          <p:cNvSpPr/>
          <p:nvPr/>
        </p:nvSpPr>
        <p:spPr>
          <a:xfrm>
            <a:off x="265176" y="9070848"/>
            <a:ext cx="3090672" cy="0"/>
          </a:xfrm>
          <a:prstGeom prst="line">
            <a:avLst/>
          </a:prstGeom>
          <a:noFill/>
          <a:ln w="6350">
            <a:solidFill>
              <a:srgbClr val="C8DCD7"/>
            </a:solidFill>
            <a:prstDash val="solid"/>
          </a:ln>
        </p:spPr>
      </p:sp>
      <p:sp>
        <p:nvSpPr>
          <p:cNvPr id="181" name="Text 179"/>
          <p:cNvSpPr/>
          <p:nvPr/>
        </p:nvSpPr>
        <p:spPr>
          <a:xfrm>
            <a:off x="320040" y="8833104"/>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50 ml</a:t>
            </a:r>
            <a:endParaRPr lang="en-US" sz="700" dirty="0"/>
          </a:p>
        </p:txBody>
      </p:sp>
      <p:sp>
        <p:nvSpPr>
          <p:cNvPr id="182" name="Text 180"/>
          <p:cNvSpPr/>
          <p:nvPr/>
        </p:nvSpPr>
        <p:spPr>
          <a:xfrm>
            <a:off x="1323505" y="8833104"/>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a:t>
            </a:r>
            <a:endParaRPr lang="en-US" sz="700" dirty="0"/>
          </a:p>
        </p:txBody>
      </p:sp>
      <p:sp>
        <p:nvSpPr>
          <p:cNvPr id="183" name="Text 181"/>
          <p:cNvSpPr/>
          <p:nvPr/>
        </p:nvSpPr>
        <p:spPr>
          <a:xfrm>
            <a:off x="1945653" y="8833104"/>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1.01</a:t>
            </a:r>
            <a:endParaRPr lang="en-US" sz="700" dirty="0"/>
          </a:p>
        </p:txBody>
      </p:sp>
      <p:sp>
        <p:nvSpPr>
          <p:cNvPr id="184" name="Text 182"/>
          <p:cNvSpPr/>
          <p:nvPr/>
        </p:nvSpPr>
        <p:spPr>
          <a:xfrm>
            <a:off x="2668148" y="8833104"/>
            <a:ext cx="632836" cy="237744"/>
          </a:xfrm>
          <a:prstGeom prst="rect">
            <a:avLst/>
          </a:prstGeom>
          <a:noFill/>
          <a:ln/>
        </p:spPr>
        <p:txBody>
          <a:bodyPr wrap="square" lIns="0" tIns="0" rIns="0" bIns="0" rtlCol="0" anchor="ctr"/>
          <a:lstStyle/>
          <a:p>
            <a:pPr algn="r" indent="0" marL="0">
              <a:buNone/>
            </a:pPr>
            <a:r>
              <a:rPr lang="en-US" sz="700" dirty="0">
                <a:solidFill>
                  <a:srgbClr val="2B9A66"/>
                </a:solidFill>
                <a:latin typeface="Calibri" pitchFamily="34" charset="0"/>
                <a:ea typeface="Calibri" pitchFamily="34" charset="-122"/>
                <a:cs typeface="Calibri" pitchFamily="34" charset="-120"/>
              </a:rPr>
              <a:t>+80%</a:t>
            </a:r>
            <a:endParaRPr lang="en-US" sz="700" dirty="0"/>
          </a:p>
        </p:txBody>
      </p:sp>
      <p:sp>
        <p:nvSpPr>
          <p:cNvPr id="185" name="Text 183"/>
          <p:cNvSpPr/>
          <p:nvPr/>
        </p:nvSpPr>
        <p:spPr>
          <a:xfrm>
            <a:off x="3502152" y="768096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Shampoo</a:t>
            </a:r>
            <a:endParaRPr lang="en-US" sz="720" dirty="0"/>
          </a:p>
        </p:txBody>
      </p:sp>
      <p:sp>
        <p:nvSpPr>
          <p:cNvPr id="186" name="Shape 184"/>
          <p:cNvSpPr/>
          <p:nvPr/>
        </p:nvSpPr>
        <p:spPr>
          <a:xfrm>
            <a:off x="3502152" y="7863840"/>
            <a:ext cx="3090672" cy="256032"/>
          </a:xfrm>
          <a:prstGeom prst="rect">
            <a:avLst/>
          </a:prstGeom>
          <a:solidFill>
            <a:srgbClr val="116F68"/>
          </a:solidFill>
          <a:ln/>
        </p:spPr>
      </p:sp>
      <p:sp>
        <p:nvSpPr>
          <p:cNvPr id="187" name="Text 185"/>
          <p:cNvSpPr/>
          <p:nvPr/>
        </p:nvSpPr>
        <p:spPr>
          <a:xfrm>
            <a:off x="3557016" y="7882128"/>
            <a:ext cx="89373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PACK</a:t>
            </a:r>
            <a:endParaRPr lang="en-US" sz="660" dirty="0"/>
          </a:p>
        </p:txBody>
      </p:sp>
      <p:sp>
        <p:nvSpPr>
          <p:cNvPr id="188" name="Text 186"/>
          <p:cNvSpPr/>
          <p:nvPr/>
        </p:nvSpPr>
        <p:spPr>
          <a:xfrm>
            <a:off x="4560481" y="7882128"/>
            <a:ext cx="51242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189" name="Text 187"/>
          <p:cNvSpPr/>
          <p:nvPr/>
        </p:nvSpPr>
        <p:spPr>
          <a:xfrm>
            <a:off x="5182629" y="7882128"/>
            <a:ext cx="61276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190" name="Text 188"/>
          <p:cNvSpPr/>
          <p:nvPr/>
        </p:nvSpPr>
        <p:spPr>
          <a:xfrm>
            <a:off x="5905124" y="7882128"/>
            <a:ext cx="63283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YoY</a:t>
            </a:r>
            <a:endParaRPr lang="en-US" sz="660" dirty="0"/>
          </a:p>
        </p:txBody>
      </p:sp>
      <p:sp>
        <p:nvSpPr>
          <p:cNvPr id="191" name="Shape 189"/>
          <p:cNvSpPr/>
          <p:nvPr/>
        </p:nvSpPr>
        <p:spPr>
          <a:xfrm>
            <a:off x="3502152" y="8119872"/>
            <a:ext cx="3090672" cy="237744"/>
          </a:xfrm>
          <a:prstGeom prst="rect">
            <a:avLst/>
          </a:prstGeom>
          <a:solidFill>
            <a:srgbClr val="F4F9F8"/>
          </a:solidFill>
          <a:ln/>
        </p:spPr>
      </p:sp>
      <p:sp>
        <p:nvSpPr>
          <p:cNvPr id="192" name="Shape 190"/>
          <p:cNvSpPr/>
          <p:nvPr/>
        </p:nvSpPr>
        <p:spPr>
          <a:xfrm>
            <a:off x="3502152" y="8357616"/>
            <a:ext cx="3090672" cy="0"/>
          </a:xfrm>
          <a:prstGeom prst="line">
            <a:avLst/>
          </a:prstGeom>
          <a:noFill/>
          <a:ln w="6350">
            <a:solidFill>
              <a:srgbClr val="C8DCD7"/>
            </a:solidFill>
            <a:prstDash val="solid"/>
          </a:ln>
        </p:spPr>
      </p:sp>
      <p:sp>
        <p:nvSpPr>
          <p:cNvPr id="193" name="Text 191"/>
          <p:cNvSpPr/>
          <p:nvPr/>
        </p:nvSpPr>
        <p:spPr>
          <a:xfrm>
            <a:off x="3557016" y="8119872"/>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400 ml</a:t>
            </a:r>
            <a:endParaRPr lang="en-US" sz="700" dirty="0"/>
          </a:p>
        </p:txBody>
      </p:sp>
      <p:sp>
        <p:nvSpPr>
          <p:cNvPr id="194" name="Text 192"/>
          <p:cNvSpPr/>
          <p:nvPr/>
        </p:nvSpPr>
        <p:spPr>
          <a:xfrm>
            <a:off x="4560481" y="8119872"/>
            <a:ext cx="512420" cy="237744"/>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76%</a:t>
            </a:r>
            <a:endParaRPr lang="en-US" sz="700" dirty="0"/>
          </a:p>
        </p:txBody>
      </p:sp>
      <p:sp>
        <p:nvSpPr>
          <p:cNvPr id="195" name="Text 193"/>
          <p:cNvSpPr/>
          <p:nvPr/>
        </p:nvSpPr>
        <p:spPr>
          <a:xfrm>
            <a:off x="5182629" y="8119872"/>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4.96</a:t>
            </a:r>
            <a:endParaRPr lang="en-US" sz="700" dirty="0"/>
          </a:p>
        </p:txBody>
      </p:sp>
      <p:sp>
        <p:nvSpPr>
          <p:cNvPr id="196" name="Text 194"/>
          <p:cNvSpPr/>
          <p:nvPr/>
        </p:nvSpPr>
        <p:spPr>
          <a:xfrm>
            <a:off x="5905124" y="8119872"/>
            <a:ext cx="632836" cy="237744"/>
          </a:xfrm>
          <a:prstGeom prst="rect">
            <a:avLst/>
          </a:prstGeom>
          <a:noFill/>
          <a:ln/>
        </p:spPr>
        <p:txBody>
          <a:bodyPr wrap="square" lIns="0" tIns="0" rIns="0" bIns="0" rtlCol="0" anchor="ctr"/>
          <a:lstStyle/>
          <a:p>
            <a:pPr algn="r" indent="0" marL="0">
              <a:buNone/>
            </a:pPr>
            <a:r>
              <a:rPr lang="en-US" sz="700" b="1" dirty="0">
                <a:solidFill>
                  <a:srgbClr val="2B9A66"/>
                </a:solidFill>
                <a:latin typeface="Calibri" pitchFamily="34" charset="0"/>
                <a:ea typeface="Calibri" pitchFamily="34" charset="-122"/>
                <a:cs typeface="Calibri" pitchFamily="34" charset="-120"/>
              </a:rPr>
              <a:t>+71%</a:t>
            </a:r>
            <a:endParaRPr lang="en-US" sz="700" dirty="0"/>
          </a:p>
        </p:txBody>
      </p:sp>
      <p:sp>
        <p:nvSpPr>
          <p:cNvPr id="197" name="Shape 195"/>
          <p:cNvSpPr/>
          <p:nvPr/>
        </p:nvSpPr>
        <p:spPr>
          <a:xfrm>
            <a:off x="3502152" y="8595360"/>
            <a:ext cx="3090672" cy="0"/>
          </a:xfrm>
          <a:prstGeom prst="line">
            <a:avLst/>
          </a:prstGeom>
          <a:noFill/>
          <a:ln w="6350">
            <a:solidFill>
              <a:srgbClr val="C8DCD7"/>
            </a:solidFill>
            <a:prstDash val="solid"/>
          </a:ln>
        </p:spPr>
      </p:sp>
      <p:sp>
        <p:nvSpPr>
          <p:cNvPr id="198" name="Text 196"/>
          <p:cNvSpPr/>
          <p:nvPr/>
        </p:nvSpPr>
        <p:spPr>
          <a:xfrm>
            <a:off x="3557016" y="8357616"/>
            <a:ext cx="893737" cy="237744"/>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250 ml</a:t>
            </a:r>
            <a:endParaRPr lang="en-US" sz="700" dirty="0"/>
          </a:p>
        </p:txBody>
      </p:sp>
      <p:sp>
        <p:nvSpPr>
          <p:cNvPr id="199" name="Text 197"/>
          <p:cNvSpPr/>
          <p:nvPr/>
        </p:nvSpPr>
        <p:spPr>
          <a:xfrm>
            <a:off x="4560481" y="8357616"/>
            <a:ext cx="512420"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13%</a:t>
            </a:r>
            <a:endParaRPr lang="en-US" sz="700" dirty="0"/>
          </a:p>
        </p:txBody>
      </p:sp>
      <p:sp>
        <p:nvSpPr>
          <p:cNvPr id="200" name="Text 198"/>
          <p:cNvSpPr/>
          <p:nvPr/>
        </p:nvSpPr>
        <p:spPr>
          <a:xfrm>
            <a:off x="5182629" y="8357616"/>
            <a:ext cx="612767" cy="237744"/>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0.82</a:t>
            </a:r>
            <a:endParaRPr lang="en-US" sz="700" dirty="0"/>
          </a:p>
        </p:txBody>
      </p:sp>
      <p:sp>
        <p:nvSpPr>
          <p:cNvPr id="201" name="Text 199"/>
          <p:cNvSpPr/>
          <p:nvPr/>
        </p:nvSpPr>
        <p:spPr>
          <a:xfrm>
            <a:off x="5905124" y="8357616"/>
            <a:ext cx="632836" cy="237744"/>
          </a:xfrm>
          <a:prstGeom prst="rect">
            <a:avLst/>
          </a:prstGeom>
          <a:noFill/>
          <a:ln/>
        </p:spPr>
        <p:txBody>
          <a:bodyPr wrap="square" lIns="0" tIns="0" rIns="0" bIns="0" rtlCol="0" anchor="ctr"/>
          <a:lstStyle/>
          <a:p>
            <a:pPr algn="r" indent="0" marL="0">
              <a:buNone/>
            </a:pPr>
            <a:r>
              <a:rPr lang="en-US" sz="700" b="1" dirty="0">
                <a:solidFill>
                  <a:srgbClr val="D6544D"/>
                </a:solidFill>
                <a:latin typeface="Calibri" pitchFamily="34" charset="0"/>
                <a:ea typeface="Calibri" pitchFamily="34" charset="-122"/>
                <a:cs typeface="Calibri" pitchFamily="34" charset="-120"/>
              </a:rPr>
              <a:t>−7%</a:t>
            </a:r>
            <a:endParaRPr lang="en-US" sz="700" dirty="0"/>
          </a:p>
        </p:txBody>
      </p:sp>
      <p:sp>
        <p:nvSpPr>
          <p:cNvPr id="202" name="Shape 200"/>
          <p:cNvSpPr/>
          <p:nvPr/>
        </p:nvSpPr>
        <p:spPr>
          <a:xfrm>
            <a:off x="3502152" y="8595360"/>
            <a:ext cx="3090672" cy="237744"/>
          </a:xfrm>
          <a:prstGeom prst="rect">
            <a:avLst/>
          </a:prstGeom>
          <a:solidFill>
            <a:srgbClr val="F4F9F8"/>
          </a:solidFill>
          <a:ln/>
        </p:spPr>
      </p:sp>
      <p:sp>
        <p:nvSpPr>
          <p:cNvPr id="203" name="Shape 201"/>
          <p:cNvSpPr/>
          <p:nvPr/>
        </p:nvSpPr>
        <p:spPr>
          <a:xfrm>
            <a:off x="3502152" y="8833104"/>
            <a:ext cx="3090672" cy="0"/>
          </a:xfrm>
          <a:prstGeom prst="line">
            <a:avLst/>
          </a:prstGeom>
          <a:noFill/>
          <a:ln w="6350">
            <a:solidFill>
              <a:srgbClr val="C8DCD7"/>
            </a:solidFill>
            <a:prstDash val="solid"/>
          </a:ln>
        </p:spPr>
      </p:sp>
      <p:sp>
        <p:nvSpPr>
          <p:cNvPr id="204" name="Text 202"/>
          <p:cNvSpPr/>
          <p:nvPr/>
        </p:nvSpPr>
        <p:spPr>
          <a:xfrm>
            <a:off x="3557016" y="8595360"/>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650 ml</a:t>
            </a:r>
            <a:endParaRPr lang="en-US" sz="700" dirty="0"/>
          </a:p>
        </p:txBody>
      </p:sp>
      <p:sp>
        <p:nvSpPr>
          <p:cNvPr id="205" name="Text 203"/>
          <p:cNvSpPr/>
          <p:nvPr/>
        </p:nvSpPr>
        <p:spPr>
          <a:xfrm>
            <a:off x="4560481" y="8595360"/>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206" name="Text 204"/>
          <p:cNvSpPr/>
          <p:nvPr/>
        </p:nvSpPr>
        <p:spPr>
          <a:xfrm>
            <a:off x="5182629" y="8595360"/>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0.43</a:t>
            </a:r>
            <a:endParaRPr lang="en-US" sz="700" dirty="0"/>
          </a:p>
        </p:txBody>
      </p:sp>
      <p:sp>
        <p:nvSpPr>
          <p:cNvPr id="207" name="Text 205"/>
          <p:cNvSpPr/>
          <p:nvPr/>
        </p:nvSpPr>
        <p:spPr>
          <a:xfrm>
            <a:off x="5905124" y="8595360"/>
            <a:ext cx="632836" cy="237744"/>
          </a:xfrm>
          <a:prstGeom prst="rect">
            <a:avLst/>
          </a:prstGeom>
          <a:noFill/>
          <a:ln/>
        </p:spPr>
        <p:txBody>
          <a:bodyPr wrap="square" lIns="0" tIns="0" rIns="0" bIns="0" rtlCol="0" anchor="ctr"/>
          <a:lstStyle/>
          <a:p>
            <a:pPr algn="r" indent="0" marL="0">
              <a:buNone/>
            </a:pPr>
            <a:r>
              <a:rPr lang="en-US" sz="700" dirty="0">
                <a:solidFill>
                  <a:srgbClr val="5F716E"/>
                </a:solidFill>
                <a:latin typeface="Calibri" pitchFamily="34" charset="0"/>
                <a:ea typeface="Calibri" pitchFamily="34" charset="-122"/>
                <a:cs typeface="Calibri" pitchFamily="34" charset="-120"/>
              </a:rPr>
              <a:t>new</a:t>
            </a:r>
            <a:endParaRPr lang="en-US" sz="700" dirty="0"/>
          </a:p>
        </p:txBody>
      </p:sp>
      <p:sp>
        <p:nvSpPr>
          <p:cNvPr id="208" name="Shape 206"/>
          <p:cNvSpPr/>
          <p:nvPr/>
        </p:nvSpPr>
        <p:spPr>
          <a:xfrm>
            <a:off x="3502152" y="9070848"/>
            <a:ext cx="3090672" cy="0"/>
          </a:xfrm>
          <a:prstGeom prst="line">
            <a:avLst/>
          </a:prstGeom>
          <a:noFill/>
          <a:ln w="6350">
            <a:solidFill>
              <a:srgbClr val="C8DCD7"/>
            </a:solidFill>
            <a:prstDash val="solid"/>
          </a:ln>
        </p:spPr>
      </p:sp>
      <p:sp>
        <p:nvSpPr>
          <p:cNvPr id="209" name="Text 207"/>
          <p:cNvSpPr/>
          <p:nvPr/>
        </p:nvSpPr>
        <p:spPr>
          <a:xfrm>
            <a:off x="3557016" y="8833104"/>
            <a:ext cx="893737" cy="237744"/>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600 ml</a:t>
            </a:r>
            <a:endParaRPr lang="en-US" sz="700" dirty="0"/>
          </a:p>
        </p:txBody>
      </p:sp>
      <p:sp>
        <p:nvSpPr>
          <p:cNvPr id="210" name="Text 208"/>
          <p:cNvSpPr/>
          <p:nvPr/>
        </p:nvSpPr>
        <p:spPr>
          <a:xfrm>
            <a:off x="4560481" y="8833104"/>
            <a:ext cx="512420"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211" name="Text 209"/>
          <p:cNvSpPr/>
          <p:nvPr/>
        </p:nvSpPr>
        <p:spPr>
          <a:xfrm>
            <a:off x="5182629" y="8833104"/>
            <a:ext cx="612767" cy="237744"/>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0.12</a:t>
            </a:r>
            <a:endParaRPr lang="en-US" sz="700" dirty="0"/>
          </a:p>
        </p:txBody>
      </p:sp>
      <p:sp>
        <p:nvSpPr>
          <p:cNvPr id="212" name="Text 210"/>
          <p:cNvSpPr/>
          <p:nvPr/>
        </p:nvSpPr>
        <p:spPr>
          <a:xfrm>
            <a:off x="5905124" y="8833104"/>
            <a:ext cx="632836" cy="237744"/>
          </a:xfrm>
          <a:prstGeom prst="rect">
            <a:avLst/>
          </a:prstGeom>
          <a:noFill/>
          <a:ln/>
        </p:spPr>
        <p:txBody>
          <a:bodyPr wrap="square" lIns="0" tIns="0" rIns="0" bIns="0" rtlCol="0" anchor="ctr"/>
          <a:lstStyle/>
          <a:p>
            <a:pPr algn="r" indent="0" marL="0">
              <a:buNone/>
            </a:pPr>
            <a:r>
              <a:rPr lang="en-US" sz="700" dirty="0">
                <a:solidFill>
                  <a:srgbClr val="2B9A66"/>
                </a:solidFill>
                <a:latin typeface="Calibri" pitchFamily="34" charset="0"/>
                <a:ea typeface="Calibri" pitchFamily="34" charset="-122"/>
                <a:cs typeface="Calibri" pitchFamily="34" charset="-120"/>
              </a:rPr>
              <a:t>+151%</a:t>
            </a:r>
            <a:endParaRPr lang="en-US" sz="700" dirty="0"/>
          </a:p>
        </p:txBody>
      </p:sp>
      <p:sp>
        <p:nvSpPr>
          <p:cNvPr id="213" name="Shape 211"/>
          <p:cNvSpPr/>
          <p:nvPr/>
        </p:nvSpPr>
        <p:spPr>
          <a:xfrm>
            <a:off x="265176" y="9363456"/>
            <a:ext cx="6327648" cy="1152144"/>
          </a:xfrm>
          <a:prstGeom prst="roundRect">
            <a:avLst>
              <a:gd name="adj" fmla="val 1587"/>
            </a:avLst>
          </a:prstGeom>
          <a:solidFill>
            <a:srgbClr val="FFFFFF"/>
          </a:solidFill>
          <a:ln w="9525">
            <a:solidFill>
              <a:srgbClr val="C8DCD7"/>
            </a:solidFill>
            <a:prstDash val="solid"/>
          </a:ln>
        </p:spPr>
      </p:sp>
      <p:sp>
        <p:nvSpPr>
          <p:cNvPr id="214" name="Shape 212"/>
          <p:cNvSpPr/>
          <p:nvPr/>
        </p:nvSpPr>
        <p:spPr>
          <a:xfrm>
            <a:off x="265176" y="9363456"/>
            <a:ext cx="6327648" cy="274320"/>
          </a:xfrm>
          <a:prstGeom prst="rect">
            <a:avLst/>
          </a:prstGeom>
          <a:solidFill>
            <a:srgbClr val="116F68"/>
          </a:solidFill>
          <a:ln/>
        </p:spPr>
      </p:sp>
      <p:sp>
        <p:nvSpPr>
          <p:cNvPr id="215" name="Text 213"/>
          <p:cNvSpPr/>
          <p:nvPr/>
        </p:nvSpPr>
        <p:spPr>
          <a:xfrm>
            <a:off x="347472" y="9381744"/>
            <a:ext cx="6163056"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PACK READ — ONE HERO, TWO DECLINING PACKS, ONE CONCENTRATION RISK</a:t>
            </a:r>
            <a:endParaRPr lang="en-US" sz="700" dirty="0"/>
          </a:p>
        </p:txBody>
      </p:sp>
      <p:sp>
        <p:nvSpPr>
          <p:cNvPr id="216" name="Shape 214"/>
          <p:cNvSpPr/>
          <p:nvPr/>
        </p:nvSpPr>
        <p:spPr>
          <a:xfrm>
            <a:off x="374904" y="9797796"/>
            <a:ext cx="50292" cy="50292"/>
          </a:xfrm>
          <a:prstGeom prst="ellipse">
            <a:avLst/>
          </a:prstGeom>
          <a:solidFill>
            <a:srgbClr val="28A596"/>
          </a:solidFill>
          <a:ln/>
        </p:spPr>
      </p:sp>
      <p:sp>
        <p:nvSpPr>
          <p:cNvPr id="217" name="Text 215"/>
          <p:cNvSpPr/>
          <p:nvPr/>
        </p:nvSpPr>
        <p:spPr>
          <a:xfrm>
            <a:off x="493776" y="9747504"/>
            <a:ext cx="5989320" cy="256032"/>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150 ml: 58% of Mamaearth Face Wash at +98% YoY. A chain-level delisting or stock gap on this one pack is a brand-level event, so it leads the hero-SKU OSA target.</a:t>
            </a:r>
            <a:endParaRPr lang="en-US" sz="720" dirty="0"/>
          </a:p>
        </p:txBody>
      </p:sp>
      <p:sp>
        <p:nvSpPr>
          <p:cNvPr id="218" name="Shape 216"/>
          <p:cNvSpPr/>
          <p:nvPr/>
        </p:nvSpPr>
        <p:spPr>
          <a:xfrm>
            <a:off x="374904" y="10072116"/>
            <a:ext cx="50292" cy="50292"/>
          </a:xfrm>
          <a:prstGeom prst="ellipse">
            <a:avLst/>
          </a:prstGeom>
          <a:solidFill>
            <a:srgbClr val="D6544D"/>
          </a:solidFill>
          <a:ln/>
        </p:spPr>
      </p:sp>
      <p:sp>
        <p:nvSpPr>
          <p:cNvPr id="219" name="Text 217"/>
          <p:cNvSpPr/>
          <p:nvPr/>
        </p:nvSpPr>
        <p:spPr>
          <a:xfrm>
            <a:off x="493776" y="10021824"/>
            <a:ext cx="5989320" cy="25603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Fix 100 ml and Shampoo 250 ml: 21% and 13% of their brands, both declining on value and share. Check availability and promo cover before reading either as demand.</a:t>
            </a:r>
            <a:endParaRPr lang="en-US" sz="720" dirty="0"/>
          </a:p>
        </p:txBody>
      </p:sp>
      <p:sp>
        <p:nvSpPr>
          <p:cNvPr id="220" name="Shape 218"/>
          <p:cNvSpPr/>
          <p:nvPr/>
        </p:nvSpPr>
        <p:spPr>
          <a:xfrm>
            <a:off x="374904" y="10346436"/>
            <a:ext cx="50292" cy="50292"/>
          </a:xfrm>
          <a:prstGeom prst="ellipse">
            <a:avLst/>
          </a:prstGeom>
          <a:solidFill>
            <a:srgbClr val="F2B84B"/>
          </a:solidFill>
          <a:ln/>
        </p:spPr>
      </p:sp>
      <p:sp>
        <p:nvSpPr>
          <p:cNvPr id="221" name="Text 219"/>
          <p:cNvSpPr/>
          <p:nvPr/>
        </p:nvSpPr>
        <p:spPr>
          <a:xfrm>
            <a:off x="493776" y="10296144"/>
            <a:ext cx="5989320" cy="256032"/>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Watch the 400 ml concentration: 76% of Mamaearth Shampoo sits in a single pack. 650 ml is the only credible second pack and it is new.</a:t>
            </a:r>
            <a:endParaRPr lang="en-US" sz="720" dirty="0"/>
          </a:p>
        </p:txBody>
      </p:sp>
      <p:sp>
        <p:nvSpPr>
          <p:cNvPr id="222" name="Shape 220"/>
          <p:cNvSpPr/>
          <p:nvPr/>
        </p:nvSpPr>
        <p:spPr>
          <a:xfrm>
            <a:off x="265176" y="10625328"/>
            <a:ext cx="6327648" cy="768096"/>
          </a:xfrm>
          <a:prstGeom prst="roundRect">
            <a:avLst>
              <a:gd name="adj" fmla="val 3571"/>
            </a:avLst>
          </a:prstGeom>
          <a:solidFill>
            <a:srgbClr val="DFF2ED"/>
          </a:solidFill>
          <a:ln w="12700">
            <a:solidFill>
              <a:srgbClr val="28A596"/>
            </a:solidFill>
            <a:prstDash val="solid"/>
          </a:ln>
        </p:spPr>
      </p:sp>
      <p:sp>
        <p:nvSpPr>
          <p:cNvPr id="223" name="Text 221"/>
          <p:cNvSpPr/>
          <p:nvPr/>
        </p:nvSpPr>
        <p:spPr>
          <a:xfrm>
            <a:off x="393192" y="10680192"/>
            <a:ext cx="6071616" cy="676656"/>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DECISION — RATE BEFORE REACH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Fix the two declining packs first, then run the shampoo velocity pilot in South-1 — the only zone where shampoo out-sells cleanser. Expand The Derma Co. Face Wash, where 27.3% WD is the one genuine width gap in the portfolio. Hold the large-format entry: 340 ml (₹261 Cr), 1000 ml (₹216 Cr) and 580 ml (₹64 Cr) are ₹541 Cr of pool we do not touch, but Dove covers 250/340/400/1000 ml and Head &amp; Shoulders 180/250/400/580 ml — these pools are contested, not empty. Entering them is a slow share-steal against an entrenched leader, and adding formats while under-earning per point spends listing fees to dilute a thin rate further.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Two zones convert at 86% — that rate is worth ₹6.22 Cr applied to the other three</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Zone portfolio | contribution, conversion and recoverable value at the internal benchmark</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ZONE SCORECARD — RANKED BY RECOVERABLE VALUE, NOT BY SIZE</a:t>
            </a:r>
            <a:endParaRPr lang="en-US" sz="720" dirty="0"/>
          </a:p>
        </p:txBody>
      </p:sp>
      <p:sp>
        <p:nvSpPr>
          <p:cNvPr id="21" name="Shape 19"/>
          <p:cNvSpPr/>
          <p:nvPr/>
        </p:nvSpPr>
        <p:spPr>
          <a:xfrm>
            <a:off x="265176" y="1609344"/>
            <a:ext cx="6327648" cy="256032"/>
          </a:xfrm>
          <a:prstGeom prst="rect">
            <a:avLst/>
          </a:prstGeom>
          <a:solidFill>
            <a:srgbClr val="116F68"/>
          </a:solidFill>
          <a:ln/>
        </p:spPr>
      </p:sp>
      <p:sp>
        <p:nvSpPr>
          <p:cNvPr id="22" name="Text 20"/>
          <p:cNvSpPr/>
          <p:nvPr/>
        </p:nvSpPr>
        <p:spPr>
          <a:xfrm>
            <a:off x="320040" y="1627632"/>
            <a:ext cx="89535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ZONE</a:t>
            </a:r>
            <a:endParaRPr lang="en-US" sz="660" dirty="0"/>
          </a:p>
        </p:txBody>
      </p:sp>
      <p:sp>
        <p:nvSpPr>
          <p:cNvPr id="23" name="Text 21"/>
          <p:cNvSpPr/>
          <p:nvPr/>
        </p:nvSpPr>
        <p:spPr>
          <a:xfrm>
            <a:off x="1325122"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24" name="Text 22"/>
          <p:cNvSpPr/>
          <p:nvPr/>
        </p:nvSpPr>
        <p:spPr>
          <a:xfrm>
            <a:off x="2111708" y="1627632"/>
            <a:ext cx="676858"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25" name="Text 23"/>
          <p:cNvSpPr/>
          <p:nvPr/>
        </p:nvSpPr>
        <p:spPr>
          <a:xfrm>
            <a:off x="2898294" y="1627632"/>
            <a:ext cx="519541"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MIX</a:t>
            </a:r>
            <a:endParaRPr lang="en-US" sz="660" dirty="0"/>
          </a:p>
        </p:txBody>
      </p:sp>
      <p:sp>
        <p:nvSpPr>
          <p:cNvPr id="26" name="Text 24"/>
          <p:cNvSpPr/>
          <p:nvPr/>
        </p:nvSpPr>
        <p:spPr>
          <a:xfrm>
            <a:off x="3527563"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27" name="Text 25"/>
          <p:cNvSpPr/>
          <p:nvPr/>
        </p:nvSpPr>
        <p:spPr>
          <a:xfrm>
            <a:off x="4209271" y="1627632"/>
            <a:ext cx="57198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28" name="Text 26"/>
          <p:cNvSpPr/>
          <p:nvPr/>
        </p:nvSpPr>
        <p:spPr>
          <a:xfrm>
            <a:off x="4890979" y="1627632"/>
            <a:ext cx="8953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BENCHMARK</a:t>
            </a:r>
            <a:endParaRPr lang="en-US" sz="660" dirty="0"/>
          </a:p>
        </p:txBody>
      </p:sp>
      <p:sp>
        <p:nvSpPr>
          <p:cNvPr id="29" name="Text 27"/>
          <p:cNvSpPr/>
          <p:nvPr/>
        </p:nvSpPr>
        <p:spPr>
          <a:xfrm>
            <a:off x="5896061" y="1627632"/>
            <a:ext cx="6418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0" name="Shape 28"/>
          <p:cNvSpPr/>
          <p:nvPr/>
        </p:nvSpPr>
        <p:spPr>
          <a:xfrm>
            <a:off x="265176" y="1865376"/>
            <a:ext cx="6327648" cy="347472"/>
          </a:xfrm>
          <a:prstGeom prst="rect">
            <a:avLst/>
          </a:prstGeom>
          <a:solidFill>
            <a:srgbClr val="F4F9F8"/>
          </a:solidFill>
          <a:ln/>
        </p:spPr>
      </p:sp>
      <p:sp>
        <p:nvSpPr>
          <p:cNvPr id="31" name="Shape 29"/>
          <p:cNvSpPr/>
          <p:nvPr/>
        </p:nvSpPr>
        <p:spPr>
          <a:xfrm>
            <a:off x="265176" y="2212848"/>
            <a:ext cx="6327648" cy="0"/>
          </a:xfrm>
          <a:prstGeom prst="line">
            <a:avLst/>
          </a:prstGeom>
          <a:noFill/>
          <a:ln w="6350">
            <a:solidFill>
              <a:srgbClr val="C8DCD7"/>
            </a:solidFill>
            <a:prstDash val="solid"/>
          </a:ln>
        </p:spPr>
      </p:sp>
      <p:sp>
        <p:nvSpPr>
          <p:cNvPr id="32" name="Text 30"/>
          <p:cNvSpPr/>
          <p:nvPr/>
        </p:nvSpPr>
        <p:spPr>
          <a:xfrm>
            <a:off x="320040" y="186537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North</a:t>
            </a:r>
            <a:endParaRPr lang="en-US" sz="740" dirty="0"/>
          </a:p>
        </p:txBody>
      </p:sp>
      <p:sp>
        <p:nvSpPr>
          <p:cNvPr id="33" name="Text 31"/>
          <p:cNvSpPr/>
          <p:nvPr/>
        </p:nvSpPr>
        <p:spPr>
          <a:xfrm>
            <a:off x="1325122"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11.38</a:t>
            </a:r>
            <a:endParaRPr lang="en-US" sz="740" dirty="0"/>
          </a:p>
        </p:txBody>
      </p:sp>
      <p:sp>
        <p:nvSpPr>
          <p:cNvPr id="34" name="Text 32"/>
          <p:cNvSpPr/>
          <p:nvPr/>
        </p:nvSpPr>
        <p:spPr>
          <a:xfrm>
            <a:off x="2111708" y="186537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6.97</a:t>
            </a:r>
            <a:endParaRPr lang="en-US" sz="740" dirty="0"/>
          </a:p>
        </p:txBody>
      </p:sp>
      <p:sp>
        <p:nvSpPr>
          <p:cNvPr id="35" name="Text 33"/>
          <p:cNvSpPr/>
          <p:nvPr/>
        </p:nvSpPr>
        <p:spPr>
          <a:xfrm>
            <a:off x="2898294" y="186537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20.5%</a:t>
            </a:r>
            <a:endParaRPr lang="en-US" sz="740" dirty="0"/>
          </a:p>
        </p:txBody>
      </p:sp>
      <p:sp>
        <p:nvSpPr>
          <p:cNvPr id="36" name="Text 34"/>
          <p:cNvSpPr/>
          <p:nvPr/>
        </p:nvSpPr>
        <p:spPr>
          <a:xfrm>
            <a:off x="3527563" y="1865376"/>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61.3%</a:t>
            </a:r>
            <a:endParaRPr lang="en-US" sz="740" dirty="0"/>
          </a:p>
        </p:txBody>
      </p:sp>
      <p:sp>
        <p:nvSpPr>
          <p:cNvPr id="37" name="Text 35"/>
          <p:cNvSpPr/>
          <p:nvPr/>
        </p:nvSpPr>
        <p:spPr>
          <a:xfrm>
            <a:off x="4209271" y="186537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4.41</a:t>
            </a:r>
            <a:endParaRPr lang="en-US" sz="740" dirty="0"/>
          </a:p>
        </p:txBody>
      </p:sp>
      <p:sp>
        <p:nvSpPr>
          <p:cNvPr id="38" name="Text 36"/>
          <p:cNvSpPr/>
          <p:nvPr/>
        </p:nvSpPr>
        <p:spPr>
          <a:xfrm>
            <a:off x="4890979" y="1865376"/>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+2.79 Cr</a:t>
            </a:r>
            <a:endParaRPr lang="en-US" sz="740" dirty="0"/>
          </a:p>
        </p:txBody>
      </p:sp>
      <p:sp>
        <p:nvSpPr>
          <p:cNvPr id="39" name="Text 37"/>
          <p:cNvSpPr/>
          <p:nvPr/>
        </p:nvSpPr>
        <p:spPr>
          <a:xfrm>
            <a:off x="5896061" y="1865376"/>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0" name="Shape 38"/>
          <p:cNvSpPr/>
          <p:nvPr/>
        </p:nvSpPr>
        <p:spPr>
          <a:xfrm>
            <a:off x="265176" y="2560320"/>
            <a:ext cx="6327648" cy="0"/>
          </a:xfrm>
          <a:prstGeom prst="line">
            <a:avLst/>
          </a:prstGeom>
          <a:noFill/>
          <a:ln w="6350">
            <a:solidFill>
              <a:srgbClr val="C8DCD7"/>
            </a:solidFill>
            <a:prstDash val="solid"/>
          </a:ln>
        </p:spPr>
      </p:sp>
      <p:sp>
        <p:nvSpPr>
          <p:cNvPr id="41" name="Text 39"/>
          <p:cNvSpPr/>
          <p:nvPr/>
        </p:nvSpPr>
        <p:spPr>
          <a:xfrm>
            <a:off x="320040" y="2212848"/>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East</a:t>
            </a:r>
            <a:endParaRPr lang="en-US" sz="740" dirty="0"/>
          </a:p>
        </p:txBody>
      </p:sp>
      <p:sp>
        <p:nvSpPr>
          <p:cNvPr id="42" name="Text 40"/>
          <p:cNvSpPr/>
          <p:nvPr/>
        </p:nvSpPr>
        <p:spPr>
          <a:xfrm>
            <a:off x="1325122"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7.10</a:t>
            </a:r>
            <a:endParaRPr lang="en-US" sz="740" dirty="0"/>
          </a:p>
        </p:txBody>
      </p:sp>
      <p:sp>
        <p:nvSpPr>
          <p:cNvPr id="43" name="Text 41"/>
          <p:cNvSpPr/>
          <p:nvPr/>
        </p:nvSpPr>
        <p:spPr>
          <a:xfrm>
            <a:off x="2111708" y="2212848"/>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3.54</a:t>
            </a:r>
            <a:endParaRPr lang="en-US" sz="740" dirty="0"/>
          </a:p>
        </p:txBody>
      </p:sp>
      <p:sp>
        <p:nvSpPr>
          <p:cNvPr id="44" name="Text 42"/>
          <p:cNvSpPr/>
          <p:nvPr/>
        </p:nvSpPr>
        <p:spPr>
          <a:xfrm>
            <a:off x="2898294" y="2212848"/>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10.4%</a:t>
            </a:r>
            <a:endParaRPr lang="en-US" sz="740" dirty="0"/>
          </a:p>
        </p:txBody>
      </p:sp>
      <p:sp>
        <p:nvSpPr>
          <p:cNvPr id="45" name="Text 43"/>
          <p:cNvSpPr/>
          <p:nvPr/>
        </p:nvSpPr>
        <p:spPr>
          <a:xfrm>
            <a:off x="3527563" y="2212848"/>
            <a:ext cx="571980" cy="347472"/>
          </a:xfrm>
          <a:prstGeom prst="rect">
            <a:avLst/>
          </a:prstGeom>
          <a:noFill/>
          <a:ln/>
        </p:spPr>
        <p:txBody>
          <a:bodyPr wrap="square" lIns="0" tIns="0" rIns="0" bIns="0" rtlCol="0" anchor="ctr"/>
          <a:lstStyle/>
          <a:p>
            <a:pPr algn="r" indent="0" marL="0">
              <a:buNone/>
            </a:pPr>
            <a:r>
              <a:rPr lang="en-US" sz="740" b="1" dirty="0">
                <a:solidFill>
                  <a:srgbClr val="D6544D"/>
                </a:solidFill>
                <a:latin typeface="Calibri" pitchFamily="34" charset="0"/>
                <a:ea typeface="Calibri" pitchFamily="34" charset="-122"/>
                <a:cs typeface="Calibri" pitchFamily="34" charset="-120"/>
              </a:rPr>
              <a:t>49.9%</a:t>
            </a:r>
            <a:endParaRPr lang="en-US" sz="740" dirty="0"/>
          </a:p>
        </p:txBody>
      </p:sp>
      <p:sp>
        <p:nvSpPr>
          <p:cNvPr id="46" name="Text 44"/>
          <p:cNvSpPr/>
          <p:nvPr/>
        </p:nvSpPr>
        <p:spPr>
          <a:xfrm>
            <a:off x="4209271" y="2212848"/>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3.56</a:t>
            </a:r>
            <a:endParaRPr lang="en-US" sz="740" dirty="0"/>
          </a:p>
        </p:txBody>
      </p:sp>
      <p:sp>
        <p:nvSpPr>
          <p:cNvPr id="47" name="Text 45"/>
          <p:cNvSpPr/>
          <p:nvPr/>
        </p:nvSpPr>
        <p:spPr>
          <a:xfrm>
            <a:off x="4890979" y="2212848"/>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+2.55 Cr</a:t>
            </a:r>
            <a:endParaRPr lang="en-US" sz="740" dirty="0"/>
          </a:p>
        </p:txBody>
      </p:sp>
      <p:sp>
        <p:nvSpPr>
          <p:cNvPr id="48" name="Text 46"/>
          <p:cNvSpPr/>
          <p:nvPr/>
        </p:nvSpPr>
        <p:spPr>
          <a:xfrm>
            <a:off x="5896061" y="2212848"/>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49" name="Shape 47"/>
          <p:cNvSpPr/>
          <p:nvPr/>
        </p:nvSpPr>
        <p:spPr>
          <a:xfrm>
            <a:off x="265176" y="2560320"/>
            <a:ext cx="6327648" cy="347472"/>
          </a:xfrm>
          <a:prstGeom prst="rect">
            <a:avLst/>
          </a:prstGeom>
          <a:solidFill>
            <a:srgbClr val="F4F9F8"/>
          </a:solidFill>
          <a:ln/>
        </p:spPr>
      </p:sp>
      <p:sp>
        <p:nvSpPr>
          <p:cNvPr id="50" name="Shape 48"/>
          <p:cNvSpPr/>
          <p:nvPr/>
        </p:nvSpPr>
        <p:spPr>
          <a:xfrm>
            <a:off x="265176" y="2907792"/>
            <a:ext cx="6327648" cy="0"/>
          </a:xfrm>
          <a:prstGeom prst="line">
            <a:avLst/>
          </a:prstGeom>
          <a:noFill/>
          <a:ln w="6350">
            <a:solidFill>
              <a:srgbClr val="C8DCD7"/>
            </a:solidFill>
            <a:prstDash val="solid"/>
          </a:ln>
        </p:spPr>
      </p:sp>
      <p:sp>
        <p:nvSpPr>
          <p:cNvPr id="51" name="Text 49"/>
          <p:cNvSpPr/>
          <p:nvPr/>
        </p:nvSpPr>
        <p:spPr>
          <a:xfrm>
            <a:off x="320040" y="2560320"/>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South-2</a:t>
            </a:r>
            <a:endParaRPr lang="en-US" sz="740" dirty="0"/>
          </a:p>
        </p:txBody>
      </p:sp>
      <p:sp>
        <p:nvSpPr>
          <p:cNvPr id="52" name="Text 50"/>
          <p:cNvSpPr/>
          <p:nvPr/>
        </p:nvSpPr>
        <p:spPr>
          <a:xfrm>
            <a:off x="1325122"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6.73</a:t>
            </a:r>
            <a:endParaRPr lang="en-US" sz="740" dirty="0"/>
          </a:p>
        </p:txBody>
      </p:sp>
      <p:sp>
        <p:nvSpPr>
          <p:cNvPr id="53" name="Text 51"/>
          <p:cNvSpPr/>
          <p:nvPr/>
        </p:nvSpPr>
        <p:spPr>
          <a:xfrm>
            <a:off x="2111708" y="2560320"/>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54" name="Text 52"/>
          <p:cNvSpPr/>
          <p:nvPr/>
        </p:nvSpPr>
        <p:spPr>
          <a:xfrm>
            <a:off x="2898294" y="2560320"/>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55" name="Text 53"/>
          <p:cNvSpPr/>
          <p:nvPr/>
        </p:nvSpPr>
        <p:spPr>
          <a:xfrm>
            <a:off x="3527563" y="2560320"/>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72.4%</a:t>
            </a:r>
            <a:endParaRPr lang="en-US" sz="740" dirty="0"/>
          </a:p>
        </p:txBody>
      </p:sp>
      <p:sp>
        <p:nvSpPr>
          <p:cNvPr id="56" name="Text 54"/>
          <p:cNvSpPr/>
          <p:nvPr/>
        </p:nvSpPr>
        <p:spPr>
          <a:xfrm>
            <a:off x="4209271" y="2560320"/>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1.85</a:t>
            </a:r>
            <a:endParaRPr lang="en-US" sz="740" dirty="0"/>
          </a:p>
        </p:txBody>
      </p:sp>
      <p:sp>
        <p:nvSpPr>
          <p:cNvPr id="57" name="Text 55"/>
          <p:cNvSpPr/>
          <p:nvPr/>
        </p:nvSpPr>
        <p:spPr>
          <a:xfrm>
            <a:off x="4890979" y="2560320"/>
            <a:ext cx="895354"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+0.90 Cr</a:t>
            </a:r>
            <a:endParaRPr lang="en-US" sz="740" dirty="0"/>
          </a:p>
        </p:txBody>
      </p:sp>
      <p:sp>
        <p:nvSpPr>
          <p:cNvPr id="58" name="Text 56"/>
          <p:cNvSpPr/>
          <p:nvPr/>
        </p:nvSpPr>
        <p:spPr>
          <a:xfrm>
            <a:off x="5896061" y="2560320"/>
            <a:ext cx="641899" cy="347472"/>
          </a:xfrm>
          <a:prstGeom prst="rect">
            <a:avLst/>
          </a:prstGeom>
          <a:noFill/>
          <a:ln/>
        </p:spPr>
        <p:txBody>
          <a:bodyPr wrap="square" lIns="0" tIns="0" rIns="0" bIns="0" rtlCol="0" anchor="ctr"/>
          <a:lstStyle/>
          <a:p>
            <a:pPr algn="l" indent="0" marL="0">
              <a:buNone/>
            </a:pPr>
            <a:r>
              <a:rPr lang="en-US" sz="740" b="1" dirty="0">
                <a:solidFill>
                  <a:srgbClr val="D6544D"/>
                </a:solidFill>
                <a:latin typeface="Calibri" pitchFamily="34" charset="0"/>
                <a:ea typeface="Calibri" pitchFamily="34" charset="-122"/>
                <a:cs typeface="Calibri" pitchFamily="34" charset="-120"/>
              </a:rPr>
              <a:t>FIX</a:t>
            </a:r>
            <a:endParaRPr lang="en-US" sz="740" dirty="0"/>
          </a:p>
        </p:txBody>
      </p:sp>
      <p:sp>
        <p:nvSpPr>
          <p:cNvPr id="59" name="Shape 57"/>
          <p:cNvSpPr/>
          <p:nvPr/>
        </p:nvSpPr>
        <p:spPr>
          <a:xfrm>
            <a:off x="265176" y="3255264"/>
            <a:ext cx="6327648" cy="0"/>
          </a:xfrm>
          <a:prstGeom prst="line">
            <a:avLst/>
          </a:prstGeom>
          <a:noFill/>
          <a:ln w="6350">
            <a:solidFill>
              <a:srgbClr val="C8DCD7"/>
            </a:solidFill>
            <a:prstDash val="solid"/>
          </a:ln>
        </p:spPr>
      </p:sp>
      <p:sp>
        <p:nvSpPr>
          <p:cNvPr id="60" name="Text 58"/>
          <p:cNvSpPr/>
          <p:nvPr/>
        </p:nvSpPr>
        <p:spPr>
          <a:xfrm>
            <a:off x="320040" y="2907792"/>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Central</a:t>
            </a:r>
            <a:endParaRPr lang="en-US" sz="740" dirty="0"/>
          </a:p>
        </p:txBody>
      </p:sp>
      <p:sp>
        <p:nvSpPr>
          <p:cNvPr id="61" name="Text 59"/>
          <p:cNvSpPr/>
          <p:nvPr/>
        </p:nvSpPr>
        <p:spPr>
          <a:xfrm>
            <a:off x="1325122"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2.62</a:t>
            </a:r>
            <a:endParaRPr lang="en-US" sz="740" dirty="0"/>
          </a:p>
        </p:txBody>
      </p:sp>
      <p:sp>
        <p:nvSpPr>
          <p:cNvPr id="62" name="Text 60"/>
          <p:cNvSpPr/>
          <p:nvPr/>
        </p:nvSpPr>
        <p:spPr>
          <a:xfrm>
            <a:off x="2111708" y="2907792"/>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2.12</a:t>
            </a:r>
            <a:endParaRPr lang="en-US" sz="740" dirty="0"/>
          </a:p>
        </p:txBody>
      </p:sp>
      <p:sp>
        <p:nvSpPr>
          <p:cNvPr id="63" name="Text 61"/>
          <p:cNvSpPr/>
          <p:nvPr/>
        </p:nvSpPr>
        <p:spPr>
          <a:xfrm>
            <a:off x="2898294" y="2907792"/>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6.2%</a:t>
            </a:r>
            <a:endParaRPr lang="en-US" sz="740" dirty="0"/>
          </a:p>
        </p:txBody>
      </p:sp>
      <p:sp>
        <p:nvSpPr>
          <p:cNvPr id="64" name="Text 62"/>
          <p:cNvSpPr/>
          <p:nvPr/>
        </p:nvSpPr>
        <p:spPr>
          <a:xfrm>
            <a:off x="3527563" y="2907792"/>
            <a:ext cx="571980" cy="347472"/>
          </a:xfrm>
          <a:prstGeom prst="rect">
            <a:avLst/>
          </a:prstGeom>
          <a:noFill/>
          <a:ln/>
        </p:spPr>
        <p:txBody>
          <a:bodyPr wrap="square" lIns="0" tIns="0" rIns="0" bIns="0" rtlCol="0" anchor="ctr"/>
          <a:lstStyle/>
          <a:p>
            <a:pPr algn="r" indent="0" marL="0">
              <a:buNone/>
            </a:pPr>
            <a:r>
              <a:rPr lang="en-US" sz="740" b="1" dirty="0">
                <a:solidFill>
                  <a:srgbClr val="F2B84B"/>
                </a:solidFill>
                <a:latin typeface="Calibri" pitchFamily="34" charset="0"/>
                <a:ea typeface="Calibri" pitchFamily="34" charset="-122"/>
                <a:cs typeface="Calibri" pitchFamily="34" charset="-120"/>
              </a:rPr>
              <a:t>80.9%</a:t>
            </a:r>
            <a:endParaRPr lang="en-US" sz="740" dirty="0"/>
          </a:p>
        </p:txBody>
      </p:sp>
      <p:sp>
        <p:nvSpPr>
          <p:cNvPr id="65" name="Text 63"/>
          <p:cNvSpPr/>
          <p:nvPr/>
        </p:nvSpPr>
        <p:spPr>
          <a:xfrm>
            <a:off x="4209271" y="2907792"/>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0.50</a:t>
            </a:r>
            <a:endParaRPr lang="en-US" sz="740" dirty="0"/>
          </a:p>
        </p:txBody>
      </p:sp>
      <p:sp>
        <p:nvSpPr>
          <p:cNvPr id="66" name="Text 64"/>
          <p:cNvSpPr/>
          <p:nvPr/>
        </p:nvSpPr>
        <p:spPr>
          <a:xfrm>
            <a:off x="4890979" y="2907792"/>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67" name="Text 65"/>
          <p:cNvSpPr/>
          <p:nvPr/>
        </p:nvSpPr>
        <p:spPr>
          <a:xfrm>
            <a:off x="5896061" y="2907792"/>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68" name="Shape 66"/>
          <p:cNvSpPr/>
          <p:nvPr/>
        </p:nvSpPr>
        <p:spPr>
          <a:xfrm>
            <a:off x="265176" y="3255264"/>
            <a:ext cx="6327648" cy="347472"/>
          </a:xfrm>
          <a:prstGeom prst="rect">
            <a:avLst/>
          </a:prstGeom>
          <a:solidFill>
            <a:srgbClr val="F4F9F8"/>
          </a:solidFill>
          <a:ln/>
        </p:spPr>
      </p:sp>
      <p:sp>
        <p:nvSpPr>
          <p:cNvPr id="69" name="Shape 67"/>
          <p:cNvSpPr/>
          <p:nvPr/>
        </p:nvSpPr>
        <p:spPr>
          <a:xfrm>
            <a:off x="265176" y="3602736"/>
            <a:ext cx="6327648" cy="0"/>
          </a:xfrm>
          <a:prstGeom prst="line">
            <a:avLst/>
          </a:prstGeom>
          <a:noFill/>
          <a:ln w="6350">
            <a:solidFill>
              <a:srgbClr val="C8DCD7"/>
            </a:solidFill>
            <a:prstDash val="solid"/>
          </a:ln>
        </p:spPr>
      </p:sp>
      <p:sp>
        <p:nvSpPr>
          <p:cNvPr id="70" name="Text 68"/>
          <p:cNvSpPr/>
          <p:nvPr/>
        </p:nvSpPr>
        <p:spPr>
          <a:xfrm>
            <a:off x="320040" y="3255264"/>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West</a:t>
            </a:r>
            <a:endParaRPr lang="en-US" sz="740" dirty="0"/>
          </a:p>
        </p:txBody>
      </p:sp>
      <p:sp>
        <p:nvSpPr>
          <p:cNvPr id="71" name="Text 69"/>
          <p:cNvSpPr/>
          <p:nvPr/>
        </p:nvSpPr>
        <p:spPr>
          <a:xfrm>
            <a:off x="1325122"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9.71</a:t>
            </a:r>
            <a:endParaRPr lang="en-US" sz="740" dirty="0"/>
          </a:p>
        </p:txBody>
      </p:sp>
      <p:sp>
        <p:nvSpPr>
          <p:cNvPr id="72" name="Text 70"/>
          <p:cNvSpPr/>
          <p:nvPr/>
        </p:nvSpPr>
        <p:spPr>
          <a:xfrm>
            <a:off x="2111708" y="3255264"/>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8.27</a:t>
            </a:r>
            <a:endParaRPr lang="en-US" sz="740" dirty="0"/>
          </a:p>
        </p:txBody>
      </p:sp>
      <p:sp>
        <p:nvSpPr>
          <p:cNvPr id="73" name="Text 71"/>
          <p:cNvSpPr/>
          <p:nvPr/>
        </p:nvSpPr>
        <p:spPr>
          <a:xfrm>
            <a:off x="2898294" y="3255264"/>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24.4%</a:t>
            </a:r>
            <a:endParaRPr lang="en-US" sz="740" dirty="0"/>
          </a:p>
        </p:txBody>
      </p:sp>
      <p:sp>
        <p:nvSpPr>
          <p:cNvPr id="74" name="Text 72"/>
          <p:cNvSpPr/>
          <p:nvPr/>
        </p:nvSpPr>
        <p:spPr>
          <a:xfrm>
            <a:off x="3527563" y="3255264"/>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85.2%</a:t>
            </a:r>
            <a:endParaRPr lang="en-US" sz="740" dirty="0"/>
          </a:p>
        </p:txBody>
      </p:sp>
      <p:sp>
        <p:nvSpPr>
          <p:cNvPr id="75" name="Text 73"/>
          <p:cNvSpPr/>
          <p:nvPr/>
        </p:nvSpPr>
        <p:spPr>
          <a:xfrm>
            <a:off x="4209271" y="3255264"/>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1.44</a:t>
            </a:r>
            <a:endParaRPr lang="en-US" sz="740" dirty="0"/>
          </a:p>
        </p:txBody>
      </p:sp>
      <p:sp>
        <p:nvSpPr>
          <p:cNvPr id="76" name="Text 74"/>
          <p:cNvSpPr/>
          <p:nvPr/>
        </p:nvSpPr>
        <p:spPr>
          <a:xfrm>
            <a:off x="4890979" y="3255264"/>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77" name="Text 75"/>
          <p:cNvSpPr/>
          <p:nvPr/>
        </p:nvSpPr>
        <p:spPr>
          <a:xfrm>
            <a:off x="5896061" y="3255264"/>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78" name="Shape 76"/>
          <p:cNvSpPr/>
          <p:nvPr/>
        </p:nvSpPr>
        <p:spPr>
          <a:xfrm>
            <a:off x="265176" y="3950208"/>
            <a:ext cx="6327648" cy="0"/>
          </a:xfrm>
          <a:prstGeom prst="line">
            <a:avLst/>
          </a:prstGeom>
          <a:noFill/>
          <a:ln w="6350">
            <a:solidFill>
              <a:srgbClr val="C8DCD7"/>
            </a:solidFill>
            <a:prstDash val="solid"/>
          </a:ln>
        </p:spPr>
      </p:sp>
      <p:sp>
        <p:nvSpPr>
          <p:cNvPr id="79" name="Text 77"/>
          <p:cNvSpPr/>
          <p:nvPr/>
        </p:nvSpPr>
        <p:spPr>
          <a:xfrm>
            <a:off x="320040" y="3602736"/>
            <a:ext cx="895354" cy="347472"/>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South-1</a:t>
            </a:r>
            <a:endParaRPr lang="en-US" sz="740" dirty="0"/>
          </a:p>
        </p:txBody>
      </p:sp>
      <p:sp>
        <p:nvSpPr>
          <p:cNvPr id="80" name="Text 78"/>
          <p:cNvSpPr/>
          <p:nvPr/>
        </p:nvSpPr>
        <p:spPr>
          <a:xfrm>
            <a:off x="1325122"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9.48</a:t>
            </a:r>
            <a:endParaRPr lang="en-US" sz="740" dirty="0"/>
          </a:p>
        </p:txBody>
      </p:sp>
      <p:sp>
        <p:nvSpPr>
          <p:cNvPr id="81" name="Text 79"/>
          <p:cNvSpPr/>
          <p:nvPr/>
        </p:nvSpPr>
        <p:spPr>
          <a:xfrm>
            <a:off x="2111708" y="3602736"/>
            <a:ext cx="676858"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8.18</a:t>
            </a:r>
            <a:endParaRPr lang="en-US" sz="740" dirty="0"/>
          </a:p>
        </p:txBody>
      </p:sp>
      <p:sp>
        <p:nvSpPr>
          <p:cNvPr id="82" name="Text 80"/>
          <p:cNvSpPr/>
          <p:nvPr/>
        </p:nvSpPr>
        <p:spPr>
          <a:xfrm>
            <a:off x="2898294" y="3602736"/>
            <a:ext cx="519541"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24.1%</a:t>
            </a:r>
            <a:endParaRPr lang="en-US" sz="740" dirty="0"/>
          </a:p>
        </p:txBody>
      </p:sp>
      <p:sp>
        <p:nvSpPr>
          <p:cNvPr id="83" name="Text 81"/>
          <p:cNvSpPr/>
          <p:nvPr/>
        </p:nvSpPr>
        <p:spPr>
          <a:xfrm>
            <a:off x="3527563" y="3602736"/>
            <a:ext cx="571980" cy="347472"/>
          </a:xfrm>
          <a:prstGeom prst="rect">
            <a:avLst/>
          </a:prstGeom>
          <a:noFill/>
          <a:ln/>
        </p:spPr>
        <p:txBody>
          <a:bodyPr wrap="square" lIns="0" tIns="0" rIns="0" bIns="0" rtlCol="0" anchor="ctr"/>
          <a:lstStyle/>
          <a:p>
            <a:pPr algn="r" indent="0" marL="0">
              <a:buNone/>
            </a:pPr>
            <a:r>
              <a:rPr lang="en-US" sz="740" b="1" dirty="0">
                <a:solidFill>
                  <a:srgbClr val="2B9A66"/>
                </a:solidFill>
                <a:latin typeface="Calibri" pitchFamily="34" charset="0"/>
                <a:ea typeface="Calibri" pitchFamily="34" charset="-122"/>
                <a:cs typeface="Calibri" pitchFamily="34" charset="-120"/>
              </a:rPr>
              <a:t>86.3%</a:t>
            </a:r>
            <a:endParaRPr lang="en-US" sz="740" dirty="0"/>
          </a:p>
        </p:txBody>
      </p:sp>
      <p:sp>
        <p:nvSpPr>
          <p:cNvPr id="84" name="Text 82"/>
          <p:cNvSpPr/>
          <p:nvPr/>
        </p:nvSpPr>
        <p:spPr>
          <a:xfrm>
            <a:off x="4209271" y="3602736"/>
            <a:ext cx="571980" cy="347472"/>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1.30</a:t>
            </a:r>
            <a:endParaRPr lang="en-US" sz="740" dirty="0"/>
          </a:p>
        </p:txBody>
      </p:sp>
      <p:sp>
        <p:nvSpPr>
          <p:cNvPr id="85" name="Text 83"/>
          <p:cNvSpPr/>
          <p:nvPr/>
        </p:nvSpPr>
        <p:spPr>
          <a:xfrm>
            <a:off x="4890979" y="3602736"/>
            <a:ext cx="895354" cy="347472"/>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below floor</a:t>
            </a:r>
            <a:endParaRPr lang="en-US" sz="740" dirty="0"/>
          </a:p>
        </p:txBody>
      </p:sp>
      <p:sp>
        <p:nvSpPr>
          <p:cNvPr id="86" name="Text 84"/>
          <p:cNvSpPr/>
          <p:nvPr/>
        </p:nvSpPr>
        <p:spPr>
          <a:xfrm>
            <a:off x="5896061" y="3602736"/>
            <a:ext cx="641899" cy="347472"/>
          </a:xfrm>
          <a:prstGeom prst="rect">
            <a:avLst/>
          </a:prstGeom>
          <a:noFill/>
          <a:ln/>
        </p:spPr>
        <p:txBody>
          <a:bodyPr wrap="square" lIns="0" tIns="0" rIns="0" bIns="0" rtlCol="0" anchor="ctr"/>
          <a:lstStyle/>
          <a:p>
            <a:pPr algn="l" indent="0" marL="0">
              <a:buNone/>
            </a:pPr>
            <a:r>
              <a:rPr lang="en-US" sz="740" b="1" dirty="0">
                <a:solidFill>
                  <a:srgbClr val="2B9A66"/>
                </a:solidFill>
                <a:latin typeface="Calibri" pitchFamily="34" charset="0"/>
                <a:ea typeface="Calibri" pitchFamily="34" charset="-122"/>
                <a:cs typeface="Calibri" pitchFamily="34" charset="-120"/>
              </a:rPr>
              <a:t>PROTECT</a:t>
            </a:r>
            <a:endParaRPr lang="en-US" sz="740" dirty="0"/>
          </a:p>
        </p:txBody>
      </p:sp>
      <p:sp>
        <p:nvSpPr>
          <p:cNvPr id="87" name="Text 85"/>
          <p:cNvSpPr/>
          <p:nvPr/>
        </p:nvSpPr>
        <p:spPr>
          <a:xfrm>
            <a:off x="265176" y="4023360"/>
            <a:ext cx="6327648" cy="365760"/>
          </a:xfrm>
          <a:prstGeom prst="rect">
            <a:avLst/>
          </a:prstGeom>
          <a:noFill/>
          <a:ln/>
        </p:spPr>
        <p:txBody>
          <a:bodyPr wrap="square" lIns="0" tIns="0" rIns="0" bIns="0" rtlCol="0" anchor="t"/>
          <a:lstStyle/>
          <a:p>
            <a:pPr indent="0" marL="0">
              <a:lnSpc>
                <a:spcPct val="94000"/>
              </a:lnSpc>
              <a:buNone/>
            </a:pPr>
            <a:r>
              <a:rPr lang="en-US" sz="660" dirty="0">
                <a:solidFill>
                  <a:srgbClr val="5F716E"/>
                </a:solidFill>
                <a:latin typeface="Calibri" pitchFamily="34" charset="0"/>
                <a:ea typeface="Calibri" pitchFamily="34" charset="-122"/>
                <a:cs typeface="Calibri" pitchFamily="34" charset="-120"/>
              </a:rPr>
              <a:t>Benchmark = 85.73%, the mean MT conversion of West (85.2%) and South-1 (86.3%). Recoverable = primary × benchmark − actual offtake, holding primary flat; components are rounded to two decimals while the ₹6.22 Cr pool is computed on unrounded values. Zone gaps sum to ₹13.06 Cr. The previous pack headlined ₹13.11 Cr on a blended base that carried the Nykaa (FSN) eB2B account inside MT zone sales; that account is now reported as its own channel.</a:t>
            </a:r>
            <a:endParaRPr lang="en-US" sz="660" dirty="0"/>
          </a:p>
        </p:txBody>
      </p:sp>
      <p:sp>
        <p:nvSpPr>
          <p:cNvPr id="88" name="Shape 86"/>
          <p:cNvSpPr/>
          <p:nvPr/>
        </p:nvSpPr>
        <p:spPr>
          <a:xfrm>
            <a:off x="265176" y="4480560"/>
            <a:ext cx="2017776" cy="1920240"/>
          </a:xfrm>
          <a:prstGeom prst="roundRect">
            <a:avLst>
              <a:gd name="adj" fmla="val 952"/>
            </a:avLst>
          </a:prstGeom>
          <a:solidFill>
            <a:srgbClr val="FFFFFF"/>
          </a:solidFill>
          <a:ln w="9525">
            <a:solidFill>
              <a:srgbClr val="C8DCD7"/>
            </a:solidFill>
            <a:prstDash val="solid"/>
          </a:ln>
        </p:spPr>
      </p:sp>
      <p:sp>
        <p:nvSpPr>
          <p:cNvPr id="89" name="Shape 87"/>
          <p:cNvSpPr/>
          <p:nvPr/>
        </p:nvSpPr>
        <p:spPr>
          <a:xfrm>
            <a:off x="265176" y="4480560"/>
            <a:ext cx="2017776" cy="274320"/>
          </a:xfrm>
          <a:prstGeom prst="rect">
            <a:avLst/>
          </a:prstGeom>
          <a:solidFill>
            <a:srgbClr val="D6544D"/>
          </a:solidFill>
          <a:ln/>
        </p:spPr>
      </p:sp>
      <p:sp>
        <p:nvSpPr>
          <p:cNvPr id="90" name="Text 88"/>
          <p:cNvSpPr/>
          <p:nvPr/>
        </p:nvSpPr>
        <p:spPr>
          <a:xfrm>
            <a:off x="347472"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FIX — THE POOL</a:t>
            </a:r>
            <a:endParaRPr lang="en-US" sz="700" dirty="0"/>
          </a:p>
        </p:txBody>
      </p:sp>
      <p:sp>
        <p:nvSpPr>
          <p:cNvPr id="91" name="Text 89"/>
          <p:cNvSpPr/>
          <p:nvPr/>
        </p:nvSpPr>
        <p:spPr>
          <a:xfrm>
            <a:off x="356616" y="4846320"/>
            <a:ext cx="1834896"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₹6.22 Cr</a:t>
            </a:r>
            <a:endParaRPr lang="en-US" sz="1600" dirty="0"/>
          </a:p>
        </p:txBody>
      </p:sp>
      <p:sp>
        <p:nvSpPr>
          <p:cNvPr id="92" name="Text 90"/>
          <p:cNvSpPr/>
          <p:nvPr/>
        </p:nvSpPr>
        <p:spPr>
          <a:xfrm>
            <a:off x="356616"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North, East and South-2 at benchmark</a:t>
            </a:r>
            <a:endParaRPr lang="en-US" sz="680" dirty="0"/>
          </a:p>
        </p:txBody>
      </p:sp>
      <p:sp>
        <p:nvSpPr>
          <p:cNvPr id="93" name="Shape 91"/>
          <p:cNvSpPr/>
          <p:nvPr/>
        </p:nvSpPr>
        <p:spPr>
          <a:xfrm>
            <a:off x="374904" y="5463540"/>
            <a:ext cx="50292" cy="50292"/>
          </a:xfrm>
          <a:prstGeom prst="ellipse">
            <a:avLst/>
          </a:prstGeom>
          <a:solidFill>
            <a:srgbClr val="D6544D"/>
          </a:solidFill>
          <a:ln/>
        </p:spPr>
      </p:sp>
      <p:sp>
        <p:nvSpPr>
          <p:cNvPr id="94" name="Text 92"/>
          <p:cNvSpPr/>
          <p:nvPr/>
        </p:nvSpPr>
        <p:spPr>
          <a:xfrm>
            <a:off x="493776"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North ₹2.78 Cr — highest primary, third-worst flow.</a:t>
            </a:r>
            <a:endParaRPr lang="en-US" sz="690" dirty="0"/>
          </a:p>
        </p:txBody>
      </p:sp>
      <p:sp>
        <p:nvSpPr>
          <p:cNvPr id="95" name="Shape 93"/>
          <p:cNvSpPr/>
          <p:nvPr/>
        </p:nvSpPr>
        <p:spPr>
          <a:xfrm>
            <a:off x="374904" y="5811012"/>
            <a:ext cx="50292" cy="50292"/>
          </a:xfrm>
          <a:prstGeom prst="ellipse">
            <a:avLst/>
          </a:prstGeom>
          <a:solidFill>
            <a:srgbClr val="D6544D"/>
          </a:solidFill>
          <a:ln/>
        </p:spPr>
      </p:sp>
      <p:sp>
        <p:nvSpPr>
          <p:cNvPr id="96" name="Text 94"/>
          <p:cNvSpPr/>
          <p:nvPr/>
        </p:nvSpPr>
        <p:spPr>
          <a:xfrm>
            <a:off x="493776"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East ₹2.54 Cr — worst flow, highest NPI mix.</a:t>
            </a:r>
            <a:endParaRPr lang="en-US" sz="690" dirty="0"/>
          </a:p>
        </p:txBody>
      </p:sp>
      <p:sp>
        <p:nvSpPr>
          <p:cNvPr id="97" name="Shape 95"/>
          <p:cNvSpPr/>
          <p:nvPr/>
        </p:nvSpPr>
        <p:spPr>
          <a:xfrm>
            <a:off x="374904" y="6158484"/>
            <a:ext cx="50292" cy="50292"/>
          </a:xfrm>
          <a:prstGeom prst="ellipse">
            <a:avLst/>
          </a:prstGeom>
          <a:solidFill>
            <a:srgbClr val="D6544D"/>
          </a:solidFill>
          <a:ln/>
        </p:spPr>
      </p:sp>
      <p:sp>
        <p:nvSpPr>
          <p:cNvPr id="98" name="Text 96"/>
          <p:cNvSpPr/>
          <p:nvPr/>
        </p:nvSpPr>
        <p:spPr>
          <a:xfrm>
            <a:off x="493776"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South-2 ₹0.90 Cr — newly above the floor once eB2B left its primary.</a:t>
            </a:r>
            <a:endParaRPr lang="en-US" sz="690" dirty="0"/>
          </a:p>
        </p:txBody>
      </p:sp>
      <p:sp>
        <p:nvSpPr>
          <p:cNvPr id="99" name="Shape 97"/>
          <p:cNvSpPr/>
          <p:nvPr/>
        </p:nvSpPr>
        <p:spPr>
          <a:xfrm>
            <a:off x="2420112" y="4480560"/>
            <a:ext cx="2017776" cy="1920240"/>
          </a:xfrm>
          <a:prstGeom prst="roundRect">
            <a:avLst>
              <a:gd name="adj" fmla="val 952"/>
            </a:avLst>
          </a:prstGeom>
          <a:solidFill>
            <a:srgbClr val="FFFFFF"/>
          </a:solidFill>
          <a:ln w="9525">
            <a:solidFill>
              <a:srgbClr val="C8DCD7"/>
            </a:solidFill>
            <a:prstDash val="solid"/>
          </a:ln>
        </p:spPr>
      </p:sp>
      <p:sp>
        <p:nvSpPr>
          <p:cNvPr id="100" name="Shape 98"/>
          <p:cNvSpPr/>
          <p:nvPr/>
        </p:nvSpPr>
        <p:spPr>
          <a:xfrm>
            <a:off x="2420112" y="4480560"/>
            <a:ext cx="2017776" cy="274320"/>
          </a:xfrm>
          <a:prstGeom prst="rect">
            <a:avLst/>
          </a:prstGeom>
          <a:solidFill>
            <a:srgbClr val="2B9A66"/>
          </a:solidFill>
          <a:ln/>
        </p:spPr>
      </p:sp>
      <p:sp>
        <p:nvSpPr>
          <p:cNvPr id="101" name="Text 99"/>
          <p:cNvSpPr/>
          <p:nvPr/>
        </p:nvSpPr>
        <p:spPr>
          <a:xfrm>
            <a:off x="2502408"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PROTECT — THE ENGINES</a:t>
            </a:r>
            <a:endParaRPr lang="en-US" sz="700" dirty="0"/>
          </a:p>
        </p:txBody>
      </p:sp>
      <p:sp>
        <p:nvSpPr>
          <p:cNvPr id="102" name="Text 100"/>
          <p:cNvSpPr/>
          <p:nvPr/>
        </p:nvSpPr>
        <p:spPr>
          <a:xfrm>
            <a:off x="2511552" y="4846320"/>
            <a:ext cx="1834896" cy="329184"/>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₹16.45 Cr</a:t>
            </a:r>
            <a:endParaRPr lang="en-US" sz="1600" dirty="0"/>
          </a:p>
        </p:txBody>
      </p:sp>
      <p:sp>
        <p:nvSpPr>
          <p:cNvPr id="103" name="Text 101"/>
          <p:cNvSpPr/>
          <p:nvPr/>
        </p:nvSpPr>
        <p:spPr>
          <a:xfrm>
            <a:off x="2511552"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West + South-1 offtake</a:t>
            </a:r>
            <a:endParaRPr lang="en-US" sz="680" dirty="0"/>
          </a:p>
        </p:txBody>
      </p:sp>
      <p:sp>
        <p:nvSpPr>
          <p:cNvPr id="104" name="Shape 102"/>
          <p:cNvSpPr/>
          <p:nvPr/>
        </p:nvSpPr>
        <p:spPr>
          <a:xfrm>
            <a:off x="2529840" y="5463540"/>
            <a:ext cx="50292" cy="50292"/>
          </a:xfrm>
          <a:prstGeom prst="ellipse">
            <a:avLst/>
          </a:prstGeom>
          <a:solidFill>
            <a:srgbClr val="2B9A66"/>
          </a:solidFill>
          <a:ln/>
        </p:spPr>
      </p:sp>
      <p:sp>
        <p:nvSpPr>
          <p:cNvPr id="105" name="Text 103"/>
          <p:cNvSpPr/>
          <p:nvPr/>
        </p:nvSpPr>
        <p:spPr>
          <a:xfrm>
            <a:off x="2648712"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48.4% of national MT offtake at 85–86% conversion.</a:t>
            </a:r>
            <a:endParaRPr lang="en-US" sz="690" dirty="0"/>
          </a:p>
        </p:txBody>
      </p:sp>
      <p:sp>
        <p:nvSpPr>
          <p:cNvPr id="106" name="Shape 104"/>
          <p:cNvSpPr/>
          <p:nvPr/>
        </p:nvSpPr>
        <p:spPr>
          <a:xfrm>
            <a:off x="2529840" y="5811012"/>
            <a:ext cx="50292" cy="50292"/>
          </a:xfrm>
          <a:prstGeom prst="ellipse">
            <a:avLst/>
          </a:prstGeom>
          <a:solidFill>
            <a:srgbClr val="2B9A66"/>
          </a:solidFill>
          <a:ln/>
        </p:spPr>
      </p:sp>
      <p:sp>
        <p:nvSpPr>
          <p:cNvPr id="107" name="Text 105"/>
          <p:cNvSpPr/>
          <p:nvPr/>
        </p:nvSpPr>
        <p:spPr>
          <a:xfrm>
            <a:off x="2648712"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recovery pool here — the rate is already the benchmark.</a:t>
            </a:r>
            <a:endParaRPr lang="en-US" sz="690" dirty="0"/>
          </a:p>
        </p:txBody>
      </p:sp>
      <p:sp>
        <p:nvSpPr>
          <p:cNvPr id="108" name="Shape 106"/>
          <p:cNvSpPr/>
          <p:nvPr/>
        </p:nvSpPr>
        <p:spPr>
          <a:xfrm>
            <a:off x="2529840" y="6158484"/>
            <a:ext cx="50292" cy="50292"/>
          </a:xfrm>
          <a:prstGeom prst="ellipse">
            <a:avLst/>
          </a:prstGeom>
          <a:solidFill>
            <a:srgbClr val="2B9A66"/>
          </a:solidFill>
          <a:ln/>
        </p:spPr>
      </p:sp>
      <p:sp>
        <p:nvSpPr>
          <p:cNvPr id="109" name="Text 107"/>
          <p:cNvSpPr/>
          <p:nvPr/>
        </p:nvSpPr>
        <p:spPr>
          <a:xfrm>
            <a:off x="2648712"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Hold spend flat; redirect field capacity to North.</a:t>
            </a:r>
            <a:endParaRPr lang="en-US" sz="690" dirty="0"/>
          </a:p>
        </p:txBody>
      </p:sp>
      <p:sp>
        <p:nvSpPr>
          <p:cNvPr id="110" name="Shape 108"/>
          <p:cNvSpPr/>
          <p:nvPr/>
        </p:nvSpPr>
        <p:spPr>
          <a:xfrm>
            <a:off x="4575048" y="4480560"/>
            <a:ext cx="2017776" cy="1920240"/>
          </a:xfrm>
          <a:prstGeom prst="roundRect">
            <a:avLst>
              <a:gd name="adj" fmla="val 952"/>
            </a:avLst>
          </a:prstGeom>
          <a:solidFill>
            <a:srgbClr val="FFFFFF"/>
          </a:solidFill>
          <a:ln w="9525">
            <a:solidFill>
              <a:srgbClr val="C8DCD7"/>
            </a:solidFill>
            <a:prstDash val="solid"/>
          </a:ln>
        </p:spPr>
      </p:sp>
      <p:sp>
        <p:nvSpPr>
          <p:cNvPr id="111" name="Shape 109"/>
          <p:cNvSpPr/>
          <p:nvPr/>
        </p:nvSpPr>
        <p:spPr>
          <a:xfrm>
            <a:off x="4575048" y="4480560"/>
            <a:ext cx="2017776" cy="274320"/>
          </a:xfrm>
          <a:prstGeom prst="rect">
            <a:avLst/>
          </a:prstGeom>
          <a:solidFill>
            <a:srgbClr val="F2B84B"/>
          </a:solidFill>
          <a:ln/>
        </p:spPr>
      </p:sp>
      <p:sp>
        <p:nvSpPr>
          <p:cNvPr id="112" name="Text 110"/>
          <p:cNvSpPr/>
          <p:nvPr/>
        </p:nvSpPr>
        <p:spPr>
          <a:xfrm>
            <a:off x="4657344" y="4498848"/>
            <a:ext cx="1853184"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ISOLATE — ONE CELL</a:t>
            </a:r>
            <a:endParaRPr lang="en-US" sz="700" dirty="0"/>
          </a:p>
        </p:txBody>
      </p:sp>
      <p:sp>
        <p:nvSpPr>
          <p:cNvPr id="113" name="Text 111"/>
          <p:cNvSpPr/>
          <p:nvPr/>
        </p:nvSpPr>
        <p:spPr>
          <a:xfrm>
            <a:off x="4666488" y="4846320"/>
            <a:ext cx="1834896" cy="329184"/>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₹0.90 Cr</a:t>
            </a:r>
            <a:endParaRPr lang="en-US" sz="1600" dirty="0"/>
          </a:p>
        </p:txBody>
      </p:sp>
      <p:sp>
        <p:nvSpPr>
          <p:cNvPr id="114" name="Text 112"/>
          <p:cNvSpPr/>
          <p:nvPr/>
        </p:nvSpPr>
        <p:spPr>
          <a:xfrm>
            <a:off x="4666488" y="5193792"/>
            <a:ext cx="1834896"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South-2, almost all DMart</a:t>
            </a:r>
            <a:endParaRPr lang="en-US" sz="680" dirty="0"/>
          </a:p>
        </p:txBody>
      </p:sp>
      <p:sp>
        <p:nvSpPr>
          <p:cNvPr id="115" name="Shape 113"/>
          <p:cNvSpPr/>
          <p:nvPr/>
        </p:nvSpPr>
        <p:spPr>
          <a:xfrm>
            <a:off x="4684776" y="5463540"/>
            <a:ext cx="50292" cy="50292"/>
          </a:xfrm>
          <a:prstGeom prst="ellipse">
            <a:avLst/>
          </a:prstGeom>
          <a:solidFill>
            <a:srgbClr val="F2B84B"/>
          </a:solidFill>
          <a:ln/>
        </p:spPr>
      </p:sp>
      <p:sp>
        <p:nvSpPr>
          <p:cNvPr id="116" name="Text 114"/>
          <p:cNvSpPr/>
          <p:nvPr/>
        </p:nvSpPr>
        <p:spPr>
          <a:xfrm>
            <a:off x="4803648" y="5413248"/>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DMart South-2 converts 45.1% against 94–95% in West and Central.</a:t>
            </a:r>
            <a:endParaRPr lang="en-US" sz="690" dirty="0"/>
          </a:p>
        </p:txBody>
      </p:sp>
      <p:sp>
        <p:nvSpPr>
          <p:cNvPr id="117" name="Shape 115"/>
          <p:cNvSpPr/>
          <p:nvPr/>
        </p:nvSpPr>
        <p:spPr>
          <a:xfrm>
            <a:off x="4684776" y="5811012"/>
            <a:ext cx="50292" cy="50292"/>
          </a:xfrm>
          <a:prstGeom prst="ellipse">
            <a:avLst/>
          </a:prstGeom>
          <a:solidFill>
            <a:srgbClr val="F2B84B"/>
          </a:solidFill>
          <a:ln/>
        </p:spPr>
      </p:sp>
      <p:sp>
        <p:nvSpPr>
          <p:cNvPr id="118" name="Text 116"/>
          <p:cNvSpPr/>
          <p:nvPr/>
        </p:nvSpPr>
        <p:spPr>
          <a:xfrm>
            <a:off x="4803648" y="5760720"/>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DC or fill problem, not a chain relationship problem.</a:t>
            </a:r>
            <a:endParaRPr lang="en-US" sz="690" dirty="0"/>
          </a:p>
        </p:txBody>
      </p:sp>
      <p:sp>
        <p:nvSpPr>
          <p:cNvPr id="119" name="Shape 117"/>
          <p:cNvSpPr/>
          <p:nvPr/>
        </p:nvSpPr>
        <p:spPr>
          <a:xfrm>
            <a:off x="4684776" y="6158484"/>
            <a:ext cx="50292" cy="50292"/>
          </a:xfrm>
          <a:prstGeom prst="ellipse">
            <a:avLst/>
          </a:prstGeom>
          <a:solidFill>
            <a:srgbClr val="F2B84B"/>
          </a:solidFill>
          <a:ln/>
        </p:spPr>
      </p:sp>
      <p:sp>
        <p:nvSpPr>
          <p:cNvPr id="120" name="Text 118"/>
          <p:cNvSpPr/>
          <p:nvPr/>
        </p:nvSpPr>
        <p:spPr>
          <a:xfrm>
            <a:off x="4803648" y="6108192"/>
            <a:ext cx="1679448" cy="329184"/>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Scope as a single-account audit, not a zone programme.</a:t>
            </a:r>
            <a:endParaRPr lang="en-US" sz="690" dirty="0"/>
          </a:p>
        </p:txBody>
      </p:sp>
      <p:sp>
        <p:nvSpPr>
          <p:cNvPr id="121" name="Shape 119"/>
          <p:cNvSpPr/>
          <p:nvPr/>
        </p:nvSpPr>
        <p:spPr>
          <a:xfrm>
            <a:off x="265176" y="6547104"/>
            <a:ext cx="6327648" cy="256032"/>
          </a:xfrm>
          <a:prstGeom prst="rect">
            <a:avLst/>
          </a:prstGeom>
          <a:solidFill>
            <a:srgbClr val="116F68"/>
          </a:solidFill>
          <a:ln/>
        </p:spPr>
      </p:sp>
      <p:sp>
        <p:nvSpPr>
          <p:cNvPr id="122" name="Text 120"/>
          <p:cNvSpPr/>
          <p:nvPr/>
        </p:nvSpPr>
        <p:spPr>
          <a:xfrm>
            <a:off x="374904" y="656539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ACTIONS</a:t>
            </a:r>
            <a:endParaRPr lang="en-US" sz="720" dirty="0"/>
          </a:p>
        </p:txBody>
      </p:sp>
      <p:sp>
        <p:nvSpPr>
          <p:cNvPr id="123" name="Shape 121"/>
          <p:cNvSpPr/>
          <p:nvPr/>
        </p:nvSpPr>
        <p:spPr>
          <a:xfrm>
            <a:off x="356616" y="6963156"/>
            <a:ext cx="50292" cy="50292"/>
          </a:xfrm>
          <a:prstGeom prst="ellipse">
            <a:avLst/>
          </a:prstGeom>
          <a:solidFill>
            <a:srgbClr val="183B39"/>
          </a:solidFill>
          <a:ln/>
        </p:spPr>
      </p:sp>
      <p:sp>
        <p:nvSpPr>
          <p:cNvPr id="124" name="Text 122"/>
          <p:cNvSpPr/>
          <p:nvPr/>
        </p:nvSpPr>
        <p:spPr>
          <a:xfrm>
            <a:off x="475488" y="6912864"/>
            <a:ext cx="6025896" cy="365760"/>
          </a:xfrm>
          <a:prstGeom prst="rect">
            <a:avLst/>
          </a:prstGeom>
          <a:noFill/>
          <a:ln/>
        </p:spPr>
        <p:txBody>
          <a:bodyPr wrap="square" lIns="0" tIns="0" rIns="0" bIns="0" rtlCol="0" anchor="t"/>
          <a:lstStyle/>
          <a:p>
            <a:pPr indent="0" marL="0">
              <a:lnSpc>
                <a:spcPct val="92000"/>
              </a:lnSpc>
              <a:buNone/>
            </a:pPr>
            <a:r>
              <a:rPr lang="en-US" sz="760" b="1" dirty="0">
                <a:solidFill>
                  <a:srgbClr val="183B39"/>
                </a:solidFill>
                <a:latin typeface="Calibri" pitchFamily="34" charset="0"/>
                <a:ea typeface="Calibri" pitchFamily="34" charset="-122"/>
                <a:cs typeface="Calibri" pitchFamily="34" charset="-120"/>
              </a:rPr>
              <a:t>Fix — North and East: weekly chain × state × hero-EAN gap closure against a ₹2.78 Cr and ₹2.54 Cr target. Owner: zone ZSMs.</a:t>
            </a:r>
            <a:endParaRPr lang="en-US" sz="760" dirty="0"/>
          </a:p>
        </p:txBody>
      </p:sp>
      <p:sp>
        <p:nvSpPr>
          <p:cNvPr id="125" name="Shape 123"/>
          <p:cNvSpPr/>
          <p:nvPr/>
        </p:nvSpPr>
        <p:spPr>
          <a:xfrm>
            <a:off x="356616" y="7347204"/>
            <a:ext cx="50292" cy="50292"/>
          </a:xfrm>
          <a:prstGeom prst="ellipse">
            <a:avLst/>
          </a:prstGeom>
          <a:solidFill>
            <a:srgbClr val="28A596"/>
          </a:solidFill>
          <a:ln/>
        </p:spPr>
      </p:sp>
      <p:sp>
        <p:nvSpPr>
          <p:cNvPr id="126" name="Text 124"/>
          <p:cNvSpPr/>
          <p:nvPr/>
        </p:nvSpPr>
        <p:spPr>
          <a:xfrm>
            <a:off x="475488" y="7296912"/>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Fix — South-2: now clears the floor at ₹0.90 Cr. Audit DMart DC-to-store fill against the West benchmark. Owner: NKAM DMart + Supply, 22 Aug.</a:t>
            </a:r>
            <a:endParaRPr lang="en-US" sz="760" dirty="0"/>
          </a:p>
        </p:txBody>
      </p:sp>
      <p:sp>
        <p:nvSpPr>
          <p:cNvPr id="127" name="Shape 125"/>
          <p:cNvSpPr/>
          <p:nvPr/>
        </p:nvSpPr>
        <p:spPr>
          <a:xfrm>
            <a:off x="356616" y="7731252"/>
            <a:ext cx="50292" cy="50292"/>
          </a:xfrm>
          <a:prstGeom prst="ellipse">
            <a:avLst/>
          </a:prstGeom>
          <a:solidFill>
            <a:srgbClr val="28A596"/>
          </a:solidFill>
          <a:ln/>
        </p:spPr>
      </p:sp>
      <p:sp>
        <p:nvSpPr>
          <p:cNvPr id="128" name="Text 126"/>
          <p:cNvSpPr/>
          <p:nvPr/>
        </p:nvSpPr>
        <p:spPr>
          <a:xfrm>
            <a:off x="475488" y="7680960"/>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Protect — West, South-1: hold hero-SKU OSA, avoid unnecessary loading, document DMart West cadence as the national template.</a:t>
            </a:r>
            <a:endParaRPr lang="en-US" sz="760" dirty="0"/>
          </a:p>
        </p:txBody>
      </p:sp>
      <p:sp>
        <p:nvSpPr>
          <p:cNvPr id="129" name="Shape 127"/>
          <p:cNvSpPr/>
          <p:nvPr/>
        </p:nvSpPr>
        <p:spPr>
          <a:xfrm>
            <a:off x="356616" y="8115300"/>
            <a:ext cx="50292" cy="50292"/>
          </a:xfrm>
          <a:prstGeom prst="ellipse">
            <a:avLst/>
          </a:prstGeom>
          <a:solidFill>
            <a:srgbClr val="5F716E"/>
          </a:solidFill>
          <a:ln/>
        </p:spPr>
      </p:sp>
      <p:sp>
        <p:nvSpPr>
          <p:cNvPr id="130" name="Text 128"/>
          <p:cNvSpPr/>
          <p:nvPr/>
        </p:nvSpPr>
        <p:spPr>
          <a:xfrm>
            <a:off x="475488" y="8065008"/>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Exception-report — Central and West: ₹0.13 Cr and ₹0.05 Cr recoverable are below the ₹0.25 Cr floor; keep them out of the weekly review.</a:t>
            </a:r>
            <a:endParaRPr lang="en-US" sz="760" dirty="0"/>
          </a:p>
        </p:txBody>
      </p:sp>
      <p:sp>
        <p:nvSpPr>
          <p:cNvPr id="131" name="Shape 129"/>
          <p:cNvSpPr/>
          <p:nvPr/>
        </p:nvSpPr>
        <p:spPr>
          <a:xfrm>
            <a:off x="356616" y="8499348"/>
            <a:ext cx="50292" cy="50292"/>
          </a:xfrm>
          <a:prstGeom prst="ellipse">
            <a:avLst/>
          </a:prstGeom>
          <a:solidFill>
            <a:srgbClr val="2E7DA8"/>
          </a:solidFill>
          <a:ln/>
        </p:spPr>
      </p:sp>
      <p:sp>
        <p:nvSpPr>
          <p:cNvPr id="132" name="Text 130"/>
          <p:cNvSpPr/>
          <p:nvPr/>
        </p:nvSpPr>
        <p:spPr>
          <a:xfrm>
            <a:off x="475488" y="8449056"/>
            <a:ext cx="6025896" cy="365760"/>
          </a:xfrm>
          <a:prstGeom prst="rect">
            <a:avLst/>
          </a:prstGeom>
          <a:noFill/>
          <a:ln/>
        </p:spPr>
        <p:txBody>
          <a:bodyPr wrap="square" lIns="0" tIns="0" rIns="0" bIns="0" rtlCol="0" anchor="t"/>
          <a:lstStyle/>
          <a:p>
            <a:pPr indent="0" marL="0">
              <a:lnSpc>
                <a:spcPct val="92000"/>
              </a:lnSpc>
              <a:buNone/>
            </a:pPr>
            <a:r>
              <a:rPr lang="en-US" sz="760" dirty="0">
                <a:solidFill>
                  <a:srgbClr val="183B39"/>
                </a:solidFill>
                <a:latin typeface="Calibri" pitchFamily="34" charset="0"/>
                <a:ea typeface="Calibri" pitchFamily="34" charset="-122"/>
                <a:cs typeface="Calibri" pitchFamily="34" charset="-120"/>
              </a:rPr>
              <a:t>Separate — eB2B (₹2.20 Cr) and SIS now report as their own channels on pages 13 and 14, outside every MT zone figure.</a:t>
            </a:r>
            <a:endParaRPr lang="en-US" sz="760" dirty="0"/>
          </a:p>
        </p:txBody>
      </p:sp>
      <p:sp>
        <p:nvSpPr>
          <p:cNvPr id="133" name="Shape 131"/>
          <p:cNvSpPr/>
          <p:nvPr/>
        </p:nvSpPr>
        <p:spPr>
          <a:xfrm>
            <a:off x="265176" y="8906256"/>
            <a:ext cx="6327648" cy="256032"/>
          </a:xfrm>
          <a:prstGeom prst="rect">
            <a:avLst/>
          </a:prstGeom>
          <a:solidFill>
            <a:srgbClr val="D6544D"/>
          </a:solidFill>
          <a:ln/>
        </p:spPr>
      </p:sp>
      <p:sp>
        <p:nvSpPr>
          <p:cNvPr id="134" name="Text 132"/>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WHY THIS IS A CONVERSION PROBLEM AND NOT A DEMAND PROBLEM</a:t>
            </a:r>
            <a:endParaRPr lang="en-US" sz="720" dirty="0"/>
          </a:p>
        </p:txBody>
      </p:sp>
      <p:sp>
        <p:nvSpPr>
          <p:cNvPr id="135" name="Shape 133"/>
          <p:cNvSpPr/>
          <p:nvPr/>
        </p:nvSpPr>
        <p:spPr>
          <a:xfrm>
            <a:off x="265176" y="9253728"/>
            <a:ext cx="3090672" cy="1517904"/>
          </a:xfrm>
          <a:prstGeom prst="roundRect">
            <a:avLst>
              <a:gd name="adj" fmla="val 1205"/>
            </a:avLst>
          </a:prstGeom>
          <a:solidFill>
            <a:srgbClr val="FFFFFF"/>
          </a:solidFill>
          <a:ln w="9525">
            <a:solidFill>
              <a:srgbClr val="C8DCD7"/>
            </a:solidFill>
            <a:prstDash val="solid"/>
          </a:ln>
        </p:spPr>
      </p:sp>
      <p:sp>
        <p:nvSpPr>
          <p:cNvPr id="136" name="Shape 134"/>
          <p:cNvSpPr/>
          <p:nvPr/>
        </p:nvSpPr>
        <p:spPr>
          <a:xfrm>
            <a:off x="265176" y="9253728"/>
            <a:ext cx="3090672" cy="274320"/>
          </a:xfrm>
          <a:prstGeom prst="rect">
            <a:avLst/>
          </a:prstGeom>
          <a:solidFill>
            <a:srgbClr val="D6544D"/>
          </a:solidFill>
          <a:ln/>
        </p:spPr>
      </p:sp>
      <p:sp>
        <p:nvSpPr>
          <p:cNvPr id="137" name="Text 135"/>
          <p:cNvSpPr/>
          <p:nvPr/>
        </p:nvSpPr>
        <p:spPr>
          <a:xfrm>
            <a:off x="347472"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PORTFOLIO, SIX DIFFERENT OUTCOMES</a:t>
            </a:r>
            <a:endParaRPr lang="en-US" sz="700" dirty="0"/>
          </a:p>
        </p:txBody>
      </p:sp>
      <p:sp>
        <p:nvSpPr>
          <p:cNvPr id="138" name="Shape 136"/>
          <p:cNvSpPr/>
          <p:nvPr/>
        </p:nvSpPr>
        <p:spPr>
          <a:xfrm>
            <a:off x="374904" y="9706356"/>
            <a:ext cx="50292" cy="50292"/>
          </a:xfrm>
          <a:prstGeom prst="ellipse">
            <a:avLst/>
          </a:prstGeom>
          <a:solidFill>
            <a:srgbClr val="D6544D"/>
          </a:solidFill>
          <a:ln/>
        </p:spPr>
      </p:sp>
      <p:sp>
        <p:nvSpPr>
          <p:cNvPr id="139" name="Text 137"/>
          <p:cNvSpPr/>
          <p:nvPr/>
        </p:nvSpPr>
        <p:spPr>
          <a:xfrm>
            <a:off x="493776"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Every zone sells the same brands, packs and price list.</a:t>
            </a:r>
            <a:endParaRPr lang="en-US" sz="710" dirty="0"/>
          </a:p>
        </p:txBody>
      </p:sp>
      <p:sp>
        <p:nvSpPr>
          <p:cNvPr id="140" name="Shape 138"/>
          <p:cNvSpPr/>
          <p:nvPr/>
        </p:nvSpPr>
        <p:spPr>
          <a:xfrm>
            <a:off x="374904" y="10053828"/>
            <a:ext cx="50292" cy="50292"/>
          </a:xfrm>
          <a:prstGeom prst="ellipse">
            <a:avLst/>
          </a:prstGeom>
          <a:solidFill>
            <a:srgbClr val="D6544D"/>
          </a:solidFill>
          <a:ln/>
        </p:spPr>
      </p:sp>
      <p:sp>
        <p:nvSpPr>
          <p:cNvPr id="141" name="Text 139"/>
          <p:cNvSpPr/>
          <p:nvPr/>
        </p:nvSpPr>
        <p:spPr>
          <a:xfrm>
            <a:off x="493776"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Conversion still ranges from 49.9% to 86.3% — a 38-point spread.</a:t>
            </a:r>
            <a:endParaRPr lang="en-US" sz="710" dirty="0"/>
          </a:p>
        </p:txBody>
      </p:sp>
      <p:sp>
        <p:nvSpPr>
          <p:cNvPr id="142" name="Shape 140"/>
          <p:cNvSpPr/>
          <p:nvPr/>
        </p:nvSpPr>
        <p:spPr>
          <a:xfrm>
            <a:off x="374904" y="10401300"/>
            <a:ext cx="50292" cy="50292"/>
          </a:xfrm>
          <a:prstGeom prst="ellipse">
            <a:avLst/>
          </a:prstGeom>
          <a:solidFill>
            <a:srgbClr val="D6544D"/>
          </a:solidFill>
          <a:ln/>
        </p:spPr>
      </p:sp>
      <p:sp>
        <p:nvSpPr>
          <p:cNvPr id="143" name="Text 141"/>
          <p:cNvSpPr/>
          <p:nvPr/>
        </p:nvSpPr>
        <p:spPr>
          <a:xfrm>
            <a:off x="493776"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That rules out product, pricing and proposition, and leaves execution.</a:t>
            </a:r>
            <a:endParaRPr lang="en-US" sz="710" dirty="0"/>
          </a:p>
        </p:txBody>
      </p:sp>
      <p:sp>
        <p:nvSpPr>
          <p:cNvPr id="144" name="Shape 142"/>
          <p:cNvSpPr/>
          <p:nvPr/>
        </p:nvSpPr>
        <p:spPr>
          <a:xfrm>
            <a:off x="3502152" y="9253728"/>
            <a:ext cx="3090672" cy="1517904"/>
          </a:xfrm>
          <a:prstGeom prst="roundRect">
            <a:avLst>
              <a:gd name="adj" fmla="val 1205"/>
            </a:avLst>
          </a:prstGeom>
          <a:solidFill>
            <a:srgbClr val="FFFFFF"/>
          </a:solidFill>
          <a:ln w="9525">
            <a:solidFill>
              <a:srgbClr val="C8DCD7"/>
            </a:solidFill>
            <a:prstDash val="solid"/>
          </a:ln>
        </p:spPr>
      </p:sp>
      <p:sp>
        <p:nvSpPr>
          <p:cNvPr id="145" name="Shape 143"/>
          <p:cNvSpPr/>
          <p:nvPr/>
        </p:nvSpPr>
        <p:spPr>
          <a:xfrm>
            <a:off x="3502152" y="9253728"/>
            <a:ext cx="3090672" cy="274320"/>
          </a:xfrm>
          <a:prstGeom prst="rect">
            <a:avLst/>
          </a:prstGeom>
          <a:solidFill>
            <a:srgbClr val="5F716E"/>
          </a:solidFill>
          <a:ln/>
        </p:spPr>
      </p:sp>
      <p:sp>
        <p:nvSpPr>
          <p:cNvPr id="146" name="Text 144"/>
          <p:cNvSpPr/>
          <p:nvPr/>
        </p:nvSpPr>
        <p:spPr>
          <a:xfrm>
            <a:off x="3584448" y="9272016"/>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WHAT WOULD CHANGE THIS READ</a:t>
            </a:r>
            <a:endParaRPr lang="en-US" sz="700" dirty="0"/>
          </a:p>
        </p:txBody>
      </p:sp>
      <p:sp>
        <p:nvSpPr>
          <p:cNvPr id="147" name="Shape 145"/>
          <p:cNvSpPr/>
          <p:nvPr/>
        </p:nvSpPr>
        <p:spPr>
          <a:xfrm>
            <a:off x="3611880" y="9706356"/>
            <a:ext cx="50292" cy="50292"/>
          </a:xfrm>
          <a:prstGeom prst="ellipse">
            <a:avLst/>
          </a:prstGeom>
          <a:solidFill>
            <a:srgbClr val="5F716E"/>
          </a:solidFill>
          <a:ln/>
        </p:spPr>
      </p:sp>
      <p:sp>
        <p:nvSpPr>
          <p:cNvPr id="148" name="Text 146"/>
          <p:cNvSpPr/>
          <p:nvPr/>
        </p:nvSpPr>
        <p:spPr>
          <a:xfrm>
            <a:off x="3730752" y="9656064"/>
            <a:ext cx="2752344" cy="329184"/>
          </a:xfrm>
          <a:prstGeom prst="rect">
            <a:avLst/>
          </a:prstGeom>
          <a:noFill/>
          <a:ln/>
        </p:spPr>
        <p:txBody>
          <a:bodyPr wrap="square" lIns="0" tIns="0" rIns="0" bIns="0" rtlCol="0" anchor="t"/>
          <a:lstStyle/>
          <a:p>
            <a:pPr indent="0" marL="0">
              <a:lnSpc>
                <a:spcPct val="92000"/>
              </a:lnSpc>
              <a:buNone/>
            </a:pPr>
            <a:r>
              <a:rPr lang="en-US" sz="710" b="1" dirty="0">
                <a:solidFill>
                  <a:srgbClr val="183B39"/>
                </a:solidFill>
                <a:latin typeface="Calibri" pitchFamily="34" charset="0"/>
                <a:ea typeface="Calibri" pitchFamily="34" charset="-122"/>
                <a:cs typeface="Calibri" pitchFamily="34" charset="-120"/>
              </a:rPr>
              <a:t>Closing stock by chain — a gap can also be trade inventory in transit.</a:t>
            </a:r>
            <a:endParaRPr lang="en-US" sz="710" dirty="0"/>
          </a:p>
        </p:txBody>
      </p:sp>
      <p:sp>
        <p:nvSpPr>
          <p:cNvPr id="149" name="Shape 147"/>
          <p:cNvSpPr/>
          <p:nvPr/>
        </p:nvSpPr>
        <p:spPr>
          <a:xfrm>
            <a:off x="3611880" y="10053828"/>
            <a:ext cx="50292" cy="50292"/>
          </a:xfrm>
          <a:prstGeom prst="ellipse">
            <a:avLst/>
          </a:prstGeom>
          <a:solidFill>
            <a:srgbClr val="5F716E"/>
          </a:solidFill>
          <a:ln/>
        </p:spPr>
      </p:sp>
      <p:sp>
        <p:nvSpPr>
          <p:cNvPr id="150" name="Text 148"/>
          <p:cNvSpPr/>
          <p:nvPr/>
        </p:nvSpPr>
        <p:spPr>
          <a:xfrm>
            <a:off x="3730752" y="10003536"/>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OOS and OSA by store — the direct test of the execution hypothesis.</a:t>
            </a:r>
            <a:endParaRPr lang="en-US" sz="710" dirty="0"/>
          </a:p>
        </p:txBody>
      </p:sp>
      <p:sp>
        <p:nvSpPr>
          <p:cNvPr id="151" name="Shape 149"/>
          <p:cNvSpPr/>
          <p:nvPr/>
        </p:nvSpPr>
        <p:spPr>
          <a:xfrm>
            <a:off x="3611880" y="10401300"/>
            <a:ext cx="50292" cy="50292"/>
          </a:xfrm>
          <a:prstGeom prst="ellipse">
            <a:avLst/>
          </a:prstGeom>
          <a:solidFill>
            <a:srgbClr val="5F716E"/>
          </a:solidFill>
          <a:ln/>
        </p:spPr>
      </p:sp>
      <p:sp>
        <p:nvSpPr>
          <p:cNvPr id="152" name="Text 150"/>
          <p:cNvSpPr/>
          <p:nvPr/>
        </p:nvSpPr>
        <p:spPr>
          <a:xfrm>
            <a:off x="3730752" y="10351008"/>
            <a:ext cx="2752344" cy="329184"/>
          </a:xfrm>
          <a:prstGeom prst="rect">
            <a:avLst/>
          </a:prstGeom>
          <a:noFill/>
          <a:ln/>
        </p:spPr>
        <p:txBody>
          <a:bodyPr wrap="square" lIns="0" tIns="0" rIns="0" bIns="0" rtlCol="0" anchor="t"/>
          <a:lstStyle/>
          <a:p>
            <a:pPr indent="0" marL="0">
              <a:lnSpc>
                <a:spcPct val="92000"/>
              </a:lnSpc>
              <a:buNone/>
            </a:pPr>
            <a:r>
              <a:rPr lang="en-US" sz="710" dirty="0">
                <a:solidFill>
                  <a:srgbClr val="183B39"/>
                </a:solidFill>
                <a:latin typeface="Calibri" pitchFamily="34" charset="0"/>
                <a:ea typeface="Calibri" pitchFamily="34" charset="-122"/>
                <a:cs typeface="Calibri" pitchFamily="34" charset="-120"/>
              </a:rPr>
              <a:t>Until both reconcile, this page sizes an opportunity; it does not prove a cause.</a:t>
            </a:r>
            <a:endParaRPr lang="en-US" sz="7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West: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₹9.71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₹8.27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85.2%</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₹1.44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Hold DMart execution as the national template • Reliance is the only weak cell</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₹5.76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94.2%</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₹1.23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54.5%</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Wellness Forever</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₹0.65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Maharashtra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₹3.43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Gujarat</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Mumbai</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₹2.28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₹4.97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₹2.39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₹1.53</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₹3.24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₹2.84</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₹0.55</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₹0.22</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₹0.54 Cr · 6.6% of zone — lowest NPI mix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West converts at 94.2% on ₹5.76 Cr</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Highest chain-zone conversion at material scale anywhere in the pack. This is the cadence North and East are being asked to reach.</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Document the DMart West order and replenishment rhythm as the national standard.</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with West RKAM · 20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West converts at 54.5% on ₹1.23 Cr</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only weak cell in an otherwise healthy zone, and it matches Reliance behaviour in North, East and Central — the pattern is the account, not the geography.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Fold into the national Reliance recovery loop rather than running a West-specific fix.</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Wellness Forever shows ₹0.65 Cr offtake, no mapped primary</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Source deck reported this as 134.9% conversion. A ratio above 100% here is an unmapped billing route, not throughput.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the Wellness Forever billing route before the August pack is built.</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carry 92.5% of zone offtake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Concentration is high but conversion is healthy, so this reads as focus rather than fragility. It becomes a risk only if DMart execution slips.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Track DMart West weekly as a single-point-of-failure watch item.</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West RKAM · weekly</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Face Cleanser at ₹2.84 Cr rivals Mamaearth</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₹3.24 Cr against Mamaearth's ₹4.97 Cr in this zone — the closest brand parity anywhere, driven almost entirely by one sub-category.</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TDC Face Cleanser shelf space in the DMart West planogram reset.</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NKAM DMart · Sep cycle</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Zone is already above benchmark — no recovery pool here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85.2% conversion sits at the internal benchmark. Effort spent here returns less than the same effort in North or East.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headcount and trade spend flat; redirect incremental field capacity to North.</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West NPI mix 6.6% | Benchmark zone — study DMart execution before copying it elsewhere</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South-1: Protect and convert</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₹9.48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₹8.18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24.1%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86.3%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₹1.30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Best conversion in the country • Apollo cadence is the transferable asset</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Apollo</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₹2.84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81.0%</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DMart</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₹2.31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74.8%</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Lulu</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₹1.22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Karnataka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₹4.10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Tamil Nadu</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₹2.63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Kerala</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₹1.17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₹5.24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₹1.23</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₹1.12</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₹0.32</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₹2.76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₹0.61</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₹0.64 Cr · 7.9% of zone — highest NPI value of any zone</a:t>
            </a:r>
            <a:endParaRPr lang="en-US" sz="660" dirty="0"/>
          </a:p>
        </p:txBody>
      </p:sp>
      <p:sp>
        <p:nvSpPr>
          <p:cNvPr id="86" name="Shape 82"/>
          <p:cNvSpPr/>
          <p:nvPr/>
        </p:nvSpPr>
        <p:spPr>
          <a:xfrm>
            <a:off x="265176" y="6821424"/>
            <a:ext cx="6327648" cy="256032"/>
          </a:xfrm>
          <a:prstGeom prst="rect">
            <a:avLst/>
          </a:prstGeom>
          <a:solidFill>
            <a:srgbClr val="2B9A66"/>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2B9A66"/>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86.3% conversion is the best zone in the country</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South-1 sets the internal benchmark used to size the national recovery pool. It is not an outlier month — chain conversion is even across all three top accounts.</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South-1 as the reference zone in every gap-closure target, not an external aspiration.</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116F68"/>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TRANSFER</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at ₹2.84 Cr and 81.0% is the most replicable model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Pharmacy-format cadence — small, frequent, tightly assorted orders — is the mechanism behind Apollo's near-parity flow nationally.</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Extract the Apollo order-frequency and assortment-depth profile as a scoring template for other accounts.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Lulu ₹1.22 Cr sits in the zone with no primary mapped</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Lulu is the account the national scorecard ranks +46.5% and marks Scale. Its primary is unmapped nationally, so that growth claim cannot be verified.</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Resolve Lulu billing mapping before any Lulu-based recommendation goes to the field.</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116F68"/>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only zone where Mamaearth Shampoo out-sells Face Cleanser</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Shampoo ₹1.23 Cr against Face Cleanser ₹1.12 Cr. Every other zone is cleanser-led, so South-1 is the natural proving ground for the shampoo range.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the shampoo pack pilot here first, measured on sales per store, not listings added.</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South-1 RKAM · Sep</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2B9A66"/>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Top three chains hold 77.8% — the widest base in the country</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Lowest chain concentration of any zone. Demand is spread across formats rather than resting on one hypermarket relationship.</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the South-1 account mix as the target shape for East rebuilding.</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Sep planning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5F716E"/>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Karnataka alone is 50.1% of zone offtake</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Single-state dependence is the one structural risk in an otherwise strong zone; Kerala at ₹1.17 Cr is materially under-developed against its retail base.</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Kerala distribution white space in ₹ before the Q3 target reset.</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South-1 RKAM · 15 Sep</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South-1 NPI mix 7.9% | Highest national conversion — the cadence to export</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North: Q1 best converter, July loaded</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09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₹11.38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₹6.97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20.5%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61.3%</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₹4.41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90.0% across Q1 — the best zone • July primary 16.4% above Q1 run-rate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₹2.53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77.9%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₹2.40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44.9%</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₹1.16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98.3%</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Delhi NCR</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₹1.97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Rajasthan</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₹1.67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Punjab</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₹1.55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₹4.74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₹2.09</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₹1.68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₹0.35</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₹2.12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₹1.41</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₹0.36</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₹0.10</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₹0.65 Cr · 9.2% of zone — second-highest NPI mix on the second-worst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₹2.78 Cr is recoverable at the internal benchmark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bills the most primary in the country (₹11.95 Cr) and converts it worst but one. At the West / South-1 rate of 82.95% the zone would deliver ₹9.91 Cr instead of ₹6.99 Cr.</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₹2.78 Cr as the North recovery target and review it weekly against actuals.</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North converts at 44.9% — the worst material cell</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 ₹2.40 Cr of offtake this single chain-zone cell explains the bulk of the zone shortfall. DMart North at 77.9% and Apollo at 98.3% show the geography is not the constraint.</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incremental loading into Reliance North until conversion clears 65% for two consecutive weeks.</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immediate</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F2B84B"/>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Same portfolio, three different conversion outcomes</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98.3%, DMart 77.9%, Reliance 44.9% — identical range in one geography. That rules out demand, pricing and assortment, and points at account-level replenishment.</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Run store-level OSA audit on Reliance North hero EANs; compare against Apollo North cadence.</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North RKAM + Trade Marketing · 25 Aug</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D6544D"/>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NPI mix is 9.2% into a 61.3%-converting zone</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New products are being placed where sell-through is weakest. NPI carries the least shelf history and the highest liquidation risk, so it is the worst payload for a weak pipe.</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further NPI allocation to North until zone conversion clears 70%.</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116F68"/>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CONCENTRATION</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Delhi NCR, Rajasthan and Punjab are evenly matched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₹1.97 / ₹1.67 / ₹1.55 Cr no single state carries the zone, so recovery has to be run per chain, not per state.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Build the exception list at chain × state × hero-EAN, not state level.</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20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Mamaearth Shampoo at ₹1.68 Cr is strongest in the country</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North is the largest shampoo zone by value despite the conversion problem, so the demand signal is real and the loss is downstream of it.</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Protect shampoo hero-EAN availability first when OSA effort is prioritised.</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 Supply · from 18 Aug</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North NPI mix 9.2% | ₹2.78 Cr recoverable at the West / South-1 benchmark</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South-2: Isolated chain problem</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₹6.73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₹4.87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14.4%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F2B84B"/>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72.4%</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F2B84B"/>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F2B84B"/>
                </a:solidFill>
                <a:latin typeface="Calibri Light" pitchFamily="34" charset="0"/>
                <a:ea typeface="Calibri Light" pitchFamily="34" charset="-122"/>
                <a:cs typeface="Calibri Light" pitchFamily="34" charset="-120"/>
              </a:rPr>
              <a:t>₹1.85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One weak cell (DMart) inside an otherwise functioning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₹1.95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45.1%</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₹1.64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Reliance</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₹0.67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82.5%</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Telangana</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Andhra Pradesh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₹2.35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₹3.74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₹1.04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₹0.94</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₹0.14</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₹1.11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₹0.20</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₹0.31 Cr · 6.4% of zone — lowest NPI value nationally</a:t>
            </a:r>
            <a:endParaRPr lang="en-US" sz="660" dirty="0"/>
          </a:p>
        </p:txBody>
      </p:sp>
      <p:sp>
        <p:nvSpPr>
          <p:cNvPr id="84" name="Shape 80"/>
          <p:cNvSpPr/>
          <p:nvPr/>
        </p:nvSpPr>
        <p:spPr>
          <a:xfrm>
            <a:off x="265176" y="6821424"/>
            <a:ext cx="6327648" cy="256032"/>
          </a:xfrm>
          <a:prstGeom prst="rect">
            <a:avLst/>
          </a:prstGeom>
          <a:solidFill>
            <a:srgbClr val="F2B84B"/>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D6544D"/>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South-2 converts at 45.1% — half its national rate</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DMart runs 94.2% in West and 77.9% in North. At 45.1% here the account is behaving unlike itself, which points at a regional DC or fill problem rather than the chain relationship.</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Audit DMart South-2 DC-to-store fill rate against the West benchmark.</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F2B84B"/>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South-2 reported at 148.5% conversion</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highest ratio in the pack. Offtake exceeding primary by half means opening stock or a billing-period mismatch, not performance — and it inflates the zone average.</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Reconcile Apollo South-2 opening stock and billing cut-off before quoting zone conversion.</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116F68"/>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SIZING</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₹0.90 Cr recoverable, almost all of it inside DMart</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the zone delivers ₹5.72 Cr against ₹4.91 Cr actual. The DMart cell alone accounts for the majority of the shortfall.</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Scope the South-2 recovery as a single-account project, not a zone programme.</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South-2 RKAM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Only two material states in the zone cut</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Telangana ₹2.56 Cr and Andhra Pradesh ₹2.35 Cr are the whole zone. The source pack described "top three states at 100%" while listing two — a reporting artefact worth correcting.</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Correct the state-count logic in the build script.</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116F68"/>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under-developed at ₹1.11 Cr</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earns 22.6% of zone offtake against 39.4% in West. The gap is distribution-led rather than demand-led given TDC strength in neighbouring South-1.</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Size the TDC listing white space in South-2 Apollo and Reliance doors.</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RKAM · 15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2B9A66"/>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NPI</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Lowest NPI exposure nationally at 6.4%</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With conversion unresolved, low new-product exposure is the correct posture — this zone is not carrying launch risk on top of a fill problem.</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Hold NPI allocation flat until DMart fill is fixed.</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South-2 NPI mix 6.4% | ₹0.90 Cr recoverable at the West / South-1 benchmark</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East: Q1 star, July load spike</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₹7.10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₹3.54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10.4%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49.9%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D6544D"/>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₹3.56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Converted 89.7% across Q1 • July primary is 62.8% above its own Q1 run-rate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FSN/Nykaa offtake, Jan–Jul 2026 (₹ Cr)</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FSN/Nykaa EANs — range is contracting</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Reliance</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₹2.16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52.9%</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Apollo</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₹0.80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Vishal Mega Mart</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₹0.17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no primary</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West Bengal</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₹1.56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Odisha</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₹0.60 Cr</a:t>
            </a:r>
            <a:endParaRPr lang="en-US" sz="700" dirty="0"/>
          </a:p>
        </p:txBody>
      </p:sp>
      <p:sp>
        <p:nvSpPr>
          <p:cNvPr id="65" name="Text 61"/>
          <p:cNvSpPr/>
          <p:nvPr/>
        </p:nvSpPr>
        <p:spPr>
          <a:xfrm>
            <a:off x="2502408" y="5577840"/>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Bihar</a:t>
            </a:r>
            <a:endParaRPr lang="en-US" sz="700" dirty="0"/>
          </a:p>
        </p:txBody>
      </p:sp>
      <p:sp>
        <p:nvSpPr>
          <p:cNvPr id="66" name="Text 62"/>
          <p:cNvSpPr/>
          <p:nvPr/>
        </p:nvSpPr>
        <p:spPr>
          <a:xfrm>
            <a:off x="3770376" y="5577840"/>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₹0.49 Cr</a:t>
            </a:r>
            <a:endParaRPr lang="en-US" sz="700" dirty="0"/>
          </a:p>
        </p:txBody>
      </p:sp>
      <p:sp>
        <p:nvSpPr>
          <p:cNvPr id="67" name="Shape 63"/>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8" name="Shape 64"/>
          <p:cNvSpPr/>
          <p:nvPr/>
        </p:nvSpPr>
        <p:spPr>
          <a:xfrm>
            <a:off x="4556760" y="4553712"/>
            <a:ext cx="2036064" cy="274320"/>
          </a:xfrm>
          <a:prstGeom prst="rect">
            <a:avLst/>
          </a:prstGeom>
          <a:solidFill>
            <a:srgbClr val="28A596"/>
          </a:solidFill>
          <a:ln/>
        </p:spPr>
      </p:sp>
      <p:sp>
        <p:nvSpPr>
          <p:cNvPr id="69" name="Text 65"/>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70" name="Text 66"/>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₹2.91 Cr</a:t>
            </a:r>
            <a:endParaRPr lang="en-US" sz="680" dirty="0"/>
          </a:p>
        </p:txBody>
      </p:sp>
      <p:sp>
        <p:nvSpPr>
          <p:cNvPr id="71" name="Text 67"/>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2" name="Text 68"/>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₹1.34</a:t>
            </a:r>
            <a:endParaRPr lang="en-US" sz="630" dirty="0"/>
          </a:p>
        </p:txBody>
      </p:sp>
      <p:sp>
        <p:nvSpPr>
          <p:cNvPr id="73" name="Text 69"/>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4" name="Text 70"/>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₹1.18</a:t>
            </a:r>
            <a:endParaRPr lang="en-US" sz="630" dirty="0"/>
          </a:p>
        </p:txBody>
      </p:sp>
      <p:sp>
        <p:nvSpPr>
          <p:cNvPr id="75" name="Text 71"/>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6" name="Text 72"/>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₹0.19</a:t>
            </a:r>
            <a:endParaRPr lang="en-US" sz="630" dirty="0"/>
          </a:p>
        </p:txBody>
      </p:sp>
      <p:sp>
        <p:nvSpPr>
          <p:cNvPr id="77" name="Text 73"/>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₹0.60 Cr</a:t>
            </a:r>
            <a:endParaRPr lang="en-US" sz="680" dirty="0"/>
          </a:p>
        </p:txBody>
      </p:sp>
      <p:sp>
        <p:nvSpPr>
          <p:cNvPr id="78" name="Text 74"/>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9" name="Text 75"/>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₹0.47</a:t>
            </a:r>
            <a:endParaRPr lang="en-US" sz="630" dirty="0"/>
          </a:p>
        </p:txBody>
      </p:sp>
      <p:sp>
        <p:nvSpPr>
          <p:cNvPr id="80" name="Text 76"/>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81" name="Text 77"/>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82" name="Text 78"/>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3" name="Text 79"/>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₹0.05</a:t>
            </a:r>
            <a:endParaRPr lang="en-US" sz="630" dirty="0"/>
          </a:p>
        </p:txBody>
      </p:sp>
      <p:sp>
        <p:nvSpPr>
          <p:cNvPr id="84" name="Shape 80"/>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5" name="Text 81"/>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₹0.36 Cr · 10.2% of zone — the highest NPI mix on the worst conversion</a:t>
            </a:r>
            <a:endParaRPr lang="en-US" sz="660" dirty="0"/>
          </a:p>
        </p:txBody>
      </p:sp>
      <p:sp>
        <p:nvSpPr>
          <p:cNvPr id="86" name="Shape 82"/>
          <p:cNvSpPr/>
          <p:nvPr/>
        </p:nvSpPr>
        <p:spPr>
          <a:xfrm>
            <a:off x="265176" y="6821424"/>
            <a:ext cx="6327648" cy="256032"/>
          </a:xfrm>
          <a:prstGeom prst="rect">
            <a:avLst/>
          </a:prstGeom>
          <a:solidFill>
            <a:srgbClr val="D6544D"/>
          </a:solidFill>
          <a:ln/>
        </p:spPr>
      </p:sp>
      <p:sp>
        <p:nvSpPr>
          <p:cNvPr id="87" name="Text 83"/>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8" name="Shape 84"/>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9" name="Shape 85"/>
          <p:cNvSpPr/>
          <p:nvPr/>
        </p:nvSpPr>
        <p:spPr>
          <a:xfrm>
            <a:off x="265176" y="7168896"/>
            <a:ext cx="2036064" cy="41148"/>
          </a:xfrm>
          <a:prstGeom prst="rect">
            <a:avLst/>
          </a:prstGeom>
          <a:solidFill>
            <a:srgbClr val="D6544D"/>
          </a:solidFill>
          <a:ln/>
        </p:spPr>
      </p:sp>
      <p:sp>
        <p:nvSpPr>
          <p:cNvPr id="90" name="Text 86"/>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PRIZE</a:t>
            </a:r>
            <a:endParaRPr lang="en-US" sz="620" dirty="0"/>
          </a:p>
        </p:txBody>
      </p:sp>
      <p:sp>
        <p:nvSpPr>
          <p:cNvPr id="91" name="Text 87"/>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₹2.54 Cr recoverable — the largest pool in the pack</a:t>
            </a:r>
            <a:endParaRPr lang="en-US" sz="740" dirty="0"/>
          </a:p>
        </p:txBody>
      </p:sp>
      <p:sp>
        <p:nvSpPr>
          <p:cNvPr id="92" name="Text 88"/>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East bills ₹7.83 Cr and sells ₹3.55 Cr. At the West / South-1 benchmark the same billing delivers ₹6.50 Cr. This single zone is half the national opportunity.</a:t>
            </a:r>
            <a:endParaRPr lang="en-US" sz="650" dirty="0"/>
          </a:p>
        </p:txBody>
      </p:sp>
      <p:sp>
        <p:nvSpPr>
          <p:cNvPr id="93" name="Shape 89"/>
          <p:cNvSpPr/>
          <p:nvPr/>
        </p:nvSpPr>
        <p:spPr>
          <a:xfrm>
            <a:off x="356616" y="8330184"/>
            <a:ext cx="1853184" cy="0"/>
          </a:xfrm>
          <a:prstGeom prst="line">
            <a:avLst/>
          </a:prstGeom>
          <a:noFill/>
          <a:ln w="6350">
            <a:solidFill>
              <a:srgbClr val="C8DCD7"/>
            </a:solidFill>
            <a:prstDash val="solid"/>
          </a:ln>
        </p:spPr>
      </p:sp>
      <p:sp>
        <p:nvSpPr>
          <p:cNvPr id="94" name="Text 90"/>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Set ₹2.54 Cr as the East recovery target with weekly owner review.</a:t>
            </a:r>
            <a:endParaRPr lang="en-US" sz="600" dirty="0"/>
          </a:p>
        </p:txBody>
      </p:sp>
      <p:sp>
        <p:nvSpPr>
          <p:cNvPr id="95" name="Text 91"/>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East ZSM · weekly from 18 Aug</a:t>
            </a:r>
            <a:endParaRPr lang="en-US" sz="620" dirty="0"/>
          </a:p>
        </p:txBody>
      </p:sp>
      <p:sp>
        <p:nvSpPr>
          <p:cNvPr id="96" name="Shape 92"/>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7" name="Shape 93"/>
          <p:cNvSpPr/>
          <p:nvPr/>
        </p:nvSpPr>
        <p:spPr>
          <a:xfrm>
            <a:off x="2410968" y="7168896"/>
            <a:ext cx="2036064" cy="41148"/>
          </a:xfrm>
          <a:prstGeom prst="rect">
            <a:avLst/>
          </a:prstGeom>
          <a:solidFill>
            <a:srgbClr val="D6544D"/>
          </a:solidFill>
          <a:ln/>
        </p:spPr>
      </p:sp>
      <p:sp>
        <p:nvSpPr>
          <p:cNvPr id="98" name="Text 94"/>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ROOT CAUSE</a:t>
            </a:r>
            <a:endParaRPr lang="en-US" sz="620" dirty="0"/>
          </a:p>
        </p:txBody>
      </p:sp>
      <p:sp>
        <p:nvSpPr>
          <p:cNvPr id="99" name="Text 95"/>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East at 52.9% carries 60.9% of the zone</a:t>
            </a:r>
            <a:endParaRPr lang="en-US" sz="740" dirty="0"/>
          </a:p>
        </p:txBody>
      </p:sp>
      <p:sp>
        <p:nvSpPr>
          <p:cNvPr id="100" name="Text 96"/>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One account dominates a zone that does not convert. Reliance runs 44.9% in North and 51.2% in Central too — this is a national account pattern surfacing hardest where it has most share.</a:t>
            </a:r>
            <a:endParaRPr lang="en-US" sz="650" dirty="0"/>
          </a:p>
        </p:txBody>
      </p:sp>
      <p:sp>
        <p:nvSpPr>
          <p:cNvPr id="101" name="Shape 97"/>
          <p:cNvSpPr/>
          <p:nvPr/>
        </p:nvSpPr>
        <p:spPr>
          <a:xfrm>
            <a:off x="2502408" y="8330184"/>
            <a:ext cx="1853184" cy="0"/>
          </a:xfrm>
          <a:prstGeom prst="line">
            <a:avLst/>
          </a:prstGeom>
          <a:noFill/>
          <a:ln w="6350">
            <a:solidFill>
              <a:srgbClr val="C8DCD7"/>
            </a:solidFill>
            <a:prstDash val="solid"/>
          </a:ln>
        </p:spPr>
      </p:sp>
      <p:sp>
        <p:nvSpPr>
          <p:cNvPr id="102" name="Text 98"/>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Make East the lead case in the national Reliance recovery loop.</a:t>
            </a:r>
            <a:endParaRPr lang="en-US" sz="600" dirty="0"/>
          </a:p>
        </p:txBody>
      </p:sp>
      <p:sp>
        <p:nvSpPr>
          <p:cNvPr id="103" name="Text 99"/>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04" name="Shape 100"/>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5" name="Shape 101"/>
          <p:cNvSpPr/>
          <p:nvPr/>
        </p:nvSpPr>
        <p:spPr>
          <a:xfrm>
            <a:off x="4556760" y="7168896"/>
            <a:ext cx="2036064" cy="41148"/>
          </a:xfrm>
          <a:prstGeom prst="rect">
            <a:avLst/>
          </a:prstGeom>
          <a:solidFill>
            <a:srgbClr val="D6544D"/>
          </a:solidFill>
          <a:ln/>
        </p:spPr>
      </p:sp>
      <p:sp>
        <p:nvSpPr>
          <p:cNvPr id="106" name="Text 102"/>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NPI RISK</a:t>
            </a:r>
            <a:endParaRPr lang="en-US" sz="620" dirty="0"/>
          </a:p>
        </p:txBody>
      </p:sp>
      <p:sp>
        <p:nvSpPr>
          <p:cNvPr id="107" name="Text 103"/>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NPI mix nationally into the worst-converting zone</a:t>
            </a:r>
            <a:endParaRPr lang="en-US" sz="740" dirty="0"/>
          </a:p>
        </p:txBody>
      </p:sp>
      <p:sp>
        <p:nvSpPr>
          <p:cNvPr id="108" name="Text 104"/>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10.2% of East offtake is new product, against 6.4% in South-2. New products are being launched hardest where sell-through is weakest — the launch will read as a product failure when it is a flow failure.</a:t>
            </a:r>
            <a:endParaRPr lang="en-US" sz="650" dirty="0"/>
          </a:p>
        </p:txBody>
      </p:sp>
      <p:sp>
        <p:nvSpPr>
          <p:cNvPr id="109" name="Shape 105"/>
          <p:cNvSpPr/>
          <p:nvPr/>
        </p:nvSpPr>
        <p:spPr>
          <a:xfrm>
            <a:off x="4648200" y="8330184"/>
            <a:ext cx="1853184" cy="0"/>
          </a:xfrm>
          <a:prstGeom prst="line">
            <a:avLst/>
          </a:prstGeom>
          <a:noFill/>
          <a:ln w="6350">
            <a:solidFill>
              <a:srgbClr val="C8DCD7"/>
            </a:solidFill>
            <a:prstDash val="solid"/>
          </a:ln>
        </p:spPr>
      </p:sp>
      <p:sp>
        <p:nvSpPr>
          <p:cNvPr id="110" name="Text 106"/>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Freeze incremental NPI into East until conversion clears 60%; protect only listed hero EANs.</a:t>
            </a:r>
            <a:endParaRPr lang="en-US" sz="600" dirty="0"/>
          </a:p>
        </p:txBody>
      </p:sp>
      <p:sp>
        <p:nvSpPr>
          <p:cNvPr id="111" name="Text 107"/>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Supply · immediate</a:t>
            </a:r>
            <a:endParaRPr lang="en-US" sz="620" dirty="0"/>
          </a:p>
        </p:txBody>
      </p:sp>
      <p:sp>
        <p:nvSpPr>
          <p:cNvPr id="112" name="Shape 108"/>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3" name="Shape 109"/>
          <p:cNvSpPr/>
          <p:nvPr/>
        </p:nvSpPr>
        <p:spPr>
          <a:xfrm>
            <a:off x="265176" y="8979408"/>
            <a:ext cx="2036064" cy="41148"/>
          </a:xfrm>
          <a:prstGeom prst="rect">
            <a:avLst/>
          </a:prstGeom>
          <a:solidFill>
            <a:srgbClr val="F2B84B"/>
          </a:solidFill>
          <a:ln/>
        </p:spPr>
      </p:sp>
      <p:sp>
        <p:nvSpPr>
          <p:cNvPr id="114" name="Text 110"/>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DIAGNOSIS</a:t>
            </a:r>
            <a:endParaRPr lang="en-US" sz="620" dirty="0"/>
          </a:p>
        </p:txBody>
      </p:sp>
      <p:sp>
        <p:nvSpPr>
          <p:cNvPr id="115" name="Text 111"/>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Billing outruns selling by more than 2:1</a:t>
            </a:r>
            <a:endParaRPr lang="en-US" sz="740" dirty="0"/>
          </a:p>
        </p:txBody>
      </p:sp>
      <p:sp>
        <p:nvSpPr>
          <p:cNvPr id="116" name="Text 112"/>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 gap this size over one month is a loading pattern, not an availability gap. Continued primary at this rate builds trade stock that will suppress future orders.</a:t>
            </a:r>
            <a:endParaRPr lang="en-US" sz="650" dirty="0"/>
          </a:p>
        </p:txBody>
      </p:sp>
      <p:sp>
        <p:nvSpPr>
          <p:cNvPr id="117" name="Shape 113"/>
          <p:cNvSpPr/>
          <p:nvPr/>
        </p:nvSpPr>
        <p:spPr>
          <a:xfrm>
            <a:off x="356616" y="10140696"/>
            <a:ext cx="1853184" cy="0"/>
          </a:xfrm>
          <a:prstGeom prst="line">
            <a:avLst/>
          </a:prstGeom>
          <a:noFill/>
          <a:ln w="6350">
            <a:solidFill>
              <a:srgbClr val="C8DCD7"/>
            </a:solidFill>
            <a:prstDash val="solid"/>
          </a:ln>
        </p:spPr>
      </p:sp>
      <p:sp>
        <p:nvSpPr>
          <p:cNvPr id="118" name="Text 114"/>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Cap East primary at trailing three-month offtake until the gap closes.</a:t>
            </a:r>
            <a:endParaRPr lang="en-US" sz="600" dirty="0"/>
          </a:p>
        </p:txBody>
      </p:sp>
      <p:sp>
        <p:nvSpPr>
          <p:cNvPr id="119" name="Text 115"/>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Supply + Sales lead · immediate</a:t>
            </a:r>
            <a:endParaRPr lang="en-US" sz="620" dirty="0"/>
          </a:p>
        </p:txBody>
      </p:sp>
      <p:sp>
        <p:nvSpPr>
          <p:cNvPr id="120" name="Shape 116"/>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21" name="Shape 117"/>
          <p:cNvSpPr/>
          <p:nvPr/>
        </p:nvSpPr>
        <p:spPr>
          <a:xfrm>
            <a:off x="2410968" y="8979408"/>
            <a:ext cx="2036064" cy="41148"/>
          </a:xfrm>
          <a:prstGeom prst="rect">
            <a:avLst/>
          </a:prstGeom>
          <a:solidFill>
            <a:srgbClr val="F2B84B"/>
          </a:solidFill>
          <a:ln/>
        </p:spPr>
      </p:sp>
      <p:sp>
        <p:nvSpPr>
          <p:cNvPr id="122" name="Text 118"/>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3" name="Text 119"/>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Two of three top chains cannot be flow-tested</a:t>
            </a:r>
            <a:endParaRPr lang="en-US" sz="740" dirty="0"/>
          </a:p>
        </p:txBody>
      </p:sp>
      <p:sp>
        <p:nvSpPr>
          <p:cNvPr id="124" name="Text 120"/>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Apollo reports above 100% and Vishal Mega Mart has no mapped primary, so only Reliance in this zone has a verifiable conversion figure.</a:t>
            </a:r>
            <a:endParaRPr lang="en-US" sz="650" dirty="0"/>
          </a:p>
        </p:txBody>
      </p:sp>
      <p:sp>
        <p:nvSpPr>
          <p:cNvPr id="125" name="Shape 121"/>
          <p:cNvSpPr/>
          <p:nvPr/>
        </p:nvSpPr>
        <p:spPr>
          <a:xfrm>
            <a:off x="2502408" y="10140696"/>
            <a:ext cx="1853184" cy="0"/>
          </a:xfrm>
          <a:prstGeom prst="line">
            <a:avLst/>
          </a:prstGeom>
          <a:noFill/>
          <a:ln w="6350">
            <a:solidFill>
              <a:srgbClr val="C8DCD7"/>
            </a:solidFill>
            <a:prstDash val="solid"/>
          </a:ln>
        </p:spPr>
      </p:sp>
      <p:sp>
        <p:nvSpPr>
          <p:cNvPr id="126" name="Text 122"/>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Map Vishal Mega Mart billing and reconcile Apollo East opening stock.</a:t>
            </a:r>
            <a:endParaRPr lang="en-US" sz="600" dirty="0"/>
          </a:p>
        </p:txBody>
      </p:sp>
      <p:sp>
        <p:nvSpPr>
          <p:cNvPr id="127" name="Text 123"/>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8" name="Shape 124"/>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9" name="Shape 125"/>
          <p:cNvSpPr/>
          <p:nvPr/>
        </p:nvSpPr>
        <p:spPr>
          <a:xfrm>
            <a:off x="4556760" y="8979408"/>
            <a:ext cx="2036064" cy="41148"/>
          </a:xfrm>
          <a:prstGeom prst="rect">
            <a:avLst/>
          </a:prstGeom>
          <a:solidFill>
            <a:srgbClr val="116F68"/>
          </a:solidFill>
          <a:ln/>
        </p:spPr>
      </p:sp>
      <p:sp>
        <p:nvSpPr>
          <p:cNvPr id="130" name="Text 126"/>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116F68"/>
                </a:solidFill>
                <a:latin typeface="Calibri" pitchFamily="34" charset="0"/>
                <a:ea typeface="Calibri" pitchFamily="34" charset="-122"/>
                <a:cs typeface="Calibri" pitchFamily="34" charset="-120"/>
              </a:rPr>
              <a:t>PORTFOLIO</a:t>
            </a:r>
            <a:endParaRPr lang="en-US" sz="620" dirty="0"/>
          </a:p>
        </p:txBody>
      </p:sp>
      <p:sp>
        <p:nvSpPr>
          <p:cNvPr id="131" name="Text 127"/>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The Derma Co. is barely present at ₹0.60 Cr</a:t>
            </a:r>
            <a:endParaRPr lang="en-US" sz="740" dirty="0"/>
          </a:p>
        </p:txBody>
      </p:sp>
      <p:sp>
        <p:nvSpPr>
          <p:cNvPr id="132" name="Text 128"/>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is 16.9% of East offtake against 39.4% in West. Fixing flow before adding TDC distribution avoids compounding the problem.</a:t>
            </a:r>
            <a:endParaRPr lang="en-US" sz="650" dirty="0"/>
          </a:p>
        </p:txBody>
      </p:sp>
      <p:sp>
        <p:nvSpPr>
          <p:cNvPr id="133" name="Shape 129"/>
          <p:cNvSpPr/>
          <p:nvPr/>
        </p:nvSpPr>
        <p:spPr>
          <a:xfrm>
            <a:off x="4648200" y="10140696"/>
            <a:ext cx="1853184" cy="0"/>
          </a:xfrm>
          <a:prstGeom prst="line">
            <a:avLst/>
          </a:prstGeom>
          <a:noFill/>
          <a:ln w="6350">
            <a:solidFill>
              <a:srgbClr val="C8DCD7"/>
            </a:solidFill>
            <a:prstDash val="solid"/>
          </a:ln>
        </p:spPr>
      </p:sp>
      <p:sp>
        <p:nvSpPr>
          <p:cNvPr id="134" name="Text 130"/>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Defer TDC expansion in East until zone conversion clears 60%.</a:t>
            </a:r>
            <a:endParaRPr lang="en-US" sz="600" dirty="0"/>
          </a:p>
        </p:txBody>
      </p:sp>
      <p:sp>
        <p:nvSpPr>
          <p:cNvPr id="135" name="Text 131"/>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 review</a:t>
            </a:r>
            <a:endParaRPr lang="en-US" sz="620" dirty="0"/>
          </a:p>
        </p:txBody>
      </p:sp>
      <p:sp>
        <p:nvSpPr>
          <p:cNvPr id="136" name="Text 132"/>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East NPI mix 10.2% | ₹2.54 Cr recoverable at the West / South-1 benchmark</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850" b="1" dirty="0">
                <a:solidFill>
                  <a:srgbClr val="FFFFFF"/>
                </a:solidFill>
                <a:latin typeface="Calibri Light" pitchFamily="34" charset="0"/>
                <a:ea typeface="Calibri Light" pitchFamily="34" charset="-122"/>
                <a:cs typeface="Calibri Light" pitchFamily="34" charset="-120"/>
              </a:rPr>
              <a:t>Central: Small and healthy</a:t>
            </a:r>
            <a:endParaRPr lang="en-US" sz="18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MT zone deep dive | July 2026 | ₹ Cr | Modern Trade accounts only</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₹2.62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₹2.12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6.2% mix</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B9A66"/>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80.9%</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B9A66"/>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B9A66"/>
                </a:solidFill>
                <a:latin typeface="Calibri Light" pitchFamily="34" charset="0"/>
                <a:ea typeface="Calibri Light" pitchFamily="34" charset="-122"/>
                <a:cs typeface="Calibri Light" pitchFamily="34" charset="-120"/>
              </a:rPr>
              <a:t>₹0.50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Smallest zone, sound flow — manage for cost, not intervention</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DMart</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₹1.41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95.3%</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Reliance</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₹0.46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51.2%</a:t>
            </a:r>
            <a:endParaRPr lang="en-US" sz="620" dirty="0"/>
          </a:p>
        </p:txBody>
      </p:sp>
      <p:sp>
        <p:nvSpPr>
          <p:cNvPr id="55" name="Text 51"/>
          <p:cNvSpPr/>
          <p:nvPr/>
        </p:nvSpPr>
        <p:spPr>
          <a:xfrm>
            <a:off x="356616" y="5614416"/>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3. Apollo</a:t>
            </a:r>
            <a:endParaRPr lang="en-US" sz="700" dirty="0"/>
          </a:p>
        </p:txBody>
      </p:sp>
      <p:sp>
        <p:nvSpPr>
          <p:cNvPr id="56" name="Text 52"/>
          <p:cNvSpPr/>
          <p:nvPr/>
        </p:nvSpPr>
        <p:spPr>
          <a:xfrm>
            <a:off x="1588008" y="5614416"/>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₹0.19 Cr</a:t>
            </a:r>
            <a:endParaRPr lang="en-US" sz="700" dirty="0"/>
          </a:p>
        </p:txBody>
      </p:sp>
      <p:sp>
        <p:nvSpPr>
          <p:cNvPr id="57" name="Text 53"/>
          <p:cNvSpPr/>
          <p:nvPr/>
        </p:nvSpPr>
        <p:spPr>
          <a:xfrm>
            <a:off x="1588008" y="5769864"/>
            <a:ext cx="621792" cy="146304"/>
          </a:xfrm>
          <a:prstGeom prst="rect">
            <a:avLst/>
          </a:prstGeom>
          <a:noFill/>
          <a:ln/>
        </p:spPr>
        <p:txBody>
          <a:bodyPr wrap="square" lIns="0" tIns="0" rIns="0" bIns="0" rtlCol="0" anchor="t"/>
          <a:lstStyle/>
          <a:p>
            <a:pPr algn="r" indent="0" marL="0">
              <a:buNone/>
            </a:pPr>
            <a:r>
              <a:rPr lang="en-US" sz="620" dirty="0">
                <a:solidFill>
                  <a:srgbClr val="F2B84B"/>
                </a:solidFill>
                <a:latin typeface="Calibri" pitchFamily="34" charset="0"/>
                <a:ea typeface="Calibri" pitchFamily="34" charset="-122"/>
                <a:cs typeface="Calibri" pitchFamily="34" charset="-120"/>
              </a:rPr>
              <a:t>over 100%</a:t>
            </a:r>
            <a:endParaRPr lang="en-US" sz="620" dirty="0"/>
          </a:p>
        </p:txBody>
      </p:sp>
      <p:sp>
        <p:nvSpPr>
          <p:cNvPr id="58" name="Shape 54"/>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9" name="Shape 55"/>
          <p:cNvSpPr/>
          <p:nvPr/>
        </p:nvSpPr>
        <p:spPr>
          <a:xfrm>
            <a:off x="2410968" y="4553712"/>
            <a:ext cx="2036064" cy="274320"/>
          </a:xfrm>
          <a:prstGeom prst="rect">
            <a:avLst/>
          </a:prstGeom>
          <a:solidFill>
            <a:srgbClr val="2E7DA8"/>
          </a:solidFill>
          <a:ln/>
        </p:spPr>
      </p:sp>
      <p:sp>
        <p:nvSpPr>
          <p:cNvPr id="60" name="Text 56"/>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61" name="Text 57"/>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Madhya Pradesh</a:t>
            </a:r>
            <a:endParaRPr lang="en-US" sz="700" dirty="0"/>
          </a:p>
        </p:txBody>
      </p:sp>
      <p:sp>
        <p:nvSpPr>
          <p:cNvPr id="62" name="Text 58"/>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₹1.68 Cr</a:t>
            </a:r>
            <a:endParaRPr lang="en-US" sz="700" dirty="0"/>
          </a:p>
        </p:txBody>
      </p:sp>
      <p:sp>
        <p:nvSpPr>
          <p:cNvPr id="63" name="Text 59"/>
          <p:cNvSpPr/>
          <p:nvPr/>
        </p:nvSpPr>
        <p:spPr>
          <a:xfrm>
            <a:off x="2502408" y="5248656"/>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Chhattisgarh</a:t>
            </a:r>
            <a:endParaRPr lang="en-US" sz="700" dirty="0"/>
          </a:p>
        </p:txBody>
      </p:sp>
      <p:sp>
        <p:nvSpPr>
          <p:cNvPr id="64" name="Text 60"/>
          <p:cNvSpPr/>
          <p:nvPr/>
        </p:nvSpPr>
        <p:spPr>
          <a:xfrm>
            <a:off x="3770376" y="5248656"/>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₹0.44 Cr</a:t>
            </a:r>
            <a:endParaRPr lang="en-US" sz="700" dirty="0"/>
          </a:p>
        </p:txBody>
      </p:sp>
      <p:sp>
        <p:nvSpPr>
          <p:cNvPr id="65" name="Shape 61"/>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6" name="Shape 62"/>
          <p:cNvSpPr/>
          <p:nvPr/>
        </p:nvSpPr>
        <p:spPr>
          <a:xfrm>
            <a:off x="4556760" y="4553712"/>
            <a:ext cx="2036064" cy="274320"/>
          </a:xfrm>
          <a:prstGeom prst="rect">
            <a:avLst/>
          </a:prstGeom>
          <a:solidFill>
            <a:srgbClr val="28A596"/>
          </a:solidFill>
          <a:ln/>
        </p:spPr>
      </p:sp>
      <p:sp>
        <p:nvSpPr>
          <p:cNvPr id="67" name="Text 63"/>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8" name="Text 64"/>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₹1.25 Cr</a:t>
            </a:r>
            <a:endParaRPr lang="en-US" sz="680" dirty="0"/>
          </a:p>
        </p:txBody>
      </p:sp>
      <p:sp>
        <p:nvSpPr>
          <p:cNvPr id="69" name="Text 65"/>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0" name="Text 66"/>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₹0.54</a:t>
            </a:r>
            <a:endParaRPr lang="en-US" sz="630" dirty="0"/>
          </a:p>
        </p:txBody>
      </p:sp>
      <p:sp>
        <p:nvSpPr>
          <p:cNvPr id="71" name="Text 67"/>
          <p:cNvSpPr/>
          <p:nvPr/>
        </p:nvSpPr>
        <p:spPr>
          <a:xfrm>
            <a:off x="4684776" y="52486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Shampoo</a:t>
            </a:r>
            <a:endParaRPr lang="en-US" sz="630" dirty="0"/>
          </a:p>
        </p:txBody>
      </p:sp>
      <p:sp>
        <p:nvSpPr>
          <p:cNvPr id="72" name="Text 68"/>
          <p:cNvSpPr/>
          <p:nvPr/>
        </p:nvSpPr>
        <p:spPr>
          <a:xfrm>
            <a:off x="6007608" y="52486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₹0.40</a:t>
            </a:r>
            <a:endParaRPr lang="en-US" sz="630" dirty="0"/>
          </a:p>
        </p:txBody>
      </p:sp>
      <p:sp>
        <p:nvSpPr>
          <p:cNvPr id="73" name="Text 69"/>
          <p:cNvSpPr/>
          <p:nvPr/>
        </p:nvSpPr>
        <p:spPr>
          <a:xfrm>
            <a:off x="4684776" y="54041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4" name="Text 70"/>
          <p:cNvSpPr/>
          <p:nvPr/>
        </p:nvSpPr>
        <p:spPr>
          <a:xfrm>
            <a:off x="6007608" y="54041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₹0.09</a:t>
            </a:r>
            <a:endParaRPr lang="en-US" sz="630" dirty="0"/>
          </a:p>
        </p:txBody>
      </p:sp>
      <p:sp>
        <p:nvSpPr>
          <p:cNvPr id="75" name="Text 71"/>
          <p:cNvSpPr/>
          <p:nvPr/>
        </p:nvSpPr>
        <p:spPr>
          <a:xfrm>
            <a:off x="4648200" y="5605272"/>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₹0.82 Cr</a:t>
            </a:r>
            <a:endParaRPr lang="en-US" sz="680" dirty="0"/>
          </a:p>
        </p:txBody>
      </p:sp>
      <p:sp>
        <p:nvSpPr>
          <p:cNvPr id="76" name="Text 72"/>
          <p:cNvSpPr/>
          <p:nvPr/>
        </p:nvSpPr>
        <p:spPr>
          <a:xfrm>
            <a:off x="4684776" y="57790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Cleanser</a:t>
            </a:r>
            <a:endParaRPr lang="en-US" sz="630" dirty="0"/>
          </a:p>
        </p:txBody>
      </p:sp>
      <p:sp>
        <p:nvSpPr>
          <p:cNvPr id="77" name="Text 73"/>
          <p:cNvSpPr/>
          <p:nvPr/>
        </p:nvSpPr>
        <p:spPr>
          <a:xfrm>
            <a:off x="6007608" y="57790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₹0.66</a:t>
            </a:r>
            <a:endParaRPr lang="en-US" sz="630" dirty="0"/>
          </a:p>
        </p:txBody>
      </p:sp>
      <p:sp>
        <p:nvSpPr>
          <p:cNvPr id="78" name="Text 74"/>
          <p:cNvSpPr/>
          <p:nvPr/>
        </p:nvSpPr>
        <p:spPr>
          <a:xfrm>
            <a:off x="4684776" y="5934456"/>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Sun Care</a:t>
            </a:r>
            <a:endParaRPr lang="en-US" sz="630" dirty="0"/>
          </a:p>
        </p:txBody>
      </p:sp>
      <p:sp>
        <p:nvSpPr>
          <p:cNvPr id="79" name="Text 75"/>
          <p:cNvSpPr/>
          <p:nvPr/>
        </p:nvSpPr>
        <p:spPr>
          <a:xfrm>
            <a:off x="6007608" y="5934456"/>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₹0.18</a:t>
            </a:r>
            <a:endParaRPr lang="en-US" sz="630" dirty="0"/>
          </a:p>
        </p:txBody>
      </p:sp>
      <p:sp>
        <p:nvSpPr>
          <p:cNvPr id="80" name="Text 76"/>
          <p:cNvSpPr/>
          <p:nvPr/>
        </p:nvSpPr>
        <p:spPr>
          <a:xfrm>
            <a:off x="4684776" y="6089904"/>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Face Serum</a:t>
            </a:r>
            <a:endParaRPr lang="en-US" sz="630" dirty="0"/>
          </a:p>
        </p:txBody>
      </p:sp>
      <p:sp>
        <p:nvSpPr>
          <p:cNvPr id="81" name="Text 77"/>
          <p:cNvSpPr/>
          <p:nvPr/>
        </p:nvSpPr>
        <p:spPr>
          <a:xfrm>
            <a:off x="6007608" y="6089904"/>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₹0.02</a:t>
            </a:r>
            <a:endParaRPr lang="en-US" sz="630" dirty="0"/>
          </a:p>
        </p:txBody>
      </p:sp>
      <p:sp>
        <p:nvSpPr>
          <p:cNvPr id="82" name="Shape 78"/>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83" name="Text 79"/>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₹0.18 Cr · 8.5% of zone</a:t>
            </a:r>
            <a:endParaRPr lang="en-US" sz="660" dirty="0"/>
          </a:p>
        </p:txBody>
      </p:sp>
      <p:sp>
        <p:nvSpPr>
          <p:cNvPr id="84" name="Shape 80"/>
          <p:cNvSpPr/>
          <p:nvPr/>
        </p:nvSpPr>
        <p:spPr>
          <a:xfrm>
            <a:off x="265176" y="6821424"/>
            <a:ext cx="6327648" cy="256032"/>
          </a:xfrm>
          <a:prstGeom prst="rect">
            <a:avLst/>
          </a:prstGeom>
          <a:solidFill>
            <a:srgbClr val="2B9A66"/>
          </a:solidFill>
          <a:ln/>
        </p:spPr>
      </p:sp>
      <p:sp>
        <p:nvSpPr>
          <p:cNvPr id="85" name="Text 81"/>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86" name="Shape 82"/>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87" name="Shape 83"/>
          <p:cNvSpPr/>
          <p:nvPr/>
        </p:nvSpPr>
        <p:spPr>
          <a:xfrm>
            <a:off x="265176" y="7168896"/>
            <a:ext cx="2036064" cy="41148"/>
          </a:xfrm>
          <a:prstGeom prst="rect">
            <a:avLst/>
          </a:prstGeom>
          <a:solidFill>
            <a:srgbClr val="5F716E"/>
          </a:solidFill>
          <a:ln/>
        </p:spPr>
      </p:sp>
      <p:sp>
        <p:nvSpPr>
          <p:cNvPr id="88" name="Text 84"/>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5F716E"/>
                </a:solidFill>
                <a:latin typeface="Calibri" pitchFamily="34" charset="0"/>
                <a:ea typeface="Calibri" pitchFamily="34" charset="-122"/>
                <a:cs typeface="Calibri" pitchFamily="34" charset="-120"/>
              </a:rPr>
              <a:t>SIZING</a:t>
            </a:r>
            <a:endParaRPr lang="en-US" sz="620" dirty="0"/>
          </a:p>
        </p:txBody>
      </p:sp>
      <p:sp>
        <p:nvSpPr>
          <p:cNvPr id="89" name="Text 85"/>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₹0.13 Cr recoverable — below the ₹0.25 Cr floor</a:t>
            </a:r>
            <a:endParaRPr lang="en-US" sz="740" dirty="0"/>
          </a:p>
        </p:txBody>
      </p:sp>
      <p:sp>
        <p:nvSpPr>
          <p:cNvPr id="90" name="Text 86"/>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At benchmark conversion Central gains almost nothing. The zone is small and already flowing well, so it should not consume review time.</a:t>
            </a:r>
            <a:endParaRPr lang="en-US" sz="650" dirty="0"/>
          </a:p>
        </p:txBody>
      </p:sp>
      <p:sp>
        <p:nvSpPr>
          <p:cNvPr id="91" name="Shape 87"/>
          <p:cNvSpPr/>
          <p:nvPr/>
        </p:nvSpPr>
        <p:spPr>
          <a:xfrm>
            <a:off x="356616" y="8330184"/>
            <a:ext cx="1853184" cy="0"/>
          </a:xfrm>
          <a:prstGeom prst="line">
            <a:avLst/>
          </a:prstGeom>
          <a:noFill/>
          <a:ln w="6350">
            <a:solidFill>
              <a:srgbClr val="C8DCD7"/>
            </a:solidFill>
            <a:prstDash val="solid"/>
          </a:ln>
        </p:spPr>
      </p:sp>
      <p:sp>
        <p:nvSpPr>
          <p:cNvPr id="92" name="Text 88"/>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Central by exception only; drop it from the weekly gap review.</a:t>
            </a:r>
            <a:endParaRPr lang="en-US" sz="600" dirty="0"/>
          </a:p>
        </p:txBody>
      </p:sp>
      <p:sp>
        <p:nvSpPr>
          <p:cNvPr id="93" name="Text 89"/>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from Sep pack</a:t>
            </a:r>
            <a:endParaRPr lang="en-US" sz="620" dirty="0"/>
          </a:p>
        </p:txBody>
      </p:sp>
      <p:sp>
        <p:nvSpPr>
          <p:cNvPr id="94" name="Shape 90"/>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95" name="Shape 91"/>
          <p:cNvSpPr/>
          <p:nvPr/>
        </p:nvSpPr>
        <p:spPr>
          <a:xfrm>
            <a:off x="2410968" y="7168896"/>
            <a:ext cx="2036064" cy="41148"/>
          </a:xfrm>
          <a:prstGeom prst="rect">
            <a:avLst/>
          </a:prstGeom>
          <a:solidFill>
            <a:srgbClr val="2B9A66"/>
          </a:solidFill>
          <a:ln/>
        </p:spPr>
      </p:sp>
      <p:sp>
        <p:nvSpPr>
          <p:cNvPr id="96" name="Text 92"/>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97" name="Text 93"/>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DMart Central converts at 95.3% — best in the country</a:t>
            </a:r>
            <a:endParaRPr lang="en-US" sz="740" dirty="0"/>
          </a:p>
        </p:txBody>
      </p:sp>
      <p:sp>
        <p:nvSpPr>
          <p:cNvPr id="98" name="Text 94"/>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Slightly ahead of DMart West. Two zones now show DMart above 94%, which makes the 45.1% in South-2 clearly anomalous rather than a chain-wide characteristic.</a:t>
            </a:r>
            <a:endParaRPr lang="en-US" sz="650" dirty="0"/>
          </a:p>
        </p:txBody>
      </p:sp>
      <p:sp>
        <p:nvSpPr>
          <p:cNvPr id="99" name="Shape 95"/>
          <p:cNvSpPr/>
          <p:nvPr/>
        </p:nvSpPr>
        <p:spPr>
          <a:xfrm>
            <a:off x="2502408" y="8330184"/>
            <a:ext cx="1853184" cy="0"/>
          </a:xfrm>
          <a:prstGeom prst="line">
            <a:avLst/>
          </a:prstGeom>
          <a:noFill/>
          <a:ln w="6350">
            <a:solidFill>
              <a:srgbClr val="C8DCD7"/>
            </a:solidFill>
            <a:prstDash val="solid"/>
          </a:ln>
        </p:spPr>
      </p:sp>
      <p:sp>
        <p:nvSpPr>
          <p:cNvPr id="100" name="Text 96"/>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Cite Central and West together when scoping the DMart South-2 fill audit.</a:t>
            </a:r>
            <a:endParaRPr lang="en-US" sz="600" dirty="0"/>
          </a:p>
        </p:txBody>
      </p:sp>
      <p:sp>
        <p:nvSpPr>
          <p:cNvPr id="101" name="Text 97"/>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22 Aug</a:t>
            </a:r>
            <a:endParaRPr lang="en-US" sz="620" dirty="0"/>
          </a:p>
        </p:txBody>
      </p:sp>
      <p:sp>
        <p:nvSpPr>
          <p:cNvPr id="102" name="Shape 98"/>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103" name="Shape 99"/>
          <p:cNvSpPr/>
          <p:nvPr/>
        </p:nvSpPr>
        <p:spPr>
          <a:xfrm>
            <a:off x="4556760" y="7168896"/>
            <a:ext cx="2036064" cy="41148"/>
          </a:xfrm>
          <a:prstGeom prst="rect">
            <a:avLst/>
          </a:prstGeom>
          <a:solidFill>
            <a:srgbClr val="D6544D"/>
          </a:solidFill>
          <a:ln/>
        </p:spPr>
      </p:sp>
      <p:sp>
        <p:nvSpPr>
          <p:cNvPr id="104" name="Text 100"/>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EXCEPTION</a:t>
            </a:r>
            <a:endParaRPr lang="en-US" sz="620" dirty="0"/>
          </a:p>
        </p:txBody>
      </p:sp>
      <p:sp>
        <p:nvSpPr>
          <p:cNvPr id="105" name="Text 101"/>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Reliance Central at 51.2% repeats the national pattern</a:t>
            </a:r>
            <a:endParaRPr lang="en-US" sz="740" dirty="0"/>
          </a:p>
        </p:txBody>
      </p:sp>
      <p:sp>
        <p:nvSpPr>
          <p:cNvPr id="106" name="Text 102"/>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Fourth zone where Reliance sits near 50% while other accounts in the same geography clear 78%. The consistency is the evidence.</a:t>
            </a:r>
            <a:endParaRPr lang="en-US" sz="650" dirty="0"/>
          </a:p>
        </p:txBody>
      </p:sp>
      <p:sp>
        <p:nvSpPr>
          <p:cNvPr id="107" name="Shape 103"/>
          <p:cNvSpPr/>
          <p:nvPr/>
        </p:nvSpPr>
        <p:spPr>
          <a:xfrm>
            <a:off x="4648200" y="8330184"/>
            <a:ext cx="1853184" cy="0"/>
          </a:xfrm>
          <a:prstGeom prst="line">
            <a:avLst/>
          </a:prstGeom>
          <a:noFill/>
          <a:ln w="6350">
            <a:solidFill>
              <a:srgbClr val="C8DCD7"/>
            </a:solidFill>
            <a:prstDash val="solid"/>
          </a:ln>
        </p:spPr>
      </p:sp>
      <p:sp>
        <p:nvSpPr>
          <p:cNvPr id="108" name="Text 104"/>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Include Central in the Reliance national loop; no separate zone action.</a:t>
            </a:r>
            <a:endParaRPr lang="en-US" sz="600" dirty="0"/>
          </a:p>
        </p:txBody>
      </p:sp>
      <p:sp>
        <p:nvSpPr>
          <p:cNvPr id="109" name="Text 105"/>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25 Aug</a:t>
            </a:r>
            <a:endParaRPr lang="en-US" sz="620" dirty="0"/>
          </a:p>
        </p:txBody>
      </p:sp>
      <p:sp>
        <p:nvSpPr>
          <p:cNvPr id="110" name="Shape 106"/>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111" name="Shape 107"/>
          <p:cNvSpPr/>
          <p:nvPr/>
        </p:nvSpPr>
        <p:spPr>
          <a:xfrm>
            <a:off x="265176" y="8979408"/>
            <a:ext cx="2036064" cy="41148"/>
          </a:xfrm>
          <a:prstGeom prst="rect">
            <a:avLst/>
          </a:prstGeom>
          <a:solidFill>
            <a:srgbClr val="F2B84B"/>
          </a:solidFill>
          <a:ln/>
        </p:spPr>
      </p:sp>
      <p:sp>
        <p:nvSpPr>
          <p:cNvPr id="112" name="Text 108"/>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CONCENTRATION</a:t>
            </a:r>
            <a:endParaRPr lang="en-US" sz="620" dirty="0"/>
          </a:p>
        </p:txBody>
      </p:sp>
      <p:sp>
        <p:nvSpPr>
          <p:cNvPr id="113" name="Text 109"/>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Madhya Pradesh is 79.3% of the zone</a:t>
            </a:r>
            <a:endParaRPr lang="en-US" sz="740" dirty="0"/>
          </a:p>
        </p:txBody>
      </p:sp>
      <p:sp>
        <p:nvSpPr>
          <p:cNvPr id="114" name="Text 110"/>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most single-state-dependent zone in the pack. Chhattisgarh at ₹0.44 Cr is the only other material market.</a:t>
            </a:r>
            <a:endParaRPr lang="en-US" sz="650" dirty="0"/>
          </a:p>
        </p:txBody>
      </p:sp>
      <p:sp>
        <p:nvSpPr>
          <p:cNvPr id="115" name="Shape 111"/>
          <p:cNvSpPr/>
          <p:nvPr/>
        </p:nvSpPr>
        <p:spPr>
          <a:xfrm>
            <a:off x="356616" y="10140696"/>
            <a:ext cx="1853184" cy="0"/>
          </a:xfrm>
          <a:prstGeom prst="line">
            <a:avLst/>
          </a:prstGeom>
          <a:noFill/>
          <a:ln w="6350">
            <a:solidFill>
              <a:srgbClr val="C8DCD7"/>
            </a:solidFill>
            <a:prstDash val="solid"/>
          </a:ln>
        </p:spPr>
      </p:sp>
      <p:sp>
        <p:nvSpPr>
          <p:cNvPr id="116" name="Text 112"/>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Treat Central as a single-state operation for planning and route design.</a:t>
            </a:r>
            <a:endParaRPr lang="en-US" sz="600" dirty="0"/>
          </a:p>
        </p:txBody>
      </p:sp>
      <p:sp>
        <p:nvSpPr>
          <p:cNvPr id="117" name="Text 113"/>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Central RKAM · Sep planning</a:t>
            </a:r>
            <a:endParaRPr lang="en-US" sz="620" dirty="0"/>
          </a:p>
        </p:txBody>
      </p:sp>
      <p:sp>
        <p:nvSpPr>
          <p:cNvPr id="118" name="Shape 114"/>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19" name="Shape 115"/>
          <p:cNvSpPr/>
          <p:nvPr/>
        </p:nvSpPr>
        <p:spPr>
          <a:xfrm>
            <a:off x="2410968" y="8979408"/>
            <a:ext cx="2036064" cy="41148"/>
          </a:xfrm>
          <a:prstGeom prst="rect">
            <a:avLst/>
          </a:prstGeom>
          <a:solidFill>
            <a:srgbClr val="2B9A66"/>
          </a:solidFill>
          <a:ln/>
        </p:spPr>
      </p:sp>
      <p:sp>
        <p:nvSpPr>
          <p:cNvPr id="120" name="Text 116"/>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PORTFOLIO</a:t>
            </a:r>
            <a:endParaRPr lang="en-US" sz="620" dirty="0"/>
          </a:p>
        </p:txBody>
      </p:sp>
      <p:sp>
        <p:nvSpPr>
          <p:cNvPr id="121" name="Text 117"/>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Highest TDC share of any zone at 38.7%</a:t>
            </a:r>
            <a:endParaRPr lang="en-US" sz="740" dirty="0"/>
          </a:p>
        </p:txBody>
      </p:sp>
      <p:sp>
        <p:nvSpPr>
          <p:cNvPr id="122" name="Text 118"/>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TDC ₹0.82 Cr against Mamaearth ₹1.25 Cr. Central over-indexes on TDC Face Cleanser relative to its size.</a:t>
            </a:r>
            <a:endParaRPr lang="en-US" sz="650" dirty="0"/>
          </a:p>
        </p:txBody>
      </p:sp>
      <p:sp>
        <p:nvSpPr>
          <p:cNvPr id="123" name="Shape 119"/>
          <p:cNvSpPr/>
          <p:nvPr/>
        </p:nvSpPr>
        <p:spPr>
          <a:xfrm>
            <a:off x="2502408" y="10140696"/>
            <a:ext cx="1853184" cy="0"/>
          </a:xfrm>
          <a:prstGeom prst="line">
            <a:avLst/>
          </a:prstGeom>
          <a:noFill/>
          <a:ln w="6350">
            <a:solidFill>
              <a:srgbClr val="C8DCD7"/>
            </a:solidFill>
            <a:prstDash val="solid"/>
          </a:ln>
        </p:spPr>
      </p:sp>
      <p:sp>
        <p:nvSpPr>
          <p:cNvPr id="124" name="Text 120"/>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Use Central TDC assortment as the reference for South-2 TDC expansion.</a:t>
            </a:r>
            <a:endParaRPr lang="en-US" sz="600" dirty="0"/>
          </a:p>
        </p:txBody>
      </p:sp>
      <p:sp>
        <p:nvSpPr>
          <p:cNvPr id="125" name="Text 121"/>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Category · Sep</a:t>
            </a:r>
            <a:endParaRPr lang="en-US" sz="620" dirty="0"/>
          </a:p>
        </p:txBody>
      </p:sp>
      <p:sp>
        <p:nvSpPr>
          <p:cNvPr id="126" name="Shape 122"/>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27" name="Shape 123"/>
          <p:cNvSpPr/>
          <p:nvPr/>
        </p:nvSpPr>
        <p:spPr>
          <a:xfrm>
            <a:off x="4556760" y="8979408"/>
            <a:ext cx="2036064" cy="41148"/>
          </a:xfrm>
          <a:prstGeom prst="rect">
            <a:avLst/>
          </a:prstGeom>
          <a:solidFill>
            <a:srgbClr val="F2B84B"/>
          </a:solidFill>
          <a:ln/>
        </p:spPr>
      </p:sp>
      <p:sp>
        <p:nvSpPr>
          <p:cNvPr id="128" name="Text 124"/>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DATA</a:t>
            </a:r>
            <a:endParaRPr lang="en-US" sz="620" dirty="0"/>
          </a:p>
        </p:txBody>
      </p:sp>
      <p:sp>
        <p:nvSpPr>
          <p:cNvPr id="129" name="Text 125"/>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Apollo Central reported at 137.7%</a:t>
            </a:r>
            <a:endParaRPr lang="en-US" sz="740" dirty="0"/>
          </a:p>
        </p:txBody>
      </p:sp>
      <p:sp>
        <p:nvSpPr>
          <p:cNvPr id="130" name="Text 126"/>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Third zone where Apollo exceeds 100%. The national Apollo figure of 99.7% is an average of wide zone-level errors, not a measured parity.</a:t>
            </a:r>
            <a:endParaRPr lang="en-US" sz="650" dirty="0"/>
          </a:p>
        </p:txBody>
      </p:sp>
      <p:sp>
        <p:nvSpPr>
          <p:cNvPr id="131" name="Shape 127"/>
          <p:cNvSpPr/>
          <p:nvPr/>
        </p:nvSpPr>
        <p:spPr>
          <a:xfrm>
            <a:off x="4648200" y="10140696"/>
            <a:ext cx="1853184" cy="0"/>
          </a:xfrm>
          <a:prstGeom prst="line">
            <a:avLst/>
          </a:prstGeom>
          <a:noFill/>
          <a:ln w="6350">
            <a:solidFill>
              <a:srgbClr val="C8DCD7"/>
            </a:solidFill>
            <a:prstDash val="solid"/>
          </a:ln>
        </p:spPr>
      </p:sp>
      <p:sp>
        <p:nvSpPr>
          <p:cNvPr id="132" name="Text 128"/>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Stop quoting Apollo national conversion until the zone figures reconcile.</a:t>
            </a:r>
            <a:endParaRPr lang="en-US" sz="600" dirty="0"/>
          </a:p>
        </p:txBody>
      </p:sp>
      <p:sp>
        <p:nvSpPr>
          <p:cNvPr id="133" name="Text 129"/>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34" name="Text 130"/>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Central NPI mix 8.5% | ₹0.11 Cr recoverable — below the materiality floor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eB2B: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July 2026 | ₹ Cr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13</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₹2.20 Cr</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July billing</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28A596"/>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OFFTAKE</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outside MT</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2E7DA8"/>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CONVERSION</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750" b="1" dirty="0">
                <a:solidFill>
                  <a:srgbClr val="2E7DA8"/>
                </a:solidFill>
                <a:latin typeface="Calibri Light" pitchFamily="34" charset="0"/>
                <a:ea typeface="Calibri Light" pitchFamily="34" charset="-122"/>
                <a:cs typeface="Calibri Light" pitchFamily="34" charset="-120"/>
              </a:rPr>
              <a:t>94.1%</a:t>
            </a:r>
            <a:endParaRPr lang="en-US" sz="17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flow</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2E7DA8"/>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GAP</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₹0.13 Cr</a:t>
            </a:r>
            <a:endParaRPr lang="en-US" sz="15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primary − offtake</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Nykaa (FSN) + Eremedium • formerly reported as the "Pan India" zone</a:t>
            </a:r>
            <a:endParaRPr lang="en-US" sz="740" dirty="0"/>
          </a:p>
        </p:txBody>
      </p:sp>
      <p:sp>
        <p:nvSpPr>
          <p:cNvPr id="42" name="Text 40"/>
          <p:cNvSpPr/>
          <p:nvPr/>
        </p:nvSpPr>
        <p:spPr>
          <a:xfrm>
            <a:off x="265176"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 top 3 sub-categories (₹ Cr, Feb–Jul)</a:t>
            </a:r>
            <a:endParaRPr lang="en-US" sz="720" dirty="0"/>
          </a:p>
        </p:txBody>
      </p:sp>
      <p:graphicFrame>
        <p:nvGraphicFramePr>
          <p:cNvPr id="43" name="Chart 0" descr=""/>
          <p:cNvGraphicFramePr/>
          <p:nvPr/>
        </p:nvGraphicFramePr>
        <p:xfrm>
          <a:off x="246888" y="2944368"/>
          <a:ext cx="3090672" cy="1499616"/>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43200"/>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 top 3 sub-categories (₹ Cr, Feb–Jul)</a:t>
            </a:r>
            <a:endParaRPr lang="en-US" sz="720" dirty="0"/>
          </a:p>
        </p:txBody>
      </p:sp>
      <p:graphicFrame>
        <p:nvGraphicFramePr>
          <p:cNvPr id="45" name="Chart 1" descr=""/>
          <p:cNvGraphicFramePr/>
          <p:nvPr/>
        </p:nvGraphicFramePr>
        <p:xfrm>
          <a:off x="3483864" y="2944368"/>
          <a:ext cx="3090672" cy="1499616"/>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553712"/>
            <a:ext cx="2036064" cy="1773936"/>
          </a:xfrm>
          <a:prstGeom prst="roundRect">
            <a:avLst>
              <a:gd name="adj" fmla="val 1031"/>
            </a:avLst>
          </a:prstGeom>
          <a:solidFill>
            <a:srgbClr val="FFFFFF"/>
          </a:solidFill>
          <a:ln w="9525">
            <a:solidFill>
              <a:srgbClr val="C8DCD7"/>
            </a:solidFill>
            <a:prstDash val="solid"/>
          </a:ln>
        </p:spPr>
      </p:sp>
      <p:sp>
        <p:nvSpPr>
          <p:cNvPr id="47" name="Shape 43"/>
          <p:cNvSpPr/>
          <p:nvPr/>
        </p:nvSpPr>
        <p:spPr>
          <a:xfrm>
            <a:off x="265176" y="4553712"/>
            <a:ext cx="2036064" cy="274320"/>
          </a:xfrm>
          <a:prstGeom prst="rect">
            <a:avLst/>
          </a:prstGeom>
          <a:solidFill>
            <a:srgbClr val="116F68"/>
          </a:solidFill>
          <a:ln/>
        </p:spPr>
      </p:sp>
      <p:sp>
        <p:nvSpPr>
          <p:cNvPr id="48" name="Text 44"/>
          <p:cNvSpPr/>
          <p:nvPr/>
        </p:nvSpPr>
        <p:spPr>
          <a:xfrm>
            <a:off x="347472"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CHAINS</a:t>
            </a:r>
            <a:endParaRPr lang="en-US" sz="700" dirty="0"/>
          </a:p>
        </p:txBody>
      </p:sp>
      <p:sp>
        <p:nvSpPr>
          <p:cNvPr id="49" name="Text 45"/>
          <p:cNvSpPr/>
          <p:nvPr/>
        </p:nvSpPr>
        <p:spPr>
          <a:xfrm>
            <a:off x="356616" y="4919472"/>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Nykaa (FSN)</a:t>
            </a:r>
            <a:endParaRPr lang="en-US" sz="700" dirty="0"/>
          </a:p>
        </p:txBody>
      </p:sp>
      <p:sp>
        <p:nvSpPr>
          <p:cNvPr id="50" name="Text 46"/>
          <p:cNvSpPr/>
          <p:nvPr/>
        </p:nvSpPr>
        <p:spPr>
          <a:xfrm>
            <a:off x="1588008" y="4919472"/>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₹2.07 Cr</a:t>
            </a:r>
            <a:endParaRPr lang="en-US" sz="700" dirty="0"/>
          </a:p>
        </p:txBody>
      </p:sp>
      <p:sp>
        <p:nvSpPr>
          <p:cNvPr id="51" name="Text 47"/>
          <p:cNvSpPr/>
          <p:nvPr/>
        </p:nvSpPr>
        <p:spPr>
          <a:xfrm>
            <a:off x="1588008" y="5074920"/>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99.4%</a:t>
            </a:r>
            <a:endParaRPr lang="en-US" sz="620" dirty="0"/>
          </a:p>
        </p:txBody>
      </p:sp>
      <p:sp>
        <p:nvSpPr>
          <p:cNvPr id="52" name="Text 48"/>
          <p:cNvSpPr/>
          <p:nvPr/>
        </p:nvSpPr>
        <p:spPr>
          <a:xfrm>
            <a:off x="356616" y="5266944"/>
            <a:ext cx="1258824" cy="310896"/>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2. Eremedium</a:t>
            </a:r>
            <a:endParaRPr lang="en-US" sz="700" dirty="0"/>
          </a:p>
        </p:txBody>
      </p:sp>
      <p:sp>
        <p:nvSpPr>
          <p:cNvPr id="53" name="Text 49"/>
          <p:cNvSpPr/>
          <p:nvPr/>
        </p:nvSpPr>
        <p:spPr>
          <a:xfrm>
            <a:off x="1588008" y="5266944"/>
            <a:ext cx="621792" cy="155448"/>
          </a:xfrm>
          <a:prstGeom prst="rect">
            <a:avLst/>
          </a:prstGeom>
          <a:noFill/>
          <a:ln/>
        </p:spPr>
        <p:txBody>
          <a:bodyPr wrap="square" lIns="0" tIns="0" rIns="0" bIns="0" rtlCol="0" anchor="t"/>
          <a:lstStyle/>
          <a:p>
            <a:pPr algn="r" indent="0" marL="0">
              <a:buNone/>
            </a:pPr>
            <a:r>
              <a:rPr lang="en-US" sz="700" b="1" dirty="0">
                <a:solidFill>
                  <a:srgbClr val="116F68"/>
                </a:solidFill>
                <a:latin typeface="Calibri" pitchFamily="34" charset="0"/>
                <a:ea typeface="Calibri" pitchFamily="34" charset="-122"/>
                <a:cs typeface="Calibri" pitchFamily="34" charset="-120"/>
              </a:rPr>
              <a:t>₹0.00 Cr</a:t>
            </a:r>
            <a:endParaRPr lang="en-US" sz="700" dirty="0"/>
          </a:p>
        </p:txBody>
      </p:sp>
      <p:sp>
        <p:nvSpPr>
          <p:cNvPr id="54" name="Text 50"/>
          <p:cNvSpPr/>
          <p:nvPr/>
        </p:nvSpPr>
        <p:spPr>
          <a:xfrm>
            <a:off x="1588008" y="5422392"/>
            <a:ext cx="621792" cy="146304"/>
          </a:xfrm>
          <a:prstGeom prst="rect">
            <a:avLst/>
          </a:prstGeom>
          <a:noFill/>
          <a:ln/>
        </p:spPr>
        <p:txBody>
          <a:bodyPr wrap="square" lIns="0" tIns="0" rIns="0" bIns="0" rtlCol="0" anchor="t"/>
          <a:lstStyle/>
          <a:p>
            <a:pPr algn="r" indent="0" marL="0">
              <a:buNone/>
            </a:pPr>
            <a:r>
              <a:rPr lang="en-US" sz="620" dirty="0">
                <a:solidFill>
                  <a:srgbClr val="5F716E"/>
                </a:solidFill>
                <a:latin typeface="Calibri" pitchFamily="34" charset="0"/>
                <a:ea typeface="Calibri" pitchFamily="34" charset="-122"/>
                <a:cs typeface="Calibri" pitchFamily="34" charset="-120"/>
              </a:rPr>
              <a:t>no offtake feed</a:t>
            </a:r>
            <a:endParaRPr lang="en-US" sz="620" dirty="0"/>
          </a:p>
        </p:txBody>
      </p:sp>
      <p:sp>
        <p:nvSpPr>
          <p:cNvPr id="55" name="Shape 51"/>
          <p:cNvSpPr/>
          <p:nvPr/>
        </p:nvSpPr>
        <p:spPr>
          <a:xfrm>
            <a:off x="2410968" y="4553712"/>
            <a:ext cx="2036064" cy="1773936"/>
          </a:xfrm>
          <a:prstGeom prst="roundRect">
            <a:avLst>
              <a:gd name="adj" fmla="val 1031"/>
            </a:avLst>
          </a:prstGeom>
          <a:solidFill>
            <a:srgbClr val="FFFFFF"/>
          </a:solidFill>
          <a:ln w="9525">
            <a:solidFill>
              <a:srgbClr val="C8DCD7"/>
            </a:solidFill>
            <a:prstDash val="solid"/>
          </a:ln>
        </p:spPr>
      </p:sp>
      <p:sp>
        <p:nvSpPr>
          <p:cNvPr id="56" name="Shape 52"/>
          <p:cNvSpPr/>
          <p:nvPr/>
        </p:nvSpPr>
        <p:spPr>
          <a:xfrm>
            <a:off x="2410968" y="4553712"/>
            <a:ext cx="2036064" cy="274320"/>
          </a:xfrm>
          <a:prstGeom prst="rect">
            <a:avLst/>
          </a:prstGeom>
          <a:solidFill>
            <a:srgbClr val="2E7DA8"/>
          </a:solidFill>
          <a:ln/>
        </p:spPr>
      </p:sp>
      <p:sp>
        <p:nvSpPr>
          <p:cNvPr id="57" name="Text 53"/>
          <p:cNvSpPr/>
          <p:nvPr/>
        </p:nvSpPr>
        <p:spPr>
          <a:xfrm>
            <a:off x="2493264"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TOP STATES</a:t>
            </a:r>
            <a:endParaRPr lang="en-US" sz="700" dirty="0"/>
          </a:p>
        </p:txBody>
      </p:sp>
      <p:sp>
        <p:nvSpPr>
          <p:cNvPr id="58" name="Text 54"/>
          <p:cNvSpPr/>
          <p:nvPr/>
        </p:nvSpPr>
        <p:spPr>
          <a:xfrm>
            <a:off x="2502408" y="4919472"/>
            <a:ext cx="1304544" cy="292608"/>
          </a:xfrm>
          <a:prstGeom prst="rect">
            <a:avLst/>
          </a:prstGeom>
          <a:noFill/>
          <a:ln/>
        </p:spPr>
        <p:txBody>
          <a:bodyPr wrap="square" lIns="0" tIns="0" rIns="0" bIns="0" rtlCol="0" anchor="t"/>
          <a:lstStyle/>
          <a:p>
            <a:pPr indent="0" marL="0">
              <a:lnSpc>
                <a:spcPct val="90000"/>
              </a:lnSpc>
              <a:buNone/>
            </a:pPr>
            <a:r>
              <a:rPr lang="en-US" sz="700" b="1" dirty="0">
                <a:solidFill>
                  <a:srgbClr val="183B39"/>
                </a:solidFill>
                <a:latin typeface="Calibri" pitchFamily="34" charset="0"/>
                <a:ea typeface="Calibri" pitchFamily="34" charset="-122"/>
                <a:cs typeface="Calibri" pitchFamily="34" charset="-120"/>
              </a:rPr>
              <a:t>1. Pan India (no geography)</a:t>
            </a:r>
            <a:endParaRPr lang="en-US" sz="700" dirty="0"/>
          </a:p>
        </p:txBody>
      </p:sp>
      <p:sp>
        <p:nvSpPr>
          <p:cNvPr id="59" name="Text 55"/>
          <p:cNvSpPr/>
          <p:nvPr/>
        </p:nvSpPr>
        <p:spPr>
          <a:xfrm>
            <a:off x="3770376" y="4919472"/>
            <a:ext cx="585216" cy="182880"/>
          </a:xfrm>
          <a:prstGeom prst="rect">
            <a:avLst/>
          </a:prstGeom>
          <a:noFill/>
          <a:ln/>
        </p:spPr>
        <p:txBody>
          <a:bodyPr wrap="square" lIns="0" tIns="0" rIns="0" bIns="0" rtlCol="0" anchor="t"/>
          <a:lstStyle/>
          <a:p>
            <a:pPr algn="r" indent="0" marL="0">
              <a:buNone/>
            </a:pPr>
            <a:r>
              <a:rPr lang="en-US" sz="700" b="1" dirty="0">
                <a:solidFill>
                  <a:srgbClr val="2E7DA8"/>
                </a:solidFill>
                <a:latin typeface="Calibri" pitchFamily="34" charset="0"/>
                <a:ea typeface="Calibri" pitchFamily="34" charset="-122"/>
                <a:cs typeface="Calibri" pitchFamily="34" charset="-120"/>
              </a:rPr>
              <a:t>₹2.07 Cr</a:t>
            </a:r>
            <a:endParaRPr lang="en-US" sz="700" dirty="0"/>
          </a:p>
        </p:txBody>
      </p:sp>
      <p:sp>
        <p:nvSpPr>
          <p:cNvPr id="60" name="Shape 56"/>
          <p:cNvSpPr/>
          <p:nvPr/>
        </p:nvSpPr>
        <p:spPr>
          <a:xfrm>
            <a:off x="4556760" y="4553712"/>
            <a:ext cx="2036064" cy="1773936"/>
          </a:xfrm>
          <a:prstGeom prst="roundRect">
            <a:avLst>
              <a:gd name="adj" fmla="val 1031"/>
            </a:avLst>
          </a:prstGeom>
          <a:solidFill>
            <a:srgbClr val="FFFFFF"/>
          </a:solidFill>
          <a:ln w="9525">
            <a:solidFill>
              <a:srgbClr val="C8DCD7"/>
            </a:solidFill>
            <a:prstDash val="solid"/>
          </a:ln>
        </p:spPr>
      </p:sp>
      <p:sp>
        <p:nvSpPr>
          <p:cNvPr id="61" name="Shape 57"/>
          <p:cNvSpPr/>
          <p:nvPr/>
        </p:nvSpPr>
        <p:spPr>
          <a:xfrm>
            <a:off x="4556760" y="4553712"/>
            <a:ext cx="2036064" cy="274320"/>
          </a:xfrm>
          <a:prstGeom prst="rect">
            <a:avLst/>
          </a:prstGeom>
          <a:solidFill>
            <a:srgbClr val="28A596"/>
          </a:solidFill>
          <a:ln/>
        </p:spPr>
      </p:sp>
      <p:sp>
        <p:nvSpPr>
          <p:cNvPr id="62" name="Text 58"/>
          <p:cNvSpPr/>
          <p:nvPr/>
        </p:nvSpPr>
        <p:spPr>
          <a:xfrm>
            <a:off x="4639056" y="457200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BRAND × SUB-CATEGORY</a:t>
            </a:r>
            <a:endParaRPr lang="en-US" sz="700" dirty="0"/>
          </a:p>
        </p:txBody>
      </p:sp>
      <p:sp>
        <p:nvSpPr>
          <p:cNvPr id="63" name="Text 59"/>
          <p:cNvSpPr/>
          <p:nvPr/>
        </p:nvSpPr>
        <p:spPr>
          <a:xfrm>
            <a:off x="4648200" y="4919472"/>
            <a:ext cx="1853184" cy="155448"/>
          </a:xfrm>
          <a:prstGeom prst="rect">
            <a:avLst/>
          </a:prstGeom>
          <a:noFill/>
          <a:ln/>
        </p:spPr>
        <p:txBody>
          <a:bodyPr wrap="square" lIns="0" tIns="0" rIns="0" bIns="0" rtlCol="0" anchor="t"/>
          <a:lstStyle/>
          <a:p>
            <a:pPr indent="0" marL="0">
              <a:buNone/>
            </a:pPr>
            <a:r>
              <a:rPr lang="en-US" sz="680" b="1" dirty="0">
                <a:solidFill>
                  <a:srgbClr val="28A596"/>
                </a:solidFill>
                <a:latin typeface="Calibri" pitchFamily="34" charset="0"/>
                <a:ea typeface="Calibri" pitchFamily="34" charset="-122"/>
                <a:cs typeface="Calibri" pitchFamily="34" charset="-120"/>
              </a:rPr>
              <a:t>Mamaearth ₹1.65 Cr</a:t>
            </a:r>
            <a:endParaRPr lang="en-US" sz="680" dirty="0"/>
          </a:p>
        </p:txBody>
      </p:sp>
      <p:sp>
        <p:nvSpPr>
          <p:cNvPr id="64" name="Text 60"/>
          <p:cNvSpPr/>
          <p:nvPr/>
        </p:nvSpPr>
        <p:spPr>
          <a:xfrm>
            <a:off x="4684776" y="5093208"/>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5" name="Text 61"/>
          <p:cNvSpPr/>
          <p:nvPr/>
        </p:nvSpPr>
        <p:spPr>
          <a:xfrm>
            <a:off x="6007608" y="5093208"/>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6" name="Text 62"/>
          <p:cNvSpPr/>
          <p:nvPr/>
        </p:nvSpPr>
        <p:spPr>
          <a:xfrm>
            <a:off x="4648200" y="5294376"/>
            <a:ext cx="1853184" cy="155448"/>
          </a:xfrm>
          <a:prstGeom prst="rect">
            <a:avLst/>
          </a:prstGeom>
          <a:noFill/>
          <a:ln/>
        </p:spPr>
        <p:txBody>
          <a:bodyPr wrap="square" lIns="0" tIns="0" rIns="0" bIns="0" rtlCol="0" anchor="t"/>
          <a:lstStyle/>
          <a:p>
            <a:pPr indent="0" marL="0">
              <a:buNone/>
            </a:pPr>
            <a:r>
              <a:rPr lang="en-US" sz="680" b="1" dirty="0">
                <a:solidFill>
                  <a:srgbClr val="2E7DA8"/>
                </a:solidFill>
                <a:latin typeface="Calibri" pitchFamily="34" charset="0"/>
                <a:ea typeface="Calibri" pitchFamily="34" charset="-122"/>
                <a:cs typeface="Calibri" pitchFamily="34" charset="-120"/>
              </a:rPr>
              <a:t>The Derma Co. ₹0.37 Cr</a:t>
            </a:r>
            <a:endParaRPr lang="en-US" sz="680" dirty="0"/>
          </a:p>
        </p:txBody>
      </p:sp>
      <p:sp>
        <p:nvSpPr>
          <p:cNvPr id="67" name="Text 63"/>
          <p:cNvSpPr/>
          <p:nvPr/>
        </p:nvSpPr>
        <p:spPr>
          <a:xfrm>
            <a:off x="4684776" y="5468112"/>
            <a:ext cx="1377696" cy="146304"/>
          </a:xfrm>
          <a:prstGeom prst="rect">
            <a:avLst/>
          </a:prstGeom>
          <a:noFill/>
          <a:ln/>
        </p:spPr>
        <p:txBody>
          <a:bodyPr wrap="square" lIns="0" tIns="0" rIns="0" bIns="0" rtlCol="0" anchor="t"/>
          <a:lstStyle/>
          <a:p>
            <a:pPr indent="0" marL="0">
              <a:buNone/>
            </a:pPr>
            <a:r>
              <a:rPr lang="en-US" sz="630" dirty="0">
                <a:solidFill>
                  <a:srgbClr val="183B39"/>
                </a:solidFill>
                <a:latin typeface="Calibri" pitchFamily="34" charset="0"/>
                <a:ea typeface="Calibri" pitchFamily="34" charset="-122"/>
                <a:cs typeface="Calibri" pitchFamily="34" charset="-120"/>
              </a:rPr>
              <a:t>— sub-category split</a:t>
            </a:r>
            <a:endParaRPr lang="en-US" sz="630" dirty="0"/>
          </a:p>
        </p:txBody>
      </p:sp>
      <p:sp>
        <p:nvSpPr>
          <p:cNvPr id="68" name="Text 64"/>
          <p:cNvSpPr/>
          <p:nvPr/>
        </p:nvSpPr>
        <p:spPr>
          <a:xfrm>
            <a:off x="6007608" y="5468112"/>
            <a:ext cx="493776" cy="146304"/>
          </a:xfrm>
          <a:prstGeom prst="rect">
            <a:avLst/>
          </a:prstGeom>
          <a:noFill/>
          <a:ln/>
        </p:spPr>
        <p:txBody>
          <a:bodyPr wrap="square" lIns="0" tIns="0" rIns="0" bIns="0" rtlCol="0" anchor="t"/>
          <a:lstStyle/>
          <a:p>
            <a:pPr algn="r" indent="0" marL="0">
              <a:buNone/>
            </a:pPr>
            <a:r>
              <a:rPr lang="en-US" sz="630" dirty="0">
                <a:solidFill>
                  <a:srgbClr val="5F716E"/>
                </a:solidFill>
                <a:latin typeface="Calibri" pitchFamily="34" charset="0"/>
                <a:ea typeface="Calibri" pitchFamily="34" charset="-122"/>
                <a:cs typeface="Calibri" pitchFamily="34" charset="-120"/>
              </a:rPr>
              <a:t>pending</a:t>
            </a:r>
            <a:endParaRPr lang="en-US" sz="630" dirty="0"/>
          </a:p>
        </p:txBody>
      </p:sp>
      <p:sp>
        <p:nvSpPr>
          <p:cNvPr id="69" name="Shape 65"/>
          <p:cNvSpPr/>
          <p:nvPr/>
        </p:nvSpPr>
        <p:spPr>
          <a:xfrm>
            <a:off x="265176" y="6437376"/>
            <a:ext cx="6327648" cy="274320"/>
          </a:xfrm>
          <a:prstGeom prst="roundRect">
            <a:avLst>
              <a:gd name="adj" fmla="val 6667"/>
            </a:avLst>
          </a:prstGeom>
          <a:solidFill>
            <a:srgbClr val="FDF6E6"/>
          </a:solidFill>
          <a:ln w="9525">
            <a:solidFill>
              <a:srgbClr val="F2B84B"/>
            </a:solidFill>
            <a:prstDash val="solid"/>
          </a:ln>
        </p:spPr>
      </p:sp>
      <p:sp>
        <p:nvSpPr>
          <p:cNvPr id="70" name="Text 66"/>
          <p:cNvSpPr/>
          <p:nvPr/>
        </p:nvSpPr>
        <p:spPr>
          <a:xfrm>
            <a:off x="374904" y="6473952"/>
            <a:ext cx="6108192" cy="219456"/>
          </a:xfrm>
          <a:prstGeom prst="rect">
            <a:avLst/>
          </a:prstGeom>
          <a:noFill/>
          <a:ln/>
        </p:spPr>
        <p:txBody>
          <a:bodyPr wrap="square" lIns="0" tIns="0" rIns="0" bIns="0" rtlCol="0" anchor="ctr"/>
          <a:lstStyle/>
          <a:p>
            <a:pPr indent="0" marL="0">
              <a:buNone/>
            </a:pPr>
            <a:r>
              <a:rPr lang="en-US" sz="660" b="1" dirty="0">
                <a:solidFill>
                  <a:srgbClr val="F2B84B"/>
                </a:solidFill>
                <a:latin typeface="Calibri" pitchFamily="34" charset="0"/>
                <a:ea typeface="Calibri" pitchFamily="34" charset="-122"/>
                <a:cs typeface="Calibri" pitchFamily="34" charset="-120"/>
              </a:rPr>
              <a:t>NPI   </a:t>
            </a:r>
            <a:pPr indent="0" marL="0">
              <a:buNone/>
            </a:pPr>
            <a:r>
              <a:rPr lang="en-US" sz="700" dirty="0">
                <a:solidFill>
                  <a:srgbClr val="183B39"/>
                </a:solidFill>
                <a:latin typeface="Calibri" pitchFamily="34" charset="0"/>
                <a:ea typeface="Calibri" pitchFamily="34" charset="-122"/>
                <a:cs typeface="Calibri" pitchFamily="34" charset="-120"/>
              </a:rPr>
              <a:t>₹0.13 Cr · 6.3% of channel</a:t>
            </a:r>
            <a:endParaRPr lang="en-US" sz="660" dirty="0"/>
          </a:p>
        </p:txBody>
      </p:sp>
      <p:sp>
        <p:nvSpPr>
          <p:cNvPr id="71" name="Shape 67"/>
          <p:cNvSpPr/>
          <p:nvPr/>
        </p:nvSpPr>
        <p:spPr>
          <a:xfrm>
            <a:off x="265176" y="6821424"/>
            <a:ext cx="6327648" cy="256032"/>
          </a:xfrm>
          <a:prstGeom prst="rect">
            <a:avLst/>
          </a:prstGeom>
          <a:solidFill>
            <a:srgbClr val="2E7DA8"/>
          </a:solidFill>
          <a:ln/>
        </p:spPr>
      </p:sp>
      <p:sp>
        <p:nvSpPr>
          <p:cNvPr id="72" name="Text 68"/>
          <p:cNvSpPr/>
          <p:nvPr/>
        </p:nvSpPr>
        <p:spPr>
          <a:xfrm>
            <a:off x="374904" y="68397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SIX DIAGNOSED EXCEPTIONS — CAUSE, ACTION AND OWNER</a:t>
            </a:r>
            <a:endParaRPr lang="en-US" sz="720" dirty="0"/>
          </a:p>
        </p:txBody>
      </p:sp>
      <p:sp>
        <p:nvSpPr>
          <p:cNvPr id="73" name="Shape 69"/>
          <p:cNvSpPr/>
          <p:nvPr/>
        </p:nvSpPr>
        <p:spPr>
          <a:xfrm>
            <a:off x="265176" y="7168896"/>
            <a:ext cx="2036064" cy="1700784"/>
          </a:xfrm>
          <a:prstGeom prst="roundRect">
            <a:avLst>
              <a:gd name="adj" fmla="val 1075"/>
            </a:avLst>
          </a:prstGeom>
          <a:solidFill>
            <a:srgbClr val="FFFFFF"/>
          </a:solidFill>
          <a:ln w="9525">
            <a:solidFill>
              <a:srgbClr val="C8DCD7"/>
            </a:solidFill>
            <a:prstDash val="solid"/>
          </a:ln>
        </p:spPr>
      </p:sp>
      <p:sp>
        <p:nvSpPr>
          <p:cNvPr id="74" name="Shape 70"/>
          <p:cNvSpPr/>
          <p:nvPr/>
        </p:nvSpPr>
        <p:spPr>
          <a:xfrm>
            <a:off x="265176" y="7168896"/>
            <a:ext cx="2036064" cy="41148"/>
          </a:xfrm>
          <a:prstGeom prst="rect">
            <a:avLst/>
          </a:prstGeom>
          <a:solidFill>
            <a:srgbClr val="D6544D"/>
          </a:solidFill>
          <a:ln/>
        </p:spPr>
      </p:sp>
      <p:sp>
        <p:nvSpPr>
          <p:cNvPr id="75" name="Text 71"/>
          <p:cNvSpPr/>
          <p:nvPr/>
        </p:nvSpPr>
        <p:spPr>
          <a:xfrm>
            <a:off x="356616"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RECLASSIFIED</a:t>
            </a:r>
            <a:endParaRPr lang="en-US" sz="620" dirty="0"/>
          </a:p>
        </p:txBody>
      </p:sp>
      <p:sp>
        <p:nvSpPr>
          <p:cNvPr id="76" name="Text 72"/>
          <p:cNvSpPr/>
          <p:nvPr/>
        </p:nvSpPr>
        <p:spPr>
          <a:xfrm>
            <a:off x="356616"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This was the "Pan India" zone; it is the eB2B channel</a:t>
            </a:r>
            <a:endParaRPr lang="en-US" sz="740" dirty="0"/>
          </a:p>
        </p:txBody>
      </p:sp>
      <p:sp>
        <p:nvSpPr>
          <p:cNvPr id="77" name="Text 73"/>
          <p:cNvSpPr/>
          <p:nvPr/>
        </p:nvSpPr>
        <p:spPr>
          <a:xfrm>
            <a:off x="356616"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FY27 offtake for the Pan India zone (860.01 L) equals the Nykaa (FSN) account exactly, 1:1, and Nykaa primary is classified eB2B in the channel master. It was never a geography and never Modern Trade.</a:t>
            </a:r>
            <a:endParaRPr lang="en-US" sz="650" dirty="0"/>
          </a:p>
        </p:txBody>
      </p:sp>
      <p:sp>
        <p:nvSpPr>
          <p:cNvPr id="78" name="Shape 74"/>
          <p:cNvSpPr/>
          <p:nvPr/>
        </p:nvSpPr>
        <p:spPr>
          <a:xfrm>
            <a:off x="356616" y="8330184"/>
            <a:ext cx="1853184" cy="0"/>
          </a:xfrm>
          <a:prstGeom prst="line">
            <a:avLst/>
          </a:prstGeom>
          <a:noFill/>
          <a:ln w="6350">
            <a:solidFill>
              <a:srgbClr val="C8DCD7"/>
            </a:solidFill>
            <a:prstDash val="solid"/>
          </a:ln>
        </p:spPr>
      </p:sp>
      <p:sp>
        <p:nvSpPr>
          <p:cNvPr id="79" name="Text 75"/>
          <p:cNvSpPr/>
          <p:nvPr/>
        </p:nvSpPr>
        <p:spPr>
          <a:xfrm>
            <a:off x="356616"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Renamed to eB2B and removed from MT zone sales, primary and offtake alike.</a:t>
            </a:r>
            <a:endParaRPr lang="en-US" sz="600" dirty="0"/>
          </a:p>
        </p:txBody>
      </p:sp>
      <p:sp>
        <p:nvSpPr>
          <p:cNvPr id="80" name="Text 76"/>
          <p:cNvSpPr/>
          <p:nvPr/>
        </p:nvSpPr>
        <p:spPr>
          <a:xfrm>
            <a:off x="356616"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applied 16 Aug</a:t>
            </a:r>
            <a:endParaRPr lang="en-US" sz="620" dirty="0"/>
          </a:p>
        </p:txBody>
      </p:sp>
      <p:sp>
        <p:nvSpPr>
          <p:cNvPr id="81" name="Shape 77"/>
          <p:cNvSpPr/>
          <p:nvPr/>
        </p:nvSpPr>
        <p:spPr>
          <a:xfrm>
            <a:off x="2410968" y="7168896"/>
            <a:ext cx="2036064" cy="1700784"/>
          </a:xfrm>
          <a:prstGeom prst="roundRect">
            <a:avLst>
              <a:gd name="adj" fmla="val 1075"/>
            </a:avLst>
          </a:prstGeom>
          <a:solidFill>
            <a:srgbClr val="FFFFFF"/>
          </a:solidFill>
          <a:ln w="9525">
            <a:solidFill>
              <a:srgbClr val="C8DCD7"/>
            </a:solidFill>
            <a:prstDash val="solid"/>
          </a:ln>
        </p:spPr>
      </p:sp>
      <p:sp>
        <p:nvSpPr>
          <p:cNvPr id="82" name="Shape 78"/>
          <p:cNvSpPr/>
          <p:nvPr/>
        </p:nvSpPr>
        <p:spPr>
          <a:xfrm>
            <a:off x="2410968" y="7168896"/>
            <a:ext cx="2036064" cy="41148"/>
          </a:xfrm>
          <a:prstGeom prst="rect">
            <a:avLst/>
          </a:prstGeom>
          <a:solidFill>
            <a:srgbClr val="D6544D"/>
          </a:solidFill>
          <a:ln/>
        </p:spPr>
      </p:sp>
      <p:sp>
        <p:nvSpPr>
          <p:cNvPr id="83" name="Text 79"/>
          <p:cNvSpPr/>
          <p:nvPr/>
        </p:nvSpPr>
        <p:spPr>
          <a:xfrm>
            <a:off x="2502408" y="7251192"/>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MT IMPACT</a:t>
            </a:r>
            <a:endParaRPr lang="en-US" sz="620" dirty="0"/>
          </a:p>
        </p:txBody>
      </p:sp>
      <p:sp>
        <p:nvSpPr>
          <p:cNvPr id="84" name="Text 80"/>
          <p:cNvSpPr/>
          <p:nvPr/>
        </p:nvSpPr>
        <p:spPr>
          <a:xfrm>
            <a:off x="2502408"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Removing it takes ₹2.07 Cr out of MT offtake</a:t>
            </a:r>
            <a:endParaRPr lang="en-US" sz="740" dirty="0"/>
          </a:p>
        </p:txBody>
      </p:sp>
      <p:sp>
        <p:nvSpPr>
          <p:cNvPr id="85" name="Text 81"/>
          <p:cNvSpPr/>
          <p:nvPr/>
        </p:nvSpPr>
        <p:spPr>
          <a:xfrm>
            <a:off x="2502408"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National MT offtake for July is ₹33.96 Cr, not ₹36.10 Cr. It now ties exactly to the sum of the six geographic MT zones — the identity the previous pack could not close. A further ₹0.03 Cr of SIS offtake also left the zones.</a:t>
            </a:r>
            <a:endParaRPr lang="en-US" sz="650" dirty="0"/>
          </a:p>
        </p:txBody>
      </p:sp>
      <p:sp>
        <p:nvSpPr>
          <p:cNvPr id="86" name="Shape 82"/>
          <p:cNvSpPr/>
          <p:nvPr/>
        </p:nvSpPr>
        <p:spPr>
          <a:xfrm>
            <a:off x="2502408" y="8330184"/>
            <a:ext cx="1853184" cy="0"/>
          </a:xfrm>
          <a:prstGeom prst="line">
            <a:avLst/>
          </a:prstGeom>
          <a:noFill/>
          <a:ln w="6350">
            <a:solidFill>
              <a:srgbClr val="C8DCD7"/>
            </a:solidFill>
            <a:prstDash val="solid"/>
          </a:ln>
        </p:spPr>
      </p:sp>
      <p:sp>
        <p:nvSpPr>
          <p:cNvPr id="87" name="Text 83"/>
          <p:cNvSpPr/>
          <p:nvPr/>
        </p:nvSpPr>
        <p:spPr>
          <a:xfrm>
            <a:off x="2502408"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Quote ₹33.96 Cr as national MT offtake in every downstream report.</a:t>
            </a:r>
            <a:endParaRPr lang="en-US" sz="600" dirty="0"/>
          </a:p>
        </p:txBody>
      </p:sp>
      <p:sp>
        <p:nvSpPr>
          <p:cNvPr id="88" name="Text 84"/>
          <p:cNvSpPr/>
          <p:nvPr/>
        </p:nvSpPr>
        <p:spPr>
          <a:xfrm>
            <a:off x="2502408"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from Aug pack</a:t>
            </a:r>
            <a:endParaRPr lang="en-US" sz="620" dirty="0"/>
          </a:p>
        </p:txBody>
      </p:sp>
      <p:sp>
        <p:nvSpPr>
          <p:cNvPr id="89" name="Shape 85"/>
          <p:cNvSpPr/>
          <p:nvPr/>
        </p:nvSpPr>
        <p:spPr>
          <a:xfrm>
            <a:off x="4556760" y="7168896"/>
            <a:ext cx="2036064" cy="1700784"/>
          </a:xfrm>
          <a:prstGeom prst="roundRect">
            <a:avLst>
              <a:gd name="adj" fmla="val 1075"/>
            </a:avLst>
          </a:prstGeom>
          <a:solidFill>
            <a:srgbClr val="FFFFFF"/>
          </a:solidFill>
          <a:ln w="9525">
            <a:solidFill>
              <a:srgbClr val="C8DCD7"/>
            </a:solidFill>
            <a:prstDash val="solid"/>
          </a:ln>
        </p:spPr>
      </p:sp>
      <p:sp>
        <p:nvSpPr>
          <p:cNvPr id="90" name="Shape 86"/>
          <p:cNvSpPr/>
          <p:nvPr/>
        </p:nvSpPr>
        <p:spPr>
          <a:xfrm>
            <a:off x="4556760" y="7168896"/>
            <a:ext cx="2036064" cy="41148"/>
          </a:xfrm>
          <a:prstGeom prst="rect">
            <a:avLst/>
          </a:prstGeom>
          <a:solidFill>
            <a:srgbClr val="F2B84B"/>
          </a:solidFill>
          <a:ln/>
        </p:spPr>
      </p:sp>
      <p:sp>
        <p:nvSpPr>
          <p:cNvPr id="91" name="Text 87"/>
          <p:cNvSpPr/>
          <p:nvPr/>
        </p:nvSpPr>
        <p:spPr>
          <a:xfrm>
            <a:off x="4648200" y="7251192"/>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SCOPE</a:t>
            </a:r>
            <a:endParaRPr lang="en-US" sz="620" dirty="0"/>
          </a:p>
        </p:txBody>
      </p:sp>
      <p:sp>
        <p:nvSpPr>
          <p:cNvPr id="92" name="Text 88"/>
          <p:cNvSpPr/>
          <p:nvPr/>
        </p:nvSpPr>
        <p:spPr>
          <a:xfrm>
            <a:off x="4648200" y="7397496"/>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FSN B2C sits inside this number and cannot be split</a:t>
            </a:r>
            <a:endParaRPr lang="en-US" sz="740" dirty="0"/>
          </a:p>
        </p:txBody>
      </p:sp>
      <p:sp>
        <p:nvSpPr>
          <p:cNvPr id="93" name="Text 89"/>
          <p:cNvSpPr/>
          <p:nvPr/>
        </p:nvSpPr>
        <p:spPr>
          <a:xfrm>
            <a:off x="4648200" y="7735824"/>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account combines FSN (B2C marketplace) with Nykaa SS (eB2B) at article level. The business decision of 16 Aug is to carry the whole account under eB2B until separated feeds exist.</a:t>
            </a:r>
            <a:endParaRPr lang="en-US" sz="650" dirty="0"/>
          </a:p>
        </p:txBody>
      </p:sp>
      <p:sp>
        <p:nvSpPr>
          <p:cNvPr id="94" name="Shape 90"/>
          <p:cNvSpPr/>
          <p:nvPr/>
        </p:nvSpPr>
        <p:spPr>
          <a:xfrm>
            <a:off x="4648200" y="8330184"/>
            <a:ext cx="1853184" cy="0"/>
          </a:xfrm>
          <a:prstGeom prst="line">
            <a:avLst/>
          </a:prstGeom>
          <a:noFill/>
          <a:ln w="6350">
            <a:solidFill>
              <a:srgbClr val="C8DCD7"/>
            </a:solidFill>
            <a:prstDash val="solid"/>
          </a:ln>
        </p:spPr>
      </p:sp>
      <p:sp>
        <p:nvSpPr>
          <p:cNvPr id="95" name="Text 91"/>
          <p:cNvSpPr/>
          <p:nvPr/>
        </p:nvSpPr>
        <p:spPr>
          <a:xfrm>
            <a:off x="4648200" y="8375904"/>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Request separated FSN and Nykaa SS feeds from the data owner.</a:t>
            </a:r>
            <a:endParaRPr lang="en-US" sz="600" dirty="0"/>
          </a:p>
        </p:txBody>
      </p:sp>
      <p:sp>
        <p:nvSpPr>
          <p:cNvPr id="96" name="Text 92"/>
          <p:cNvSpPr/>
          <p:nvPr/>
        </p:nvSpPr>
        <p:spPr>
          <a:xfrm>
            <a:off x="4648200" y="8705088"/>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97" name="Shape 93"/>
          <p:cNvSpPr/>
          <p:nvPr/>
        </p:nvSpPr>
        <p:spPr>
          <a:xfrm>
            <a:off x="265176" y="8979408"/>
            <a:ext cx="2036064" cy="1700784"/>
          </a:xfrm>
          <a:prstGeom prst="roundRect">
            <a:avLst>
              <a:gd name="adj" fmla="val 1075"/>
            </a:avLst>
          </a:prstGeom>
          <a:solidFill>
            <a:srgbClr val="FFFFFF"/>
          </a:solidFill>
          <a:ln w="9525">
            <a:solidFill>
              <a:srgbClr val="C8DCD7"/>
            </a:solidFill>
            <a:prstDash val="solid"/>
          </a:ln>
        </p:spPr>
      </p:sp>
      <p:sp>
        <p:nvSpPr>
          <p:cNvPr id="98" name="Shape 94"/>
          <p:cNvSpPr/>
          <p:nvPr/>
        </p:nvSpPr>
        <p:spPr>
          <a:xfrm>
            <a:off x="265176" y="8979408"/>
            <a:ext cx="2036064" cy="41148"/>
          </a:xfrm>
          <a:prstGeom prst="rect">
            <a:avLst/>
          </a:prstGeom>
          <a:solidFill>
            <a:srgbClr val="2B9A66"/>
          </a:solidFill>
          <a:ln/>
        </p:spPr>
      </p:sp>
      <p:sp>
        <p:nvSpPr>
          <p:cNvPr id="99" name="Text 95"/>
          <p:cNvSpPr/>
          <p:nvPr/>
        </p:nvSpPr>
        <p:spPr>
          <a:xfrm>
            <a:off x="356616" y="9061704"/>
            <a:ext cx="1853184" cy="137160"/>
          </a:xfrm>
          <a:prstGeom prst="rect">
            <a:avLst/>
          </a:prstGeom>
          <a:noFill/>
          <a:ln/>
        </p:spPr>
        <p:txBody>
          <a:bodyPr wrap="square" lIns="0" tIns="0" rIns="0" bIns="0" rtlCol="0" anchor="t"/>
          <a:lstStyle/>
          <a:p>
            <a:pPr indent="0" marL="0">
              <a:buNone/>
            </a:pPr>
            <a:r>
              <a:rPr lang="en-US" sz="620" b="1" spc="50" kern="0" dirty="0">
                <a:solidFill>
                  <a:srgbClr val="2B9A66"/>
                </a:solidFill>
                <a:latin typeface="Calibri" pitchFamily="34" charset="0"/>
                <a:ea typeface="Calibri" pitchFamily="34" charset="-122"/>
                <a:cs typeface="Calibri" pitchFamily="34" charset="-120"/>
              </a:rPr>
              <a:t>BENCHMARK</a:t>
            </a:r>
            <a:endParaRPr lang="en-US" sz="620" dirty="0"/>
          </a:p>
        </p:txBody>
      </p:sp>
      <p:sp>
        <p:nvSpPr>
          <p:cNvPr id="100" name="Text 96"/>
          <p:cNvSpPr/>
          <p:nvPr/>
        </p:nvSpPr>
        <p:spPr>
          <a:xfrm>
            <a:off x="356616"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94.1% July flow, 97.8% across FY27 to date</a:t>
            </a:r>
            <a:endParaRPr lang="en-US" sz="740" dirty="0"/>
          </a:p>
        </p:txBody>
      </p:sp>
      <p:sp>
        <p:nvSpPr>
          <p:cNvPr id="101" name="Text 97"/>
          <p:cNvSpPr/>
          <p:nvPr/>
        </p:nvSpPr>
        <p:spPr>
          <a:xfrm>
            <a:off x="356616"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Marketplace replenishment runs close to real time, so billing and selling stay in step. A useful ceiling, but the model does not transfer to hypermarket accounts.</a:t>
            </a:r>
            <a:endParaRPr lang="en-US" sz="650" dirty="0"/>
          </a:p>
        </p:txBody>
      </p:sp>
      <p:sp>
        <p:nvSpPr>
          <p:cNvPr id="102" name="Shape 98"/>
          <p:cNvSpPr/>
          <p:nvPr/>
        </p:nvSpPr>
        <p:spPr>
          <a:xfrm>
            <a:off x="356616" y="10140696"/>
            <a:ext cx="1853184" cy="0"/>
          </a:xfrm>
          <a:prstGeom prst="line">
            <a:avLst/>
          </a:prstGeom>
          <a:noFill/>
          <a:ln w="6350">
            <a:solidFill>
              <a:srgbClr val="C8DCD7"/>
            </a:solidFill>
            <a:prstDash val="solid"/>
          </a:ln>
        </p:spPr>
      </p:sp>
      <p:sp>
        <p:nvSpPr>
          <p:cNvPr id="103" name="Text 99"/>
          <p:cNvSpPr/>
          <p:nvPr/>
        </p:nvSpPr>
        <p:spPr>
          <a:xfrm>
            <a:off x="356616"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Report eB2B flow on its own line; never blend it into the MT conversion rate.</a:t>
            </a:r>
            <a:endParaRPr lang="en-US" sz="600" dirty="0"/>
          </a:p>
        </p:txBody>
      </p:sp>
      <p:sp>
        <p:nvSpPr>
          <p:cNvPr id="104" name="Text 100"/>
          <p:cNvSpPr/>
          <p:nvPr/>
        </p:nvSpPr>
        <p:spPr>
          <a:xfrm>
            <a:off x="356616"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Sales lead · standing</a:t>
            </a:r>
            <a:endParaRPr lang="en-US" sz="620" dirty="0"/>
          </a:p>
        </p:txBody>
      </p:sp>
      <p:sp>
        <p:nvSpPr>
          <p:cNvPr id="105" name="Shape 101"/>
          <p:cNvSpPr/>
          <p:nvPr/>
        </p:nvSpPr>
        <p:spPr>
          <a:xfrm>
            <a:off x="2410968" y="8979408"/>
            <a:ext cx="2036064" cy="1700784"/>
          </a:xfrm>
          <a:prstGeom prst="roundRect">
            <a:avLst>
              <a:gd name="adj" fmla="val 1075"/>
            </a:avLst>
          </a:prstGeom>
          <a:solidFill>
            <a:srgbClr val="FFFFFF"/>
          </a:solidFill>
          <a:ln w="9525">
            <a:solidFill>
              <a:srgbClr val="C8DCD7"/>
            </a:solidFill>
            <a:prstDash val="solid"/>
          </a:ln>
        </p:spPr>
      </p:sp>
      <p:sp>
        <p:nvSpPr>
          <p:cNvPr id="106" name="Shape 102"/>
          <p:cNvSpPr/>
          <p:nvPr/>
        </p:nvSpPr>
        <p:spPr>
          <a:xfrm>
            <a:off x="2410968" y="8979408"/>
            <a:ext cx="2036064" cy="41148"/>
          </a:xfrm>
          <a:prstGeom prst="rect">
            <a:avLst/>
          </a:prstGeom>
          <a:solidFill>
            <a:srgbClr val="F2B84B"/>
          </a:solidFill>
          <a:ln/>
        </p:spPr>
      </p:sp>
      <p:sp>
        <p:nvSpPr>
          <p:cNvPr id="107" name="Text 103"/>
          <p:cNvSpPr/>
          <p:nvPr/>
        </p:nvSpPr>
        <p:spPr>
          <a:xfrm>
            <a:off x="2502408" y="9061704"/>
            <a:ext cx="1853184" cy="137160"/>
          </a:xfrm>
          <a:prstGeom prst="rect">
            <a:avLst/>
          </a:prstGeom>
          <a:noFill/>
          <a:ln/>
        </p:spPr>
        <p:txBody>
          <a:bodyPr wrap="square" lIns="0" tIns="0" rIns="0" bIns="0" rtlCol="0" anchor="t"/>
          <a:lstStyle/>
          <a:p>
            <a:pPr indent="0" marL="0">
              <a:buNone/>
            </a:pPr>
            <a:r>
              <a:rPr lang="en-US" sz="620" b="1" spc="50" kern="0" dirty="0">
                <a:solidFill>
                  <a:srgbClr val="F2B84B"/>
                </a:solidFill>
                <a:latin typeface="Calibri" pitchFamily="34" charset="0"/>
                <a:ea typeface="Calibri" pitchFamily="34" charset="-122"/>
                <a:cs typeface="Calibri" pitchFamily="34" charset="-120"/>
              </a:rPr>
              <a:t>TREND</a:t>
            </a:r>
            <a:endParaRPr lang="en-US" sz="620" dirty="0"/>
          </a:p>
        </p:txBody>
      </p:sp>
      <p:sp>
        <p:nvSpPr>
          <p:cNvPr id="108" name="Text 104"/>
          <p:cNvSpPr/>
          <p:nvPr/>
        </p:nvSpPr>
        <p:spPr>
          <a:xfrm>
            <a:off x="2502408"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July ₹2.07 Cr is down 4.6% on June</a:t>
            </a:r>
            <a:endParaRPr lang="en-US" sz="740" dirty="0"/>
          </a:p>
        </p:txBody>
      </p:sp>
      <p:sp>
        <p:nvSpPr>
          <p:cNvPr id="109" name="Text 105"/>
          <p:cNvSpPr/>
          <p:nvPr/>
        </p:nvSpPr>
        <p:spPr>
          <a:xfrm>
            <a:off x="2502408"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Offtake peaked at ₹2.29 Cr in April and has drifted since. Active EANs fell from 222 in January to 198 in July, so range contraction tracks the softness.</a:t>
            </a:r>
            <a:endParaRPr lang="en-US" sz="650" dirty="0"/>
          </a:p>
        </p:txBody>
      </p:sp>
      <p:sp>
        <p:nvSpPr>
          <p:cNvPr id="110" name="Shape 106"/>
          <p:cNvSpPr/>
          <p:nvPr/>
        </p:nvSpPr>
        <p:spPr>
          <a:xfrm>
            <a:off x="2502408" y="10140696"/>
            <a:ext cx="1853184" cy="0"/>
          </a:xfrm>
          <a:prstGeom prst="line">
            <a:avLst/>
          </a:prstGeom>
          <a:noFill/>
          <a:ln w="6350">
            <a:solidFill>
              <a:srgbClr val="C8DCD7"/>
            </a:solidFill>
            <a:prstDash val="solid"/>
          </a:ln>
        </p:spPr>
      </p:sp>
      <p:sp>
        <p:nvSpPr>
          <p:cNvPr id="111" name="Text 107"/>
          <p:cNvSpPr/>
          <p:nvPr/>
        </p:nvSpPr>
        <p:spPr>
          <a:xfrm>
            <a:off x="2502408"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Test whether the 24 delisted EANs explain the drift before treating it as demand.</a:t>
            </a:r>
            <a:endParaRPr lang="en-US" sz="600" dirty="0"/>
          </a:p>
        </p:txBody>
      </p:sp>
      <p:sp>
        <p:nvSpPr>
          <p:cNvPr id="112" name="Text 108"/>
          <p:cNvSpPr/>
          <p:nvPr/>
        </p:nvSpPr>
        <p:spPr>
          <a:xfrm>
            <a:off x="2502408"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FSN · 31 Aug</a:t>
            </a:r>
            <a:endParaRPr lang="en-US" sz="620" dirty="0"/>
          </a:p>
        </p:txBody>
      </p:sp>
      <p:sp>
        <p:nvSpPr>
          <p:cNvPr id="113" name="Shape 109"/>
          <p:cNvSpPr/>
          <p:nvPr/>
        </p:nvSpPr>
        <p:spPr>
          <a:xfrm>
            <a:off x="4556760" y="8979408"/>
            <a:ext cx="2036064" cy="1700784"/>
          </a:xfrm>
          <a:prstGeom prst="roundRect">
            <a:avLst>
              <a:gd name="adj" fmla="val 1075"/>
            </a:avLst>
          </a:prstGeom>
          <a:solidFill>
            <a:srgbClr val="FFFFFF"/>
          </a:solidFill>
          <a:ln w="9525">
            <a:solidFill>
              <a:srgbClr val="C8DCD7"/>
            </a:solidFill>
            <a:prstDash val="solid"/>
          </a:ln>
        </p:spPr>
      </p:sp>
      <p:sp>
        <p:nvSpPr>
          <p:cNvPr id="114" name="Shape 110"/>
          <p:cNvSpPr/>
          <p:nvPr/>
        </p:nvSpPr>
        <p:spPr>
          <a:xfrm>
            <a:off x="4556760" y="8979408"/>
            <a:ext cx="2036064" cy="41148"/>
          </a:xfrm>
          <a:prstGeom prst="rect">
            <a:avLst/>
          </a:prstGeom>
          <a:solidFill>
            <a:srgbClr val="D6544D"/>
          </a:solidFill>
          <a:ln/>
        </p:spPr>
      </p:sp>
      <p:sp>
        <p:nvSpPr>
          <p:cNvPr id="115" name="Text 111"/>
          <p:cNvSpPr/>
          <p:nvPr/>
        </p:nvSpPr>
        <p:spPr>
          <a:xfrm>
            <a:off x="4648200" y="9061704"/>
            <a:ext cx="1853184" cy="137160"/>
          </a:xfrm>
          <a:prstGeom prst="rect">
            <a:avLst/>
          </a:prstGeom>
          <a:noFill/>
          <a:ln/>
        </p:spPr>
        <p:txBody>
          <a:bodyPr wrap="square" lIns="0" tIns="0" rIns="0" bIns="0" rtlCol="0" anchor="t"/>
          <a:lstStyle/>
          <a:p>
            <a:pPr indent="0" marL="0">
              <a:buNone/>
            </a:pPr>
            <a:r>
              <a:rPr lang="en-US" sz="620" b="1" spc="50" kern="0" dirty="0">
                <a:solidFill>
                  <a:srgbClr val="D6544D"/>
                </a:solidFill>
                <a:latin typeface="Calibri" pitchFamily="34" charset="0"/>
                <a:ea typeface="Calibri" pitchFamily="34" charset="-122"/>
                <a:cs typeface="Calibri" pitchFamily="34" charset="-120"/>
              </a:rPr>
              <a:t>DATA</a:t>
            </a:r>
            <a:endParaRPr lang="en-US" sz="620" dirty="0"/>
          </a:p>
        </p:txBody>
      </p:sp>
      <p:sp>
        <p:nvSpPr>
          <p:cNvPr id="116" name="Text 112"/>
          <p:cNvSpPr/>
          <p:nvPr/>
        </p:nvSpPr>
        <p:spPr>
          <a:xfrm>
            <a:off x="4648200" y="9208008"/>
            <a:ext cx="1853184" cy="310896"/>
          </a:xfrm>
          <a:prstGeom prst="rect">
            <a:avLst/>
          </a:prstGeom>
          <a:noFill/>
          <a:ln/>
        </p:spPr>
        <p:txBody>
          <a:bodyPr wrap="square" lIns="0" tIns="0" rIns="0" bIns="0" rtlCol="0" anchor="t"/>
          <a:lstStyle/>
          <a:p>
            <a:pPr indent="0" marL="0">
              <a:lnSpc>
                <a:spcPct val="90000"/>
              </a:lnSpc>
              <a:buNone/>
            </a:pPr>
            <a:r>
              <a:rPr lang="en-US" sz="740" b="1" dirty="0">
                <a:solidFill>
                  <a:srgbClr val="183B39"/>
                </a:solidFill>
                <a:latin typeface="Calibri" pitchFamily="34" charset="0"/>
                <a:ea typeface="Calibri" pitchFamily="34" charset="-122"/>
                <a:cs typeface="Calibri" pitchFamily="34" charset="-120"/>
              </a:rPr>
              <a:t>Sub-category split returns zero against a ₹1.65 Cr brand total</a:t>
            </a:r>
            <a:endParaRPr lang="en-US" sz="740" dirty="0"/>
          </a:p>
        </p:txBody>
      </p:sp>
      <p:sp>
        <p:nvSpPr>
          <p:cNvPr id="117" name="Text 113"/>
          <p:cNvSpPr/>
          <p:nvPr/>
        </p:nvSpPr>
        <p:spPr>
          <a:xfrm>
            <a:off x="4648200" y="9546336"/>
            <a:ext cx="1853184" cy="566928"/>
          </a:xfrm>
          <a:prstGeom prst="rect">
            <a:avLst/>
          </a:prstGeom>
          <a:noFill/>
          <a:ln/>
        </p:spPr>
        <p:txBody>
          <a:bodyPr wrap="square" lIns="0" tIns="0" rIns="0" bIns="0" rtlCol="0" anchor="t"/>
          <a:lstStyle/>
          <a:p>
            <a:pPr indent="0" marL="0">
              <a:lnSpc>
                <a:spcPct val="92000"/>
              </a:lnSpc>
              <a:buNone/>
            </a:pPr>
            <a:r>
              <a:rPr lang="en-US" sz="650" dirty="0">
                <a:solidFill>
                  <a:srgbClr val="5F716E"/>
                </a:solidFill>
                <a:latin typeface="Calibri" pitchFamily="34" charset="0"/>
                <a:ea typeface="Calibri" pitchFamily="34" charset="-122"/>
                <a:cs typeface="Calibri" pitchFamily="34" charset="-120"/>
              </a:rPr>
              <a:t>The source pack printed ₹0.00 Cr for all three Mamaearth sub-categories while the brand total read ₹1.65 Cr — a broken rollup, not a real result.</a:t>
            </a:r>
            <a:endParaRPr lang="en-US" sz="650" dirty="0"/>
          </a:p>
        </p:txBody>
      </p:sp>
      <p:sp>
        <p:nvSpPr>
          <p:cNvPr id="118" name="Shape 114"/>
          <p:cNvSpPr/>
          <p:nvPr/>
        </p:nvSpPr>
        <p:spPr>
          <a:xfrm>
            <a:off x="4648200" y="10140696"/>
            <a:ext cx="1853184" cy="0"/>
          </a:xfrm>
          <a:prstGeom prst="line">
            <a:avLst/>
          </a:prstGeom>
          <a:noFill/>
          <a:ln w="6350">
            <a:solidFill>
              <a:srgbClr val="C8DCD7"/>
            </a:solidFill>
            <a:prstDash val="solid"/>
          </a:ln>
        </p:spPr>
      </p:sp>
      <p:sp>
        <p:nvSpPr>
          <p:cNvPr id="119" name="Text 115"/>
          <p:cNvSpPr/>
          <p:nvPr/>
        </p:nvSpPr>
        <p:spPr>
          <a:xfrm>
            <a:off x="4648200" y="10186416"/>
            <a:ext cx="1853184" cy="310896"/>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ACTION  </a:t>
            </a:r>
            <a:pPr indent="0" marL="0">
              <a:lnSpc>
                <a:spcPct val="90000"/>
              </a:lnSpc>
              <a:buNone/>
            </a:pPr>
            <a:r>
              <a:rPr lang="en-US" sz="660" dirty="0">
                <a:solidFill>
                  <a:srgbClr val="183B39"/>
                </a:solidFill>
                <a:latin typeface="Calibri" pitchFamily="34" charset="0"/>
                <a:ea typeface="Calibri" pitchFamily="34" charset="-122"/>
                <a:cs typeface="Calibri" pitchFamily="34" charset="-120"/>
              </a:rPr>
              <a:t>Fix the eB2B sub-category rollup in the build script before publishing this page again.</a:t>
            </a:r>
            <a:endParaRPr lang="en-US" sz="600" dirty="0"/>
          </a:p>
        </p:txBody>
      </p:sp>
      <p:sp>
        <p:nvSpPr>
          <p:cNvPr id="120" name="Text 116"/>
          <p:cNvSpPr/>
          <p:nvPr/>
        </p:nvSpPr>
        <p:spPr>
          <a:xfrm>
            <a:off x="4648200" y="10515600"/>
            <a:ext cx="1853184" cy="128016"/>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121" name="Text 117"/>
          <p:cNvSpPr/>
          <p:nvPr/>
        </p:nvSpPr>
        <p:spPr>
          <a:xfrm>
            <a:off x="265176" y="10844784"/>
            <a:ext cx="6327648" cy="182880"/>
          </a:xfrm>
          <a:prstGeom prst="rect">
            <a:avLst/>
          </a:prstGeom>
          <a:noFill/>
          <a:ln/>
        </p:spPr>
        <p:txBody>
          <a:bodyPr wrap="square" lIns="0" tIns="0" rIns="0" bIns="0" rtlCol="0" anchor="t"/>
          <a:lstStyle/>
          <a:p>
            <a:pPr algn="ctr" indent="0" marL="0">
              <a:buNone/>
            </a:pPr>
            <a:r>
              <a:rPr lang="en-US" sz="680" i="1" dirty="0">
                <a:solidFill>
                  <a:srgbClr val="5F716E"/>
                </a:solidFill>
                <a:latin typeface="Calibri" pitchFamily="34" charset="0"/>
                <a:ea typeface="Calibri" pitchFamily="34" charset="-122"/>
                <a:cs typeface="Calibri" pitchFamily="34" charset="-120"/>
              </a:rPr>
              <a:t>eB2B channel · FY27 to date: primary ₹8.79 Cr, offtake ₹8.60 Cr, 97.8% flow · excluded from every MT zone figure</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650" b="1" dirty="0">
                <a:solidFill>
                  <a:srgbClr val="FFFFFF"/>
                </a:solidFill>
                <a:latin typeface="Calibri Light" pitchFamily="34" charset="0"/>
                <a:ea typeface="Calibri Light" pitchFamily="34" charset="-122"/>
                <a:cs typeface="Calibri Light" pitchFamily="34" charset="-120"/>
              </a:rPr>
              <a:t>SIS: Separate channel — excluded from MT</a:t>
            </a:r>
            <a:endParaRPr lang="en-US" sz="16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Channel view | Shop-in-Shop | FY27 to date | ₹ Lakh | reported outside Modern Trade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14</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1499616"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NET SIS PRIMARY</a:t>
            </a:r>
            <a:endParaRPr lang="en-US" sz="680" dirty="0"/>
          </a:p>
        </p:txBody>
      </p:sp>
      <p:sp>
        <p:nvSpPr>
          <p:cNvPr id="22" name="Text 20"/>
          <p:cNvSpPr/>
          <p:nvPr/>
        </p:nvSpPr>
        <p:spPr>
          <a:xfrm>
            <a:off x="420624" y="1536192"/>
            <a:ext cx="1261872"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₹26.52 L</a:t>
            </a:r>
            <a:endParaRPr lang="en-US" sz="1550" dirty="0"/>
          </a:p>
        </p:txBody>
      </p:sp>
      <p:sp>
        <p:nvSpPr>
          <p:cNvPr id="23" name="Text 21"/>
          <p:cNvSpPr/>
          <p:nvPr/>
        </p:nvSpPr>
        <p:spPr>
          <a:xfrm>
            <a:off x="420624"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FY27 to date, net of returns</a:t>
            </a:r>
            <a:endParaRPr lang="en-US" sz="680" dirty="0"/>
          </a:p>
        </p:txBody>
      </p:sp>
      <p:sp>
        <p:nvSpPr>
          <p:cNvPr id="24" name="Shape 22"/>
          <p:cNvSpPr/>
          <p:nvPr/>
        </p:nvSpPr>
        <p:spPr>
          <a:xfrm>
            <a:off x="1874520" y="1261872"/>
            <a:ext cx="1499616" cy="859536"/>
          </a:xfrm>
          <a:prstGeom prst="rect">
            <a:avLst/>
          </a:prstGeom>
          <a:solidFill>
            <a:srgbClr val="FFFFFF"/>
          </a:solidFill>
          <a:ln w="9525">
            <a:solidFill>
              <a:srgbClr val="C8DCD7"/>
            </a:solidFill>
            <a:prstDash val="solid"/>
          </a:ln>
        </p:spPr>
      </p:sp>
      <p:sp>
        <p:nvSpPr>
          <p:cNvPr id="25" name="Shape 23"/>
          <p:cNvSpPr/>
          <p:nvPr/>
        </p:nvSpPr>
        <p:spPr>
          <a:xfrm>
            <a:off x="1874520" y="1261872"/>
            <a:ext cx="64008" cy="859536"/>
          </a:xfrm>
          <a:prstGeom prst="rect">
            <a:avLst/>
          </a:prstGeom>
          <a:solidFill>
            <a:srgbClr val="5F716E"/>
          </a:solidFill>
          <a:ln/>
        </p:spPr>
      </p:sp>
      <p:sp>
        <p:nvSpPr>
          <p:cNvPr id="26" name="Text 24"/>
          <p:cNvSpPr/>
          <p:nvPr/>
        </p:nvSpPr>
        <p:spPr>
          <a:xfrm>
            <a:off x="2029968"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GROSS SALES</a:t>
            </a:r>
            <a:endParaRPr lang="en-US" sz="680" dirty="0"/>
          </a:p>
        </p:txBody>
      </p:sp>
      <p:sp>
        <p:nvSpPr>
          <p:cNvPr id="27" name="Text 25"/>
          <p:cNvSpPr/>
          <p:nvPr/>
        </p:nvSpPr>
        <p:spPr>
          <a:xfrm>
            <a:off x="2029968" y="1536192"/>
            <a:ext cx="1261872" cy="310896"/>
          </a:xfrm>
          <a:prstGeom prst="rect">
            <a:avLst/>
          </a:prstGeom>
          <a:noFill/>
          <a:ln/>
        </p:spPr>
        <p:txBody>
          <a:bodyPr wrap="square" lIns="0" tIns="0" rIns="0" bIns="0" rtlCol="0" anchor="ctr"/>
          <a:lstStyle/>
          <a:p>
            <a:pPr indent="0" marL="0">
              <a:buNone/>
            </a:pPr>
            <a:r>
              <a:rPr lang="en-US" sz="1550" b="1" dirty="0">
                <a:solidFill>
                  <a:srgbClr val="5F716E"/>
                </a:solidFill>
                <a:latin typeface="Calibri Light" pitchFamily="34" charset="0"/>
                <a:ea typeface="Calibri Light" pitchFamily="34" charset="-122"/>
                <a:cs typeface="Calibri Light" pitchFamily="34" charset="-120"/>
              </a:rPr>
              <a:t>₹29.64 L</a:t>
            </a:r>
            <a:endParaRPr lang="en-US" sz="1550" dirty="0"/>
          </a:p>
        </p:txBody>
      </p:sp>
      <p:sp>
        <p:nvSpPr>
          <p:cNvPr id="28" name="Text 26"/>
          <p:cNvSpPr/>
          <p:nvPr/>
        </p:nvSpPr>
        <p:spPr>
          <a:xfrm>
            <a:off x="2029968"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before MRN returns</a:t>
            </a:r>
            <a:endParaRPr lang="en-US" sz="680" dirty="0"/>
          </a:p>
        </p:txBody>
      </p:sp>
      <p:sp>
        <p:nvSpPr>
          <p:cNvPr id="29" name="Shape 27"/>
          <p:cNvSpPr/>
          <p:nvPr/>
        </p:nvSpPr>
        <p:spPr>
          <a:xfrm>
            <a:off x="3483864" y="1261872"/>
            <a:ext cx="1499616" cy="859536"/>
          </a:xfrm>
          <a:prstGeom prst="rect">
            <a:avLst/>
          </a:prstGeom>
          <a:solidFill>
            <a:srgbClr val="FFFFFF"/>
          </a:solidFill>
          <a:ln w="9525">
            <a:solidFill>
              <a:srgbClr val="C8DCD7"/>
            </a:solidFill>
            <a:prstDash val="solid"/>
          </a:ln>
        </p:spPr>
      </p:sp>
      <p:sp>
        <p:nvSpPr>
          <p:cNvPr id="30" name="Shape 28"/>
          <p:cNvSpPr/>
          <p:nvPr/>
        </p:nvSpPr>
        <p:spPr>
          <a:xfrm>
            <a:off x="3483864" y="1261872"/>
            <a:ext cx="64008" cy="859536"/>
          </a:xfrm>
          <a:prstGeom prst="rect">
            <a:avLst/>
          </a:prstGeom>
          <a:solidFill>
            <a:srgbClr val="D6544D"/>
          </a:solidFill>
          <a:ln/>
        </p:spPr>
      </p:sp>
      <p:sp>
        <p:nvSpPr>
          <p:cNvPr id="31" name="Text 29"/>
          <p:cNvSpPr/>
          <p:nvPr/>
        </p:nvSpPr>
        <p:spPr>
          <a:xfrm>
            <a:off x="3639312"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MRN RETURNS</a:t>
            </a:r>
            <a:endParaRPr lang="en-US" sz="680" dirty="0"/>
          </a:p>
        </p:txBody>
      </p:sp>
      <p:sp>
        <p:nvSpPr>
          <p:cNvPr id="32" name="Text 30"/>
          <p:cNvSpPr/>
          <p:nvPr/>
        </p:nvSpPr>
        <p:spPr>
          <a:xfrm>
            <a:off x="3639312" y="1536192"/>
            <a:ext cx="1261872" cy="310896"/>
          </a:xfrm>
          <a:prstGeom prst="rect">
            <a:avLst/>
          </a:prstGeom>
          <a:noFill/>
          <a:ln/>
        </p:spPr>
        <p:txBody>
          <a:bodyPr wrap="square" lIns="0" tIns="0" rIns="0" bIns="0" rtlCol="0" anchor="ctr"/>
          <a:lstStyle/>
          <a:p>
            <a:pPr indent="0" marL="0">
              <a:buNone/>
            </a:pPr>
            <a:r>
              <a:rPr lang="en-US" sz="1550" b="1" dirty="0">
                <a:solidFill>
                  <a:srgbClr val="D6544D"/>
                </a:solidFill>
                <a:latin typeface="Calibri Light" pitchFamily="34" charset="0"/>
                <a:ea typeface="Calibri Light" pitchFamily="34" charset="-122"/>
                <a:cs typeface="Calibri Light" pitchFamily="34" charset="-120"/>
              </a:rPr>
              <a:t>−₹4.55 L</a:t>
            </a:r>
            <a:endParaRPr lang="en-US" sz="1550" dirty="0"/>
          </a:p>
        </p:txBody>
      </p:sp>
      <p:sp>
        <p:nvSpPr>
          <p:cNvPr id="33" name="Text 31"/>
          <p:cNvSpPr/>
          <p:nvPr/>
        </p:nvSpPr>
        <p:spPr>
          <a:xfrm>
            <a:off x="3639312"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15.3% of gross</a:t>
            </a:r>
            <a:endParaRPr lang="en-US" sz="680" dirty="0"/>
          </a:p>
        </p:txBody>
      </p:sp>
      <p:sp>
        <p:nvSpPr>
          <p:cNvPr id="34" name="Shape 32"/>
          <p:cNvSpPr/>
          <p:nvPr/>
        </p:nvSpPr>
        <p:spPr>
          <a:xfrm>
            <a:off x="5093208" y="1261872"/>
            <a:ext cx="1499616" cy="859536"/>
          </a:xfrm>
          <a:prstGeom prst="rect">
            <a:avLst/>
          </a:prstGeom>
          <a:solidFill>
            <a:srgbClr val="FFFFFF"/>
          </a:solidFill>
          <a:ln w="9525">
            <a:solidFill>
              <a:srgbClr val="C8DCD7"/>
            </a:solidFill>
            <a:prstDash val="solid"/>
          </a:ln>
        </p:spPr>
      </p:sp>
      <p:sp>
        <p:nvSpPr>
          <p:cNvPr id="35" name="Shape 33"/>
          <p:cNvSpPr/>
          <p:nvPr/>
        </p:nvSpPr>
        <p:spPr>
          <a:xfrm>
            <a:off x="5093208" y="1261872"/>
            <a:ext cx="64008" cy="859536"/>
          </a:xfrm>
          <a:prstGeom prst="rect">
            <a:avLst/>
          </a:prstGeom>
          <a:solidFill>
            <a:srgbClr val="5F716E"/>
          </a:solidFill>
          <a:ln/>
        </p:spPr>
      </p:sp>
      <p:sp>
        <p:nvSpPr>
          <p:cNvPr id="36" name="Text 34"/>
          <p:cNvSpPr/>
          <p:nvPr/>
        </p:nvSpPr>
        <p:spPr>
          <a:xfrm>
            <a:off x="5248656" y="1353312"/>
            <a:ext cx="1261872"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SHARE OF PRIMARY</a:t>
            </a:r>
            <a:endParaRPr lang="en-US" sz="680" dirty="0"/>
          </a:p>
        </p:txBody>
      </p:sp>
      <p:sp>
        <p:nvSpPr>
          <p:cNvPr id="37" name="Text 35"/>
          <p:cNvSpPr/>
          <p:nvPr/>
        </p:nvSpPr>
        <p:spPr>
          <a:xfrm>
            <a:off x="5248656" y="1536192"/>
            <a:ext cx="1261872" cy="310896"/>
          </a:xfrm>
          <a:prstGeom prst="rect">
            <a:avLst/>
          </a:prstGeom>
          <a:noFill/>
          <a:ln/>
        </p:spPr>
        <p:txBody>
          <a:bodyPr wrap="square" lIns="0" tIns="0" rIns="0" bIns="0" rtlCol="0" anchor="ctr"/>
          <a:lstStyle/>
          <a:p>
            <a:pPr indent="0" marL="0">
              <a:buNone/>
            </a:pPr>
            <a:r>
              <a:rPr lang="en-US" sz="1750" b="1" dirty="0">
                <a:solidFill>
                  <a:srgbClr val="5F716E"/>
                </a:solidFill>
                <a:latin typeface="Calibri Light" pitchFamily="34" charset="0"/>
                <a:ea typeface="Calibri Light" pitchFamily="34" charset="-122"/>
                <a:cs typeface="Calibri Light" pitchFamily="34" charset="-120"/>
              </a:rPr>
              <a:t>0.14%</a:t>
            </a:r>
            <a:endParaRPr lang="en-US" sz="1750" dirty="0"/>
          </a:p>
        </p:txBody>
      </p:sp>
      <p:sp>
        <p:nvSpPr>
          <p:cNvPr id="38" name="Text 36"/>
          <p:cNvSpPr/>
          <p:nvPr/>
        </p:nvSpPr>
        <p:spPr>
          <a:xfrm>
            <a:off x="5248656" y="1865376"/>
            <a:ext cx="1261872"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of FY27 all-channel</a:t>
            </a:r>
            <a:endParaRPr lang="en-US" sz="680" dirty="0"/>
          </a:p>
        </p:txBody>
      </p:sp>
      <p:sp>
        <p:nvSpPr>
          <p:cNvPr id="39" name="Shape 37"/>
          <p:cNvSpPr/>
          <p:nvPr/>
        </p:nvSpPr>
        <p:spPr>
          <a:xfrm>
            <a:off x="265176" y="2231136"/>
            <a:ext cx="6327648" cy="384048"/>
          </a:xfrm>
          <a:prstGeom prst="roundRect">
            <a:avLst>
              <a:gd name="adj" fmla="val 4762"/>
            </a:avLst>
          </a:prstGeom>
          <a:solidFill>
            <a:srgbClr val="DFF2ED"/>
          </a:solidFill>
          <a:ln w="9525">
            <a:solidFill>
              <a:srgbClr val="C8DCD7"/>
            </a:solidFill>
            <a:prstDash val="solid"/>
          </a:ln>
        </p:spPr>
      </p:sp>
      <p:sp>
        <p:nvSpPr>
          <p:cNvPr id="40" name="Text 38"/>
          <p:cNvSpPr/>
          <p:nvPr/>
        </p:nvSpPr>
        <p:spPr>
          <a:xfrm>
            <a:off x="374904" y="2286000"/>
            <a:ext cx="658368" cy="274320"/>
          </a:xfrm>
          <a:prstGeom prst="rect">
            <a:avLst/>
          </a:prstGeom>
          <a:noFill/>
          <a:ln/>
        </p:spPr>
        <p:txBody>
          <a:bodyPr wrap="square" lIns="0" tIns="0" rIns="0" bIns="0" rtlCol="0" anchor="ctr"/>
          <a:lstStyle/>
          <a:p>
            <a:pPr indent="0" marL="0">
              <a:buNone/>
            </a:pPr>
            <a:r>
              <a:rPr lang="en-US" sz="660" b="1" spc="40" kern="0" dirty="0">
                <a:solidFill>
                  <a:srgbClr val="116F68"/>
                </a:solidFill>
                <a:latin typeface="Calibri" pitchFamily="34" charset="0"/>
                <a:ea typeface="Calibri" pitchFamily="34" charset="-122"/>
                <a:cs typeface="Calibri" pitchFamily="34" charset="-120"/>
              </a:rPr>
              <a:t>PRIORITY</a:t>
            </a:r>
            <a:endParaRPr lang="en-US" sz="660" dirty="0"/>
          </a:p>
        </p:txBody>
      </p:sp>
      <p:sp>
        <p:nvSpPr>
          <p:cNvPr id="41" name="Text 39"/>
          <p:cNvSpPr/>
          <p:nvPr/>
        </p:nvSpPr>
        <p:spPr>
          <a:xfrm>
            <a:off x="1088136" y="2286000"/>
            <a:ext cx="5394960" cy="274320"/>
          </a:xfrm>
          <a:prstGeom prst="rect">
            <a:avLst/>
          </a:prstGeom>
          <a:noFill/>
          <a:ln/>
        </p:spPr>
        <p:txBody>
          <a:bodyPr wrap="square" lIns="0" tIns="0" rIns="0" bIns="0" rtlCol="0" anchor="ctr"/>
          <a:lstStyle/>
          <a:p>
            <a:pPr indent="0" marL="0">
              <a:buNone/>
            </a:pPr>
            <a:r>
              <a:rPr lang="en-US" sz="740" b="1" dirty="0">
                <a:solidFill>
                  <a:srgbClr val="183B39"/>
                </a:solidFill>
                <a:latin typeface="Calibri" pitchFamily="34" charset="0"/>
                <a:ea typeface="Calibri" pitchFamily="34" charset="-122"/>
                <a:cs typeface="Calibri" pitchFamily="34" charset="-120"/>
              </a:rPr>
              <a:t>Small but real — report on its own line, never inside an MT zone figure</a:t>
            </a:r>
            <a:endParaRPr lang="en-US" sz="740" dirty="0"/>
          </a:p>
        </p:txBody>
      </p:sp>
      <p:sp>
        <p:nvSpPr>
          <p:cNvPr id="42" name="Text 40"/>
          <p:cNvSpPr/>
          <p:nvPr/>
        </p:nvSpPr>
        <p:spPr>
          <a:xfrm>
            <a:off x="265176"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month (₹ Lakh, FY27)</a:t>
            </a:r>
            <a:endParaRPr lang="en-US" sz="720" dirty="0"/>
          </a:p>
        </p:txBody>
      </p:sp>
      <p:graphicFrame>
        <p:nvGraphicFramePr>
          <p:cNvPr id="43" name="Chart 0" descr=""/>
          <p:cNvGraphicFramePr/>
          <p:nvPr/>
        </p:nvGraphicFramePr>
        <p:xfrm>
          <a:off x="246888" y="2962656"/>
          <a:ext cx="3090672" cy="1700784"/>
        </p:xfrm>
        <a:graphic xmlns:a="http://schemas.openxmlformats.org/drawingml/2006/main">
          <a:graphicData uri="http://schemas.openxmlformats.org/drawingml/2006/chart">
            <c:chart xmlns:c="http://schemas.openxmlformats.org/drawingml/2006/chart" r:id="rId1"/>
          </a:graphicData>
        </a:graphic>
      </p:graphicFrame>
      <p:sp>
        <p:nvSpPr>
          <p:cNvPr id="44" name="Text 41"/>
          <p:cNvSpPr/>
          <p:nvPr/>
        </p:nvSpPr>
        <p:spPr>
          <a:xfrm>
            <a:off x="3502152" y="2761488"/>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SIS primary by brand (₹ Lakh, FY27)</a:t>
            </a:r>
            <a:endParaRPr lang="en-US" sz="720" dirty="0"/>
          </a:p>
        </p:txBody>
      </p:sp>
      <p:graphicFrame>
        <p:nvGraphicFramePr>
          <p:cNvPr id="45" name="Chart 1" descr=""/>
          <p:cNvGraphicFramePr/>
          <p:nvPr/>
        </p:nvGraphicFramePr>
        <p:xfrm>
          <a:off x="3483864" y="2962656"/>
          <a:ext cx="3090672" cy="1700784"/>
        </p:xfrm>
        <a:graphic xmlns:a="http://schemas.openxmlformats.org/drawingml/2006/main">
          <a:graphicData uri="http://schemas.openxmlformats.org/drawingml/2006/chart">
            <c:chart xmlns:c="http://schemas.openxmlformats.org/drawingml/2006/chart" r:id="rId2"/>
          </a:graphicData>
        </a:graphic>
      </p:graphicFrame>
      <p:sp>
        <p:nvSpPr>
          <p:cNvPr id="46" name="Shape 42"/>
          <p:cNvSpPr/>
          <p:nvPr/>
        </p:nvSpPr>
        <p:spPr>
          <a:xfrm>
            <a:off x="265176" y="4809744"/>
            <a:ext cx="6327648" cy="256032"/>
          </a:xfrm>
          <a:prstGeom prst="rect">
            <a:avLst/>
          </a:prstGeom>
          <a:solidFill>
            <a:srgbClr val="2E7DA8"/>
          </a:solidFill>
          <a:ln/>
        </p:spPr>
      </p:sp>
      <p:sp>
        <p:nvSpPr>
          <p:cNvPr id="47" name="Text 43"/>
          <p:cNvSpPr/>
          <p:nvPr/>
        </p:nvSpPr>
        <p:spPr>
          <a:xfrm>
            <a:off x="374904" y="48280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SIS ACCOUNTS — FY27 TO DATE</a:t>
            </a:r>
            <a:endParaRPr lang="en-US" sz="720" dirty="0"/>
          </a:p>
        </p:txBody>
      </p:sp>
      <p:sp>
        <p:nvSpPr>
          <p:cNvPr id="48" name="Shape 44"/>
          <p:cNvSpPr/>
          <p:nvPr/>
        </p:nvSpPr>
        <p:spPr>
          <a:xfrm>
            <a:off x="265176" y="5157216"/>
            <a:ext cx="6327648" cy="256032"/>
          </a:xfrm>
          <a:prstGeom prst="rect">
            <a:avLst/>
          </a:prstGeom>
          <a:solidFill>
            <a:srgbClr val="116F68"/>
          </a:solidFill>
          <a:ln/>
        </p:spPr>
      </p:sp>
      <p:sp>
        <p:nvSpPr>
          <p:cNvPr id="49" name="Text 45"/>
          <p:cNvSpPr/>
          <p:nvPr/>
        </p:nvSpPr>
        <p:spPr>
          <a:xfrm>
            <a:off x="320040" y="5175504"/>
            <a:ext cx="169817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ACCOUNT</a:t>
            </a:r>
            <a:endParaRPr lang="en-US" sz="660" dirty="0"/>
          </a:p>
        </p:txBody>
      </p:sp>
      <p:sp>
        <p:nvSpPr>
          <p:cNvPr id="50" name="Text 46"/>
          <p:cNvSpPr/>
          <p:nvPr/>
        </p:nvSpPr>
        <p:spPr>
          <a:xfrm>
            <a:off x="2127939"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 (₹ L)</a:t>
            </a:r>
            <a:endParaRPr lang="en-US" sz="660" dirty="0"/>
          </a:p>
        </p:txBody>
      </p:sp>
      <p:sp>
        <p:nvSpPr>
          <p:cNvPr id="51" name="Text 47"/>
          <p:cNvSpPr/>
          <p:nvPr/>
        </p:nvSpPr>
        <p:spPr>
          <a:xfrm>
            <a:off x="3303074" y="5175504"/>
            <a:ext cx="106540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 (₹ L)</a:t>
            </a:r>
            <a:endParaRPr lang="en-US" sz="660" dirty="0"/>
          </a:p>
        </p:txBody>
      </p:sp>
      <p:sp>
        <p:nvSpPr>
          <p:cNvPr id="52" name="Text 48"/>
          <p:cNvSpPr/>
          <p:nvPr/>
        </p:nvSpPr>
        <p:spPr>
          <a:xfrm>
            <a:off x="4478209" y="5175504"/>
            <a:ext cx="205975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53" name="Shape 49"/>
          <p:cNvSpPr/>
          <p:nvPr/>
        </p:nvSpPr>
        <p:spPr>
          <a:xfrm>
            <a:off x="265176" y="5413248"/>
            <a:ext cx="6327648" cy="329184"/>
          </a:xfrm>
          <a:prstGeom prst="rect">
            <a:avLst/>
          </a:prstGeom>
          <a:solidFill>
            <a:srgbClr val="F4F9F8"/>
          </a:solidFill>
          <a:ln/>
        </p:spPr>
      </p:sp>
      <p:sp>
        <p:nvSpPr>
          <p:cNvPr id="54" name="Shape 50"/>
          <p:cNvSpPr/>
          <p:nvPr/>
        </p:nvSpPr>
        <p:spPr>
          <a:xfrm>
            <a:off x="265176" y="5742432"/>
            <a:ext cx="6327648" cy="0"/>
          </a:xfrm>
          <a:prstGeom prst="line">
            <a:avLst/>
          </a:prstGeom>
          <a:noFill/>
          <a:ln w="6350">
            <a:solidFill>
              <a:srgbClr val="C8DCD7"/>
            </a:solidFill>
            <a:prstDash val="solid"/>
          </a:ln>
        </p:spPr>
      </p:sp>
      <p:sp>
        <p:nvSpPr>
          <p:cNvPr id="55" name="Text 51"/>
          <p:cNvSpPr/>
          <p:nvPr/>
        </p:nvSpPr>
        <p:spPr>
          <a:xfrm>
            <a:off x="320040" y="5413248"/>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Azorte</a:t>
            </a:r>
            <a:endParaRPr lang="en-US" sz="740" dirty="0"/>
          </a:p>
        </p:txBody>
      </p:sp>
      <p:sp>
        <p:nvSpPr>
          <p:cNvPr id="56" name="Text 52"/>
          <p:cNvSpPr/>
          <p:nvPr/>
        </p:nvSpPr>
        <p:spPr>
          <a:xfrm>
            <a:off x="2127939" y="5413248"/>
            <a:ext cx="1065407" cy="329184"/>
          </a:xfrm>
          <a:prstGeom prst="rect">
            <a:avLst/>
          </a:prstGeom>
          <a:noFill/>
          <a:ln/>
        </p:spPr>
        <p:txBody>
          <a:bodyPr wrap="square" lIns="0" tIns="0" rIns="0" bIns="0" rtlCol="0" anchor="ctr"/>
          <a:lstStyle/>
          <a:p>
            <a:pPr algn="r" indent="0" marL="0">
              <a:buNone/>
            </a:pPr>
            <a:r>
              <a:rPr lang="en-US" sz="740" b="1" dirty="0">
                <a:solidFill>
                  <a:srgbClr val="183B39"/>
                </a:solidFill>
                <a:latin typeface="Calibri" pitchFamily="34" charset="0"/>
                <a:ea typeface="Calibri" pitchFamily="34" charset="-122"/>
                <a:cs typeface="Calibri" pitchFamily="34" charset="-120"/>
              </a:rPr>
              <a:t>23.38</a:t>
            </a:r>
            <a:endParaRPr lang="en-US" sz="740" dirty="0"/>
          </a:p>
        </p:txBody>
      </p:sp>
      <p:sp>
        <p:nvSpPr>
          <p:cNvPr id="57" name="Text 53"/>
          <p:cNvSpPr/>
          <p:nvPr/>
        </p:nvSpPr>
        <p:spPr>
          <a:xfrm>
            <a:off x="3303074" y="5413248"/>
            <a:ext cx="1065407" cy="329184"/>
          </a:xfrm>
          <a:prstGeom prst="rect">
            <a:avLst/>
          </a:prstGeom>
          <a:noFill/>
          <a:ln/>
        </p:spPr>
        <p:txBody>
          <a:bodyPr wrap="square" lIns="0" tIns="0" rIns="0" bIns="0" rtlCol="0" anchor="ctr"/>
          <a:lstStyle/>
          <a:p>
            <a:pPr algn="r" indent="0" marL="0">
              <a:buNone/>
            </a:pPr>
            <a:r>
              <a:rPr lang="en-US" sz="740" dirty="0">
                <a:solidFill>
                  <a:srgbClr val="F2B84B"/>
                </a:solidFill>
                <a:latin typeface="Calibri" pitchFamily="34" charset="0"/>
                <a:ea typeface="Calibri" pitchFamily="34" charset="-122"/>
                <a:cs typeface="Calibri" pitchFamily="34" charset="-120"/>
              </a:rPr>
              <a:t>0.00</a:t>
            </a:r>
            <a:endParaRPr lang="en-US" sz="740" dirty="0"/>
          </a:p>
        </p:txBody>
      </p:sp>
      <p:sp>
        <p:nvSpPr>
          <p:cNvPr id="58" name="Text 54"/>
          <p:cNvSpPr/>
          <p:nvPr/>
        </p:nvSpPr>
        <p:spPr>
          <a:xfrm>
            <a:off x="4478209" y="5413248"/>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Largest SIS account; no offtake feed</a:t>
            </a:r>
            <a:endParaRPr lang="en-US" sz="740" dirty="0"/>
          </a:p>
        </p:txBody>
      </p:sp>
      <p:sp>
        <p:nvSpPr>
          <p:cNvPr id="59" name="Shape 55"/>
          <p:cNvSpPr/>
          <p:nvPr/>
        </p:nvSpPr>
        <p:spPr>
          <a:xfrm>
            <a:off x="265176" y="6071616"/>
            <a:ext cx="6327648" cy="0"/>
          </a:xfrm>
          <a:prstGeom prst="line">
            <a:avLst/>
          </a:prstGeom>
          <a:noFill/>
          <a:ln w="6350">
            <a:solidFill>
              <a:srgbClr val="C8DCD7"/>
            </a:solidFill>
            <a:prstDash val="solid"/>
          </a:ln>
        </p:spPr>
      </p:sp>
      <p:sp>
        <p:nvSpPr>
          <p:cNvPr id="60" name="Text 56"/>
          <p:cNvSpPr/>
          <p:nvPr/>
        </p:nvSpPr>
        <p:spPr>
          <a:xfrm>
            <a:off x="320040" y="5742432"/>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Shoppers Stop</a:t>
            </a:r>
            <a:endParaRPr lang="en-US" sz="740" dirty="0"/>
          </a:p>
        </p:txBody>
      </p:sp>
      <p:sp>
        <p:nvSpPr>
          <p:cNvPr id="61" name="Text 57"/>
          <p:cNvSpPr/>
          <p:nvPr/>
        </p:nvSpPr>
        <p:spPr>
          <a:xfrm>
            <a:off x="2127939"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4.87</a:t>
            </a:r>
            <a:endParaRPr lang="en-US" sz="740" dirty="0"/>
          </a:p>
        </p:txBody>
      </p:sp>
      <p:sp>
        <p:nvSpPr>
          <p:cNvPr id="62" name="Text 58"/>
          <p:cNvSpPr/>
          <p:nvPr/>
        </p:nvSpPr>
        <p:spPr>
          <a:xfrm>
            <a:off x="3303074" y="5742432"/>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2.00</a:t>
            </a:r>
            <a:endParaRPr lang="en-US" sz="740" dirty="0"/>
          </a:p>
        </p:txBody>
      </p:sp>
      <p:sp>
        <p:nvSpPr>
          <p:cNvPr id="63" name="Text 59"/>
          <p:cNvSpPr/>
          <p:nvPr/>
        </p:nvSpPr>
        <p:spPr>
          <a:xfrm>
            <a:off x="4478209" y="5742432"/>
            <a:ext cx="2059751" cy="329184"/>
          </a:xfrm>
          <a:prstGeom prst="rect">
            <a:avLst/>
          </a:prstGeom>
          <a:noFill/>
          <a:ln/>
        </p:spPr>
        <p:txBody>
          <a:bodyPr wrap="square" lIns="0" tIns="0" rIns="0" bIns="0" rtlCol="0" anchor="ctr"/>
          <a:lstStyle/>
          <a:p>
            <a:pPr algn="l" indent="0" marL="0">
              <a:buNone/>
            </a:pPr>
            <a:r>
              <a:rPr lang="en-US" sz="740" dirty="0">
                <a:solidFill>
                  <a:srgbClr val="183B39"/>
                </a:solidFill>
                <a:latin typeface="Calibri" pitchFamily="34" charset="0"/>
                <a:ea typeface="Calibri" pitchFamily="34" charset="-122"/>
                <a:cs typeface="Calibri" pitchFamily="34" charset="-120"/>
              </a:rPr>
              <a:t>Only account with both sides mapped</a:t>
            </a:r>
            <a:endParaRPr lang="en-US" sz="740" dirty="0"/>
          </a:p>
        </p:txBody>
      </p:sp>
      <p:sp>
        <p:nvSpPr>
          <p:cNvPr id="64" name="Shape 60"/>
          <p:cNvSpPr/>
          <p:nvPr/>
        </p:nvSpPr>
        <p:spPr>
          <a:xfrm>
            <a:off x="265176" y="6071616"/>
            <a:ext cx="6327648" cy="329184"/>
          </a:xfrm>
          <a:prstGeom prst="rect">
            <a:avLst/>
          </a:prstGeom>
          <a:solidFill>
            <a:srgbClr val="F4F9F8"/>
          </a:solidFill>
          <a:ln/>
        </p:spPr>
      </p:sp>
      <p:sp>
        <p:nvSpPr>
          <p:cNvPr id="65" name="Shape 61"/>
          <p:cNvSpPr/>
          <p:nvPr/>
        </p:nvSpPr>
        <p:spPr>
          <a:xfrm>
            <a:off x="265176" y="6400800"/>
            <a:ext cx="6327648" cy="0"/>
          </a:xfrm>
          <a:prstGeom prst="line">
            <a:avLst/>
          </a:prstGeom>
          <a:noFill/>
          <a:ln w="6350">
            <a:solidFill>
              <a:srgbClr val="C8DCD7"/>
            </a:solidFill>
            <a:prstDash val="solid"/>
          </a:ln>
        </p:spPr>
      </p:sp>
      <p:sp>
        <p:nvSpPr>
          <p:cNvPr id="66" name="Text 62"/>
          <p:cNvSpPr/>
          <p:nvPr/>
        </p:nvSpPr>
        <p:spPr>
          <a:xfrm>
            <a:off x="320040" y="6071616"/>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Broadway</a:t>
            </a:r>
            <a:endParaRPr lang="en-US" sz="740" dirty="0"/>
          </a:p>
        </p:txBody>
      </p:sp>
      <p:sp>
        <p:nvSpPr>
          <p:cNvPr id="67" name="Text 63"/>
          <p:cNvSpPr/>
          <p:nvPr/>
        </p:nvSpPr>
        <p:spPr>
          <a:xfrm>
            <a:off x="2127939" y="6071616"/>
            <a:ext cx="1065407" cy="329184"/>
          </a:xfrm>
          <a:prstGeom prst="rect">
            <a:avLst/>
          </a:prstGeom>
          <a:noFill/>
          <a:ln/>
        </p:spPr>
        <p:txBody>
          <a:bodyPr wrap="square" lIns="0" tIns="0" rIns="0" bIns="0" rtlCol="0" anchor="ctr"/>
          <a:lstStyle/>
          <a:p>
            <a:pPr algn="r" indent="0" marL="0">
              <a:buNone/>
            </a:pPr>
            <a:r>
              <a:rPr lang="en-US" sz="740" dirty="0">
                <a:solidFill>
                  <a:srgbClr val="D6544D"/>
                </a:solidFill>
                <a:latin typeface="Calibri" pitchFamily="34" charset="0"/>
                <a:ea typeface="Calibri" pitchFamily="34" charset="-122"/>
                <a:cs typeface="Calibri" pitchFamily="34" charset="-120"/>
              </a:rPr>
              <a:t>−1.73</a:t>
            </a:r>
            <a:endParaRPr lang="en-US" sz="740" dirty="0"/>
          </a:p>
        </p:txBody>
      </p:sp>
      <p:sp>
        <p:nvSpPr>
          <p:cNvPr id="68" name="Text 64"/>
          <p:cNvSpPr/>
          <p:nvPr/>
        </p:nvSpPr>
        <p:spPr>
          <a:xfrm>
            <a:off x="3303074" y="6071616"/>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0.48</a:t>
            </a:r>
            <a:endParaRPr lang="en-US" sz="740" dirty="0"/>
          </a:p>
        </p:txBody>
      </p:sp>
      <p:sp>
        <p:nvSpPr>
          <p:cNvPr id="69" name="Text 65"/>
          <p:cNvSpPr/>
          <p:nvPr/>
        </p:nvSpPr>
        <p:spPr>
          <a:xfrm>
            <a:off x="4478209" y="6071616"/>
            <a:ext cx="2059751" cy="329184"/>
          </a:xfrm>
          <a:prstGeom prst="rect">
            <a:avLst/>
          </a:prstGeom>
          <a:noFill/>
          <a:ln/>
        </p:spPr>
        <p:txBody>
          <a:bodyPr wrap="square" lIns="0" tIns="0" rIns="0" bIns="0" rtlCol="0" anchor="ctr"/>
          <a:lstStyle/>
          <a:p>
            <a:pPr algn="l" indent="0" marL="0">
              <a:buNone/>
            </a:pPr>
            <a:r>
              <a:rPr lang="en-US" sz="740" dirty="0">
                <a:solidFill>
                  <a:srgbClr val="D6544D"/>
                </a:solidFill>
                <a:latin typeface="Calibri" pitchFamily="34" charset="0"/>
                <a:ea typeface="Calibri" pitchFamily="34" charset="-122"/>
                <a:cs typeface="Calibri" pitchFamily="34" charset="-120"/>
              </a:rPr>
              <a:t>Net negative — returns exceed billing</a:t>
            </a:r>
            <a:endParaRPr lang="en-US" sz="740" dirty="0"/>
          </a:p>
        </p:txBody>
      </p:sp>
      <p:sp>
        <p:nvSpPr>
          <p:cNvPr id="70" name="Shape 66"/>
          <p:cNvSpPr/>
          <p:nvPr/>
        </p:nvSpPr>
        <p:spPr>
          <a:xfrm>
            <a:off x="265176" y="6729984"/>
            <a:ext cx="6327648" cy="0"/>
          </a:xfrm>
          <a:prstGeom prst="line">
            <a:avLst/>
          </a:prstGeom>
          <a:noFill/>
          <a:ln w="6350">
            <a:solidFill>
              <a:srgbClr val="C8DCD7"/>
            </a:solidFill>
            <a:prstDash val="solid"/>
          </a:ln>
        </p:spPr>
      </p:sp>
      <p:sp>
        <p:nvSpPr>
          <p:cNvPr id="71" name="Text 67"/>
          <p:cNvSpPr/>
          <p:nvPr/>
        </p:nvSpPr>
        <p:spPr>
          <a:xfrm>
            <a:off x="320040" y="6400800"/>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Lifestyle</a:t>
            </a:r>
            <a:endParaRPr lang="en-US" sz="740" dirty="0"/>
          </a:p>
        </p:txBody>
      </p:sp>
      <p:sp>
        <p:nvSpPr>
          <p:cNvPr id="72" name="Text 68"/>
          <p:cNvSpPr/>
          <p:nvPr/>
        </p:nvSpPr>
        <p:spPr>
          <a:xfrm>
            <a:off x="2127939" y="6400800"/>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not billed</a:t>
            </a:r>
            <a:endParaRPr lang="en-US" sz="740" dirty="0"/>
          </a:p>
        </p:txBody>
      </p:sp>
      <p:sp>
        <p:nvSpPr>
          <p:cNvPr id="73" name="Text 69"/>
          <p:cNvSpPr/>
          <p:nvPr/>
        </p:nvSpPr>
        <p:spPr>
          <a:xfrm>
            <a:off x="3303074" y="6400800"/>
            <a:ext cx="1065407" cy="329184"/>
          </a:xfrm>
          <a:prstGeom prst="rect">
            <a:avLst/>
          </a:prstGeom>
          <a:noFill/>
          <a:ln/>
        </p:spPr>
        <p:txBody>
          <a:bodyPr wrap="square" lIns="0" tIns="0" rIns="0" bIns="0" rtlCol="0" anchor="ctr"/>
          <a:lstStyle/>
          <a:p>
            <a:pPr algn="r" indent="0" marL="0">
              <a:buNone/>
            </a:pPr>
            <a:r>
              <a:rPr lang="en-US" sz="740" dirty="0">
                <a:solidFill>
                  <a:srgbClr val="183B39"/>
                </a:solidFill>
                <a:latin typeface="Calibri" pitchFamily="34" charset="0"/>
                <a:ea typeface="Calibri" pitchFamily="34" charset="-122"/>
                <a:cs typeface="Calibri" pitchFamily="34" charset="-120"/>
              </a:rPr>
              <a:t>1.13</a:t>
            </a:r>
            <a:endParaRPr lang="en-US" sz="740" dirty="0"/>
          </a:p>
        </p:txBody>
      </p:sp>
      <p:sp>
        <p:nvSpPr>
          <p:cNvPr id="74" name="Text 70"/>
          <p:cNvSpPr/>
          <p:nvPr/>
        </p:nvSpPr>
        <p:spPr>
          <a:xfrm>
            <a:off x="4478209" y="6400800"/>
            <a:ext cx="2059751" cy="329184"/>
          </a:xfrm>
          <a:prstGeom prst="rect">
            <a:avLst/>
          </a:prstGeom>
          <a:noFill/>
          <a:ln/>
        </p:spPr>
        <p:txBody>
          <a:bodyPr wrap="square" lIns="0" tIns="0" rIns="0" bIns="0" rtlCol="0" anchor="ctr"/>
          <a:lstStyle/>
          <a:p>
            <a:pPr algn="l" indent="0" marL="0">
              <a:buNone/>
            </a:pPr>
            <a:r>
              <a:rPr lang="en-US" sz="740" dirty="0">
                <a:solidFill>
                  <a:srgbClr val="F2B84B"/>
                </a:solidFill>
                <a:latin typeface="Calibri" pitchFamily="34" charset="0"/>
                <a:ea typeface="Calibri" pitchFamily="34" charset="-122"/>
                <a:cs typeface="Calibri" pitchFamily="34" charset="-120"/>
              </a:rPr>
              <a:t>Offtake with no SIS primary</a:t>
            </a:r>
            <a:endParaRPr lang="en-US" sz="740" dirty="0"/>
          </a:p>
        </p:txBody>
      </p:sp>
      <p:sp>
        <p:nvSpPr>
          <p:cNvPr id="75" name="Shape 71"/>
          <p:cNvSpPr/>
          <p:nvPr/>
        </p:nvSpPr>
        <p:spPr>
          <a:xfrm>
            <a:off x="265176" y="6729984"/>
            <a:ext cx="6327648" cy="329184"/>
          </a:xfrm>
          <a:prstGeom prst="rect">
            <a:avLst/>
          </a:prstGeom>
          <a:solidFill>
            <a:srgbClr val="F4F9F8"/>
          </a:solidFill>
          <a:ln/>
        </p:spPr>
      </p:sp>
      <p:sp>
        <p:nvSpPr>
          <p:cNvPr id="76" name="Shape 72"/>
          <p:cNvSpPr/>
          <p:nvPr/>
        </p:nvSpPr>
        <p:spPr>
          <a:xfrm>
            <a:off x="265176" y="7059168"/>
            <a:ext cx="6327648" cy="0"/>
          </a:xfrm>
          <a:prstGeom prst="line">
            <a:avLst/>
          </a:prstGeom>
          <a:noFill/>
          <a:ln w="6350">
            <a:solidFill>
              <a:srgbClr val="C8DCD7"/>
            </a:solidFill>
            <a:prstDash val="solid"/>
          </a:ln>
        </p:spPr>
      </p:sp>
      <p:sp>
        <p:nvSpPr>
          <p:cNvPr id="77" name="Text 73"/>
          <p:cNvSpPr/>
          <p:nvPr/>
        </p:nvSpPr>
        <p:spPr>
          <a:xfrm>
            <a:off x="320040" y="6729984"/>
            <a:ext cx="1698171" cy="329184"/>
          </a:xfrm>
          <a:prstGeom prst="rect">
            <a:avLst/>
          </a:prstGeom>
          <a:noFill/>
          <a:ln/>
        </p:spPr>
        <p:txBody>
          <a:bodyPr wrap="square" lIns="0" tIns="0" rIns="0" bIns="0" rtlCol="0" anchor="ctr"/>
          <a:lstStyle/>
          <a:p>
            <a:pPr algn="l" indent="0" marL="0">
              <a:buNone/>
            </a:pPr>
            <a:r>
              <a:rPr lang="en-US" sz="740" b="1" dirty="0">
                <a:solidFill>
                  <a:srgbClr val="183B39"/>
                </a:solidFill>
                <a:latin typeface="Calibri" pitchFamily="34" charset="0"/>
                <a:ea typeface="Calibri" pitchFamily="34" charset="-122"/>
                <a:cs typeface="Calibri" pitchFamily="34" charset="-120"/>
              </a:rPr>
              <a:t>Today's Basket</a:t>
            </a:r>
            <a:endParaRPr lang="en-US" sz="740" dirty="0"/>
          </a:p>
        </p:txBody>
      </p:sp>
      <p:sp>
        <p:nvSpPr>
          <p:cNvPr id="78" name="Text 74"/>
          <p:cNvSpPr/>
          <p:nvPr/>
        </p:nvSpPr>
        <p:spPr>
          <a:xfrm>
            <a:off x="2127939"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nil in FY27</a:t>
            </a:r>
            <a:endParaRPr lang="en-US" sz="740" dirty="0"/>
          </a:p>
        </p:txBody>
      </p:sp>
      <p:sp>
        <p:nvSpPr>
          <p:cNvPr id="79" name="Text 75"/>
          <p:cNvSpPr/>
          <p:nvPr/>
        </p:nvSpPr>
        <p:spPr>
          <a:xfrm>
            <a:off x="3303074" y="6729984"/>
            <a:ext cx="1065407" cy="329184"/>
          </a:xfrm>
          <a:prstGeom prst="rect">
            <a:avLst/>
          </a:prstGeom>
          <a:noFill/>
          <a:ln/>
        </p:spPr>
        <p:txBody>
          <a:bodyPr wrap="square" lIns="0" tIns="0" rIns="0" bIns="0" rtlCol="0" anchor="ctr"/>
          <a:lstStyle/>
          <a:p>
            <a:pPr algn="r" indent="0" marL="0">
              <a:buNone/>
            </a:pPr>
            <a:r>
              <a:rPr lang="en-US" sz="740" dirty="0">
                <a:solidFill>
                  <a:srgbClr val="5F716E"/>
                </a:solidFill>
                <a:latin typeface="Calibri" pitchFamily="34" charset="0"/>
                <a:ea typeface="Calibri" pitchFamily="34" charset="-122"/>
                <a:cs typeface="Calibri" pitchFamily="34" charset="-120"/>
              </a:rPr>
              <a:t>—</a:t>
            </a:r>
            <a:endParaRPr lang="en-US" sz="740" dirty="0"/>
          </a:p>
        </p:txBody>
      </p:sp>
      <p:sp>
        <p:nvSpPr>
          <p:cNvPr id="80" name="Text 76"/>
          <p:cNvSpPr/>
          <p:nvPr/>
        </p:nvSpPr>
        <p:spPr>
          <a:xfrm>
            <a:off x="4478209" y="6729984"/>
            <a:ext cx="2059751" cy="329184"/>
          </a:xfrm>
          <a:prstGeom prst="rect">
            <a:avLst/>
          </a:prstGeom>
          <a:noFill/>
          <a:ln/>
        </p:spPr>
        <p:txBody>
          <a:bodyPr wrap="square" lIns="0" tIns="0" rIns="0" bIns="0" rtlCol="0" anchor="ctr"/>
          <a:lstStyle/>
          <a:p>
            <a:pPr algn="l" indent="0" marL="0">
              <a:buNone/>
            </a:pPr>
            <a:r>
              <a:rPr lang="en-US" sz="740" dirty="0">
                <a:solidFill>
                  <a:srgbClr val="5F716E"/>
                </a:solidFill>
                <a:latin typeface="Calibri" pitchFamily="34" charset="0"/>
                <a:ea typeface="Calibri" pitchFamily="34" charset="-122"/>
                <a:cs typeface="Calibri" pitchFamily="34" charset="-120"/>
              </a:rPr>
              <a:t>FY26 account, dormant in FY27</a:t>
            </a:r>
            <a:endParaRPr lang="en-US" sz="740" dirty="0"/>
          </a:p>
        </p:txBody>
      </p:sp>
      <p:sp>
        <p:nvSpPr>
          <p:cNvPr id="81" name="Shape 77"/>
          <p:cNvSpPr/>
          <p:nvPr/>
        </p:nvSpPr>
        <p:spPr>
          <a:xfrm>
            <a:off x="265176" y="7242048"/>
            <a:ext cx="2036064" cy="2103120"/>
          </a:xfrm>
          <a:prstGeom prst="roundRect">
            <a:avLst>
              <a:gd name="adj" fmla="val 898"/>
            </a:avLst>
          </a:prstGeom>
          <a:solidFill>
            <a:srgbClr val="FFFFFF"/>
          </a:solidFill>
          <a:ln w="9525">
            <a:solidFill>
              <a:srgbClr val="C8DCD7"/>
            </a:solidFill>
            <a:prstDash val="solid"/>
          </a:ln>
        </p:spPr>
      </p:sp>
      <p:sp>
        <p:nvSpPr>
          <p:cNvPr id="82" name="Shape 78"/>
          <p:cNvSpPr/>
          <p:nvPr/>
        </p:nvSpPr>
        <p:spPr>
          <a:xfrm>
            <a:off x="265176" y="7242048"/>
            <a:ext cx="2036064" cy="274320"/>
          </a:xfrm>
          <a:prstGeom prst="rect">
            <a:avLst/>
          </a:prstGeom>
          <a:solidFill>
            <a:srgbClr val="D6544D"/>
          </a:solidFill>
          <a:ln/>
        </p:spPr>
      </p:sp>
      <p:sp>
        <p:nvSpPr>
          <p:cNvPr id="83" name="Text 79"/>
          <p:cNvSpPr/>
          <p:nvPr/>
        </p:nvSpPr>
        <p:spPr>
          <a:xfrm>
            <a:off x="347472"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WHY IT LEFT MT</a:t>
            </a:r>
            <a:endParaRPr lang="en-US" sz="700" dirty="0"/>
          </a:p>
        </p:txBody>
      </p:sp>
      <p:sp>
        <p:nvSpPr>
          <p:cNvPr id="84" name="Text 80"/>
          <p:cNvSpPr/>
          <p:nvPr/>
        </p:nvSpPr>
        <p:spPr>
          <a:xfrm>
            <a:off x="356616" y="7607808"/>
            <a:ext cx="1853184" cy="329184"/>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₹0.04 Cr</a:t>
            </a:r>
            <a:endParaRPr lang="en-US" sz="1500" dirty="0"/>
          </a:p>
        </p:txBody>
      </p:sp>
      <p:sp>
        <p:nvSpPr>
          <p:cNvPr id="85" name="Text 81"/>
          <p:cNvSpPr/>
          <p:nvPr/>
        </p:nvSpPr>
        <p:spPr>
          <a:xfrm>
            <a:off x="356616"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SIS offtake sitting in MT zones</a:t>
            </a:r>
            <a:endParaRPr lang="en-US" sz="660" dirty="0"/>
          </a:p>
        </p:txBody>
      </p:sp>
      <p:sp>
        <p:nvSpPr>
          <p:cNvPr id="86" name="Shape 82"/>
          <p:cNvSpPr/>
          <p:nvPr/>
        </p:nvSpPr>
        <p:spPr>
          <a:xfrm>
            <a:off x="374904" y="8225028"/>
            <a:ext cx="50292" cy="50292"/>
          </a:xfrm>
          <a:prstGeom prst="ellipse">
            <a:avLst/>
          </a:prstGeom>
          <a:solidFill>
            <a:srgbClr val="D6544D"/>
          </a:solidFill>
          <a:ln/>
        </p:spPr>
      </p:sp>
      <p:sp>
        <p:nvSpPr>
          <p:cNvPr id="87" name="Text 83"/>
          <p:cNvSpPr/>
          <p:nvPr/>
        </p:nvSpPr>
        <p:spPr>
          <a:xfrm>
            <a:off x="493776"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Shoppers Stop, Lifestyle and Broadway offtake was inside the six geographic zones.</a:t>
            </a:r>
            <a:endParaRPr lang="en-US" sz="690" dirty="0"/>
          </a:p>
        </p:txBody>
      </p:sp>
      <p:sp>
        <p:nvSpPr>
          <p:cNvPr id="88" name="Shape 84"/>
          <p:cNvSpPr/>
          <p:nvPr/>
        </p:nvSpPr>
        <p:spPr>
          <a:xfrm>
            <a:off x="374904" y="8609076"/>
            <a:ext cx="50292" cy="50292"/>
          </a:xfrm>
          <a:prstGeom prst="ellipse">
            <a:avLst/>
          </a:prstGeom>
          <a:solidFill>
            <a:srgbClr val="D6544D"/>
          </a:solidFill>
          <a:ln/>
        </p:spPr>
      </p:sp>
      <p:sp>
        <p:nvSpPr>
          <p:cNvPr id="89" name="Text 85"/>
          <p:cNvSpPr/>
          <p:nvPr/>
        </p:nvSpPr>
        <p:spPr>
          <a:xfrm>
            <a:off x="493776"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It is 0.02% of national offtake — immaterial in value, wrong in principle.</a:t>
            </a:r>
            <a:endParaRPr lang="en-US" sz="690" dirty="0"/>
          </a:p>
        </p:txBody>
      </p:sp>
      <p:sp>
        <p:nvSpPr>
          <p:cNvPr id="90" name="Shape 86"/>
          <p:cNvSpPr/>
          <p:nvPr/>
        </p:nvSpPr>
        <p:spPr>
          <a:xfrm>
            <a:off x="374904" y="8993124"/>
            <a:ext cx="50292" cy="50292"/>
          </a:xfrm>
          <a:prstGeom prst="ellipse">
            <a:avLst/>
          </a:prstGeom>
          <a:solidFill>
            <a:srgbClr val="D6544D"/>
          </a:solidFill>
          <a:ln/>
        </p:spPr>
      </p:sp>
      <p:sp>
        <p:nvSpPr>
          <p:cNvPr id="91" name="Text 87"/>
          <p:cNvSpPr/>
          <p:nvPr/>
        </p:nvSpPr>
        <p:spPr>
          <a:xfrm>
            <a:off x="493776"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Moved to this channel; MT zone offtake is now SIS-free.</a:t>
            </a:r>
            <a:endParaRPr lang="en-US" sz="690" dirty="0"/>
          </a:p>
        </p:txBody>
      </p:sp>
      <p:sp>
        <p:nvSpPr>
          <p:cNvPr id="92" name="Shape 88"/>
          <p:cNvSpPr/>
          <p:nvPr/>
        </p:nvSpPr>
        <p:spPr>
          <a:xfrm>
            <a:off x="2410968" y="7242048"/>
            <a:ext cx="2036064" cy="2103120"/>
          </a:xfrm>
          <a:prstGeom prst="roundRect">
            <a:avLst>
              <a:gd name="adj" fmla="val 898"/>
            </a:avLst>
          </a:prstGeom>
          <a:solidFill>
            <a:srgbClr val="FFFFFF"/>
          </a:solidFill>
          <a:ln w="9525">
            <a:solidFill>
              <a:srgbClr val="C8DCD7"/>
            </a:solidFill>
            <a:prstDash val="solid"/>
          </a:ln>
        </p:spPr>
      </p:sp>
      <p:sp>
        <p:nvSpPr>
          <p:cNvPr id="93" name="Shape 89"/>
          <p:cNvSpPr/>
          <p:nvPr/>
        </p:nvSpPr>
        <p:spPr>
          <a:xfrm>
            <a:off x="2410968" y="7242048"/>
            <a:ext cx="2036064" cy="274320"/>
          </a:xfrm>
          <a:prstGeom prst="rect">
            <a:avLst/>
          </a:prstGeom>
          <a:solidFill>
            <a:srgbClr val="F2B84B"/>
          </a:solidFill>
          <a:ln/>
        </p:spPr>
      </p:sp>
      <p:sp>
        <p:nvSpPr>
          <p:cNvPr id="94" name="Text 90"/>
          <p:cNvSpPr/>
          <p:nvPr/>
        </p:nvSpPr>
        <p:spPr>
          <a:xfrm>
            <a:off x="2493264"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RETURNS FIRST</a:t>
            </a:r>
            <a:endParaRPr lang="en-US" sz="700" dirty="0"/>
          </a:p>
        </p:txBody>
      </p:sp>
      <p:sp>
        <p:nvSpPr>
          <p:cNvPr id="95" name="Text 91"/>
          <p:cNvSpPr/>
          <p:nvPr/>
        </p:nvSpPr>
        <p:spPr>
          <a:xfrm>
            <a:off x="2502408" y="7607808"/>
            <a:ext cx="1853184" cy="329184"/>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15.3%</a:t>
            </a:r>
            <a:endParaRPr lang="en-US" sz="1500" dirty="0"/>
          </a:p>
        </p:txBody>
      </p:sp>
      <p:sp>
        <p:nvSpPr>
          <p:cNvPr id="96" name="Text 92"/>
          <p:cNvSpPr/>
          <p:nvPr/>
        </p:nvSpPr>
        <p:spPr>
          <a:xfrm>
            <a:off x="2502408"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MRN as a share of gross</a:t>
            </a:r>
            <a:endParaRPr lang="en-US" sz="660" dirty="0"/>
          </a:p>
        </p:txBody>
      </p:sp>
      <p:sp>
        <p:nvSpPr>
          <p:cNvPr id="97" name="Shape 93"/>
          <p:cNvSpPr/>
          <p:nvPr/>
        </p:nvSpPr>
        <p:spPr>
          <a:xfrm>
            <a:off x="2520696" y="8225028"/>
            <a:ext cx="50292" cy="50292"/>
          </a:xfrm>
          <a:prstGeom prst="ellipse">
            <a:avLst/>
          </a:prstGeom>
          <a:solidFill>
            <a:srgbClr val="F2B84B"/>
          </a:solidFill>
          <a:ln/>
        </p:spPr>
      </p:sp>
      <p:sp>
        <p:nvSpPr>
          <p:cNvPr id="98" name="Text 94"/>
          <p:cNvSpPr/>
          <p:nvPr/>
        </p:nvSpPr>
        <p:spPr>
          <a:xfrm>
            <a:off x="2639568"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Gross ₹29.64 L becomes ₹26.52 L net of ₹4.55 L returns.</a:t>
            </a:r>
            <a:endParaRPr lang="en-US" sz="690" dirty="0"/>
          </a:p>
        </p:txBody>
      </p:sp>
      <p:sp>
        <p:nvSpPr>
          <p:cNvPr id="99" name="Shape 95"/>
          <p:cNvSpPr/>
          <p:nvPr/>
        </p:nvSpPr>
        <p:spPr>
          <a:xfrm>
            <a:off x="2520696" y="8609076"/>
            <a:ext cx="50292" cy="50292"/>
          </a:xfrm>
          <a:prstGeom prst="ellipse">
            <a:avLst/>
          </a:prstGeom>
          <a:solidFill>
            <a:srgbClr val="F2B84B"/>
          </a:solidFill>
          <a:ln/>
        </p:spPr>
      </p:sp>
      <p:sp>
        <p:nvSpPr>
          <p:cNvPr id="100" name="Text 96"/>
          <p:cNvSpPr/>
          <p:nvPr/>
        </p:nvSpPr>
        <p:spPr>
          <a:xfrm>
            <a:off x="2639568"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July is net negative (−₹0.64 L): returns exceeded billing that month.</a:t>
            </a:r>
            <a:endParaRPr lang="en-US" sz="690" dirty="0"/>
          </a:p>
        </p:txBody>
      </p:sp>
      <p:sp>
        <p:nvSpPr>
          <p:cNvPr id="101" name="Shape 97"/>
          <p:cNvSpPr/>
          <p:nvPr/>
        </p:nvSpPr>
        <p:spPr>
          <a:xfrm>
            <a:off x="2520696" y="8993124"/>
            <a:ext cx="50292" cy="50292"/>
          </a:xfrm>
          <a:prstGeom prst="ellipse">
            <a:avLst/>
          </a:prstGeom>
          <a:solidFill>
            <a:srgbClr val="F2B84B"/>
          </a:solidFill>
          <a:ln/>
        </p:spPr>
      </p:sp>
      <p:sp>
        <p:nvSpPr>
          <p:cNvPr id="102" name="Text 98"/>
          <p:cNvSpPr/>
          <p:nvPr/>
        </p:nvSpPr>
        <p:spPr>
          <a:xfrm>
            <a:off x="2639568"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Always quote SIS net; the gross figure overstates by 11.8%.</a:t>
            </a:r>
            <a:endParaRPr lang="en-US" sz="690" dirty="0"/>
          </a:p>
        </p:txBody>
      </p:sp>
      <p:sp>
        <p:nvSpPr>
          <p:cNvPr id="103" name="Shape 99"/>
          <p:cNvSpPr/>
          <p:nvPr/>
        </p:nvSpPr>
        <p:spPr>
          <a:xfrm>
            <a:off x="4556760" y="7242048"/>
            <a:ext cx="2036064" cy="2103120"/>
          </a:xfrm>
          <a:prstGeom prst="roundRect">
            <a:avLst>
              <a:gd name="adj" fmla="val 898"/>
            </a:avLst>
          </a:prstGeom>
          <a:solidFill>
            <a:srgbClr val="FFFFFF"/>
          </a:solidFill>
          <a:ln w="9525">
            <a:solidFill>
              <a:srgbClr val="C8DCD7"/>
            </a:solidFill>
            <a:prstDash val="solid"/>
          </a:ln>
        </p:spPr>
      </p:sp>
      <p:sp>
        <p:nvSpPr>
          <p:cNvPr id="104" name="Shape 100"/>
          <p:cNvSpPr/>
          <p:nvPr/>
        </p:nvSpPr>
        <p:spPr>
          <a:xfrm>
            <a:off x="4556760" y="7242048"/>
            <a:ext cx="2036064" cy="274320"/>
          </a:xfrm>
          <a:prstGeom prst="rect">
            <a:avLst/>
          </a:prstGeom>
          <a:solidFill>
            <a:srgbClr val="5F716E"/>
          </a:solidFill>
          <a:ln/>
        </p:spPr>
      </p:sp>
      <p:sp>
        <p:nvSpPr>
          <p:cNvPr id="105" name="Text 101"/>
          <p:cNvSpPr/>
          <p:nvPr/>
        </p:nvSpPr>
        <p:spPr>
          <a:xfrm>
            <a:off x="4639056" y="726033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106" name="Text 102"/>
          <p:cNvSpPr/>
          <p:nvPr/>
        </p:nvSpPr>
        <p:spPr>
          <a:xfrm>
            <a:off x="4648200" y="7607808"/>
            <a:ext cx="1853184" cy="329184"/>
          </a:xfrm>
          <a:prstGeom prst="rect">
            <a:avLst/>
          </a:prstGeom>
          <a:noFill/>
          <a:ln/>
        </p:spPr>
        <p:txBody>
          <a:bodyPr wrap="square" lIns="0" tIns="0" rIns="0" bIns="0" rtlCol="0" anchor="t"/>
          <a:lstStyle/>
          <a:p>
            <a:pPr algn="ctr" indent="0" marL="0">
              <a:buNone/>
            </a:pPr>
            <a:r>
              <a:rPr lang="en-US" sz="1500" b="1" dirty="0">
                <a:solidFill>
                  <a:srgbClr val="5F716E"/>
                </a:solidFill>
                <a:latin typeface="Calibri Light" pitchFamily="34" charset="0"/>
                <a:ea typeface="Calibri Light" pitchFamily="34" charset="-122"/>
                <a:cs typeface="Calibri Light" pitchFamily="34" charset="-120"/>
              </a:rPr>
              <a:t>662 rows</a:t>
            </a:r>
            <a:endParaRPr lang="en-US" sz="1500" dirty="0"/>
          </a:p>
        </p:txBody>
      </p:sp>
      <p:sp>
        <p:nvSpPr>
          <p:cNvPr id="107" name="Text 103"/>
          <p:cNvSpPr/>
          <p:nvPr/>
        </p:nvSpPr>
        <p:spPr>
          <a:xfrm>
            <a:off x="4648200" y="7955280"/>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full source, not row-capped</a:t>
            </a:r>
            <a:endParaRPr lang="en-US" sz="660" dirty="0"/>
          </a:p>
        </p:txBody>
      </p:sp>
      <p:sp>
        <p:nvSpPr>
          <p:cNvPr id="108" name="Shape 104"/>
          <p:cNvSpPr/>
          <p:nvPr/>
        </p:nvSpPr>
        <p:spPr>
          <a:xfrm>
            <a:off x="4666488" y="8225028"/>
            <a:ext cx="50292" cy="50292"/>
          </a:xfrm>
          <a:prstGeom prst="ellipse">
            <a:avLst/>
          </a:prstGeom>
          <a:solidFill>
            <a:srgbClr val="5F716E"/>
          </a:solidFill>
          <a:ln/>
        </p:spPr>
      </p:sp>
      <p:sp>
        <p:nvSpPr>
          <p:cNvPr id="109" name="Text 105"/>
          <p:cNvSpPr/>
          <p:nvPr/>
        </p:nvSpPr>
        <p:spPr>
          <a:xfrm>
            <a:off x="4785360" y="8174736"/>
            <a:ext cx="1697736" cy="365760"/>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206 exact-duplicate invoice lines detected, not deduplicated.</a:t>
            </a:r>
            <a:endParaRPr lang="en-US" sz="690" dirty="0"/>
          </a:p>
        </p:txBody>
      </p:sp>
      <p:sp>
        <p:nvSpPr>
          <p:cNvPr id="110" name="Shape 106"/>
          <p:cNvSpPr/>
          <p:nvPr/>
        </p:nvSpPr>
        <p:spPr>
          <a:xfrm>
            <a:off x="4666488" y="8609076"/>
            <a:ext cx="50292" cy="50292"/>
          </a:xfrm>
          <a:prstGeom prst="ellipse">
            <a:avLst/>
          </a:prstGeom>
          <a:solidFill>
            <a:srgbClr val="5F716E"/>
          </a:solidFill>
          <a:ln/>
        </p:spPr>
      </p:sp>
      <p:sp>
        <p:nvSpPr>
          <p:cNvPr id="111" name="Text 107"/>
          <p:cNvSpPr/>
          <p:nvPr/>
        </p:nvSpPr>
        <p:spPr>
          <a:xfrm>
            <a:off x="4785360" y="8558784"/>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Impact ₹2.48 L — checked and judged negligible, but unresolved.</a:t>
            </a:r>
            <a:endParaRPr lang="en-US" sz="690" dirty="0"/>
          </a:p>
        </p:txBody>
      </p:sp>
      <p:sp>
        <p:nvSpPr>
          <p:cNvPr id="112" name="Shape 108"/>
          <p:cNvSpPr/>
          <p:nvPr/>
        </p:nvSpPr>
        <p:spPr>
          <a:xfrm>
            <a:off x="4666488" y="8993124"/>
            <a:ext cx="50292" cy="50292"/>
          </a:xfrm>
          <a:prstGeom prst="ellipse">
            <a:avLst/>
          </a:prstGeom>
          <a:solidFill>
            <a:srgbClr val="5F716E"/>
          </a:solidFill>
          <a:ln/>
        </p:spPr>
      </p:sp>
      <p:sp>
        <p:nvSpPr>
          <p:cNvPr id="113" name="Text 109"/>
          <p:cNvSpPr/>
          <p:nvPr/>
        </p:nvSpPr>
        <p:spPr>
          <a:xfrm>
            <a:off x="4785360" y="8942832"/>
            <a:ext cx="1697736" cy="365760"/>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Azorte has primary and no offtake; Lifestyle the reverse.</a:t>
            </a:r>
            <a:endParaRPr lang="en-US" sz="690" dirty="0"/>
          </a:p>
        </p:txBody>
      </p:sp>
      <p:sp>
        <p:nvSpPr>
          <p:cNvPr id="114" name="Shape 110"/>
          <p:cNvSpPr/>
          <p:nvPr/>
        </p:nvSpPr>
        <p:spPr>
          <a:xfrm>
            <a:off x="265176" y="9491472"/>
            <a:ext cx="6327648" cy="256032"/>
          </a:xfrm>
          <a:prstGeom prst="rect">
            <a:avLst/>
          </a:prstGeom>
          <a:solidFill>
            <a:srgbClr val="116F68"/>
          </a:solidFill>
          <a:ln/>
        </p:spPr>
      </p:sp>
      <p:sp>
        <p:nvSpPr>
          <p:cNvPr id="115" name="Text 111"/>
          <p:cNvSpPr/>
          <p:nvPr/>
        </p:nvSpPr>
        <p:spPr>
          <a:xfrm>
            <a:off x="374904" y="95097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CHANNEL REPORTING STRUCTURE NOW IN FORCE</a:t>
            </a:r>
            <a:endParaRPr lang="en-US" sz="720" dirty="0"/>
          </a:p>
        </p:txBody>
      </p:sp>
      <p:sp>
        <p:nvSpPr>
          <p:cNvPr id="116" name="Shape 112"/>
          <p:cNvSpPr/>
          <p:nvPr/>
        </p:nvSpPr>
        <p:spPr>
          <a:xfrm>
            <a:off x="356616" y="9907524"/>
            <a:ext cx="50292" cy="50292"/>
          </a:xfrm>
          <a:prstGeom prst="ellipse">
            <a:avLst/>
          </a:prstGeom>
          <a:solidFill>
            <a:srgbClr val="28A596"/>
          </a:solidFill>
          <a:ln/>
        </p:spPr>
      </p:sp>
      <p:sp>
        <p:nvSpPr>
          <p:cNvPr id="117" name="Text 113"/>
          <p:cNvSpPr/>
          <p:nvPr/>
        </p:nvSpPr>
        <p:spPr>
          <a:xfrm>
            <a:off x="475488" y="9857232"/>
            <a:ext cx="6025896" cy="365760"/>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Modern Trade → MT accounts → zone-wise MT performance. Six geographic zones, no eB2B, no SIS.</a:t>
            </a:r>
            <a:endParaRPr lang="en-US" sz="740" dirty="0"/>
          </a:p>
        </p:txBody>
      </p:sp>
      <p:sp>
        <p:nvSpPr>
          <p:cNvPr id="118" name="Shape 114"/>
          <p:cNvSpPr/>
          <p:nvPr/>
        </p:nvSpPr>
        <p:spPr>
          <a:xfrm>
            <a:off x="356616" y="10291572"/>
            <a:ext cx="50292" cy="50292"/>
          </a:xfrm>
          <a:prstGeom prst="ellipse">
            <a:avLst/>
          </a:prstGeom>
          <a:solidFill>
            <a:srgbClr val="2E7DA8"/>
          </a:solidFill>
          <a:ln/>
        </p:spPr>
      </p:sp>
      <p:sp>
        <p:nvSpPr>
          <p:cNvPr id="119" name="Text 115"/>
          <p:cNvSpPr/>
          <p:nvPr/>
        </p:nvSpPr>
        <p:spPr>
          <a:xfrm>
            <a:off x="475488" y="10241280"/>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eB2B → Nykaa (FSN) and Eremedium. FY27 primary ₹8.79 Cr, offtake ₹8.60 Cr. Replaces the former "Pan India" zone.</a:t>
            </a:r>
            <a:endParaRPr lang="en-US" sz="740" dirty="0"/>
          </a:p>
        </p:txBody>
      </p:sp>
      <p:sp>
        <p:nvSpPr>
          <p:cNvPr id="120" name="Shape 116"/>
          <p:cNvSpPr/>
          <p:nvPr/>
        </p:nvSpPr>
        <p:spPr>
          <a:xfrm>
            <a:off x="356616" y="10675620"/>
            <a:ext cx="50292" cy="50292"/>
          </a:xfrm>
          <a:prstGeom prst="ellipse">
            <a:avLst/>
          </a:prstGeom>
          <a:solidFill>
            <a:srgbClr val="2E7DA8"/>
          </a:solidFill>
          <a:ln/>
        </p:spPr>
      </p:sp>
      <p:sp>
        <p:nvSpPr>
          <p:cNvPr id="121" name="Text 117"/>
          <p:cNvSpPr/>
          <p:nvPr/>
        </p:nvSpPr>
        <p:spPr>
          <a:xfrm>
            <a:off x="475488" y="10625328"/>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SIS → Azorte, Shoppers Stop, Broadway, Lifestyle. FY27 net primary ₹0.27 Cr.</a:t>
            </a:r>
            <a:endParaRPr lang="en-US" sz="740" dirty="0"/>
          </a:p>
        </p:txBody>
      </p:sp>
      <p:sp>
        <p:nvSpPr>
          <p:cNvPr id="122" name="Shape 118"/>
          <p:cNvSpPr/>
          <p:nvPr/>
        </p:nvSpPr>
        <p:spPr>
          <a:xfrm>
            <a:off x="356616" y="11059668"/>
            <a:ext cx="50292" cy="50292"/>
          </a:xfrm>
          <a:prstGeom prst="ellipse">
            <a:avLst/>
          </a:prstGeom>
          <a:solidFill>
            <a:srgbClr val="5F716E"/>
          </a:solidFill>
          <a:ln/>
        </p:spPr>
      </p:sp>
      <p:sp>
        <p:nvSpPr>
          <p:cNvPr id="123" name="Text 119"/>
          <p:cNvSpPr/>
          <p:nvPr/>
        </p:nvSpPr>
        <p:spPr>
          <a:xfrm>
            <a:off x="475488" y="11009376"/>
            <a:ext cx="6025896" cy="365760"/>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No channel is added, allocated, mapped or rolled up into another. Classification is held in scripts/data/channel_master.json with a named owner.</a:t>
            </a:r>
            <a:endParaRPr lang="en-US" sz="7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July is a Reliance problem — every other chain combined grew</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growth and risk | June–July 2026 | ranked by ₹ change above a ₹0.25 Cr materiality floor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15</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1060704"/>
          </a:xfrm>
          <a:prstGeom prst="roundRect">
            <a:avLst>
              <a:gd name="adj" fmla="val 2586"/>
            </a:avLst>
          </a:prstGeom>
          <a:solidFill>
            <a:srgbClr val="FBEDEC"/>
          </a:solidFill>
          <a:ln w="12700">
            <a:solidFill>
              <a:srgbClr val="D6544D"/>
            </a:solidFill>
            <a:prstDash val="solid"/>
          </a:ln>
        </p:spPr>
      </p:sp>
      <p:sp>
        <p:nvSpPr>
          <p:cNvPr id="20" name="Text 18"/>
          <p:cNvSpPr/>
          <p:nvPr/>
        </p:nvSpPr>
        <p:spPr>
          <a:xfrm>
            <a:off x="429768" y="1371600"/>
            <a:ext cx="5998464" cy="310896"/>
          </a:xfrm>
          <a:prstGeom prst="rect">
            <a:avLst/>
          </a:prstGeom>
          <a:noFill/>
          <a:ln/>
        </p:spPr>
        <p:txBody>
          <a:bodyPr wrap="square" lIns="0" tIns="0" rIns="0" bIns="0" rtlCol="0" anchor="ctr"/>
          <a:lstStyle/>
          <a:p>
            <a:pPr algn="ctr" indent="0" marL="0">
              <a:buNone/>
            </a:pPr>
            <a:r>
              <a:rPr lang="en-US" sz="1100" b="1" dirty="0">
                <a:solidFill>
                  <a:srgbClr val="D6544D"/>
                </a:solidFill>
                <a:latin typeface="Calibri Light" pitchFamily="34" charset="0"/>
                <a:ea typeface="Calibri Light" pitchFamily="34" charset="-122"/>
                <a:cs typeface="Calibri Light" pitchFamily="34" charset="-120"/>
              </a:rPr>
              <a:t>Modern Trade fell ₹1.29 Cr month on month. Reliance accounts for ₹1.42 Cr of it.</a:t>
            </a:r>
            <a:endParaRPr lang="en-US" sz="110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850" b="1" dirty="0">
                <a:solidFill>
                  <a:srgbClr val="183B39"/>
                </a:solidFill>
                <a:latin typeface="Calibri" pitchFamily="34" charset="0"/>
                <a:ea typeface="Calibri" pitchFamily="34" charset="-122"/>
                <a:cs typeface="Calibri" pitchFamily="34" charset="-120"/>
              </a:rPr>
              <a:t>Every other comparable chain, added together, grew ₹0.13 Cr.</a:t>
            </a:r>
            <a:endParaRPr lang="en-US" sz="850" dirty="0"/>
          </a:p>
        </p:txBody>
      </p:sp>
      <p:sp>
        <p:nvSpPr>
          <p:cNvPr id="22" name="Text 20"/>
          <p:cNvSpPr/>
          <p:nvPr/>
        </p:nvSpPr>
        <p:spPr>
          <a:xfrm>
            <a:off x="502920" y="1956816"/>
            <a:ext cx="5852160" cy="292608"/>
          </a:xfrm>
          <a:prstGeom prst="rect">
            <a:avLst/>
          </a:prstGeom>
          <a:noFill/>
          <a:ln/>
        </p:spPr>
        <p:txBody>
          <a:bodyPr wrap="square" lIns="0" tIns="0" rIns="0" bIns="0" rtlCol="0" anchor="t"/>
          <a:lstStyle/>
          <a:p>
            <a:pPr algn="ctr" indent="0" marL="0">
              <a:lnSpc>
                <a:spcPct val="94000"/>
              </a:lnSpc>
              <a:buNone/>
            </a:pPr>
            <a:r>
              <a:rPr lang="en-US" sz="700" dirty="0">
                <a:solidFill>
                  <a:srgbClr val="5F716E"/>
                </a:solidFill>
                <a:latin typeface="Calibri" pitchFamily="34" charset="0"/>
                <a:ea typeface="Calibri" pitchFamily="34" charset="-122"/>
                <a:cs typeface="Calibri" pitchFamily="34" charset="-120"/>
              </a:rPr>
              <a:t>The source pack ranked this table by MoM %, which put Sasta Sundar (+127.8% on a ₹1 lakh base) at the top and a ₹1.42 Cr decline in mid-table. Ranked by rupee change, the month has one story.</a:t>
            </a:r>
            <a:endParaRPr lang="en-US" sz="700" dirty="0"/>
          </a:p>
        </p:txBody>
      </p:sp>
      <p:sp>
        <p:nvSpPr>
          <p:cNvPr id="23" name="Shape 21"/>
          <p:cNvSpPr/>
          <p:nvPr/>
        </p:nvSpPr>
        <p:spPr>
          <a:xfrm>
            <a:off x="265176" y="2468880"/>
            <a:ext cx="6327648" cy="256032"/>
          </a:xfrm>
          <a:prstGeom prst="rect">
            <a:avLst/>
          </a:prstGeom>
          <a:solidFill>
            <a:srgbClr val="D6544D"/>
          </a:solidFill>
          <a:ln/>
        </p:spPr>
      </p:sp>
      <p:sp>
        <p:nvSpPr>
          <p:cNvPr id="24" name="Text 22"/>
          <p:cNvSpPr/>
          <p:nvPr/>
        </p:nvSpPr>
        <p:spPr>
          <a:xfrm>
            <a:off x="374904" y="248716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MATERIAL CHAINS — ₹0.25 Cr FLOOR, RANKED BY RUPEE CHANGE</a:t>
            </a:r>
            <a:endParaRPr lang="en-US" sz="720" dirty="0"/>
          </a:p>
        </p:txBody>
      </p:sp>
      <p:sp>
        <p:nvSpPr>
          <p:cNvPr id="25" name="Shape 23"/>
          <p:cNvSpPr/>
          <p:nvPr/>
        </p:nvSpPr>
        <p:spPr>
          <a:xfrm>
            <a:off x="265176" y="2816352"/>
            <a:ext cx="6327648" cy="256032"/>
          </a:xfrm>
          <a:prstGeom prst="rect">
            <a:avLst/>
          </a:prstGeom>
          <a:solidFill>
            <a:srgbClr val="116F68"/>
          </a:solidFill>
          <a:ln/>
        </p:spPr>
      </p:sp>
      <p:sp>
        <p:nvSpPr>
          <p:cNvPr id="26" name="Text 24"/>
          <p:cNvSpPr/>
          <p:nvPr/>
        </p:nvSpPr>
        <p:spPr>
          <a:xfrm>
            <a:off x="320040" y="2834640"/>
            <a:ext cx="1444752"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27" name="Text 25"/>
          <p:cNvSpPr/>
          <p:nvPr/>
        </p:nvSpPr>
        <p:spPr>
          <a:xfrm>
            <a:off x="18745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JUN</a:t>
            </a:r>
            <a:endParaRPr lang="en-US" sz="660" dirty="0"/>
          </a:p>
        </p:txBody>
      </p:sp>
      <p:sp>
        <p:nvSpPr>
          <p:cNvPr id="28" name="Text 26"/>
          <p:cNvSpPr/>
          <p:nvPr/>
        </p:nvSpPr>
        <p:spPr>
          <a:xfrm>
            <a:off x="2788920" y="2834640"/>
            <a:ext cx="80467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a:t>
            </a:r>
            <a:endParaRPr lang="en-US" sz="660" dirty="0"/>
          </a:p>
        </p:txBody>
      </p:sp>
      <p:sp>
        <p:nvSpPr>
          <p:cNvPr id="29" name="Text 27"/>
          <p:cNvSpPr/>
          <p:nvPr/>
        </p:nvSpPr>
        <p:spPr>
          <a:xfrm>
            <a:off x="3703320" y="2834640"/>
            <a:ext cx="89611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CHANGE</a:t>
            </a:r>
            <a:endParaRPr lang="en-US" sz="660" dirty="0"/>
          </a:p>
        </p:txBody>
      </p:sp>
      <p:sp>
        <p:nvSpPr>
          <p:cNvPr id="30" name="Text 28"/>
          <p:cNvSpPr/>
          <p:nvPr/>
        </p:nvSpPr>
        <p:spPr>
          <a:xfrm>
            <a:off x="4709160" y="2834640"/>
            <a:ext cx="71323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MoM %</a:t>
            </a:r>
            <a:endParaRPr lang="en-US" sz="660" dirty="0"/>
          </a:p>
        </p:txBody>
      </p:sp>
      <p:sp>
        <p:nvSpPr>
          <p:cNvPr id="31" name="Text 29"/>
          <p:cNvSpPr/>
          <p:nvPr/>
        </p:nvSpPr>
        <p:spPr>
          <a:xfrm>
            <a:off x="5532120" y="2834640"/>
            <a:ext cx="100584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CALL</a:t>
            </a:r>
            <a:endParaRPr lang="en-US" sz="660" dirty="0"/>
          </a:p>
        </p:txBody>
      </p:sp>
      <p:sp>
        <p:nvSpPr>
          <p:cNvPr id="32" name="Shape 30"/>
          <p:cNvSpPr/>
          <p:nvPr/>
        </p:nvSpPr>
        <p:spPr>
          <a:xfrm>
            <a:off x="265176" y="3072384"/>
            <a:ext cx="6327648" cy="365760"/>
          </a:xfrm>
          <a:prstGeom prst="rect">
            <a:avLst/>
          </a:prstGeom>
          <a:solidFill>
            <a:srgbClr val="F4F9F8"/>
          </a:solidFill>
          <a:ln/>
        </p:spPr>
      </p:sp>
      <p:sp>
        <p:nvSpPr>
          <p:cNvPr id="33" name="Shape 31"/>
          <p:cNvSpPr/>
          <p:nvPr/>
        </p:nvSpPr>
        <p:spPr>
          <a:xfrm>
            <a:off x="265176" y="3438144"/>
            <a:ext cx="6327648" cy="0"/>
          </a:xfrm>
          <a:prstGeom prst="line">
            <a:avLst/>
          </a:prstGeom>
          <a:noFill/>
          <a:ln w="6350">
            <a:solidFill>
              <a:srgbClr val="C8DCD7"/>
            </a:solidFill>
            <a:prstDash val="solid"/>
          </a:ln>
        </p:spPr>
      </p:sp>
      <p:sp>
        <p:nvSpPr>
          <p:cNvPr id="34" name="Text 32"/>
          <p:cNvSpPr/>
          <p:nvPr/>
        </p:nvSpPr>
        <p:spPr>
          <a:xfrm>
            <a:off x="320040" y="307238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Reliance</a:t>
            </a:r>
            <a:endParaRPr lang="en-US" sz="760" dirty="0"/>
          </a:p>
        </p:txBody>
      </p:sp>
      <p:sp>
        <p:nvSpPr>
          <p:cNvPr id="35" name="Text 33"/>
          <p:cNvSpPr/>
          <p:nvPr/>
        </p:nvSpPr>
        <p:spPr>
          <a:xfrm>
            <a:off x="18745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₹9.48 Cr</a:t>
            </a:r>
            <a:endParaRPr lang="en-US" sz="760" dirty="0"/>
          </a:p>
        </p:txBody>
      </p:sp>
      <p:sp>
        <p:nvSpPr>
          <p:cNvPr id="36" name="Text 34"/>
          <p:cNvSpPr/>
          <p:nvPr/>
        </p:nvSpPr>
        <p:spPr>
          <a:xfrm>
            <a:off x="2788920" y="307238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₹8.06 Cr</a:t>
            </a:r>
            <a:endParaRPr lang="en-US" sz="760" dirty="0"/>
          </a:p>
        </p:txBody>
      </p:sp>
      <p:sp>
        <p:nvSpPr>
          <p:cNvPr id="37" name="Text 35"/>
          <p:cNvSpPr/>
          <p:nvPr/>
        </p:nvSpPr>
        <p:spPr>
          <a:xfrm>
            <a:off x="3703320" y="3072384"/>
            <a:ext cx="896112" cy="365760"/>
          </a:xfrm>
          <a:prstGeom prst="rect">
            <a:avLst/>
          </a:prstGeom>
          <a:noFill/>
          <a:ln/>
        </p:spPr>
        <p:txBody>
          <a:bodyPr wrap="square" lIns="0" tIns="0" rIns="0" bIns="0" rtlCol="0" anchor="ctr"/>
          <a:lstStyle/>
          <a:p>
            <a:pPr algn="r" indent="0" marL="0">
              <a:buNone/>
            </a:pPr>
            <a:r>
              <a:rPr lang="en-US" sz="760" b="1" dirty="0">
                <a:solidFill>
                  <a:srgbClr val="D6544D"/>
                </a:solidFill>
                <a:latin typeface="Calibri" pitchFamily="34" charset="0"/>
                <a:ea typeface="Calibri" pitchFamily="34" charset="-122"/>
                <a:cs typeface="Calibri" pitchFamily="34" charset="-120"/>
              </a:rPr>
              <a:t>−1.42</a:t>
            </a:r>
            <a:endParaRPr lang="en-US" sz="760" dirty="0"/>
          </a:p>
        </p:txBody>
      </p:sp>
      <p:sp>
        <p:nvSpPr>
          <p:cNvPr id="38" name="Text 36"/>
          <p:cNvSpPr/>
          <p:nvPr/>
        </p:nvSpPr>
        <p:spPr>
          <a:xfrm>
            <a:off x="4709160" y="3072384"/>
            <a:ext cx="713232" cy="365760"/>
          </a:xfrm>
          <a:prstGeom prst="rect">
            <a:avLst/>
          </a:prstGeom>
          <a:noFill/>
          <a:ln/>
        </p:spPr>
        <p:txBody>
          <a:bodyPr wrap="square" lIns="0" tIns="0" rIns="0" bIns="0" rtlCol="0" anchor="ctr"/>
          <a:lstStyle/>
          <a:p>
            <a:pPr algn="r" indent="0" marL="0">
              <a:buNone/>
            </a:pPr>
            <a:r>
              <a:rPr lang="en-US" sz="760" dirty="0">
                <a:solidFill>
                  <a:srgbClr val="D6544D"/>
                </a:solidFill>
                <a:latin typeface="Calibri" pitchFamily="34" charset="0"/>
                <a:ea typeface="Calibri" pitchFamily="34" charset="-122"/>
                <a:cs typeface="Calibri" pitchFamily="34" charset="-120"/>
              </a:rPr>
              <a:t>−15.0%</a:t>
            </a:r>
            <a:endParaRPr lang="en-US" sz="760" dirty="0"/>
          </a:p>
        </p:txBody>
      </p:sp>
      <p:sp>
        <p:nvSpPr>
          <p:cNvPr id="39" name="Text 37"/>
          <p:cNvSpPr/>
          <p:nvPr/>
        </p:nvSpPr>
        <p:spPr>
          <a:xfrm>
            <a:off x="5532120" y="3072384"/>
            <a:ext cx="1005840" cy="365760"/>
          </a:xfrm>
          <a:prstGeom prst="rect">
            <a:avLst/>
          </a:prstGeom>
          <a:noFill/>
          <a:ln/>
        </p:spPr>
        <p:txBody>
          <a:bodyPr wrap="square" lIns="0" tIns="0" rIns="0" bIns="0" rtlCol="0" anchor="ctr"/>
          <a:lstStyle/>
          <a:p>
            <a:pPr algn="l" indent="0" marL="0">
              <a:buNone/>
            </a:pPr>
            <a:r>
              <a:rPr lang="en-US" sz="760" b="1" dirty="0">
                <a:solidFill>
                  <a:srgbClr val="D6544D"/>
                </a:solidFill>
                <a:latin typeface="Calibri" pitchFamily="34" charset="0"/>
                <a:ea typeface="Calibri" pitchFamily="34" charset="-122"/>
                <a:cs typeface="Calibri" pitchFamily="34" charset="-120"/>
              </a:rPr>
              <a:t>RECOVER — lead case</a:t>
            </a:r>
            <a:endParaRPr lang="en-US" sz="760" dirty="0"/>
          </a:p>
        </p:txBody>
      </p:sp>
      <p:sp>
        <p:nvSpPr>
          <p:cNvPr id="40" name="Shape 38"/>
          <p:cNvSpPr/>
          <p:nvPr/>
        </p:nvSpPr>
        <p:spPr>
          <a:xfrm>
            <a:off x="265176" y="3803904"/>
            <a:ext cx="6327648" cy="0"/>
          </a:xfrm>
          <a:prstGeom prst="line">
            <a:avLst/>
          </a:prstGeom>
          <a:noFill/>
          <a:ln w="6350">
            <a:solidFill>
              <a:srgbClr val="C8DCD7"/>
            </a:solidFill>
            <a:prstDash val="solid"/>
          </a:ln>
        </p:spPr>
      </p:sp>
      <p:sp>
        <p:nvSpPr>
          <p:cNvPr id="41" name="Text 39"/>
          <p:cNvSpPr/>
          <p:nvPr/>
        </p:nvSpPr>
        <p:spPr>
          <a:xfrm>
            <a:off x="320040" y="343814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Lulu</a:t>
            </a:r>
            <a:endParaRPr lang="en-US" sz="760" dirty="0"/>
          </a:p>
        </p:txBody>
      </p:sp>
      <p:sp>
        <p:nvSpPr>
          <p:cNvPr id="42" name="Text 40"/>
          <p:cNvSpPr/>
          <p:nvPr/>
        </p:nvSpPr>
        <p:spPr>
          <a:xfrm>
            <a:off x="18745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₹1.16 Cr</a:t>
            </a:r>
            <a:endParaRPr lang="en-US" sz="760" dirty="0"/>
          </a:p>
        </p:txBody>
      </p:sp>
      <p:sp>
        <p:nvSpPr>
          <p:cNvPr id="43" name="Text 41"/>
          <p:cNvSpPr/>
          <p:nvPr/>
        </p:nvSpPr>
        <p:spPr>
          <a:xfrm>
            <a:off x="2788920" y="343814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₹1.70 Cr</a:t>
            </a:r>
            <a:endParaRPr lang="en-US" sz="760" dirty="0"/>
          </a:p>
        </p:txBody>
      </p:sp>
      <p:sp>
        <p:nvSpPr>
          <p:cNvPr id="44" name="Text 42"/>
          <p:cNvSpPr/>
          <p:nvPr/>
        </p:nvSpPr>
        <p:spPr>
          <a:xfrm>
            <a:off x="3703320" y="3438144"/>
            <a:ext cx="896112" cy="365760"/>
          </a:xfrm>
          <a:prstGeom prst="rect">
            <a:avLst/>
          </a:prstGeom>
          <a:noFill/>
          <a:ln/>
        </p:spPr>
        <p:txBody>
          <a:bodyPr wrap="square" lIns="0" tIns="0" rIns="0" bIns="0" rtlCol="0" anchor="ctr"/>
          <a:lstStyle/>
          <a:p>
            <a:pPr algn="r" indent="0" marL="0">
              <a:buNone/>
            </a:pPr>
            <a:r>
              <a:rPr lang="en-US" sz="760" b="1" dirty="0">
                <a:solidFill>
                  <a:srgbClr val="F2B84B"/>
                </a:solidFill>
                <a:latin typeface="Calibri" pitchFamily="34" charset="0"/>
                <a:ea typeface="Calibri" pitchFamily="34" charset="-122"/>
                <a:cs typeface="Calibri" pitchFamily="34" charset="-120"/>
              </a:rPr>
              <a:t>+0.54</a:t>
            </a:r>
            <a:endParaRPr lang="en-US" sz="760" dirty="0"/>
          </a:p>
        </p:txBody>
      </p:sp>
      <p:sp>
        <p:nvSpPr>
          <p:cNvPr id="45" name="Text 43"/>
          <p:cNvSpPr/>
          <p:nvPr/>
        </p:nvSpPr>
        <p:spPr>
          <a:xfrm>
            <a:off x="4709160" y="3438144"/>
            <a:ext cx="713232" cy="365760"/>
          </a:xfrm>
          <a:prstGeom prst="rect">
            <a:avLst/>
          </a:prstGeom>
          <a:noFill/>
          <a:ln/>
        </p:spPr>
        <p:txBody>
          <a:bodyPr wrap="square" lIns="0" tIns="0" rIns="0" bIns="0" rtlCol="0" anchor="ctr"/>
          <a:lstStyle/>
          <a:p>
            <a:pPr algn="r" indent="0" marL="0">
              <a:buNone/>
            </a:pPr>
            <a:r>
              <a:rPr lang="en-US" sz="760" dirty="0">
                <a:solidFill>
                  <a:srgbClr val="F2B84B"/>
                </a:solidFill>
                <a:latin typeface="Calibri" pitchFamily="34" charset="0"/>
                <a:ea typeface="Calibri" pitchFamily="34" charset="-122"/>
                <a:cs typeface="Calibri" pitchFamily="34" charset="-120"/>
              </a:rPr>
              <a:t>+46.5%</a:t>
            </a:r>
            <a:endParaRPr lang="en-US" sz="760" dirty="0"/>
          </a:p>
        </p:txBody>
      </p:sp>
      <p:sp>
        <p:nvSpPr>
          <p:cNvPr id="46" name="Text 44"/>
          <p:cNvSpPr/>
          <p:nvPr/>
        </p:nvSpPr>
        <p:spPr>
          <a:xfrm>
            <a:off x="5532120" y="3438144"/>
            <a:ext cx="1005840" cy="365760"/>
          </a:xfrm>
          <a:prstGeom prst="rect">
            <a:avLst/>
          </a:prstGeom>
          <a:noFill/>
          <a:ln/>
        </p:spPr>
        <p:txBody>
          <a:bodyPr wrap="square" lIns="0" tIns="0" rIns="0" bIns="0" rtlCol="0" anchor="ctr"/>
          <a:lstStyle/>
          <a:p>
            <a:pPr algn="l" indent="0" marL="0">
              <a:buNone/>
            </a:pPr>
            <a:r>
              <a:rPr lang="en-US" sz="760" b="1" dirty="0">
                <a:solidFill>
                  <a:srgbClr val="F2B84B"/>
                </a:solidFill>
                <a:latin typeface="Calibri" pitchFamily="34" charset="0"/>
                <a:ea typeface="Calibri" pitchFamily="34" charset="-122"/>
                <a:cs typeface="Calibri" pitchFamily="34" charset="-120"/>
              </a:rPr>
              <a:t>VERIFY — no mapped primary</a:t>
            </a:r>
            <a:endParaRPr lang="en-US" sz="760" dirty="0"/>
          </a:p>
        </p:txBody>
      </p:sp>
      <p:sp>
        <p:nvSpPr>
          <p:cNvPr id="47" name="Shape 45"/>
          <p:cNvSpPr/>
          <p:nvPr/>
        </p:nvSpPr>
        <p:spPr>
          <a:xfrm>
            <a:off x="265176" y="3803904"/>
            <a:ext cx="6327648" cy="365760"/>
          </a:xfrm>
          <a:prstGeom prst="rect">
            <a:avLst/>
          </a:prstGeom>
          <a:solidFill>
            <a:srgbClr val="F4F9F8"/>
          </a:solidFill>
          <a:ln/>
        </p:spPr>
      </p:sp>
      <p:sp>
        <p:nvSpPr>
          <p:cNvPr id="48" name="Shape 46"/>
          <p:cNvSpPr/>
          <p:nvPr/>
        </p:nvSpPr>
        <p:spPr>
          <a:xfrm>
            <a:off x="265176" y="4169664"/>
            <a:ext cx="6327648" cy="0"/>
          </a:xfrm>
          <a:prstGeom prst="line">
            <a:avLst/>
          </a:prstGeom>
          <a:noFill/>
          <a:ln w="6350">
            <a:solidFill>
              <a:srgbClr val="C8DCD7"/>
            </a:solidFill>
            <a:prstDash val="solid"/>
          </a:ln>
        </p:spPr>
      </p:sp>
      <p:sp>
        <p:nvSpPr>
          <p:cNvPr id="49" name="Text 47"/>
          <p:cNvSpPr/>
          <p:nvPr/>
        </p:nvSpPr>
        <p:spPr>
          <a:xfrm>
            <a:off x="320040" y="3803904"/>
            <a:ext cx="1444752" cy="365760"/>
          </a:xfrm>
          <a:prstGeom prst="rect">
            <a:avLst/>
          </a:prstGeom>
          <a:noFill/>
          <a:ln/>
        </p:spPr>
        <p:txBody>
          <a:bodyPr wrap="square" lIns="0" tIns="0" rIns="0" bIns="0" rtlCol="0" anchor="ctr"/>
          <a:lstStyle/>
          <a:p>
            <a:pPr algn="l" indent="0" marL="0">
              <a:buNone/>
            </a:pPr>
            <a:r>
              <a:rPr lang="en-US" sz="760" b="1" dirty="0">
                <a:solidFill>
                  <a:srgbClr val="183B39"/>
                </a:solidFill>
                <a:latin typeface="Calibri" pitchFamily="34" charset="0"/>
                <a:ea typeface="Calibri" pitchFamily="34" charset="-122"/>
                <a:cs typeface="Calibri" pitchFamily="34" charset="-120"/>
              </a:rPr>
              <a:t>DMart</a:t>
            </a:r>
            <a:endParaRPr lang="en-US" sz="760" dirty="0"/>
          </a:p>
        </p:txBody>
      </p:sp>
      <p:sp>
        <p:nvSpPr>
          <p:cNvPr id="50" name="Text 48"/>
          <p:cNvSpPr/>
          <p:nvPr/>
        </p:nvSpPr>
        <p:spPr>
          <a:xfrm>
            <a:off x="18745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₹14.56 Cr</a:t>
            </a:r>
            <a:endParaRPr lang="en-US" sz="760" dirty="0"/>
          </a:p>
        </p:txBody>
      </p:sp>
      <p:sp>
        <p:nvSpPr>
          <p:cNvPr id="51" name="Text 49"/>
          <p:cNvSpPr/>
          <p:nvPr/>
        </p:nvSpPr>
        <p:spPr>
          <a:xfrm>
            <a:off x="2788920" y="3803904"/>
            <a:ext cx="804672" cy="365760"/>
          </a:xfrm>
          <a:prstGeom prst="rect">
            <a:avLst/>
          </a:prstGeom>
          <a:noFill/>
          <a:ln/>
        </p:spPr>
        <p:txBody>
          <a:bodyPr wrap="square" lIns="0" tIns="0" rIns="0" bIns="0" rtlCol="0" anchor="ctr"/>
          <a:lstStyle/>
          <a:p>
            <a:pPr algn="r" indent="0" marL="0">
              <a:buNone/>
            </a:pPr>
            <a:r>
              <a:rPr lang="en-US" sz="760" dirty="0">
                <a:solidFill>
                  <a:srgbClr val="183B39"/>
                </a:solidFill>
                <a:latin typeface="Calibri" pitchFamily="34" charset="0"/>
                <a:ea typeface="Calibri" pitchFamily="34" charset="-122"/>
                <a:cs typeface="Calibri" pitchFamily="34" charset="-120"/>
              </a:rPr>
              <a:t>₹14.33 Cr</a:t>
            </a:r>
            <a:endParaRPr lang="en-US" sz="760" dirty="0"/>
          </a:p>
        </p:txBody>
      </p:sp>
      <p:sp>
        <p:nvSpPr>
          <p:cNvPr id="52" name="Text 50"/>
          <p:cNvSpPr/>
          <p:nvPr/>
        </p:nvSpPr>
        <p:spPr>
          <a:xfrm>
            <a:off x="3703320" y="3803904"/>
            <a:ext cx="89611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−0.23</a:t>
            </a:r>
            <a:endParaRPr lang="en-US" sz="760" dirty="0"/>
          </a:p>
        </p:txBody>
      </p:sp>
      <p:sp>
        <p:nvSpPr>
          <p:cNvPr id="53" name="Text 51"/>
          <p:cNvSpPr/>
          <p:nvPr/>
        </p:nvSpPr>
        <p:spPr>
          <a:xfrm>
            <a:off x="4709160" y="3803904"/>
            <a:ext cx="713232" cy="365760"/>
          </a:xfrm>
          <a:prstGeom prst="rect">
            <a:avLst/>
          </a:prstGeom>
          <a:noFill/>
          <a:ln/>
        </p:spPr>
        <p:txBody>
          <a:bodyPr wrap="square" lIns="0" tIns="0" rIns="0" bIns="0" rtlCol="0" anchor="ctr"/>
          <a:lstStyle/>
          <a:p>
            <a:pPr algn="r" indent="0" marL="0">
              <a:buNone/>
            </a:pPr>
            <a:r>
              <a:rPr lang="en-US" sz="760" dirty="0">
                <a:solidFill>
                  <a:srgbClr val="5F716E"/>
                </a:solidFill>
                <a:latin typeface="Calibri" pitchFamily="34" charset="0"/>
                <a:ea typeface="Calibri" pitchFamily="34" charset="-122"/>
                <a:cs typeface="Calibri" pitchFamily="34" charset="-120"/>
              </a:rPr>
              <a:t>−1.5%</a:t>
            </a:r>
            <a:endParaRPr lang="en-US" sz="760" dirty="0"/>
          </a:p>
        </p:txBody>
      </p:sp>
      <p:sp>
        <p:nvSpPr>
          <p:cNvPr id="54" name="Text 52"/>
          <p:cNvSpPr/>
          <p:nvPr/>
        </p:nvSpPr>
        <p:spPr>
          <a:xfrm>
            <a:off x="5532120" y="3803904"/>
            <a:ext cx="1005840" cy="365760"/>
          </a:xfrm>
          <a:prstGeom prst="rect">
            <a:avLst/>
          </a:prstGeom>
          <a:noFill/>
          <a:ln/>
        </p:spPr>
        <p:txBody>
          <a:bodyPr wrap="square" lIns="0" tIns="0" rIns="0" bIns="0" rtlCol="0" anchor="ctr"/>
          <a:lstStyle/>
          <a:p>
            <a:pPr algn="l" indent="0" marL="0">
              <a:buNone/>
            </a:pPr>
            <a:r>
              <a:rPr lang="en-US" sz="760" dirty="0">
                <a:solidFill>
                  <a:srgbClr val="2B9A66"/>
                </a:solidFill>
                <a:latin typeface="Calibri" pitchFamily="34" charset="0"/>
                <a:ea typeface="Calibri" pitchFamily="34" charset="-122"/>
                <a:cs typeface="Calibri" pitchFamily="34" charset="-120"/>
              </a:rPr>
              <a:t>STABLE — largest account</a:t>
            </a:r>
            <a:endParaRPr lang="en-US" sz="760" dirty="0"/>
          </a:p>
        </p:txBody>
      </p:sp>
      <p:sp>
        <p:nvSpPr>
          <p:cNvPr id="55" name="Shape 53"/>
          <p:cNvSpPr/>
          <p:nvPr/>
        </p:nvSpPr>
        <p:spPr>
          <a:xfrm>
            <a:off x="265176" y="4297680"/>
            <a:ext cx="6327648" cy="402336"/>
          </a:xfrm>
          <a:prstGeom prst="roundRect">
            <a:avLst>
              <a:gd name="adj" fmla="val 4545"/>
            </a:avLst>
          </a:prstGeom>
          <a:solidFill>
            <a:srgbClr val="F4F9F8"/>
          </a:solidFill>
          <a:ln w="9525">
            <a:solidFill>
              <a:srgbClr val="C8DCD7"/>
            </a:solidFill>
            <a:prstDash val="solid"/>
          </a:ln>
        </p:spPr>
      </p:sp>
      <p:sp>
        <p:nvSpPr>
          <p:cNvPr id="56" name="Text 54"/>
          <p:cNvSpPr/>
          <p:nvPr/>
        </p:nvSpPr>
        <p:spPr>
          <a:xfrm>
            <a:off x="374904" y="4343400"/>
            <a:ext cx="6108192" cy="329184"/>
          </a:xfrm>
          <a:prstGeom prst="rect">
            <a:avLst/>
          </a:prstGeom>
          <a:noFill/>
          <a:ln/>
        </p:spPr>
        <p:txBody>
          <a:bodyPr wrap="square" lIns="0" tIns="0" rIns="0" bIns="0" rtlCol="0" anchor="t"/>
          <a:lstStyle/>
          <a:p>
            <a:pPr indent="0" marL="0">
              <a:lnSpc>
                <a:spcPct val="94000"/>
              </a:lnSpc>
              <a:buNone/>
            </a:pPr>
            <a:r>
              <a:rPr lang="en-US" sz="660" b="1" dirty="0">
                <a:solidFill>
                  <a:srgbClr val="5F716E"/>
                </a:solidFill>
                <a:latin typeface="Calibri" pitchFamily="34" charset="0"/>
                <a:ea typeface="Calibri" pitchFamily="34" charset="-122"/>
                <a:cs typeface="Calibri" pitchFamily="34" charset="-120"/>
              </a:rPr>
              <a:t>BELOW THE FLOOR   </a:t>
            </a:r>
            <a:pPr indent="0" marL="0">
              <a:lnSpc>
                <a:spcPct val="94000"/>
              </a:lnSpc>
              <a:buNone/>
            </a:pPr>
            <a:r>
              <a:rPr lang="en-US" sz="680" dirty="0">
                <a:solidFill>
                  <a:srgbClr val="183B39"/>
                </a:solidFill>
                <a:latin typeface="Calibri" pitchFamily="34" charset="0"/>
                <a:ea typeface="Calibri" pitchFamily="34" charset="-122"/>
                <a:cs typeface="Calibri" pitchFamily="34" charset="-120"/>
              </a:rPr>
              <a:t>Ten chains moved less than ₹0.25 Cr and are excluded from ranking: Wellness Forever −0.08, Metro −0.12, Vishal Mega Mart +0.05, More Retail −0.03, Health &amp; Glow −0.01, V-Mart −0.01, Spencer +0.01, Arambagh −0.01, Ratandeep 0.00, Sasta Sundar +0.01, Sumo Save +0.01. Combined they moved −₹0.19 Cr.</a:t>
            </a:r>
            <a:endParaRPr lang="en-US" sz="660" dirty="0"/>
          </a:p>
        </p:txBody>
      </p:sp>
      <p:sp>
        <p:nvSpPr>
          <p:cNvPr id="57" name="Shape 55"/>
          <p:cNvSpPr/>
          <p:nvPr/>
        </p:nvSpPr>
        <p:spPr>
          <a:xfrm>
            <a:off x="265176" y="4846320"/>
            <a:ext cx="2036064" cy="2249424"/>
          </a:xfrm>
          <a:prstGeom prst="roundRect">
            <a:avLst>
              <a:gd name="adj" fmla="val 898"/>
            </a:avLst>
          </a:prstGeom>
          <a:solidFill>
            <a:srgbClr val="FFFFFF"/>
          </a:solidFill>
          <a:ln w="9525">
            <a:solidFill>
              <a:srgbClr val="C8DCD7"/>
            </a:solidFill>
            <a:prstDash val="solid"/>
          </a:ln>
        </p:spPr>
      </p:sp>
      <p:sp>
        <p:nvSpPr>
          <p:cNvPr id="58" name="Shape 56"/>
          <p:cNvSpPr/>
          <p:nvPr/>
        </p:nvSpPr>
        <p:spPr>
          <a:xfrm>
            <a:off x="265176" y="4846320"/>
            <a:ext cx="2036064" cy="274320"/>
          </a:xfrm>
          <a:prstGeom prst="rect">
            <a:avLst/>
          </a:prstGeom>
          <a:solidFill>
            <a:srgbClr val="D6544D"/>
          </a:solidFill>
          <a:ln/>
        </p:spPr>
      </p:sp>
      <p:sp>
        <p:nvSpPr>
          <p:cNvPr id="59" name="Text 57"/>
          <p:cNvSpPr/>
          <p:nvPr/>
        </p:nvSpPr>
        <p:spPr>
          <a:xfrm>
            <a:off x="347472"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DECLINE</a:t>
            </a:r>
            <a:endParaRPr lang="en-US" sz="700" dirty="0"/>
          </a:p>
        </p:txBody>
      </p:sp>
      <p:sp>
        <p:nvSpPr>
          <p:cNvPr id="60" name="Text 58"/>
          <p:cNvSpPr/>
          <p:nvPr/>
        </p:nvSpPr>
        <p:spPr>
          <a:xfrm>
            <a:off x="356616" y="5212080"/>
            <a:ext cx="1853184" cy="347472"/>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−₹1.42 Cr</a:t>
            </a:r>
            <a:endParaRPr lang="en-US" sz="1600" dirty="0"/>
          </a:p>
        </p:txBody>
      </p:sp>
      <p:sp>
        <p:nvSpPr>
          <p:cNvPr id="61" name="Text 59"/>
          <p:cNvSpPr/>
          <p:nvPr/>
        </p:nvSpPr>
        <p:spPr>
          <a:xfrm>
            <a:off x="356616"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Reliance, June → July</a:t>
            </a:r>
            <a:endParaRPr lang="en-US" sz="680" dirty="0"/>
          </a:p>
        </p:txBody>
      </p:sp>
      <p:sp>
        <p:nvSpPr>
          <p:cNvPr id="62" name="Shape 60"/>
          <p:cNvSpPr/>
          <p:nvPr/>
        </p:nvSpPr>
        <p:spPr>
          <a:xfrm>
            <a:off x="374904" y="5865876"/>
            <a:ext cx="50292" cy="50292"/>
          </a:xfrm>
          <a:prstGeom prst="ellipse">
            <a:avLst/>
          </a:prstGeom>
          <a:solidFill>
            <a:srgbClr val="D6544D"/>
          </a:solidFill>
          <a:ln/>
        </p:spPr>
      </p:sp>
      <p:sp>
        <p:nvSpPr>
          <p:cNvPr id="63" name="Text 61"/>
          <p:cNvSpPr/>
          <p:nvPr/>
        </p:nvSpPr>
        <p:spPr>
          <a:xfrm>
            <a:off x="493776"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Shampoo and Sun Care carry most of the fall.</a:t>
            </a:r>
            <a:endParaRPr lang="en-US" sz="700" dirty="0"/>
          </a:p>
        </p:txBody>
      </p:sp>
      <p:sp>
        <p:nvSpPr>
          <p:cNvPr id="64" name="Shape 62"/>
          <p:cNvSpPr/>
          <p:nvPr/>
        </p:nvSpPr>
        <p:spPr>
          <a:xfrm>
            <a:off x="374904" y="6268212"/>
            <a:ext cx="50292" cy="50292"/>
          </a:xfrm>
          <a:prstGeom prst="ellipse">
            <a:avLst/>
          </a:prstGeom>
          <a:solidFill>
            <a:srgbClr val="D6544D"/>
          </a:solidFill>
          <a:ln/>
        </p:spPr>
      </p:sp>
      <p:sp>
        <p:nvSpPr>
          <p:cNvPr id="65" name="Text 63"/>
          <p:cNvSpPr/>
          <p:nvPr/>
        </p:nvSpPr>
        <p:spPr>
          <a:xfrm>
            <a:off x="493776"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Reliance converts 51.4% nationally — 44.9% in North, 52.9% in East.</a:t>
            </a:r>
            <a:endParaRPr lang="en-US" sz="700" dirty="0"/>
          </a:p>
        </p:txBody>
      </p:sp>
      <p:sp>
        <p:nvSpPr>
          <p:cNvPr id="66" name="Shape 64"/>
          <p:cNvSpPr/>
          <p:nvPr/>
        </p:nvSpPr>
        <p:spPr>
          <a:xfrm>
            <a:off x="374904" y="6670548"/>
            <a:ext cx="50292" cy="50292"/>
          </a:xfrm>
          <a:prstGeom prst="ellipse">
            <a:avLst/>
          </a:prstGeom>
          <a:solidFill>
            <a:srgbClr val="D6544D"/>
          </a:solidFill>
          <a:ln/>
        </p:spPr>
      </p:sp>
      <p:sp>
        <p:nvSpPr>
          <p:cNvPr id="67" name="Text 65"/>
          <p:cNvSpPr/>
          <p:nvPr/>
        </p:nvSpPr>
        <p:spPr>
          <a:xfrm>
            <a:off x="493776"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account is the pattern; the zones are where it shows.</a:t>
            </a:r>
            <a:endParaRPr lang="en-US" sz="700" dirty="0"/>
          </a:p>
        </p:txBody>
      </p:sp>
      <p:sp>
        <p:nvSpPr>
          <p:cNvPr id="68" name="Shape 66"/>
          <p:cNvSpPr/>
          <p:nvPr/>
        </p:nvSpPr>
        <p:spPr>
          <a:xfrm>
            <a:off x="2410968" y="4846320"/>
            <a:ext cx="2036064" cy="2249424"/>
          </a:xfrm>
          <a:prstGeom prst="roundRect">
            <a:avLst>
              <a:gd name="adj" fmla="val 898"/>
            </a:avLst>
          </a:prstGeom>
          <a:solidFill>
            <a:srgbClr val="FFFFFF"/>
          </a:solidFill>
          <a:ln w="9525">
            <a:solidFill>
              <a:srgbClr val="C8DCD7"/>
            </a:solidFill>
            <a:prstDash val="solid"/>
          </a:ln>
        </p:spPr>
      </p:sp>
      <p:sp>
        <p:nvSpPr>
          <p:cNvPr id="69" name="Shape 67"/>
          <p:cNvSpPr/>
          <p:nvPr/>
        </p:nvSpPr>
        <p:spPr>
          <a:xfrm>
            <a:off x="2410968" y="4846320"/>
            <a:ext cx="2036064" cy="274320"/>
          </a:xfrm>
          <a:prstGeom prst="rect">
            <a:avLst/>
          </a:prstGeom>
          <a:solidFill>
            <a:srgbClr val="F2B84B"/>
          </a:solidFill>
          <a:ln/>
        </p:spPr>
      </p:sp>
      <p:sp>
        <p:nvSpPr>
          <p:cNvPr id="70" name="Text 68"/>
          <p:cNvSpPr/>
          <p:nvPr/>
        </p:nvSpPr>
        <p:spPr>
          <a:xfrm>
            <a:off x="2493264"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UNVERIFIED GROWTH</a:t>
            </a:r>
            <a:endParaRPr lang="en-US" sz="700" dirty="0"/>
          </a:p>
        </p:txBody>
      </p:sp>
      <p:sp>
        <p:nvSpPr>
          <p:cNvPr id="71" name="Text 69"/>
          <p:cNvSpPr/>
          <p:nvPr/>
        </p:nvSpPr>
        <p:spPr>
          <a:xfrm>
            <a:off x="2502408" y="5212080"/>
            <a:ext cx="1853184" cy="347472"/>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+₹0.54 Cr</a:t>
            </a:r>
            <a:endParaRPr lang="en-US" sz="1600" dirty="0"/>
          </a:p>
        </p:txBody>
      </p:sp>
      <p:sp>
        <p:nvSpPr>
          <p:cNvPr id="72" name="Text 70"/>
          <p:cNvSpPr/>
          <p:nvPr/>
        </p:nvSpPr>
        <p:spPr>
          <a:xfrm>
            <a:off x="2502408"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Lulu, on ₹0 mapped primary</a:t>
            </a:r>
            <a:endParaRPr lang="en-US" sz="680" dirty="0"/>
          </a:p>
        </p:txBody>
      </p:sp>
      <p:sp>
        <p:nvSpPr>
          <p:cNvPr id="73" name="Shape 71"/>
          <p:cNvSpPr/>
          <p:nvPr/>
        </p:nvSpPr>
        <p:spPr>
          <a:xfrm>
            <a:off x="2520696" y="5865876"/>
            <a:ext cx="50292" cy="50292"/>
          </a:xfrm>
          <a:prstGeom prst="ellipse">
            <a:avLst/>
          </a:prstGeom>
          <a:solidFill>
            <a:srgbClr val="F2B84B"/>
          </a:solidFill>
          <a:ln/>
        </p:spPr>
      </p:sp>
      <p:sp>
        <p:nvSpPr>
          <p:cNvPr id="74" name="Text 72"/>
          <p:cNvSpPr/>
          <p:nvPr/>
        </p:nvSpPr>
        <p:spPr>
          <a:xfrm>
            <a:off x="2639568"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Ranked "Scale" in the source pack on a +46.5% MoM read.</a:t>
            </a:r>
            <a:endParaRPr lang="en-US" sz="700" dirty="0"/>
          </a:p>
        </p:txBody>
      </p:sp>
      <p:sp>
        <p:nvSpPr>
          <p:cNvPr id="75" name="Shape 73"/>
          <p:cNvSpPr/>
          <p:nvPr/>
        </p:nvSpPr>
        <p:spPr>
          <a:xfrm>
            <a:off x="2520696" y="6268212"/>
            <a:ext cx="50292" cy="50292"/>
          </a:xfrm>
          <a:prstGeom prst="ellipse">
            <a:avLst/>
          </a:prstGeom>
          <a:solidFill>
            <a:srgbClr val="F2B84B"/>
          </a:solidFill>
          <a:ln/>
        </p:spPr>
      </p:sp>
      <p:sp>
        <p:nvSpPr>
          <p:cNvPr id="76" name="Text 74"/>
          <p:cNvSpPr/>
          <p:nvPr/>
        </p:nvSpPr>
        <p:spPr>
          <a:xfrm>
            <a:off x="2639568"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primary is joined to this account, so flow cannot be tested.</a:t>
            </a:r>
            <a:endParaRPr lang="en-US" sz="700" dirty="0"/>
          </a:p>
        </p:txBody>
      </p:sp>
      <p:sp>
        <p:nvSpPr>
          <p:cNvPr id="77" name="Shape 75"/>
          <p:cNvSpPr/>
          <p:nvPr/>
        </p:nvSpPr>
        <p:spPr>
          <a:xfrm>
            <a:off x="2520696" y="6670548"/>
            <a:ext cx="50292" cy="50292"/>
          </a:xfrm>
          <a:prstGeom prst="ellipse">
            <a:avLst/>
          </a:prstGeom>
          <a:solidFill>
            <a:srgbClr val="F2B84B"/>
          </a:solidFill>
          <a:ln/>
        </p:spPr>
      </p:sp>
      <p:sp>
        <p:nvSpPr>
          <p:cNvPr id="78" name="Text 76"/>
          <p:cNvSpPr/>
          <p:nvPr/>
        </p:nvSpPr>
        <p:spPr>
          <a:xfrm>
            <a:off x="2639568"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Hold the recommendation until the billing route is mapped.</a:t>
            </a:r>
            <a:endParaRPr lang="en-US" sz="700" dirty="0"/>
          </a:p>
        </p:txBody>
      </p:sp>
      <p:sp>
        <p:nvSpPr>
          <p:cNvPr id="79" name="Shape 77"/>
          <p:cNvSpPr/>
          <p:nvPr/>
        </p:nvSpPr>
        <p:spPr>
          <a:xfrm>
            <a:off x="4556760" y="4846320"/>
            <a:ext cx="2036064" cy="2249424"/>
          </a:xfrm>
          <a:prstGeom prst="roundRect">
            <a:avLst>
              <a:gd name="adj" fmla="val 898"/>
            </a:avLst>
          </a:prstGeom>
          <a:solidFill>
            <a:srgbClr val="FFFFFF"/>
          </a:solidFill>
          <a:ln w="9525">
            <a:solidFill>
              <a:srgbClr val="C8DCD7"/>
            </a:solidFill>
            <a:prstDash val="solid"/>
          </a:ln>
        </p:spPr>
      </p:sp>
      <p:sp>
        <p:nvSpPr>
          <p:cNvPr id="80" name="Shape 78"/>
          <p:cNvSpPr/>
          <p:nvPr/>
        </p:nvSpPr>
        <p:spPr>
          <a:xfrm>
            <a:off x="4556760" y="4846320"/>
            <a:ext cx="2036064" cy="274320"/>
          </a:xfrm>
          <a:prstGeom prst="rect">
            <a:avLst/>
          </a:prstGeom>
          <a:solidFill>
            <a:srgbClr val="2B9A66"/>
          </a:solidFill>
          <a:ln/>
        </p:spPr>
      </p:sp>
      <p:sp>
        <p:nvSpPr>
          <p:cNvPr id="81" name="Text 79"/>
          <p:cNvSpPr/>
          <p:nvPr/>
        </p:nvSpPr>
        <p:spPr>
          <a:xfrm>
            <a:off x="4639056" y="4864608"/>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 OF THE BOOK</a:t>
            </a:r>
            <a:endParaRPr lang="en-US" sz="700" dirty="0"/>
          </a:p>
        </p:txBody>
      </p:sp>
      <p:sp>
        <p:nvSpPr>
          <p:cNvPr id="82" name="Text 80"/>
          <p:cNvSpPr/>
          <p:nvPr/>
        </p:nvSpPr>
        <p:spPr>
          <a:xfrm>
            <a:off x="4648200" y="5212080"/>
            <a:ext cx="1853184" cy="347472"/>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+₹0.13 Cr</a:t>
            </a:r>
            <a:endParaRPr lang="en-US" sz="1600" dirty="0"/>
          </a:p>
        </p:txBody>
      </p:sp>
      <p:sp>
        <p:nvSpPr>
          <p:cNvPr id="83" name="Text 81"/>
          <p:cNvSpPr/>
          <p:nvPr/>
        </p:nvSpPr>
        <p:spPr>
          <a:xfrm>
            <a:off x="4648200" y="5577840"/>
            <a:ext cx="18531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all chains except Reliance</a:t>
            </a:r>
            <a:endParaRPr lang="en-US" sz="680" dirty="0"/>
          </a:p>
        </p:txBody>
      </p:sp>
      <p:sp>
        <p:nvSpPr>
          <p:cNvPr id="84" name="Shape 82"/>
          <p:cNvSpPr/>
          <p:nvPr/>
        </p:nvSpPr>
        <p:spPr>
          <a:xfrm>
            <a:off x="4666488" y="5865876"/>
            <a:ext cx="50292" cy="50292"/>
          </a:xfrm>
          <a:prstGeom prst="ellipse">
            <a:avLst/>
          </a:prstGeom>
          <a:solidFill>
            <a:srgbClr val="2B9A66"/>
          </a:solidFill>
          <a:ln/>
        </p:spPr>
      </p:sp>
      <p:sp>
        <p:nvSpPr>
          <p:cNvPr id="85" name="Text 83"/>
          <p:cNvSpPr/>
          <p:nvPr/>
        </p:nvSpPr>
        <p:spPr>
          <a:xfrm>
            <a:off x="4785360" y="5815584"/>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DMart −₹0.23 Cr on a ₹14.33 Cr base is normal variation.</a:t>
            </a:r>
            <a:endParaRPr lang="en-US" sz="700" dirty="0"/>
          </a:p>
        </p:txBody>
      </p:sp>
      <p:sp>
        <p:nvSpPr>
          <p:cNvPr id="86" name="Shape 84"/>
          <p:cNvSpPr/>
          <p:nvPr/>
        </p:nvSpPr>
        <p:spPr>
          <a:xfrm>
            <a:off x="4666488" y="6268212"/>
            <a:ext cx="50292" cy="50292"/>
          </a:xfrm>
          <a:prstGeom prst="ellipse">
            <a:avLst/>
          </a:prstGeom>
          <a:solidFill>
            <a:srgbClr val="2B9A66"/>
          </a:solidFill>
          <a:ln/>
        </p:spPr>
      </p:sp>
      <p:sp>
        <p:nvSpPr>
          <p:cNvPr id="87" name="Text 85"/>
          <p:cNvSpPr/>
          <p:nvPr/>
        </p:nvSpPr>
        <p:spPr>
          <a:xfrm>
            <a:off x="4785360" y="6217920"/>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No second account shows a material decline.</a:t>
            </a:r>
            <a:endParaRPr lang="en-US" sz="700" dirty="0"/>
          </a:p>
        </p:txBody>
      </p:sp>
      <p:sp>
        <p:nvSpPr>
          <p:cNvPr id="88" name="Shape 86"/>
          <p:cNvSpPr/>
          <p:nvPr/>
        </p:nvSpPr>
        <p:spPr>
          <a:xfrm>
            <a:off x="4666488" y="6670548"/>
            <a:ext cx="50292" cy="50292"/>
          </a:xfrm>
          <a:prstGeom prst="ellipse">
            <a:avLst/>
          </a:prstGeom>
          <a:solidFill>
            <a:srgbClr val="2B9A66"/>
          </a:solidFill>
          <a:ln/>
        </p:spPr>
      </p:sp>
      <p:sp>
        <p:nvSpPr>
          <p:cNvPr id="89" name="Text 87"/>
          <p:cNvSpPr/>
          <p:nvPr/>
        </p:nvSpPr>
        <p:spPr>
          <a:xfrm>
            <a:off x="4785360" y="6620256"/>
            <a:ext cx="1697736" cy="384048"/>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Do not launch a broad recovery programme for a single-account month.</a:t>
            </a:r>
            <a:endParaRPr lang="en-US" sz="700" dirty="0"/>
          </a:p>
        </p:txBody>
      </p:sp>
      <p:sp>
        <p:nvSpPr>
          <p:cNvPr id="90" name="Shape 88"/>
          <p:cNvSpPr/>
          <p:nvPr/>
        </p:nvSpPr>
        <p:spPr>
          <a:xfrm>
            <a:off x="265176" y="7242048"/>
            <a:ext cx="6327648" cy="256032"/>
          </a:xfrm>
          <a:prstGeom prst="rect">
            <a:avLst/>
          </a:prstGeom>
          <a:solidFill>
            <a:srgbClr val="116F68"/>
          </a:solidFill>
          <a:ln/>
        </p:spPr>
      </p:sp>
      <p:sp>
        <p:nvSpPr>
          <p:cNvPr id="91" name="Text 89"/>
          <p:cNvSpPr/>
          <p:nvPr/>
        </p:nvSpPr>
        <p:spPr>
          <a:xfrm>
            <a:off x="374904" y="726033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LEADERSHIP READOUT</a:t>
            </a:r>
            <a:endParaRPr lang="en-US" sz="720" dirty="0"/>
          </a:p>
        </p:txBody>
      </p:sp>
      <p:sp>
        <p:nvSpPr>
          <p:cNvPr id="92" name="Shape 90"/>
          <p:cNvSpPr/>
          <p:nvPr/>
        </p:nvSpPr>
        <p:spPr>
          <a:xfrm>
            <a:off x="356616" y="7658100"/>
            <a:ext cx="50292" cy="50292"/>
          </a:xfrm>
          <a:prstGeom prst="ellipse">
            <a:avLst/>
          </a:prstGeom>
          <a:solidFill>
            <a:srgbClr val="28A596"/>
          </a:solidFill>
          <a:ln/>
        </p:spPr>
      </p:sp>
      <p:sp>
        <p:nvSpPr>
          <p:cNvPr id="93" name="Text 91"/>
          <p:cNvSpPr/>
          <p:nvPr/>
        </p:nvSpPr>
        <p:spPr>
          <a:xfrm>
            <a:off x="475488" y="7607808"/>
            <a:ext cx="6025896" cy="384048"/>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One account explains the month. Run a Reliance recovery loop, not a Modern Trade recovery programme.</a:t>
            </a:r>
            <a:endParaRPr lang="en-US" sz="740" dirty="0"/>
          </a:p>
        </p:txBody>
      </p:sp>
      <p:sp>
        <p:nvSpPr>
          <p:cNvPr id="94" name="Shape 92"/>
          <p:cNvSpPr/>
          <p:nvPr/>
        </p:nvSpPr>
        <p:spPr>
          <a:xfrm>
            <a:off x="356616" y="8060436"/>
            <a:ext cx="50292" cy="50292"/>
          </a:xfrm>
          <a:prstGeom prst="ellipse">
            <a:avLst/>
          </a:prstGeom>
          <a:solidFill>
            <a:srgbClr val="28A596"/>
          </a:solidFill>
          <a:ln/>
        </p:spPr>
      </p:sp>
      <p:sp>
        <p:nvSpPr>
          <p:cNvPr id="95" name="Text 93"/>
          <p:cNvSpPr/>
          <p:nvPr/>
        </p:nvSpPr>
        <p:spPr>
          <a:xfrm>
            <a:off x="475488" y="8010144"/>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comparable set covers ₹26.90 Cr of ₹33.96 Cr national MT offtake — 79.2%. Chains with missing July feeds are data gaps, not de-growth, and stay outside the ranking.</a:t>
            </a:r>
            <a:endParaRPr lang="en-US" sz="740" dirty="0"/>
          </a:p>
        </p:txBody>
      </p:sp>
      <p:sp>
        <p:nvSpPr>
          <p:cNvPr id="96" name="Shape 94"/>
          <p:cNvSpPr/>
          <p:nvPr/>
        </p:nvSpPr>
        <p:spPr>
          <a:xfrm>
            <a:off x="356616" y="8462772"/>
            <a:ext cx="50292" cy="50292"/>
          </a:xfrm>
          <a:prstGeom prst="ellipse">
            <a:avLst/>
          </a:prstGeom>
          <a:solidFill>
            <a:srgbClr val="F2B84B"/>
          </a:solidFill>
          <a:ln/>
        </p:spPr>
      </p:sp>
      <p:sp>
        <p:nvSpPr>
          <p:cNvPr id="97" name="Text 95"/>
          <p:cNvSpPr/>
          <p:nvPr/>
        </p:nvSpPr>
        <p:spPr>
          <a:xfrm>
            <a:off x="475488" y="8412480"/>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Three chains — Lulu, Wellness Forever, Health &amp; Glow — show offtake against unmapped primary. Their growth reads cannot be verified and must not drive field action.</a:t>
            </a:r>
            <a:endParaRPr lang="en-US" sz="740" dirty="0"/>
          </a:p>
        </p:txBody>
      </p:sp>
      <p:sp>
        <p:nvSpPr>
          <p:cNvPr id="98" name="Shape 96"/>
          <p:cNvSpPr/>
          <p:nvPr/>
        </p:nvSpPr>
        <p:spPr>
          <a:xfrm>
            <a:off x="356616" y="8865108"/>
            <a:ext cx="50292" cy="50292"/>
          </a:xfrm>
          <a:prstGeom prst="ellipse">
            <a:avLst/>
          </a:prstGeom>
          <a:solidFill>
            <a:srgbClr val="5F716E"/>
          </a:solidFill>
          <a:ln/>
        </p:spPr>
      </p:sp>
      <p:sp>
        <p:nvSpPr>
          <p:cNvPr id="99" name="Text 97"/>
          <p:cNvSpPr/>
          <p:nvPr/>
        </p:nvSpPr>
        <p:spPr>
          <a:xfrm>
            <a:off x="475488" y="8814816"/>
            <a:ext cx="6025896" cy="384048"/>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Reinstate percentage ranking only above the ₹0.25 Cr floor; below it, report absolute change.</a:t>
            </a:r>
            <a:endParaRPr lang="en-US" sz="740" dirty="0"/>
          </a:p>
        </p:txBody>
      </p:sp>
      <p:sp>
        <p:nvSpPr>
          <p:cNvPr id="100" name="Shape 98"/>
          <p:cNvSpPr/>
          <p:nvPr/>
        </p:nvSpPr>
        <p:spPr>
          <a:xfrm>
            <a:off x="265176" y="9418320"/>
            <a:ext cx="6327648" cy="603504"/>
          </a:xfrm>
          <a:prstGeom prst="roundRect">
            <a:avLst>
              <a:gd name="adj" fmla="val 4545"/>
            </a:avLst>
          </a:prstGeom>
          <a:solidFill>
            <a:srgbClr val="DFF2ED"/>
          </a:solidFill>
          <a:ln w="12700">
            <a:solidFill>
              <a:srgbClr val="28A596"/>
            </a:solidFill>
            <a:prstDash val="solid"/>
          </a:ln>
        </p:spPr>
      </p:sp>
      <p:sp>
        <p:nvSpPr>
          <p:cNvPr id="101" name="Text 99"/>
          <p:cNvSpPr/>
          <p:nvPr/>
        </p:nvSpPr>
        <p:spPr>
          <a:xfrm>
            <a:off x="393192" y="9500616"/>
            <a:ext cx="6071616" cy="457200"/>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BEFORE ACTING ON THIS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One month is not a trend. Reliance −15.0% is measured against June alone, and a single extreme month partly reverts on its own. Re-run this comparison against a rolling three-month base before committing trade spend, so the recovery programme is sized against the underlying rate rather than against one month of noise.</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Fix the specific commercial loophole — not the whole account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recovery plan | evidence, action, success KPI and value at stake</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16</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256032"/>
          </a:xfrm>
          <a:prstGeom prst="rect">
            <a:avLst/>
          </a:prstGeom>
          <a:solidFill>
            <a:srgbClr val="116F68"/>
          </a:solidFill>
          <a:ln/>
        </p:spPr>
      </p:sp>
      <p:sp>
        <p:nvSpPr>
          <p:cNvPr id="20" name="Text 18"/>
          <p:cNvSpPr/>
          <p:nvPr/>
        </p:nvSpPr>
        <p:spPr>
          <a:xfrm>
            <a:off x="374904" y="1280160"/>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CHAIN-WISE RECOVERY LOOP — ORDERED BY VALUE AT STAKE</a:t>
            </a:r>
            <a:endParaRPr lang="en-US" sz="720" dirty="0"/>
          </a:p>
        </p:txBody>
      </p:sp>
      <p:sp>
        <p:nvSpPr>
          <p:cNvPr id="21" name="Shape 19"/>
          <p:cNvSpPr/>
          <p:nvPr/>
        </p:nvSpPr>
        <p:spPr>
          <a:xfrm>
            <a:off x="265176" y="1609344"/>
            <a:ext cx="2036064" cy="2670048"/>
          </a:xfrm>
          <a:prstGeom prst="roundRect">
            <a:avLst>
              <a:gd name="adj" fmla="val 898"/>
            </a:avLst>
          </a:prstGeom>
          <a:solidFill>
            <a:srgbClr val="FFFFFF"/>
          </a:solidFill>
          <a:ln w="9525">
            <a:solidFill>
              <a:srgbClr val="C8DCD7"/>
            </a:solidFill>
            <a:prstDash val="solid"/>
          </a:ln>
        </p:spPr>
      </p:sp>
      <p:sp>
        <p:nvSpPr>
          <p:cNvPr id="22" name="Shape 20"/>
          <p:cNvSpPr/>
          <p:nvPr/>
        </p:nvSpPr>
        <p:spPr>
          <a:xfrm>
            <a:off x="265176" y="1609344"/>
            <a:ext cx="2036064" cy="274320"/>
          </a:xfrm>
          <a:prstGeom prst="rect">
            <a:avLst/>
          </a:prstGeom>
          <a:solidFill>
            <a:srgbClr val="D6544D"/>
          </a:solidFill>
          <a:ln/>
        </p:spPr>
      </p:sp>
      <p:sp>
        <p:nvSpPr>
          <p:cNvPr id="23" name="Text 21"/>
          <p:cNvSpPr/>
          <p:nvPr/>
        </p:nvSpPr>
        <p:spPr>
          <a:xfrm>
            <a:off x="347472"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2"/>
          <p:cNvSpPr/>
          <p:nvPr/>
        </p:nvSpPr>
        <p:spPr>
          <a:xfrm>
            <a:off x="356616"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Flow failure, not demand failure</a:t>
            </a:r>
            <a:endParaRPr lang="en-US" sz="800" dirty="0"/>
          </a:p>
        </p:txBody>
      </p:sp>
      <p:sp>
        <p:nvSpPr>
          <p:cNvPr id="25" name="Text 23"/>
          <p:cNvSpPr/>
          <p:nvPr/>
        </p:nvSpPr>
        <p:spPr>
          <a:xfrm>
            <a:off x="356616"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₹3.92 Cr</a:t>
            </a:r>
            <a:endParaRPr lang="en-US" sz="600" dirty="0"/>
          </a:p>
        </p:txBody>
      </p:sp>
      <p:sp>
        <p:nvSpPr>
          <p:cNvPr id="26" name="Text 24"/>
          <p:cNvSpPr/>
          <p:nvPr/>
        </p:nvSpPr>
        <p:spPr>
          <a:xfrm>
            <a:off x="356616"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27" name="Text 25"/>
          <p:cNvSpPr/>
          <p:nvPr/>
        </p:nvSpPr>
        <p:spPr>
          <a:xfrm>
            <a:off x="356616"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Converts 51.4% nationally — 44.9% North, 52.9% East, 51.2% Central. Same weakness in every zone it operates.</a:t>
            </a:r>
            <a:endParaRPr lang="en-US" sz="680" dirty="0"/>
          </a:p>
        </p:txBody>
      </p:sp>
      <p:sp>
        <p:nvSpPr>
          <p:cNvPr id="28" name="Text 26"/>
          <p:cNvSpPr/>
          <p:nvPr/>
        </p:nvSpPr>
        <p:spPr>
          <a:xfrm>
            <a:off x="356616"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29" name="Text 27"/>
          <p:cNvSpPr/>
          <p:nvPr/>
        </p:nvSpPr>
        <p:spPr>
          <a:xfrm>
            <a:off x="356616"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Halt incremental loading until conversion clears 65%; run hero-EAN OSA audit against the Apollo cadence.</a:t>
            </a:r>
            <a:endParaRPr lang="en-US" sz="680" dirty="0"/>
          </a:p>
        </p:txBody>
      </p:sp>
      <p:sp>
        <p:nvSpPr>
          <p:cNvPr id="30" name="Text 28"/>
          <p:cNvSpPr/>
          <p:nvPr/>
        </p:nvSpPr>
        <p:spPr>
          <a:xfrm>
            <a:off x="356616"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Conversion 51.4% → 76.5% (DMart parity)</a:t>
            </a:r>
            <a:endParaRPr lang="en-US" sz="600" dirty="0"/>
          </a:p>
        </p:txBody>
      </p:sp>
      <p:sp>
        <p:nvSpPr>
          <p:cNvPr id="31" name="Text 29"/>
          <p:cNvSpPr/>
          <p:nvPr/>
        </p:nvSpPr>
        <p:spPr>
          <a:xfrm>
            <a:off x="356616"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Reliance + Supply · 25 Aug</a:t>
            </a:r>
            <a:endParaRPr lang="en-US" sz="620" dirty="0"/>
          </a:p>
        </p:txBody>
      </p:sp>
      <p:sp>
        <p:nvSpPr>
          <p:cNvPr id="32" name="Shape 30"/>
          <p:cNvSpPr/>
          <p:nvPr/>
        </p:nvSpPr>
        <p:spPr>
          <a:xfrm>
            <a:off x="2410968" y="1609344"/>
            <a:ext cx="2036064" cy="2670048"/>
          </a:xfrm>
          <a:prstGeom prst="roundRect">
            <a:avLst>
              <a:gd name="adj" fmla="val 898"/>
            </a:avLst>
          </a:prstGeom>
          <a:solidFill>
            <a:srgbClr val="FFFFFF"/>
          </a:solidFill>
          <a:ln w="9525">
            <a:solidFill>
              <a:srgbClr val="C8DCD7"/>
            </a:solidFill>
            <a:prstDash val="solid"/>
          </a:ln>
        </p:spPr>
      </p:sp>
      <p:sp>
        <p:nvSpPr>
          <p:cNvPr id="33" name="Shape 31"/>
          <p:cNvSpPr/>
          <p:nvPr/>
        </p:nvSpPr>
        <p:spPr>
          <a:xfrm>
            <a:off x="2410968" y="1609344"/>
            <a:ext cx="2036064" cy="274320"/>
          </a:xfrm>
          <a:prstGeom prst="rect">
            <a:avLst/>
          </a:prstGeom>
          <a:solidFill>
            <a:srgbClr val="D6544D"/>
          </a:solidFill>
          <a:ln/>
        </p:spPr>
      </p:sp>
      <p:sp>
        <p:nvSpPr>
          <p:cNvPr id="34" name="Text 32"/>
          <p:cNvSpPr/>
          <p:nvPr/>
        </p:nvSpPr>
        <p:spPr>
          <a:xfrm>
            <a:off x="2493264"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 SOUTH-2</a:t>
            </a:r>
            <a:endParaRPr lang="en-US" sz="700" dirty="0"/>
          </a:p>
        </p:txBody>
      </p:sp>
      <p:sp>
        <p:nvSpPr>
          <p:cNvPr id="35" name="Text 33"/>
          <p:cNvSpPr/>
          <p:nvPr/>
        </p:nvSpPr>
        <p:spPr>
          <a:xfrm>
            <a:off x="2502408"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One region behaving unlike the account</a:t>
            </a:r>
            <a:endParaRPr lang="en-US" sz="800" dirty="0"/>
          </a:p>
        </p:txBody>
      </p:sp>
      <p:sp>
        <p:nvSpPr>
          <p:cNvPr id="36" name="Text 34"/>
          <p:cNvSpPr/>
          <p:nvPr/>
        </p:nvSpPr>
        <p:spPr>
          <a:xfrm>
            <a:off x="2502408"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D6544D"/>
                </a:solidFill>
                <a:latin typeface="Calibri" pitchFamily="34" charset="0"/>
                <a:ea typeface="Calibri" pitchFamily="34" charset="-122"/>
                <a:cs typeface="Calibri" pitchFamily="34" charset="-120"/>
              </a:rPr>
              <a:t>₹0.90 Cr</a:t>
            </a:r>
            <a:endParaRPr lang="en-US" sz="600" dirty="0"/>
          </a:p>
        </p:txBody>
      </p:sp>
      <p:sp>
        <p:nvSpPr>
          <p:cNvPr id="37" name="Text 35"/>
          <p:cNvSpPr/>
          <p:nvPr/>
        </p:nvSpPr>
        <p:spPr>
          <a:xfrm>
            <a:off x="2502408"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38" name="Text 36"/>
          <p:cNvSpPr/>
          <p:nvPr/>
        </p:nvSpPr>
        <p:spPr>
          <a:xfrm>
            <a:off x="2502408"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DMart converts 94.2% in West and 95.3% in Central, but 45.1% in South-2 — a regional break, not a chain issue.</a:t>
            </a:r>
            <a:endParaRPr lang="en-US" sz="680" dirty="0"/>
          </a:p>
        </p:txBody>
      </p:sp>
      <p:sp>
        <p:nvSpPr>
          <p:cNvPr id="39" name="Text 37"/>
          <p:cNvSpPr/>
          <p:nvPr/>
        </p:nvSpPr>
        <p:spPr>
          <a:xfrm>
            <a:off x="2502408"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40" name="Text 38"/>
          <p:cNvSpPr/>
          <p:nvPr/>
        </p:nvSpPr>
        <p:spPr>
          <a:xfrm>
            <a:off x="2502408"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Audit DC-to-store fill rate and top-SKU store availability against the West benchmark.</a:t>
            </a:r>
            <a:endParaRPr lang="en-US" sz="680" dirty="0"/>
          </a:p>
        </p:txBody>
      </p:sp>
      <p:sp>
        <p:nvSpPr>
          <p:cNvPr id="41" name="Text 39"/>
          <p:cNvSpPr/>
          <p:nvPr/>
        </p:nvSpPr>
        <p:spPr>
          <a:xfrm>
            <a:off x="2502408"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South-2 conversion to 80%+</a:t>
            </a:r>
            <a:endParaRPr lang="en-US" sz="600" dirty="0"/>
          </a:p>
        </p:txBody>
      </p:sp>
      <p:sp>
        <p:nvSpPr>
          <p:cNvPr id="42" name="Text 40"/>
          <p:cNvSpPr/>
          <p:nvPr/>
        </p:nvSpPr>
        <p:spPr>
          <a:xfrm>
            <a:off x="2502408"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DMart + Supply · 22 Aug</a:t>
            </a:r>
            <a:endParaRPr lang="en-US" sz="620" dirty="0"/>
          </a:p>
        </p:txBody>
      </p:sp>
      <p:sp>
        <p:nvSpPr>
          <p:cNvPr id="43" name="Shape 41"/>
          <p:cNvSpPr/>
          <p:nvPr/>
        </p:nvSpPr>
        <p:spPr>
          <a:xfrm>
            <a:off x="4556760" y="1609344"/>
            <a:ext cx="2036064" cy="2670048"/>
          </a:xfrm>
          <a:prstGeom prst="roundRect">
            <a:avLst>
              <a:gd name="adj" fmla="val 898"/>
            </a:avLst>
          </a:prstGeom>
          <a:solidFill>
            <a:srgbClr val="FFFFFF"/>
          </a:solidFill>
          <a:ln w="9525">
            <a:solidFill>
              <a:srgbClr val="C8DCD7"/>
            </a:solidFill>
            <a:prstDash val="solid"/>
          </a:ln>
        </p:spPr>
      </p:sp>
      <p:sp>
        <p:nvSpPr>
          <p:cNvPr id="44" name="Shape 42"/>
          <p:cNvSpPr/>
          <p:nvPr/>
        </p:nvSpPr>
        <p:spPr>
          <a:xfrm>
            <a:off x="4556760" y="1609344"/>
            <a:ext cx="2036064" cy="274320"/>
          </a:xfrm>
          <a:prstGeom prst="rect">
            <a:avLst/>
          </a:prstGeom>
          <a:solidFill>
            <a:srgbClr val="F2B84B"/>
          </a:solidFill>
          <a:ln/>
        </p:spPr>
      </p:sp>
      <p:sp>
        <p:nvSpPr>
          <p:cNvPr id="45" name="Text 43"/>
          <p:cNvSpPr/>
          <p:nvPr/>
        </p:nvSpPr>
        <p:spPr>
          <a:xfrm>
            <a:off x="4639056" y="1627632"/>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LULU</a:t>
            </a:r>
            <a:endParaRPr lang="en-US" sz="700" dirty="0"/>
          </a:p>
        </p:txBody>
      </p:sp>
      <p:sp>
        <p:nvSpPr>
          <p:cNvPr id="46" name="Text 44"/>
          <p:cNvSpPr/>
          <p:nvPr/>
        </p:nvSpPr>
        <p:spPr>
          <a:xfrm>
            <a:off x="4648200" y="1975104"/>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Growth claim without a primary join</a:t>
            </a:r>
            <a:endParaRPr lang="en-US" sz="800" dirty="0"/>
          </a:p>
        </p:txBody>
      </p:sp>
      <p:sp>
        <p:nvSpPr>
          <p:cNvPr id="47" name="Text 45"/>
          <p:cNvSpPr/>
          <p:nvPr/>
        </p:nvSpPr>
        <p:spPr>
          <a:xfrm>
            <a:off x="4648200" y="2286000"/>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unverified</a:t>
            </a:r>
            <a:endParaRPr lang="en-US" sz="600" dirty="0"/>
          </a:p>
        </p:txBody>
      </p:sp>
      <p:sp>
        <p:nvSpPr>
          <p:cNvPr id="48" name="Text 46"/>
          <p:cNvSpPr/>
          <p:nvPr/>
        </p:nvSpPr>
        <p:spPr>
          <a:xfrm>
            <a:off x="4648200" y="252374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49" name="Text 47"/>
          <p:cNvSpPr/>
          <p:nvPr/>
        </p:nvSpPr>
        <p:spPr>
          <a:xfrm>
            <a:off x="4648200" y="266090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+46.5% MoM on ₹1.70 Cr offtake with zero mapped primary. The growth may be real or a mapping artefact.</a:t>
            </a:r>
            <a:endParaRPr lang="en-US" sz="680" dirty="0"/>
          </a:p>
        </p:txBody>
      </p:sp>
      <p:sp>
        <p:nvSpPr>
          <p:cNvPr id="50" name="Text 48"/>
          <p:cNvSpPr/>
          <p:nvPr/>
        </p:nvSpPr>
        <p:spPr>
          <a:xfrm>
            <a:off x="4648200" y="3108960"/>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51" name="Text 49"/>
          <p:cNvSpPr/>
          <p:nvPr/>
        </p:nvSpPr>
        <p:spPr>
          <a:xfrm>
            <a:off x="4648200" y="3246120"/>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the Lulu billing route before any field instruction is issued on this account.</a:t>
            </a:r>
            <a:endParaRPr lang="en-US" sz="680" dirty="0"/>
          </a:p>
        </p:txBody>
      </p:sp>
      <p:sp>
        <p:nvSpPr>
          <p:cNvPr id="52" name="Text 50"/>
          <p:cNvSpPr/>
          <p:nvPr/>
        </p:nvSpPr>
        <p:spPr>
          <a:xfrm>
            <a:off x="4648200" y="3822192"/>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Primary mapped and flow computable</a:t>
            </a:r>
            <a:endParaRPr lang="en-US" sz="600" dirty="0"/>
          </a:p>
        </p:txBody>
      </p:sp>
      <p:sp>
        <p:nvSpPr>
          <p:cNvPr id="53" name="Text 51"/>
          <p:cNvSpPr/>
          <p:nvPr/>
        </p:nvSpPr>
        <p:spPr>
          <a:xfrm>
            <a:off x="4648200" y="4078224"/>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54" name="Shape 52"/>
          <p:cNvSpPr/>
          <p:nvPr/>
        </p:nvSpPr>
        <p:spPr>
          <a:xfrm>
            <a:off x="265176" y="4407408"/>
            <a:ext cx="2036064" cy="2670048"/>
          </a:xfrm>
          <a:prstGeom prst="roundRect">
            <a:avLst>
              <a:gd name="adj" fmla="val 898"/>
            </a:avLst>
          </a:prstGeom>
          <a:solidFill>
            <a:srgbClr val="FFFFFF"/>
          </a:solidFill>
          <a:ln w="9525">
            <a:solidFill>
              <a:srgbClr val="C8DCD7"/>
            </a:solidFill>
            <a:prstDash val="solid"/>
          </a:ln>
        </p:spPr>
      </p:sp>
      <p:sp>
        <p:nvSpPr>
          <p:cNvPr id="55" name="Shape 53"/>
          <p:cNvSpPr/>
          <p:nvPr/>
        </p:nvSpPr>
        <p:spPr>
          <a:xfrm>
            <a:off x="265176" y="4407408"/>
            <a:ext cx="2036064" cy="274320"/>
          </a:xfrm>
          <a:prstGeom prst="rect">
            <a:avLst/>
          </a:prstGeom>
          <a:solidFill>
            <a:srgbClr val="F2B84B"/>
          </a:solidFill>
          <a:ln/>
        </p:spPr>
      </p:sp>
      <p:sp>
        <p:nvSpPr>
          <p:cNvPr id="56" name="Text 54"/>
          <p:cNvSpPr/>
          <p:nvPr/>
        </p:nvSpPr>
        <p:spPr>
          <a:xfrm>
            <a:off x="347472"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METRO</a:t>
            </a:r>
            <a:endParaRPr lang="en-US" sz="700" dirty="0"/>
          </a:p>
        </p:txBody>
      </p:sp>
      <p:sp>
        <p:nvSpPr>
          <p:cNvPr id="57" name="Text 55"/>
          <p:cNvSpPr/>
          <p:nvPr/>
        </p:nvSpPr>
        <p:spPr>
          <a:xfrm>
            <a:off x="356616"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Range dilution below the floor</a:t>
            </a:r>
            <a:endParaRPr lang="en-US" sz="800" dirty="0"/>
          </a:p>
        </p:txBody>
      </p:sp>
      <p:sp>
        <p:nvSpPr>
          <p:cNvPr id="58" name="Text 56"/>
          <p:cNvSpPr/>
          <p:nvPr/>
        </p:nvSpPr>
        <p:spPr>
          <a:xfrm>
            <a:off x="356616"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₹0.12 Cr</a:t>
            </a:r>
            <a:endParaRPr lang="en-US" sz="600" dirty="0"/>
          </a:p>
        </p:txBody>
      </p:sp>
      <p:sp>
        <p:nvSpPr>
          <p:cNvPr id="59" name="Text 57"/>
          <p:cNvSpPr/>
          <p:nvPr/>
        </p:nvSpPr>
        <p:spPr>
          <a:xfrm>
            <a:off x="356616"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60" name="Text 58"/>
          <p:cNvSpPr/>
          <p:nvPr/>
        </p:nvSpPr>
        <p:spPr>
          <a:xfrm>
            <a:off x="356616"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Down 20.5% MoM but only ₹0.12 Cr in absolute terms — more SKUs on lower sales per SKU.</a:t>
            </a:r>
            <a:endParaRPr lang="en-US" sz="680" dirty="0"/>
          </a:p>
        </p:txBody>
      </p:sp>
      <p:sp>
        <p:nvSpPr>
          <p:cNvPr id="61" name="Text 59"/>
          <p:cNvSpPr/>
          <p:nvPr/>
        </p:nvSpPr>
        <p:spPr>
          <a:xfrm>
            <a:off x="356616"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62" name="Text 60"/>
          <p:cNvSpPr/>
          <p:nvPr/>
        </p:nvSpPr>
        <p:spPr>
          <a:xfrm>
            <a:off x="356616"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Pause range expansion and remove non-productive EANs; no separate recovery programme.</a:t>
            </a:r>
            <a:endParaRPr lang="en-US" sz="680" dirty="0"/>
          </a:p>
        </p:txBody>
      </p:sp>
      <p:sp>
        <p:nvSpPr>
          <p:cNvPr id="63" name="Text 61"/>
          <p:cNvSpPr/>
          <p:nvPr/>
        </p:nvSpPr>
        <p:spPr>
          <a:xfrm>
            <a:off x="356616"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Sales per SKU and per store</a:t>
            </a:r>
            <a:endParaRPr lang="en-US" sz="600" dirty="0"/>
          </a:p>
        </p:txBody>
      </p:sp>
      <p:sp>
        <p:nvSpPr>
          <p:cNvPr id="64" name="Text 62"/>
          <p:cNvSpPr/>
          <p:nvPr/>
        </p:nvSpPr>
        <p:spPr>
          <a:xfrm>
            <a:off x="356616"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Metro · Sep cycle</a:t>
            </a:r>
            <a:endParaRPr lang="en-US" sz="620" dirty="0"/>
          </a:p>
        </p:txBody>
      </p:sp>
      <p:sp>
        <p:nvSpPr>
          <p:cNvPr id="65" name="Shape 63"/>
          <p:cNvSpPr/>
          <p:nvPr/>
        </p:nvSpPr>
        <p:spPr>
          <a:xfrm>
            <a:off x="2410968" y="4407408"/>
            <a:ext cx="2036064" cy="2670048"/>
          </a:xfrm>
          <a:prstGeom prst="roundRect">
            <a:avLst>
              <a:gd name="adj" fmla="val 898"/>
            </a:avLst>
          </a:prstGeom>
          <a:solidFill>
            <a:srgbClr val="FFFFFF"/>
          </a:solidFill>
          <a:ln w="9525">
            <a:solidFill>
              <a:srgbClr val="C8DCD7"/>
            </a:solidFill>
            <a:prstDash val="solid"/>
          </a:ln>
        </p:spPr>
      </p:sp>
      <p:sp>
        <p:nvSpPr>
          <p:cNvPr id="66" name="Shape 64"/>
          <p:cNvSpPr/>
          <p:nvPr/>
        </p:nvSpPr>
        <p:spPr>
          <a:xfrm>
            <a:off x="2410968" y="4407408"/>
            <a:ext cx="2036064" cy="274320"/>
          </a:xfrm>
          <a:prstGeom prst="rect">
            <a:avLst/>
          </a:prstGeom>
          <a:solidFill>
            <a:srgbClr val="2B9A66"/>
          </a:solidFill>
          <a:ln/>
        </p:spPr>
      </p:sp>
      <p:sp>
        <p:nvSpPr>
          <p:cNvPr id="67" name="Text 65"/>
          <p:cNvSpPr/>
          <p:nvPr/>
        </p:nvSpPr>
        <p:spPr>
          <a:xfrm>
            <a:off x="2493264"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68" name="Text 66"/>
          <p:cNvSpPr/>
          <p:nvPr/>
        </p:nvSpPr>
        <p:spPr>
          <a:xfrm>
            <a:off x="2502408"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The cadence worth exporting</a:t>
            </a:r>
            <a:endParaRPr lang="en-US" sz="800" dirty="0"/>
          </a:p>
        </p:txBody>
      </p:sp>
      <p:sp>
        <p:nvSpPr>
          <p:cNvPr id="69" name="Text 67"/>
          <p:cNvSpPr/>
          <p:nvPr/>
        </p:nvSpPr>
        <p:spPr>
          <a:xfrm>
            <a:off x="2502408"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benchmark</a:t>
            </a:r>
            <a:endParaRPr lang="en-US" sz="600" dirty="0"/>
          </a:p>
        </p:txBody>
      </p:sp>
      <p:sp>
        <p:nvSpPr>
          <p:cNvPr id="70" name="Text 68"/>
          <p:cNvSpPr/>
          <p:nvPr/>
        </p:nvSpPr>
        <p:spPr>
          <a:xfrm>
            <a:off x="2502408"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71" name="Text 69"/>
          <p:cNvSpPr/>
          <p:nvPr/>
        </p:nvSpPr>
        <p:spPr>
          <a:xfrm>
            <a:off x="2502408"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Near-parity flow nationally. Zone figures read 121–149%, so the model is sound but the stock reconciliation is not.</a:t>
            </a:r>
            <a:endParaRPr lang="en-US" sz="680" dirty="0"/>
          </a:p>
        </p:txBody>
      </p:sp>
      <p:sp>
        <p:nvSpPr>
          <p:cNvPr id="72" name="Text 70"/>
          <p:cNvSpPr/>
          <p:nvPr/>
        </p:nvSpPr>
        <p:spPr>
          <a:xfrm>
            <a:off x="2502408"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73" name="Text 71"/>
          <p:cNvSpPr/>
          <p:nvPr/>
        </p:nvSpPr>
        <p:spPr>
          <a:xfrm>
            <a:off x="2502408"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Extract order frequency and assortment depth as a scoring template; reconcile opening stock.</a:t>
            </a:r>
            <a:endParaRPr lang="en-US" sz="680" dirty="0"/>
          </a:p>
        </p:txBody>
      </p:sp>
      <p:sp>
        <p:nvSpPr>
          <p:cNvPr id="74" name="Text 72"/>
          <p:cNvSpPr/>
          <p:nvPr/>
        </p:nvSpPr>
        <p:spPr>
          <a:xfrm>
            <a:off x="2502408"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Template published and applied to 2 accounts</a:t>
            </a:r>
            <a:endParaRPr lang="en-US" sz="600" dirty="0"/>
          </a:p>
        </p:txBody>
      </p:sp>
      <p:sp>
        <p:nvSpPr>
          <p:cNvPr id="75" name="Text 73"/>
          <p:cNvSpPr/>
          <p:nvPr/>
        </p:nvSpPr>
        <p:spPr>
          <a:xfrm>
            <a:off x="2502408"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NKAM Apollo · 31 Aug</a:t>
            </a:r>
            <a:endParaRPr lang="en-US" sz="620" dirty="0"/>
          </a:p>
        </p:txBody>
      </p:sp>
      <p:sp>
        <p:nvSpPr>
          <p:cNvPr id="76" name="Shape 74"/>
          <p:cNvSpPr/>
          <p:nvPr/>
        </p:nvSpPr>
        <p:spPr>
          <a:xfrm>
            <a:off x="4556760" y="4407408"/>
            <a:ext cx="2036064" cy="2670048"/>
          </a:xfrm>
          <a:prstGeom prst="roundRect">
            <a:avLst>
              <a:gd name="adj" fmla="val 898"/>
            </a:avLst>
          </a:prstGeom>
          <a:solidFill>
            <a:srgbClr val="FFFFFF"/>
          </a:solidFill>
          <a:ln w="9525">
            <a:solidFill>
              <a:srgbClr val="C8DCD7"/>
            </a:solidFill>
            <a:prstDash val="solid"/>
          </a:ln>
        </p:spPr>
      </p:sp>
      <p:sp>
        <p:nvSpPr>
          <p:cNvPr id="77" name="Shape 75"/>
          <p:cNvSpPr/>
          <p:nvPr/>
        </p:nvSpPr>
        <p:spPr>
          <a:xfrm>
            <a:off x="4556760" y="4407408"/>
            <a:ext cx="2036064" cy="274320"/>
          </a:xfrm>
          <a:prstGeom prst="rect">
            <a:avLst/>
          </a:prstGeom>
          <a:solidFill>
            <a:srgbClr val="F2B84B"/>
          </a:solidFill>
          <a:ln/>
        </p:spPr>
      </p:sp>
      <p:sp>
        <p:nvSpPr>
          <p:cNvPr id="78" name="Text 76"/>
          <p:cNvSpPr/>
          <p:nvPr/>
        </p:nvSpPr>
        <p:spPr>
          <a:xfrm>
            <a:off x="4639056" y="442569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WELLNESS / H&amp;G</a:t>
            </a:r>
            <a:endParaRPr lang="en-US" sz="700" dirty="0"/>
          </a:p>
        </p:txBody>
      </p:sp>
      <p:sp>
        <p:nvSpPr>
          <p:cNvPr id="79" name="Text 77"/>
          <p:cNvSpPr/>
          <p:nvPr/>
        </p:nvSpPr>
        <p:spPr>
          <a:xfrm>
            <a:off x="4648200" y="4773168"/>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Offtake above unmapped primary</a:t>
            </a:r>
            <a:endParaRPr lang="en-US" sz="800" dirty="0"/>
          </a:p>
        </p:txBody>
      </p:sp>
      <p:sp>
        <p:nvSpPr>
          <p:cNvPr id="80" name="Text 78"/>
          <p:cNvSpPr/>
          <p:nvPr/>
        </p:nvSpPr>
        <p:spPr>
          <a:xfrm>
            <a:off x="4648200" y="5084064"/>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₹0.53 Cr</a:t>
            </a:r>
            <a:endParaRPr lang="en-US" sz="600" dirty="0"/>
          </a:p>
        </p:txBody>
      </p:sp>
      <p:sp>
        <p:nvSpPr>
          <p:cNvPr id="81" name="Text 79"/>
          <p:cNvSpPr/>
          <p:nvPr/>
        </p:nvSpPr>
        <p:spPr>
          <a:xfrm>
            <a:off x="4648200" y="532180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82" name="Text 80"/>
          <p:cNvSpPr/>
          <p:nvPr/>
        </p:nvSpPr>
        <p:spPr>
          <a:xfrm>
            <a:off x="4648200" y="545896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Both show more offtake than mapped primary — ₹0.24 Cr and ₹0.29 Cr of negative gap that nets against real shortfalls.</a:t>
            </a:r>
            <a:endParaRPr lang="en-US" sz="680" dirty="0"/>
          </a:p>
        </p:txBody>
      </p:sp>
      <p:sp>
        <p:nvSpPr>
          <p:cNvPr id="83" name="Text 81"/>
          <p:cNvSpPr/>
          <p:nvPr/>
        </p:nvSpPr>
        <p:spPr>
          <a:xfrm>
            <a:off x="4648200" y="5907024"/>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84" name="Text 82"/>
          <p:cNvSpPr/>
          <p:nvPr/>
        </p:nvSpPr>
        <p:spPr>
          <a:xfrm>
            <a:off x="4648200" y="6044184"/>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Map both billing routes; report gross positive and gross negative gap separately.</a:t>
            </a:r>
            <a:endParaRPr lang="en-US" sz="680" dirty="0"/>
          </a:p>
        </p:txBody>
      </p:sp>
      <p:sp>
        <p:nvSpPr>
          <p:cNvPr id="85" name="Text 83"/>
          <p:cNvSpPr/>
          <p:nvPr/>
        </p:nvSpPr>
        <p:spPr>
          <a:xfrm>
            <a:off x="4648200" y="6620256"/>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Zero unmapped material chains</a:t>
            </a:r>
            <a:endParaRPr lang="en-US" sz="600" dirty="0"/>
          </a:p>
        </p:txBody>
      </p:sp>
      <p:sp>
        <p:nvSpPr>
          <p:cNvPr id="86" name="Text 84"/>
          <p:cNvSpPr/>
          <p:nvPr/>
        </p:nvSpPr>
        <p:spPr>
          <a:xfrm>
            <a:off x="4648200" y="6876288"/>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18 Aug</a:t>
            </a:r>
            <a:endParaRPr lang="en-US" sz="620" dirty="0"/>
          </a:p>
        </p:txBody>
      </p:sp>
      <p:sp>
        <p:nvSpPr>
          <p:cNvPr id="87" name="Shape 85"/>
          <p:cNvSpPr/>
          <p:nvPr/>
        </p:nvSpPr>
        <p:spPr>
          <a:xfrm>
            <a:off x="265176" y="7205472"/>
            <a:ext cx="2036064" cy="2670048"/>
          </a:xfrm>
          <a:prstGeom prst="roundRect">
            <a:avLst>
              <a:gd name="adj" fmla="val 898"/>
            </a:avLst>
          </a:prstGeom>
          <a:solidFill>
            <a:srgbClr val="FFFFFF"/>
          </a:solidFill>
          <a:ln w="9525">
            <a:solidFill>
              <a:srgbClr val="C8DCD7"/>
            </a:solidFill>
            <a:prstDash val="solid"/>
          </a:ln>
        </p:spPr>
      </p:sp>
      <p:sp>
        <p:nvSpPr>
          <p:cNvPr id="88" name="Shape 86"/>
          <p:cNvSpPr/>
          <p:nvPr/>
        </p:nvSpPr>
        <p:spPr>
          <a:xfrm>
            <a:off x="265176" y="7205472"/>
            <a:ext cx="2036064" cy="274320"/>
          </a:xfrm>
          <a:prstGeom prst="rect">
            <a:avLst/>
          </a:prstGeom>
          <a:solidFill>
            <a:srgbClr val="2B9A66"/>
          </a:solidFill>
          <a:ln/>
        </p:spPr>
      </p:sp>
      <p:sp>
        <p:nvSpPr>
          <p:cNvPr id="89" name="Text 87"/>
          <p:cNvSpPr/>
          <p:nvPr/>
        </p:nvSpPr>
        <p:spPr>
          <a:xfrm>
            <a:off x="347472"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FSN / NYKAA</a:t>
            </a:r>
            <a:endParaRPr lang="en-US" sz="700" dirty="0"/>
          </a:p>
        </p:txBody>
      </p:sp>
      <p:sp>
        <p:nvSpPr>
          <p:cNvPr id="90" name="Text 88"/>
          <p:cNvSpPr/>
          <p:nvPr/>
        </p:nvSpPr>
        <p:spPr>
          <a:xfrm>
            <a:off x="356616"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Protect, and stop netting it</a:t>
            </a:r>
            <a:endParaRPr lang="en-US" sz="800" dirty="0"/>
          </a:p>
        </p:txBody>
      </p:sp>
      <p:sp>
        <p:nvSpPr>
          <p:cNvPr id="91" name="Text 89"/>
          <p:cNvSpPr/>
          <p:nvPr/>
        </p:nvSpPr>
        <p:spPr>
          <a:xfrm>
            <a:off x="356616"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2B9A66"/>
                </a:solidFill>
                <a:latin typeface="Calibri" pitchFamily="34" charset="0"/>
                <a:ea typeface="Calibri" pitchFamily="34" charset="-122"/>
                <a:cs typeface="Calibri" pitchFamily="34" charset="-120"/>
              </a:rPr>
              <a:t>₹2.07 Cr</a:t>
            </a:r>
            <a:endParaRPr lang="en-US" sz="600" dirty="0"/>
          </a:p>
        </p:txBody>
      </p:sp>
      <p:sp>
        <p:nvSpPr>
          <p:cNvPr id="92" name="Text 90"/>
          <p:cNvSpPr/>
          <p:nvPr/>
        </p:nvSpPr>
        <p:spPr>
          <a:xfrm>
            <a:off x="356616"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93" name="Text 91"/>
          <p:cNvSpPr/>
          <p:nvPr/>
        </p:nvSpPr>
        <p:spPr>
          <a:xfrm>
            <a:off x="356616"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99.4% flow, but July down 4.6% on June and active EANs down from 222 to 198 since January.</a:t>
            </a:r>
            <a:endParaRPr lang="en-US" sz="680" dirty="0"/>
          </a:p>
        </p:txBody>
      </p:sp>
      <p:sp>
        <p:nvSpPr>
          <p:cNvPr id="94" name="Text 92"/>
          <p:cNvSpPr/>
          <p:nvPr/>
        </p:nvSpPr>
        <p:spPr>
          <a:xfrm>
            <a:off x="356616"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95" name="Text 93"/>
          <p:cNvSpPr/>
          <p:nvPr/>
        </p:nvSpPr>
        <p:spPr>
          <a:xfrm>
            <a:off x="356616"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Test whether the 24 delisted EANs explain the softness; report outside geographic gap arithmetic.</a:t>
            </a:r>
            <a:endParaRPr lang="en-US" sz="680" dirty="0"/>
          </a:p>
        </p:txBody>
      </p:sp>
      <p:sp>
        <p:nvSpPr>
          <p:cNvPr id="96" name="Text 94"/>
          <p:cNvSpPr/>
          <p:nvPr/>
        </p:nvSpPr>
        <p:spPr>
          <a:xfrm>
            <a:off x="356616"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Flow above 95%, return to ₹2.17 Cr</a:t>
            </a:r>
            <a:endParaRPr lang="en-US" sz="600" dirty="0"/>
          </a:p>
        </p:txBody>
      </p:sp>
      <p:sp>
        <p:nvSpPr>
          <p:cNvPr id="97" name="Text 95"/>
          <p:cNvSpPr/>
          <p:nvPr/>
        </p:nvSpPr>
        <p:spPr>
          <a:xfrm>
            <a:off x="356616"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NKAM FSN + Analyst · 31 Aug</a:t>
            </a:r>
            <a:endParaRPr lang="en-US" sz="620" dirty="0"/>
          </a:p>
        </p:txBody>
      </p:sp>
      <p:sp>
        <p:nvSpPr>
          <p:cNvPr id="98" name="Shape 96"/>
          <p:cNvSpPr/>
          <p:nvPr/>
        </p:nvSpPr>
        <p:spPr>
          <a:xfrm>
            <a:off x="2410968" y="7205472"/>
            <a:ext cx="2036064" cy="267004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410968" y="7205472"/>
            <a:ext cx="2036064" cy="274320"/>
          </a:xfrm>
          <a:prstGeom prst="rect">
            <a:avLst/>
          </a:prstGeom>
          <a:solidFill>
            <a:srgbClr val="F2B84B"/>
          </a:solidFill>
          <a:ln/>
        </p:spPr>
      </p:sp>
      <p:sp>
        <p:nvSpPr>
          <p:cNvPr id="100" name="Text 98"/>
          <p:cNvSpPr/>
          <p:nvPr/>
        </p:nvSpPr>
        <p:spPr>
          <a:xfrm>
            <a:off x="2493264"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VISHAL MEGA MART</a:t>
            </a:r>
            <a:endParaRPr lang="en-US" sz="700" dirty="0"/>
          </a:p>
        </p:txBody>
      </p:sp>
      <p:sp>
        <p:nvSpPr>
          <p:cNvPr id="101" name="Text 99"/>
          <p:cNvSpPr/>
          <p:nvPr/>
        </p:nvSpPr>
        <p:spPr>
          <a:xfrm>
            <a:off x="2502408"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Expansion outrunning execution</a:t>
            </a:r>
            <a:endParaRPr lang="en-US" sz="800" dirty="0"/>
          </a:p>
        </p:txBody>
      </p:sp>
      <p:sp>
        <p:nvSpPr>
          <p:cNvPr id="102" name="Text 100"/>
          <p:cNvSpPr/>
          <p:nvPr/>
        </p:nvSpPr>
        <p:spPr>
          <a:xfrm>
            <a:off x="2502408"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F2B84B"/>
                </a:solidFill>
                <a:latin typeface="Calibri" pitchFamily="34" charset="0"/>
                <a:ea typeface="Calibri" pitchFamily="34" charset="-122"/>
                <a:cs typeface="Calibri" pitchFamily="34" charset="-120"/>
              </a:rPr>
              <a:t>₹0.05 Cr</a:t>
            </a:r>
            <a:endParaRPr lang="en-US" sz="600" dirty="0"/>
          </a:p>
        </p:txBody>
      </p:sp>
      <p:sp>
        <p:nvSpPr>
          <p:cNvPr id="103" name="Text 101"/>
          <p:cNvSpPr/>
          <p:nvPr/>
        </p:nvSpPr>
        <p:spPr>
          <a:xfrm>
            <a:off x="2502408"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04" name="Text 102"/>
          <p:cNvSpPr/>
          <p:nvPr/>
        </p:nvSpPr>
        <p:spPr>
          <a:xfrm>
            <a:off x="2502408"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Sites up 10.2% and offtake up 18.2%, but the account carries no mapped primary in the East cut.</a:t>
            </a:r>
            <a:endParaRPr lang="en-US" sz="680" dirty="0"/>
          </a:p>
        </p:txBody>
      </p:sp>
      <p:sp>
        <p:nvSpPr>
          <p:cNvPr id="105" name="Text 103"/>
          <p:cNvSpPr/>
          <p:nvPr/>
        </p:nvSpPr>
        <p:spPr>
          <a:xfrm>
            <a:off x="2502408"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06" name="Text 104"/>
          <p:cNvSpPr/>
          <p:nvPr/>
        </p:nvSpPr>
        <p:spPr>
          <a:xfrm>
            <a:off x="2502408"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Protect fill rate before adding doors; map primary.</a:t>
            </a:r>
            <a:endParaRPr lang="en-US" sz="680" dirty="0"/>
          </a:p>
        </p:txBody>
      </p:sp>
      <p:sp>
        <p:nvSpPr>
          <p:cNvPr id="107" name="Text 105"/>
          <p:cNvSpPr/>
          <p:nvPr/>
        </p:nvSpPr>
        <p:spPr>
          <a:xfrm>
            <a:off x="2502408"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OSA and sales per new door</a:t>
            </a:r>
            <a:endParaRPr lang="en-US" sz="600" dirty="0"/>
          </a:p>
        </p:txBody>
      </p:sp>
      <p:sp>
        <p:nvSpPr>
          <p:cNvPr id="108" name="Text 106"/>
          <p:cNvSpPr/>
          <p:nvPr/>
        </p:nvSpPr>
        <p:spPr>
          <a:xfrm>
            <a:off x="2502408"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RKAM East · Sep cycle</a:t>
            </a:r>
            <a:endParaRPr lang="en-US" sz="620" dirty="0"/>
          </a:p>
        </p:txBody>
      </p:sp>
      <p:sp>
        <p:nvSpPr>
          <p:cNvPr id="109" name="Shape 107"/>
          <p:cNvSpPr/>
          <p:nvPr/>
        </p:nvSpPr>
        <p:spPr>
          <a:xfrm>
            <a:off x="4556760" y="7205472"/>
            <a:ext cx="2036064" cy="2670048"/>
          </a:xfrm>
          <a:prstGeom prst="roundRect">
            <a:avLst>
              <a:gd name="adj" fmla="val 898"/>
            </a:avLst>
          </a:prstGeom>
          <a:solidFill>
            <a:srgbClr val="FFFFFF"/>
          </a:solidFill>
          <a:ln w="9525">
            <a:solidFill>
              <a:srgbClr val="C8DCD7"/>
            </a:solidFill>
            <a:prstDash val="solid"/>
          </a:ln>
        </p:spPr>
      </p:sp>
      <p:sp>
        <p:nvSpPr>
          <p:cNvPr id="110" name="Shape 108"/>
          <p:cNvSpPr/>
          <p:nvPr/>
        </p:nvSpPr>
        <p:spPr>
          <a:xfrm>
            <a:off x="4556760" y="7205472"/>
            <a:ext cx="2036064" cy="274320"/>
          </a:xfrm>
          <a:prstGeom prst="rect">
            <a:avLst/>
          </a:prstGeom>
          <a:solidFill>
            <a:srgbClr val="5F716E"/>
          </a:solidFill>
          <a:ln/>
        </p:spPr>
      </p:sp>
      <p:sp>
        <p:nvSpPr>
          <p:cNvPr id="111" name="Text 109"/>
          <p:cNvSpPr/>
          <p:nvPr/>
        </p:nvSpPr>
        <p:spPr>
          <a:xfrm>
            <a:off x="4639056" y="722376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REST</a:t>
            </a:r>
            <a:endParaRPr lang="en-US" sz="700" dirty="0"/>
          </a:p>
        </p:txBody>
      </p:sp>
      <p:sp>
        <p:nvSpPr>
          <p:cNvPr id="112" name="Text 110"/>
          <p:cNvSpPr/>
          <p:nvPr/>
        </p:nvSpPr>
        <p:spPr>
          <a:xfrm>
            <a:off x="4648200" y="7571232"/>
            <a:ext cx="1853184" cy="292608"/>
          </a:xfrm>
          <a:prstGeom prst="rect">
            <a:avLst/>
          </a:prstGeom>
          <a:noFill/>
          <a:ln/>
        </p:spPr>
        <p:txBody>
          <a:bodyPr wrap="square" lIns="0" tIns="0" rIns="0" bIns="0" rtlCol="0" anchor="t"/>
          <a:lstStyle/>
          <a:p>
            <a:pPr algn="ctr" indent="0" marL="0">
              <a:lnSpc>
                <a:spcPct val="90000"/>
              </a:lnSpc>
              <a:buNone/>
            </a:pPr>
            <a:r>
              <a:rPr lang="en-US" sz="800" b="1" dirty="0">
                <a:solidFill>
                  <a:srgbClr val="183B39"/>
                </a:solidFill>
                <a:latin typeface="Calibri" pitchFamily="34" charset="0"/>
                <a:ea typeface="Calibri" pitchFamily="34" charset="-122"/>
                <a:cs typeface="Calibri" pitchFamily="34" charset="-120"/>
              </a:rPr>
              <a:t>Nine chains, ₹0.19 Cr combined</a:t>
            </a:r>
            <a:endParaRPr lang="en-US" sz="800" dirty="0"/>
          </a:p>
        </p:txBody>
      </p:sp>
      <p:sp>
        <p:nvSpPr>
          <p:cNvPr id="113" name="Text 111"/>
          <p:cNvSpPr/>
          <p:nvPr/>
        </p:nvSpPr>
        <p:spPr>
          <a:xfrm>
            <a:off x="4648200" y="7882128"/>
            <a:ext cx="1853184" cy="182880"/>
          </a:xfrm>
          <a:prstGeom prst="rect">
            <a:avLst/>
          </a:prstGeom>
          <a:noFill/>
          <a:ln/>
        </p:spPr>
        <p:txBody>
          <a:bodyPr wrap="square" lIns="0" tIns="0" rIns="0" bIns="0" rtlCol="0" anchor="t"/>
          <a:lstStyle/>
          <a:p>
            <a:pPr algn="ctr" indent="0" marL="0">
              <a:buNone/>
            </a:pPr>
            <a:r>
              <a:rPr lang="en-US" sz="600" b="1" dirty="0">
                <a:solidFill>
                  <a:srgbClr val="5F716E"/>
                </a:solidFill>
                <a:latin typeface="Calibri" pitchFamily="34" charset="0"/>
                <a:ea typeface="Calibri" pitchFamily="34" charset="-122"/>
                <a:cs typeface="Calibri" pitchFamily="34" charset="-120"/>
              </a:rPr>
              <a:t>AT STAKE  </a:t>
            </a:r>
            <a:pPr algn="ctr" indent="0" marL="0">
              <a:buNone/>
            </a:pPr>
            <a:r>
              <a:rPr lang="en-US" sz="800" b="1" dirty="0">
                <a:solidFill>
                  <a:srgbClr val="5F716E"/>
                </a:solidFill>
                <a:latin typeface="Calibri" pitchFamily="34" charset="0"/>
                <a:ea typeface="Calibri" pitchFamily="34" charset="-122"/>
                <a:cs typeface="Calibri" pitchFamily="34" charset="-120"/>
              </a:rPr>
              <a:t>below floor</a:t>
            </a:r>
            <a:endParaRPr lang="en-US" sz="600" dirty="0"/>
          </a:p>
        </p:txBody>
      </p:sp>
      <p:sp>
        <p:nvSpPr>
          <p:cNvPr id="114" name="Text 112"/>
          <p:cNvSpPr/>
          <p:nvPr/>
        </p:nvSpPr>
        <p:spPr>
          <a:xfrm>
            <a:off x="4648200" y="8119872"/>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EVIDENCE</a:t>
            </a:r>
            <a:endParaRPr lang="en-US" sz="600" dirty="0"/>
          </a:p>
        </p:txBody>
      </p:sp>
      <p:sp>
        <p:nvSpPr>
          <p:cNvPr id="115" name="Text 113"/>
          <p:cNvSpPr/>
          <p:nvPr/>
        </p:nvSpPr>
        <p:spPr>
          <a:xfrm>
            <a:off x="4648200" y="8257032"/>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5F716E"/>
                </a:solidFill>
                <a:latin typeface="Calibri" pitchFamily="34" charset="0"/>
                <a:ea typeface="Calibri" pitchFamily="34" charset="-122"/>
                <a:cs typeface="Calibri" pitchFamily="34" charset="-120"/>
              </a:rPr>
              <a:t>Every remaining chain moved less than ₹0.25 Cr. Percentage swings here are arithmetic, not commercial signal.</a:t>
            </a:r>
            <a:endParaRPr lang="en-US" sz="680" dirty="0"/>
          </a:p>
        </p:txBody>
      </p:sp>
      <p:sp>
        <p:nvSpPr>
          <p:cNvPr id="116" name="Text 114"/>
          <p:cNvSpPr/>
          <p:nvPr/>
        </p:nvSpPr>
        <p:spPr>
          <a:xfrm>
            <a:off x="4648200" y="8705088"/>
            <a:ext cx="1853184" cy="128016"/>
          </a:xfrm>
          <a:prstGeom prst="rect">
            <a:avLst/>
          </a:prstGeom>
          <a:noFill/>
          <a:ln/>
        </p:spPr>
        <p:txBody>
          <a:bodyPr wrap="square" lIns="0" tIns="0" rIns="0" bIns="0" rtlCol="0" anchor="t"/>
          <a:lstStyle/>
          <a:p>
            <a:pPr indent="0" marL="0">
              <a:buNone/>
            </a:pPr>
            <a:r>
              <a:rPr lang="en-US" sz="600" b="1" spc="40" kern="0" dirty="0">
                <a:solidFill>
                  <a:srgbClr val="116F68"/>
                </a:solidFill>
                <a:latin typeface="Calibri" pitchFamily="34" charset="0"/>
                <a:ea typeface="Calibri" pitchFamily="34" charset="-122"/>
                <a:cs typeface="Calibri" pitchFamily="34" charset="-120"/>
              </a:rPr>
              <a:t>RECOVERY</a:t>
            </a:r>
            <a:endParaRPr lang="en-US" sz="600" dirty="0"/>
          </a:p>
        </p:txBody>
      </p:sp>
      <p:sp>
        <p:nvSpPr>
          <p:cNvPr id="117" name="Text 115"/>
          <p:cNvSpPr/>
          <p:nvPr/>
        </p:nvSpPr>
        <p:spPr>
          <a:xfrm>
            <a:off x="4648200" y="8842248"/>
            <a:ext cx="1853184" cy="420624"/>
          </a:xfrm>
          <a:prstGeom prst="rect">
            <a:avLst/>
          </a:prstGeom>
          <a:noFill/>
          <a:ln/>
        </p:spPr>
        <p:txBody>
          <a:bodyPr wrap="square" lIns="0" tIns="0" rIns="0" bIns="0" rtlCol="0" anchor="t"/>
          <a:lstStyle/>
          <a:p>
            <a:pPr indent="0" marL="0">
              <a:lnSpc>
                <a:spcPct val="92000"/>
              </a:lnSpc>
              <a:buNone/>
            </a:pPr>
            <a:r>
              <a:rPr lang="en-US" sz="680" dirty="0">
                <a:solidFill>
                  <a:srgbClr val="183B39"/>
                </a:solidFill>
                <a:latin typeface="Calibri" pitchFamily="34" charset="0"/>
                <a:ea typeface="Calibri" pitchFamily="34" charset="-122"/>
                <a:cs typeface="Calibri" pitchFamily="34" charset="-120"/>
              </a:rPr>
              <a:t>Report by exception only; no named recovery action.</a:t>
            </a:r>
            <a:endParaRPr lang="en-US" sz="680" dirty="0"/>
          </a:p>
        </p:txBody>
      </p:sp>
      <p:sp>
        <p:nvSpPr>
          <p:cNvPr id="118" name="Text 116"/>
          <p:cNvSpPr/>
          <p:nvPr/>
        </p:nvSpPr>
        <p:spPr>
          <a:xfrm>
            <a:off x="4648200" y="9418320"/>
            <a:ext cx="1853184" cy="237744"/>
          </a:xfrm>
          <a:prstGeom prst="rect">
            <a:avLst/>
          </a:prstGeom>
          <a:noFill/>
          <a:ln/>
        </p:spPr>
        <p:txBody>
          <a:bodyPr wrap="square" lIns="0" tIns="0" rIns="0" bIns="0" rtlCol="0" anchor="t"/>
          <a:lstStyle/>
          <a:p>
            <a:pPr indent="0" marL="0">
              <a:lnSpc>
                <a:spcPct val="90000"/>
              </a:lnSpc>
              <a:buNone/>
            </a:pPr>
            <a:r>
              <a:rPr lang="en-US" sz="600" b="1" dirty="0">
                <a:solidFill>
                  <a:srgbClr val="116F68"/>
                </a:solidFill>
                <a:latin typeface="Calibri" pitchFamily="34" charset="0"/>
                <a:ea typeface="Calibri" pitchFamily="34" charset="-122"/>
                <a:cs typeface="Calibri" pitchFamily="34" charset="-120"/>
              </a:rPr>
              <a:t>KPI  </a:t>
            </a:r>
            <a:pPr indent="0" marL="0">
              <a:lnSpc>
                <a:spcPct val="90000"/>
              </a:lnSpc>
              <a:buNone/>
            </a:pPr>
            <a:r>
              <a:rPr lang="en-US" sz="660" b="1" dirty="0">
                <a:solidFill>
                  <a:srgbClr val="183B39"/>
                </a:solidFill>
                <a:latin typeface="Calibri" pitchFamily="34" charset="0"/>
                <a:ea typeface="Calibri" pitchFamily="34" charset="-122"/>
                <a:cs typeface="Calibri" pitchFamily="34" charset="-120"/>
              </a:rPr>
              <a:t>Excluded from weekly review</a:t>
            </a:r>
            <a:endParaRPr lang="en-US" sz="600" dirty="0"/>
          </a:p>
        </p:txBody>
      </p:sp>
      <p:sp>
        <p:nvSpPr>
          <p:cNvPr id="119" name="Text 117"/>
          <p:cNvSpPr/>
          <p:nvPr/>
        </p:nvSpPr>
        <p:spPr>
          <a:xfrm>
            <a:off x="4648200" y="9674352"/>
            <a:ext cx="1853184" cy="137160"/>
          </a:xfrm>
          <a:prstGeom prst="rect">
            <a:avLst/>
          </a:prstGeom>
          <a:noFill/>
          <a:ln/>
        </p:spPr>
        <p:txBody>
          <a:bodyPr wrap="square" lIns="0" tIns="0" rIns="0" bIns="0" rtlCol="0" anchor="t"/>
          <a:lstStyle/>
          <a:p>
            <a:pPr indent="0" marL="0">
              <a:buNone/>
            </a:pPr>
            <a:r>
              <a:rPr lang="en-US" sz="620" i="1" dirty="0">
                <a:solidFill>
                  <a:srgbClr val="5F716E"/>
                </a:solidFill>
                <a:latin typeface="Calibri" pitchFamily="34" charset="0"/>
                <a:ea typeface="Calibri" pitchFamily="34" charset="-122"/>
                <a:cs typeface="Calibri" pitchFamily="34" charset="-120"/>
              </a:rPr>
              <a:t>Analyst · standing</a:t>
            </a:r>
            <a:endParaRPr lang="en-US" sz="620" dirty="0"/>
          </a:p>
        </p:txBody>
      </p:sp>
      <p:sp>
        <p:nvSpPr>
          <p:cNvPr id="120" name="Shape 118"/>
          <p:cNvSpPr/>
          <p:nvPr/>
        </p:nvSpPr>
        <p:spPr>
          <a:xfrm>
            <a:off x="265176" y="10003536"/>
            <a:ext cx="6327648" cy="402336"/>
          </a:xfrm>
          <a:prstGeom prst="roundRect">
            <a:avLst>
              <a:gd name="adj" fmla="val 4545"/>
            </a:avLst>
          </a:prstGeom>
          <a:solidFill>
            <a:srgbClr val="DFF2ED"/>
          </a:solidFill>
          <a:ln w="9525">
            <a:solidFill>
              <a:srgbClr val="C8DCD7"/>
            </a:solidFill>
            <a:prstDash val="solid"/>
          </a:ln>
        </p:spPr>
      </p:sp>
      <p:sp>
        <p:nvSpPr>
          <p:cNvPr id="121" name="Text 119"/>
          <p:cNvSpPr/>
          <p:nvPr/>
        </p:nvSpPr>
        <p:spPr>
          <a:xfrm>
            <a:off x="374904" y="10058400"/>
            <a:ext cx="6108192" cy="310896"/>
          </a:xfrm>
          <a:prstGeom prst="rect">
            <a:avLst/>
          </a:prstGeom>
          <a:noFill/>
          <a:ln/>
        </p:spPr>
        <p:txBody>
          <a:bodyPr wrap="square" lIns="0" tIns="0" rIns="0" bIns="0" rtlCol="0" anchor="t"/>
          <a:lstStyle/>
          <a:p>
            <a:pPr indent="0" marL="0">
              <a:lnSpc>
                <a:spcPct val="94000"/>
              </a:lnSpc>
              <a:buNone/>
            </a:pPr>
            <a:r>
              <a:rPr lang="en-US" sz="680" b="1" dirty="0">
                <a:solidFill>
                  <a:srgbClr val="116F68"/>
                </a:solidFill>
                <a:latin typeface="Calibri" pitchFamily="34" charset="0"/>
                <a:ea typeface="Calibri" pitchFamily="34" charset="-122"/>
                <a:cs typeface="Calibri" pitchFamily="34" charset="-120"/>
              </a:rPr>
              <a:t>SEQUENCING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Reliance and DMart South-2 carry ₹4.73 Cr of the ₹6.22 Cr recovery pool between them — 81%. Both are single-account audits that can start this week. The three mapping fixes cost analyst time only and unblock everything else, so they run first.</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eB2B account detail: Nykaa (FSN) holds 99.4% flow on a contracting range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eB2B channel | account deep dive | January–July 2026 | excluded from MT — see page 13</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17</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E7DA8"/>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PRIMARY</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E7DA8"/>
                </a:solidFill>
                <a:latin typeface="Calibri Light" pitchFamily="34" charset="0"/>
                <a:ea typeface="Calibri Light" pitchFamily="34" charset="-122"/>
                <a:cs typeface="Calibri Light" pitchFamily="34" charset="-120"/>
              </a:rPr>
              <a:t>₹2.08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FSN + Nykaa SS, eB2B</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28A596"/>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JUL OFFTAKE</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₹2.07 Cr</a:t>
            </a:r>
            <a:endParaRPr lang="en-US" sz="15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reported outside MT</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2B9A66"/>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FLOW</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2B9A66"/>
                </a:solidFill>
                <a:latin typeface="Calibri Light" pitchFamily="34" charset="0"/>
                <a:ea typeface="Calibri Light" pitchFamily="34" charset="-122"/>
                <a:cs typeface="Calibri Light" pitchFamily="34" charset="-120"/>
              </a:rPr>
              <a:t>99.4%</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+27.0 pp vs MT (72.4%)</a:t>
            </a:r>
            <a:endParaRPr lang="en-US" sz="680" dirty="0"/>
          </a:p>
        </p:txBody>
      </p:sp>
      <p:sp>
        <p:nvSpPr>
          <p:cNvPr id="34" name="Text 32"/>
          <p:cNvSpPr/>
          <p:nvPr/>
        </p:nvSpPr>
        <p:spPr>
          <a:xfrm>
            <a:off x="265176"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Offtake, Jan–Jul 2026 (₹ Cr)</a:t>
            </a:r>
            <a:endParaRPr lang="en-US" sz="720" dirty="0"/>
          </a:p>
        </p:txBody>
      </p:sp>
      <p:graphicFrame>
        <p:nvGraphicFramePr>
          <p:cNvPr id="35" name="Chart 0" descr=""/>
          <p:cNvGraphicFramePr/>
          <p:nvPr/>
        </p:nvGraphicFramePr>
        <p:xfrm>
          <a:off x="246888" y="2450592"/>
          <a:ext cx="3090672" cy="1737360"/>
        </p:xfrm>
        <a:graphic xmlns:a="http://schemas.openxmlformats.org/drawingml/2006/main">
          <a:graphicData uri="http://schemas.openxmlformats.org/drawingml/2006/chart">
            <c:chart xmlns:c="http://schemas.openxmlformats.org/drawingml/2006/chart" r:id="rId1"/>
          </a:graphicData>
        </a:graphic>
      </p:graphicFrame>
      <p:sp>
        <p:nvSpPr>
          <p:cNvPr id="36" name="Text 33"/>
          <p:cNvSpPr/>
          <p:nvPr/>
        </p:nvSpPr>
        <p:spPr>
          <a:xfrm>
            <a:off x="3502152" y="224942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Active EANs — 222 in January, 198 in July</a:t>
            </a:r>
            <a:endParaRPr lang="en-US" sz="720" dirty="0"/>
          </a:p>
        </p:txBody>
      </p:sp>
      <p:graphicFrame>
        <p:nvGraphicFramePr>
          <p:cNvPr id="37" name="Chart 1" descr=""/>
          <p:cNvGraphicFramePr/>
          <p:nvPr/>
        </p:nvGraphicFramePr>
        <p:xfrm>
          <a:off x="3483864" y="2450592"/>
          <a:ext cx="3090672" cy="1737360"/>
        </p:xfrm>
        <a:graphic xmlns:a="http://schemas.openxmlformats.org/drawingml/2006/main">
          <a:graphicData uri="http://schemas.openxmlformats.org/drawingml/2006/chart">
            <c:chart xmlns:c="http://schemas.openxmlformats.org/drawingml/2006/chart" r:id="rId2"/>
          </a:graphicData>
        </a:graphic>
      </p:graphicFrame>
      <p:sp>
        <p:nvSpPr>
          <p:cNvPr id="38" name="Shape 34"/>
          <p:cNvSpPr/>
          <p:nvPr/>
        </p:nvSpPr>
        <p:spPr>
          <a:xfrm>
            <a:off x="265176" y="4315968"/>
            <a:ext cx="6327648" cy="548640"/>
          </a:xfrm>
          <a:prstGeom prst="roundRect">
            <a:avLst>
              <a:gd name="adj" fmla="val 5000"/>
            </a:avLst>
          </a:prstGeom>
          <a:solidFill>
            <a:srgbClr val="FDF6E6"/>
          </a:solidFill>
          <a:ln w="12700">
            <a:solidFill>
              <a:srgbClr val="F2B84B"/>
            </a:solidFill>
            <a:prstDash val="solid"/>
          </a:ln>
        </p:spPr>
      </p:sp>
      <p:sp>
        <p:nvSpPr>
          <p:cNvPr id="39" name="Text 35"/>
          <p:cNvSpPr/>
          <p:nvPr/>
        </p:nvSpPr>
        <p:spPr>
          <a:xfrm>
            <a:off x="411480" y="4389120"/>
            <a:ext cx="6035040" cy="420624"/>
          </a:xfrm>
          <a:prstGeom prst="rect">
            <a:avLst/>
          </a:prstGeom>
          <a:noFill/>
          <a:ln/>
        </p:spPr>
        <p:txBody>
          <a:bodyPr wrap="square" lIns="0" tIns="0" rIns="0" bIns="0" rtlCol="0" anchor="ctr"/>
          <a:lstStyle/>
          <a:p>
            <a:pPr algn="ctr" indent="0" marL="0">
              <a:lnSpc>
                <a:spcPct val="94000"/>
              </a:lnSpc>
              <a:buNone/>
            </a:pPr>
            <a:r>
              <a:rPr lang="en-US" sz="760" b="1" dirty="0">
                <a:solidFill>
                  <a:srgbClr val="183B39"/>
                </a:solidFill>
                <a:latin typeface="Calibri" pitchFamily="34" charset="0"/>
                <a:ea typeface="Calibri" pitchFamily="34" charset="-122"/>
                <a:cs typeface="Calibri" pitchFamily="34" charset="-120"/>
              </a:rPr>
              <a:t>Offtake peaked at ₹2.29 Cr in April and has drifted to ₹2.07 Cr. Across the same period the active range fell from 222 EANs to 198 — a 10.8% contraction. Test delisting before calling this a demand decline.</a:t>
            </a:r>
            <a:endParaRPr lang="en-US" sz="760" dirty="0"/>
          </a:p>
        </p:txBody>
      </p:sp>
      <p:sp>
        <p:nvSpPr>
          <p:cNvPr id="40" name="Shape 36"/>
          <p:cNvSpPr/>
          <p:nvPr/>
        </p:nvSpPr>
        <p:spPr>
          <a:xfrm>
            <a:off x="265176" y="4992624"/>
            <a:ext cx="6327648" cy="256032"/>
          </a:xfrm>
          <a:prstGeom prst="rect">
            <a:avLst/>
          </a:prstGeom>
          <a:solidFill>
            <a:srgbClr val="116F68"/>
          </a:solidFill>
          <a:ln/>
        </p:spPr>
      </p:sp>
      <p:sp>
        <p:nvSpPr>
          <p:cNvPr id="41" name="Text 37"/>
          <p:cNvSpPr/>
          <p:nvPr/>
        </p:nvSpPr>
        <p:spPr>
          <a:xfrm>
            <a:off x="374904" y="501091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ARTICLE ENGINES — TOP EIGHT BY JULY OFFTAKE</a:t>
            </a:r>
            <a:endParaRPr lang="en-US" sz="720" dirty="0"/>
          </a:p>
        </p:txBody>
      </p:sp>
      <p:sp>
        <p:nvSpPr>
          <p:cNvPr id="42" name="Shape 38"/>
          <p:cNvSpPr/>
          <p:nvPr/>
        </p:nvSpPr>
        <p:spPr>
          <a:xfrm>
            <a:off x="265176" y="5340096"/>
            <a:ext cx="6327648" cy="256032"/>
          </a:xfrm>
          <a:prstGeom prst="rect">
            <a:avLst/>
          </a:prstGeom>
          <a:solidFill>
            <a:srgbClr val="116F68"/>
          </a:solidFill>
          <a:ln/>
        </p:spPr>
      </p:sp>
      <p:sp>
        <p:nvSpPr>
          <p:cNvPr id="43" name="Text 39"/>
          <p:cNvSpPr/>
          <p:nvPr/>
        </p:nvSpPr>
        <p:spPr>
          <a:xfrm>
            <a:off x="320040" y="5358384"/>
            <a:ext cx="13680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4" name="Text 40"/>
          <p:cNvSpPr/>
          <p:nvPr/>
        </p:nvSpPr>
        <p:spPr>
          <a:xfrm>
            <a:off x="566572" y="5358384"/>
            <a:ext cx="375260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5" name="Text 41"/>
          <p:cNvSpPr/>
          <p:nvPr/>
        </p:nvSpPr>
        <p:spPr>
          <a:xfrm>
            <a:off x="4428902" y="5358384"/>
            <a:ext cx="876399"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JULY OFFTAKE</a:t>
            </a:r>
            <a:endParaRPr lang="en-US" sz="660" dirty="0"/>
          </a:p>
        </p:txBody>
      </p:sp>
      <p:sp>
        <p:nvSpPr>
          <p:cNvPr id="46" name="Text 42"/>
          <p:cNvSpPr/>
          <p:nvPr/>
        </p:nvSpPr>
        <p:spPr>
          <a:xfrm>
            <a:off x="5415029" y="5358384"/>
            <a:ext cx="112293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ROLE</a:t>
            </a:r>
            <a:endParaRPr lang="en-US" sz="660" dirty="0"/>
          </a:p>
        </p:txBody>
      </p:sp>
      <p:sp>
        <p:nvSpPr>
          <p:cNvPr id="47" name="Shape 43"/>
          <p:cNvSpPr/>
          <p:nvPr/>
        </p:nvSpPr>
        <p:spPr>
          <a:xfrm>
            <a:off x="265176" y="5596128"/>
            <a:ext cx="6327648" cy="310896"/>
          </a:xfrm>
          <a:prstGeom prst="rect">
            <a:avLst/>
          </a:prstGeom>
          <a:solidFill>
            <a:srgbClr val="F4F9F8"/>
          </a:solidFill>
          <a:ln/>
        </p:spPr>
      </p:sp>
      <p:sp>
        <p:nvSpPr>
          <p:cNvPr id="48" name="Shape 44"/>
          <p:cNvSpPr/>
          <p:nvPr/>
        </p:nvSpPr>
        <p:spPr>
          <a:xfrm>
            <a:off x="265176" y="5907024"/>
            <a:ext cx="6327648" cy="0"/>
          </a:xfrm>
          <a:prstGeom prst="line">
            <a:avLst/>
          </a:prstGeom>
          <a:noFill/>
          <a:ln w="6350">
            <a:solidFill>
              <a:srgbClr val="C8DCD7"/>
            </a:solidFill>
            <a:prstDash val="solid"/>
          </a:ln>
        </p:spPr>
      </p:sp>
      <p:sp>
        <p:nvSpPr>
          <p:cNvPr id="49" name="Text 45"/>
          <p:cNvSpPr/>
          <p:nvPr/>
        </p:nvSpPr>
        <p:spPr>
          <a:xfrm>
            <a:off x="320040" y="559612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50" name="Text 46"/>
          <p:cNvSpPr/>
          <p:nvPr/>
        </p:nvSpPr>
        <p:spPr>
          <a:xfrm>
            <a:off x="566572" y="5596128"/>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100 ml</a:t>
            </a:r>
            <a:endParaRPr lang="en-US" sz="720" dirty="0"/>
          </a:p>
        </p:txBody>
      </p:sp>
      <p:sp>
        <p:nvSpPr>
          <p:cNvPr id="51" name="Text 47"/>
          <p:cNvSpPr/>
          <p:nvPr/>
        </p:nvSpPr>
        <p:spPr>
          <a:xfrm>
            <a:off x="4428902" y="5596128"/>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₹0.27 Cr</a:t>
            </a:r>
            <a:endParaRPr lang="en-US" sz="720" dirty="0"/>
          </a:p>
        </p:txBody>
      </p:sp>
      <p:sp>
        <p:nvSpPr>
          <p:cNvPr id="52" name="Text 48"/>
          <p:cNvSpPr/>
          <p:nvPr/>
        </p:nvSpPr>
        <p:spPr>
          <a:xfrm>
            <a:off x="5415029" y="5596128"/>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3" name="Shape 49"/>
          <p:cNvSpPr/>
          <p:nvPr/>
        </p:nvSpPr>
        <p:spPr>
          <a:xfrm>
            <a:off x="265176" y="6217920"/>
            <a:ext cx="6327648" cy="0"/>
          </a:xfrm>
          <a:prstGeom prst="line">
            <a:avLst/>
          </a:prstGeom>
          <a:noFill/>
          <a:ln w="6350">
            <a:solidFill>
              <a:srgbClr val="C8DCD7"/>
            </a:solidFill>
            <a:prstDash val="solid"/>
          </a:ln>
        </p:spPr>
      </p:sp>
      <p:sp>
        <p:nvSpPr>
          <p:cNvPr id="54" name="Text 50"/>
          <p:cNvSpPr/>
          <p:nvPr/>
        </p:nvSpPr>
        <p:spPr>
          <a:xfrm>
            <a:off x="320040" y="590702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55" name="Text 51"/>
          <p:cNvSpPr/>
          <p:nvPr/>
        </p:nvSpPr>
        <p:spPr>
          <a:xfrm>
            <a:off x="566572" y="5907024"/>
            <a:ext cx="3752603"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Rice Face Wash 50 ml</a:t>
            </a:r>
            <a:endParaRPr lang="en-US" sz="720" dirty="0"/>
          </a:p>
        </p:txBody>
      </p:sp>
      <p:sp>
        <p:nvSpPr>
          <p:cNvPr id="56" name="Text 52"/>
          <p:cNvSpPr/>
          <p:nvPr/>
        </p:nvSpPr>
        <p:spPr>
          <a:xfrm>
            <a:off x="4428902" y="5907024"/>
            <a:ext cx="876399" cy="310896"/>
          </a:xfrm>
          <a:prstGeom prst="rect">
            <a:avLst/>
          </a:prstGeom>
          <a:noFill/>
          <a:ln/>
        </p:spPr>
        <p:txBody>
          <a:bodyPr wrap="square" lIns="0" tIns="0" rIns="0" bIns="0" rtlCol="0" anchor="ctr"/>
          <a:lstStyle/>
          <a:p>
            <a:pPr algn="r" indent="0" marL="0">
              <a:buNone/>
            </a:pPr>
            <a:r>
              <a:rPr lang="en-US" sz="720" b="1" dirty="0">
                <a:solidFill>
                  <a:srgbClr val="183B39"/>
                </a:solidFill>
                <a:latin typeface="Calibri" pitchFamily="34" charset="0"/>
                <a:ea typeface="Calibri" pitchFamily="34" charset="-122"/>
                <a:cs typeface="Calibri" pitchFamily="34" charset="-120"/>
              </a:rPr>
              <a:t>₹0.19 Cr</a:t>
            </a:r>
            <a:endParaRPr lang="en-US" sz="720" dirty="0"/>
          </a:p>
        </p:txBody>
      </p:sp>
      <p:sp>
        <p:nvSpPr>
          <p:cNvPr id="57" name="Text 53"/>
          <p:cNvSpPr/>
          <p:nvPr/>
        </p:nvSpPr>
        <p:spPr>
          <a:xfrm>
            <a:off x="5415029" y="5907024"/>
            <a:ext cx="1122931" cy="310896"/>
          </a:xfrm>
          <a:prstGeom prst="rect">
            <a:avLst/>
          </a:prstGeom>
          <a:noFill/>
          <a:ln/>
        </p:spPr>
        <p:txBody>
          <a:bodyPr wrap="square" lIns="0" tIns="0" rIns="0" bIns="0" rtlCol="0" anchor="ctr"/>
          <a:lstStyle/>
          <a:p>
            <a:pPr algn="l" indent="0" marL="0">
              <a:buNone/>
            </a:pPr>
            <a:r>
              <a:rPr lang="en-US" sz="720" dirty="0">
                <a:solidFill>
                  <a:srgbClr val="2B9A66"/>
                </a:solidFill>
                <a:latin typeface="Calibri" pitchFamily="34" charset="0"/>
                <a:ea typeface="Calibri" pitchFamily="34" charset="-122"/>
                <a:cs typeface="Calibri" pitchFamily="34" charset="-120"/>
              </a:rPr>
              <a:t>Hero — protect OSA</a:t>
            </a:r>
            <a:endParaRPr lang="en-US" sz="720" dirty="0"/>
          </a:p>
        </p:txBody>
      </p:sp>
      <p:sp>
        <p:nvSpPr>
          <p:cNvPr id="58" name="Shape 54"/>
          <p:cNvSpPr/>
          <p:nvPr/>
        </p:nvSpPr>
        <p:spPr>
          <a:xfrm>
            <a:off x="265176" y="6217920"/>
            <a:ext cx="6327648" cy="310896"/>
          </a:xfrm>
          <a:prstGeom prst="rect">
            <a:avLst/>
          </a:prstGeom>
          <a:solidFill>
            <a:srgbClr val="F4F9F8"/>
          </a:solidFill>
          <a:ln/>
        </p:spPr>
      </p:sp>
      <p:sp>
        <p:nvSpPr>
          <p:cNvPr id="59" name="Shape 55"/>
          <p:cNvSpPr/>
          <p:nvPr/>
        </p:nvSpPr>
        <p:spPr>
          <a:xfrm>
            <a:off x="265176" y="6528816"/>
            <a:ext cx="6327648" cy="0"/>
          </a:xfrm>
          <a:prstGeom prst="line">
            <a:avLst/>
          </a:prstGeom>
          <a:noFill/>
          <a:ln w="6350">
            <a:solidFill>
              <a:srgbClr val="C8DCD7"/>
            </a:solidFill>
            <a:prstDash val="solid"/>
          </a:ln>
        </p:spPr>
      </p:sp>
      <p:sp>
        <p:nvSpPr>
          <p:cNvPr id="60" name="Text 56"/>
          <p:cNvSpPr/>
          <p:nvPr/>
        </p:nvSpPr>
        <p:spPr>
          <a:xfrm>
            <a:off x="320040" y="621792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61" name="Text 57"/>
          <p:cNvSpPr/>
          <p:nvPr/>
        </p:nvSpPr>
        <p:spPr>
          <a:xfrm>
            <a:off x="566572" y="621792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with Turmeric</a:t>
            </a:r>
            <a:endParaRPr lang="en-US" sz="720" dirty="0"/>
          </a:p>
        </p:txBody>
      </p:sp>
      <p:sp>
        <p:nvSpPr>
          <p:cNvPr id="62" name="Text 58"/>
          <p:cNvSpPr/>
          <p:nvPr/>
        </p:nvSpPr>
        <p:spPr>
          <a:xfrm>
            <a:off x="4428902" y="621792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₹0.14 Cr</a:t>
            </a:r>
            <a:endParaRPr lang="en-US" sz="720" dirty="0"/>
          </a:p>
        </p:txBody>
      </p:sp>
      <p:sp>
        <p:nvSpPr>
          <p:cNvPr id="63" name="Text 59"/>
          <p:cNvSpPr/>
          <p:nvPr/>
        </p:nvSpPr>
        <p:spPr>
          <a:xfrm>
            <a:off x="5415029" y="621792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4" name="Shape 60"/>
          <p:cNvSpPr/>
          <p:nvPr/>
        </p:nvSpPr>
        <p:spPr>
          <a:xfrm>
            <a:off x="265176" y="6839712"/>
            <a:ext cx="6327648" cy="0"/>
          </a:xfrm>
          <a:prstGeom prst="line">
            <a:avLst/>
          </a:prstGeom>
          <a:noFill/>
          <a:ln w="6350">
            <a:solidFill>
              <a:srgbClr val="C8DCD7"/>
            </a:solidFill>
            <a:prstDash val="solid"/>
          </a:ln>
        </p:spPr>
      </p:sp>
      <p:sp>
        <p:nvSpPr>
          <p:cNvPr id="65" name="Text 61"/>
          <p:cNvSpPr/>
          <p:nvPr/>
        </p:nvSpPr>
        <p:spPr>
          <a:xfrm>
            <a:off x="320040" y="6528816"/>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66" name="Text 62"/>
          <p:cNvSpPr/>
          <p:nvPr/>
        </p:nvSpPr>
        <p:spPr>
          <a:xfrm>
            <a:off x="566572" y="6528816"/>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Face Wash with Vitamin C</a:t>
            </a:r>
            <a:endParaRPr lang="en-US" sz="720" dirty="0"/>
          </a:p>
        </p:txBody>
      </p:sp>
      <p:sp>
        <p:nvSpPr>
          <p:cNvPr id="67" name="Text 63"/>
          <p:cNvSpPr/>
          <p:nvPr/>
        </p:nvSpPr>
        <p:spPr>
          <a:xfrm>
            <a:off x="4428902" y="6528816"/>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₹0.09 Cr</a:t>
            </a:r>
            <a:endParaRPr lang="en-US" sz="720" dirty="0"/>
          </a:p>
        </p:txBody>
      </p:sp>
      <p:sp>
        <p:nvSpPr>
          <p:cNvPr id="68" name="Text 64"/>
          <p:cNvSpPr/>
          <p:nvPr/>
        </p:nvSpPr>
        <p:spPr>
          <a:xfrm>
            <a:off x="5415029" y="6528816"/>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69" name="Shape 65"/>
          <p:cNvSpPr/>
          <p:nvPr/>
        </p:nvSpPr>
        <p:spPr>
          <a:xfrm>
            <a:off x="265176" y="6839712"/>
            <a:ext cx="6327648" cy="310896"/>
          </a:xfrm>
          <a:prstGeom prst="rect">
            <a:avLst/>
          </a:prstGeom>
          <a:solidFill>
            <a:srgbClr val="F4F9F8"/>
          </a:solidFill>
          <a:ln/>
        </p:spPr>
      </p:sp>
      <p:sp>
        <p:nvSpPr>
          <p:cNvPr id="70" name="Shape 66"/>
          <p:cNvSpPr/>
          <p:nvPr/>
        </p:nvSpPr>
        <p:spPr>
          <a:xfrm>
            <a:off x="265176" y="7150608"/>
            <a:ext cx="6327648" cy="0"/>
          </a:xfrm>
          <a:prstGeom prst="line">
            <a:avLst/>
          </a:prstGeom>
          <a:noFill/>
          <a:ln w="6350">
            <a:solidFill>
              <a:srgbClr val="C8DCD7"/>
            </a:solidFill>
            <a:prstDash val="solid"/>
          </a:ln>
        </p:spPr>
      </p:sp>
      <p:sp>
        <p:nvSpPr>
          <p:cNvPr id="71" name="Text 67"/>
          <p:cNvSpPr/>
          <p:nvPr/>
        </p:nvSpPr>
        <p:spPr>
          <a:xfrm>
            <a:off x="320040" y="6839712"/>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72" name="Text 68"/>
          <p:cNvSpPr/>
          <p:nvPr/>
        </p:nvSpPr>
        <p:spPr>
          <a:xfrm>
            <a:off x="566572" y="6839712"/>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Face Wash</a:t>
            </a:r>
            <a:endParaRPr lang="en-US" sz="720" dirty="0"/>
          </a:p>
        </p:txBody>
      </p:sp>
      <p:sp>
        <p:nvSpPr>
          <p:cNvPr id="73" name="Text 69"/>
          <p:cNvSpPr/>
          <p:nvPr/>
        </p:nvSpPr>
        <p:spPr>
          <a:xfrm>
            <a:off x="4428902" y="6839712"/>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4" name="Text 70"/>
          <p:cNvSpPr/>
          <p:nvPr/>
        </p:nvSpPr>
        <p:spPr>
          <a:xfrm>
            <a:off x="5415029" y="6839712"/>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Core volume</a:t>
            </a:r>
            <a:endParaRPr lang="en-US" sz="720" dirty="0"/>
          </a:p>
        </p:txBody>
      </p:sp>
      <p:sp>
        <p:nvSpPr>
          <p:cNvPr id="75" name="Shape 71"/>
          <p:cNvSpPr/>
          <p:nvPr/>
        </p:nvSpPr>
        <p:spPr>
          <a:xfrm>
            <a:off x="265176" y="7461504"/>
            <a:ext cx="6327648" cy="0"/>
          </a:xfrm>
          <a:prstGeom prst="line">
            <a:avLst/>
          </a:prstGeom>
          <a:noFill/>
          <a:ln w="6350">
            <a:solidFill>
              <a:srgbClr val="C8DCD7"/>
            </a:solidFill>
            <a:prstDash val="solid"/>
          </a:ln>
        </p:spPr>
      </p:sp>
      <p:sp>
        <p:nvSpPr>
          <p:cNvPr id="76" name="Text 72"/>
          <p:cNvSpPr/>
          <p:nvPr/>
        </p:nvSpPr>
        <p:spPr>
          <a:xfrm>
            <a:off x="320040" y="7150608"/>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77" name="Text 73"/>
          <p:cNvSpPr/>
          <p:nvPr/>
        </p:nvSpPr>
        <p:spPr>
          <a:xfrm>
            <a:off x="566572" y="7150608"/>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Ubtan Natural Glow Face Wash 50 ml</a:t>
            </a:r>
            <a:endParaRPr lang="en-US" sz="720" dirty="0"/>
          </a:p>
        </p:txBody>
      </p:sp>
      <p:sp>
        <p:nvSpPr>
          <p:cNvPr id="78" name="Text 74"/>
          <p:cNvSpPr/>
          <p:nvPr/>
        </p:nvSpPr>
        <p:spPr>
          <a:xfrm>
            <a:off x="4428902" y="7150608"/>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79" name="Text 75"/>
          <p:cNvSpPr/>
          <p:nvPr/>
        </p:nvSpPr>
        <p:spPr>
          <a:xfrm>
            <a:off x="5415029" y="7150608"/>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Traffic pack</a:t>
            </a:r>
            <a:endParaRPr lang="en-US" sz="720" dirty="0"/>
          </a:p>
        </p:txBody>
      </p:sp>
      <p:sp>
        <p:nvSpPr>
          <p:cNvPr id="80" name="Shape 76"/>
          <p:cNvSpPr/>
          <p:nvPr/>
        </p:nvSpPr>
        <p:spPr>
          <a:xfrm>
            <a:off x="265176" y="7461504"/>
            <a:ext cx="6327648" cy="310896"/>
          </a:xfrm>
          <a:prstGeom prst="rect">
            <a:avLst/>
          </a:prstGeom>
          <a:solidFill>
            <a:srgbClr val="F4F9F8"/>
          </a:solidFill>
          <a:ln/>
        </p:spPr>
      </p:sp>
      <p:sp>
        <p:nvSpPr>
          <p:cNvPr id="81" name="Shape 77"/>
          <p:cNvSpPr/>
          <p:nvPr/>
        </p:nvSpPr>
        <p:spPr>
          <a:xfrm>
            <a:off x="265176" y="7772400"/>
            <a:ext cx="6327648" cy="0"/>
          </a:xfrm>
          <a:prstGeom prst="line">
            <a:avLst/>
          </a:prstGeom>
          <a:noFill/>
          <a:ln w="6350">
            <a:solidFill>
              <a:srgbClr val="C8DCD7"/>
            </a:solidFill>
            <a:prstDash val="solid"/>
          </a:ln>
        </p:spPr>
      </p:sp>
      <p:sp>
        <p:nvSpPr>
          <p:cNvPr id="82" name="Text 78"/>
          <p:cNvSpPr/>
          <p:nvPr/>
        </p:nvSpPr>
        <p:spPr>
          <a:xfrm>
            <a:off x="320040" y="7461504"/>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83" name="Text 79"/>
          <p:cNvSpPr/>
          <p:nvPr/>
        </p:nvSpPr>
        <p:spPr>
          <a:xfrm>
            <a:off x="566572" y="7461504"/>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Vitamin C Daily Glow Sunscreen 50 g</a:t>
            </a:r>
            <a:endParaRPr lang="en-US" sz="720" dirty="0"/>
          </a:p>
        </p:txBody>
      </p:sp>
      <p:sp>
        <p:nvSpPr>
          <p:cNvPr id="84" name="Text 80"/>
          <p:cNvSpPr/>
          <p:nvPr/>
        </p:nvSpPr>
        <p:spPr>
          <a:xfrm>
            <a:off x="4428902" y="7461504"/>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₹0.08 Cr</a:t>
            </a:r>
            <a:endParaRPr lang="en-US" sz="720" dirty="0"/>
          </a:p>
        </p:txBody>
      </p:sp>
      <p:sp>
        <p:nvSpPr>
          <p:cNvPr id="85" name="Text 81"/>
          <p:cNvSpPr/>
          <p:nvPr/>
        </p:nvSpPr>
        <p:spPr>
          <a:xfrm>
            <a:off x="5415029" y="7461504"/>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Seasonal</a:t>
            </a:r>
            <a:endParaRPr lang="en-US" sz="720" dirty="0"/>
          </a:p>
        </p:txBody>
      </p:sp>
      <p:sp>
        <p:nvSpPr>
          <p:cNvPr id="86" name="Shape 82"/>
          <p:cNvSpPr/>
          <p:nvPr/>
        </p:nvSpPr>
        <p:spPr>
          <a:xfrm>
            <a:off x="265176" y="8083296"/>
            <a:ext cx="6327648" cy="0"/>
          </a:xfrm>
          <a:prstGeom prst="line">
            <a:avLst/>
          </a:prstGeom>
          <a:noFill/>
          <a:ln w="6350">
            <a:solidFill>
              <a:srgbClr val="C8DCD7"/>
            </a:solidFill>
            <a:prstDash val="solid"/>
          </a:ln>
        </p:spPr>
      </p:sp>
      <p:sp>
        <p:nvSpPr>
          <p:cNvPr id="87" name="Text 83"/>
          <p:cNvSpPr/>
          <p:nvPr/>
        </p:nvSpPr>
        <p:spPr>
          <a:xfrm>
            <a:off x="320040" y="7772400"/>
            <a:ext cx="136804"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88" name="Text 84"/>
          <p:cNvSpPr/>
          <p:nvPr/>
        </p:nvSpPr>
        <p:spPr>
          <a:xfrm>
            <a:off x="566572" y="7772400"/>
            <a:ext cx="3752603"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Onion Hair Fall Control Shampoo</a:t>
            </a:r>
            <a:endParaRPr lang="en-US" sz="720" dirty="0"/>
          </a:p>
        </p:txBody>
      </p:sp>
      <p:sp>
        <p:nvSpPr>
          <p:cNvPr id="89" name="Text 85"/>
          <p:cNvSpPr/>
          <p:nvPr/>
        </p:nvSpPr>
        <p:spPr>
          <a:xfrm>
            <a:off x="4428902" y="7772400"/>
            <a:ext cx="876399"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₹0.07 Cr</a:t>
            </a:r>
            <a:endParaRPr lang="en-US" sz="720" dirty="0"/>
          </a:p>
        </p:txBody>
      </p:sp>
      <p:sp>
        <p:nvSpPr>
          <p:cNvPr id="90" name="Text 86"/>
          <p:cNvSpPr/>
          <p:nvPr/>
        </p:nvSpPr>
        <p:spPr>
          <a:xfrm>
            <a:off x="5415029" y="7772400"/>
            <a:ext cx="1122931"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Cross-category entry</a:t>
            </a:r>
            <a:endParaRPr lang="en-US" sz="720" dirty="0"/>
          </a:p>
        </p:txBody>
      </p:sp>
      <p:sp>
        <p:nvSpPr>
          <p:cNvPr id="91" name="Shape 87"/>
          <p:cNvSpPr/>
          <p:nvPr/>
        </p:nvSpPr>
        <p:spPr>
          <a:xfrm>
            <a:off x="265176" y="8266176"/>
            <a:ext cx="3090672" cy="1335024"/>
          </a:xfrm>
          <a:prstGeom prst="roundRect">
            <a:avLst>
              <a:gd name="adj" fmla="val 1370"/>
            </a:avLst>
          </a:prstGeom>
          <a:solidFill>
            <a:srgbClr val="FFFFFF"/>
          </a:solidFill>
          <a:ln w="9525">
            <a:solidFill>
              <a:srgbClr val="C8DCD7"/>
            </a:solidFill>
            <a:prstDash val="solid"/>
          </a:ln>
        </p:spPr>
      </p:sp>
      <p:sp>
        <p:nvSpPr>
          <p:cNvPr id="92" name="Shape 88"/>
          <p:cNvSpPr/>
          <p:nvPr/>
        </p:nvSpPr>
        <p:spPr>
          <a:xfrm>
            <a:off x="265176" y="8266176"/>
            <a:ext cx="3090672" cy="274320"/>
          </a:xfrm>
          <a:prstGeom prst="rect">
            <a:avLst/>
          </a:prstGeom>
          <a:solidFill>
            <a:srgbClr val="2B9A66"/>
          </a:solidFill>
          <a:ln/>
        </p:spPr>
      </p:sp>
      <p:sp>
        <p:nvSpPr>
          <p:cNvPr id="93" name="Text 89"/>
          <p:cNvSpPr/>
          <p:nvPr/>
        </p:nvSpPr>
        <p:spPr>
          <a:xfrm>
            <a:off x="347472"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LEADERSHIP CALL</a:t>
            </a:r>
            <a:endParaRPr lang="en-US" sz="700" dirty="0"/>
          </a:p>
        </p:txBody>
      </p:sp>
      <p:sp>
        <p:nvSpPr>
          <p:cNvPr id="94" name="Shape 90"/>
          <p:cNvSpPr/>
          <p:nvPr/>
        </p:nvSpPr>
        <p:spPr>
          <a:xfrm>
            <a:off x="374904" y="8700516"/>
            <a:ext cx="50292" cy="50292"/>
          </a:xfrm>
          <a:prstGeom prst="ellipse">
            <a:avLst/>
          </a:prstGeom>
          <a:solidFill>
            <a:srgbClr val="2B9A66"/>
          </a:solidFill>
          <a:ln/>
        </p:spPr>
      </p:sp>
      <p:sp>
        <p:nvSpPr>
          <p:cNvPr id="95" name="Text 91"/>
          <p:cNvSpPr/>
          <p:nvPr/>
        </p:nvSpPr>
        <p:spPr>
          <a:xfrm>
            <a:off x="493776"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Protect the two Rice Face Wash SKUs — 22% of account offtake.</a:t>
            </a:r>
            <a:endParaRPr lang="en-US" sz="720" dirty="0"/>
          </a:p>
        </p:txBody>
      </p:sp>
      <p:sp>
        <p:nvSpPr>
          <p:cNvPr id="96" name="Shape 92"/>
          <p:cNvSpPr/>
          <p:nvPr/>
        </p:nvSpPr>
        <p:spPr>
          <a:xfrm>
            <a:off x="374904" y="9011412"/>
            <a:ext cx="50292" cy="50292"/>
          </a:xfrm>
          <a:prstGeom prst="ellipse">
            <a:avLst/>
          </a:prstGeom>
          <a:solidFill>
            <a:srgbClr val="2B9A66"/>
          </a:solidFill>
          <a:ln/>
        </p:spPr>
      </p:sp>
      <p:sp>
        <p:nvSpPr>
          <p:cNvPr id="97" name="Text 93"/>
          <p:cNvSpPr/>
          <p:nvPr/>
        </p:nvSpPr>
        <p:spPr>
          <a:xfrm>
            <a:off x="493776"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Reverse the 4.6% June–July softness back to ₹2.17 Cr.</a:t>
            </a:r>
            <a:endParaRPr lang="en-US" sz="720" dirty="0"/>
          </a:p>
        </p:txBody>
      </p:sp>
      <p:sp>
        <p:nvSpPr>
          <p:cNvPr id="98" name="Shape 94"/>
          <p:cNvSpPr/>
          <p:nvPr/>
        </p:nvSpPr>
        <p:spPr>
          <a:xfrm>
            <a:off x="374904" y="9322308"/>
            <a:ext cx="50292" cy="50292"/>
          </a:xfrm>
          <a:prstGeom prst="ellipse">
            <a:avLst/>
          </a:prstGeom>
          <a:solidFill>
            <a:srgbClr val="2B9A66"/>
          </a:solidFill>
          <a:ln/>
        </p:spPr>
      </p:sp>
      <p:sp>
        <p:nvSpPr>
          <p:cNvPr id="99" name="Text 95"/>
          <p:cNvSpPr/>
          <p:nvPr/>
        </p:nvSpPr>
        <p:spPr>
          <a:xfrm>
            <a:off x="493776"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flow above 95% as the account benchmark.</a:t>
            </a:r>
            <a:endParaRPr lang="en-US" sz="720" dirty="0"/>
          </a:p>
        </p:txBody>
      </p:sp>
      <p:sp>
        <p:nvSpPr>
          <p:cNvPr id="100" name="Shape 96"/>
          <p:cNvSpPr/>
          <p:nvPr/>
        </p:nvSpPr>
        <p:spPr>
          <a:xfrm>
            <a:off x="3502152" y="8266176"/>
            <a:ext cx="3090672" cy="1335024"/>
          </a:xfrm>
          <a:prstGeom prst="roundRect">
            <a:avLst>
              <a:gd name="adj" fmla="val 1370"/>
            </a:avLst>
          </a:prstGeom>
          <a:solidFill>
            <a:srgbClr val="FFFFFF"/>
          </a:solidFill>
          <a:ln w="9525">
            <a:solidFill>
              <a:srgbClr val="C8DCD7"/>
            </a:solidFill>
            <a:prstDash val="solid"/>
          </a:ln>
        </p:spPr>
      </p:sp>
      <p:sp>
        <p:nvSpPr>
          <p:cNvPr id="101" name="Shape 97"/>
          <p:cNvSpPr/>
          <p:nvPr/>
        </p:nvSpPr>
        <p:spPr>
          <a:xfrm>
            <a:off x="3502152" y="8266176"/>
            <a:ext cx="3090672" cy="274320"/>
          </a:xfrm>
          <a:prstGeom prst="rect">
            <a:avLst/>
          </a:prstGeom>
          <a:solidFill>
            <a:srgbClr val="F2B84B"/>
          </a:solidFill>
          <a:ln/>
        </p:spPr>
      </p:sp>
      <p:sp>
        <p:nvSpPr>
          <p:cNvPr id="102" name="Text 98"/>
          <p:cNvSpPr/>
          <p:nvPr/>
        </p:nvSpPr>
        <p:spPr>
          <a:xfrm>
            <a:off x="3584448" y="8284464"/>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READ THIS ACCOUNT CAREFULLY</a:t>
            </a:r>
            <a:endParaRPr lang="en-US" sz="700" dirty="0"/>
          </a:p>
        </p:txBody>
      </p:sp>
      <p:sp>
        <p:nvSpPr>
          <p:cNvPr id="103" name="Shape 99"/>
          <p:cNvSpPr/>
          <p:nvPr/>
        </p:nvSpPr>
        <p:spPr>
          <a:xfrm>
            <a:off x="3611880" y="8700516"/>
            <a:ext cx="50292" cy="50292"/>
          </a:xfrm>
          <a:prstGeom prst="ellipse">
            <a:avLst/>
          </a:prstGeom>
          <a:solidFill>
            <a:srgbClr val="F2B84B"/>
          </a:solidFill>
          <a:ln/>
        </p:spPr>
      </p:sp>
      <p:sp>
        <p:nvSpPr>
          <p:cNvPr id="104" name="Text 100"/>
          <p:cNvSpPr/>
          <p:nvPr/>
        </p:nvSpPr>
        <p:spPr>
          <a:xfrm>
            <a:off x="3730752" y="8650224"/>
            <a:ext cx="2752344" cy="292608"/>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FSN and Nykaa SS are combined at article level — neither can be attributed.</a:t>
            </a:r>
            <a:endParaRPr lang="en-US" sz="720" dirty="0"/>
          </a:p>
        </p:txBody>
      </p:sp>
      <p:sp>
        <p:nvSpPr>
          <p:cNvPr id="105" name="Shape 101"/>
          <p:cNvSpPr/>
          <p:nvPr/>
        </p:nvSpPr>
        <p:spPr>
          <a:xfrm>
            <a:off x="3611880" y="9011412"/>
            <a:ext cx="50292" cy="50292"/>
          </a:xfrm>
          <a:prstGeom prst="ellipse">
            <a:avLst/>
          </a:prstGeom>
          <a:solidFill>
            <a:srgbClr val="F2B84B"/>
          </a:solidFill>
          <a:ln/>
        </p:spPr>
      </p:sp>
      <p:sp>
        <p:nvSpPr>
          <p:cNvPr id="106" name="Text 102"/>
          <p:cNvSpPr/>
          <p:nvPr/>
        </p:nvSpPr>
        <p:spPr>
          <a:xfrm>
            <a:off x="3730752" y="8961120"/>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Marketplace replenishment is near real-time; 99.4% is not transferable to hypermarkets.</a:t>
            </a:r>
            <a:endParaRPr lang="en-US" sz="720" dirty="0"/>
          </a:p>
        </p:txBody>
      </p:sp>
      <p:sp>
        <p:nvSpPr>
          <p:cNvPr id="107" name="Shape 103"/>
          <p:cNvSpPr/>
          <p:nvPr/>
        </p:nvSpPr>
        <p:spPr>
          <a:xfrm>
            <a:off x="3611880" y="9322308"/>
            <a:ext cx="50292" cy="50292"/>
          </a:xfrm>
          <a:prstGeom prst="ellipse">
            <a:avLst/>
          </a:prstGeom>
          <a:solidFill>
            <a:srgbClr val="F2B84B"/>
          </a:solidFill>
          <a:ln/>
        </p:spPr>
      </p:sp>
      <p:sp>
        <p:nvSpPr>
          <p:cNvPr id="108" name="Text 104"/>
          <p:cNvSpPr/>
          <p:nvPr/>
        </p:nvSpPr>
        <p:spPr>
          <a:xfrm>
            <a:off x="3730752" y="9272016"/>
            <a:ext cx="2752344" cy="292608"/>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This ₹2.07 Cr is eB2B and sits outside MT zone sales entirely.</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NPI is ₹2.82 Cr — and 82% of it sits in the two accounts that convert worst</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New product introduction | contribution by zone and chain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18</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2036064" cy="859536"/>
          </a:xfrm>
          <a:prstGeom prst="rect">
            <a:avLst/>
          </a:prstGeom>
          <a:solidFill>
            <a:srgbClr val="FFFFFF"/>
          </a:solidFill>
          <a:ln w="9525">
            <a:solidFill>
              <a:srgbClr val="C8DCD7"/>
            </a:solidFill>
            <a:prstDash val="solid"/>
          </a:ln>
        </p:spPr>
      </p:sp>
      <p:sp>
        <p:nvSpPr>
          <p:cNvPr id="20" name="Shape 18"/>
          <p:cNvSpPr/>
          <p:nvPr/>
        </p:nvSpPr>
        <p:spPr>
          <a:xfrm>
            <a:off x="265176" y="1261872"/>
            <a:ext cx="64008" cy="859536"/>
          </a:xfrm>
          <a:prstGeom prst="rect">
            <a:avLst/>
          </a:prstGeom>
          <a:solidFill>
            <a:srgbClr val="28A596"/>
          </a:solidFill>
          <a:ln/>
        </p:spPr>
      </p:sp>
      <p:sp>
        <p:nvSpPr>
          <p:cNvPr id="21" name="Text 19"/>
          <p:cNvSpPr/>
          <p:nvPr/>
        </p:nvSpPr>
        <p:spPr>
          <a:xfrm>
            <a:off x="420624"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NPI OFFTAKE</a:t>
            </a:r>
            <a:endParaRPr lang="en-US" sz="680" dirty="0"/>
          </a:p>
        </p:txBody>
      </p:sp>
      <p:sp>
        <p:nvSpPr>
          <p:cNvPr id="22" name="Text 20"/>
          <p:cNvSpPr/>
          <p:nvPr/>
        </p:nvSpPr>
        <p:spPr>
          <a:xfrm>
            <a:off x="420624" y="1536192"/>
            <a:ext cx="1798320" cy="310896"/>
          </a:xfrm>
          <a:prstGeom prst="rect">
            <a:avLst/>
          </a:prstGeom>
          <a:noFill/>
          <a:ln/>
        </p:spPr>
        <p:txBody>
          <a:bodyPr wrap="square" lIns="0" tIns="0" rIns="0" bIns="0" rtlCol="0" anchor="ctr"/>
          <a:lstStyle/>
          <a:p>
            <a:pPr indent="0" marL="0">
              <a:buNone/>
            </a:pPr>
            <a:r>
              <a:rPr lang="en-US" sz="1550" b="1" dirty="0">
                <a:solidFill>
                  <a:srgbClr val="28A596"/>
                </a:solidFill>
                <a:latin typeface="Calibri Light" pitchFamily="34" charset="0"/>
                <a:ea typeface="Calibri Light" pitchFamily="34" charset="-122"/>
                <a:cs typeface="Calibri Light" pitchFamily="34" charset="-120"/>
              </a:rPr>
              <a:t>₹2.82 Cr</a:t>
            </a:r>
            <a:endParaRPr lang="en-US" sz="1550" dirty="0"/>
          </a:p>
        </p:txBody>
      </p:sp>
      <p:sp>
        <p:nvSpPr>
          <p:cNvPr id="23" name="Text 21"/>
          <p:cNvSpPr/>
          <p:nvPr/>
        </p:nvSpPr>
        <p:spPr>
          <a:xfrm>
            <a:off x="420624"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7.82% of July offtake</a:t>
            </a:r>
            <a:endParaRPr lang="en-US" sz="680" dirty="0"/>
          </a:p>
        </p:txBody>
      </p:sp>
      <p:sp>
        <p:nvSpPr>
          <p:cNvPr id="24" name="Shape 22"/>
          <p:cNvSpPr/>
          <p:nvPr/>
        </p:nvSpPr>
        <p:spPr>
          <a:xfrm>
            <a:off x="2410968" y="1261872"/>
            <a:ext cx="2036064" cy="859536"/>
          </a:xfrm>
          <a:prstGeom prst="rect">
            <a:avLst/>
          </a:prstGeom>
          <a:solidFill>
            <a:srgbClr val="FFFFFF"/>
          </a:solidFill>
          <a:ln w="9525">
            <a:solidFill>
              <a:srgbClr val="C8DCD7"/>
            </a:solidFill>
            <a:prstDash val="solid"/>
          </a:ln>
        </p:spPr>
      </p:sp>
      <p:sp>
        <p:nvSpPr>
          <p:cNvPr id="25" name="Shape 23"/>
          <p:cNvSpPr/>
          <p:nvPr/>
        </p:nvSpPr>
        <p:spPr>
          <a:xfrm>
            <a:off x="2410968" y="1261872"/>
            <a:ext cx="64008" cy="859536"/>
          </a:xfrm>
          <a:prstGeom prst="rect">
            <a:avLst/>
          </a:prstGeom>
          <a:solidFill>
            <a:srgbClr val="D6544D"/>
          </a:solidFill>
          <a:ln/>
        </p:spPr>
      </p:sp>
      <p:sp>
        <p:nvSpPr>
          <p:cNvPr id="26" name="Text 24"/>
          <p:cNvSpPr/>
          <p:nvPr/>
        </p:nvSpPr>
        <p:spPr>
          <a:xfrm>
            <a:off x="2566416"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IN TWO ACCOUNTS</a:t>
            </a:r>
            <a:endParaRPr lang="en-US" sz="680" dirty="0"/>
          </a:p>
        </p:txBody>
      </p:sp>
      <p:sp>
        <p:nvSpPr>
          <p:cNvPr id="27" name="Text 25"/>
          <p:cNvSpPr/>
          <p:nvPr/>
        </p:nvSpPr>
        <p:spPr>
          <a:xfrm>
            <a:off x="2566416" y="1536192"/>
            <a:ext cx="1798320" cy="310896"/>
          </a:xfrm>
          <a:prstGeom prst="rect">
            <a:avLst/>
          </a:prstGeom>
          <a:noFill/>
          <a:ln/>
        </p:spPr>
        <p:txBody>
          <a:bodyPr wrap="square" lIns="0" tIns="0" rIns="0" bIns="0" rtlCol="0" anchor="ctr"/>
          <a:lstStyle/>
          <a:p>
            <a:pPr indent="0" marL="0">
              <a:buNone/>
            </a:pPr>
            <a:r>
              <a:rPr lang="en-US" sz="1750" b="1" dirty="0">
                <a:solidFill>
                  <a:srgbClr val="D6544D"/>
                </a:solidFill>
                <a:latin typeface="Calibri Light" pitchFamily="34" charset="0"/>
                <a:ea typeface="Calibri Light" pitchFamily="34" charset="-122"/>
                <a:cs typeface="Calibri Light" pitchFamily="34" charset="-120"/>
              </a:rPr>
              <a:t>82.4%</a:t>
            </a:r>
            <a:endParaRPr lang="en-US" sz="1750" dirty="0"/>
          </a:p>
        </p:txBody>
      </p:sp>
      <p:sp>
        <p:nvSpPr>
          <p:cNvPr id="28" name="Text 26"/>
          <p:cNvSpPr/>
          <p:nvPr/>
        </p:nvSpPr>
        <p:spPr>
          <a:xfrm>
            <a:off x="2566416"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Reliance 47.1% + DMart 35.3%</a:t>
            </a:r>
            <a:endParaRPr lang="en-US" sz="680" dirty="0"/>
          </a:p>
        </p:txBody>
      </p:sp>
      <p:sp>
        <p:nvSpPr>
          <p:cNvPr id="29" name="Shape 27"/>
          <p:cNvSpPr/>
          <p:nvPr/>
        </p:nvSpPr>
        <p:spPr>
          <a:xfrm>
            <a:off x="4556760" y="1261872"/>
            <a:ext cx="2036064" cy="859536"/>
          </a:xfrm>
          <a:prstGeom prst="rect">
            <a:avLst/>
          </a:prstGeom>
          <a:solidFill>
            <a:srgbClr val="FFFFFF"/>
          </a:solidFill>
          <a:ln w="9525">
            <a:solidFill>
              <a:srgbClr val="C8DCD7"/>
            </a:solidFill>
            <a:prstDash val="solid"/>
          </a:ln>
        </p:spPr>
      </p:sp>
      <p:sp>
        <p:nvSpPr>
          <p:cNvPr id="30" name="Shape 28"/>
          <p:cNvSpPr/>
          <p:nvPr/>
        </p:nvSpPr>
        <p:spPr>
          <a:xfrm>
            <a:off x="4556760" y="1261872"/>
            <a:ext cx="64008" cy="859536"/>
          </a:xfrm>
          <a:prstGeom prst="rect">
            <a:avLst/>
          </a:prstGeom>
          <a:solidFill>
            <a:srgbClr val="F2B84B"/>
          </a:solidFill>
          <a:ln/>
        </p:spPr>
      </p:sp>
      <p:sp>
        <p:nvSpPr>
          <p:cNvPr id="31" name="Text 29"/>
          <p:cNvSpPr/>
          <p:nvPr/>
        </p:nvSpPr>
        <p:spPr>
          <a:xfrm>
            <a:off x="4712208" y="1353312"/>
            <a:ext cx="1798320" cy="173736"/>
          </a:xfrm>
          <a:prstGeom prst="rect">
            <a:avLst/>
          </a:prstGeom>
          <a:noFill/>
          <a:ln/>
        </p:spPr>
        <p:txBody>
          <a:bodyPr wrap="square" lIns="0" tIns="0" rIns="0" bIns="0" rtlCol="0" anchor="t"/>
          <a:lstStyle/>
          <a:p>
            <a:pPr indent="0" marL="0">
              <a:buNone/>
            </a:pPr>
            <a:r>
              <a:rPr lang="en-US" sz="680" b="1" spc="50" kern="0" dirty="0">
                <a:solidFill>
                  <a:srgbClr val="5F716E"/>
                </a:solidFill>
                <a:latin typeface="Calibri" pitchFamily="34" charset="0"/>
                <a:ea typeface="Calibri" pitchFamily="34" charset="-122"/>
                <a:cs typeface="Calibri" pitchFamily="34" charset="-120"/>
              </a:rPr>
              <a:t>SELLING EANs</a:t>
            </a:r>
            <a:endParaRPr lang="en-US" sz="680" dirty="0"/>
          </a:p>
        </p:txBody>
      </p:sp>
      <p:sp>
        <p:nvSpPr>
          <p:cNvPr id="32" name="Text 30"/>
          <p:cNvSpPr/>
          <p:nvPr/>
        </p:nvSpPr>
        <p:spPr>
          <a:xfrm>
            <a:off x="4712208" y="1536192"/>
            <a:ext cx="1798320" cy="310896"/>
          </a:xfrm>
          <a:prstGeom prst="rect">
            <a:avLst/>
          </a:prstGeom>
          <a:noFill/>
          <a:ln/>
        </p:spPr>
        <p:txBody>
          <a:bodyPr wrap="square" lIns="0" tIns="0" rIns="0" bIns="0" rtlCol="0" anchor="ctr"/>
          <a:lstStyle/>
          <a:p>
            <a:pPr indent="0" marL="0">
              <a:buNone/>
            </a:pPr>
            <a:r>
              <a:rPr lang="en-US" sz="1750" b="1" dirty="0">
                <a:solidFill>
                  <a:srgbClr val="F2B84B"/>
                </a:solidFill>
                <a:latin typeface="Calibri Light" pitchFamily="34" charset="0"/>
                <a:ea typeface="Calibri Light" pitchFamily="34" charset="-122"/>
                <a:cs typeface="Calibri Light" pitchFamily="34" charset="-120"/>
              </a:rPr>
              <a:t>58 / 60</a:t>
            </a:r>
            <a:endParaRPr lang="en-US" sz="1750" dirty="0"/>
          </a:p>
        </p:txBody>
      </p:sp>
      <p:sp>
        <p:nvSpPr>
          <p:cNvPr id="33" name="Text 31"/>
          <p:cNvSpPr/>
          <p:nvPr/>
        </p:nvSpPr>
        <p:spPr>
          <a:xfrm>
            <a:off x="4712208" y="1865376"/>
            <a:ext cx="1798320" cy="173736"/>
          </a:xfrm>
          <a:prstGeom prst="rect">
            <a:avLst/>
          </a:prstGeom>
          <a:noFill/>
          <a:ln/>
        </p:spPr>
        <p:txBody>
          <a:bodyPr wrap="square" lIns="0" tIns="0" rIns="0" bIns="0" rtlCol="0" anchor="t"/>
          <a:lstStyle/>
          <a:p>
            <a:pPr indent="0" marL="0">
              <a:buNone/>
            </a:pPr>
            <a:r>
              <a:rPr lang="en-US" sz="680" dirty="0">
                <a:solidFill>
                  <a:srgbClr val="5F716E"/>
                </a:solidFill>
                <a:latin typeface="Calibri" pitchFamily="34" charset="0"/>
                <a:ea typeface="Calibri" pitchFamily="34" charset="-122"/>
                <a:cs typeface="Calibri" pitchFamily="34" charset="-120"/>
              </a:rPr>
              <a:t>2 finalised with zero sale</a:t>
            </a:r>
            <a:endParaRPr lang="en-US" sz="680" dirty="0"/>
          </a:p>
        </p:txBody>
      </p:sp>
      <p:sp>
        <p:nvSpPr>
          <p:cNvPr id="34" name="Shape 32"/>
          <p:cNvSpPr/>
          <p:nvPr/>
        </p:nvSpPr>
        <p:spPr>
          <a:xfrm>
            <a:off x="265176" y="2231136"/>
            <a:ext cx="6327648" cy="713232"/>
          </a:xfrm>
          <a:prstGeom prst="roundRect">
            <a:avLst>
              <a:gd name="adj" fmla="val 3846"/>
            </a:avLst>
          </a:prstGeom>
          <a:solidFill>
            <a:srgbClr val="FBEDEC"/>
          </a:solidFill>
          <a:ln w="12700">
            <a:solidFill>
              <a:srgbClr val="D6544D"/>
            </a:solidFill>
            <a:prstDash val="solid"/>
          </a:ln>
        </p:spPr>
      </p:sp>
      <p:sp>
        <p:nvSpPr>
          <p:cNvPr id="35" name="Text 33"/>
          <p:cNvSpPr/>
          <p:nvPr/>
        </p:nvSpPr>
        <p:spPr>
          <a:xfrm>
            <a:off x="411480" y="2304288"/>
            <a:ext cx="6035040" cy="256032"/>
          </a:xfrm>
          <a:prstGeom prst="rect">
            <a:avLst/>
          </a:prstGeom>
          <a:noFill/>
          <a:ln/>
        </p:spPr>
        <p:txBody>
          <a:bodyPr wrap="square" lIns="0" tIns="0" rIns="0" bIns="0" rtlCol="0" anchor="ctr"/>
          <a:lstStyle/>
          <a:p>
            <a:pPr algn="ctr" indent="0" marL="0">
              <a:buNone/>
            </a:pPr>
            <a:r>
              <a:rPr lang="en-US" sz="1000" b="1" dirty="0">
                <a:solidFill>
                  <a:srgbClr val="D6544D"/>
                </a:solidFill>
                <a:latin typeface="Calibri Light" pitchFamily="34" charset="0"/>
                <a:ea typeface="Calibri Light" pitchFamily="34" charset="-122"/>
                <a:cs typeface="Calibri Light" pitchFamily="34" charset="-120"/>
              </a:rPr>
              <a:t>New products are being launched through the weakest pipes in the network.</a:t>
            </a:r>
            <a:endParaRPr lang="en-US" sz="1000" dirty="0"/>
          </a:p>
        </p:txBody>
      </p:sp>
      <p:sp>
        <p:nvSpPr>
          <p:cNvPr id="36" name="Text 34"/>
          <p:cNvSpPr/>
          <p:nvPr/>
        </p:nvSpPr>
        <p:spPr>
          <a:xfrm>
            <a:off x="484632" y="2578608"/>
            <a:ext cx="5888736" cy="292608"/>
          </a:xfrm>
          <a:prstGeom prst="rect">
            <a:avLst/>
          </a:prstGeom>
          <a:noFill/>
          <a:ln/>
        </p:spPr>
        <p:txBody>
          <a:bodyPr wrap="square" lIns="0" tIns="0" rIns="0" bIns="0" rtlCol="0" anchor="t"/>
          <a:lstStyle/>
          <a:p>
            <a:pPr algn="ctr" indent="0" marL="0">
              <a:lnSpc>
                <a:spcPct val="94000"/>
              </a:lnSpc>
              <a:buNone/>
            </a:pPr>
            <a:r>
              <a:rPr lang="en-US" sz="720" dirty="0">
                <a:solidFill>
                  <a:srgbClr val="183B39"/>
                </a:solidFill>
                <a:latin typeface="Calibri" pitchFamily="34" charset="0"/>
                <a:ea typeface="Calibri" pitchFamily="34" charset="-122"/>
                <a:cs typeface="Calibri" pitchFamily="34" charset="-120"/>
              </a:rPr>
              <a:t>Reliance holds 47.1% of all NPI value and converts at 51.4%. East runs the highest NPI mix in the country (10.2%) on the worst flow (49.9%). A launch that fails here will be read as a product failure when it is a flow failure.</a:t>
            </a:r>
            <a:endParaRPr lang="en-US" sz="720" dirty="0"/>
          </a:p>
        </p:txBody>
      </p:sp>
      <p:sp>
        <p:nvSpPr>
          <p:cNvPr id="37" name="Text 35"/>
          <p:cNvSpPr/>
          <p:nvPr/>
        </p:nvSpPr>
        <p:spPr>
          <a:xfrm>
            <a:off x="265176"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mix by zone (%), coloured by zone flow conversion</a:t>
            </a:r>
            <a:endParaRPr lang="en-US" sz="720" dirty="0"/>
          </a:p>
        </p:txBody>
      </p:sp>
      <p:graphicFrame>
        <p:nvGraphicFramePr>
          <p:cNvPr id="38" name="Chart 0" descr=""/>
          <p:cNvGraphicFramePr/>
          <p:nvPr/>
        </p:nvGraphicFramePr>
        <p:xfrm>
          <a:off x="246888" y="3291840"/>
          <a:ext cx="3090672" cy="1975104"/>
        </p:xfrm>
        <a:graphic xmlns:a="http://schemas.openxmlformats.org/drawingml/2006/main">
          <a:graphicData uri="http://schemas.openxmlformats.org/drawingml/2006/chart">
            <c:chart xmlns:c="http://schemas.openxmlformats.org/drawingml/2006/chart" r:id="rId1"/>
          </a:graphicData>
        </a:graphic>
      </p:graphicFrame>
      <p:sp>
        <p:nvSpPr>
          <p:cNvPr id="39" name="Text 36"/>
          <p:cNvSpPr/>
          <p:nvPr/>
        </p:nvSpPr>
        <p:spPr>
          <a:xfrm>
            <a:off x="265176"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Bar colour is zone flow conversion: green above 78%, amber 70–78%, red below 60%. The two red zones carry the highest NPI exposure.</a:t>
            </a:r>
            <a:endParaRPr lang="en-US" sz="640" dirty="0"/>
          </a:p>
        </p:txBody>
      </p:sp>
      <p:sp>
        <p:nvSpPr>
          <p:cNvPr id="40" name="Text 37"/>
          <p:cNvSpPr/>
          <p:nvPr/>
        </p:nvSpPr>
        <p:spPr>
          <a:xfrm>
            <a:off x="3502152" y="3090672"/>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NPI offtake by chain (₹ Cr)</a:t>
            </a:r>
            <a:endParaRPr lang="en-US" sz="720" dirty="0"/>
          </a:p>
        </p:txBody>
      </p:sp>
      <p:graphicFrame>
        <p:nvGraphicFramePr>
          <p:cNvPr id="41" name="Chart 1" descr=""/>
          <p:cNvGraphicFramePr/>
          <p:nvPr/>
        </p:nvGraphicFramePr>
        <p:xfrm>
          <a:off x="3447288" y="3291840"/>
          <a:ext cx="3127248" cy="1975104"/>
        </p:xfrm>
        <a:graphic xmlns:a="http://schemas.openxmlformats.org/drawingml/2006/main">
          <a:graphicData uri="http://schemas.openxmlformats.org/drawingml/2006/chart">
            <c:chart xmlns:c="http://schemas.openxmlformats.org/drawingml/2006/chart" r:id="rId2"/>
          </a:graphicData>
        </a:graphic>
      </p:graphicFrame>
      <p:sp>
        <p:nvSpPr>
          <p:cNvPr id="42" name="Text 38"/>
          <p:cNvSpPr/>
          <p:nvPr/>
        </p:nvSpPr>
        <p:spPr>
          <a:xfrm>
            <a:off x="3502152" y="5303520"/>
            <a:ext cx="3090672" cy="237744"/>
          </a:xfrm>
          <a:prstGeom prst="rect">
            <a:avLst/>
          </a:prstGeom>
          <a:noFill/>
          <a:ln/>
        </p:spPr>
        <p:txBody>
          <a:bodyPr wrap="square" lIns="0" tIns="0" rIns="0" bIns="0" rtlCol="0" anchor="t"/>
          <a:lstStyle/>
          <a:p>
            <a:pPr indent="0" marL="0">
              <a:lnSpc>
                <a:spcPct val="92000"/>
              </a:lnSpc>
              <a:buNone/>
            </a:pPr>
            <a:r>
              <a:rPr lang="en-US" sz="640" dirty="0">
                <a:solidFill>
                  <a:srgbClr val="5F716E"/>
                </a:solidFill>
                <a:latin typeface="Calibri" pitchFamily="34" charset="0"/>
                <a:ea typeface="Calibri" pitchFamily="34" charset="-122"/>
                <a:cs typeface="Calibri" pitchFamily="34" charset="-120"/>
              </a:rPr>
              <a:t>Reliance ₹1.30 Cr and DMart ₹0.98 Cr together are 82.4% of all NPI value. Converted from a source series reported in ₹ lakh.</a:t>
            </a:r>
            <a:endParaRPr lang="en-US" sz="640" dirty="0"/>
          </a:p>
        </p:txBody>
      </p:sp>
      <p:sp>
        <p:nvSpPr>
          <p:cNvPr id="43" name="Shape 39"/>
          <p:cNvSpPr/>
          <p:nvPr/>
        </p:nvSpPr>
        <p:spPr>
          <a:xfrm>
            <a:off x="265176" y="5614416"/>
            <a:ext cx="6327648" cy="256032"/>
          </a:xfrm>
          <a:prstGeom prst="rect">
            <a:avLst/>
          </a:prstGeom>
          <a:solidFill>
            <a:srgbClr val="116F68"/>
          </a:solidFill>
          <a:ln/>
        </p:spPr>
      </p:sp>
      <p:sp>
        <p:nvSpPr>
          <p:cNvPr id="44" name="Text 40"/>
          <p:cNvSpPr/>
          <p:nvPr/>
        </p:nvSpPr>
        <p:spPr>
          <a:xfrm>
            <a:off x="374904" y="563270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TOP NPI ARTICLES — FULL NAMES, JULY OFFTAKE</a:t>
            </a:r>
            <a:endParaRPr lang="en-US" sz="720" dirty="0"/>
          </a:p>
        </p:txBody>
      </p:sp>
      <p:sp>
        <p:nvSpPr>
          <p:cNvPr id="45" name="Shape 41"/>
          <p:cNvSpPr/>
          <p:nvPr/>
        </p:nvSpPr>
        <p:spPr>
          <a:xfrm>
            <a:off x="265176" y="5961888"/>
            <a:ext cx="6327648" cy="256032"/>
          </a:xfrm>
          <a:prstGeom prst="rect">
            <a:avLst/>
          </a:prstGeom>
          <a:solidFill>
            <a:srgbClr val="116F68"/>
          </a:solidFill>
          <a:ln/>
        </p:spPr>
      </p:sp>
      <p:sp>
        <p:nvSpPr>
          <p:cNvPr id="46" name="Text 42"/>
          <p:cNvSpPr/>
          <p:nvPr/>
        </p:nvSpPr>
        <p:spPr>
          <a:xfrm>
            <a:off x="320040"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47" name="Text 43"/>
          <p:cNvSpPr/>
          <p:nvPr/>
        </p:nvSpPr>
        <p:spPr>
          <a:xfrm>
            <a:off x="539315"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48" name="Text 44"/>
          <p:cNvSpPr/>
          <p:nvPr/>
        </p:nvSpPr>
        <p:spPr>
          <a:xfrm>
            <a:off x="2967002"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49" name="Text 45"/>
          <p:cNvSpPr/>
          <p:nvPr/>
        </p:nvSpPr>
        <p:spPr>
          <a:xfrm>
            <a:off x="3483864" y="5980176"/>
            <a:ext cx="109547"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50" name="Text 46"/>
          <p:cNvSpPr/>
          <p:nvPr/>
        </p:nvSpPr>
        <p:spPr>
          <a:xfrm>
            <a:off x="3703139" y="5980176"/>
            <a:ext cx="231795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ARTICLE</a:t>
            </a:r>
            <a:endParaRPr lang="en-US" sz="660" dirty="0"/>
          </a:p>
        </p:txBody>
      </p:sp>
      <p:sp>
        <p:nvSpPr>
          <p:cNvPr id="51" name="Text 47"/>
          <p:cNvSpPr/>
          <p:nvPr/>
        </p:nvSpPr>
        <p:spPr>
          <a:xfrm>
            <a:off x="6130826" y="5980176"/>
            <a:ext cx="40713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 Cr</a:t>
            </a:r>
            <a:endParaRPr lang="en-US" sz="660" dirty="0"/>
          </a:p>
        </p:txBody>
      </p:sp>
      <p:sp>
        <p:nvSpPr>
          <p:cNvPr id="52" name="Shape 48"/>
          <p:cNvSpPr/>
          <p:nvPr/>
        </p:nvSpPr>
        <p:spPr>
          <a:xfrm>
            <a:off x="265176" y="6217920"/>
            <a:ext cx="6327648" cy="274320"/>
          </a:xfrm>
          <a:prstGeom prst="rect">
            <a:avLst/>
          </a:prstGeom>
          <a:solidFill>
            <a:srgbClr val="F4F9F8"/>
          </a:solidFill>
          <a:ln/>
        </p:spPr>
      </p:sp>
      <p:sp>
        <p:nvSpPr>
          <p:cNvPr id="53" name="Shape 49"/>
          <p:cNvSpPr/>
          <p:nvPr/>
        </p:nvSpPr>
        <p:spPr>
          <a:xfrm>
            <a:off x="265176" y="6492240"/>
            <a:ext cx="6327648" cy="0"/>
          </a:xfrm>
          <a:prstGeom prst="line">
            <a:avLst/>
          </a:prstGeom>
          <a:noFill/>
          <a:ln w="6350">
            <a:solidFill>
              <a:srgbClr val="C8DCD7"/>
            </a:solidFill>
            <a:prstDash val="solid"/>
          </a:ln>
        </p:spPr>
      </p:sp>
      <p:sp>
        <p:nvSpPr>
          <p:cNvPr id="54" name="Text 50"/>
          <p:cNvSpPr/>
          <p:nvPr/>
        </p:nvSpPr>
        <p:spPr>
          <a:xfrm>
            <a:off x="320040"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a:t>
            </a:r>
            <a:endParaRPr lang="en-US" sz="700" dirty="0"/>
          </a:p>
        </p:txBody>
      </p:sp>
      <p:sp>
        <p:nvSpPr>
          <p:cNvPr id="55" name="Text 51"/>
          <p:cNvSpPr/>
          <p:nvPr/>
        </p:nvSpPr>
        <p:spPr>
          <a:xfrm>
            <a:off x="539315"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Fall Control Shampoo</a:t>
            </a:r>
            <a:endParaRPr lang="en-US" sz="700" dirty="0"/>
          </a:p>
        </p:txBody>
      </p:sp>
      <p:sp>
        <p:nvSpPr>
          <p:cNvPr id="56" name="Text 52"/>
          <p:cNvSpPr/>
          <p:nvPr/>
        </p:nvSpPr>
        <p:spPr>
          <a:xfrm>
            <a:off x="2967002"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0.31</a:t>
            </a:r>
            <a:endParaRPr lang="en-US" sz="700" dirty="0"/>
          </a:p>
        </p:txBody>
      </p:sp>
      <p:sp>
        <p:nvSpPr>
          <p:cNvPr id="57" name="Text 53"/>
          <p:cNvSpPr/>
          <p:nvPr/>
        </p:nvSpPr>
        <p:spPr>
          <a:xfrm>
            <a:off x="3483864" y="621792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a:t>
            </a:r>
            <a:endParaRPr lang="en-US" sz="700" dirty="0"/>
          </a:p>
        </p:txBody>
      </p:sp>
      <p:sp>
        <p:nvSpPr>
          <p:cNvPr id="58" name="Text 54"/>
          <p:cNvSpPr/>
          <p:nvPr/>
        </p:nvSpPr>
        <p:spPr>
          <a:xfrm>
            <a:off x="3703139" y="6217920"/>
            <a:ext cx="2317959"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ME Onion Hair Oil 200 ml</a:t>
            </a:r>
            <a:endParaRPr lang="en-US" sz="700" dirty="0"/>
          </a:p>
        </p:txBody>
      </p:sp>
      <p:sp>
        <p:nvSpPr>
          <p:cNvPr id="59" name="Text 55"/>
          <p:cNvSpPr/>
          <p:nvPr/>
        </p:nvSpPr>
        <p:spPr>
          <a:xfrm>
            <a:off x="6130826" y="6217920"/>
            <a:ext cx="407134"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0.30</a:t>
            </a:r>
            <a:endParaRPr lang="en-US" sz="700" dirty="0"/>
          </a:p>
        </p:txBody>
      </p:sp>
      <p:sp>
        <p:nvSpPr>
          <p:cNvPr id="60" name="Shape 56"/>
          <p:cNvSpPr/>
          <p:nvPr/>
        </p:nvSpPr>
        <p:spPr>
          <a:xfrm>
            <a:off x="265176" y="6766560"/>
            <a:ext cx="6327648" cy="0"/>
          </a:xfrm>
          <a:prstGeom prst="line">
            <a:avLst/>
          </a:prstGeom>
          <a:noFill/>
          <a:ln w="6350">
            <a:solidFill>
              <a:srgbClr val="C8DCD7"/>
            </a:solidFill>
            <a:prstDash val="solid"/>
          </a:ln>
        </p:spPr>
      </p:sp>
      <p:sp>
        <p:nvSpPr>
          <p:cNvPr id="61" name="Text 57"/>
          <p:cNvSpPr/>
          <p:nvPr/>
        </p:nvSpPr>
        <p:spPr>
          <a:xfrm>
            <a:off x="320040"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a:t>
            </a:r>
            <a:endParaRPr lang="en-US" sz="700" dirty="0"/>
          </a:p>
        </p:txBody>
      </p:sp>
      <p:sp>
        <p:nvSpPr>
          <p:cNvPr id="62" name="Text 58"/>
          <p:cNvSpPr/>
          <p:nvPr/>
        </p:nvSpPr>
        <p:spPr>
          <a:xfrm>
            <a:off x="539315"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Gentle Cleansing Shampoo 400 ml</a:t>
            </a:r>
            <a:endParaRPr lang="en-US" sz="700" dirty="0"/>
          </a:p>
        </p:txBody>
      </p:sp>
      <p:sp>
        <p:nvSpPr>
          <p:cNvPr id="63" name="Text 59"/>
          <p:cNvSpPr/>
          <p:nvPr/>
        </p:nvSpPr>
        <p:spPr>
          <a:xfrm>
            <a:off x="2967002"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0.21</a:t>
            </a:r>
            <a:endParaRPr lang="en-US" sz="700" dirty="0"/>
          </a:p>
        </p:txBody>
      </p:sp>
      <p:sp>
        <p:nvSpPr>
          <p:cNvPr id="64" name="Text 60"/>
          <p:cNvSpPr/>
          <p:nvPr/>
        </p:nvSpPr>
        <p:spPr>
          <a:xfrm>
            <a:off x="3483864" y="649224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4</a:t>
            </a:r>
            <a:endParaRPr lang="en-US" sz="700" dirty="0"/>
          </a:p>
        </p:txBody>
      </p:sp>
      <p:sp>
        <p:nvSpPr>
          <p:cNvPr id="65" name="Text 61"/>
          <p:cNvSpPr/>
          <p:nvPr/>
        </p:nvSpPr>
        <p:spPr>
          <a:xfrm>
            <a:off x="3703139" y="649224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Multani Mitti Face Wash 100 ml</a:t>
            </a:r>
            <a:endParaRPr lang="en-US" sz="700" dirty="0"/>
          </a:p>
        </p:txBody>
      </p:sp>
      <p:sp>
        <p:nvSpPr>
          <p:cNvPr id="66" name="Text 62"/>
          <p:cNvSpPr/>
          <p:nvPr/>
        </p:nvSpPr>
        <p:spPr>
          <a:xfrm>
            <a:off x="6130826" y="649224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67" name="Shape 63"/>
          <p:cNvSpPr/>
          <p:nvPr/>
        </p:nvSpPr>
        <p:spPr>
          <a:xfrm>
            <a:off x="265176" y="6766560"/>
            <a:ext cx="6327648" cy="274320"/>
          </a:xfrm>
          <a:prstGeom prst="rect">
            <a:avLst/>
          </a:prstGeom>
          <a:solidFill>
            <a:srgbClr val="F4F9F8"/>
          </a:solidFill>
          <a:ln/>
        </p:spPr>
      </p:sp>
      <p:sp>
        <p:nvSpPr>
          <p:cNvPr id="68" name="Shape 64"/>
          <p:cNvSpPr/>
          <p:nvPr/>
        </p:nvSpPr>
        <p:spPr>
          <a:xfrm>
            <a:off x="265176" y="7040880"/>
            <a:ext cx="6327648" cy="0"/>
          </a:xfrm>
          <a:prstGeom prst="line">
            <a:avLst/>
          </a:prstGeom>
          <a:noFill/>
          <a:ln w="6350">
            <a:solidFill>
              <a:srgbClr val="C8DCD7"/>
            </a:solidFill>
            <a:prstDash val="solid"/>
          </a:ln>
        </p:spPr>
      </p:sp>
      <p:sp>
        <p:nvSpPr>
          <p:cNvPr id="69" name="Text 65"/>
          <p:cNvSpPr/>
          <p:nvPr/>
        </p:nvSpPr>
        <p:spPr>
          <a:xfrm>
            <a:off x="320040"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5</a:t>
            </a:r>
            <a:endParaRPr lang="en-US" sz="700" dirty="0"/>
          </a:p>
        </p:txBody>
      </p:sp>
      <p:sp>
        <p:nvSpPr>
          <p:cNvPr id="70" name="Text 66"/>
          <p:cNvSpPr/>
          <p:nvPr/>
        </p:nvSpPr>
        <p:spPr>
          <a:xfrm>
            <a:off x="539315"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Vitamin C Daily Glow Sunscreen</a:t>
            </a:r>
            <a:endParaRPr lang="en-US" sz="700" dirty="0"/>
          </a:p>
        </p:txBody>
      </p:sp>
      <p:sp>
        <p:nvSpPr>
          <p:cNvPr id="71" name="Text 67"/>
          <p:cNvSpPr/>
          <p:nvPr/>
        </p:nvSpPr>
        <p:spPr>
          <a:xfrm>
            <a:off x="2967002"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0.20</a:t>
            </a:r>
            <a:endParaRPr lang="en-US" sz="700" dirty="0"/>
          </a:p>
        </p:txBody>
      </p:sp>
      <p:sp>
        <p:nvSpPr>
          <p:cNvPr id="72" name="Text 68"/>
          <p:cNvSpPr/>
          <p:nvPr/>
        </p:nvSpPr>
        <p:spPr>
          <a:xfrm>
            <a:off x="3483864" y="676656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6</a:t>
            </a:r>
            <a:endParaRPr lang="en-US" sz="700" dirty="0"/>
          </a:p>
        </p:txBody>
      </p:sp>
      <p:sp>
        <p:nvSpPr>
          <p:cNvPr id="73" name="Text 69"/>
          <p:cNvSpPr/>
          <p:nvPr/>
        </p:nvSpPr>
        <p:spPr>
          <a:xfrm>
            <a:off x="3703139" y="676656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Lemon Anti-Dandruff Shampoo</a:t>
            </a:r>
            <a:endParaRPr lang="en-US" sz="700" dirty="0"/>
          </a:p>
        </p:txBody>
      </p:sp>
      <p:sp>
        <p:nvSpPr>
          <p:cNvPr id="74" name="Text 70"/>
          <p:cNvSpPr/>
          <p:nvPr/>
        </p:nvSpPr>
        <p:spPr>
          <a:xfrm>
            <a:off x="6130826" y="676656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0.19</a:t>
            </a:r>
            <a:endParaRPr lang="en-US" sz="700" dirty="0"/>
          </a:p>
        </p:txBody>
      </p:sp>
      <p:sp>
        <p:nvSpPr>
          <p:cNvPr id="75" name="Shape 71"/>
          <p:cNvSpPr/>
          <p:nvPr/>
        </p:nvSpPr>
        <p:spPr>
          <a:xfrm>
            <a:off x="265176" y="7315200"/>
            <a:ext cx="6327648" cy="0"/>
          </a:xfrm>
          <a:prstGeom prst="line">
            <a:avLst/>
          </a:prstGeom>
          <a:noFill/>
          <a:ln w="6350">
            <a:solidFill>
              <a:srgbClr val="C8DCD7"/>
            </a:solidFill>
            <a:prstDash val="solid"/>
          </a:ln>
        </p:spPr>
      </p:sp>
      <p:sp>
        <p:nvSpPr>
          <p:cNvPr id="76" name="Text 72"/>
          <p:cNvSpPr/>
          <p:nvPr/>
        </p:nvSpPr>
        <p:spPr>
          <a:xfrm>
            <a:off x="320040"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7</a:t>
            </a:r>
            <a:endParaRPr lang="en-US" sz="700" dirty="0"/>
          </a:p>
        </p:txBody>
      </p:sp>
      <p:sp>
        <p:nvSpPr>
          <p:cNvPr id="77" name="Text 73"/>
          <p:cNvSpPr/>
          <p:nvPr/>
        </p:nvSpPr>
        <p:spPr>
          <a:xfrm>
            <a:off x="539315"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Rosemary Anti-Hair Fall Shampoo</a:t>
            </a:r>
            <a:endParaRPr lang="en-US" sz="700" dirty="0"/>
          </a:p>
        </p:txBody>
      </p:sp>
      <p:sp>
        <p:nvSpPr>
          <p:cNvPr id="78" name="Text 74"/>
          <p:cNvSpPr/>
          <p:nvPr/>
        </p:nvSpPr>
        <p:spPr>
          <a:xfrm>
            <a:off x="2967002"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79" name="Text 75"/>
          <p:cNvSpPr/>
          <p:nvPr/>
        </p:nvSpPr>
        <p:spPr>
          <a:xfrm>
            <a:off x="3483864" y="7040880"/>
            <a:ext cx="109547"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8</a:t>
            </a:r>
            <a:endParaRPr lang="en-US" sz="700" dirty="0"/>
          </a:p>
        </p:txBody>
      </p:sp>
      <p:sp>
        <p:nvSpPr>
          <p:cNvPr id="80" name="Text 76"/>
          <p:cNvSpPr/>
          <p:nvPr/>
        </p:nvSpPr>
        <p:spPr>
          <a:xfrm>
            <a:off x="3703139" y="7040880"/>
            <a:ext cx="2317959"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ME Rice Water Dewy Sunscreen 80 g</a:t>
            </a:r>
            <a:endParaRPr lang="en-US" sz="700" dirty="0"/>
          </a:p>
        </p:txBody>
      </p:sp>
      <p:sp>
        <p:nvSpPr>
          <p:cNvPr id="81" name="Text 77"/>
          <p:cNvSpPr/>
          <p:nvPr/>
        </p:nvSpPr>
        <p:spPr>
          <a:xfrm>
            <a:off x="6130826" y="7040880"/>
            <a:ext cx="407134"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82" name="Shape 78"/>
          <p:cNvSpPr/>
          <p:nvPr/>
        </p:nvSpPr>
        <p:spPr>
          <a:xfrm>
            <a:off x="265176" y="7498080"/>
            <a:ext cx="3090672" cy="1481328"/>
          </a:xfrm>
          <a:prstGeom prst="roundRect">
            <a:avLst>
              <a:gd name="adj" fmla="val 1235"/>
            </a:avLst>
          </a:prstGeom>
          <a:solidFill>
            <a:srgbClr val="FFFFFF"/>
          </a:solidFill>
          <a:ln w="9525">
            <a:solidFill>
              <a:srgbClr val="C8DCD7"/>
            </a:solidFill>
            <a:prstDash val="solid"/>
          </a:ln>
        </p:spPr>
      </p:sp>
      <p:sp>
        <p:nvSpPr>
          <p:cNvPr id="83" name="Shape 79"/>
          <p:cNvSpPr/>
          <p:nvPr/>
        </p:nvSpPr>
        <p:spPr>
          <a:xfrm>
            <a:off x="265176" y="7498080"/>
            <a:ext cx="3090672" cy="274320"/>
          </a:xfrm>
          <a:prstGeom prst="rect">
            <a:avLst/>
          </a:prstGeom>
          <a:solidFill>
            <a:srgbClr val="D6544D"/>
          </a:solidFill>
          <a:ln/>
        </p:spPr>
      </p:sp>
      <p:sp>
        <p:nvSpPr>
          <p:cNvPr id="84" name="Text 80"/>
          <p:cNvSpPr/>
          <p:nvPr/>
        </p:nvSpPr>
        <p:spPr>
          <a:xfrm>
            <a:off x="347472"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ZERO-SALE FINALISED EANs</a:t>
            </a:r>
            <a:endParaRPr lang="en-US" sz="700" dirty="0"/>
          </a:p>
        </p:txBody>
      </p:sp>
      <p:sp>
        <p:nvSpPr>
          <p:cNvPr id="85" name="Shape 81"/>
          <p:cNvSpPr/>
          <p:nvPr/>
        </p:nvSpPr>
        <p:spPr>
          <a:xfrm>
            <a:off x="374904" y="7950708"/>
            <a:ext cx="50292" cy="50292"/>
          </a:xfrm>
          <a:prstGeom prst="ellipse">
            <a:avLst/>
          </a:prstGeom>
          <a:solidFill>
            <a:srgbClr val="D6544D"/>
          </a:solidFill>
          <a:ln/>
        </p:spPr>
      </p:sp>
      <p:sp>
        <p:nvSpPr>
          <p:cNvPr id="86" name="Text 82"/>
          <p:cNvSpPr/>
          <p:nvPr/>
        </p:nvSpPr>
        <p:spPr>
          <a:xfrm>
            <a:off x="493776"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BBLUNT Cherry Red Hair Colour 130 g</a:t>
            </a:r>
            <a:endParaRPr lang="en-US" sz="720" dirty="0"/>
          </a:p>
        </p:txBody>
      </p:sp>
      <p:sp>
        <p:nvSpPr>
          <p:cNvPr id="87" name="Shape 83"/>
          <p:cNvSpPr/>
          <p:nvPr/>
        </p:nvSpPr>
        <p:spPr>
          <a:xfrm>
            <a:off x="374904" y="8279892"/>
            <a:ext cx="50292" cy="50292"/>
          </a:xfrm>
          <a:prstGeom prst="ellipse">
            <a:avLst/>
          </a:prstGeom>
          <a:solidFill>
            <a:srgbClr val="D6544D"/>
          </a:solidFill>
          <a:ln/>
        </p:spPr>
      </p:sp>
      <p:sp>
        <p:nvSpPr>
          <p:cNvPr id="88" name="Text 84"/>
          <p:cNvSpPr/>
          <p:nvPr/>
        </p:nvSpPr>
        <p:spPr>
          <a:xfrm>
            <a:off x="493776" y="8229600"/>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TDC 20% Actives Peptide–Stem Cell Hair Serum</a:t>
            </a:r>
            <a:endParaRPr lang="en-US" sz="720" dirty="0"/>
          </a:p>
        </p:txBody>
      </p:sp>
      <p:sp>
        <p:nvSpPr>
          <p:cNvPr id="89" name="Shape 85"/>
          <p:cNvSpPr/>
          <p:nvPr/>
        </p:nvSpPr>
        <p:spPr>
          <a:xfrm>
            <a:off x="374904" y="8609076"/>
            <a:ext cx="50292" cy="50292"/>
          </a:xfrm>
          <a:prstGeom prst="ellipse">
            <a:avLst/>
          </a:prstGeom>
          <a:solidFill>
            <a:srgbClr val="D6544D"/>
          </a:solidFill>
          <a:ln/>
        </p:spPr>
      </p:sp>
      <p:sp>
        <p:nvSpPr>
          <p:cNvPr id="90" name="Text 86"/>
          <p:cNvSpPr/>
          <p:nvPr/>
        </p:nvSpPr>
        <p:spPr>
          <a:xfrm>
            <a:off x="493776"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Audit listing, stock receipt, OSA and launch visibility before any further loading.</a:t>
            </a:r>
            <a:endParaRPr lang="en-US" sz="720" dirty="0"/>
          </a:p>
        </p:txBody>
      </p:sp>
      <p:sp>
        <p:nvSpPr>
          <p:cNvPr id="91" name="Shape 87"/>
          <p:cNvSpPr/>
          <p:nvPr/>
        </p:nvSpPr>
        <p:spPr>
          <a:xfrm>
            <a:off x="3502152" y="7498080"/>
            <a:ext cx="3090672" cy="1481328"/>
          </a:xfrm>
          <a:prstGeom prst="roundRect">
            <a:avLst>
              <a:gd name="adj" fmla="val 1235"/>
            </a:avLst>
          </a:prstGeom>
          <a:solidFill>
            <a:srgbClr val="FFFFFF"/>
          </a:solidFill>
          <a:ln w="9525">
            <a:solidFill>
              <a:srgbClr val="C8DCD7"/>
            </a:solidFill>
            <a:prstDash val="solid"/>
          </a:ln>
        </p:spPr>
      </p:sp>
      <p:sp>
        <p:nvSpPr>
          <p:cNvPr id="92" name="Shape 88"/>
          <p:cNvSpPr/>
          <p:nvPr/>
        </p:nvSpPr>
        <p:spPr>
          <a:xfrm>
            <a:off x="3502152" y="7498080"/>
            <a:ext cx="3090672" cy="274320"/>
          </a:xfrm>
          <a:prstGeom prst="rect">
            <a:avLst/>
          </a:prstGeom>
          <a:solidFill>
            <a:srgbClr val="116F68"/>
          </a:solidFill>
          <a:ln/>
        </p:spPr>
      </p:sp>
      <p:sp>
        <p:nvSpPr>
          <p:cNvPr id="93" name="Text 89"/>
          <p:cNvSpPr/>
          <p:nvPr/>
        </p:nvSpPr>
        <p:spPr>
          <a:xfrm>
            <a:off x="3584448" y="7516368"/>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ALLOCATION RULE</a:t>
            </a:r>
            <a:endParaRPr lang="en-US" sz="700" dirty="0"/>
          </a:p>
        </p:txBody>
      </p:sp>
      <p:sp>
        <p:nvSpPr>
          <p:cNvPr id="94" name="Shape 90"/>
          <p:cNvSpPr/>
          <p:nvPr/>
        </p:nvSpPr>
        <p:spPr>
          <a:xfrm>
            <a:off x="3611880" y="7950708"/>
            <a:ext cx="50292" cy="50292"/>
          </a:xfrm>
          <a:prstGeom prst="ellipse">
            <a:avLst/>
          </a:prstGeom>
          <a:solidFill>
            <a:srgbClr val="116F68"/>
          </a:solidFill>
          <a:ln/>
        </p:spPr>
      </p:sp>
      <p:sp>
        <p:nvSpPr>
          <p:cNvPr id="95" name="Text 91"/>
          <p:cNvSpPr/>
          <p:nvPr/>
        </p:nvSpPr>
        <p:spPr>
          <a:xfrm>
            <a:off x="3730752" y="7900416"/>
            <a:ext cx="2752344" cy="310896"/>
          </a:xfrm>
          <a:prstGeom prst="rect">
            <a:avLst/>
          </a:prstGeom>
          <a:noFill/>
          <a:ln/>
        </p:spPr>
        <p:txBody>
          <a:bodyPr wrap="square" lIns="0" tIns="0" rIns="0" bIns="0" rtlCol="0" anchor="t"/>
          <a:lstStyle/>
          <a:p>
            <a:pPr indent="0" marL="0">
              <a:lnSpc>
                <a:spcPct val="92000"/>
              </a:lnSpc>
              <a:buNone/>
            </a:pPr>
            <a:r>
              <a:rPr lang="en-US" sz="720" b="1" dirty="0">
                <a:solidFill>
                  <a:srgbClr val="183B39"/>
                </a:solidFill>
                <a:latin typeface="Calibri" pitchFamily="34" charset="0"/>
                <a:ea typeface="Calibri" pitchFamily="34" charset="-122"/>
                <a:cs typeface="Calibri" pitchFamily="34" charset="-120"/>
              </a:rPr>
              <a:t>Freeze incremental NPI into East until conversion clears 60%.</a:t>
            </a:r>
            <a:endParaRPr lang="en-US" sz="720" dirty="0"/>
          </a:p>
        </p:txBody>
      </p:sp>
      <p:sp>
        <p:nvSpPr>
          <p:cNvPr id="96" name="Shape 92"/>
          <p:cNvSpPr/>
          <p:nvPr/>
        </p:nvSpPr>
        <p:spPr>
          <a:xfrm>
            <a:off x="3611880" y="8279892"/>
            <a:ext cx="50292" cy="50292"/>
          </a:xfrm>
          <a:prstGeom prst="ellipse">
            <a:avLst/>
          </a:prstGeom>
          <a:solidFill>
            <a:srgbClr val="116F68"/>
          </a:solidFill>
          <a:ln/>
        </p:spPr>
      </p:sp>
      <p:sp>
        <p:nvSpPr>
          <p:cNvPr id="97" name="Text 93"/>
          <p:cNvSpPr/>
          <p:nvPr/>
        </p:nvSpPr>
        <p:spPr>
          <a:xfrm>
            <a:off x="3730752" y="8229600"/>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Hold North NPI allocation until conversion clears 70%.</a:t>
            </a:r>
            <a:endParaRPr lang="en-US" sz="720" dirty="0"/>
          </a:p>
        </p:txBody>
      </p:sp>
      <p:sp>
        <p:nvSpPr>
          <p:cNvPr id="98" name="Shape 94"/>
          <p:cNvSpPr/>
          <p:nvPr/>
        </p:nvSpPr>
        <p:spPr>
          <a:xfrm>
            <a:off x="3611880" y="8609076"/>
            <a:ext cx="50292" cy="50292"/>
          </a:xfrm>
          <a:prstGeom prst="ellipse">
            <a:avLst/>
          </a:prstGeom>
          <a:solidFill>
            <a:srgbClr val="116F68"/>
          </a:solidFill>
          <a:ln/>
        </p:spPr>
      </p:sp>
      <p:sp>
        <p:nvSpPr>
          <p:cNvPr id="99" name="Text 95"/>
          <p:cNvSpPr/>
          <p:nvPr/>
        </p:nvSpPr>
        <p:spPr>
          <a:xfrm>
            <a:off x="3730752" y="8558784"/>
            <a:ext cx="2752344" cy="310896"/>
          </a:xfrm>
          <a:prstGeom prst="rect">
            <a:avLst/>
          </a:prstGeom>
          <a:noFill/>
          <a:ln/>
        </p:spPr>
        <p:txBody>
          <a:bodyPr wrap="square" lIns="0" tIns="0" rIns="0" bIns="0" rtlCol="0" anchor="t"/>
          <a:lstStyle/>
          <a:p>
            <a:pPr indent="0" marL="0">
              <a:lnSpc>
                <a:spcPct val="92000"/>
              </a:lnSpc>
              <a:buNone/>
            </a:pPr>
            <a:r>
              <a:rPr lang="en-US" sz="720" dirty="0">
                <a:solidFill>
                  <a:srgbClr val="183B39"/>
                </a:solidFill>
                <a:latin typeface="Calibri" pitchFamily="34" charset="0"/>
                <a:ea typeface="Calibri" pitchFamily="34" charset="-122"/>
                <a:cs typeface="Calibri" pitchFamily="34" charset="-120"/>
              </a:rPr>
              <a:t>Route new launches through West, South-1 and Apollo first — the pipes that already convert.</a:t>
            </a:r>
            <a:endParaRPr lang="en-US" sz="720" dirty="0"/>
          </a:p>
        </p:txBody>
      </p:sp>
      <p:sp>
        <p:nvSpPr>
          <p:cNvPr id="100" name="Shape 96"/>
          <p:cNvSpPr/>
          <p:nvPr/>
        </p:nvSpPr>
        <p:spPr>
          <a:xfrm>
            <a:off x="265176" y="9107424"/>
            <a:ext cx="6327648" cy="566928"/>
          </a:xfrm>
          <a:prstGeom prst="roundRect">
            <a:avLst>
              <a:gd name="adj" fmla="val 4839"/>
            </a:avLst>
          </a:prstGeom>
          <a:solidFill>
            <a:srgbClr val="DFF2ED"/>
          </a:solidFill>
          <a:ln w="12700">
            <a:solidFill>
              <a:srgbClr val="28A596"/>
            </a:solidFill>
            <a:prstDash val="solid"/>
          </a:ln>
        </p:spPr>
      </p:sp>
      <p:sp>
        <p:nvSpPr>
          <p:cNvPr id="101" name="Text 97"/>
          <p:cNvSpPr/>
          <p:nvPr/>
        </p:nvSpPr>
        <p:spPr>
          <a:xfrm>
            <a:off x="393192" y="9180576"/>
            <a:ext cx="6071616" cy="438912"/>
          </a:xfrm>
          <a:prstGeom prst="rect">
            <a:avLst/>
          </a:prstGeom>
          <a:noFill/>
          <a:ln/>
        </p:spPr>
        <p:txBody>
          <a:bodyPr wrap="square" lIns="0" tIns="0" rIns="0" bIns="0" rtlCol="0" anchor="t"/>
          <a:lstStyle/>
          <a:p>
            <a:pPr indent="0" marL="0">
              <a:lnSpc>
                <a:spcPct val="94000"/>
              </a:lnSpc>
              <a:buNone/>
            </a:pPr>
            <a:r>
              <a:rPr lang="en-US" sz="700" b="1" dirty="0">
                <a:solidFill>
                  <a:srgbClr val="116F68"/>
                </a:solidFill>
                <a:latin typeface="Calibri" pitchFamily="34" charset="0"/>
                <a:ea typeface="Calibri" pitchFamily="34" charset="-122"/>
                <a:cs typeface="Calibri" pitchFamily="34" charset="-120"/>
              </a:rPr>
              <a:t>THE TEST THAT IS MISSING   </a:t>
            </a:r>
            <a:pPr indent="0" marL="0">
              <a:lnSpc>
                <a:spcPct val="94000"/>
              </a:lnSpc>
              <a:buNone/>
            </a:pPr>
            <a:r>
              <a:rPr lang="en-US" sz="720" dirty="0">
                <a:solidFill>
                  <a:srgbClr val="183B39"/>
                </a:solidFill>
                <a:latin typeface="Calibri" pitchFamily="34" charset="0"/>
                <a:ea typeface="Calibri" pitchFamily="34" charset="-122"/>
                <a:cs typeface="Calibri" pitchFamily="34" charset="-120"/>
              </a:rPr>
              <a:t>NPI is currently judged on offtake alone, which cannot separate a weak product from a weak pipe. Report every launch as offtake per selling store against the zone conversion it was placed into. Until that split exists, a slow NPI in East and a slow NPI in West look identical on this page — and they need opposite decisions.</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300" b="1" dirty="0">
                <a:solidFill>
                  <a:srgbClr val="FFFFFF"/>
                </a:solidFill>
                <a:latin typeface="Calibri Light" pitchFamily="34" charset="0"/>
                <a:ea typeface="Calibri Light" pitchFamily="34" charset="-122"/>
                <a:cs typeface="Calibri Light" pitchFamily="34" charset="-120"/>
              </a:rPr>
              <a:t>Three chains hold ₹13.27 Cr of gap; three more hide ₹2.23 Cr behind unmapped primary</a:t>
            </a:r>
            <a:endParaRPr lang="en-US" sz="130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Chain deep dive | gross positive and gross negative gap | July 2026 | ₹ Cr</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19</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6327648"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by chain (₹ Cr) — Lulu bills through an unmapped route</a:t>
            </a:r>
            <a:endParaRPr lang="en-US" sz="720" dirty="0"/>
          </a:p>
        </p:txBody>
      </p:sp>
      <p:graphicFrame>
        <p:nvGraphicFramePr>
          <p:cNvPr id="20" name="Chart 0" descr=""/>
          <p:cNvGraphicFramePr/>
          <p:nvPr/>
        </p:nvGraphicFramePr>
        <p:xfrm>
          <a:off x="246888" y="1481328"/>
          <a:ext cx="6327648" cy="21031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265176" y="3694176"/>
            <a:ext cx="2036064" cy="932688"/>
          </a:xfrm>
          <a:prstGeom prst="roundRect">
            <a:avLst>
              <a:gd name="adj" fmla="val 1961"/>
            </a:avLst>
          </a:prstGeom>
          <a:solidFill>
            <a:srgbClr val="FFFFFF"/>
          </a:solidFill>
          <a:ln w="9525">
            <a:solidFill>
              <a:srgbClr val="C8DCD7"/>
            </a:solidFill>
            <a:prstDash val="solid"/>
          </a:ln>
        </p:spPr>
      </p:sp>
      <p:sp>
        <p:nvSpPr>
          <p:cNvPr id="22" name="Shape 19"/>
          <p:cNvSpPr/>
          <p:nvPr/>
        </p:nvSpPr>
        <p:spPr>
          <a:xfrm>
            <a:off x="265176" y="3694176"/>
            <a:ext cx="2036064" cy="274320"/>
          </a:xfrm>
          <a:prstGeom prst="rect">
            <a:avLst/>
          </a:prstGeom>
          <a:solidFill>
            <a:srgbClr val="D6544D"/>
          </a:solidFill>
          <a:ln/>
        </p:spPr>
      </p:sp>
      <p:sp>
        <p:nvSpPr>
          <p:cNvPr id="23" name="Text 20"/>
          <p:cNvSpPr/>
          <p:nvPr/>
        </p:nvSpPr>
        <p:spPr>
          <a:xfrm>
            <a:off x="347472"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RELIANCE</a:t>
            </a:r>
            <a:endParaRPr lang="en-US" sz="700" dirty="0"/>
          </a:p>
        </p:txBody>
      </p:sp>
      <p:sp>
        <p:nvSpPr>
          <p:cNvPr id="24" name="Text 21"/>
          <p:cNvSpPr/>
          <p:nvPr/>
        </p:nvSpPr>
        <p:spPr>
          <a:xfrm>
            <a:off x="356616" y="4059936"/>
            <a:ext cx="1853184"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₹7.61 Cr</a:t>
            </a:r>
            <a:endParaRPr lang="en-US" sz="1600" dirty="0"/>
          </a:p>
        </p:txBody>
      </p:sp>
      <p:sp>
        <p:nvSpPr>
          <p:cNvPr id="25" name="Text 22"/>
          <p:cNvSpPr/>
          <p:nvPr/>
        </p:nvSpPr>
        <p:spPr>
          <a:xfrm>
            <a:off x="356616"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51.4% conversion — largest single gap</a:t>
            </a:r>
            <a:endParaRPr lang="en-US" sz="660" dirty="0"/>
          </a:p>
        </p:txBody>
      </p:sp>
      <p:sp>
        <p:nvSpPr>
          <p:cNvPr id="26" name="Shape 23"/>
          <p:cNvSpPr/>
          <p:nvPr/>
        </p:nvSpPr>
        <p:spPr>
          <a:xfrm>
            <a:off x="2410968" y="3694176"/>
            <a:ext cx="2036064" cy="932688"/>
          </a:xfrm>
          <a:prstGeom prst="roundRect">
            <a:avLst>
              <a:gd name="adj" fmla="val 1961"/>
            </a:avLst>
          </a:prstGeom>
          <a:solidFill>
            <a:srgbClr val="FFFFFF"/>
          </a:solidFill>
          <a:ln w="9525">
            <a:solidFill>
              <a:srgbClr val="C8DCD7"/>
            </a:solidFill>
            <a:prstDash val="solid"/>
          </a:ln>
        </p:spPr>
      </p:sp>
      <p:sp>
        <p:nvSpPr>
          <p:cNvPr id="27" name="Shape 24"/>
          <p:cNvSpPr/>
          <p:nvPr/>
        </p:nvSpPr>
        <p:spPr>
          <a:xfrm>
            <a:off x="2410968" y="3694176"/>
            <a:ext cx="2036064" cy="274320"/>
          </a:xfrm>
          <a:prstGeom prst="rect">
            <a:avLst/>
          </a:prstGeom>
          <a:solidFill>
            <a:srgbClr val="F2B84B"/>
          </a:solidFill>
          <a:ln/>
        </p:spPr>
      </p:sp>
      <p:sp>
        <p:nvSpPr>
          <p:cNvPr id="28" name="Text 25"/>
          <p:cNvSpPr/>
          <p:nvPr/>
        </p:nvSpPr>
        <p:spPr>
          <a:xfrm>
            <a:off x="2493264"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DMART</a:t>
            </a:r>
            <a:endParaRPr lang="en-US" sz="700" dirty="0"/>
          </a:p>
        </p:txBody>
      </p:sp>
      <p:sp>
        <p:nvSpPr>
          <p:cNvPr id="29" name="Text 26"/>
          <p:cNvSpPr/>
          <p:nvPr/>
        </p:nvSpPr>
        <p:spPr>
          <a:xfrm>
            <a:off x="2502408" y="4059936"/>
            <a:ext cx="1853184"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₹4.29 Cr</a:t>
            </a:r>
            <a:endParaRPr lang="en-US" sz="1600" dirty="0"/>
          </a:p>
        </p:txBody>
      </p:sp>
      <p:sp>
        <p:nvSpPr>
          <p:cNvPr id="30" name="Text 27"/>
          <p:cNvSpPr/>
          <p:nvPr/>
        </p:nvSpPr>
        <p:spPr>
          <a:xfrm>
            <a:off x="2502408"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76.5% conversion — concentrated in South-2</a:t>
            </a:r>
            <a:endParaRPr lang="en-US" sz="660" dirty="0"/>
          </a:p>
        </p:txBody>
      </p:sp>
      <p:sp>
        <p:nvSpPr>
          <p:cNvPr id="31" name="Shape 28"/>
          <p:cNvSpPr/>
          <p:nvPr/>
        </p:nvSpPr>
        <p:spPr>
          <a:xfrm>
            <a:off x="4556760" y="3694176"/>
            <a:ext cx="2036064" cy="932688"/>
          </a:xfrm>
          <a:prstGeom prst="roundRect">
            <a:avLst>
              <a:gd name="adj" fmla="val 1961"/>
            </a:avLst>
          </a:prstGeom>
          <a:solidFill>
            <a:srgbClr val="FFFFFF"/>
          </a:solidFill>
          <a:ln w="9525">
            <a:solidFill>
              <a:srgbClr val="C8DCD7"/>
            </a:solidFill>
            <a:prstDash val="solid"/>
          </a:ln>
        </p:spPr>
      </p:sp>
      <p:sp>
        <p:nvSpPr>
          <p:cNvPr id="32" name="Shape 29"/>
          <p:cNvSpPr/>
          <p:nvPr/>
        </p:nvSpPr>
        <p:spPr>
          <a:xfrm>
            <a:off x="4556760" y="3694176"/>
            <a:ext cx="2036064" cy="274320"/>
          </a:xfrm>
          <a:prstGeom prst="rect">
            <a:avLst/>
          </a:prstGeom>
          <a:solidFill>
            <a:srgbClr val="2B9A66"/>
          </a:solidFill>
          <a:ln/>
        </p:spPr>
      </p:sp>
      <p:sp>
        <p:nvSpPr>
          <p:cNvPr id="33" name="Text 30"/>
          <p:cNvSpPr/>
          <p:nvPr/>
        </p:nvSpPr>
        <p:spPr>
          <a:xfrm>
            <a:off x="4639056" y="37124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APOLLO</a:t>
            </a:r>
            <a:endParaRPr lang="en-US" sz="700" dirty="0"/>
          </a:p>
        </p:txBody>
      </p:sp>
      <p:sp>
        <p:nvSpPr>
          <p:cNvPr id="34" name="Text 31"/>
          <p:cNvSpPr/>
          <p:nvPr/>
        </p:nvSpPr>
        <p:spPr>
          <a:xfrm>
            <a:off x="4648200" y="4059936"/>
            <a:ext cx="1853184" cy="310896"/>
          </a:xfrm>
          <a:prstGeom prst="rect">
            <a:avLst/>
          </a:prstGeom>
          <a:noFill/>
          <a:ln/>
        </p:spPr>
        <p:txBody>
          <a:bodyPr wrap="square" lIns="0" tIns="0" rIns="0" bIns="0" rtlCol="0" anchor="t"/>
          <a:lstStyle/>
          <a:p>
            <a:pPr algn="ctr" indent="0" marL="0">
              <a:buNone/>
            </a:pPr>
            <a:r>
              <a:rPr lang="en-US" sz="1600" b="1" dirty="0">
                <a:solidFill>
                  <a:srgbClr val="2B9A66"/>
                </a:solidFill>
                <a:latin typeface="Calibri Light" pitchFamily="34" charset="0"/>
                <a:ea typeface="Calibri Light" pitchFamily="34" charset="-122"/>
                <a:cs typeface="Calibri Light" pitchFamily="34" charset="-120"/>
              </a:rPr>
              <a:t>99.7%</a:t>
            </a:r>
            <a:endParaRPr lang="en-US" sz="1600" dirty="0"/>
          </a:p>
        </p:txBody>
      </p:sp>
      <p:sp>
        <p:nvSpPr>
          <p:cNvPr id="35" name="Text 32"/>
          <p:cNvSpPr/>
          <p:nvPr/>
        </p:nvSpPr>
        <p:spPr>
          <a:xfrm>
            <a:off x="4648200" y="4389120"/>
            <a:ext cx="1853184" cy="201168"/>
          </a:xfrm>
          <a:prstGeom prst="rect">
            <a:avLst/>
          </a:prstGeom>
          <a:noFill/>
          <a:ln/>
        </p:spPr>
        <p:txBody>
          <a:bodyPr wrap="square" lIns="0" tIns="0" rIns="0" bIns="0" rtlCol="0" anchor="t"/>
          <a:lstStyle/>
          <a:p>
            <a:pPr algn="ctr" indent="0" marL="0">
              <a:lnSpc>
                <a:spcPct val="92000"/>
              </a:lnSpc>
              <a:buNone/>
            </a:pPr>
            <a:r>
              <a:rPr lang="en-US" sz="660" dirty="0">
                <a:solidFill>
                  <a:srgbClr val="5F716E"/>
                </a:solidFill>
                <a:latin typeface="Calibri" pitchFamily="34" charset="0"/>
                <a:ea typeface="Calibri" pitchFamily="34" charset="-122"/>
                <a:cs typeface="Calibri" pitchFamily="34" charset="-120"/>
              </a:rPr>
              <a:t>near parity, but zone figures need reconciling</a:t>
            </a:r>
            <a:endParaRPr lang="en-US" sz="660" dirty="0"/>
          </a:p>
        </p:txBody>
      </p:sp>
      <p:sp>
        <p:nvSpPr>
          <p:cNvPr id="36" name="Shape 33"/>
          <p:cNvSpPr/>
          <p:nvPr/>
        </p:nvSpPr>
        <p:spPr>
          <a:xfrm>
            <a:off x="265176" y="4773168"/>
            <a:ext cx="6327648" cy="256032"/>
          </a:xfrm>
          <a:prstGeom prst="rect">
            <a:avLst/>
          </a:prstGeom>
          <a:solidFill>
            <a:srgbClr val="D6544D"/>
          </a:solidFill>
          <a:ln/>
        </p:spPr>
      </p:sp>
      <p:sp>
        <p:nvSpPr>
          <p:cNvPr id="37" name="Text 34"/>
          <p:cNvSpPr/>
          <p:nvPr/>
        </p:nvSpPr>
        <p:spPr>
          <a:xfrm>
            <a:off x="374904" y="479145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GROSS GAP — POSITIVE AND NEGATIVE REPORTED SEPARATELY</a:t>
            </a:r>
            <a:endParaRPr lang="en-US" sz="720" dirty="0"/>
          </a:p>
        </p:txBody>
      </p:sp>
      <p:sp>
        <p:nvSpPr>
          <p:cNvPr id="38" name="Shape 35"/>
          <p:cNvSpPr/>
          <p:nvPr/>
        </p:nvSpPr>
        <p:spPr>
          <a:xfrm>
            <a:off x="265176" y="5120640"/>
            <a:ext cx="6327648" cy="256032"/>
          </a:xfrm>
          <a:prstGeom prst="rect">
            <a:avLst/>
          </a:prstGeom>
          <a:solidFill>
            <a:srgbClr val="116F68"/>
          </a:solidFill>
          <a:ln/>
        </p:spPr>
      </p:sp>
      <p:sp>
        <p:nvSpPr>
          <p:cNvPr id="39" name="Text 36"/>
          <p:cNvSpPr/>
          <p:nvPr/>
        </p:nvSpPr>
        <p:spPr>
          <a:xfrm>
            <a:off x="320040" y="5138928"/>
            <a:ext cx="133201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CHAIN</a:t>
            </a:r>
            <a:endParaRPr lang="en-US" sz="660" dirty="0"/>
          </a:p>
        </p:txBody>
      </p:sp>
      <p:sp>
        <p:nvSpPr>
          <p:cNvPr id="40" name="Text 37"/>
          <p:cNvSpPr/>
          <p:nvPr/>
        </p:nvSpPr>
        <p:spPr>
          <a:xfrm>
            <a:off x="1761783"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41" name="Text 38"/>
          <p:cNvSpPr/>
          <p:nvPr/>
        </p:nvSpPr>
        <p:spPr>
          <a:xfrm>
            <a:off x="2562751" y="5138928"/>
            <a:ext cx="691240"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42" name="Text 39"/>
          <p:cNvSpPr/>
          <p:nvPr/>
        </p:nvSpPr>
        <p:spPr>
          <a:xfrm>
            <a:off x="3363719" y="5138928"/>
            <a:ext cx="65119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GAP</a:t>
            </a:r>
            <a:endParaRPr lang="en-US" sz="660" dirty="0"/>
          </a:p>
        </p:txBody>
      </p:sp>
      <p:sp>
        <p:nvSpPr>
          <p:cNvPr id="43" name="Text 40"/>
          <p:cNvSpPr/>
          <p:nvPr/>
        </p:nvSpPr>
        <p:spPr>
          <a:xfrm>
            <a:off x="4124638" y="5138928"/>
            <a:ext cx="571095"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44" name="Text 41"/>
          <p:cNvSpPr/>
          <p:nvPr/>
        </p:nvSpPr>
        <p:spPr>
          <a:xfrm>
            <a:off x="4805461" y="5138928"/>
            <a:ext cx="1732499"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45" name="Shape 42"/>
          <p:cNvSpPr/>
          <p:nvPr/>
        </p:nvSpPr>
        <p:spPr>
          <a:xfrm>
            <a:off x="265176" y="5376672"/>
            <a:ext cx="6327648" cy="310896"/>
          </a:xfrm>
          <a:prstGeom prst="rect">
            <a:avLst/>
          </a:prstGeom>
          <a:solidFill>
            <a:srgbClr val="F4F9F8"/>
          </a:solidFill>
          <a:ln/>
        </p:spPr>
      </p:sp>
      <p:sp>
        <p:nvSpPr>
          <p:cNvPr id="46" name="Shape 43"/>
          <p:cNvSpPr/>
          <p:nvPr/>
        </p:nvSpPr>
        <p:spPr>
          <a:xfrm>
            <a:off x="265176" y="5687568"/>
            <a:ext cx="6327648" cy="0"/>
          </a:xfrm>
          <a:prstGeom prst="line">
            <a:avLst/>
          </a:prstGeom>
          <a:noFill/>
          <a:ln w="6350">
            <a:solidFill>
              <a:srgbClr val="C8DCD7"/>
            </a:solidFill>
            <a:prstDash val="solid"/>
          </a:ln>
        </p:spPr>
      </p:sp>
      <p:sp>
        <p:nvSpPr>
          <p:cNvPr id="47" name="Text 44"/>
          <p:cNvSpPr/>
          <p:nvPr/>
        </p:nvSpPr>
        <p:spPr>
          <a:xfrm>
            <a:off x="320040" y="537667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a:t>
            </a:r>
            <a:endParaRPr lang="en-US" sz="720" dirty="0"/>
          </a:p>
        </p:txBody>
      </p:sp>
      <p:sp>
        <p:nvSpPr>
          <p:cNvPr id="48" name="Text 45"/>
          <p:cNvSpPr/>
          <p:nvPr/>
        </p:nvSpPr>
        <p:spPr>
          <a:xfrm>
            <a:off x="1761783"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15.66</a:t>
            </a:r>
            <a:endParaRPr lang="en-US" sz="720" dirty="0"/>
          </a:p>
        </p:txBody>
      </p:sp>
      <p:sp>
        <p:nvSpPr>
          <p:cNvPr id="49" name="Text 46"/>
          <p:cNvSpPr/>
          <p:nvPr/>
        </p:nvSpPr>
        <p:spPr>
          <a:xfrm>
            <a:off x="2562751" y="537667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8.06</a:t>
            </a:r>
            <a:endParaRPr lang="en-US" sz="720" dirty="0"/>
          </a:p>
        </p:txBody>
      </p:sp>
      <p:sp>
        <p:nvSpPr>
          <p:cNvPr id="50" name="Text 47"/>
          <p:cNvSpPr/>
          <p:nvPr/>
        </p:nvSpPr>
        <p:spPr>
          <a:xfrm>
            <a:off x="3363719" y="5376672"/>
            <a:ext cx="651192"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+7.61</a:t>
            </a:r>
            <a:endParaRPr lang="en-US" sz="720" dirty="0"/>
          </a:p>
        </p:txBody>
      </p:sp>
      <p:sp>
        <p:nvSpPr>
          <p:cNvPr id="51" name="Text 48"/>
          <p:cNvSpPr/>
          <p:nvPr/>
        </p:nvSpPr>
        <p:spPr>
          <a:xfrm>
            <a:off x="4124638" y="5376672"/>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52" name="Text 49"/>
          <p:cNvSpPr/>
          <p:nvPr/>
        </p:nvSpPr>
        <p:spPr>
          <a:xfrm>
            <a:off x="4805461" y="5376672"/>
            <a:ext cx="1732499" cy="310896"/>
          </a:xfrm>
          <a:prstGeom prst="rect">
            <a:avLst/>
          </a:prstGeom>
          <a:noFill/>
          <a:ln/>
        </p:spPr>
        <p:txBody>
          <a:bodyPr wrap="square" lIns="0" tIns="0" rIns="0" bIns="0" rtlCol="0" anchor="ctr"/>
          <a:lstStyle/>
          <a:p>
            <a:pPr algn="l" indent="0" marL="0">
              <a:buNone/>
            </a:pPr>
            <a:r>
              <a:rPr lang="en-US" sz="720" dirty="0">
                <a:solidFill>
                  <a:srgbClr val="D6544D"/>
                </a:solidFill>
                <a:latin typeface="Calibri" pitchFamily="34" charset="0"/>
                <a:ea typeface="Calibri" pitchFamily="34" charset="-122"/>
                <a:cs typeface="Calibri" pitchFamily="34" charset="-120"/>
              </a:rPr>
              <a:t>Billed and unsold — recover</a:t>
            </a:r>
            <a:endParaRPr lang="en-US" sz="720" dirty="0"/>
          </a:p>
        </p:txBody>
      </p:sp>
      <p:sp>
        <p:nvSpPr>
          <p:cNvPr id="53" name="Shape 50"/>
          <p:cNvSpPr/>
          <p:nvPr/>
        </p:nvSpPr>
        <p:spPr>
          <a:xfrm>
            <a:off x="265176" y="5998464"/>
            <a:ext cx="6327648" cy="0"/>
          </a:xfrm>
          <a:prstGeom prst="line">
            <a:avLst/>
          </a:prstGeom>
          <a:noFill/>
          <a:ln w="6350">
            <a:solidFill>
              <a:srgbClr val="C8DCD7"/>
            </a:solidFill>
            <a:prstDash val="solid"/>
          </a:ln>
        </p:spPr>
      </p:sp>
      <p:sp>
        <p:nvSpPr>
          <p:cNvPr id="54" name="Text 51"/>
          <p:cNvSpPr/>
          <p:nvPr/>
        </p:nvSpPr>
        <p:spPr>
          <a:xfrm>
            <a:off x="320040" y="5687568"/>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a:t>
            </a:r>
            <a:endParaRPr lang="en-US" sz="720" dirty="0"/>
          </a:p>
        </p:txBody>
      </p:sp>
      <p:sp>
        <p:nvSpPr>
          <p:cNvPr id="55" name="Text 52"/>
          <p:cNvSpPr/>
          <p:nvPr/>
        </p:nvSpPr>
        <p:spPr>
          <a:xfrm>
            <a:off x="1761783"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18.25</a:t>
            </a:r>
            <a:endParaRPr lang="en-US" sz="720" dirty="0"/>
          </a:p>
        </p:txBody>
      </p:sp>
      <p:sp>
        <p:nvSpPr>
          <p:cNvPr id="56" name="Text 53"/>
          <p:cNvSpPr/>
          <p:nvPr/>
        </p:nvSpPr>
        <p:spPr>
          <a:xfrm>
            <a:off x="2562751" y="5687568"/>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13.97</a:t>
            </a:r>
            <a:endParaRPr lang="en-US" sz="720" dirty="0"/>
          </a:p>
        </p:txBody>
      </p:sp>
      <p:sp>
        <p:nvSpPr>
          <p:cNvPr id="57" name="Text 54"/>
          <p:cNvSpPr/>
          <p:nvPr/>
        </p:nvSpPr>
        <p:spPr>
          <a:xfrm>
            <a:off x="3363719" y="5687568"/>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+4.29</a:t>
            </a:r>
            <a:endParaRPr lang="en-US" sz="720" dirty="0"/>
          </a:p>
        </p:txBody>
      </p:sp>
      <p:sp>
        <p:nvSpPr>
          <p:cNvPr id="58" name="Text 55"/>
          <p:cNvSpPr/>
          <p:nvPr/>
        </p:nvSpPr>
        <p:spPr>
          <a:xfrm>
            <a:off x="4124638" y="5687568"/>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76.5%</a:t>
            </a:r>
            <a:endParaRPr lang="en-US" sz="720" dirty="0"/>
          </a:p>
        </p:txBody>
      </p:sp>
      <p:sp>
        <p:nvSpPr>
          <p:cNvPr id="59" name="Text 56"/>
          <p:cNvSpPr/>
          <p:nvPr/>
        </p:nvSpPr>
        <p:spPr>
          <a:xfrm>
            <a:off x="4805461" y="5687568"/>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Recover, concentrated in South-2</a:t>
            </a:r>
            <a:endParaRPr lang="en-US" sz="720" dirty="0"/>
          </a:p>
        </p:txBody>
      </p:sp>
      <p:sp>
        <p:nvSpPr>
          <p:cNvPr id="60" name="Shape 57"/>
          <p:cNvSpPr/>
          <p:nvPr/>
        </p:nvSpPr>
        <p:spPr>
          <a:xfrm>
            <a:off x="265176" y="5998464"/>
            <a:ext cx="6327648" cy="310896"/>
          </a:xfrm>
          <a:prstGeom prst="rect">
            <a:avLst/>
          </a:prstGeom>
          <a:solidFill>
            <a:srgbClr val="F4F9F8"/>
          </a:solidFill>
          <a:ln/>
        </p:spPr>
      </p:sp>
      <p:sp>
        <p:nvSpPr>
          <p:cNvPr id="61" name="Shape 58"/>
          <p:cNvSpPr/>
          <p:nvPr/>
        </p:nvSpPr>
        <p:spPr>
          <a:xfrm>
            <a:off x="265176" y="6309360"/>
            <a:ext cx="6327648" cy="0"/>
          </a:xfrm>
          <a:prstGeom prst="line">
            <a:avLst/>
          </a:prstGeom>
          <a:noFill/>
          <a:ln w="6350">
            <a:solidFill>
              <a:srgbClr val="C8DCD7"/>
            </a:solidFill>
            <a:prstDash val="solid"/>
          </a:ln>
        </p:spPr>
      </p:sp>
      <p:sp>
        <p:nvSpPr>
          <p:cNvPr id="62" name="Text 59"/>
          <p:cNvSpPr/>
          <p:nvPr/>
        </p:nvSpPr>
        <p:spPr>
          <a:xfrm>
            <a:off x="320040" y="5998464"/>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Metro</a:t>
            </a:r>
            <a:endParaRPr lang="en-US" sz="720" dirty="0"/>
          </a:p>
        </p:txBody>
      </p:sp>
      <p:sp>
        <p:nvSpPr>
          <p:cNvPr id="63" name="Text 60"/>
          <p:cNvSpPr/>
          <p:nvPr/>
        </p:nvSpPr>
        <p:spPr>
          <a:xfrm>
            <a:off x="1761783"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1.84</a:t>
            </a:r>
            <a:endParaRPr lang="en-US" sz="720" dirty="0"/>
          </a:p>
        </p:txBody>
      </p:sp>
      <p:sp>
        <p:nvSpPr>
          <p:cNvPr id="64" name="Text 61"/>
          <p:cNvSpPr/>
          <p:nvPr/>
        </p:nvSpPr>
        <p:spPr>
          <a:xfrm>
            <a:off x="2562751" y="5998464"/>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65" name="Text 62"/>
          <p:cNvSpPr/>
          <p:nvPr/>
        </p:nvSpPr>
        <p:spPr>
          <a:xfrm>
            <a:off x="3363719" y="5998464"/>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+1.36</a:t>
            </a:r>
            <a:endParaRPr lang="en-US" sz="720" dirty="0"/>
          </a:p>
        </p:txBody>
      </p:sp>
      <p:sp>
        <p:nvSpPr>
          <p:cNvPr id="66" name="Text 63"/>
          <p:cNvSpPr/>
          <p:nvPr/>
        </p:nvSpPr>
        <p:spPr>
          <a:xfrm>
            <a:off x="4124638" y="5998464"/>
            <a:ext cx="571095" cy="310896"/>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26.5%</a:t>
            </a:r>
            <a:endParaRPr lang="en-US" sz="720" dirty="0"/>
          </a:p>
        </p:txBody>
      </p:sp>
      <p:sp>
        <p:nvSpPr>
          <p:cNvPr id="67" name="Text 64"/>
          <p:cNvSpPr/>
          <p:nvPr/>
        </p:nvSpPr>
        <p:spPr>
          <a:xfrm>
            <a:off x="4805461" y="5998464"/>
            <a:ext cx="1732499"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Range dilution, small base</a:t>
            </a:r>
            <a:endParaRPr lang="en-US" sz="720" dirty="0"/>
          </a:p>
        </p:txBody>
      </p:sp>
      <p:sp>
        <p:nvSpPr>
          <p:cNvPr id="68" name="Shape 65"/>
          <p:cNvSpPr/>
          <p:nvPr/>
        </p:nvSpPr>
        <p:spPr>
          <a:xfrm>
            <a:off x="265176" y="6620256"/>
            <a:ext cx="6327648" cy="0"/>
          </a:xfrm>
          <a:prstGeom prst="line">
            <a:avLst/>
          </a:prstGeom>
          <a:noFill/>
          <a:ln w="6350">
            <a:solidFill>
              <a:srgbClr val="C8DCD7"/>
            </a:solidFill>
            <a:prstDash val="solid"/>
          </a:ln>
        </p:spPr>
      </p:sp>
      <p:sp>
        <p:nvSpPr>
          <p:cNvPr id="69" name="Text 66"/>
          <p:cNvSpPr/>
          <p:nvPr/>
        </p:nvSpPr>
        <p:spPr>
          <a:xfrm>
            <a:off x="320040" y="6309360"/>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Lulu</a:t>
            </a:r>
            <a:endParaRPr lang="en-US" sz="720" dirty="0"/>
          </a:p>
        </p:txBody>
      </p:sp>
      <p:sp>
        <p:nvSpPr>
          <p:cNvPr id="70" name="Text 67"/>
          <p:cNvSpPr/>
          <p:nvPr/>
        </p:nvSpPr>
        <p:spPr>
          <a:xfrm>
            <a:off x="1761783" y="6309360"/>
            <a:ext cx="691240"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0.00</a:t>
            </a:r>
            <a:endParaRPr lang="en-US" sz="720" dirty="0"/>
          </a:p>
        </p:txBody>
      </p:sp>
      <p:sp>
        <p:nvSpPr>
          <p:cNvPr id="71" name="Text 68"/>
          <p:cNvSpPr/>
          <p:nvPr/>
        </p:nvSpPr>
        <p:spPr>
          <a:xfrm>
            <a:off x="2562751" y="6309360"/>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1.70</a:t>
            </a:r>
            <a:endParaRPr lang="en-US" sz="720" dirty="0"/>
          </a:p>
        </p:txBody>
      </p:sp>
      <p:sp>
        <p:nvSpPr>
          <p:cNvPr id="72" name="Text 69"/>
          <p:cNvSpPr/>
          <p:nvPr/>
        </p:nvSpPr>
        <p:spPr>
          <a:xfrm>
            <a:off x="3363719" y="6309360"/>
            <a:ext cx="651192"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−1.70</a:t>
            </a:r>
            <a:endParaRPr lang="en-US" sz="720" dirty="0"/>
          </a:p>
        </p:txBody>
      </p:sp>
      <p:sp>
        <p:nvSpPr>
          <p:cNvPr id="73" name="Text 70"/>
          <p:cNvSpPr/>
          <p:nvPr/>
        </p:nvSpPr>
        <p:spPr>
          <a:xfrm>
            <a:off x="4124638" y="6309360"/>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74" name="Text 71"/>
          <p:cNvSpPr/>
          <p:nvPr/>
        </p:nvSpPr>
        <p:spPr>
          <a:xfrm>
            <a:off x="4805461" y="6309360"/>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not mapped — cannot test</a:t>
            </a:r>
            <a:endParaRPr lang="en-US" sz="720" dirty="0"/>
          </a:p>
        </p:txBody>
      </p:sp>
      <p:sp>
        <p:nvSpPr>
          <p:cNvPr id="75" name="Shape 72"/>
          <p:cNvSpPr/>
          <p:nvPr/>
        </p:nvSpPr>
        <p:spPr>
          <a:xfrm>
            <a:off x="265176" y="6620256"/>
            <a:ext cx="6327648" cy="310896"/>
          </a:xfrm>
          <a:prstGeom prst="rect">
            <a:avLst/>
          </a:prstGeom>
          <a:solidFill>
            <a:srgbClr val="F4F9F8"/>
          </a:solidFill>
          <a:ln/>
        </p:spPr>
      </p:sp>
      <p:sp>
        <p:nvSpPr>
          <p:cNvPr id="76" name="Shape 73"/>
          <p:cNvSpPr/>
          <p:nvPr/>
        </p:nvSpPr>
        <p:spPr>
          <a:xfrm>
            <a:off x="265176" y="6931152"/>
            <a:ext cx="6327648" cy="0"/>
          </a:xfrm>
          <a:prstGeom prst="line">
            <a:avLst/>
          </a:prstGeom>
          <a:noFill/>
          <a:ln w="6350">
            <a:solidFill>
              <a:srgbClr val="C8DCD7"/>
            </a:solidFill>
            <a:prstDash val="solid"/>
          </a:ln>
        </p:spPr>
      </p:sp>
      <p:sp>
        <p:nvSpPr>
          <p:cNvPr id="77" name="Text 74"/>
          <p:cNvSpPr/>
          <p:nvPr/>
        </p:nvSpPr>
        <p:spPr>
          <a:xfrm>
            <a:off x="320040" y="6620256"/>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Health &amp; Glow</a:t>
            </a:r>
            <a:endParaRPr lang="en-US" sz="720" dirty="0"/>
          </a:p>
        </p:txBody>
      </p:sp>
      <p:sp>
        <p:nvSpPr>
          <p:cNvPr id="78" name="Text 75"/>
          <p:cNvSpPr/>
          <p:nvPr/>
        </p:nvSpPr>
        <p:spPr>
          <a:xfrm>
            <a:off x="1761783"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0.22</a:t>
            </a:r>
            <a:endParaRPr lang="en-US" sz="720" dirty="0"/>
          </a:p>
        </p:txBody>
      </p:sp>
      <p:sp>
        <p:nvSpPr>
          <p:cNvPr id="79" name="Text 76"/>
          <p:cNvSpPr/>
          <p:nvPr/>
        </p:nvSpPr>
        <p:spPr>
          <a:xfrm>
            <a:off x="2562751" y="6620256"/>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0.51</a:t>
            </a:r>
            <a:endParaRPr lang="en-US" sz="720" dirty="0"/>
          </a:p>
        </p:txBody>
      </p:sp>
      <p:sp>
        <p:nvSpPr>
          <p:cNvPr id="80" name="Text 77"/>
          <p:cNvSpPr/>
          <p:nvPr/>
        </p:nvSpPr>
        <p:spPr>
          <a:xfrm>
            <a:off x="3363719" y="6620256"/>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−0.29</a:t>
            </a:r>
            <a:endParaRPr lang="en-US" sz="720" dirty="0"/>
          </a:p>
        </p:txBody>
      </p:sp>
      <p:sp>
        <p:nvSpPr>
          <p:cNvPr id="81" name="Text 78"/>
          <p:cNvSpPr/>
          <p:nvPr/>
        </p:nvSpPr>
        <p:spPr>
          <a:xfrm>
            <a:off x="4124638" y="6620256"/>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2" name="Text 79"/>
          <p:cNvSpPr/>
          <p:nvPr/>
        </p:nvSpPr>
        <p:spPr>
          <a:xfrm>
            <a:off x="4805461" y="6620256"/>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83" name="Shape 80"/>
          <p:cNvSpPr/>
          <p:nvPr/>
        </p:nvSpPr>
        <p:spPr>
          <a:xfrm>
            <a:off x="265176" y="7242048"/>
            <a:ext cx="6327648" cy="0"/>
          </a:xfrm>
          <a:prstGeom prst="line">
            <a:avLst/>
          </a:prstGeom>
          <a:noFill/>
          <a:ln w="6350">
            <a:solidFill>
              <a:srgbClr val="C8DCD7"/>
            </a:solidFill>
            <a:prstDash val="solid"/>
          </a:ln>
        </p:spPr>
      </p:sp>
      <p:sp>
        <p:nvSpPr>
          <p:cNvPr id="84" name="Text 81"/>
          <p:cNvSpPr/>
          <p:nvPr/>
        </p:nvSpPr>
        <p:spPr>
          <a:xfrm>
            <a:off x="320040" y="6931152"/>
            <a:ext cx="1332015"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Wellness Forever</a:t>
            </a:r>
            <a:endParaRPr lang="en-US" sz="720" dirty="0"/>
          </a:p>
        </p:txBody>
      </p:sp>
      <p:sp>
        <p:nvSpPr>
          <p:cNvPr id="85" name="Text 82"/>
          <p:cNvSpPr/>
          <p:nvPr/>
        </p:nvSpPr>
        <p:spPr>
          <a:xfrm>
            <a:off x="1761783"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0.49</a:t>
            </a:r>
            <a:endParaRPr lang="en-US" sz="720" dirty="0"/>
          </a:p>
        </p:txBody>
      </p:sp>
      <p:sp>
        <p:nvSpPr>
          <p:cNvPr id="86" name="Text 83"/>
          <p:cNvSpPr/>
          <p:nvPr/>
        </p:nvSpPr>
        <p:spPr>
          <a:xfrm>
            <a:off x="2562751" y="6931152"/>
            <a:ext cx="691240"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0.72</a:t>
            </a:r>
            <a:endParaRPr lang="en-US" sz="720" dirty="0"/>
          </a:p>
        </p:txBody>
      </p:sp>
      <p:sp>
        <p:nvSpPr>
          <p:cNvPr id="87" name="Text 84"/>
          <p:cNvSpPr/>
          <p:nvPr/>
        </p:nvSpPr>
        <p:spPr>
          <a:xfrm>
            <a:off x="3363719" y="6931152"/>
            <a:ext cx="651192"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−0.24</a:t>
            </a:r>
            <a:endParaRPr lang="en-US" sz="720" dirty="0"/>
          </a:p>
        </p:txBody>
      </p:sp>
      <p:sp>
        <p:nvSpPr>
          <p:cNvPr id="88" name="Text 85"/>
          <p:cNvSpPr/>
          <p:nvPr/>
        </p:nvSpPr>
        <p:spPr>
          <a:xfrm>
            <a:off x="4124638" y="6931152"/>
            <a:ext cx="571095" cy="310896"/>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n/a</a:t>
            </a:r>
            <a:endParaRPr lang="en-US" sz="720" dirty="0"/>
          </a:p>
        </p:txBody>
      </p:sp>
      <p:sp>
        <p:nvSpPr>
          <p:cNvPr id="89" name="Text 86"/>
          <p:cNvSpPr/>
          <p:nvPr/>
        </p:nvSpPr>
        <p:spPr>
          <a:xfrm>
            <a:off x="4805461" y="6931152"/>
            <a:ext cx="1732499" cy="310896"/>
          </a:xfrm>
          <a:prstGeom prst="rect">
            <a:avLst/>
          </a:prstGeom>
          <a:noFill/>
          <a:ln/>
        </p:spPr>
        <p:txBody>
          <a:bodyPr wrap="square" lIns="0" tIns="0" rIns="0" bIns="0" rtlCol="0" anchor="ctr"/>
          <a:lstStyle/>
          <a:p>
            <a:pPr algn="l" indent="0" marL="0">
              <a:buNone/>
            </a:pPr>
            <a:r>
              <a:rPr lang="en-US" sz="720" dirty="0">
                <a:solidFill>
                  <a:srgbClr val="F2B84B"/>
                </a:solidFill>
                <a:latin typeface="Calibri" pitchFamily="34" charset="0"/>
                <a:ea typeface="Calibri" pitchFamily="34" charset="-122"/>
                <a:cs typeface="Calibri" pitchFamily="34" charset="-120"/>
              </a:rPr>
              <a:t>Primary route incomplete</a:t>
            </a:r>
            <a:endParaRPr lang="en-US" sz="720" dirty="0"/>
          </a:p>
        </p:txBody>
      </p:sp>
      <p:sp>
        <p:nvSpPr>
          <p:cNvPr id="90" name="Shape 87"/>
          <p:cNvSpPr/>
          <p:nvPr/>
        </p:nvSpPr>
        <p:spPr>
          <a:xfrm>
            <a:off x="265176" y="7388352"/>
            <a:ext cx="3090672" cy="1060704"/>
          </a:xfrm>
          <a:prstGeom prst="roundRect">
            <a:avLst>
              <a:gd name="adj" fmla="val 1724"/>
            </a:avLst>
          </a:prstGeom>
          <a:solidFill>
            <a:srgbClr val="FFFFFF"/>
          </a:solidFill>
          <a:ln w="9525">
            <a:solidFill>
              <a:srgbClr val="C8DCD7"/>
            </a:solidFill>
            <a:prstDash val="solid"/>
          </a:ln>
        </p:spPr>
      </p:sp>
      <p:sp>
        <p:nvSpPr>
          <p:cNvPr id="91" name="Shape 88"/>
          <p:cNvSpPr/>
          <p:nvPr/>
        </p:nvSpPr>
        <p:spPr>
          <a:xfrm>
            <a:off x="265176" y="7388352"/>
            <a:ext cx="3090672" cy="274320"/>
          </a:xfrm>
          <a:prstGeom prst="rect">
            <a:avLst/>
          </a:prstGeom>
          <a:solidFill>
            <a:srgbClr val="D6544D"/>
          </a:solidFill>
          <a:ln/>
        </p:spPr>
      </p:sp>
      <p:sp>
        <p:nvSpPr>
          <p:cNvPr id="92" name="Text 89"/>
          <p:cNvSpPr/>
          <p:nvPr/>
        </p:nvSpPr>
        <p:spPr>
          <a:xfrm>
            <a:off x="347472"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POSITIVE GAP</a:t>
            </a:r>
            <a:endParaRPr lang="en-US" sz="700" dirty="0"/>
          </a:p>
        </p:txBody>
      </p:sp>
      <p:sp>
        <p:nvSpPr>
          <p:cNvPr id="93" name="Text 90"/>
          <p:cNvSpPr/>
          <p:nvPr/>
        </p:nvSpPr>
        <p:spPr>
          <a:xfrm>
            <a:off x="356616" y="7754112"/>
            <a:ext cx="2907792" cy="310896"/>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₹13.27 Cr</a:t>
            </a:r>
            <a:endParaRPr lang="en-US" sz="1600" dirty="0"/>
          </a:p>
        </p:txBody>
      </p:sp>
      <p:sp>
        <p:nvSpPr>
          <p:cNvPr id="94" name="Text 91"/>
          <p:cNvSpPr/>
          <p:nvPr/>
        </p:nvSpPr>
        <p:spPr>
          <a:xfrm>
            <a:off x="393192"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Billed but not yet sold through, in three chains. This is the recoverable pool — 90.7% of it in DMart and Reliance alone.</a:t>
            </a:r>
            <a:endParaRPr lang="en-US" sz="680" dirty="0"/>
          </a:p>
        </p:txBody>
      </p:sp>
      <p:sp>
        <p:nvSpPr>
          <p:cNvPr id="95" name="Shape 92"/>
          <p:cNvSpPr/>
          <p:nvPr/>
        </p:nvSpPr>
        <p:spPr>
          <a:xfrm>
            <a:off x="3502152" y="7388352"/>
            <a:ext cx="3090672" cy="1060704"/>
          </a:xfrm>
          <a:prstGeom prst="roundRect">
            <a:avLst>
              <a:gd name="adj" fmla="val 1724"/>
            </a:avLst>
          </a:prstGeom>
          <a:solidFill>
            <a:srgbClr val="FFFFFF"/>
          </a:solidFill>
          <a:ln w="9525">
            <a:solidFill>
              <a:srgbClr val="C8DCD7"/>
            </a:solidFill>
            <a:prstDash val="solid"/>
          </a:ln>
        </p:spPr>
      </p:sp>
      <p:sp>
        <p:nvSpPr>
          <p:cNvPr id="96" name="Shape 93"/>
          <p:cNvSpPr/>
          <p:nvPr/>
        </p:nvSpPr>
        <p:spPr>
          <a:xfrm>
            <a:off x="3502152" y="7388352"/>
            <a:ext cx="3090672" cy="274320"/>
          </a:xfrm>
          <a:prstGeom prst="rect">
            <a:avLst/>
          </a:prstGeom>
          <a:solidFill>
            <a:srgbClr val="F2B84B"/>
          </a:solidFill>
          <a:ln/>
        </p:spPr>
      </p:sp>
      <p:sp>
        <p:nvSpPr>
          <p:cNvPr id="97" name="Text 94"/>
          <p:cNvSpPr/>
          <p:nvPr/>
        </p:nvSpPr>
        <p:spPr>
          <a:xfrm>
            <a:off x="3584448" y="7406640"/>
            <a:ext cx="2926080"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GROSS NEGATIVE GAP</a:t>
            </a:r>
            <a:endParaRPr lang="en-US" sz="700" dirty="0"/>
          </a:p>
        </p:txBody>
      </p:sp>
      <p:sp>
        <p:nvSpPr>
          <p:cNvPr id="98" name="Text 95"/>
          <p:cNvSpPr/>
          <p:nvPr/>
        </p:nvSpPr>
        <p:spPr>
          <a:xfrm>
            <a:off x="3593592" y="7754112"/>
            <a:ext cx="2907792" cy="310896"/>
          </a:xfrm>
          <a:prstGeom prst="rect">
            <a:avLst/>
          </a:prstGeom>
          <a:noFill/>
          <a:ln/>
        </p:spPr>
        <p:txBody>
          <a:bodyPr wrap="square" lIns="0" tIns="0" rIns="0" bIns="0" rtlCol="0" anchor="t"/>
          <a:lstStyle/>
          <a:p>
            <a:pPr algn="ctr" indent="0" marL="0">
              <a:buNone/>
            </a:pPr>
            <a:r>
              <a:rPr lang="en-US" sz="1600" b="1" dirty="0">
                <a:solidFill>
                  <a:srgbClr val="F2B84B"/>
                </a:solidFill>
                <a:latin typeface="Calibri Light" pitchFamily="34" charset="0"/>
                <a:ea typeface="Calibri Light" pitchFamily="34" charset="-122"/>
                <a:cs typeface="Calibri Light" pitchFamily="34" charset="-120"/>
              </a:rPr>
              <a:t>₹2.23 Cr</a:t>
            </a:r>
            <a:endParaRPr lang="en-US" sz="1600" dirty="0"/>
          </a:p>
        </p:txBody>
      </p:sp>
      <p:sp>
        <p:nvSpPr>
          <p:cNvPr id="99" name="Text 96"/>
          <p:cNvSpPr/>
          <p:nvPr/>
        </p:nvSpPr>
        <p:spPr>
          <a:xfrm>
            <a:off x="3630168" y="8101584"/>
            <a:ext cx="2834640" cy="329184"/>
          </a:xfrm>
          <a:prstGeom prst="rect">
            <a:avLst/>
          </a:prstGeom>
          <a:noFill/>
          <a:ln/>
        </p:spPr>
        <p:txBody>
          <a:bodyPr wrap="square" lIns="0" tIns="0" rIns="0" bIns="0" rtlCol="0" anchor="t"/>
          <a:lstStyle/>
          <a:p>
            <a:pPr algn="ctr" indent="0" marL="0">
              <a:lnSpc>
                <a:spcPct val="92000"/>
              </a:lnSpc>
              <a:buNone/>
            </a:pPr>
            <a:r>
              <a:rPr lang="en-US" sz="680" dirty="0">
                <a:solidFill>
                  <a:srgbClr val="5F716E"/>
                </a:solidFill>
                <a:latin typeface="Calibri" pitchFamily="34" charset="0"/>
                <a:ea typeface="Calibri" pitchFamily="34" charset="-122"/>
                <a:cs typeface="Calibri" pitchFamily="34" charset="-120"/>
              </a:rPr>
              <a:t>Sold with no primary joined, in three chains. Not performance — a mapping defect that was previously netted against the pool above.</a:t>
            </a:r>
            <a:endParaRPr lang="en-US" sz="680" dirty="0"/>
          </a:p>
        </p:txBody>
      </p:sp>
      <p:sp>
        <p:nvSpPr>
          <p:cNvPr id="100" name="Shape 97"/>
          <p:cNvSpPr/>
          <p:nvPr/>
        </p:nvSpPr>
        <p:spPr>
          <a:xfrm>
            <a:off x="265176" y="8595360"/>
            <a:ext cx="6327648" cy="256032"/>
          </a:xfrm>
          <a:prstGeom prst="rect">
            <a:avLst/>
          </a:prstGeom>
          <a:solidFill>
            <a:srgbClr val="116F68"/>
          </a:solidFill>
          <a:ln/>
        </p:spPr>
      </p:sp>
      <p:sp>
        <p:nvSpPr>
          <p:cNvPr id="101" name="Text 98"/>
          <p:cNvSpPr/>
          <p:nvPr/>
        </p:nvSpPr>
        <p:spPr>
          <a:xfrm>
            <a:off x="374904" y="86136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ACCOUNT PLAN</a:t>
            </a:r>
            <a:endParaRPr lang="en-US" sz="720" dirty="0"/>
          </a:p>
        </p:txBody>
      </p:sp>
      <p:sp>
        <p:nvSpPr>
          <p:cNvPr id="102" name="Shape 99"/>
          <p:cNvSpPr/>
          <p:nvPr/>
        </p:nvSpPr>
        <p:spPr>
          <a:xfrm>
            <a:off x="356616" y="9011412"/>
            <a:ext cx="50292" cy="50292"/>
          </a:xfrm>
          <a:prstGeom prst="ellipse">
            <a:avLst/>
          </a:prstGeom>
          <a:solidFill>
            <a:srgbClr val="28A596"/>
          </a:solidFill>
          <a:ln/>
        </p:spPr>
      </p:sp>
      <p:sp>
        <p:nvSpPr>
          <p:cNvPr id="103" name="Text 100"/>
          <p:cNvSpPr/>
          <p:nvPr/>
        </p:nvSpPr>
        <p:spPr>
          <a:xfrm>
            <a:off x="475488" y="8961120"/>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Reliance: attack North and East first — ₹3.92 Cr recoverable at DMart parity. Convert billed inventory through hero-SKU visibility and replenishment, not new loading.</a:t>
            </a:r>
            <a:endParaRPr lang="en-US" sz="740" dirty="0"/>
          </a:p>
        </p:txBody>
      </p:sp>
      <p:sp>
        <p:nvSpPr>
          <p:cNvPr id="104" name="Shape 101"/>
          <p:cNvSpPr/>
          <p:nvPr/>
        </p:nvSpPr>
        <p:spPr>
          <a:xfrm>
            <a:off x="356616" y="9377172"/>
            <a:ext cx="50292" cy="50292"/>
          </a:xfrm>
          <a:prstGeom prst="ellipse">
            <a:avLst/>
          </a:prstGeom>
          <a:solidFill>
            <a:srgbClr val="28A596"/>
          </a:solidFill>
          <a:ln/>
        </p:spPr>
      </p:sp>
      <p:sp>
        <p:nvSpPr>
          <p:cNvPr id="105" name="Text 102"/>
          <p:cNvSpPr/>
          <p:nvPr/>
        </p:nvSpPr>
        <p:spPr>
          <a:xfrm>
            <a:off x="475488" y="932688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DMart: attack South-2 first, then North. Review top-SKU store availability and DC-to-store fill; West and Central prove the account can run above 94%.</a:t>
            </a:r>
            <a:endParaRPr lang="en-US" sz="740" dirty="0"/>
          </a:p>
        </p:txBody>
      </p:sp>
      <p:sp>
        <p:nvSpPr>
          <p:cNvPr id="106" name="Shape 103"/>
          <p:cNvSpPr/>
          <p:nvPr/>
        </p:nvSpPr>
        <p:spPr>
          <a:xfrm>
            <a:off x="356616" y="9742932"/>
            <a:ext cx="50292" cy="50292"/>
          </a:xfrm>
          <a:prstGeom prst="ellipse">
            <a:avLst/>
          </a:prstGeom>
          <a:solidFill>
            <a:srgbClr val="28A596"/>
          </a:solidFill>
          <a:ln/>
        </p:spPr>
      </p:sp>
      <p:sp>
        <p:nvSpPr>
          <p:cNvPr id="107" name="Text 104"/>
          <p:cNvSpPr/>
          <p:nvPr/>
        </p:nvSpPr>
        <p:spPr>
          <a:xfrm>
            <a:off x="475488" y="969264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Apollo: protect the cadence and reconcile zone-level opening stock so the 99.7% national figure becomes quotable.</a:t>
            </a:r>
            <a:endParaRPr lang="en-US" sz="740" dirty="0"/>
          </a:p>
        </p:txBody>
      </p:sp>
      <p:sp>
        <p:nvSpPr>
          <p:cNvPr id="108" name="Shape 105"/>
          <p:cNvSpPr/>
          <p:nvPr/>
        </p:nvSpPr>
        <p:spPr>
          <a:xfrm>
            <a:off x="356616" y="10108692"/>
            <a:ext cx="50292" cy="50292"/>
          </a:xfrm>
          <a:prstGeom prst="ellipse">
            <a:avLst/>
          </a:prstGeom>
          <a:solidFill>
            <a:srgbClr val="F2B84B"/>
          </a:solidFill>
          <a:ln/>
        </p:spPr>
      </p:sp>
      <p:sp>
        <p:nvSpPr>
          <p:cNvPr id="109" name="Text 106"/>
          <p:cNvSpPr/>
          <p:nvPr/>
        </p:nvSpPr>
        <p:spPr>
          <a:xfrm>
            <a:off x="475488" y="10058400"/>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Lulu, Health &amp; Glow, Wellness Forever: map primary before any commercial conclusion. Three chains and ₹2.23 Cr are currently unreadable.</a:t>
            </a:r>
            <a:endParaRPr lang="en-US" sz="7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Two brands carry 98.4% of offtake; Face Cleanser alone carries a third</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Brand and sub-category architecture | July 2026</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20</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Text 17"/>
          <p:cNvSpPr/>
          <p:nvPr/>
        </p:nvSpPr>
        <p:spPr>
          <a:xfrm>
            <a:off x="265176" y="1261872"/>
            <a:ext cx="3840480"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Primary vs offtake, the two engine brands (₹ Cr)</a:t>
            </a:r>
            <a:endParaRPr lang="en-US" sz="720" dirty="0"/>
          </a:p>
        </p:txBody>
      </p:sp>
      <p:graphicFrame>
        <p:nvGraphicFramePr>
          <p:cNvPr id="20" name="Chart 0" descr=""/>
          <p:cNvGraphicFramePr/>
          <p:nvPr/>
        </p:nvGraphicFramePr>
        <p:xfrm>
          <a:off x="246888" y="1481328"/>
          <a:ext cx="3840480" cy="1700784"/>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4251960" y="1261872"/>
            <a:ext cx="2340864" cy="2066544"/>
          </a:xfrm>
          <a:prstGeom prst="roundRect">
            <a:avLst>
              <a:gd name="adj" fmla="val 885"/>
            </a:avLst>
          </a:prstGeom>
          <a:solidFill>
            <a:srgbClr val="FFFFFF"/>
          </a:solidFill>
          <a:ln w="9525">
            <a:solidFill>
              <a:srgbClr val="C8DCD7"/>
            </a:solidFill>
            <a:prstDash val="solid"/>
          </a:ln>
        </p:spPr>
      </p:sp>
      <p:sp>
        <p:nvSpPr>
          <p:cNvPr id="22" name="Shape 19"/>
          <p:cNvSpPr/>
          <p:nvPr/>
        </p:nvSpPr>
        <p:spPr>
          <a:xfrm>
            <a:off x="4251960" y="1261872"/>
            <a:ext cx="2340864" cy="274320"/>
          </a:xfrm>
          <a:prstGeom prst="rect">
            <a:avLst/>
          </a:prstGeom>
          <a:solidFill>
            <a:srgbClr val="D6544D"/>
          </a:solidFill>
          <a:ln/>
        </p:spPr>
      </p:sp>
      <p:sp>
        <p:nvSpPr>
          <p:cNvPr id="23" name="Text 20"/>
          <p:cNvSpPr/>
          <p:nvPr/>
        </p:nvSpPr>
        <p:spPr>
          <a:xfrm>
            <a:off x="4334256" y="1280160"/>
            <a:ext cx="21762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SAME GAP, TWICE</a:t>
            </a:r>
            <a:endParaRPr lang="en-US" sz="700" dirty="0"/>
          </a:p>
        </p:txBody>
      </p:sp>
      <p:sp>
        <p:nvSpPr>
          <p:cNvPr id="24" name="Text 21"/>
          <p:cNvSpPr/>
          <p:nvPr/>
        </p:nvSpPr>
        <p:spPr>
          <a:xfrm>
            <a:off x="4343400" y="1627632"/>
            <a:ext cx="2157984" cy="329184"/>
          </a:xfrm>
          <a:prstGeom prst="rect">
            <a:avLst/>
          </a:prstGeom>
          <a:noFill/>
          <a:ln/>
        </p:spPr>
        <p:txBody>
          <a:bodyPr wrap="square" lIns="0" tIns="0" rIns="0" bIns="0" rtlCol="0" anchor="t"/>
          <a:lstStyle/>
          <a:p>
            <a:pPr algn="ctr" indent="0" marL="0">
              <a:buNone/>
            </a:pPr>
            <a:r>
              <a:rPr lang="en-US" sz="1600" b="1" dirty="0">
                <a:solidFill>
                  <a:srgbClr val="D6544D"/>
                </a:solidFill>
                <a:latin typeface="Calibri Light" pitchFamily="34" charset="0"/>
                <a:ea typeface="Calibri Light" pitchFamily="34" charset="-122"/>
                <a:cs typeface="Calibri Light" pitchFamily="34" charset="-120"/>
              </a:rPr>
              <a:t>₹13.05 Cr</a:t>
            </a:r>
            <a:endParaRPr lang="en-US" sz="1600" dirty="0"/>
          </a:p>
        </p:txBody>
      </p:sp>
      <p:sp>
        <p:nvSpPr>
          <p:cNvPr id="25" name="Text 22"/>
          <p:cNvSpPr/>
          <p:nvPr/>
        </p:nvSpPr>
        <p:spPr>
          <a:xfrm>
            <a:off x="4343400" y="1975104"/>
            <a:ext cx="2157984" cy="164592"/>
          </a:xfrm>
          <a:prstGeom prst="rect">
            <a:avLst/>
          </a:prstGeom>
          <a:noFill/>
          <a:ln/>
        </p:spPr>
        <p:txBody>
          <a:bodyPr wrap="square" lIns="0" tIns="0" rIns="0" bIns="0" rtlCol="0" anchor="t"/>
          <a:lstStyle/>
          <a:p>
            <a:pPr algn="ctr" indent="0" marL="0">
              <a:buNone/>
            </a:pPr>
            <a:r>
              <a:rPr lang="en-US" sz="680" dirty="0">
                <a:solidFill>
                  <a:srgbClr val="5F716E"/>
                </a:solidFill>
                <a:latin typeface="Calibri" pitchFamily="34" charset="0"/>
                <a:ea typeface="Calibri" pitchFamily="34" charset="-122"/>
                <a:cs typeface="Calibri" pitchFamily="34" charset="-120"/>
              </a:rPr>
              <a:t>combined gap across both engines</a:t>
            </a:r>
            <a:endParaRPr lang="en-US" sz="680" dirty="0"/>
          </a:p>
        </p:txBody>
      </p:sp>
      <p:sp>
        <p:nvSpPr>
          <p:cNvPr id="26" name="Shape 23"/>
          <p:cNvSpPr/>
          <p:nvPr/>
        </p:nvSpPr>
        <p:spPr>
          <a:xfrm>
            <a:off x="4361688" y="2244852"/>
            <a:ext cx="50292" cy="50292"/>
          </a:xfrm>
          <a:prstGeom prst="ellipse">
            <a:avLst/>
          </a:prstGeom>
          <a:solidFill>
            <a:srgbClr val="D6544D"/>
          </a:solidFill>
          <a:ln/>
        </p:spPr>
      </p:sp>
      <p:sp>
        <p:nvSpPr>
          <p:cNvPr id="27" name="Text 24"/>
          <p:cNvSpPr/>
          <p:nvPr/>
        </p:nvSpPr>
        <p:spPr>
          <a:xfrm>
            <a:off x="4480560" y="219456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Mamaearth ₹8.89 Cr at 73.4% conversion.</a:t>
            </a:r>
            <a:endParaRPr lang="en-US" sz="700" dirty="0"/>
          </a:p>
        </p:txBody>
      </p:sp>
      <p:sp>
        <p:nvSpPr>
          <p:cNvPr id="28" name="Shape 25"/>
          <p:cNvSpPr/>
          <p:nvPr/>
        </p:nvSpPr>
        <p:spPr>
          <a:xfrm>
            <a:off x="4361688" y="2610612"/>
            <a:ext cx="50292" cy="50292"/>
          </a:xfrm>
          <a:prstGeom prst="ellipse">
            <a:avLst/>
          </a:prstGeom>
          <a:solidFill>
            <a:srgbClr val="D6544D"/>
          </a:solidFill>
          <a:ln/>
        </p:spPr>
      </p:sp>
      <p:sp>
        <p:nvSpPr>
          <p:cNvPr id="29" name="Text 26"/>
          <p:cNvSpPr/>
          <p:nvPr/>
        </p:nvSpPr>
        <p:spPr>
          <a:xfrm>
            <a:off x="4480560" y="2560320"/>
            <a:ext cx="2002536" cy="347472"/>
          </a:xfrm>
          <a:prstGeom prst="rect">
            <a:avLst/>
          </a:prstGeom>
          <a:noFill/>
          <a:ln/>
        </p:spPr>
        <p:txBody>
          <a:bodyPr wrap="square" lIns="0" tIns="0" rIns="0" bIns="0" rtlCol="0" anchor="t"/>
          <a:lstStyle/>
          <a:p>
            <a:pPr indent="0" marL="0">
              <a:lnSpc>
                <a:spcPct val="92000"/>
              </a:lnSpc>
              <a:buNone/>
            </a:pPr>
            <a:r>
              <a:rPr lang="en-US" sz="700" dirty="0">
                <a:solidFill>
                  <a:srgbClr val="183B39"/>
                </a:solidFill>
                <a:latin typeface="Calibri" pitchFamily="34" charset="0"/>
                <a:ea typeface="Calibri" pitchFamily="34" charset="-122"/>
                <a:cs typeface="Calibri" pitchFamily="34" charset="-120"/>
              </a:rPr>
              <a:t>The Derma Co. ₹4.16 Cr at 72.6%.</a:t>
            </a:r>
            <a:endParaRPr lang="en-US" sz="700" dirty="0"/>
          </a:p>
        </p:txBody>
      </p:sp>
      <p:sp>
        <p:nvSpPr>
          <p:cNvPr id="30" name="Shape 27"/>
          <p:cNvSpPr/>
          <p:nvPr/>
        </p:nvSpPr>
        <p:spPr>
          <a:xfrm>
            <a:off x="4361688" y="2976372"/>
            <a:ext cx="50292" cy="50292"/>
          </a:xfrm>
          <a:prstGeom prst="ellipse">
            <a:avLst/>
          </a:prstGeom>
          <a:solidFill>
            <a:srgbClr val="D6544D"/>
          </a:solidFill>
          <a:ln/>
        </p:spPr>
      </p:sp>
      <p:sp>
        <p:nvSpPr>
          <p:cNvPr id="31" name="Text 28"/>
          <p:cNvSpPr/>
          <p:nvPr/>
        </p:nvSpPr>
        <p:spPr>
          <a:xfrm>
            <a:off x="4480560" y="2926080"/>
            <a:ext cx="2002536" cy="347472"/>
          </a:xfrm>
          <a:prstGeom prst="rect">
            <a:avLst/>
          </a:prstGeom>
          <a:noFill/>
          <a:ln/>
        </p:spPr>
        <p:txBody>
          <a:bodyPr wrap="square" lIns="0" tIns="0" rIns="0" bIns="0" rtlCol="0" anchor="t"/>
          <a:lstStyle/>
          <a:p>
            <a:pPr indent="0" marL="0">
              <a:lnSpc>
                <a:spcPct val="92000"/>
              </a:lnSpc>
              <a:buNone/>
            </a:pPr>
            <a:r>
              <a:rPr lang="en-US" sz="700" b="1" dirty="0">
                <a:solidFill>
                  <a:srgbClr val="183B39"/>
                </a:solidFill>
                <a:latin typeface="Calibri" pitchFamily="34" charset="0"/>
                <a:ea typeface="Calibri" pitchFamily="34" charset="-122"/>
                <a:cs typeface="Calibri" pitchFamily="34" charset="-120"/>
              </a:rPr>
              <a:t>Within 0.8 pp of each other — the constraint is the channel, not the brand.</a:t>
            </a:r>
            <a:endParaRPr lang="en-US" sz="700" dirty="0"/>
          </a:p>
        </p:txBody>
      </p:sp>
      <p:sp>
        <p:nvSpPr>
          <p:cNvPr id="32" name="Shape 29"/>
          <p:cNvSpPr/>
          <p:nvPr/>
        </p:nvSpPr>
        <p:spPr>
          <a:xfrm>
            <a:off x="265176" y="3456432"/>
            <a:ext cx="6327648" cy="256032"/>
          </a:xfrm>
          <a:prstGeom prst="rect">
            <a:avLst/>
          </a:prstGeom>
          <a:solidFill>
            <a:srgbClr val="116F68"/>
          </a:solidFill>
          <a:ln/>
        </p:spPr>
      </p:sp>
      <p:sp>
        <p:nvSpPr>
          <p:cNvPr id="33" name="Text 30"/>
          <p:cNvSpPr/>
          <p:nvPr/>
        </p:nvSpPr>
        <p:spPr>
          <a:xfrm>
            <a:off x="320040" y="3474720"/>
            <a:ext cx="1322947"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BRAND</a:t>
            </a:r>
            <a:endParaRPr lang="en-US" sz="660" dirty="0"/>
          </a:p>
        </p:txBody>
      </p:sp>
      <p:sp>
        <p:nvSpPr>
          <p:cNvPr id="34" name="Text 31"/>
          <p:cNvSpPr/>
          <p:nvPr/>
        </p:nvSpPr>
        <p:spPr>
          <a:xfrm>
            <a:off x="1752715"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PRIMARY</a:t>
            </a:r>
            <a:endParaRPr lang="en-US" sz="660" dirty="0"/>
          </a:p>
        </p:txBody>
      </p:sp>
      <p:sp>
        <p:nvSpPr>
          <p:cNvPr id="35" name="Text 32"/>
          <p:cNvSpPr/>
          <p:nvPr/>
        </p:nvSpPr>
        <p:spPr>
          <a:xfrm>
            <a:off x="2548646" y="3474720"/>
            <a:ext cx="68620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OFFTAKE</a:t>
            </a:r>
            <a:endParaRPr lang="en-US" sz="660" dirty="0"/>
          </a:p>
        </p:txBody>
      </p:sp>
      <p:sp>
        <p:nvSpPr>
          <p:cNvPr id="36" name="Text 33"/>
          <p:cNvSpPr/>
          <p:nvPr/>
        </p:nvSpPr>
        <p:spPr>
          <a:xfrm>
            <a:off x="3344576" y="3474720"/>
            <a:ext cx="5668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CONV.</a:t>
            </a:r>
            <a:endParaRPr lang="en-US" sz="660" dirty="0"/>
          </a:p>
        </p:txBody>
      </p:sp>
      <p:sp>
        <p:nvSpPr>
          <p:cNvPr id="37" name="Text 34"/>
          <p:cNvSpPr/>
          <p:nvPr/>
        </p:nvSpPr>
        <p:spPr>
          <a:xfrm>
            <a:off x="4021117" y="3474720"/>
            <a:ext cx="92498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SHARE OF OFFTAKE</a:t>
            </a:r>
            <a:endParaRPr lang="en-US" sz="660" dirty="0"/>
          </a:p>
        </p:txBody>
      </p:sp>
      <p:sp>
        <p:nvSpPr>
          <p:cNvPr id="38" name="Text 35"/>
          <p:cNvSpPr/>
          <p:nvPr/>
        </p:nvSpPr>
        <p:spPr>
          <a:xfrm>
            <a:off x="5055827" y="3474720"/>
            <a:ext cx="1482133"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READ</a:t>
            </a:r>
            <a:endParaRPr lang="en-US" sz="660" dirty="0"/>
          </a:p>
        </p:txBody>
      </p:sp>
      <p:sp>
        <p:nvSpPr>
          <p:cNvPr id="39" name="Shape 36"/>
          <p:cNvSpPr/>
          <p:nvPr/>
        </p:nvSpPr>
        <p:spPr>
          <a:xfrm>
            <a:off x="265176" y="3712464"/>
            <a:ext cx="6327648" cy="274320"/>
          </a:xfrm>
          <a:prstGeom prst="rect">
            <a:avLst/>
          </a:prstGeom>
          <a:solidFill>
            <a:srgbClr val="F4F9F8"/>
          </a:solidFill>
          <a:ln/>
        </p:spPr>
      </p:sp>
      <p:sp>
        <p:nvSpPr>
          <p:cNvPr id="40" name="Shape 37"/>
          <p:cNvSpPr/>
          <p:nvPr/>
        </p:nvSpPr>
        <p:spPr>
          <a:xfrm>
            <a:off x="265176" y="3986784"/>
            <a:ext cx="6327648" cy="0"/>
          </a:xfrm>
          <a:prstGeom prst="line">
            <a:avLst/>
          </a:prstGeom>
          <a:noFill/>
          <a:ln w="6350">
            <a:solidFill>
              <a:srgbClr val="C8DCD7"/>
            </a:solidFill>
            <a:prstDash val="solid"/>
          </a:ln>
        </p:spPr>
      </p:sp>
      <p:sp>
        <p:nvSpPr>
          <p:cNvPr id="41" name="Text 38"/>
          <p:cNvSpPr/>
          <p:nvPr/>
        </p:nvSpPr>
        <p:spPr>
          <a:xfrm>
            <a:off x="320040" y="371246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Mamaearth</a:t>
            </a:r>
            <a:endParaRPr lang="en-US" sz="700" dirty="0"/>
          </a:p>
        </p:txBody>
      </p:sp>
      <p:sp>
        <p:nvSpPr>
          <p:cNvPr id="42" name="Text 39"/>
          <p:cNvSpPr/>
          <p:nvPr/>
        </p:nvSpPr>
        <p:spPr>
          <a:xfrm>
            <a:off x="1752715"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33.38</a:t>
            </a:r>
            <a:endParaRPr lang="en-US" sz="700" dirty="0"/>
          </a:p>
        </p:txBody>
      </p:sp>
      <p:sp>
        <p:nvSpPr>
          <p:cNvPr id="43" name="Text 40"/>
          <p:cNvSpPr/>
          <p:nvPr/>
        </p:nvSpPr>
        <p:spPr>
          <a:xfrm>
            <a:off x="2548646" y="371246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24.49</a:t>
            </a:r>
            <a:endParaRPr lang="en-US" sz="700" dirty="0"/>
          </a:p>
        </p:txBody>
      </p:sp>
      <p:sp>
        <p:nvSpPr>
          <p:cNvPr id="44" name="Text 41"/>
          <p:cNvSpPr/>
          <p:nvPr/>
        </p:nvSpPr>
        <p:spPr>
          <a:xfrm>
            <a:off x="3344576" y="371246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73.4%</a:t>
            </a:r>
            <a:endParaRPr lang="en-US" sz="700" dirty="0"/>
          </a:p>
        </p:txBody>
      </p:sp>
      <p:sp>
        <p:nvSpPr>
          <p:cNvPr id="45" name="Text 42"/>
          <p:cNvSpPr/>
          <p:nvPr/>
        </p:nvSpPr>
        <p:spPr>
          <a:xfrm>
            <a:off x="4021117" y="371246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67.8%</a:t>
            </a:r>
            <a:endParaRPr lang="en-US" sz="700" dirty="0"/>
          </a:p>
        </p:txBody>
      </p:sp>
      <p:sp>
        <p:nvSpPr>
          <p:cNvPr id="46" name="Text 43"/>
          <p:cNvSpPr/>
          <p:nvPr/>
        </p:nvSpPr>
        <p:spPr>
          <a:xfrm>
            <a:off x="5055827" y="371246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Engine — protect hero EANs</a:t>
            </a:r>
            <a:endParaRPr lang="en-US" sz="700" dirty="0"/>
          </a:p>
        </p:txBody>
      </p:sp>
      <p:sp>
        <p:nvSpPr>
          <p:cNvPr id="47" name="Shape 44"/>
          <p:cNvSpPr/>
          <p:nvPr/>
        </p:nvSpPr>
        <p:spPr>
          <a:xfrm>
            <a:off x="265176" y="4261104"/>
            <a:ext cx="6327648" cy="0"/>
          </a:xfrm>
          <a:prstGeom prst="line">
            <a:avLst/>
          </a:prstGeom>
          <a:noFill/>
          <a:ln w="6350">
            <a:solidFill>
              <a:srgbClr val="C8DCD7"/>
            </a:solidFill>
            <a:prstDash val="solid"/>
          </a:ln>
        </p:spPr>
      </p:sp>
      <p:sp>
        <p:nvSpPr>
          <p:cNvPr id="48" name="Text 45"/>
          <p:cNvSpPr/>
          <p:nvPr/>
        </p:nvSpPr>
        <p:spPr>
          <a:xfrm>
            <a:off x="320040" y="3986784"/>
            <a:ext cx="1322947" cy="274320"/>
          </a:xfrm>
          <a:prstGeom prst="rect">
            <a:avLst/>
          </a:prstGeom>
          <a:noFill/>
          <a:ln/>
        </p:spPr>
        <p:txBody>
          <a:bodyPr wrap="square" lIns="0" tIns="0" rIns="0" bIns="0" rtlCol="0" anchor="ctr"/>
          <a:lstStyle/>
          <a:p>
            <a:pPr algn="l" indent="0" marL="0">
              <a:buNone/>
            </a:pPr>
            <a:r>
              <a:rPr lang="en-US" sz="700" b="1" dirty="0">
                <a:solidFill>
                  <a:srgbClr val="183B39"/>
                </a:solidFill>
                <a:latin typeface="Calibri" pitchFamily="34" charset="0"/>
                <a:ea typeface="Calibri" pitchFamily="34" charset="-122"/>
                <a:cs typeface="Calibri" pitchFamily="34" charset="-120"/>
              </a:rPr>
              <a:t>The Derma Co.</a:t>
            </a:r>
            <a:endParaRPr lang="en-US" sz="700" dirty="0"/>
          </a:p>
        </p:txBody>
      </p:sp>
      <p:sp>
        <p:nvSpPr>
          <p:cNvPr id="49" name="Text 46"/>
          <p:cNvSpPr/>
          <p:nvPr/>
        </p:nvSpPr>
        <p:spPr>
          <a:xfrm>
            <a:off x="1752715"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15.19</a:t>
            </a:r>
            <a:endParaRPr lang="en-US" sz="700" dirty="0"/>
          </a:p>
        </p:txBody>
      </p:sp>
      <p:sp>
        <p:nvSpPr>
          <p:cNvPr id="50" name="Text 47"/>
          <p:cNvSpPr/>
          <p:nvPr/>
        </p:nvSpPr>
        <p:spPr>
          <a:xfrm>
            <a:off x="2548646" y="398678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11.03</a:t>
            </a:r>
            <a:endParaRPr lang="en-US" sz="700" dirty="0"/>
          </a:p>
        </p:txBody>
      </p:sp>
      <p:sp>
        <p:nvSpPr>
          <p:cNvPr id="51" name="Text 48"/>
          <p:cNvSpPr/>
          <p:nvPr/>
        </p:nvSpPr>
        <p:spPr>
          <a:xfrm>
            <a:off x="3344576" y="3986784"/>
            <a:ext cx="566813" cy="274320"/>
          </a:xfrm>
          <a:prstGeom prst="rect">
            <a:avLst/>
          </a:prstGeom>
          <a:noFill/>
          <a:ln/>
        </p:spPr>
        <p:txBody>
          <a:bodyPr wrap="square" lIns="0" tIns="0" rIns="0" bIns="0" rtlCol="0" anchor="ctr"/>
          <a:lstStyle/>
          <a:p>
            <a:pPr algn="r" indent="0" marL="0">
              <a:buNone/>
            </a:pPr>
            <a:r>
              <a:rPr lang="en-US" sz="700" b="1" dirty="0">
                <a:solidFill>
                  <a:srgbClr val="F2B84B"/>
                </a:solidFill>
                <a:latin typeface="Calibri" pitchFamily="34" charset="0"/>
                <a:ea typeface="Calibri" pitchFamily="34" charset="-122"/>
                <a:cs typeface="Calibri" pitchFamily="34" charset="-120"/>
              </a:rPr>
              <a:t>72.6%</a:t>
            </a:r>
            <a:endParaRPr lang="en-US" sz="700" dirty="0"/>
          </a:p>
        </p:txBody>
      </p:sp>
      <p:sp>
        <p:nvSpPr>
          <p:cNvPr id="52" name="Text 49"/>
          <p:cNvSpPr/>
          <p:nvPr/>
        </p:nvSpPr>
        <p:spPr>
          <a:xfrm>
            <a:off x="4021117" y="3986784"/>
            <a:ext cx="924982" cy="274320"/>
          </a:xfrm>
          <a:prstGeom prst="rect">
            <a:avLst/>
          </a:prstGeom>
          <a:noFill/>
          <a:ln/>
        </p:spPr>
        <p:txBody>
          <a:bodyPr wrap="square" lIns="0" tIns="0" rIns="0" bIns="0" rtlCol="0" anchor="ctr"/>
          <a:lstStyle/>
          <a:p>
            <a:pPr algn="r" indent="0" marL="0">
              <a:buNone/>
            </a:pPr>
            <a:r>
              <a:rPr lang="en-US" sz="700" b="1" dirty="0">
                <a:solidFill>
                  <a:srgbClr val="183B39"/>
                </a:solidFill>
                <a:latin typeface="Calibri" pitchFamily="34" charset="0"/>
                <a:ea typeface="Calibri" pitchFamily="34" charset="-122"/>
                <a:cs typeface="Calibri" pitchFamily="34" charset="-120"/>
              </a:rPr>
              <a:t>30.6%</a:t>
            </a:r>
            <a:endParaRPr lang="en-US" sz="700" dirty="0"/>
          </a:p>
        </p:txBody>
      </p:sp>
      <p:sp>
        <p:nvSpPr>
          <p:cNvPr id="53" name="Text 50"/>
          <p:cNvSpPr/>
          <p:nvPr/>
        </p:nvSpPr>
        <p:spPr>
          <a:xfrm>
            <a:off x="5055827" y="3986784"/>
            <a:ext cx="1482133"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₹4.16 Cr gap — same flow problem</a:t>
            </a:r>
            <a:endParaRPr lang="en-US" sz="700" dirty="0"/>
          </a:p>
        </p:txBody>
      </p:sp>
      <p:sp>
        <p:nvSpPr>
          <p:cNvPr id="54" name="Shape 51"/>
          <p:cNvSpPr/>
          <p:nvPr/>
        </p:nvSpPr>
        <p:spPr>
          <a:xfrm>
            <a:off x="265176" y="4261104"/>
            <a:ext cx="6327648" cy="274320"/>
          </a:xfrm>
          <a:prstGeom prst="rect">
            <a:avLst/>
          </a:prstGeom>
          <a:solidFill>
            <a:srgbClr val="F4F9F8"/>
          </a:solidFill>
          <a:ln/>
        </p:spPr>
      </p:sp>
      <p:sp>
        <p:nvSpPr>
          <p:cNvPr id="55" name="Shape 52"/>
          <p:cNvSpPr/>
          <p:nvPr/>
        </p:nvSpPr>
        <p:spPr>
          <a:xfrm>
            <a:off x="265176" y="4535424"/>
            <a:ext cx="6327648" cy="0"/>
          </a:xfrm>
          <a:prstGeom prst="line">
            <a:avLst/>
          </a:prstGeom>
          <a:noFill/>
          <a:ln w="6350">
            <a:solidFill>
              <a:srgbClr val="C8DCD7"/>
            </a:solidFill>
            <a:prstDash val="solid"/>
          </a:ln>
        </p:spPr>
      </p:sp>
      <p:sp>
        <p:nvSpPr>
          <p:cNvPr id="56" name="Text 53"/>
          <p:cNvSpPr/>
          <p:nvPr/>
        </p:nvSpPr>
        <p:spPr>
          <a:xfrm>
            <a:off x="320040" y="426110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Aqualogica</a:t>
            </a:r>
            <a:endParaRPr lang="en-US" sz="700" dirty="0"/>
          </a:p>
        </p:txBody>
      </p:sp>
      <p:sp>
        <p:nvSpPr>
          <p:cNvPr id="57" name="Text 54"/>
          <p:cNvSpPr/>
          <p:nvPr/>
        </p:nvSpPr>
        <p:spPr>
          <a:xfrm>
            <a:off x="1752715"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0.41</a:t>
            </a:r>
            <a:endParaRPr lang="en-US" sz="700" dirty="0"/>
          </a:p>
        </p:txBody>
      </p:sp>
      <p:sp>
        <p:nvSpPr>
          <p:cNvPr id="58" name="Text 55"/>
          <p:cNvSpPr/>
          <p:nvPr/>
        </p:nvSpPr>
        <p:spPr>
          <a:xfrm>
            <a:off x="2548646" y="426110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0.48</a:t>
            </a:r>
            <a:endParaRPr lang="en-US" sz="700" dirty="0"/>
          </a:p>
        </p:txBody>
      </p:sp>
      <p:sp>
        <p:nvSpPr>
          <p:cNvPr id="59" name="Text 56"/>
          <p:cNvSpPr/>
          <p:nvPr/>
        </p:nvSpPr>
        <p:spPr>
          <a:xfrm>
            <a:off x="3344576" y="426110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over 100%</a:t>
            </a:r>
            <a:endParaRPr lang="en-US" sz="700" dirty="0"/>
          </a:p>
        </p:txBody>
      </p:sp>
      <p:sp>
        <p:nvSpPr>
          <p:cNvPr id="60" name="Text 57"/>
          <p:cNvSpPr/>
          <p:nvPr/>
        </p:nvSpPr>
        <p:spPr>
          <a:xfrm>
            <a:off x="4021117" y="426110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1.3%</a:t>
            </a:r>
            <a:endParaRPr lang="en-US" sz="700" dirty="0"/>
          </a:p>
        </p:txBody>
      </p:sp>
      <p:sp>
        <p:nvSpPr>
          <p:cNvPr id="61" name="Text 58"/>
          <p:cNvSpPr/>
          <p:nvPr/>
        </p:nvSpPr>
        <p:spPr>
          <a:xfrm>
            <a:off x="5055827" y="426110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Stock or timing — validate</a:t>
            </a:r>
            <a:endParaRPr lang="en-US" sz="700" dirty="0"/>
          </a:p>
        </p:txBody>
      </p:sp>
      <p:sp>
        <p:nvSpPr>
          <p:cNvPr id="62" name="Shape 59"/>
          <p:cNvSpPr/>
          <p:nvPr/>
        </p:nvSpPr>
        <p:spPr>
          <a:xfrm>
            <a:off x="265176" y="4809744"/>
            <a:ext cx="6327648" cy="0"/>
          </a:xfrm>
          <a:prstGeom prst="line">
            <a:avLst/>
          </a:prstGeom>
          <a:noFill/>
          <a:ln w="6350">
            <a:solidFill>
              <a:srgbClr val="C8DCD7"/>
            </a:solidFill>
            <a:prstDash val="solid"/>
          </a:ln>
        </p:spPr>
      </p:sp>
      <p:sp>
        <p:nvSpPr>
          <p:cNvPr id="63" name="Text 60"/>
          <p:cNvSpPr/>
          <p:nvPr/>
        </p:nvSpPr>
        <p:spPr>
          <a:xfrm>
            <a:off x="320040" y="453542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BBLUNT</a:t>
            </a:r>
            <a:endParaRPr lang="en-US" sz="700" dirty="0"/>
          </a:p>
        </p:txBody>
      </p:sp>
      <p:sp>
        <p:nvSpPr>
          <p:cNvPr id="64" name="Text 61"/>
          <p:cNvSpPr/>
          <p:nvPr/>
        </p:nvSpPr>
        <p:spPr>
          <a:xfrm>
            <a:off x="1752715"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0.18</a:t>
            </a:r>
            <a:endParaRPr lang="en-US" sz="700" dirty="0"/>
          </a:p>
        </p:txBody>
      </p:sp>
      <p:sp>
        <p:nvSpPr>
          <p:cNvPr id="65" name="Text 62"/>
          <p:cNvSpPr/>
          <p:nvPr/>
        </p:nvSpPr>
        <p:spPr>
          <a:xfrm>
            <a:off x="2548646" y="453542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0.06</a:t>
            </a:r>
            <a:endParaRPr lang="en-US" sz="700" dirty="0"/>
          </a:p>
        </p:txBody>
      </p:sp>
      <p:sp>
        <p:nvSpPr>
          <p:cNvPr id="66" name="Text 63"/>
          <p:cNvSpPr/>
          <p:nvPr/>
        </p:nvSpPr>
        <p:spPr>
          <a:xfrm>
            <a:off x="3344576" y="4535424"/>
            <a:ext cx="566813" cy="274320"/>
          </a:xfrm>
          <a:prstGeom prst="rect">
            <a:avLst/>
          </a:prstGeom>
          <a:noFill/>
          <a:ln/>
        </p:spPr>
        <p:txBody>
          <a:bodyPr wrap="square" lIns="0" tIns="0" rIns="0" bIns="0" rtlCol="0" anchor="ctr"/>
          <a:lstStyle/>
          <a:p>
            <a:pPr algn="r" indent="0" marL="0">
              <a:buNone/>
            </a:pPr>
            <a:r>
              <a:rPr lang="en-US" sz="700" dirty="0">
                <a:solidFill>
                  <a:srgbClr val="D6544D"/>
                </a:solidFill>
                <a:latin typeface="Calibri" pitchFamily="34" charset="0"/>
                <a:ea typeface="Calibri" pitchFamily="34" charset="-122"/>
                <a:cs typeface="Calibri" pitchFamily="34" charset="-120"/>
              </a:rPr>
              <a:t>35.2%</a:t>
            </a:r>
            <a:endParaRPr lang="en-US" sz="700" dirty="0"/>
          </a:p>
        </p:txBody>
      </p:sp>
      <p:sp>
        <p:nvSpPr>
          <p:cNvPr id="67" name="Text 64"/>
          <p:cNvSpPr/>
          <p:nvPr/>
        </p:nvSpPr>
        <p:spPr>
          <a:xfrm>
            <a:off x="4021117" y="453542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0.2%</a:t>
            </a:r>
            <a:endParaRPr lang="en-US" sz="700" dirty="0"/>
          </a:p>
        </p:txBody>
      </p:sp>
      <p:sp>
        <p:nvSpPr>
          <p:cNvPr id="68" name="Text 65"/>
          <p:cNvSpPr/>
          <p:nvPr/>
        </p:nvSpPr>
        <p:spPr>
          <a:xfrm>
            <a:off x="5055827" y="4535424"/>
            <a:ext cx="1482133" cy="274320"/>
          </a:xfrm>
          <a:prstGeom prst="rect">
            <a:avLst/>
          </a:prstGeom>
          <a:noFill/>
          <a:ln/>
        </p:spPr>
        <p:txBody>
          <a:bodyPr wrap="square" lIns="0" tIns="0" rIns="0" bIns="0" rtlCol="0" anchor="ctr"/>
          <a:lstStyle/>
          <a:p>
            <a:pPr algn="l" indent="0" marL="0">
              <a:buNone/>
            </a:pPr>
            <a:r>
              <a:rPr lang="en-US" sz="700" dirty="0">
                <a:solidFill>
                  <a:srgbClr val="5F716E"/>
                </a:solidFill>
                <a:latin typeface="Calibri" pitchFamily="34" charset="0"/>
                <a:ea typeface="Calibri" pitchFamily="34" charset="-122"/>
                <a:cs typeface="Calibri" pitchFamily="34" charset="-120"/>
              </a:rPr>
              <a:t>Below materiality floor</a:t>
            </a:r>
            <a:endParaRPr lang="en-US" sz="700" dirty="0"/>
          </a:p>
        </p:txBody>
      </p:sp>
      <p:sp>
        <p:nvSpPr>
          <p:cNvPr id="69" name="Shape 66"/>
          <p:cNvSpPr/>
          <p:nvPr/>
        </p:nvSpPr>
        <p:spPr>
          <a:xfrm>
            <a:off x="265176" y="4809744"/>
            <a:ext cx="6327648" cy="274320"/>
          </a:xfrm>
          <a:prstGeom prst="rect">
            <a:avLst/>
          </a:prstGeom>
          <a:solidFill>
            <a:srgbClr val="F4F9F8"/>
          </a:solidFill>
          <a:ln/>
        </p:spPr>
      </p:sp>
      <p:sp>
        <p:nvSpPr>
          <p:cNvPr id="70" name="Shape 67"/>
          <p:cNvSpPr/>
          <p:nvPr/>
        </p:nvSpPr>
        <p:spPr>
          <a:xfrm>
            <a:off x="265176" y="5084064"/>
            <a:ext cx="6327648" cy="0"/>
          </a:xfrm>
          <a:prstGeom prst="line">
            <a:avLst/>
          </a:prstGeom>
          <a:noFill/>
          <a:ln w="6350">
            <a:solidFill>
              <a:srgbClr val="C8DCD7"/>
            </a:solidFill>
            <a:prstDash val="solid"/>
          </a:ln>
        </p:spPr>
      </p:sp>
      <p:sp>
        <p:nvSpPr>
          <p:cNvPr id="71" name="Text 68"/>
          <p:cNvSpPr/>
          <p:nvPr/>
        </p:nvSpPr>
        <p:spPr>
          <a:xfrm>
            <a:off x="320040" y="4809744"/>
            <a:ext cx="1322947" cy="274320"/>
          </a:xfrm>
          <a:prstGeom prst="rect">
            <a:avLst/>
          </a:prstGeom>
          <a:noFill/>
          <a:ln/>
        </p:spPr>
        <p:txBody>
          <a:bodyPr wrap="square" lIns="0" tIns="0" rIns="0" bIns="0" rtlCol="0" anchor="ctr"/>
          <a:lstStyle/>
          <a:p>
            <a:pPr algn="l" indent="0" marL="0">
              <a:buNone/>
            </a:pPr>
            <a:r>
              <a:rPr lang="en-US" sz="700" dirty="0">
                <a:solidFill>
                  <a:srgbClr val="183B39"/>
                </a:solidFill>
                <a:latin typeface="Calibri" pitchFamily="34" charset="0"/>
                <a:ea typeface="Calibri" pitchFamily="34" charset="-122"/>
                <a:cs typeface="Calibri" pitchFamily="34" charset="-120"/>
              </a:rPr>
              <a:t>Dr. Sheth's</a:t>
            </a:r>
            <a:endParaRPr lang="en-US" sz="700" dirty="0"/>
          </a:p>
        </p:txBody>
      </p:sp>
      <p:sp>
        <p:nvSpPr>
          <p:cNvPr id="72" name="Text 69"/>
          <p:cNvSpPr/>
          <p:nvPr/>
        </p:nvSpPr>
        <p:spPr>
          <a:xfrm>
            <a:off x="1752715"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0.00</a:t>
            </a:r>
            <a:endParaRPr lang="en-US" sz="700" dirty="0"/>
          </a:p>
        </p:txBody>
      </p:sp>
      <p:sp>
        <p:nvSpPr>
          <p:cNvPr id="73" name="Text 70"/>
          <p:cNvSpPr/>
          <p:nvPr/>
        </p:nvSpPr>
        <p:spPr>
          <a:xfrm>
            <a:off x="2548646" y="4809744"/>
            <a:ext cx="686203"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0.03</a:t>
            </a:r>
            <a:endParaRPr lang="en-US" sz="700" dirty="0"/>
          </a:p>
        </p:txBody>
      </p:sp>
      <p:sp>
        <p:nvSpPr>
          <p:cNvPr id="74" name="Text 71"/>
          <p:cNvSpPr/>
          <p:nvPr/>
        </p:nvSpPr>
        <p:spPr>
          <a:xfrm>
            <a:off x="3344576" y="4809744"/>
            <a:ext cx="566813" cy="274320"/>
          </a:xfrm>
          <a:prstGeom prst="rect">
            <a:avLst/>
          </a:prstGeom>
          <a:noFill/>
          <a:ln/>
        </p:spPr>
        <p:txBody>
          <a:bodyPr wrap="square" lIns="0" tIns="0" rIns="0" bIns="0" rtlCol="0" anchor="ctr"/>
          <a:lstStyle/>
          <a:p>
            <a:pPr algn="r" indent="0" marL="0">
              <a:buNone/>
            </a:pPr>
            <a:r>
              <a:rPr lang="en-US" sz="700" dirty="0">
                <a:solidFill>
                  <a:srgbClr val="F2B84B"/>
                </a:solidFill>
                <a:latin typeface="Calibri" pitchFamily="34" charset="0"/>
                <a:ea typeface="Calibri" pitchFamily="34" charset="-122"/>
                <a:cs typeface="Calibri" pitchFamily="34" charset="-120"/>
              </a:rPr>
              <a:t>n/a</a:t>
            </a:r>
            <a:endParaRPr lang="en-US" sz="700" dirty="0"/>
          </a:p>
        </p:txBody>
      </p:sp>
      <p:sp>
        <p:nvSpPr>
          <p:cNvPr id="75" name="Text 72"/>
          <p:cNvSpPr/>
          <p:nvPr/>
        </p:nvSpPr>
        <p:spPr>
          <a:xfrm>
            <a:off x="4021117" y="4809744"/>
            <a:ext cx="924982" cy="274320"/>
          </a:xfrm>
          <a:prstGeom prst="rect">
            <a:avLst/>
          </a:prstGeom>
          <a:noFill/>
          <a:ln/>
        </p:spPr>
        <p:txBody>
          <a:bodyPr wrap="square" lIns="0" tIns="0" rIns="0" bIns="0" rtlCol="0" anchor="ctr"/>
          <a:lstStyle/>
          <a:p>
            <a:pPr algn="r" indent="0" marL="0">
              <a:buNone/>
            </a:pPr>
            <a:r>
              <a:rPr lang="en-US" sz="700" dirty="0">
                <a:solidFill>
                  <a:srgbClr val="183B39"/>
                </a:solidFill>
                <a:latin typeface="Calibri" pitchFamily="34" charset="0"/>
                <a:ea typeface="Calibri" pitchFamily="34" charset="-122"/>
                <a:cs typeface="Calibri" pitchFamily="34" charset="-120"/>
              </a:rPr>
              <a:t>0.1%</a:t>
            </a:r>
            <a:endParaRPr lang="en-US" sz="700" dirty="0"/>
          </a:p>
        </p:txBody>
      </p:sp>
      <p:sp>
        <p:nvSpPr>
          <p:cNvPr id="76" name="Text 73"/>
          <p:cNvSpPr/>
          <p:nvPr/>
        </p:nvSpPr>
        <p:spPr>
          <a:xfrm>
            <a:off x="5055827" y="4809744"/>
            <a:ext cx="1482133" cy="274320"/>
          </a:xfrm>
          <a:prstGeom prst="rect">
            <a:avLst/>
          </a:prstGeom>
          <a:noFill/>
          <a:ln/>
        </p:spPr>
        <p:txBody>
          <a:bodyPr wrap="square" lIns="0" tIns="0" rIns="0" bIns="0" rtlCol="0" anchor="ctr"/>
          <a:lstStyle/>
          <a:p>
            <a:pPr algn="l" indent="0" marL="0">
              <a:buNone/>
            </a:pPr>
            <a:r>
              <a:rPr lang="en-US" sz="700" dirty="0">
                <a:solidFill>
                  <a:srgbClr val="F2B84B"/>
                </a:solidFill>
                <a:latin typeface="Calibri" pitchFamily="34" charset="0"/>
                <a:ea typeface="Calibri" pitchFamily="34" charset="-122"/>
                <a:cs typeface="Calibri" pitchFamily="34" charset="-120"/>
              </a:rPr>
              <a:t>No mapped primary</a:t>
            </a:r>
            <a:endParaRPr lang="en-US" sz="700" dirty="0"/>
          </a:p>
        </p:txBody>
      </p:sp>
      <p:sp>
        <p:nvSpPr>
          <p:cNvPr id="77" name="Text 74"/>
          <p:cNvSpPr/>
          <p:nvPr/>
        </p:nvSpPr>
        <p:spPr>
          <a:xfrm>
            <a:off x="265176"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Mamaearth top 3 sub-categories (₹ Cr, Feb–Jul)</a:t>
            </a:r>
            <a:endParaRPr lang="en-US" sz="720" dirty="0"/>
          </a:p>
        </p:txBody>
      </p:sp>
      <p:graphicFrame>
        <p:nvGraphicFramePr>
          <p:cNvPr id="78" name="Chart 1" descr=""/>
          <p:cNvGraphicFramePr/>
          <p:nvPr/>
        </p:nvGraphicFramePr>
        <p:xfrm>
          <a:off x="246888" y="5468112"/>
          <a:ext cx="3090672" cy="1389888"/>
        </p:xfrm>
        <a:graphic xmlns:a="http://schemas.openxmlformats.org/drawingml/2006/main">
          <a:graphicData uri="http://schemas.openxmlformats.org/drawingml/2006/chart">
            <c:chart xmlns:c="http://schemas.openxmlformats.org/drawingml/2006/chart" r:id="rId2"/>
          </a:graphicData>
        </a:graphic>
      </p:graphicFrame>
      <p:sp>
        <p:nvSpPr>
          <p:cNvPr id="79" name="Text 75"/>
          <p:cNvSpPr/>
          <p:nvPr/>
        </p:nvSpPr>
        <p:spPr>
          <a:xfrm>
            <a:off x="3502152" y="5266944"/>
            <a:ext cx="3090672" cy="182880"/>
          </a:xfrm>
          <a:prstGeom prst="rect">
            <a:avLst/>
          </a:prstGeom>
          <a:noFill/>
          <a:ln/>
        </p:spPr>
        <p:txBody>
          <a:bodyPr wrap="square" lIns="0" tIns="0" rIns="0" bIns="0" rtlCol="0" anchor="t"/>
          <a:lstStyle/>
          <a:p>
            <a:pPr indent="0" marL="0">
              <a:buNone/>
            </a:pPr>
            <a:r>
              <a:rPr lang="en-US" sz="720" b="1" dirty="0">
                <a:solidFill>
                  <a:srgbClr val="183B39"/>
                </a:solidFill>
                <a:latin typeface="Calibri" pitchFamily="34" charset="0"/>
                <a:ea typeface="Calibri" pitchFamily="34" charset="-122"/>
                <a:cs typeface="Calibri" pitchFamily="34" charset="-120"/>
              </a:rPr>
              <a:t>The Derma Co. top 3 sub-categories (₹ Cr, Feb–Jul)</a:t>
            </a:r>
            <a:endParaRPr lang="en-US" sz="720" dirty="0"/>
          </a:p>
        </p:txBody>
      </p:sp>
      <p:graphicFrame>
        <p:nvGraphicFramePr>
          <p:cNvPr id="80" name="Chart 2" descr=""/>
          <p:cNvGraphicFramePr/>
          <p:nvPr/>
        </p:nvGraphicFramePr>
        <p:xfrm>
          <a:off x="3483864" y="5468112"/>
          <a:ext cx="3090672" cy="1389888"/>
        </p:xfrm>
        <a:graphic xmlns:a="http://schemas.openxmlformats.org/drawingml/2006/main">
          <a:graphicData uri="http://schemas.openxmlformats.org/drawingml/2006/chart">
            <c:chart xmlns:c="http://schemas.openxmlformats.org/drawingml/2006/chart" r:id="rId3"/>
          </a:graphicData>
        </a:graphic>
      </p:graphicFrame>
      <p:sp>
        <p:nvSpPr>
          <p:cNvPr id="81" name="Shape 76"/>
          <p:cNvSpPr/>
          <p:nvPr/>
        </p:nvSpPr>
        <p:spPr>
          <a:xfrm>
            <a:off x="265176" y="6967728"/>
            <a:ext cx="6327648" cy="256032"/>
          </a:xfrm>
          <a:prstGeom prst="rect">
            <a:avLst/>
          </a:prstGeom>
          <a:solidFill>
            <a:srgbClr val="116F68"/>
          </a:solidFill>
          <a:ln/>
        </p:spPr>
      </p:sp>
      <p:sp>
        <p:nvSpPr>
          <p:cNvPr id="82" name="Text 77"/>
          <p:cNvSpPr/>
          <p:nvPr/>
        </p:nvSpPr>
        <p:spPr>
          <a:xfrm>
            <a:off x="374904" y="6986016"/>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PORTFOLIO IMPLICATIONS</a:t>
            </a:r>
            <a:endParaRPr lang="en-US" sz="720" dirty="0"/>
          </a:p>
        </p:txBody>
      </p:sp>
      <p:sp>
        <p:nvSpPr>
          <p:cNvPr id="83" name="Shape 78"/>
          <p:cNvSpPr/>
          <p:nvPr/>
        </p:nvSpPr>
        <p:spPr>
          <a:xfrm>
            <a:off x="356616" y="7383780"/>
            <a:ext cx="50292" cy="50292"/>
          </a:xfrm>
          <a:prstGeom prst="ellipse">
            <a:avLst/>
          </a:prstGeom>
          <a:solidFill>
            <a:srgbClr val="28A596"/>
          </a:solidFill>
          <a:ln/>
        </p:spPr>
      </p:sp>
      <p:sp>
        <p:nvSpPr>
          <p:cNvPr id="84" name="Text 79"/>
          <p:cNvSpPr/>
          <p:nvPr/>
        </p:nvSpPr>
        <p:spPr>
          <a:xfrm>
            <a:off x="475488" y="7333488"/>
            <a:ext cx="6025896" cy="347472"/>
          </a:xfrm>
          <a:prstGeom prst="rect">
            <a:avLst/>
          </a:prstGeom>
          <a:noFill/>
          <a:ln/>
        </p:spPr>
        <p:txBody>
          <a:bodyPr wrap="square" lIns="0" tIns="0" rIns="0" bIns="0" rtlCol="0" anchor="t"/>
          <a:lstStyle/>
          <a:p>
            <a:pPr indent="0" marL="0">
              <a:lnSpc>
                <a:spcPct val="92000"/>
              </a:lnSpc>
              <a:buNone/>
            </a:pPr>
            <a:r>
              <a:rPr lang="en-US" sz="740" b="1" dirty="0">
                <a:solidFill>
                  <a:srgbClr val="183B39"/>
                </a:solidFill>
                <a:latin typeface="Calibri" pitchFamily="34" charset="0"/>
                <a:ea typeface="Calibri" pitchFamily="34" charset="-122"/>
                <a:cs typeface="Calibri" pitchFamily="34" charset="-120"/>
              </a:rPr>
              <a:t>Both engines convert at the same rate — 73.4% and 72.6%. The flow problem is channel-wide, not brand-specific, so it will not be fixed by brand-level action.</a:t>
            </a:r>
            <a:endParaRPr lang="en-US" sz="740" dirty="0"/>
          </a:p>
        </p:txBody>
      </p:sp>
      <p:sp>
        <p:nvSpPr>
          <p:cNvPr id="85" name="Shape 80"/>
          <p:cNvSpPr/>
          <p:nvPr/>
        </p:nvSpPr>
        <p:spPr>
          <a:xfrm>
            <a:off x="356616" y="7749540"/>
            <a:ext cx="50292" cy="50292"/>
          </a:xfrm>
          <a:prstGeom prst="ellipse">
            <a:avLst/>
          </a:prstGeom>
          <a:solidFill>
            <a:srgbClr val="28A596"/>
          </a:solidFill>
          <a:ln/>
        </p:spPr>
      </p:sp>
      <p:sp>
        <p:nvSpPr>
          <p:cNvPr id="86" name="Text 81"/>
          <p:cNvSpPr/>
          <p:nvPr/>
        </p:nvSpPr>
        <p:spPr>
          <a:xfrm>
            <a:off x="475488" y="769924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Mamaearth Face Cleanser closed July at ₹8.53 Cr and The Derma Co. Face Cleanser at ₹7.13 Cr. One sub-category is ₹15.66 Cr — 43% of all Modern Trade offtake.</a:t>
            </a:r>
            <a:endParaRPr lang="en-US" sz="740" dirty="0"/>
          </a:p>
        </p:txBody>
      </p:sp>
      <p:sp>
        <p:nvSpPr>
          <p:cNvPr id="87" name="Shape 82"/>
          <p:cNvSpPr/>
          <p:nvPr/>
        </p:nvSpPr>
        <p:spPr>
          <a:xfrm>
            <a:off x="356616" y="8115300"/>
            <a:ext cx="50292" cy="50292"/>
          </a:xfrm>
          <a:prstGeom prst="ellipse">
            <a:avLst/>
          </a:prstGeom>
          <a:solidFill>
            <a:srgbClr val="28A596"/>
          </a:solidFill>
          <a:ln/>
        </p:spPr>
      </p:sp>
      <p:sp>
        <p:nvSpPr>
          <p:cNvPr id="88" name="Text 83"/>
          <p:cNvSpPr/>
          <p:nvPr/>
        </p:nvSpPr>
        <p:spPr>
          <a:xfrm>
            <a:off x="475488" y="806500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The Derma Co. Face Cleanser has climbed every month since February and accelerated sharply into July; Mamaearth Sun Care has turned down since May.</a:t>
            </a:r>
            <a:endParaRPr lang="en-US" sz="740" dirty="0"/>
          </a:p>
        </p:txBody>
      </p:sp>
      <p:sp>
        <p:nvSpPr>
          <p:cNvPr id="89" name="Shape 84"/>
          <p:cNvSpPr/>
          <p:nvPr/>
        </p:nvSpPr>
        <p:spPr>
          <a:xfrm>
            <a:off x="356616" y="8481060"/>
            <a:ext cx="50292" cy="50292"/>
          </a:xfrm>
          <a:prstGeom prst="ellipse">
            <a:avLst/>
          </a:prstGeom>
          <a:solidFill>
            <a:srgbClr val="F2B84B"/>
          </a:solidFill>
          <a:ln/>
        </p:spPr>
      </p:sp>
      <p:sp>
        <p:nvSpPr>
          <p:cNvPr id="90" name="Text 85"/>
          <p:cNvSpPr/>
          <p:nvPr/>
        </p:nvSpPr>
        <p:spPr>
          <a:xfrm>
            <a:off x="475488" y="8430768"/>
            <a:ext cx="6025896" cy="347472"/>
          </a:xfrm>
          <a:prstGeom prst="rect">
            <a:avLst/>
          </a:prstGeom>
          <a:noFill/>
          <a:ln/>
        </p:spPr>
        <p:txBody>
          <a:bodyPr wrap="square" lIns="0" tIns="0" rIns="0" bIns="0" rtlCol="0" anchor="t"/>
          <a:lstStyle/>
          <a:p>
            <a:pPr indent="0" marL="0">
              <a:lnSpc>
                <a:spcPct val="92000"/>
              </a:lnSpc>
              <a:buNone/>
            </a:pPr>
            <a:r>
              <a:rPr lang="en-US" sz="740" dirty="0">
                <a:solidFill>
                  <a:srgbClr val="183B39"/>
                </a:solidFill>
                <a:latin typeface="Calibri" pitchFamily="34" charset="0"/>
                <a:ea typeface="Calibri" pitchFamily="34" charset="-122"/>
                <a:cs typeface="Calibri" pitchFamily="34" charset="-120"/>
              </a:rPr>
              <a:t>Aqualogica shows offtake above primary and Dr. Sheth's has no mapped primary; BBLUNT at ₹0.06 Cr sits below the materiality floor. All three are exception-report only.</a:t>
            </a:r>
            <a:endParaRPr lang="en-US" sz="740" dirty="0"/>
          </a:p>
        </p:txBody>
      </p:sp>
      <p:sp>
        <p:nvSpPr>
          <p:cNvPr id="91" name="Shape 86"/>
          <p:cNvSpPr/>
          <p:nvPr/>
        </p:nvSpPr>
        <p:spPr>
          <a:xfrm>
            <a:off x="265176" y="8906256"/>
            <a:ext cx="6327648" cy="256032"/>
          </a:xfrm>
          <a:prstGeom prst="rect">
            <a:avLst/>
          </a:prstGeom>
          <a:solidFill>
            <a:srgbClr val="F2B84B"/>
          </a:solidFill>
          <a:ln/>
        </p:spPr>
      </p:sp>
      <p:sp>
        <p:nvSpPr>
          <p:cNvPr id="92" name="Text 87"/>
          <p:cNvSpPr/>
          <p:nvPr/>
        </p:nvSpPr>
        <p:spPr>
          <a:xfrm>
            <a:off x="374904" y="8924544"/>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CONCENTRATION — WHAT THIS PORTFOLIO SHAPE MEANS</a:t>
            </a:r>
            <a:endParaRPr lang="en-US" sz="720" dirty="0"/>
          </a:p>
        </p:txBody>
      </p:sp>
      <p:sp>
        <p:nvSpPr>
          <p:cNvPr id="93" name="Shape 88"/>
          <p:cNvSpPr/>
          <p:nvPr/>
        </p:nvSpPr>
        <p:spPr>
          <a:xfrm>
            <a:off x="265176" y="9253728"/>
            <a:ext cx="2036064" cy="1591056"/>
          </a:xfrm>
          <a:prstGeom prst="roundRect">
            <a:avLst>
              <a:gd name="adj" fmla="val 1149"/>
            </a:avLst>
          </a:prstGeom>
          <a:solidFill>
            <a:srgbClr val="FFFFFF"/>
          </a:solidFill>
          <a:ln w="9525">
            <a:solidFill>
              <a:srgbClr val="C8DCD7"/>
            </a:solidFill>
            <a:prstDash val="solid"/>
          </a:ln>
        </p:spPr>
      </p:sp>
      <p:sp>
        <p:nvSpPr>
          <p:cNvPr id="94" name="Shape 89"/>
          <p:cNvSpPr/>
          <p:nvPr/>
        </p:nvSpPr>
        <p:spPr>
          <a:xfrm>
            <a:off x="265176" y="9253728"/>
            <a:ext cx="2036064" cy="274320"/>
          </a:xfrm>
          <a:prstGeom prst="rect">
            <a:avLst/>
          </a:prstGeom>
          <a:solidFill>
            <a:srgbClr val="F2B84B"/>
          </a:solidFill>
          <a:ln/>
        </p:spPr>
      </p:sp>
      <p:sp>
        <p:nvSpPr>
          <p:cNvPr id="95" name="Text 90"/>
          <p:cNvSpPr/>
          <p:nvPr/>
        </p:nvSpPr>
        <p:spPr>
          <a:xfrm>
            <a:off x="347472"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TWO BRANDS</a:t>
            </a:r>
            <a:endParaRPr lang="en-US" sz="700" dirty="0"/>
          </a:p>
        </p:txBody>
      </p:sp>
      <p:sp>
        <p:nvSpPr>
          <p:cNvPr id="96" name="Text 91"/>
          <p:cNvSpPr/>
          <p:nvPr/>
        </p:nvSpPr>
        <p:spPr>
          <a:xfrm>
            <a:off x="356616" y="9619488"/>
            <a:ext cx="1853184" cy="310896"/>
          </a:xfrm>
          <a:prstGeom prst="rect">
            <a:avLst/>
          </a:prstGeom>
          <a:noFill/>
          <a:ln/>
        </p:spPr>
        <p:txBody>
          <a:bodyPr wrap="square" lIns="0" tIns="0" rIns="0" bIns="0" rtlCol="0" anchor="t"/>
          <a:lstStyle/>
          <a:p>
            <a:pPr algn="ctr" indent="0" marL="0">
              <a:buNone/>
            </a:pPr>
            <a:r>
              <a:rPr lang="en-US" sz="1500" b="1" dirty="0">
                <a:solidFill>
                  <a:srgbClr val="F2B84B"/>
                </a:solidFill>
                <a:latin typeface="Calibri Light" pitchFamily="34" charset="0"/>
                <a:ea typeface="Calibri Light" pitchFamily="34" charset="-122"/>
                <a:cs typeface="Calibri Light" pitchFamily="34" charset="-120"/>
              </a:rPr>
              <a:t>98.4%</a:t>
            </a:r>
            <a:endParaRPr lang="en-US" sz="1500" dirty="0"/>
          </a:p>
        </p:txBody>
      </p:sp>
      <p:sp>
        <p:nvSpPr>
          <p:cNvPr id="97" name="Text 92"/>
          <p:cNvSpPr/>
          <p:nvPr/>
        </p:nvSpPr>
        <p:spPr>
          <a:xfrm>
            <a:off x="356616"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of offtake</a:t>
            </a:r>
            <a:endParaRPr lang="en-US" sz="660" dirty="0"/>
          </a:p>
        </p:txBody>
      </p:sp>
      <p:sp>
        <p:nvSpPr>
          <p:cNvPr id="98" name="Shape 93"/>
          <p:cNvSpPr/>
          <p:nvPr/>
        </p:nvSpPr>
        <p:spPr>
          <a:xfrm>
            <a:off x="374904" y="10200132"/>
            <a:ext cx="50292" cy="50292"/>
          </a:xfrm>
          <a:prstGeom prst="ellipse">
            <a:avLst/>
          </a:prstGeom>
          <a:solidFill>
            <a:srgbClr val="F2B84B"/>
          </a:solidFill>
          <a:ln/>
        </p:spPr>
      </p:sp>
      <p:sp>
        <p:nvSpPr>
          <p:cNvPr id="99" name="Text 94"/>
          <p:cNvSpPr/>
          <p:nvPr/>
        </p:nvSpPr>
        <p:spPr>
          <a:xfrm>
            <a:off x="493776"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The three remaining brands total ₹0.57 Cr — 1.6%.</a:t>
            </a:r>
            <a:endParaRPr lang="en-US" sz="670" dirty="0"/>
          </a:p>
        </p:txBody>
      </p:sp>
      <p:sp>
        <p:nvSpPr>
          <p:cNvPr id="100" name="Shape 95"/>
          <p:cNvSpPr/>
          <p:nvPr/>
        </p:nvSpPr>
        <p:spPr>
          <a:xfrm>
            <a:off x="374904" y="10547604"/>
            <a:ext cx="50292" cy="50292"/>
          </a:xfrm>
          <a:prstGeom prst="ellipse">
            <a:avLst/>
          </a:prstGeom>
          <a:solidFill>
            <a:srgbClr val="F2B84B"/>
          </a:solidFill>
          <a:ln/>
        </p:spPr>
      </p:sp>
      <p:sp>
        <p:nvSpPr>
          <p:cNvPr id="101" name="Text 96"/>
          <p:cNvSpPr/>
          <p:nvPr/>
        </p:nvSpPr>
        <p:spPr>
          <a:xfrm>
            <a:off x="493776"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Any shock to either engine is a channel-level shock.</a:t>
            </a:r>
            <a:endParaRPr lang="en-US" sz="670" dirty="0"/>
          </a:p>
        </p:txBody>
      </p:sp>
      <p:sp>
        <p:nvSpPr>
          <p:cNvPr id="102" name="Shape 97"/>
          <p:cNvSpPr/>
          <p:nvPr/>
        </p:nvSpPr>
        <p:spPr>
          <a:xfrm>
            <a:off x="2410968" y="9253728"/>
            <a:ext cx="2036064" cy="1591056"/>
          </a:xfrm>
          <a:prstGeom prst="roundRect">
            <a:avLst>
              <a:gd name="adj" fmla="val 1149"/>
            </a:avLst>
          </a:prstGeom>
          <a:solidFill>
            <a:srgbClr val="FFFFFF"/>
          </a:solidFill>
          <a:ln w="9525">
            <a:solidFill>
              <a:srgbClr val="C8DCD7"/>
            </a:solidFill>
            <a:prstDash val="solid"/>
          </a:ln>
        </p:spPr>
      </p:sp>
      <p:sp>
        <p:nvSpPr>
          <p:cNvPr id="103" name="Shape 98"/>
          <p:cNvSpPr/>
          <p:nvPr/>
        </p:nvSpPr>
        <p:spPr>
          <a:xfrm>
            <a:off x="2410968" y="9253728"/>
            <a:ext cx="2036064" cy="274320"/>
          </a:xfrm>
          <a:prstGeom prst="rect">
            <a:avLst/>
          </a:prstGeom>
          <a:solidFill>
            <a:srgbClr val="D6544D"/>
          </a:solidFill>
          <a:ln/>
        </p:spPr>
      </p:sp>
      <p:sp>
        <p:nvSpPr>
          <p:cNvPr id="104" name="Text 99"/>
          <p:cNvSpPr/>
          <p:nvPr/>
        </p:nvSpPr>
        <p:spPr>
          <a:xfrm>
            <a:off x="2493264"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ONE SUB-CATEGORY</a:t>
            </a:r>
            <a:endParaRPr lang="en-US" sz="700" dirty="0"/>
          </a:p>
        </p:txBody>
      </p:sp>
      <p:sp>
        <p:nvSpPr>
          <p:cNvPr id="105" name="Text 100"/>
          <p:cNvSpPr/>
          <p:nvPr/>
        </p:nvSpPr>
        <p:spPr>
          <a:xfrm>
            <a:off x="2502408" y="9619488"/>
            <a:ext cx="1853184" cy="310896"/>
          </a:xfrm>
          <a:prstGeom prst="rect">
            <a:avLst/>
          </a:prstGeom>
          <a:noFill/>
          <a:ln/>
        </p:spPr>
        <p:txBody>
          <a:bodyPr wrap="square" lIns="0" tIns="0" rIns="0" bIns="0" rtlCol="0" anchor="t"/>
          <a:lstStyle/>
          <a:p>
            <a:pPr algn="ctr" indent="0" marL="0">
              <a:buNone/>
            </a:pPr>
            <a:r>
              <a:rPr lang="en-US" sz="1500" b="1" dirty="0">
                <a:solidFill>
                  <a:srgbClr val="D6544D"/>
                </a:solidFill>
                <a:latin typeface="Calibri Light" pitchFamily="34" charset="0"/>
                <a:ea typeface="Calibri Light" pitchFamily="34" charset="-122"/>
                <a:cs typeface="Calibri Light" pitchFamily="34" charset="-120"/>
              </a:rPr>
              <a:t>43%</a:t>
            </a:r>
            <a:endParaRPr lang="en-US" sz="1500" dirty="0"/>
          </a:p>
        </p:txBody>
      </p:sp>
      <p:sp>
        <p:nvSpPr>
          <p:cNvPr id="106" name="Text 101"/>
          <p:cNvSpPr/>
          <p:nvPr/>
        </p:nvSpPr>
        <p:spPr>
          <a:xfrm>
            <a:off x="2502408"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Face Cleanser share of offtake</a:t>
            </a:r>
            <a:endParaRPr lang="en-US" sz="660" dirty="0"/>
          </a:p>
        </p:txBody>
      </p:sp>
      <p:sp>
        <p:nvSpPr>
          <p:cNvPr id="107" name="Shape 102"/>
          <p:cNvSpPr/>
          <p:nvPr/>
        </p:nvSpPr>
        <p:spPr>
          <a:xfrm>
            <a:off x="2520696" y="10200132"/>
            <a:ext cx="50292" cy="50292"/>
          </a:xfrm>
          <a:prstGeom prst="ellipse">
            <a:avLst/>
          </a:prstGeom>
          <a:solidFill>
            <a:srgbClr val="D6544D"/>
          </a:solidFill>
          <a:ln/>
        </p:spPr>
      </p:sp>
      <p:sp>
        <p:nvSpPr>
          <p:cNvPr id="108" name="Text 103"/>
          <p:cNvSpPr/>
          <p:nvPr/>
        </p:nvSpPr>
        <p:spPr>
          <a:xfrm>
            <a:off x="2639568"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₹15.66 Cr across both brands in one sub-category.</a:t>
            </a:r>
            <a:endParaRPr lang="en-US" sz="670" dirty="0"/>
          </a:p>
        </p:txBody>
      </p:sp>
      <p:sp>
        <p:nvSpPr>
          <p:cNvPr id="109" name="Shape 104"/>
          <p:cNvSpPr/>
          <p:nvPr/>
        </p:nvSpPr>
        <p:spPr>
          <a:xfrm>
            <a:off x="2520696" y="10547604"/>
            <a:ext cx="50292" cy="50292"/>
          </a:xfrm>
          <a:prstGeom prst="ellipse">
            <a:avLst/>
          </a:prstGeom>
          <a:solidFill>
            <a:srgbClr val="D6544D"/>
          </a:solidFill>
          <a:ln/>
        </p:spPr>
      </p:sp>
      <p:sp>
        <p:nvSpPr>
          <p:cNvPr id="110" name="Text 105"/>
          <p:cNvSpPr/>
          <p:nvPr/>
        </p:nvSpPr>
        <p:spPr>
          <a:xfrm>
            <a:off x="2639568"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Category risk is higher than the brand split suggests.</a:t>
            </a:r>
            <a:endParaRPr lang="en-US" sz="670" dirty="0"/>
          </a:p>
        </p:txBody>
      </p:sp>
      <p:sp>
        <p:nvSpPr>
          <p:cNvPr id="111" name="Shape 106"/>
          <p:cNvSpPr/>
          <p:nvPr/>
        </p:nvSpPr>
        <p:spPr>
          <a:xfrm>
            <a:off x="4556760" y="9253728"/>
            <a:ext cx="2036064" cy="1591056"/>
          </a:xfrm>
          <a:prstGeom prst="roundRect">
            <a:avLst>
              <a:gd name="adj" fmla="val 1149"/>
            </a:avLst>
          </a:prstGeom>
          <a:solidFill>
            <a:srgbClr val="FFFFFF"/>
          </a:solidFill>
          <a:ln w="9525">
            <a:solidFill>
              <a:srgbClr val="C8DCD7"/>
            </a:solidFill>
            <a:prstDash val="solid"/>
          </a:ln>
        </p:spPr>
      </p:sp>
      <p:sp>
        <p:nvSpPr>
          <p:cNvPr id="112" name="Shape 107"/>
          <p:cNvSpPr/>
          <p:nvPr/>
        </p:nvSpPr>
        <p:spPr>
          <a:xfrm>
            <a:off x="4556760" y="9253728"/>
            <a:ext cx="2036064" cy="274320"/>
          </a:xfrm>
          <a:prstGeom prst="rect">
            <a:avLst/>
          </a:prstGeom>
          <a:solidFill>
            <a:srgbClr val="116F68"/>
          </a:solidFill>
          <a:ln/>
        </p:spPr>
      </p:sp>
      <p:sp>
        <p:nvSpPr>
          <p:cNvPr id="113" name="Text 108"/>
          <p:cNvSpPr/>
          <p:nvPr/>
        </p:nvSpPr>
        <p:spPr>
          <a:xfrm>
            <a:off x="4639056" y="927201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THE DIVERGENCE TO WATCH</a:t>
            </a:r>
            <a:endParaRPr lang="en-US" sz="700" dirty="0"/>
          </a:p>
        </p:txBody>
      </p:sp>
      <p:sp>
        <p:nvSpPr>
          <p:cNvPr id="114" name="Text 109"/>
          <p:cNvSpPr/>
          <p:nvPr/>
        </p:nvSpPr>
        <p:spPr>
          <a:xfrm>
            <a:off x="4648200" y="9619488"/>
            <a:ext cx="1853184" cy="310896"/>
          </a:xfrm>
          <a:prstGeom prst="rect">
            <a:avLst/>
          </a:prstGeom>
          <a:noFill/>
          <a:ln/>
        </p:spPr>
        <p:txBody>
          <a:bodyPr wrap="square" lIns="0" tIns="0" rIns="0" bIns="0" rtlCol="0" anchor="t"/>
          <a:lstStyle/>
          <a:p>
            <a:pPr algn="ctr" indent="0" marL="0">
              <a:buNone/>
            </a:pPr>
            <a:r>
              <a:rPr lang="en-US" sz="1500" b="1" dirty="0">
                <a:solidFill>
                  <a:srgbClr val="116F68"/>
                </a:solidFill>
                <a:latin typeface="Calibri Light" pitchFamily="34" charset="0"/>
                <a:ea typeface="Calibri Light" pitchFamily="34" charset="-122"/>
                <a:cs typeface="Calibri Light" pitchFamily="34" charset="-120"/>
              </a:rPr>
              <a:t>Opposite ways</a:t>
            </a:r>
            <a:endParaRPr lang="en-US" sz="1500" dirty="0"/>
          </a:p>
        </p:txBody>
      </p:sp>
      <p:sp>
        <p:nvSpPr>
          <p:cNvPr id="115" name="Text 110"/>
          <p:cNvSpPr/>
          <p:nvPr/>
        </p:nvSpPr>
        <p:spPr>
          <a:xfrm>
            <a:off x="4648200" y="9948672"/>
            <a:ext cx="1853184" cy="164592"/>
          </a:xfrm>
          <a:prstGeom prst="rect">
            <a:avLst/>
          </a:prstGeom>
          <a:noFill/>
          <a:ln/>
        </p:spPr>
        <p:txBody>
          <a:bodyPr wrap="square" lIns="0" tIns="0" rIns="0" bIns="0" rtlCol="0" anchor="t"/>
          <a:lstStyle/>
          <a:p>
            <a:pPr algn="ctr" indent="0" marL="0">
              <a:buNone/>
            </a:pPr>
            <a:r>
              <a:rPr lang="en-US" sz="660" dirty="0">
                <a:solidFill>
                  <a:srgbClr val="5F716E"/>
                </a:solidFill>
                <a:latin typeface="Calibri" pitchFamily="34" charset="0"/>
                <a:ea typeface="Calibri" pitchFamily="34" charset="-122"/>
                <a:cs typeface="Calibri" pitchFamily="34" charset="-120"/>
              </a:rPr>
              <a:t>since May</a:t>
            </a:r>
            <a:endParaRPr lang="en-US" sz="660" dirty="0"/>
          </a:p>
        </p:txBody>
      </p:sp>
      <p:sp>
        <p:nvSpPr>
          <p:cNvPr id="116" name="Shape 111"/>
          <p:cNvSpPr/>
          <p:nvPr/>
        </p:nvSpPr>
        <p:spPr>
          <a:xfrm>
            <a:off x="4666488" y="10200132"/>
            <a:ext cx="50292" cy="50292"/>
          </a:xfrm>
          <a:prstGeom prst="ellipse">
            <a:avLst/>
          </a:prstGeom>
          <a:solidFill>
            <a:srgbClr val="116F68"/>
          </a:solidFill>
          <a:ln/>
        </p:spPr>
      </p:sp>
      <p:sp>
        <p:nvSpPr>
          <p:cNvPr id="117" name="Text 112"/>
          <p:cNvSpPr/>
          <p:nvPr/>
        </p:nvSpPr>
        <p:spPr>
          <a:xfrm>
            <a:off x="4785360" y="10149840"/>
            <a:ext cx="1697736" cy="329184"/>
          </a:xfrm>
          <a:prstGeom prst="rect">
            <a:avLst/>
          </a:prstGeom>
          <a:noFill/>
          <a:ln/>
        </p:spPr>
        <p:txBody>
          <a:bodyPr wrap="square" lIns="0" tIns="0" rIns="0" bIns="0" rtlCol="0" anchor="t"/>
          <a:lstStyle/>
          <a:p>
            <a:pPr indent="0" marL="0">
              <a:lnSpc>
                <a:spcPct val="92000"/>
              </a:lnSpc>
              <a:buNone/>
            </a:pPr>
            <a:r>
              <a:rPr lang="en-US" sz="670" b="1" dirty="0">
                <a:solidFill>
                  <a:srgbClr val="183B39"/>
                </a:solidFill>
                <a:latin typeface="Calibri" pitchFamily="34" charset="0"/>
                <a:ea typeface="Calibri" pitchFamily="34" charset="-122"/>
                <a:cs typeface="Calibri" pitchFamily="34" charset="-120"/>
              </a:rPr>
              <a:t>TDC Face Cleanser has accelerated every month to ₹7.13 Cr.</a:t>
            </a:r>
            <a:endParaRPr lang="en-US" sz="670" dirty="0"/>
          </a:p>
        </p:txBody>
      </p:sp>
      <p:sp>
        <p:nvSpPr>
          <p:cNvPr id="118" name="Shape 113"/>
          <p:cNvSpPr/>
          <p:nvPr/>
        </p:nvSpPr>
        <p:spPr>
          <a:xfrm>
            <a:off x="4666488" y="10547604"/>
            <a:ext cx="50292" cy="50292"/>
          </a:xfrm>
          <a:prstGeom prst="ellipse">
            <a:avLst/>
          </a:prstGeom>
          <a:solidFill>
            <a:srgbClr val="116F68"/>
          </a:solidFill>
          <a:ln/>
        </p:spPr>
      </p:sp>
      <p:sp>
        <p:nvSpPr>
          <p:cNvPr id="119" name="Text 114"/>
          <p:cNvSpPr/>
          <p:nvPr/>
        </p:nvSpPr>
        <p:spPr>
          <a:xfrm>
            <a:off x="4785360" y="10497312"/>
            <a:ext cx="1697736" cy="329184"/>
          </a:xfrm>
          <a:prstGeom prst="rect">
            <a:avLst/>
          </a:prstGeom>
          <a:noFill/>
          <a:ln/>
        </p:spPr>
        <p:txBody>
          <a:bodyPr wrap="square" lIns="0" tIns="0" rIns="0" bIns="0" rtlCol="0" anchor="t"/>
          <a:lstStyle/>
          <a:p>
            <a:pPr indent="0" marL="0">
              <a:lnSpc>
                <a:spcPct val="92000"/>
              </a:lnSpc>
              <a:buNone/>
            </a:pPr>
            <a:r>
              <a:rPr lang="en-US" sz="670" dirty="0">
                <a:solidFill>
                  <a:srgbClr val="183B39"/>
                </a:solidFill>
                <a:latin typeface="Calibri" pitchFamily="34" charset="0"/>
                <a:ea typeface="Calibri" pitchFamily="34" charset="-122"/>
                <a:cs typeface="Calibri" pitchFamily="34" charset="-120"/>
              </a:rPr>
              <a:t>Confirm Mamaearth Sun Care's fall is seasonal before cutting range.</a:t>
            </a:r>
            <a:endParaRPr lang="en-US" sz="67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A 90-day cadence that converts ₹6.22 Cr without loading a single extra case</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Sales uplift plan | actions ranked by value at stake, with owners and proof points</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21</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658368"/>
          </a:xfrm>
          <a:prstGeom prst="roundRect">
            <a:avLst>
              <a:gd name="adj" fmla="val 4167"/>
            </a:avLst>
          </a:prstGeom>
          <a:solidFill>
            <a:srgbClr val="DFF2ED"/>
          </a:solidFill>
          <a:ln w="12700">
            <a:solidFill>
              <a:srgbClr val="28A596"/>
            </a:solidFill>
            <a:prstDash val="solid"/>
          </a:ln>
        </p:spPr>
      </p:sp>
      <p:sp>
        <p:nvSpPr>
          <p:cNvPr id="20" name="Text 18"/>
          <p:cNvSpPr/>
          <p:nvPr/>
        </p:nvSpPr>
        <p:spPr>
          <a:xfrm>
            <a:off x="411480" y="1335024"/>
            <a:ext cx="6035040" cy="256032"/>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Every action below is priced. Anything that cannot be priced is a hygiene task, not a growth action.</a:t>
            </a:r>
            <a:endParaRPr lang="en-US" sz="950" dirty="0"/>
          </a:p>
        </p:txBody>
      </p:sp>
      <p:sp>
        <p:nvSpPr>
          <p:cNvPr id="21" name="Text 19"/>
          <p:cNvSpPr/>
          <p:nvPr/>
        </p:nvSpPr>
        <p:spPr>
          <a:xfrm>
            <a:off x="411480" y="1627632"/>
            <a:ext cx="6035040"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Baseline: do nothing and July repeats — ₹36.10 Cr offtake at 73.4% conversion, with ₹13.27 Cr billed and unsold.</a:t>
            </a:r>
            <a:endParaRPr lang="en-US" sz="720" dirty="0"/>
          </a:p>
        </p:txBody>
      </p:sp>
      <p:sp>
        <p:nvSpPr>
          <p:cNvPr id="22" name="Shape 20"/>
          <p:cNvSpPr/>
          <p:nvPr/>
        </p:nvSpPr>
        <p:spPr>
          <a:xfrm>
            <a:off x="265176" y="2066544"/>
            <a:ext cx="6327648" cy="256032"/>
          </a:xfrm>
          <a:prstGeom prst="rect">
            <a:avLst/>
          </a:prstGeom>
          <a:solidFill>
            <a:srgbClr val="D6544D"/>
          </a:solidFill>
          <a:ln/>
        </p:spPr>
      </p:sp>
      <p:sp>
        <p:nvSpPr>
          <p:cNvPr id="23" name="Text 21"/>
          <p:cNvSpPr/>
          <p:nvPr/>
        </p:nvSpPr>
        <p:spPr>
          <a:xfrm>
            <a:off x="374904" y="208483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ACTIONS RANKED BY VALUE AT STAKE</a:t>
            </a:r>
            <a:endParaRPr lang="en-US" sz="720" dirty="0"/>
          </a:p>
        </p:txBody>
      </p:sp>
      <p:sp>
        <p:nvSpPr>
          <p:cNvPr id="24" name="Shape 22"/>
          <p:cNvSpPr/>
          <p:nvPr/>
        </p:nvSpPr>
        <p:spPr>
          <a:xfrm>
            <a:off x="265176" y="2414016"/>
            <a:ext cx="6327648" cy="256032"/>
          </a:xfrm>
          <a:prstGeom prst="rect">
            <a:avLst/>
          </a:prstGeom>
          <a:solidFill>
            <a:srgbClr val="116F68"/>
          </a:solidFill>
          <a:ln/>
        </p:spPr>
      </p:sp>
      <p:sp>
        <p:nvSpPr>
          <p:cNvPr id="25" name="Text 23"/>
          <p:cNvSpPr/>
          <p:nvPr/>
        </p:nvSpPr>
        <p:spPr>
          <a:xfrm>
            <a:off x="320040" y="2432304"/>
            <a:ext cx="123302"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a:r>
            <a:endParaRPr lang="en-US" sz="660" dirty="0"/>
          </a:p>
        </p:txBody>
      </p:sp>
      <p:sp>
        <p:nvSpPr>
          <p:cNvPr id="26" name="Text 24"/>
          <p:cNvSpPr/>
          <p:nvPr/>
        </p:nvSpPr>
        <p:spPr>
          <a:xfrm>
            <a:off x="553070" y="2432304"/>
            <a:ext cx="3027208"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ACTION</a:t>
            </a:r>
            <a:endParaRPr lang="en-US" sz="660" dirty="0"/>
          </a:p>
        </p:txBody>
      </p:sp>
      <p:sp>
        <p:nvSpPr>
          <p:cNvPr id="27" name="Text 25"/>
          <p:cNvSpPr/>
          <p:nvPr/>
        </p:nvSpPr>
        <p:spPr>
          <a:xfrm>
            <a:off x="3690006" y="2432304"/>
            <a:ext cx="696913"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AT STAKE</a:t>
            </a:r>
            <a:endParaRPr lang="en-US" sz="660" dirty="0"/>
          </a:p>
        </p:txBody>
      </p:sp>
      <p:sp>
        <p:nvSpPr>
          <p:cNvPr id="28" name="Text 26"/>
          <p:cNvSpPr/>
          <p:nvPr/>
        </p:nvSpPr>
        <p:spPr>
          <a:xfrm>
            <a:off x="4496646" y="2432304"/>
            <a:ext cx="607286"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WINDOW</a:t>
            </a:r>
            <a:endParaRPr lang="en-US" sz="660" dirty="0"/>
          </a:p>
        </p:txBody>
      </p:sp>
      <p:sp>
        <p:nvSpPr>
          <p:cNvPr id="29" name="Text 27"/>
          <p:cNvSpPr/>
          <p:nvPr/>
        </p:nvSpPr>
        <p:spPr>
          <a:xfrm>
            <a:off x="5213660" y="2432304"/>
            <a:ext cx="1324300"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30" name="Shape 28"/>
          <p:cNvSpPr/>
          <p:nvPr/>
        </p:nvSpPr>
        <p:spPr>
          <a:xfrm>
            <a:off x="265176" y="2670048"/>
            <a:ext cx="6327648" cy="365760"/>
          </a:xfrm>
          <a:prstGeom prst="rect">
            <a:avLst/>
          </a:prstGeom>
          <a:solidFill>
            <a:srgbClr val="F4F9F8"/>
          </a:solidFill>
          <a:ln/>
        </p:spPr>
      </p:sp>
      <p:sp>
        <p:nvSpPr>
          <p:cNvPr id="31" name="Shape 29"/>
          <p:cNvSpPr/>
          <p:nvPr/>
        </p:nvSpPr>
        <p:spPr>
          <a:xfrm>
            <a:off x="265176" y="3035808"/>
            <a:ext cx="6327648" cy="0"/>
          </a:xfrm>
          <a:prstGeom prst="line">
            <a:avLst/>
          </a:prstGeom>
          <a:noFill/>
          <a:ln w="6350">
            <a:solidFill>
              <a:srgbClr val="C8DCD7"/>
            </a:solidFill>
            <a:prstDash val="solid"/>
          </a:ln>
        </p:spPr>
      </p:sp>
      <p:sp>
        <p:nvSpPr>
          <p:cNvPr id="32" name="Text 30"/>
          <p:cNvSpPr/>
          <p:nvPr/>
        </p:nvSpPr>
        <p:spPr>
          <a:xfrm>
            <a:off x="320040" y="26700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1</a:t>
            </a:r>
            <a:endParaRPr lang="en-US" sz="720" dirty="0"/>
          </a:p>
        </p:txBody>
      </p:sp>
      <p:sp>
        <p:nvSpPr>
          <p:cNvPr id="33" name="Text 31"/>
          <p:cNvSpPr/>
          <p:nvPr/>
        </p:nvSpPr>
        <p:spPr>
          <a:xfrm>
            <a:off x="553070" y="267004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Reliance recovery loop — halt loading, hero-EAN OSA audit across North, East, Central</a:t>
            </a:r>
            <a:endParaRPr lang="en-US" sz="720" dirty="0"/>
          </a:p>
        </p:txBody>
      </p:sp>
      <p:sp>
        <p:nvSpPr>
          <p:cNvPr id="34" name="Text 32"/>
          <p:cNvSpPr/>
          <p:nvPr/>
        </p:nvSpPr>
        <p:spPr>
          <a:xfrm>
            <a:off x="3690006" y="267004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₹3.92 Cr</a:t>
            </a:r>
            <a:endParaRPr lang="en-US" sz="720" dirty="0"/>
          </a:p>
        </p:txBody>
      </p:sp>
      <p:sp>
        <p:nvSpPr>
          <p:cNvPr id="35" name="Text 33"/>
          <p:cNvSpPr/>
          <p:nvPr/>
        </p:nvSpPr>
        <p:spPr>
          <a:xfrm>
            <a:off x="4496646" y="26700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36" name="Text 34"/>
          <p:cNvSpPr/>
          <p:nvPr/>
        </p:nvSpPr>
        <p:spPr>
          <a:xfrm>
            <a:off x="5213660" y="26700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 + Supply</a:t>
            </a:r>
            <a:endParaRPr lang="en-US" sz="720" dirty="0"/>
          </a:p>
        </p:txBody>
      </p:sp>
      <p:sp>
        <p:nvSpPr>
          <p:cNvPr id="37" name="Shape 35"/>
          <p:cNvSpPr/>
          <p:nvPr/>
        </p:nvSpPr>
        <p:spPr>
          <a:xfrm>
            <a:off x="265176" y="3401568"/>
            <a:ext cx="6327648" cy="0"/>
          </a:xfrm>
          <a:prstGeom prst="line">
            <a:avLst/>
          </a:prstGeom>
          <a:noFill/>
          <a:ln w="6350">
            <a:solidFill>
              <a:srgbClr val="C8DCD7"/>
            </a:solidFill>
            <a:prstDash val="solid"/>
          </a:ln>
        </p:spPr>
      </p:sp>
      <p:sp>
        <p:nvSpPr>
          <p:cNvPr id="38" name="Text 36"/>
          <p:cNvSpPr/>
          <p:nvPr/>
        </p:nvSpPr>
        <p:spPr>
          <a:xfrm>
            <a:off x="320040" y="30358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2</a:t>
            </a:r>
            <a:endParaRPr lang="en-US" sz="720" dirty="0"/>
          </a:p>
        </p:txBody>
      </p:sp>
      <p:sp>
        <p:nvSpPr>
          <p:cNvPr id="39" name="Text 37"/>
          <p:cNvSpPr/>
          <p:nvPr/>
        </p:nvSpPr>
        <p:spPr>
          <a:xfrm>
            <a:off x="553070" y="3035808"/>
            <a:ext cx="3027208" cy="365760"/>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DMart South-2 DC-to-store fill audit against the West benchmark</a:t>
            </a:r>
            <a:endParaRPr lang="en-US" sz="720" dirty="0"/>
          </a:p>
        </p:txBody>
      </p:sp>
      <p:sp>
        <p:nvSpPr>
          <p:cNvPr id="40" name="Text 38"/>
          <p:cNvSpPr/>
          <p:nvPr/>
        </p:nvSpPr>
        <p:spPr>
          <a:xfrm>
            <a:off x="3690006" y="3035808"/>
            <a:ext cx="696913" cy="365760"/>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₹0.90 Cr</a:t>
            </a:r>
            <a:endParaRPr lang="en-US" sz="720" dirty="0"/>
          </a:p>
        </p:txBody>
      </p:sp>
      <p:sp>
        <p:nvSpPr>
          <p:cNvPr id="41" name="Text 39"/>
          <p:cNvSpPr/>
          <p:nvPr/>
        </p:nvSpPr>
        <p:spPr>
          <a:xfrm>
            <a:off x="4496646" y="30358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2" name="Text 40"/>
          <p:cNvSpPr/>
          <p:nvPr/>
        </p:nvSpPr>
        <p:spPr>
          <a:xfrm>
            <a:off x="5213660" y="30358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DMart + Supply</a:t>
            </a:r>
            <a:endParaRPr lang="en-US" sz="720" dirty="0"/>
          </a:p>
        </p:txBody>
      </p:sp>
      <p:sp>
        <p:nvSpPr>
          <p:cNvPr id="43" name="Shape 41"/>
          <p:cNvSpPr/>
          <p:nvPr/>
        </p:nvSpPr>
        <p:spPr>
          <a:xfrm>
            <a:off x="265176" y="3401568"/>
            <a:ext cx="6327648" cy="365760"/>
          </a:xfrm>
          <a:prstGeom prst="rect">
            <a:avLst/>
          </a:prstGeom>
          <a:solidFill>
            <a:srgbClr val="F4F9F8"/>
          </a:solidFill>
          <a:ln/>
        </p:spPr>
      </p:sp>
      <p:sp>
        <p:nvSpPr>
          <p:cNvPr id="44" name="Shape 42"/>
          <p:cNvSpPr/>
          <p:nvPr/>
        </p:nvSpPr>
        <p:spPr>
          <a:xfrm>
            <a:off x="265176" y="3767328"/>
            <a:ext cx="6327648" cy="0"/>
          </a:xfrm>
          <a:prstGeom prst="line">
            <a:avLst/>
          </a:prstGeom>
          <a:noFill/>
          <a:ln w="6350">
            <a:solidFill>
              <a:srgbClr val="C8DCD7"/>
            </a:solidFill>
            <a:prstDash val="solid"/>
          </a:ln>
        </p:spPr>
      </p:sp>
      <p:sp>
        <p:nvSpPr>
          <p:cNvPr id="45" name="Text 43"/>
          <p:cNvSpPr/>
          <p:nvPr/>
        </p:nvSpPr>
        <p:spPr>
          <a:xfrm>
            <a:off x="320040" y="34015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a:t>
            </a:r>
            <a:endParaRPr lang="en-US" sz="720" dirty="0"/>
          </a:p>
        </p:txBody>
      </p:sp>
      <p:sp>
        <p:nvSpPr>
          <p:cNvPr id="46" name="Text 44"/>
          <p:cNvSpPr/>
          <p:nvPr/>
        </p:nvSpPr>
        <p:spPr>
          <a:xfrm>
            <a:off x="553070" y="34015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Cap East and North primary at trailing three-month offtake until gaps close</a:t>
            </a:r>
            <a:endParaRPr lang="en-US" sz="720" dirty="0"/>
          </a:p>
        </p:txBody>
      </p:sp>
      <p:sp>
        <p:nvSpPr>
          <p:cNvPr id="47" name="Text 45"/>
          <p:cNvSpPr/>
          <p:nvPr/>
        </p:nvSpPr>
        <p:spPr>
          <a:xfrm>
            <a:off x="3690006" y="340156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₹2.54 Cr</a:t>
            </a:r>
            <a:endParaRPr lang="en-US" sz="720" dirty="0"/>
          </a:p>
        </p:txBody>
      </p:sp>
      <p:sp>
        <p:nvSpPr>
          <p:cNvPr id="48" name="Text 46"/>
          <p:cNvSpPr/>
          <p:nvPr/>
        </p:nvSpPr>
        <p:spPr>
          <a:xfrm>
            <a:off x="4496646" y="34015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49" name="Text 47"/>
          <p:cNvSpPr/>
          <p:nvPr/>
        </p:nvSpPr>
        <p:spPr>
          <a:xfrm>
            <a:off x="5213660" y="34015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Supply + Sales lead</a:t>
            </a:r>
            <a:endParaRPr lang="en-US" sz="720" dirty="0"/>
          </a:p>
        </p:txBody>
      </p:sp>
      <p:sp>
        <p:nvSpPr>
          <p:cNvPr id="50" name="Shape 48"/>
          <p:cNvSpPr/>
          <p:nvPr/>
        </p:nvSpPr>
        <p:spPr>
          <a:xfrm>
            <a:off x="265176" y="4133088"/>
            <a:ext cx="6327648" cy="0"/>
          </a:xfrm>
          <a:prstGeom prst="line">
            <a:avLst/>
          </a:prstGeom>
          <a:noFill/>
          <a:ln w="6350">
            <a:solidFill>
              <a:srgbClr val="C8DCD7"/>
            </a:solidFill>
            <a:prstDash val="solid"/>
          </a:ln>
        </p:spPr>
      </p:sp>
      <p:sp>
        <p:nvSpPr>
          <p:cNvPr id="51" name="Text 49"/>
          <p:cNvSpPr/>
          <p:nvPr/>
        </p:nvSpPr>
        <p:spPr>
          <a:xfrm>
            <a:off x="320040" y="37673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a:t>
            </a:r>
            <a:endParaRPr lang="en-US" sz="720" dirty="0"/>
          </a:p>
        </p:txBody>
      </p:sp>
      <p:sp>
        <p:nvSpPr>
          <p:cNvPr id="52" name="Text 50"/>
          <p:cNvSpPr/>
          <p:nvPr/>
        </p:nvSpPr>
        <p:spPr>
          <a:xfrm>
            <a:off x="553070" y="37673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Map Lulu, Wellness Forever and Health &amp; Glow primary routes</a:t>
            </a:r>
            <a:endParaRPr lang="en-US" sz="720" dirty="0"/>
          </a:p>
        </p:txBody>
      </p:sp>
      <p:sp>
        <p:nvSpPr>
          <p:cNvPr id="53" name="Text 51"/>
          <p:cNvSpPr/>
          <p:nvPr/>
        </p:nvSpPr>
        <p:spPr>
          <a:xfrm>
            <a:off x="3690006" y="3767328"/>
            <a:ext cx="696913" cy="365760"/>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54" name="Text 52"/>
          <p:cNvSpPr/>
          <p:nvPr/>
        </p:nvSpPr>
        <p:spPr>
          <a:xfrm>
            <a:off x="4496646" y="37673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0–15d</a:t>
            </a:r>
            <a:endParaRPr lang="en-US" sz="720" dirty="0"/>
          </a:p>
        </p:txBody>
      </p:sp>
      <p:sp>
        <p:nvSpPr>
          <p:cNvPr id="55" name="Text 53"/>
          <p:cNvSpPr/>
          <p:nvPr/>
        </p:nvSpPr>
        <p:spPr>
          <a:xfrm>
            <a:off x="5213660" y="37673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56" name="Shape 54"/>
          <p:cNvSpPr/>
          <p:nvPr/>
        </p:nvSpPr>
        <p:spPr>
          <a:xfrm>
            <a:off x="265176" y="4133088"/>
            <a:ext cx="6327648" cy="365760"/>
          </a:xfrm>
          <a:prstGeom prst="rect">
            <a:avLst/>
          </a:prstGeom>
          <a:solidFill>
            <a:srgbClr val="F4F9F8"/>
          </a:solidFill>
          <a:ln/>
        </p:spPr>
      </p:sp>
      <p:sp>
        <p:nvSpPr>
          <p:cNvPr id="57" name="Shape 55"/>
          <p:cNvSpPr/>
          <p:nvPr/>
        </p:nvSpPr>
        <p:spPr>
          <a:xfrm>
            <a:off x="265176" y="4498848"/>
            <a:ext cx="6327648" cy="0"/>
          </a:xfrm>
          <a:prstGeom prst="line">
            <a:avLst/>
          </a:prstGeom>
          <a:noFill/>
          <a:ln w="6350">
            <a:solidFill>
              <a:srgbClr val="C8DCD7"/>
            </a:solidFill>
            <a:prstDash val="solid"/>
          </a:ln>
        </p:spPr>
      </p:sp>
      <p:sp>
        <p:nvSpPr>
          <p:cNvPr id="58" name="Text 56"/>
          <p:cNvSpPr/>
          <p:nvPr/>
        </p:nvSpPr>
        <p:spPr>
          <a:xfrm>
            <a:off x="320040" y="413308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5</a:t>
            </a:r>
            <a:endParaRPr lang="en-US" sz="720" dirty="0"/>
          </a:p>
        </p:txBody>
      </p:sp>
      <p:sp>
        <p:nvSpPr>
          <p:cNvPr id="59" name="Text 57"/>
          <p:cNvSpPr/>
          <p:nvPr/>
        </p:nvSpPr>
        <p:spPr>
          <a:xfrm>
            <a:off x="553070" y="413308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Freeze incremental NPI into East and North until conversion thresholds clear</a:t>
            </a:r>
            <a:endParaRPr lang="en-US" sz="720" dirty="0"/>
          </a:p>
        </p:txBody>
      </p:sp>
      <p:sp>
        <p:nvSpPr>
          <p:cNvPr id="60" name="Text 58"/>
          <p:cNvSpPr/>
          <p:nvPr/>
        </p:nvSpPr>
        <p:spPr>
          <a:xfrm>
            <a:off x="3690006" y="4133088"/>
            <a:ext cx="696913" cy="365760"/>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₹0.65 Cr</a:t>
            </a:r>
            <a:endParaRPr lang="en-US" sz="720" dirty="0"/>
          </a:p>
        </p:txBody>
      </p:sp>
      <p:sp>
        <p:nvSpPr>
          <p:cNvPr id="61" name="Text 59"/>
          <p:cNvSpPr/>
          <p:nvPr/>
        </p:nvSpPr>
        <p:spPr>
          <a:xfrm>
            <a:off x="4496646" y="413308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2" name="Text 60"/>
          <p:cNvSpPr/>
          <p:nvPr/>
        </p:nvSpPr>
        <p:spPr>
          <a:xfrm>
            <a:off x="5213660" y="413308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Supply</a:t>
            </a:r>
            <a:endParaRPr lang="en-US" sz="720" dirty="0"/>
          </a:p>
        </p:txBody>
      </p:sp>
      <p:sp>
        <p:nvSpPr>
          <p:cNvPr id="63" name="Shape 61"/>
          <p:cNvSpPr/>
          <p:nvPr/>
        </p:nvSpPr>
        <p:spPr>
          <a:xfrm>
            <a:off x="265176" y="4864608"/>
            <a:ext cx="6327648" cy="0"/>
          </a:xfrm>
          <a:prstGeom prst="line">
            <a:avLst/>
          </a:prstGeom>
          <a:noFill/>
          <a:ln w="6350">
            <a:solidFill>
              <a:srgbClr val="C8DCD7"/>
            </a:solidFill>
            <a:prstDash val="solid"/>
          </a:ln>
        </p:spPr>
      </p:sp>
      <p:sp>
        <p:nvSpPr>
          <p:cNvPr id="64" name="Text 62"/>
          <p:cNvSpPr/>
          <p:nvPr/>
        </p:nvSpPr>
        <p:spPr>
          <a:xfrm>
            <a:off x="320040" y="449884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6</a:t>
            </a:r>
            <a:endParaRPr lang="en-US" sz="720" dirty="0"/>
          </a:p>
        </p:txBody>
      </p:sp>
      <p:sp>
        <p:nvSpPr>
          <p:cNvPr id="65" name="Text 63"/>
          <p:cNvSpPr/>
          <p:nvPr/>
        </p:nvSpPr>
        <p:spPr>
          <a:xfrm>
            <a:off x="553070" y="449884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Publish the chain × state × hero-EAN exception list weekly</a:t>
            </a:r>
            <a:endParaRPr lang="en-US" sz="720" dirty="0"/>
          </a:p>
        </p:txBody>
      </p:sp>
      <p:sp>
        <p:nvSpPr>
          <p:cNvPr id="66" name="Text 64"/>
          <p:cNvSpPr/>
          <p:nvPr/>
        </p:nvSpPr>
        <p:spPr>
          <a:xfrm>
            <a:off x="3690006" y="449884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67" name="Text 65"/>
          <p:cNvSpPr/>
          <p:nvPr/>
        </p:nvSpPr>
        <p:spPr>
          <a:xfrm>
            <a:off x="4496646" y="449884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0–30d</a:t>
            </a:r>
            <a:endParaRPr lang="en-US" sz="720" dirty="0"/>
          </a:p>
        </p:txBody>
      </p:sp>
      <p:sp>
        <p:nvSpPr>
          <p:cNvPr id="68" name="Text 66"/>
          <p:cNvSpPr/>
          <p:nvPr/>
        </p:nvSpPr>
        <p:spPr>
          <a:xfrm>
            <a:off x="5213660" y="449884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69" name="Shape 67"/>
          <p:cNvSpPr/>
          <p:nvPr/>
        </p:nvSpPr>
        <p:spPr>
          <a:xfrm>
            <a:off x="265176" y="4864608"/>
            <a:ext cx="6327648" cy="365760"/>
          </a:xfrm>
          <a:prstGeom prst="rect">
            <a:avLst/>
          </a:prstGeom>
          <a:solidFill>
            <a:srgbClr val="F4F9F8"/>
          </a:solidFill>
          <a:ln/>
        </p:spPr>
      </p:sp>
      <p:sp>
        <p:nvSpPr>
          <p:cNvPr id="70" name="Shape 68"/>
          <p:cNvSpPr/>
          <p:nvPr/>
        </p:nvSpPr>
        <p:spPr>
          <a:xfrm>
            <a:off x="265176" y="5230368"/>
            <a:ext cx="6327648" cy="0"/>
          </a:xfrm>
          <a:prstGeom prst="line">
            <a:avLst/>
          </a:prstGeom>
          <a:noFill/>
          <a:ln w="6350">
            <a:solidFill>
              <a:srgbClr val="C8DCD7"/>
            </a:solidFill>
            <a:prstDash val="solid"/>
          </a:ln>
        </p:spPr>
      </p:sp>
      <p:sp>
        <p:nvSpPr>
          <p:cNvPr id="71" name="Text 69"/>
          <p:cNvSpPr/>
          <p:nvPr/>
        </p:nvSpPr>
        <p:spPr>
          <a:xfrm>
            <a:off x="320040" y="486460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a:t>
            </a:r>
            <a:endParaRPr lang="en-US" sz="720" dirty="0"/>
          </a:p>
        </p:txBody>
      </p:sp>
      <p:sp>
        <p:nvSpPr>
          <p:cNvPr id="72" name="Text 70"/>
          <p:cNvSpPr/>
          <p:nvPr/>
        </p:nvSpPr>
        <p:spPr>
          <a:xfrm>
            <a:off x="553070" y="486460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Extract the Apollo order-cadence template and score two accounts against it</a:t>
            </a:r>
            <a:endParaRPr lang="en-US" sz="720" dirty="0"/>
          </a:p>
        </p:txBody>
      </p:sp>
      <p:sp>
        <p:nvSpPr>
          <p:cNvPr id="73" name="Text 71"/>
          <p:cNvSpPr/>
          <p:nvPr/>
        </p:nvSpPr>
        <p:spPr>
          <a:xfrm>
            <a:off x="3690006" y="486460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enabler</a:t>
            </a:r>
            <a:endParaRPr lang="en-US" sz="720" dirty="0"/>
          </a:p>
        </p:txBody>
      </p:sp>
      <p:sp>
        <p:nvSpPr>
          <p:cNvPr id="74" name="Text 72"/>
          <p:cNvSpPr/>
          <p:nvPr/>
        </p:nvSpPr>
        <p:spPr>
          <a:xfrm>
            <a:off x="4496646" y="486460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75" name="Text 73"/>
          <p:cNvSpPr/>
          <p:nvPr/>
        </p:nvSpPr>
        <p:spPr>
          <a:xfrm>
            <a:off x="5213660" y="486460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 + NKAM Apollo</a:t>
            </a:r>
            <a:endParaRPr lang="en-US" sz="720" dirty="0"/>
          </a:p>
        </p:txBody>
      </p:sp>
      <p:sp>
        <p:nvSpPr>
          <p:cNvPr id="76" name="Shape 74"/>
          <p:cNvSpPr/>
          <p:nvPr/>
        </p:nvSpPr>
        <p:spPr>
          <a:xfrm>
            <a:off x="265176" y="5596128"/>
            <a:ext cx="6327648" cy="0"/>
          </a:xfrm>
          <a:prstGeom prst="line">
            <a:avLst/>
          </a:prstGeom>
          <a:noFill/>
          <a:ln w="6350">
            <a:solidFill>
              <a:srgbClr val="C8DCD7"/>
            </a:solidFill>
            <a:prstDash val="solid"/>
          </a:ln>
        </p:spPr>
      </p:sp>
      <p:sp>
        <p:nvSpPr>
          <p:cNvPr id="77" name="Text 75"/>
          <p:cNvSpPr/>
          <p:nvPr/>
        </p:nvSpPr>
        <p:spPr>
          <a:xfrm>
            <a:off x="320040" y="523036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8</a:t>
            </a:r>
            <a:endParaRPr lang="en-US" sz="720" dirty="0"/>
          </a:p>
        </p:txBody>
      </p:sp>
      <p:sp>
        <p:nvSpPr>
          <p:cNvPr id="78" name="Text 76"/>
          <p:cNvSpPr/>
          <p:nvPr/>
        </p:nvSpPr>
        <p:spPr>
          <a:xfrm>
            <a:off x="553070" y="523036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Shampoo rate-recovery pilot in South-1 — velocity per store, not listings added</a:t>
            </a:r>
            <a:endParaRPr lang="en-US" sz="720" dirty="0"/>
          </a:p>
        </p:txBody>
      </p:sp>
      <p:sp>
        <p:nvSpPr>
          <p:cNvPr id="79" name="Text 77"/>
          <p:cNvSpPr/>
          <p:nvPr/>
        </p:nvSpPr>
        <p:spPr>
          <a:xfrm>
            <a:off x="3690006" y="523036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test</a:t>
            </a:r>
            <a:endParaRPr lang="en-US" sz="720" dirty="0"/>
          </a:p>
        </p:txBody>
      </p:sp>
      <p:sp>
        <p:nvSpPr>
          <p:cNvPr id="80" name="Text 78"/>
          <p:cNvSpPr/>
          <p:nvPr/>
        </p:nvSpPr>
        <p:spPr>
          <a:xfrm>
            <a:off x="4496646" y="523036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31–60d</a:t>
            </a:r>
            <a:endParaRPr lang="en-US" sz="720" dirty="0"/>
          </a:p>
        </p:txBody>
      </p:sp>
      <p:sp>
        <p:nvSpPr>
          <p:cNvPr id="81" name="Text 79"/>
          <p:cNvSpPr/>
          <p:nvPr/>
        </p:nvSpPr>
        <p:spPr>
          <a:xfrm>
            <a:off x="5213660" y="523036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Category + South-1 RKAM</a:t>
            </a:r>
            <a:endParaRPr lang="en-US" sz="720" dirty="0"/>
          </a:p>
        </p:txBody>
      </p:sp>
      <p:sp>
        <p:nvSpPr>
          <p:cNvPr id="82" name="Shape 80"/>
          <p:cNvSpPr/>
          <p:nvPr/>
        </p:nvSpPr>
        <p:spPr>
          <a:xfrm>
            <a:off x="265176" y="5596128"/>
            <a:ext cx="6327648" cy="365760"/>
          </a:xfrm>
          <a:prstGeom prst="rect">
            <a:avLst/>
          </a:prstGeom>
          <a:solidFill>
            <a:srgbClr val="F4F9F8"/>
          </a:solidFill>
          <a:ln/>
        </p:spPr>
      </p:sp>
      <p:sp>
        <p:nvSpPr>
          <p:cNvPr id="83" name="Shape 81"/>
          <p:cNvSpPr/>
          <p:nvPr/>
        </p:nvSpPr>
        <p:spPr>
          <a:xfrm>
            <a:off x="265176" y="5961888"/>
            <a:ext cx="6327648" cy="0"/>
          </a:xfrm>
          <a:prstGeom prst="line">
            <a:avLst/>
          </a:prstGeom>
          <a:noFill/>
          <a:ln w="6350">
            <a:solidFill>
              <a:srgbClr val="C8DCD7"/>
            </a:solidFill>
            <a:prstDash val="solid"/>
          </a:ln>
        </p:spPr>
      </p:sp>
      <p:sp>
        <p:nvSpPr>
          <p:cNvPr id="84" name="Text 82"/>
          <p:cNvSpPr/>
          <p:nvPr/>
        </p:nvSpPr>
        <p:spPr>
          <a:xfrm>
            <a:off x="320040" y="5596128"/>
            <a:ext cx="123302" cy="365760"/>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9</a:t>
            </a:r>
            <a:endParaRPr lang="en-US" sz="720" dirty="0"/>
          </a:p>
        </p:txBody>
      </p:sp>
      <p:sp>
        <p:nvSpPr>
          <p:cNvPr id="85" name="Text 83"/>
          <p:cNvSpPr/>
          <p:nvPr/>
        </p:nvSpPr>
        <p:spPr>
          <a:xfrm>
            <a:off x="553070" y="5596128"/>
            <a:ext cx="3027208"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Reset loading rules by verified conversion; retire dead packs before adding new</a:t>
            </a:r>
            <a:endParaRPr lang="en-US" sz="720" dirty="0"/>
          </a:p>
        </p:txBody>
      </p:sp>
      <p:sp>
        <p:nvSpPr>
          <p:cNvPr id="86" name="Text 84"/>
          <p:cNvSpPr/>
          <p:nvPr/>
        </p:nvSpPr>
        <p:spPr>
          <a:xfrm>
            <a:off x="3690006" y="5596128"/>
            <a:ext cx="696913" cy="365760"/>
          </a:xfrm>
          <a:prstGeom prst="rect">
            <a:avLst/>
          </a:prstGeom>
          <a:noFill/>
          <a:ln/>
        </p:spPr>
        <p:txBody>
          <a:bodyPr wrap="square" lIns="0" tIns="0" rIns="0" bIns="0" rtlCol="0" anchor="ctr"/>
          <a:lstStyle/>
          <a:p>
            <a:pPr algn="r" indent="0" marL="0">
              <a:buNone/>
            </a:pPr>
            <a:r>
              <a:rPr lang="en-US" sz="720" dirty="0">
                <a:solidFill>
                  <a:srgbClr val="5F716E"/>
                </a:solidFill>
                <a:latin typeface="Calibri" pitchFamily="34" charset="0"/>
                <a:ea typeface="Calibri" pitchFamily="34" charset="-122"/>
                <a:cs typeface="Calibri" pitchFamily="34" charset="-120"/>
              </a:rPr>
              <a:t>structural</a:t>
            </a:r>
            <a:endParaRPr lang="en-US" sz="720" dirty="0"/>
          </a:p>
        </p:txBody>
      </p:sp>
      <p:sp>
        <p:nvSpPr>
          <p:cNvPr id="87" name="Text 85"/>
          <p:cNvSpPr/>
          <p:nvPr/>
        </p:nvSpPr>
        <p:spPr>
          <a:xfrm>
            <a:off x="4496646" y="5596128"/>
            <a:ext cx="607286"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61–90d</a:t>
            </a:r>
            <a:endParaRPr lang="en-US" sz="720" dirty="0"/>
          </a:p>
        </p:txBody>
      </p:sp>
      <p:sp>
        <p:nvSpPr>
          <p:cNvPr id="88" name="Text 86"/>
          <p:cNvSpPr/>
          <p:nvPr/>
        </p:nvSpPr>
        <p:spPr>
          <a:xfrm>
            <a:off x="5213660" y="5596128"/>
            <a:ext cx="1324300" cy="365760"/>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 + Category</a:t>
            </a:r>
            <a:endParaRPr lang="en-US" sz="720" dirty="0"/>
          </a:p>
        </p:txBody>
      </p:sp>
      <p:sp>
        <p:nvSpPr>
          <p:cNvPr id="89" name="Shape 87"/>
          <p:cNvSpPr/>
          <p:nvPr/>
        </p:nvSpPr>
        <p:spPr>
          <a:xfrm>
            <a:off x="265176" y="6144768"/>
            <a:ext cx="2036064" cy="2267712"/>
          </a:xfrm>
          <a:prstGeom prst="roundRect">
            <a:avLst>
              <a:gd name="adj" fmla="val 898"/>
            </a:avLst>
          </a:prstGeom>
          <a:solidFill>
            <a:srgbClr val="FFFFFF"/>
          </a:solidFill>
          <a:ln w="9525">
            <a:solidFill>
              <a:srgbClr val="C8DCD7"/>
            </a:solidFill>
            <a:prstDash val="solid"/>
          </a:ln>
        </p:spPr>
      </p:sp>
      <p:sp>
        <p:nvSpPr>
          <p:cNvPr id="90" name="Shape 88"/>
          <p:cNvSpPr/>
          <p:nvPr/>
        </p:nvSpPr>
        <p:spPr>
          <a:xfrm>
            <a:off x="265176" y="6144768"/>
            <a:ext cx="2036064" cy="274320"/>
          </a:xfrm>
          <a:prstGeom prst="rect">
            <a:avLst/>
          </a:prstGeom>
          <a:solidFill>
            <a:srgbClr val="D6544D"/>
          </a:solidFill>
          <a:ln/>
        </p:spPr>
      </p:sp>
      <p:sp>
        <p:nvSpPr>
          <p:cNvPr id="91" name="Text 89"/>
          <p:cNvSpPr/>
          <p:nvPr/>
        </p:nvSpPr>
        <p:spPr>
          <a:xfrm>
            <a:off x="347472"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0–30 DAYS</a:t>
            </a:r>
            <a:endParaRPr lang="en-US" sz="700" dirty="0"/>
          </a:p>
        </p:txBody>
      </p:sp>
      <p:sp>
        <p:nvSpPr>
          <p:cNvPr id="92" name="Text 90"/>
          <p:cNvSpPr/>
          <p:nvPr/>
        </p:nvSpPr>
        <p:spPr>
          <a:xfrm>
            <a:off x="356616" y="6510528"/>
            <a:ext cx="1853184" cy="274320"/>
          </a:xfrm>
          <a:prstGeom prst="rect">
            <a:avLst/>
          </a:prstGeom>
          <a:noFill/>
          <a:ln/>
        </p:spPr>
        <p:txBody>
          <a:bodyPr wrap="square" lIns="0" tIns="0" rIns="0" bIns="0" rtlCol="0" anchor="t"/>
          <a:lstStyle/>
          <a:p>
            <a:pPr algn="ctr" indent="0" marL="0">
              <a:buNone/>
            </a:pPr>
            <a:r>
              <a:rPr lang="en-US" sz="1150" b="1" dirty="0">
                <a:solidFill>
                  <a:srgbClr val="D6544D"/>
                </a:solidFill>
                <a:latin typeface="Calibri Light" pitchFamily="34" charset="0"/>
                <a:ea typeface="Calibri Light" pitchFamily="34" charset="-122"/>
                <a:cs typeface="Calibri Light" pitchFamily="34" charset="-120"/>
              </a:rPr>
              <a:t>Stop the leak</a:t>
            </a:r>
            <a:endParaRPr lang="en-US" sz="1150" dirty="0"/>
          </a:p>
        </p:txBody>
      </p:sp>
      <p:sp>
        <p:nvSpPr>
          <p:cNvPr id="93" name="Shape 91"/>
          <p:cNvSpPr/>
          <p:nvPr/>
        </p:nvSpPr>
        <p:spPr>
          <a:xfrm>
            <a:off x="374904" y="6926580"/>
            <a:ext cx="50292" cy="50292"/>
          </a:xfrm>
          <a:prstGeom prst="ellipse">
            <a:avLst/>
          </a:prstGeom>
          <a:solidFill>
            <a:srgbClr val="D6544D"/>
          </a:solidFill>
          <a:ln/>
        </p:spPr>
      </p:sp>
      <p:sp>
        <p:nvSpPr>
          <p:cNvPr id="94" name="Text 92"/>
          <p:cNvSpPr/>
          <p:nvPr/>
        </p:nvSpPr>
        <p:spPr>
          <a:xfrm>
            <a:off x="493776"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Halt Reliance loading below 65% conversion.</a:t>
            </a:r>
            <a:endParaRPr lang="en-US" sz="690" dirty="0"/>
          </a:p>
        </p:txBody>
      </p:sp>
      <p:sp>
        <p:nvSpPr>
          <p:cNvPr id="95" name="Shape 93"/>
          <p:cNvSpPr/>
          <p:nvPr/>
        </p:nvSpPr>
        <p:spPr>
          <a:xfrm>
            <a:off x="374904" y="7292340"/>
            <a:ext cx="50292" cy="50292"/>
          </a:xfrm>
          <a:prstGeom prst="ellipse">
            <a:avLst/>
          </a:prstGeom>
          <a:solidFill>
            <a:srgbClr val="D6544D"/>
          </a:solidFill>
          <a:ln/>
        </p:spPr>
      </p:sp>
      <p:sp>
        <p:nvSpPr>
          <p:cNvPr id="96" name="Text 94"/>
          <p:cNvSpPr/>
          <p:nvPr/>
        </p:nvSpPr>
        <p:spPr>
          <a:xfrm>
            <a:off x="493776"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Cap North and East primary at trailing offtake.</a:t>
            </a:r>
            <a:endParaRPr lang="en-US" sz="690" dirty="0"/>
          </a:p>
        </p:txBody>
      </p:sp>
      <p:sp>
        <p:nvSpPr>
          <p:cNvPr id="97" name="Shape 95"/>
          <p:cNvSpPr/>
          <p:nvPr/>
        </p:nvSpPr>
        <p:spPr>
          <a:xfrm>
            <a:off x="374904" y="7658100"/>
            <a:ext cx="50292" cy="50292"/>
          </a:xfrm>
          <a:prstGeom prst="ellipse">
            <a:avLst/>
          </a:prstGeom>
          <a:solidFill>
            <a:srgbClr val="D6544D"/>
          </a:solidFill>
          <a:ln/>
        </p:spPr>
      </p:sp>
      <p:sp>
        <p:nvSpPr>
          <p:cNvPr id="98" name="Text 96"/>
          <p:cNvSpPr/>
          <p:nvPr/>
        </p:nvSpPr>
        <p:spPr>
          <a:xfrm>
            <a:off x="493776"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Close the three primary-mapping gaps.</a:t>
            </a:r>
            <a:endParaRPr lang="en-US" sz="690" dirty="0"/>
          </a:p>
        </p:txBody>
      </p:sp>
      <p:sp>
        <p:nvSpPr>
          <p:cNvPr id="99" name="Shape 97"/>
          <p:cNvSpPr/>
          <p:nvPr/>
        </p:nvSpPr>
        <p:spPr>
          <a:xfrm>
            <a:off x="374904" y="8023860"/>
            <a:ext cx="50292" cy="50292"/>
          </a:xfrm>
          <a:prstGeom prst="ellipse">
            <a:avLst/>
          </a:prstGeom>
          <a:solidFill>
            <a:srgbClr val="D6544D"/>
          </a:solidFill>
          <a:ln/>
        </p:spPr>
      </p:sp>
      <p:sp>
        <p:nvSpPr>
          <p:cNvPr id="100" name="Text 98"/>
          <p:cNvSpPr/>
          <p:nvPr/>
        </p:nvSpPr>
        <p:spPr>
          <a:xfrm>
            <a:off x="493776"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Publish the first exception list.</a:t>
            </a:r>
            <a:endParaRPr lang="en-US" sz="690" dirty="0"/>
          </a:p>
        </p:txBody>
      </p:sp>
      <p:sp>
        <p:nvSpPr>
          <p:cNvPr id="101" name="Shape 99"/>
          <p:cNvSpPr/>
          <p:nvPr/>
        </p:nvSpPr>
        <p:spPr>
          <a:xfrm>
            <a:off x="2410968" y="6144768"/>
            <a:ext cx="2036064" cy="2267712"/>
          </a:xfrm>
          <a:prstGeom prst="roundRect">
            <a:avLst>
              <a:gd name="adj" fmla="val 898"/>
            </a:avLst>
          </a:prstGeom>
          <a:solidFill>
            <a:srgbClr val="FFFFFF"/>
          </a:solidFill>
          <a:ln w="9525">
            <a:solidFill>
              <a:srgbClr val="C8DCD7"/>
            </a:solidFill>
            <a:prstDash val="solid"/>
          </a:ln>
        </p:spPr>
      </p:sp>
      <p:sp>
        <p:nvSpPr>
          <p:cNvPr id="102" name="Shape 100"/>
          <p:cNvSpPr/>
          <p:nvPr/>
        </p:nvSpPr>
        <p:spPr>
          <a:xfrm>
            <a:off x="2410968" y="6144768"/>
            <a:ext cx="2036064" cy="274320"/>
          </a:xfrm>
          <a:prstGeom prst="rect">
            <a:avLst/>
          </a:prstGeom>
          <a:solidFill>
            <a:srgbClr val="F2B84B"/>
          </a:solidFill>
          <a:ln/>
        </p:spPr>
      </p:sp>
      <p:sp>
        <p:nvSpPr>
          <p:cNvPr id="103" name="Text 101"/>
          <p:cNvSpPr/>
          <p:nvPr/>
        </p:nvSpPr>
        <p:spPr>
          <a:xfrm>
            <a:off x="2493264"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31–60 DAYS</a:t>
            </a:r>
            <a:endParaRPr lang="en-US" sz="700" dirty="0"/>
          </a:p>
        </p:txBody>
      </p:sp>
      <p:sp>
        <p:nvSpPr>
          <p:cNvPr id="104" name="Text 102"/>
          <p:cNvSpPr/>
          <p:nvPr/>
        </p:nvSpPr>
        <p:spPr>
          <a:xfrm>
            <a:off x="2502408" y="6510528"/>
            <a:ext cx="1853184" cy="274320"/>
          </a:xfrm>
          <a:prstGeom prst="rect">
            <a:avLst/>
          </a:prstGeom>
          <a:noFill/>
          <a:ln/>
        </p:spPr>
        <p:txBody>
          <a:bodyPr wrap="square" lIns="0" tIns="0" rIns="0" bIns="0" rtlCol="0" anchor="t"/>
          <a:lstStyle/>
          <a:p>
            <a:pPr algn="ctr" indent="0" marL="0">
              <a:buNone/>
            </a:pPr>
            <a:r>
              <a:rPr lang="en-US" sz="1150" b="1" dirty="0">
                <a:solidFill>
                  <a:srgbClr val="F2B84B"/>
                </a:solidFill>
                <a:latin typeface="Calibri Light" pitchFamily="34" charset="0"/>
                <a:ea typeface="Calibri Light" pitchFamily="34" charset="-122"/>
                <a:cs typeface="Calibri Light" pitchFamily="34" charset="-120"/>
              </a:rPr>
              <a:t>Prove the fix</a:t>
            </a:r>
            <a:endParaRPr lang="en-US" sz="1150" dirty="0"/>
          </a:p>
        </p:txBody>
      </p:sp>
      <p:sp>
        <p:nvSpPr>
          <p:cNvPr id="105" name="Shape 103"/>
          <p:cNvSpPr/>
          <p:nvPr/>
        </p:nvSpPr>
        <p:spPr>
          <a:xfrm>
            <a:off x="2520696" y="6926580"/>
            <a:ext cx="50292" cy="50292"/>
          </a:xfrm>
          <a:prstGeom prst="ellipse">
            <a:avLst/>
          </a:prstGeom>
          <a:solidFill>
            <a:srgbClr val="F2B84B"/>
          </a:solidFill>
          <a:ln/>
        </p:spPr>
      </p:sp>
      <p:sp>
        <p:nvSpPr>
          <p:cNvPr id="106" name="Text 104"/>
          <p:cNvSpPr/>
          <p:nvPr/>
        </p:nvSpPr>
        <p:spPr>
          <a:xfrm>
            <a:off x="2639568"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Score accounts against the Apollo cadence template.</a:t>
            </a:r>
            <a:endParaRPr lang="en-US" sz="690" dirty="0"/>
          </a:p>
        </p:txBody>
      </p:sp>
      <p:sp>
        <p:nvSpPr>
          <p:cNvPr id="107" name="Shape 105"/>
          <p:cNvSpPr/>
          <p:nvPr/>
        </p:nvSpPr>
        <p:spPr>
          <a:xfrm>
            <a:off x="2520696" y="7292340"/>
            <a:ext cx="50292" cy="50292"/>
          </a:xfrm>
          <a:prstGeom prst="ellipse">
            <a:avLst/>
          </a:prstGeom>
          <a:solidFill>
            <a:srgbClr val="F2B84B"/>
          </a:solidFill>
          <a:ln/>
        </p:spPr>
      </p:sp>
      <p:sp>
        <p:nvSpPr>
          <p:cNvPr id="108" name="Text 106"/>
          <p:cNvSpPr/>
          <p:nvPr/>
        </p:nvSpPr>
        <p:spPr>
          <a:xfrm>
            <a:off x="2639568"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Run the South-1 shampoo rate pilot.</a:t>
            </a:r>
            <a:endParaRPr lang="en-US" sz="690" dirty="0"/>
          </a:p>
        </p:txBody>
      </p:sp>
      <p:sp>
        <p:nvSpPr>
          <p:cNvPr id="109" name="Shape 107"/>
          <p:cNvSpPr/>
          <p:nvPr/>
        </p:nvSpPr>
        <p:spPr>
          <a:xfrm>
            <a:off x="2520696" y="7658100"/>
            <a:ext cx="50292" cy="50292"/>
          </a:xfrm>
          <a:prstGeom prst="ellipse">
            <a:avLst/>
          </a:prstGeom>
          <a:solidFill>
            <a:srgbClr val="F2B84B"/>
          </a:solidFill>
          <a:ln/>
        </p:spPr>
      </p:sp>
      <p:sp>
        <p:nvSpPr>
          <p:cNvPr id="110" name="Text 108"/>
          <p:cNvSpPr/>
          <p:nvPr/>
        </p:nvSpPr>
        <p:spPr>
          <a:xfrm>
            <a:off x="2639568"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Size distribution white space in ₹ using stores × PDO.</a:t>
            </a:r>
            <a:endParaRPr lang="en-US" sz="690" dirty="0"/>
          </a:p>
        </p:txBody>
      </p:sp>
      <p:sp>
        <p:nvSpPr>
          <p:cNvPr id="111" name="Shape 109"/>
          <p:cNvSpPr/>
          <p:nvPr/>
        </p:nvSpPr>
        <p:spPr>
          <a:xfrm>
            <a:off x="2520696" y="8023860"/>
            <a:ext cx="50292" cy="50292"/>
          </a:xfrm>
          <a:prstGeom prst="ellipse">
            <a:avLst/>
          </a:prstGeom>
          <a:solidFill>
            <a:srgbClr val="F2B84B"/>
          </a:solidFill>
          <a:ln/>
        </p:spPr>
      </p:sp>
      <p:sp>
        <p:nvSpPr>
          <p:cNvPr id="112" name="Text 110"/>
          <p:cNvSpPr/>
          <p:nvPr/>
        </p:nvSpPr>
        <p:spPr>
          <a:xfrm>
            <a:off x="2639568"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Test the FSN delisting hypothesis.</a:t>
            </a:r>
            <a:endParaRPr lang="en-US" sz="690" dirty="0"/>
          </a:p>
        </p:txBody>
      </p:sp>
      <p:sp>
        <p:nvSpPr>
          <p:cNvPr id="113" name="Shape 111"/>
          <p:cNvSpPr/>
          <p:nvPr/>
        </p:nvSpPr>
        <p:spPr>
          <a:xfrm>
            <a:off x="4556760" y="6144768"/>
            <a:ext cx="2036064" cy="2267712"/>
          </a:xfrm>
          <a:prstGeom prst="roundRect">
            <a:avLst>
              <a:gd name="adj" fmla="val 898"/>
            </a:avLst>
          </a:prstGeom>
          <a:solidFill>
            <a:srgbClr val="FFFFFF"/>
          </a:solidFill>
          <a:ln w="9525">
            <a:solidFill>
              <a:srgbClr val="C8DCD7"/>
            </a:solidFill>
            <a:prstDash val="solid"/>
          </a:ln>
        </p:spPr>
      </p:sp>
      <p:sp>
        <p:nvSpPr>
          <p:cNvPr id="114" name="Shape 112"/>
          <p:cNvSpPr/>
          <p:nvPr/>
        </p:nvSpPr>
        <p:spPr>
          <a:xfrm>
            <a:off x="4556760" y="6144768"/>
            <a:ext cx="2036064" cy="274320"/>
          </a:xfrm>
          <a:prstGeom prst="rect">
            <a:avLst/>
          </a:prstGeom>
          <a:solidFill>
            <a:srgbClr val="2B9A66"/>
          </a:solidFill>
          <a:ln/>
        </p:spPr>
      </p:sp>
      <p:sp>
        <p:nvSpPr>
          <p:cNvPr id="115" name="Text 113"/>
          <p:cNvSpPr/>
          <p:nvPr/>
        </p:nvSpPr>
        <p:spPr>
          <a:xfrm>
            <a:off x="4639056" y="6163056"/>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61–90 DAYS</a:t>
            </a:r>
            <a:endParaRPr lang="en-US" sz="700" dirty="0"/>
          </a:p>
        </p:txBody>
      </p:sp>
      <p:sp>
        <p:nvSpPr>
          <p:cNvPr id="116" name="Text 114"/>
          <p:cNvSpPr/>
          <p:nvPr/>
        </p:nvSpPr>
        <p:spPr>
          <a:xfrm>
            <a:off x="4648200" y="6510528"/>
            <a:ext cx="1853184" cy="274320"/>
          </a:xfrm>
          <a:prstGeom prst="rect">
            <a:avLst/>
          </a:prstGeom>
          <a:noFill/>
          <a:ln/>
        </p:spPr>
        <p:txBody>
          <a:bodyPr wrap="square" lIns="0" tIns="0" rIns="0" bIns="0" rtlCol="0" anchor="t"/>
          <a:lstStyle/>
          <a:p>
            <a:pPr algn="ctr" indent="0" marL="0">
              <a:buNone/>
            </a:pPr>
            <a:r>
              <a:rPr lang="en-US" sz="1150" b="1" dirty="0">
                <a:solidFill>
                  <a:srgbClr val="2B9A66"/>
                </a:solidFill>
                <a:latin typeface="Calibri Light" pitchFamily="34" charset="0"/>
                <a:ea typeface="Calibri Light" pitchFamily="34" charset="-122"/>
                <a:cs typeface="Calibri Light" pitchFamily="34" charset="-120"/>
              </a:rPr>
              <a:t>Lock it in</a:t>
            </a:r>
            <a:endParaRPr lang="en-US" sz="1150" dirty="0"/>
          </a:p>
        </p:txBody>
      </p:sp>
      <p:sp>
        <p:nvSpPr>
          <p:cNvPr id="117" name="Shape 115"/>
          <p:cNvSpPr/>
          <p:nvPr/>
        </p:nvSpPr>
        <p:spPr>
          <a:xfrm>
            <a:off x="4666488" y="6926580"/>
            <a:ext cx="50292" cy="50292"/>
          </a:xfrm>
          <a:prstGeom prst="ellipse">
            <a:avLst/>
          </a:prstGeom>
          <a:solidFill>
            <a:srgbClr val="2B9A66"/>
          </a:solidFill>
          <a:ln/>
        </p:spPr>
      </p:sp>
      <p:sp>
        <p:nvSpPr>
          <p:cNvPr id="118" name="Text 116"/>
          <p:cNvSpPr/>
          <p:nvPr/>
        </p:nvSpPr>
        <p:spPr>
          <a:xfrm>
            <a:off x="4785360" y="6876288"/>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Reset loading rules by verified conversion.</a:t>
            </a:r>
            <a:endParaRPr lang="en-US" sz="690" dirty="0"/>
          </a:p>
        </p:txBody>
      </p:sp>
      <p:sp>
        <p:nvSpPr>
          <p:cNvPr id="119" name="Shape 117"/>
          <p:cNvSpPr/>
          <p:nvPr/>
        </p:nvSpPr>
        <p:spPr>
          <a:xfrm>
            <a:off x="4666488" y="7292340"/>
            <a:ext cx="50292" cy="50292"/>
          </a:xfrm>
          <a:prstGeom prst="ellipse">
            <a:avLst/>
          </a:prstGeom>
          <a:solidFill>
            <a:srgbClr val="2B9A66"/>
          </a:solidFill>
          <a:ln/>
        </p:spPr>
      </p:sp>
      <p:sp>
        <p:nvSpPr>
          <p:cNvPr id="120" name="Text 118"/>
          <p:cNvSpPr/>
          <p:nvPr/>
        </p:nvSpPr>
        <p:spPr>
          <a:xfrm>
            <a:off x="4785360" y="724204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Rationalise dead and low-productivity packs.</a:t>
            </a:r>
            <a:endParaRPr lang="en-US" sz="690" dirty="0"/>
          </a:p>
        </p:txBody>
      </p:sp>
      <p:sp>
        <p:nvSpPr>
          <p:cNvPr id="121" name="Shape 119"/>
          <p:cNvSpPr/>
          <p:nvPr/>
        </p:nvSpPr>
        <p:spPr>
          <a:xfrm>
            <a:off x="4666488" y="7658100"/>
            <a:ext cx="50292" cy="50292"/>
          </a:xfrm>
          <a:prstGeom prst="ellipse">
            <a:avLst/>
          </a:prstGeom>
          <a:solidFill>
            <a:srgbClr val="2B9A66"/>
          </a:solidFill>
          <a:ln/>
        </p:spPr>
      </p:sp>
      <p:sp>
        <p:nvSpPr>
          <p:cNvPr id="122" name="Text 120"/>
          <p:cNvSpPr/>
          <p:nvPr/>
        </p:nvSpPr>
        <p:spPr>
          <a:xfrm>
            <a:off x="4785360" y="760780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Scale only what offtake has proven.</a:t>
            </a:r>
            <a:endParaRPr lang="en-US" sz="690" dirty="0"/>
          </a:p>
        </p:txBody>
      </p:sp>
      <p:sp>
        <p:nvSpPr>
          <p:cNvPr id="123" name="Shape 121"/>
          <p:cNvSpPr/>
          <p:nvPr/>
        </p:nvSpPr>
        <p:spPr>
          <a:xfrm>
            <a:off x="4666488" y="8023860"/>
            <a:ext cx="50292" cy="50292"/>
          </a:xfrm>
          <a:prstGeom prst="ellipse">
            <a:avLst/>
          </a:prstGeom>
          <a:solidFill>
            <a:srgbClr val="2B9A66"/>
          </a:solidFill>
          <a:ln/>
        </p:spPr>
      </p:sp>
      <p:sp>
        <p:nvSpPr>
          <p:cNvPr id="124" name="Text 122"/>
          <p:cNvSpPr/>
          <p:nvPr/>
        </p:nvSpPr>
        <p:spPr>
          <a:xfrm>
            <a:off x="4785360" y="7973568"/>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Embed weekly owner and action receipts.</a:t>
            </a:r>
            <a:endParaRPr lang="en-US" sz="690" dirty="0"/>
          </a:p>
        </p:txBody>
      </p:sp>
      <p:sp>
        <p:nvSpPr>
          <p:cNvPr id="125" name="Shape 123"/>
          <p:cNvSpPr/>
          <p:nvPr/>
        </p:nvSpPr>
        <p:spPr>
          <a:xfrm>
            <a:off x="265176" y="8558784"/>
            <a:ext cx="6327648" cy="256032"/>
          </a:xfrm>
          <a:prstGeom prst="rect">
            <a:avLst/>
          </a:prstGeom>
          <a:solidFill>
            <a:srgbClr val="116F68"/>
          </a:solidFill>
          <a:ln/>
        </p:spPr>
      </p:sp>
      <p:sp>
        <p:nvSpPr>
          <p:cNvPr id="126" name="Text 124"/>
          <p:cNvSpPr/>
          <p:nvPr/>
        </p:nvSpPr>
        <p:spPr>
          <a:xfrm>
            <a:off x="374904" y="8577072"/>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WEEKLY MANAGEMENT SCOREBOARD</a:t>
            </a:r>
            <a:endParaRPr lang="en-US" sz="720" dirty="0"/>
          </a:p>
        </p:txBody>
      </p:sp>
      <p:sp>
        <p:nvSpPr>
          <p:cNvPr id="127" name="Shape 125"/>
          <p:cNvSpPr/>
          <p:nvPr/>
        </p:nvSpPr>
        <p:spPr>
          <a:xfrm>
            <a:off x="265176" y="8906256"/>
            <a:ext cx="6327648" cy="256032"/>
          </a:xfrm>
          <a:prstGeom prst="rect">
            <a:avLst/>
          </a:prstGeom>
          <a:solidFill>
            <a:srgbClr val="116F68"/>
          </a:solidFill>
          <a:ln/>
        </p:spPr>
      </p:sp>
      <p:sp>
        <p:nvSpPr>
          <p:cNvPr id="128" name="Text 126"/>
          <p:cNvSpPr/>
          <p:nvPr/>
        </p:nvSpPr>
        <p:spPr>
          <a:xfrm>
            <a:off x="320040" y="8924544"/>
            <a:ext cx="214395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129" name="Text 127"/>
          <p:cNvSpPr/>
          <p:nvPr/>
        </p:nvSpPr>
        <p:spPr>
          <a:xfrm>
            <a:off x="2573723" y="8924544"/>
            <a:ext cx="127715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TARGET</a:t>
            </a:r>
            <a:endParaRPr lang="en-US" sz="660" dirty="0"/>
          </a:p>
        </p:txBody>
      </p:sp>
      <p:sp>
        <p:nvSpPr>
          <p:cNvPr id="130" name="Text 128"/>
          <p:cNvSpPr/>
          <p:nvPr/>
        </p:nvSpPr>
        <p:spPr>
          <a:xfrm>
            <a:off x="3960605" y="8924544"/>
            <a:ext cx="136383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OWNER</a:t>
            </a:r>
            <a:endParaRPr lang="en-US" sz="660" dirty="0"/>
          </a:p>
        </p:txBody>
      </p:sp>
      <p:sp>
        <p:nvSpPr>
          <p:cNvPr id="131" name="Text 129"/>
          <p:cNvSpPr/>
          <p:nvPr/>
        </p:nvSpPr>
        <p:spPr>
          <a:xfrm>
            <a:off x="5434166" y="8924544"/>
            <a:ext cx="1103794"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STATUS AT JULY</a:t>
            </a:r>
            <a:endParaRPr lang="en-US" sz="660" dirty="0"/>
          </a:p>
        </p:txBody>
      </p:sp>
      <p:sp>
        <p:nvSpPr>
          <p:cNvPr id="132" name="Shape 130"/>
          <p:cNvSpPr/>
          <p:nvPr/>
        </p:nvSpPr>
        <p:spPr>
          <a:xfrm>
            <a:off x="265176" y="9162288"/>
            <a:ext cx="6327648" cy="329184"/>
          </a:xfrm>
          <a:prstGeom prst="rect">
            <a:avLst/>
          </a:prstGeom>
          <a:solidFill>
            <a:srgbClr val="F4F9F8"/>
          </a:solidFill>
          <a:ln/>
        </p:spPr>
      </p:sp>
      <p:sp>
        <p:nvSpPr>
          <p:cNvPr id="133" name="Shape 131"/>
          <p:cNvSpPr/>
          <p:nvPr/>
        </p:nvSpPr>
        <p:spPr>
          <a:xfrm>
            <a:off x="265176" y="9491472"/>
            <a:ext cx="6327648" cy="0"/>
          </a:xfrm>
          <a:prstGeom prst="line">
            <a:avLst/>
          </a:prstGeom>
          <a:noFill/>
          <a:ln w="6350">
            <a:solidFill>
              <a:srgbClr val="C8DCD7"/>
            </a:solidFill>
            <a:prstDash val="solid"/>
          </a:ln>
        </p:spPr>
      </p:sp>
      <p:sp>
        <p:nvSpPr>
          <p:cNvPr id="134" name="Text 132"/>
          <p:cNvSpPr/>
          <p:nvPr/>
        </p:nvSpPr>
        <p:spPr>
          <a:xfrm>
            <a:off x="320040" y="9162288"/>
            <a:ext cx="2143955" cy="329184"/>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 — the one metric</a:t>
            </a:r>
            <a:endParaRPr lang="en-US" sz="720" dirty="0"/>
          </a:p>
        </p:txBody>
      </p:sp>
      <p:sp>
        <p:nvSpPr>
          <p:cNvPr id="135" name="Text 133"/>
          <p:cNvSpPr/>
          <p:nvPr/>
        </p:nvSpPr>
        <p:spPr>
          <a:xfrm>
            <a:off x="2573723" y="9162288"/>
            <a:ext cx="1277154" cy="329184"/>
          </a:xfrm>
          <a:prstGeom prst="rect">
            <a:avLst/>
          </a:prstGeom>
          <a:noFill/>
          <a:ln/>
        </p:spPr>
        <p:txBody>
          <a:bodyPr wrap="square" lIns="0" tIns="0" rIns="0" bIns="0" rtlCol="0" anchor="ctr"/>
          <a:lstStyle/>
          <a:p>
            <a:pPr algn="r" indent="0" marL="0">
              <a:buNone/>
            </a:pPr>
            <a:r>
              <a:rPr lang="en-US" sz="720" b="1" dirty="0">
                <a:solidFill>
                  <a:srgbClr val="2B9A66"/>
                </a:solidFill>
                <a:latin typeface="Calibri" pitchFamily="34" charset="0"/>
                <a:ea typeface="Calibri" pitchFamily="34" charset="-122"/>
                <a:cs typeface="Calibri" pitchFamily="34" charset="-120"/>
              </a:rPr>
              <a:t>above 85%</a:t>
            </a:r>
            <a:endParaRPr lang="en-US" sz="720" dirty="0"/>
          </a:p>
        </p:txBody>
      </p:sp>
      <p:sp>
        <p:nvSpPr>
          <p:cNvPr id="136" name="Text 134"/>
          <p:cNvSpPr/>
          <p:nvPr/>
        </p:nvSpPr>
        <p:spPr>
          <a:xfrm>
            <a:off x="3960605" y="916228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Sales lead</a:t>
            </a:r>
            <a:endParaRPr lang="en-US" sz="720" dirty="0"/>
          </a:p>
        </p:txBody>
      </p:sp>
      <p:sp>
        <p:nvSpPr>
          <p:cNvPr id="137" name="Text 135"/>
          <p:cNvSpPr/>
          <p:nvPr/>
        </p:nvSpPr>
        <p:spPr>
          <a:xfrm>
            <a:off x="5434166" y="916228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73.4%</a:t>
            </a:r>
            <a:endParaRPr lang="en-US" sz="720" dirty="0"/>
          </a:p>
        </p:txBody>
      </p:sp>
      <p:sp>
        <p:nvSpPr>
          <p:cNvPr id="138" name="Shape 136"/>
          <p:cNvSpPr/>
          <p:nvPr/>
        </p:nvSpPr>
        <p:spPr>
          <a:xfrm>
            <a:off x="265176" y="9820656"/>
            <a:ext cx="6327648" cy="0"/>
          </a:xfrm>
          <a:prstGeom prst="line">
            <a:avLst/>
          </a:prstGeom>
          <a:noFill/>
          <a:ln w="6350">
            <a:solidFill>
              <a:srgbClr val="C8DCD7"/>
            </a:solidFill>
            <a:prstDash val="solid"/>
          </a:ln>
        </p:spPr>
      </p:sp>
      <p:sp>
        <p:nvSpPr>
          <p:cNvPr id="139" name="Text 137"/>
          <p:cNvSpPr/>
          <p:nvPr/>
        </p:nvSpPr>
        <p:spPr>
          <a:xfrm>
            <a:off x="320040" y="9491472"/>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gap vs benchmark</a:t>
            </a:r>
            <a:endParaRPr lang="en-US" sz="720" dirty="0"/>
          </a:p>
        </p:txBody>
      </p:sp>
      <p:sp>
        <p:nvSpPr>
          <p:cNvPr id="140" name="Text 138"/>
          <p:cNvSpPr/>
          <p:nvPr/>
        </p:nvSpPr>
        <p:spPr>
          <a:xfrm>
            <a:off x="2573723" y="9491472"/>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1" name="Text 139"/>
          <p:cNvSpPr/>
          <p:nvPr/>
        </p:nvSpPr>
        <p:spPr>
          <a:xfrm>
            <a:off x="3960605" y="9491472"/>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North ZSM</a:t>
            </a:r>
            <a:endParaRPr lang="en-US" sz="720" dirty="0"/>
          </a:p>
        </p:txBody>
      </p:sp>
      <p:sp>
        <p:nvSpPr>
          <p:cNvPr id="142" name="Text 140"/>
          <p:cNvSpPr/>
          <p:nvPr/>
        </p:nvSpPr>
        <p:spPr>
          <a:xfrm>
            <a:off x="5434166" y="9491472"/>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−₹2.78 Cr</a:t>
            </a:r>
            <a:endParaRPr lang="en-US" sz="720" dirty="0"/>
          </a:p>
        </p:txBody>
      </p:sp>
      <p:sp>
        <p:nvSpPr>
          <p:cNvPr id="143" name="Shape 141"/>
          <p:cNvSpPr/>
          <p:nvPr/>
        </p:nvSpPr>
        <p:spPr>
          <a:xfrm>
            <a:off x="265176" y="9820656"/>
            <a:ext cx="6327648" cy="329184"/>
          </a:xfrm>
          <a:prstGeom prst="rect">
            <a:avLst/>
          </a:prstGeom>
          <a:solidFill>
            <a:srgbClr val="F4F9F8"/>
          </a:solidFill>
          <a:ln/>
        </p:spPr>
      </p:sp>
      <p:sp>
        <p:nvSpPr>
          <p:cNvPr id="144" name="Shape 142"/>
          <p:cNvSpPr/>
          <p:nvPr/>
        </p:nvSpPr>
        <p:spPr>
          <a:xfrm>
            <a:off x="265176" y="10149840"/>
            <a:ext cx="6327648" cy="0"/>
          </a:xfrm>
          <a:prstGeom prst="line">
            <a:avLst/>
          </a:prstGeom>
          <a:noFill/>
          <a:ln w="6350">
            <a:solidFill>
              <a:srgbClr val="C8DCD7"/>
            </a:solidFill>
            <a:prstDash val="solid"/>
          </a:ln>
        </p:spPr>
      </p:sp>
      <p:sp>
        <p:nvSpPr>
          <p:cNvPr id="145" name="Text 143"/>
          <p:cNvSpPr/>
          <p:nvPr/>
        </p:nvSpPr>
        <p:spPr>
          <a:xfrm>
            <a:off x="320040" y="9820656"/>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gap vs benchmark</a:t>
            </a:r>
            <a:endParaRPr lang="en-US" sz="720" dirty="0"/>
          </a:p>
        </p:txBody>
      </p:sp>
      <p:sp>
        <p:nvSpPr>
          <p:cNvPr id="146" name="Text 144"/>
          <p:cNvSpPr/>
          <p:nvPr/>
        </p:nvSpPr>
        <p:spPr>
          <a:xfrm>
            <a:off x="2573723" y="9820656"/>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falling weekly</a:t>
            </a:r>
            <a:endParaRPr lang="en-US" sz="720" dirty="0"/>
          </a:p>
        </p:txBody>
      </p:sp>
      <p:sp>
        <p:nvSpPr>
          <p:cNvPr id="147" name="Text 145"/>
          <p:cNvSpPr/>
          <p:nvPr/>
        </p:nvSpPr>
        <p:spPr>
          <a:xfrm>
            <a:off x="3960605" y="9820656"/>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East ZSM</a:t>
            </a:r>
            <a:endParaRPr lang="en-US" sz="720" dirty="0"/>
          </a:p>
        </p:txBody>
      </p:sp>
      <p:sp>
        <p:nvSpPr>
          <p:cNvPr id="148" name="Text 146"/>
          <p:cNvSpPr/>
          <p:nvPr/>
        </p:nvSpPr>
        <p:spPr>
          <a:xfrm>
            <a:off x="5434166" y="9820656"/>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−₹2.54 Cr</a:t>
            </a:r>
            <a:endParaRPr lang="en-US" sz="720" dirty="0"/>
          </a:p>
        </p:txBody>
      </p:sp>
      <p:sp>
        <p:nvSpPr>
          <p:cNvPr id="149" name="Shape 147"/>
          <p:cNvSpPr/>
          <p:nvPr/>
        </p:nvSpPr>
        <p:spPr>
          <a:xfrm>
            <a:off x="265176" y="10479024"/>
            <a:ext cx="6327648" cy="0"/>
          </a:xfrm>
          <a:prstGeom prst="line">
            <a:avLst/>
          </a:prstGeom>
          <a:noFill/>
          <a:ln w="6350">
            <a:solidFill>
              <a:srgbClr val="C8DCD7"/>
            </a:solidFill>
            <a:prstDash val="solid"/>
          </a:ln>
        </p:spPr>
      </p:sp>
      <p:sp>
        <p:nvSpPr>
          <p:cNvPr id="150" name="Text 148"/>
          <p:cNvSpPr/>
          <p:nvPr/>
        </p:nvSpPr>
        <p:spPr>
          <a:xfrm>
            <a:off x="320040" y="10149840"/>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Hero-SKU OSA, priority stores</a:t>
            </a:r>
            <a:endParaRPr lang="en-US" sz="720" dirty="0"/>
          </a:p>
        </p:txBody>
      </p:sp>
      <p:sp>
        <p:nvSpPr>
          <p:cNvPr id="151" name="Text 149"/>
          <p:cNvSpPr/>
          <p:nvPr/>
        </p:nvSpPr>
        <p:spPr>
          <a:xfrm>
            <a:off x="2573723" y="10149840"/>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95%</a:t>
            </a:r>
            <a:endParaRPr lang="en-US" sz="720" dirty="0"/>
          </a:p>
        </p:txBody>
      </p:sp>
      <p:sp>
        <p:nvSpPr>
          <p:cNvPr id="152" name="Text 150"/>
          <p:cNvSpPr/>
          <p:nvPr/>
        </p:nvSpPr>
        <p:spPr>
          <a:xfrm>
            <a:off x="3960605" y="10149840"/>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KAM + Supply</a:t>
            </a:r>
            <a:endParaRPr lang="en-US" sz="720" dirty="0"/>
          </a:p>
        </p:txBody>
      </p:sp>
      <p:sp>
        <p:nvSpPr>
          <p:cNvPr id="153" name="Text 151"/>
          <p:cNvSpPr/>
          <p:nvPr/>
        </p:nvSpPr>
        <p:spPr>
          <a:xfrm>
            <a:off x="5434166" y="10149840"/>
            <a:ext cx="1103794" cy="329184"/>
          </a:xfrm>
          <a:prstGeom prst="rect">
            <a:avLst/>
          </a:prstGeom>
          <a:noFill/>
          <a:ln/>
        </p:spPr>
        <p:txBody>
          <a:bodyPr wrap="square" lIns="0" tIns="0" rIns="0" bIns="0" rtlCol="0" anchor="ctr"/>
          <a:lstStyle/>
          <a:p>
            <a:pPr algn="r" indent="0" marL="0">
              <a:buNone/>
            </a:pPr>
            <a:r>
              <a:rPr lang="en-US" sz="720" dirty="0">
                <a:solidFill>
                  <a:srgbClr val="F2B84B"/>
                </a:solidFill>
                <a:latin typeface="Calibri" pitchFamily="34" charset="0"/>
                <a:ea typeface="Calibri" pitchFamily="34" charset="-122"/>
                <a:cs typeface="Calibri" pitchFamily="34" charset="-120"/>
              </a:rPr>
              <a:t>not measured</a:t>
            </a:r>
            <a:endParaRPr lang="en-US" sz="720" dirty="0"/>
          </a:p>
        </p:txBody>
      </p:sp>
      <p:sp>
        <p:nvSpPr>
          <p:cNvPr id="154" name="Shape 152"/>
          <p:cNvSpPr/>
          <p:nvPr/>
        </p:nvSpPr>
        <p:spPr>
          <a:xfrm>
            <a:off x="265176" y="10479024"/>
            <a:ext cx="6327648" cy="329184"/>
          </a:xfrm>
          <a:prstGeom prst="rect">
            <a:avLst/>
          </a:prstGeom>
          <a:solidFill>
            <a:srgbClr val="F4F9F8"/>
          </a:solidFill>
          <a:ln/>
        </p:spPr>
      </p:sp>
      <p:sp>
        <p:nvSpPr>
          <p:cNvPr id="155" name="Shape 153"/>
          <p:cNvSpPr/>
          <p:nvPr/>
        </p:nvSpPr>
        <p:spPr>
          <a:xfrm>
            <a:off x="265176" y="10808208"/>
            <a:ext cx="6327648" cy="0"/>
          </a:xfrm>
          <a:prstGeom prst="line">
            <a:avLst/>
          </a:prstGeom>
          <a:noFill/>
          <a:ln w="6350">
            <a:solidFill>
              <a:srgbClr val="C8DCD7"/>
            </a:solidFill>
            <a:prstDash val="solid"/>
          </a:ln>
        </p:spPr>
      </p:sp>
      <p:sp>
        <p:nvSpPr>
          <p:cNvPr id="156" name="Text 154"/>
          <p:cNvSpPr/>
          <p:nvPr/>
        </p:nvSpPr>
        <p:spPr>
          <a:xfrm>
            <a:off x="320040" y="10479024"/>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Reliance conversion</a:t>
            </a:r>
            <a:endParaRPr lang="en-US" sz="720" dirty="0"/>
          </a:p>
        </p:txBody>
      </p:sp>
      <p:sp>
        <p:nvSpPr>
          <p:cNvPr id="157" name="Text 155"/>
          <p:cNvSpPr/>
          <p:nvPr/>
        </p:nvSpPr>
        <p:spPr>
          <a:xfrm>
            <a:off x="2573723" y="10479024"/>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above 65%</a:t>
            </a:r>
            <a:endParaRPr lang="en-US" sz="720" dirty="0"/>
          </a:p>
        </p:txBody>
      </p:sp>
      <p:sp>
        <p:nvSpPr>
          <p:cNvPr id="158" name="Text 156"/>
          <p:cNvSpPr/>
          <p:nvPr/>
        </p:nvSpPr>
        <p:spPr>
          <a:xfrm>
            <a:off x="3960605" y="10479024"/>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NKAM Reliance</a:t>
            </a:r>
            <a:endParaRPr lang="en-US" sz="720" dirty="0"/>
          </a:p>
        </p:txBody>
      </p:sp>
      <p:sp>
        <p:nvSpPr>
          <p:cNvPr id="159" name="Text 157"/>
          <p:cNvSpPr/>
          <p:nvPr/>
        </p:nvSpPr>
        <p:spPr>
          <a:xfrm>
            <a:off x="5434166" y="10479024"/>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51.4%</a:t>
            </a:r>
            <a:endParaRPr lang="en-US" sz="720" dirty="0"/>
          </a:p>
        </p:txBody>
      </p:sp>
      <p:sp>
        <p:nvSpPr>
          <p:cNvPr id="160" name="Shape 158"/>
          <p:cNvSpPr/>
          <p:nvPr/>
        </p:nvSpPr>
        <p:spPr>
          <a:xfrm>
            <a:off x="265176" y="11137392"/>
            <a:ext cx="6327648" cy="0"/>
          </a:xfrm>
          <a:prstGeom prst="line">
            <a:avLst/>
          </a:prstGeom>
          <a:noFill/>
          <a:ln w="6350">
            <a:solidFill>
              <a:srgbClr val="C8DCD7"/>
            </a:solidFill>
            <a:prstDash val="solid"/>
          </a:ln>
        </p:spPr>
      </p:sp>
      <p:sp>
        <p:nvSpPr>
          <p:cNvPr id="161" name="Text 159"/>
          <p:cNvSpPr/>
          <p:nvPr/>
        </p:nvSpPr>
        <p:spPr>
          <a:xfrm>
            <a:off x="320040" y="10808208"/>
            <a:ext cx="2143955"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Chains with unmapped primary</a:t>
            </a:r>
            <a:endParaRPr lang="en-US" sz="720" dirty="0"/>
          </a:p>
        </p:txBody>
      </p:sp>
      <p:sp>
        <p:nvSpPr>
          <p:cNvPr id="162" name="Text 160"/>
          <p:cNvSpPr/>
          <p:nvPr/>
        </p:nvSpPr>
        <p:spPr>
          <a:xfrm>
            <a:off x="2573723" y="10808208"/>
            <a:ext cx="1277154" cy="329184"/>
          </a:xfrm>
          <a:prstGeom prst="rect">
            <a:avLst/>
          </a:prstGeom>
          <a:noFill/>
          <a:ln/>
        </p:spPr>
        <p:txBody>
          <a:bodyPr wrap="square" lIns="0" tIns="0" rIns="0" bIns="0" rtlCol="0" anchor="ctr"/>
          <a:lstStyle/>
          <a:p>
            <a:pPr algn="r" indent="0" marL="0">
              <a:buNone/>
            </a:pPr>
            <a:r>
              <a:rPr lang="en-US" sz="720" dirty="0">
                <a:solidFill>
                  <a:srgbClr val="2B9A66"/>
                </a:solidFill>
                <a:latin typeface="Calibri" pitchFamily="34" charset="0"/>
                <a:ea typeface="Calibri" pitchFamily="34" charset="-122"/>
                <a:cs typeface="Calibri" pitchFamily="34" charset="-120"/>
              </a:rPr>
              <a:t>zero</a:t>
            </a:r>
            <a:endParaRPr lang="en-US" sz="720" dirty="0"/>
          </a:p>
        </p:txBody>
      </p:sp>
      <p:sp>
        <p:nvSpPr>
          <p:cNvPr id="163" name="Text 161"/>
          <p:cNvSpPr/>
          <p:nvPr/>
        </p:nvSpPr>
        <p:spPr>
          <a:xfrm>
            <a:off x="3960605" y="10808208"/>
            <a:ext cx="1363834" cy="329184"/>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Analyst</a:t>
            </a:r>
            <a:endParaRPr lang="en-US" sz="720" dirty="0"/>
          </a:p>
        </p:txBody>
      </p:sp>
      <p:sp>
        <p:nvSpPr>
          <p:cNvPr id="164" name="Text 162"/>
          <p:cNvSpPr/>
          <p:nvPr/>
        </p:nvSpPr>
        <p:spPr>
          <a:xfrm>
            <a:off x="5434166" y="10808208"/>
            <a:ext cx="1103794" cy="329184"/>
          </a:xfrm>
          <a:prstGeom prst="rect">
            <a:avLst/>
          </a:prstGeom>
          <a:noFill/>
          <a:ln/>
        </p:spPr>
        <p:txBody>
          <a:bodyPr wrap="square" lIns="0" tIns="0" rIns="0" bIns="0" rtlCol="0" anchor="ctr"/>
          <a:lstStyle/>
          <a:p>
            <a:pPr algn="r" indent="0" marL="0">
              <a:buNone/>
            </a:pPr>
            <a:r>
              <a:rPr lang="en-US" sz="720" dirty="0">
                <a:solidFill>
                  <a:srgbClr val="D6544D"/>
                </a:solidFill>
                <a:latin typeface="Calibri" pitchFamily="34" charset="0"/>
                <a:ea typeface="Calibri" pitchFamily="34" charset="-122"/>
                <a:cs typeface="Calibri" pitchFamily="34" charset="-120"/>
              </a:rPr>
              <a:t>3 chains</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A"/>
        </a:solidFill>
      </p:bgPr>
    </p:bg>
    <p:spTree>
      <p:nvGrpSpPr>
        <p:cNvPr id="1" name=""/>
        <p:cNvGrpSpPr/>
        <p:nvPr/>
      </p:nvGrpSpPr>
      <p:grpSpPr>
        <a:xfrm>
          <a:off x="0" y="0"/>
          <a:ext cx="0" cy="0"/>
          <a:chOff x="0" y="0"/>
          <a:chExt cx="0" cy="0"/>
        </a:xfrm>
      </p:grpSpPr>
      <p:sp>
        <p:nvSpPr>
          <p:cNvPr id="2" name="Shape 0"/>
          <p:cNvSpPr/>
          <p:nvPr/>
        </p:nvSpPr>
        <p:spPr>
          <a:xfrm>
            <a:off x="0" y="0"/>
            <a:ext cx="6858000" cy="1133856"/>
          </a:xfrm>
          <a:prstGeom prst="rect">
            <a:avLst/>
          </a:prstGeom>
          <a:solidFill>
            <a:srgbClr val="116F68"/>
          </a:solidFill>
          <a:ln/>
        </p:spPr>
      </p:sp>
      <p:sp>
        <p:nvSpPr>
          <p:cNvPr id="3" name="Text 1"/>
          <p:cNvSpPr/>
          <p:nvPr/>
        </p:nvSpPr>
        <p:spPr>
          <a:xfrm>
            <a:off x="365760" y="182880"/>
            <a:ext cx="5641848" cy="548640"/>
          </a:xfrm>
          <a:prstGeom prst="rect">
            <a:avLst/>
          </a:prstGeom>
          <a:noFill/>
          <a:ln/>
        </p:spPr>
        <p:txBody>
          <a:bodyPr wrap="square" lIns="0" tIns="0" rIns="0" bIns="0" rtlCol="0" anchor="ctr"/>
          <a:lstStyle/>
          <a:p>
            <a:pPr indent="0" marL="0">
              <a:lnSpc>
                <a:spcPct val="92000"/>
              </a:lnSpc>
              <a:buNone/>
            </a:pPr>
            <a:r>
              <a:rPr lang="en-US" sz="1450" b="1" dirty="0">
                <a:solidFill>
                  <a:srgbClr val="FFFFFF"/>
                </a:solidFill>
                <a:latin typeface="Calibri Light" pitchFamily="34" charset="0"/>
                <a:ea typeface="Calibri Light" pitchFamily="34" charset="-122"/>
                <a:cs typeface="Calibri Light" pitchFamily="34" charset="-120"/>
              </a:rPr>
              <a:t>Decision-safe definitions, quality gates and authority boundaries</a:t>
            </a:r>
            <a:endParaRPr lang="en-US" sz="1450" dirty="0"/>
          </a:p>
        </p:txBody>
      </p:sp>
      <p:sp>
        <p:nvSpPr>
          <p:cNvPr id="4" name="Text 2"/>
          <p:cNvSpPr/>
          <p:nvPr/>
        </p:nvSpPr>
        <p:spPr>
          <a:xfrm>
            <a:off x="384048" y="786384"/>
            <a:ext cx="5641848" cy="237744"/>
          </a:xfrm>
          <a:prstGeom prst="rect">
            <a:avLst/>
          </a:prstGeom>
          <a:noFill/>
          <a:ln/>
        </p:spPr>
        <p:txBody>
          <a:bodyPr wrap="square" lIns="0" tIns="0" rIns="0" bIns="0" rtlCol="0" anchor="ctr"/>
          <a:lstStyle/>
          <a:p>
            <a:pPr indent="0" marL="0">
              <a:buNone/>
            </a:pPr>
            <a:r>
              <a:rPr lang="en-US" sz="850" dirty="0">
                <a:solidFill>
                  <a:srgbClr val="BFDCD7"/>
                </a:solidFill>
                <a:latin typeface="Calibri" pitchFamily="34" charset="0"/>
                <a:ea typeface="Calibri" pitchFamily="34" charset="-122"/>
                <a:cs typeface="Calibri" pitchFamily="34" charset="-120"/>
              </a:rPr>
              <a:t>Audit command centre | grain, conformity, coverage and controlled execution</a:t>
            </a:r>
            <a:endParaRPr lang="en-US" sz="850" dirty="0"/>
          </a:p>
        </p:txBody>
      </p:sp>
      <p:sp>
        <p:nvSpPr>
          <p:cNvPr id="5" name="Text 3"/>
          <p:cNvSpPr/>
          <p:nvPr/>
        </p:nvSpPr>
        <p:spPr>
          <a:xfrm>
            <a:off x="6117336" y="365760"/>
            <a:ext cx="402336" cy="237744"/>
          </a:xfrm>
          <a:prstGeom prst="rect">
            <a:avLst/>
          </a:prstGeom>
          <a:noFill/>
          <a:ln/>
        </p:spPr>
        <p:txBody>
          <a:bodyPr wrap="square" lIns="0" tIns="0" rIns="0" bIns="0" rtlCol="0" anchor="t"/>
          <a:lstStyle/>
          <a:p>
            <a:pPr algn="r" indent="0" marL="0">
              <a:buNone/>
            </a:pPr>
            <a:r>
              <a:rPr lang="en-US" sz="950" b="1" dirty="0">
                <a:solidFill>
                  <a:srgbClr val="8FC4BD"/>
                </a:solidFill>
                <a:latin typeface="Calibri" pitchFamily="34" charset="0"/>
                <a:ea typeface="Calibri" pitchFamily="34" charset="-122"/>
                <a:cs typeface="Calibri" pitchFamily="34" charset="-120"/>
              </a:rPr>
              <a:t>22</a:t>
            </a:r>
            <a:endParaRPr lang="en-US" sz="950" dirty="0"/>
          </a:p>
        </p:txBody>
      </p:sp>
      <p:sp>
        <p:nvSpPr>
          <p:cNvPr id="6" name="Shape 4"/>
          <p:cNvSpPr/>
          <p:nvPr/>
        </p:nvSpPr>
        <p:spPr>
          <a:xfrm>
            <a:off x="265176" y="11375136"/>
            <a:ext cx="6327648" cy="420624"/>
          </a:xfrm>
          <a:prstGeom prst="roundRect">
            <a:avLst>
              <a:gd name="adj" fmla="val 6522"/>
            </a:avLst>
          </a:prstGeom>
          <a:solidFill>
            <a:srgbClr val="DFF2ED"/>
          </a:solidFill>
          <a:ln w="9525">
            <a:solidFill>
              <a:srgbClr val="C8DCD7"/>
            </a:solidFill>
            <a:prstDash val="solid"/>
          </a:ln>
        </p:spPr>
      </p:sp>
      <p:sp>
        <p:nvSpPr>
          <p:cNvPr id="7" name="Text 5"/>
          <p:cNvSpPr/>
          <p:nvPr/>
        </p:nvSpPr>
        <p:spPr>
          <a:xfrm>
            <a:off x="374904"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EVIDENCE</a:t>
            </a:r>
            <a:endParaRPr lang="en-US" sz="650" dirty="0"/>
          </a:p>
        </p:txBody>
      </p:sp>
      <p:sp>
        <p:nvSpPr>
          <p:cNvPr id="8" name="Text 6"/>
          <p:cNvSpPr/>
          <p:nvPr/>
        </p:nvSpPr>
        <p:spPr>
          <a:xfrm>
            <a:off x="374904"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moved</a:t>
            </a:r>
            <a:endParaRPr lang="en-US" sz="700" dirty="0"/>
          </a:p>
        </p:txBody>
      </p:sp>
      <p:sp>
        <p:nvSpPr>
          <p:cNvPr id="9" name="Text 7"/>
          <p:cNvSpPr/>
          <p:nvPr/>
        </p:nvSpPr>
        <p:spPr>
          <a:xfrm>
            <a:off x="1901952"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IMPLICATION</a:t>
            </a:r>
            <a:endParaRPr lang="en-US" sz="650" dirty="0"/>
          </a:p>
        </p:txBody>
      </p:sp>
      <p:sp>
        <p:nvSpPr>
          <p:cNvPr id="10" name="Text 8"/>
          <p:cNvSpPr/>
          <p:nvPr/>
        </p:nvSpPr>
        <p:spPr>
          <a:xfrm>
            <a:off x="1901952"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Why it matters</a:t>
            </a:r>
            <a:endParaRPr lang="en-US" sz="700" dirty="0"/>
          </a:p>
        </p:txBody>
      </p:sp>
      <p:sp>
        <p:nvSpPr>
          <p:cNvPr id="11" name="Shape 9"/>
          <p:cNvSpPr/>
          <p:nvPr/>
        </p:nvSpPr>
        <p:spPr>
          <a:xfrm>
            <a:off x="1819656" y="11457432"/>
            <a:ext cx="0" cy="265176"/>
          </a:xfrm>
          <a:prstGeom prst="line">
            <a:avLst/>
          </a:prstGeom>
          <a:noFill/>
          <a:ln w="9525">
            <a:solidFill>
              <a:srgbClr val="C8DCD7"/>
            </a:solidFill>
            <a:prstDash val="solid"/>
          </a:ln>
        </p:spPr>
      </p:sp>
      <p:sp>
        <p:nvSpPr>
          <p:cNvPr id="12" name="Text 10"/>
          <p:cNvSpPr/>
          <p:nvPr/>
        </p:nvSpPr>
        <p:spPr>
          <a:xfrm>
            <a:off x="3429000"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ACTION</a:t>
            </a:r>
            <a:endParaRPr lang="en-US" sz="650" dirty="0"/>
          </a:p>
        </p:txBody>
      </p:sp>
      <p:sp>
        <p:nvSpPr>
          <p:cNvPr id="13" name="Text 11"/>
          <p:cNvSpPr/>
          <p:nvPr/>
        </p:nvSpPr>
        <p:spPr>
          <a:xfrm>
            <a:off x="3429000"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What changes now</a:t>
            </a:r>
            <a:endParaRPr lang="en-US" sz="700" dirty="0"/>
          </a:p>
        </p:txBody>
      </p:sp>
      <p:sp>
        <p:nvSpPr>
          <p:cNvPr id="14" name="Shape 12"/>
          <p:cNvSpPr/>
          <p:nvPr/>
        </p:nvSpPr>
        <p:spPr>
          <a:xfrm>
            <a:off x="3346704" y="11457432"/>
            <a:ext cx="0" cy="265176"/>
          </a:xfrm>
          <a:prstGeom prst="line">
            <a:avLst/>
          </a:prstGeom>
          <a:noFill/>
          <a:ln w="9525">
            <a:solidFill>
              <a:srgbClr val="C8DCD7"/>
            </a:solidFill>
            <a:prstDash val="solid"/>
          </a:ln>
        </p:spPr>
      </p:sp>
      <p:sp>
        <p:nvSpPr>
          <p:cNvPr id="15" name="Text 13"/>
          <p:cNvSpPr/>
          <p:nvPr/>
        </p:nvSpPr>
        <p:spPr>
          <a:xfrm>
            <a:off x="4956048" y="11430000"/>
            <a:ext cx="1453896" cy="146304"/>
          </a:xfrm>
          <a:prstGeom prst="rect">
            <a:avLst/>
          </a:prstGeom>
          <a:noFill/>
          <a:ln/>
        </p:spPr>
        <p:txBody>
          <a:bodyPr wrap="square" lIns="0" tIns="0" rIns="0" bIns="0" rtlCol="0" anchor="t"/>
          <a:lstStyle/>
          <a:p>
            <a:pPr indent="0" marL="0">
              <a:buNone/>
            </a:pPr>
            <a:r>
              <a:rPr lang="en-US" sz="650" b="1" spc="60" kern="0" dirty="0">
                <a:solidFill>
                  <a:srgbClr val="116F68"/>
                </a:solidFill>
                <a:latin typeface="Calibri" pitchFamily="34" charset="0"/>
                <a:ea typeface="Calibri" pitchFamily="34" charset="-122"/>
                <a:cs typeface="Calibri" pitchFamily="34" charset="-120"/>
              </a:rPr>
              <a:t>OWNER</a:t>
            </a:r>
            <a:endParaRPr lang="en-US" sz="650" dirty="0"/>
          </a:p>
        </p:txBody>
      </p:sp>
      <p:sp>
        <p:nvSpPr>
          <p:cNvPr id="16" name="Text 14"/>
          <p:cNvSpPr/>
          <p:nvPr/>
        </p:nvSpPr>
        <p:spPr>
          <a:xfrm>
            <a:off x="4956048" y="11585448"/>
            <a:ext cx="1453896" cy="164592"/>
          </a:xfrm>
          <a:prstGeom prst="rect">
            <a:avLst/>
          </a:prstGeom>
          <a:noFill/>
          <a:ln/>
        </p:spPr>
        <p:txBody>
          <a:bodyPr wrap="square" lIns="0" tIns="0" rIns="0" bIns="0" rtlCol="0" anchor="t"/>
          <a:lstStyle/>
          <a:p>
            <a:pPr indent="0" marL="0">
              <a:buNone/>
            </a:pPr>
            <a:r>
              <a:rPr lang="en-US" sz="700" dirty="0">
                <a:solidFill>
                  <a:srgbClr val="5F716E"/>
                </a:solidFill>
                <a:latin typeface="Calibri" pitchFamily="34" charset="0"/>
                <a:ea typeface="Calibri" pitchFamily="34" charset="-122"/>
                <a:cs typeface="Calibri" pitchFamily="34" charset="-120"/>
              </a:rPr>
              <a:t>Who closes it</a:t>
            </a:r>
            <a:endParaRPr lang="en-US" sz="700" dirty="0"/>
          </a:p>
        </p:txBody>
      </p:sp>
      <p:sp>
        <p:nvSpPr>
          <p:cNvPr id="17" name="Shape 15"/>
          <p:cNvSpPr/>
          <p:nvPr/>
        </p:nvSpPr>
        <p:spPr>
          <a:xfrm>
            <a:off x="4873752" y="11457432"/>
            <a:ext cx="0" cy="265176"/>
          </a:xfrm>
          <a:prstGeom prst="line">
            <a:avLst/>
          </a:prstGeom>
          <a:noFill/>
          <a:ln w="9525">
            <a:solidFill>
              <a:srgbClr val="C8DCD7"/>
            </a:solidFill>
            <a:prstDash val="solid"/>
          </a:ln>
        </p:spPr>
      </p:sp>
      <p:sp>
        <p:nvSpPr>
          <p:cNvPr id="18" name="Text 16"/>
          <p:cNvSpPr/>
          <p:nvPr/>
        </p:nvSpPr>
        <p:spPr>
          <a:xfrm>
            <a:off x="301752" y="11887200"/>
            <a:ext cx="6254496" cy="201168"/>
          </a:xfrm>
          <a:prstGeom prst="rect">
            <a:avLst/>
          </a:prstGeom>
          <a:noFill/>
          <a:ln/>
        </p:spPr>
        <p:txBody>
          <a:bodyPr wrap="square" lIns="0" tIns="0" rIns="0" bIns="0" rtlCol="0" anchor="t"/>
          <a:lstStyle/>
          <a:p>
            <a:pPr algn="ctr" indent="0" marL="0">
              <a:buNone/>
            </a:pPr>
            <a:r>
              <a:rPr lang="en-US" sz="650" dirty="0">
                <a:solidFill>
                  <a:srgbClr val="5F716E"/>
                </a:solidFill>
                <a:latin typeface="Calibri" pitchFamily="34" charset="0"/>
                <a:ea typeface="Calibri" pitchFamily="34" charset="-122"/>
                <a:cs typeface="Calibri" pitchFamily="34" charset="-120"/>
              </a:rPr>
              <a:t>July Compiled Offtake (Sheet1) · July'26 primary and distributor secondary · values in ₹ Cr · Zone performance represents Modern Trade accounts only. eB2B and SIS channels are excluded from MT zone sales and reported separately.</a:t>
            </a:r>
            <a:endParaRPr lang="en-US" sz="650" dirty="0"/>
          </a:p>
        </p:txBody>
      </p:sp>
      <p:sp>
        <p:nvSpPr>
          <p:cNvPr id="19" name="Shape 17"/>
          <p:cNvSpPr/>
          <p:nvPr/>
        </p:nvSpPr>
        <p:spPr>
          <a:xfrm>
            <a:off x="265176" y="1261872"/>
            <a:ext cx="6327648" cy="786384"/>
          </a:xfrm>
          <a:prstGeom prst="roundRect">
            <a:avLst>
              <a:gd name="adj" fmla="val 3488"/>
            </a:avLst>
          </a:prstGeom>
          <a:solidFill>
            <a:srgbClr val="DFF2ED"/>
          </a:solidFill>
          <a:ln w="12700">
            <a:solidFill>
              <a:srgbClr val="28A596"/>
            </a:solidFill>
            <a:prstDash val="solid"/>
          </a:ln>
        </p:spPr>
      </p:sp>
      <p:sp>
        <p:nvSpPr>
          <p:cNvPr id="20" name="Text 18"/>
          <p:cNvSpPr/>
          <p:nvPr/>
        </p:nvSpPr>
        <p:spPr>
          <a:xfrm>
            <a:off x="429768" y="1353312"/>
            <a:ext cx="5998464" cy="329184"/>
          </a:xfrm>
          <a:prstGeom prst="rect">
            <a:avLst/>
          </a:prstGeom>
          <a:noFill/>
          <a:ln/>
        </p:spPr>
        <p:txBody>
          <a:bodyPr wrap="square" lIns="0" tIns="0" rIns="0" bIns="0" rtlCol="0" anchor="ctr"/>
          <a:lstStyle/>
          <a:p>
            <a:pPr algn="ctr" indent="0" marL="0">
              <a:buNone/>
            </a:pPr>
            <a:r>
              <a:rPr lang="en-US" sz="950" b="1" dirty="0">
                <a:solidFill>
                  <a:srgbClr val="116F68"/>
                </a:solidFill>
                <a:latin typeface="Calibri Light" pitchFamily="34" charset="0"/>
                <a:ea typeface="Calibri Light" pitchFamily="34" charset="-122"/>
                <a:cs typeface="Calibri Light" pitchFamily="34" charset="-120"/>
              </a:rPr>
              <a:t>Use this pack to prioritise investigation and owner action — not to infer inventory, causality or autonomous execution.</a:t>
            </a:r>
            <a:endParaRPr lang="en-US" sz="950" dirty="0"/>
          </a:p>
        </p:txBody>
      </p:sp>
      <p:sp>
        <p:nvSpPr>
          <p:cNvPr id="21" name="Text 19"/>
          <p:cNvSpPr/>
          <p:nvPr/>
        </p:nvSpPr>
        <p:spPr>
          <a:xfrm>
            <a:off x="429768" y="1719072"/>
            <a:ext cx="5998464" cy="219456"/>
          </a:xfrm>
          <a:prstGeom prst="rect">
            <a:avLst/>
          </a:prstGeom>
          <a:noFill/>
          <a:ln/>
        </p:spPr>
        <p:txBody>
          <a:bodyPr wrap="square" lIns="0" tIns="0" rIns="0" bIns="0" rtlCol="0" anchor="t"/>
          <a:lstStyle/>
          <a:p>
            <a:pPr algn="ctr" indent="0" marL="0">
              <a:buNone/>
            </a:pPr>
            <a:r>
              <a:rPr lang="en-US" sz="720" dirty="0">
                <a:solidFill>
                  <a:srgbClr val="5F716E"/>
                </a:solidFill>
                <a:latin typeface="Calibri" pitchFamily="34" charset="0"/>
                <a:ea typeface="Calibri" pitchFamily="34" charset="-122"/>
                <a:cs typeface="Calibri" pitchFamily="34" charset="-120"/>
              </a:rPr>
              <a:t>Every consequential commercial change remains subject to named human approval.</a:t>
            </a:r>
            <a:endParaRPr lang="en-US" sz="720" dirty="0"/>
          </a:p>
        </p:txBody>
      </p:sp>
      <p:sp>
        <p:nvSpPr>
          <p:cNvPr id="22" name="Shape 20"/>
          <p:cNvSpPr/>
          <p:nvPr/>
        </p:nvSpPr>
        <p:spPr>
          <a:xfrm>
            <a:off x="265176" y="2194560"/>
            <a:ext cx="6327648" cy="256032"/>
          </a:xfrm>
          <a:prstGeom prst="rect">
            <a:avLst/>
          </a:prstGeom>
          <a:solidFill>
            <a:srgbClr val="D6544D"/>
          </a:solidFill>
          <a:ln/>
        </p:spPr>
      </p:sp>
      <p:sp>
        <p:nvSpPr>
          <p:cNvPr id="23" name="Text 21"/>
          <p:cNvSpPr/>
          <p:nvPr/>
        </p:nvSpPr>
        <p:spPr>
          <a:xfrm>
            <a:off x="374904" y="2212848"/>
            <a:ext cx="6108192" cy="219456"/>
          </a:xfrm>
          <a:prstGeom prst="rect">
            <a:avLst/>
          </a:prstGeom>
          <a:noFill/>
          <a:ln/>
        </p:spPr>
        <p:txBody>
          <a:bodyPr wrap="square" lIns="0" tIns="0" rIns="0" bIns="0" rtlCol="0" anchor="ctr"/>
          <a:lstStyle/>
          <a:p>
            <a:pPr indent="0" marL="0">
              <a:buNone/>
            </a:pPr>
            <a:r>
              <a:rPr lang="en-US" sz="720" b="1" spc="60" kern="0" dirty="0">
                <a:solidFill>
                  <a:srgbClr val="FFFFFF"/>
                </a:solidFill>
                <a:latin typeface="Calibri" pitchFamily="34" charset="0"/>
                <a:ea typeface="Calibri" pitchFamily="34" charset="-122"/>
                <a:cs typeface="Calibri" pitchFamily="34" charset="-120"/>
              </a:rPr>
              <a:t>THE GRAIN — ONE STATED BASE, NO NETTING</a:t>
            </a:r>
            <a:endParaRPr lang="en-US" sz="720" dirty="0"/>
          </a:p>
        </p:txBody>
      </p:sp>
      <p:sp>
        <p:nvSpPr>
          <p:cNvPr id="24" name="Shape 22"/>
          <p:cNvSpPr/>
          <p:nvPr/>
        </p:nvSpPr>
        <p:spPr>
          <a:xfrm>
            <a:off x="265176" y="2542032"/>
            <a:ext cx="6327648" cy="256032"/>
          </a:xfrm>
          <a:prstGeom prst="rect">
            <a:avLst/>
          </a:prstGeom>
          <a:solidFill>
            <a:srgbClr val="116F68"/>
          </a:solidFill>
          <a:ln/>
        </p:spPr>
      </p:sp>
      <p:sp>
        <p:nvSpPr>
          <p:cNvPr id="25" name="Text 23"/>
          <p:cNvSpPr/>
          <p:nvPr/>
        </p:nvSpPr>
        <p:spPr>
          <a:xfrm>
            <a:off x="320040" y="2560320"/>
            <a:ext cx="1638701"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MEASURE</a:t>
            </a:r>
            <a:endParaRPr lang="en-US" sz="660" dirty="0"/>
          </a:p>
        </p:txBody>
      </p:sp>
      <p:sp>
        <p:nvSpPr>
          <p:cNvPr id="26" name="Text 24"/>
          <p:cNvSpPr/>
          <p:nvPr/>
        </p:nvSpPr>
        <p:spPr>
          <a:xfrm>
            <a:off x="2068469" y="2560320"/>
            <a:ext cx="806116" cy="219456"/>
          </a:xfrm>
          <a:prstGeom prst="rect">
            <a:avLst/>
          </a:prstGeom>
          <a:noFill/>
          <a:ln/>
        </p:spPr>
        <p:txBody>
          <a:bodyPr wrap="square" lIns="0" tIns="0" rIns="0" bIns="0" rtlCol="0" anchor="ctr"/>
          <a:lstStyle/>
          <a:p>
            <a:pPr algn="r" indent="0" marL="0">
              <a:buNone/>
            </a:pPr>
            <a:r>
              <a:rPr lang="en-US" sz="660" b="1" spc="40" kern="0" dirty="0">
                <a:solidFill>
                  <a:srgbClr val="FFFFFF"/>
                </a:solidFill>
                <a:latin typeface="Calibri" pitchFamily="34" charset="0"/>
                <a:ea typeface="Calibri" pitchFamily="34" charset="-122"/>
                <a:cs typeface="Calibri" pitchFamily="34" charset="-120"/>
              </a:rPr>
              <a:t>VALUE</a:t>
            </a:r>
            <a:endParaRPr lang="en-US" sz="660" dirty="0"/>
          </a:p>
        </p:txBody>
      </p:sp>
      <p:sp>
        <p:nvSpPr>
          <p:cNvPr id="27" name="Text 25"/>
          <p:cNvSpPr/>
          <p:nvPr/>
        </p:nvSpPr>
        <p:spPr>
          <a:xfrm>
            <a:off x="2984313" y="2560320"/>
            <a:ext cx="1472184"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GRAIN</a:t>
            </a:r>
            <a:endParaRPr lang="en-US" sz="660" dirty="0"/>
          </a:p>
        </p:txBody>
      </p:sp>
      <p:sp>
        <p:nvSpPr>
          <p:cNvPr id="28" name="Text 26"/>
          <p:cNvSpPr/>
          <p:nvPr/>
        </p:nvSpPr>
        <p:spPr>
          <a:xfrm>
            <a:off x="4566225" y="2560320"/>
            <a:ext cx="1971735" cy="219456"/>
          </a:xfrm>
          <a:prstGeom prst="rect">
            <a:avLst/>
          </a:prstGeom>
          <a:noFill/>
          <a:ln/>
        </p:spPr>
        <p:txBody>
          <a:bodyPr wrap="square" lIns="0" tIns="0" rIns="0" bIns="0" rtlCol="0" anchor="ctr"/>
          <a:lstStyle/>
          <a:p>
            <a:pPr algn="l" indent="0" marL="0">
              <a:buNone/>
            </a:pPr>
            <a:r>
              <a:rPr lang="en-US" sz="660" b="1" spc="40" kern="0" dirty="0">
                <a:solidFill>
                  <a:srgbClr val="FFFFFF"/>
                </a:solidFill>
                <a:latin typeface="Calibri" pitchFamily="34" charset="0"/>
                <a:ea typeface="Calibri" pitchFamily="34" charset="-122"/>
                <a:cs typeface="Calibri" pitchFamily="34" charset="-120"/>
              </a:rPr>
              <a:t>RULE</a:t>
            </a:r>
            <a:endParaRPr lang="en-US" sz="660" dirty="0"/>
          </a:p>
        </p:txBody>
      </p:sp>
      <p:sp>
        <p:nvSpPr>
          <p:cNvPr id="29" name="Shape 27"/>
          <p:cNvSpPr/>
          <p:nvPr/>
        </p:nvSpPr>
        <p:spPr>
          <a:xfrm>
            <a:off x="265176" y="2798064"/>
            <a:ext cx="6327648" cy="310896"/>
          </a:xfrm>
          <a:prstGeom prst="rect">
            <a:avLst/>
          </a:prstGeom>
          <a:solidFill>
            <a:srgbClr val="F4F9F8"/>
          </a:solidFill>
          <a:ln/>
        </p:spPr>
      </p:sp>
      <p:sp>
        <p:nvSpPr>
          <p:cNvPr id="30" name="Shape 28"/>
          <p:cNvSpPr/>
          <p:nvPr/>
        </p:nvSpPr>
        <p:spPr>
          <a:xfrm>
            <a:off x="265176" y="3108960"/>
            <a:ext cx="6327648" cy="0"/>
          </a:xfrm>
          <a:prstGeom prst="line">
            <a:avLst/>
          </a:prstGeom>
          <a:noFill/>
          <a:ln w="6350">
            <a:solidFill>
              <a:srgbClr val="C8DCD7"/>
            </a:solidFill>
            <a:prstDash val="solid"/>
          </a:ln>
        </p:spPr>
      </p:sp>
      <p:sp>
        <p:nvSpPr>
          <p:cNvPr id="31" name="Text 29"/>
          <p:cNvSpPr/>
          <p:nvPr/>
        </p:nvSpPr>
        <p:spPr>
          <a:xfrm>
            <a:off x="320040" y="279806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Primary</a:t>
            </a:r>
            <a:endParaRPr lang="en-US" sz="720" dirty="0"/>
          </a:p>
        </p:txBody>
      </p:sp>
      <p:sp>
        <p:nvSpPr>
          <p:cNvPr id="32" name="Text 30"/>
          <p:cNvSpPr/>
          <p:nvPr/>
        </p:nvSpPr>
        <p:spPr>
          <a:xfrm>
            <a:off x="2068469" y="279806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₹49.21 Cr</a:t>
            </a:r>
            <a:endParaRPr lang="en-US" sz="720" dirty="0"/>
          </a:p>
        </p:txBody>
      </p:sp>
      <p:sp>
        <p:nvSpPr>
          <p:cNvPr id="33" name="Text 31"/>
          <p:cNvSpPr/>
          <p:nvPr/>
        </p:nvSpPr>
        <p:spPr>
          <a:xfrm>
            <a:off x="2984313" y="279806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invoice net value, zone</a:t>
            </a:r>
            <a:endParaRPr lang="en-US" sz="720" dirty="0"/>
          </a:p>
        </p:txBody>
      </p:sp>
      <p:sp>
        <p:nvSpPr>
          <p:cNvPr id="34" name="Text 32"/>
          <p:cNvSpPr/>
          <p:nvPr/>
        </p:nvSpPr>
        <p:spPr>
          <a:xfrm>
            <a:off x="4566225" y="279806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July primary sheet, converted to ₹ Cr</a:t>
            </a:r>
            <a:endParaRPr lang="en-US" sz="720" dirty="0"/>
          </a:p>
        </p:txBody>
      </p:sp>
      <p:sp>
        <p:nvSpPr>
          <p:cNvPr id="35" name="Shape 33"/>
          <p:cNvSpPr/>
          <p:nvPr/>
        </p:nvSpPr>
        <p:spPr>
          <a:xfrm>
            <a:off x="265176" y="3419856"/>
            <a:ext cx="6327648" cy="0"/>
          </a:xfrm>
          <a:prstGeom prst="line">
            <a:avLst/>
          </a:prstGeom>
          <a:noFill/>
          <a:ln w="6350">
            <a:solidFill>
              <a:srgbClr val="C8DCD7"/>
            </a:solidFill>
            <a:prstDash val="solid"/>
          </a:ln>
        </p:spPr>
      </p:sp>
      <p:sp>
        <p:nvSpPr>
          <p:cNvPr id="36" name="Text 34"/>
          <p:cNvSpPr/>
          <p:nvPr/>
        </p:nvSpPr>
        <p:spPr>
          <a:xfrm>
            <a:off x="320040" y="3108960"/>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Offtake</a:t>
            </a:r>
            <a:endParaRPr lang="en-US" sz="720" dirty="0"/>
          </a:p>
        </p:txBody>
      </p:sp>
      <p:sp>
        <p:nvSpPr>
          <p:cNvPr id="37" name="Text 35"/>
          <p:cNvSpPr/>
          <p:nvPr/>
        </p:nvSpPr>
        <p:spPr>
          <a:xfrm>
            <a:off x="2068469" y="3108960"/>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₹36.10 Cr</a:t>
            </a:r>
            <a:endParaRPr lang="en-US" sz="720" dirty="0"/>
          </a:p>
        </p:txBody>
      </p:sp>
      <p:sp>
        <p:nvSpPr>
          <p:cNvPr id="38" name="Text 36"/>
          <p:cNvSpPr/>
          <p:nvPr/>
        </p:nvSpPr>
        <p:spPr>
          <a:xfrm>
            <a:off x="2984313" y="3108960"/>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transaction NSV, store</a:t>
            </a:r>
            <a:endParaRPr lang="en-US" sz="720" dirty="0"/>
          </a:p>
        </p:txBody>
      </p:sp>
      <p:sp>
        <p:nvSpPr>
          <p:cNvPr id="39" name="Text 37"/>
          <p:cNvSpPr/>
          <p:nvPr/>
        </p:nvSpPr>
        <p:spPr>
          <a:xfrm>
            <a:off x="4566225" y="3108960"/>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Consumer-facing flow measure</a:t>
            </a:r>
            <a:endParaRPr lang="en-US" sz="720" dirty="0"/>
          </a:p>
        </p:txBody>
      </p:sp>
      <p:sp>
        <p:nvSpPr>
          <p:cNvPr id="40" name="Shape 38"/>
          <p:cNvSpPr/>
          <p:nvPr/>
        </p:nvSpPr>
        <p:spPr>
          <a:xfrm>
            <a:off x="265176" y="3419856"/>
            <a:ext cx="6327648" cy="310896"/>
          </a:xfrm>
          <a:prstGeom prst="rect">
            <a:avLst/>
          </a:prstGeom>
          <a:solidFill>
            <a:srgbClr val="F4F9F8"/>
          </a:solidFill>
          <a:ln/>
        </p:spPr>
      </p:sp>
      <p:sp>
        <p:nvSpPr>
          <p:cNvPr id="41" name="Shape 39"/>
          <p:cNvSpPr/>
          <p:nvPr/>
        </p:nvSpPr>
        <p:spPr>
          <a:xfrm>
            <a:off x="265176" y="3730752"/>
            <a:ext cx="6327648" cy="0"/>
          </a:xfrm>
          <a:prstGeom prst="line">
            <a:avLst/>
          </a:prstGeom>
          <a:noFill/>
          <a:ln w="6350">
            <a:solidFill>
              <a:srgbClr val="C8DCD7"/>
            </a:solidFill>
            <a:prstDash val="solid"/>
          </a:ln>
        </p:spPr>
      </p:sp>
      <p:sp>
        <p:nvSpPr>
          <p:cNvPr id="42" name="Text 40"/>
          <p:cNvSpPr/>
          <p:nvPr/>
        </p:nvSpPr>
        <p:spPr>
          <a:xfrm>
            <a:off x="320040" y="3419856"/>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positive gap</a:t>
            </a:r>
            <a:endParaRPr lang="en-US" sz="720" dirty="0"/>
          </a:p>
        </p:txBody>
      </p:sp>
      <p:sp>
        <p:nvSpPr>
          <p:cNvPr id="43" name="Text 41"/>
          <p:cNvSpPr/>
          <p:nvPr/>
        </p:nvSpPr>
        <p:spPr>
          <a:xfrm>
            <a:off x="2068469" y="3419856"/>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₹13.27 Cr</a:t>
            </a:r>
            <a:endParaRPr lang="en-US" sz="720" dirty="0"/>
          </a:p>
        </p:txBody>
      </p:sp>
      <p:sp>
        <p:nvSpPr>
          <p:cNvPr id="44" name="Text 42"/>
          <p:cNvSpPr/>
          <p:nvPr/>
        </p:nvSpPr>
        <p:spPr>
          <a:xfrm>
            <a:off x="2984313" y="3419856"/>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mapped only</a:t>
            </a:r>
            <a:endParaRPr lang="en-US" sz="720" dirty="0"/>
          </a:p>
        </p:txBody>
      </p:sp>
      <p:sp>
        <p:nvSpPr>
          <p:cNvPr id="45" name="Text 43"/>
          <p:cNvSpPr/>
          <p:nvPr/>
        </p:nvSpPr>
        <p:spPr>
          <a:xfrm>
            <a:off x="4566225" y="3419856"/>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Billed and unsold — the recoverable pool</a:t>
            </a:r>
            <a:endParaRPr lang="en-US" sz="720" dirty="0"/>
          </a:p>
        </p:txBody>
      </p:sp>
      <p:sp>
        <p:nvSpPr>
          <p:cNvPr id="46" name="Shape 44"/>
          <p:cNvSpPr/>
          <p:nvPr/>
        </p:nvSpPr>
        <p:spPr>
          <a:xfrm>
            <a:off x="265176" y="4041648"/>
            <a:ext cx="6327648" cy="0"/>
          </a:xfrm>
          <a:prstGeom prst="line">
            <a:avLst/>
          </a:prstGeom>
          <a:noFill/>
          <a:ln w="6350">
            <a:solidFill>
              <a:srgbClr val="C8DCD7"/>
            </a:solidFill>
            <a:prstDash val="solid"/>
          </a:ln>
        </p:spPr>
      </p:sp>
      <p:sp>
        <p:nvSpPr>
          <p:cNvPr id="47" name="Text 45"/>
          <p:cNvSpPr/>
          <p:nvPr/>
        </p:nvSpPr>
        <p:spPr>
          <a:xfrm>
            <a:off x="320040" y="3730752"/>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Gross negative gap</a:t>
            </a:r>
            <a:endParaRPr lang="en-US" sz="720" dirty="0"/>
          </a:p>
        </p:txBody>
      </p:sp>
      <p:sp>
        <p:nvSpPr>
          <p:cNvPr id="48" name="Text 46"/>
          <p:cNvSpPr/>
          <p:nvPr/>
        </p:nvSpPr>
        <p:spPr>
          <a:xfrm>
            <a:off x="2068469" y="3730752"/>
            <a:ext cx="806116" cy="310896"/>
          </a:xfrm>
          <a:prstGeom prst="rect">
            <a:avLst/>
          </a:prstGeom>
          <a:noFill/>
          <a:ln/>
        </p:spPr>
        <p:txBody>
          <a:bodyPr wrap="square" lIns="0" tIns="0" rIns="0" bIns="0" rtlCol="0" anchor="ctr"/>
          <a:lstStyle/>
          <a:p>
            <a:pPr algn="r" indent="0" marL="0">
              <a:buNone/>
            </a:pPr>
            <a:r>
              <a:rPr lang="en-US" sz="720" b="1" dirty="0">
                <a:solidFill>
                  <a:srgbClr val="F2B84B"/>
                </a:solidFill>
                <a:latin typeface="Calibri" pitchFamily="34" charset="0"/>
                <a:ea typeface="Calibri" pitchFamily="34" charset="-122"/>
                <a:cs typeface="Calibri" pitchFamily="34" charset="-120"/>
              </a:rPr>
              <a:t>₹2.23 Cr</a:t>
            </a:r>
            <a:endParaRPr lang="en-US" sz="720" dirty="0"/>
          </a:p>
        </p:txBody>
      </p:sp>
      <p:sp>
        <p:nvSpPr>
          <p:cNvPr id="49" name="Text 47"/>
          <p:cNvSpPr/>
          <p:nvPr/>
        </p:nvSpPr>
        <p:spPr>
          <a:xfrm>
            <a:off x="2984313" y="3730752"/>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chain, unmapped primary</a:t>
            </a:r>
            <a:endParaRPr lang="en-US" sz="720" dirty="0"/>
          </a:p>
        </p:txBody>
      </p:sp>
      <p:sp>
        <p:nvSpPr>
          <p:cNvPr id="50" name="Text 48"/>
          <p:cNvSpPr/>
          <p:nvPr/>
        </p:nvSpPr>
        <p:spPr>
          <a:xfrm>
            <a:off x="4566225" y="3730752"/>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A join defect — never netted against the pool</a:t>
            </a:r>
            <a:endParaRPr lang="en-US" sz="720" dirty="0"/>
          </a:p>
        </p:txBody>
      </p:sp>
      <p:sp>
        <p:nvSpPr>
          <p:cNvPr id="51" name="Shape 49"/>
          <p:cNvSpPr/>
          <p:nvPr/>
        </p:nvSpPr>
        <p:spPr>
          <a:xfrm>
            <a:off x="265176" y="4041648"/>
            <a:ext cx="6327648" cy="310896"/>
          </a:xfrm>
          <a:prstGeom prst="rect">
            <a:avLst/>
          </a:prstGeom>
          <a:solidFill>
            <a:srgbClr val="F4F9F8"/>
          </a:solidFill>
          <a:ln/>
        </p:spPr>
      </p:sp>
      <p:sp>
        <p:nvSpPr>
          <p:cNvPr id="52" name="Shape 50"/>
          <p:cNvSpPr/>
          <p:nvPr/>
        </p:nvSpPr>
        <p:spPr>
          <a:xfrm>
            <a:off x="265176" y="4352544"/>
            <a:ext cx="6327648" cy="0"/>
          </a:xfrm>
          <a:prstGeom prst="line">
            <a:avLst/>
          </a:prstGeom>
          <a:noFill/>
          <a:ln w="6350">
            <a:solidFill>
              <a:srgbClr val="C8DCD7"/>
            </a:solidFill>
            <a:prstDash val="solid"/>
          </a:ln>
        </p:spPr>
      </p:sp>
      <p:sp>
        <p:nvSpPr>
          <p:cNvPr id="53" name="Text 51"/>
          <p:cNvSpPr/>
          <p:nvPr/>
        </p:nvSpPr>
        <p:spPr>
          <a:xfrm>
            <a:off x="320040" y="4041648"/>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Zone gap, summed</a:t>
            </a:r>
            <a:endParaRPr lang="en-US" sz="720" dirty="0"/>
          </a:p>
        </p:txBody>
      </p:sp>
      <p:sp>
        <p:nvSpPr>
          <p:cNvPr id="54" name="Text 52"/>
          <p:cNvSpPr/>
          <p:nvPr/>
        </p:nvSpPr>
        <p:spPr>
          <a:xfrm>
            <a:off x="2068469" y="4041648"/>
            <a:ext cx="806116" cy="310896"/>
          </a:xfrm>
          <a:prstGeom prst="rect">
            <a:avLst/>
          </a:prstGeom>
          <a:noFill/>
          <a:ln/>
        </p:spPr>
        <p:txBody>
          <a:bodyPr wrap="square" lIns="0" tIns="0" rIns="0" bIns="0" rtlCol="0" anchor="ctr"/>
          <a:lstStyle/>
          <a:p>
            <a:pPr algn="r" indent="0" marL="0">
              <a:buNone/>
            </a:pPr>
            <a:r>
              <a:rPr lang="en-US" sz="720" b="1" dirty="0">
                <a:solidFill>
                  <a:srgbClr val="D6544D"/>
                </a:solidFill>
                <a:latin typeface="Calibri" pitchFamily="34" charset="0"/>
                <a:ea typeface="Calibri" pitchFamily="34" charset="-122"/>
                <a:cs typeface="Calibri" pitchFamily="34" charset="-120"/>
              </a:rPr>
              <a:t>₹13.06 Cr</a:t>
            </a:r>
            <a:endParaRPr lang="en-US" sz="720" dirty="0"/>
          </a:p>
        </p:txBody>
      </p:sp>
      <p:sp>
        <p:nvSpPr>
          <p:cNvPr id="55" name="Text 53"/>
          <p:cNvSpPr/>
          <p:nvPr/>
        </p:nvSpPr>
        <p:spPr>
          <a:xfrm>
            <a:off x="2984313" y="4041648"/>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six geographic zones</a:t>
            </a:r>
            <a:endParaRPr lang="en-US" sz="720" dirty="0"/>
          </a:p>
        </p:txBody>
      </p:sp>
      <p:sp>
        <p:nvSpPr>
          <p:cNvPr id="56" name="Text 54"/>
          <p:cNvSpPr/>
          <p:nvPr/>
        </p:nvSpPr>
        <p:spPr>
          <a:xfrm>
            <a:off x="4566225" y="4041648"/>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Excludes Pan India, which has no primary</a:t>
            </a:r>
            <a:endParaRPr lang="en-US" sz="720" dirty="0"/>
          </a:p>
        </p:txBody>
      </p:sp>
      <p:sp>
        <p:nvSpPr>
          <p:cNvPr id="57" name="Shape 55"/>
          <p:cNvSpPr/>
          <p:nvPr/>
        </p:nvSpPr>
        <p:spPr>
          <a:xfrm>
            <a:off x="265176" y="4663440"/>
            <a:ext cx="6327648" cy="0"/>
          </a:xfrm>
          <a:prstGeom prst="line">
            <a:avLst/>
          </a:prstGeom>
          <a:noFill/>
          <a:ln w="6350">
            <a:solidFill>
              <a:srgbClr val="C8DCD7"/>
            </a:solidFill>
            <a:prstDash val="solid"/>
          </a:ln>
        </p:spPr>
      </p:sp>
      <p:sp>
        <p:nvSpPr>
          <p:cNvPr id="58" name="Text 56"/>
          <p:cNvSpPr/>
          <p:nvPr/>
        </p:nvSpPr>
        <p:spPr>
          <a:xfrm>
            <a:off x="320040" y="4352544"/>
            <a:ext cx="1638701" cy="310896"/>
          </a:xfrm>
          <a:prstGeom prst="rect">
            <a:avLst/>
          </a:prstGeom>
          <a:noFill/>
          <a:ln/>
        </p:spPr>
        <p:txBody>
          <a:bodyPr wrap="square" lIns="0" tIns="0" rIns="0" bIns="0" rtlCol="0" anchor="ctr"/>
          <a:lstStyle/>
          <a:p>
            <a:pPr algn="l" indent="0" marL="0">
              <a:buNone/>
            </a:pPr>
            <a:r>
              <a:rPr lang="en-US" sz="720" b="1" dirty="0">
                <a:solidFill>
                  <a:srgbClr val="183B39"/>
                </a:solidFill>
                <a:latin typeface="Calibri" pitchFamily="34" charset="0"/>
                <a:ea typeface="Calibri" pitchFamily="34" charset="-122"/>
                <a:cs typeface="Calibri" pitchFamily="34" charset="-120"/>
              </a:rPr>
              <a:t>Flow conversion</a:t>
            </a:r>
            <a:endParaRPr lang="en-US" sz="720" dirty="0"/>
          </a:p>
        </p:txBody>
      </p:sp>
      <p:sp>
        <p:nvSpPr>
          <p:cNvPr id="59" name="Text 57"/>
          <p:cNvSpPr/>
          <p:nvPr/>
        </p:nvSpPr>
        <p:spPr>
          <a:xfrm>
            <a:off x="2068469" y="4352544"/>
            <a:ext cx="806116" cy="310896"/>
          </a:xfrm>
          <a:prstGeom prst="rect">
            <a:avLst/>
          </a:prstGeom>
          <a:noFill/>
          <a:ln/>
        </p:spPr>
        <p:txBody>
          <a:bodyPr wrap="square" lIns="0" tIns="0" rIns="0" bIns="0" rtlCol="0" anchor="ctr"/>
          <a:lstStyle/>
          <a:p>
            <a:pPr algn="r" indent="0" marL="0">
              <a:buNone/>
            </a:pPr>
            <a:r>
              <a:rPr lang="en-US" sz="720" dirty="0">
                <a:solidFill>
                  <a:srgbClr val="183B39"/>
                </a:solidFill>
                <a:latin typeface="Calibri" pitchFamily="34" charset="0"/>
                <a:ea typeface="Calibri" pitchFamily="34" charset="-122"/>
                <a:cs typeface="Calibri" pitchFamily="34" charset="-120"/>
              </a:rPr>
              <a:t>73.4%</a:t>
            </a:r>
            <a:endParaRPr lang="en-US" sz="720" dirty="0"/>
          </a:p>
        </p:txBody>
      </p:sp>
      <p:sp>
        <p:nvSpPr>
          <p:cNvPr id="60" name="Text 58"/>
          <p:cNvSpPr/>
          <p:nvPr/>
        </p:nvSpPr>
        <p:spPr>
          <a:xfrm>
            <a:off x="2984313" y="4352544"/>
            <a:ext cx="1472184"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non-additive ratio</a:t>
            </a:r>
            <a:endParaRPr lang="en-US" sz="720" dirty="0"/>
          </a:p>
        </p:txBody>
      </p:sp>
      <p:sp>
        <p:nvSpPr>
          <p:cNvPr id="61" name="Text 59"/>
          <p:cNvSpPr/>
          <p:nvPr/>
        </p:nvSpPr>
        <p:spPr>
          <a:xfrm>
            <a:off x="4566225" y="4352544"/>
            <a:ext cx="1971735" cy="310896"/>
          </a:xfrm>
          <a:prstGeom prst="rect">
            <a:avLst/>
          </a:prstGeom>
          <a:noFill/>
          <a:ln/>
        </p:spPr>
        <p:txBody>
          <a:bodyPr wrap="square" lIns="0" tIns="0" rIns="0" bIns="0" rtlCol="0" anchor="ctr"/>
          <a:lstStyle/>
          <a:p>
            <a:pPr algn="l" indent="0" marL="0">
              <a:buNone/>
            </a:pPr>
            <a:r>
              <a:rPr lang="en-US" sz="720" dirty="0">
                <a:solidFill>
                  <a:srgbClr val="183B39"/>
                </a:solidFill>
                <a:latin typeface="Calibri" pitchFamily="34" charset="0"/>
                <a:ea typeface="Calibri" pitchFamily="34" charset="-122"/>
                <a:cs typeface="Calibri" pitchFamily="34" charset="-120"/>
              </a:rPr>
              <a:t>Recompute from sums — never average zones</a:t>
            </a:r>
            <a:endParaRPr lang="en-US" sz="720" dirty="0"/>
          </a:p>
        </p:txBody>
      </p:sp>
      <p:sp>
        <p:nvSpPr>
          <p:cNvPr id="62" name="Shape 60"/>
          <p:cNvSpPr/>
          <p:nvPr/>
        </p:nvSpPr>
        <p:spPr>
          <a:xfrm>
            <a:off x="265176" y="4828032"/>
            <a:ext cx="2036064" cy="2395728"/>
          </a:xfrm>
          <a:prstGeom prst="roundRect">
            <a:avLst>
              <a:gd name="adj" fmla="val 898"/>
            </a:avLst>
          </a:prstGeom>
          <a:solidFill>
            <a:srgbClr val="FFFFFF"/>
          </a:solidFill>
          <a:ln w="9525">
            <a:solidFill>
              <a:srgbClr val="C8DCD7"/>
            </a:solidFill>
            <a:prstDash val="solid"/>
          </a:ln>
        </p:spPr>
      </p:sp>
      <p:sp>
        <p:nvSpPr>
          <p:cNvPr id="63" name="Shape 61"/>
          <p:cNvSpPr/>
          <p:nvPr/>
        </p:nvSpPr>
        <p:spPr>
          <a:xfrm>
            <a:off x="265176" y="4828032"/>
            <a:ext cx="2036064" cy="274320"/>
          </a:xfrm>
          <a:prstGeom prst="rect">
            <a:avLst/>
          </a:prstGeom>
          <a:solidFill>
            <a:srgbClr val="D6544D"/>
          </a:solidFill>
          <a:ln/>
        </p:spPr>
      </p:sp>
      <p:sp>
        <p:nvSpPr>
          <p:cNvPr id="64" name="Text 62"/>
          <p:cNvSpPr/>
          <p:nvPr/>
        </p:nvSpPr>
        <p:spPr>
          <a:xfrm>
            <a:off x="347472"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CONFORMED DIMENSIONS</a:t>
            </a:r>
            <a:endParaRPr lang="en-US" sz="700" dirty="0"/>
          </a:p>
        </p:txBody>
      </p:sp>
      <p:sp>
        <p:nvSpPr>
          <p:cNvPr id="65" name="Text 63"/>
          <p:cNvSpPr/>
          <p:nvPr/>
        </p:nvSpPr>
        <p:spPr>
          <a:xfrm>
            <a:off x="356616" y="5193792"/>
            <a:ext cx="1853184" cy="310896"/>
          </a:xfrm>
          <a:prstGeom prst="rect">
            <a:avLst/>
          </a:prstGeom>
          <a:noFill/>
          <a:ln/>
        </p:spPr>
        <p:txBody>
          <a:bodyPr wrap="square" lIns="0" tIns="0" rIns="0" bIns="0" rtlCol="0" anchor="ctr"/>
          <a:lstStyle/>
          <a:p>
            <a:pPr algn="ctr" indent="0" marL="0">
              <a:buNone/>
            </a:pPr>
            <a:r>
              <a:rPr lang="en-US" sz="1300" b="1" dirty="0">
                <a:solidFill>
                  <a:srgbClr val="D6544D"/>
                </a:solidFill>
                <a:latin typeface="Calibri Light" pitchFamily="34" charset="0"/>
                <a:ea typeface="Calibri Light" pitchFamily="34" charset="-122"/>
                <a:cs typeface="Calibri Light" pitchFamily="34" charset="-120"/>
              </a:rPr>
              <a:t>3 breaks</a:t>
            </a:r>
            <a:endParaRPr lang="en-US" sz="1300" dirty="0"/>
          </a:p>
        </p:txBody>
      </p:sp>
      <p:sp>
        <p:nvSpPr>
          <p:cNvPr id="66" name="Shape 64"/>
          <p:cNvSpPr/>
          <p:nvPr/>
        </p:nvSpPr>
        <p:spPr>
          <a:xfrm>
            <a:off x="374904" y="5628132"/>
            <a:ext cx="50292" cy="50292"/>
          </a:xfrm>
          <a:prstGeom prst="ellipse">
            <a:avLst/>
          </a:prstGeom>
          <a:solidFill>
            <a:srgbClr val="D6544D"/>
          </a:solidFill>
          <a:ln/>
        </p:spPr>
      </p:sp>
      <p:sp>
        <p:nvSpPr>
          <p:cNvPr id="67" name="Text 65"/>
          <p:cNvSpPr/>
          <p:nvPr/>
        </p:nvSpPr>
        <p:spPr>
          <a:xfrm>
            <a:off x="493776"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Lulu, Wellness Forever, Health &amp; Glow appear in offtake, not in primary.</a:t>
            </a:r>
            <a:endParaRPr lang="en-US" sz="690" dirty="0"/>
          </a:p>
        </p:txBody>
      </p:sp>
      <p:sp>
        <p:nvSpPr>
          <p:cNvPr id="68" name="Shape 66"/>
          <p:cNvSpPr/>
          <p:nvPr/>
        </p:nvSpPr>
        <p:spPr>
          <a:xfrm>
            <a:off x="374904" y="5993892"/>
            <a:ext cx="50292" cy="50292"/>
          </a:xfrm>
          <a:prstGeom prst="ellipse">
            <a:avLst/>
          </a:prstGeom>
          <a:solidFill>
            <a:srgbClr val="D6544D"/>
          </a:solidFill>
          <a:ln/>
        </p:spPr>
      </p:sp>
      <p:sp>
        <p:nvSpPr>
          <p:cNvPr id="69" name="Text 67"/>
          <p:cNvSpPr/>
          <p:nvPr/>
        </p:nvSpPr>
        <p:spPr>
          <a:xfrm>
            <a:off x="493776"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FSN and Nykaa SS are combined at article level and cannot be separated.</a:t>
            </a:r>
            <a:endParaRPr lang="en-US" sz="690" dirty="0"/>
          </a:p>
        </p:txBody>
      </p:sp>
      <p:sp>
        <p:nvSpPr>
          <p:cNvPr id="70" name="Shape 68"/>
          <p:cNvSpPr/>
          <p:nvPr/>
        </p:nvSpPr>
        <p:spPr>
          <a:xfrm>
            <a:off x="374904" y="6359652"/>
            <a:ext cx="50292" cy="50292"/>
          </a:xfrm>
          <a:prstGeom prst="ellipse">
            <a:avLst/>
          </a:prstGeom>
          <a:solidFill>
            <a:srgbClr val="D6544D"/>
          </a:solidFill>
          <a:ln/>
        </p:spPr>
      </p:sp>
      <p:sp>
        <p:nvSpPr>
          <p:cNvPr id="71" name="Text 69"/>
          <p:cNvSpPr/>
          <p:nvPr/>
        </p:nvSpPr>
        <p:spPr>
          <a:xfrm>
            <a:off x="493776"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Pan India carries no geographic primary by design.</a:t>
            </a:r>
            <a:endParaRPr lang="en-US" sz="690" dirty="0"/>
          </a:p>
        </p:txBody>
      </p:sp>
      <p:sp>
        <p:nvSpPr>
          <p:cNvPr id="72" name="Shape 70"/>
          <p:cNvSpPr/>
          <p:nvPr/>
        </p:nvSpPr>
        <p:spPr>
          <a:xfrm>
            <a:off x="374904" y="6725412"/>
            <a:ext cx="50292" cy="50292"/>
          </a:xfrm>
          <a:prstGeom prst="ellipse">
            <a:avLst/>
          </a:prstGeom>
          <a:solidFill>
            <a:srgbClr val="D6544D"/>
          </a:solidFill>
          <a:ln/>
        </p:spPr>
      </p:sp>
      <p:sp>
        <p:nvSpPr>
          <p:cNvPr id="73" name="Text 71"/>
          <p:cNvSpPr/>
          <p:nvPr/>
        </p:nvSpPr>
        <p:spPr>
          <a:xfrm>
            <a:off x="493776"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 validated outer merge surfaces all of these automatically.</a:t>
            </a:r>
            <a:endParaRPr lang="en-US" sz="690" dirty="0"/>
          </a:p>
        </p:txBody>
      </p:sp>
      <p:sp>
        <p:nvSpPr>
          <p:cNvPr id="74" name="Shape 72"/>
          <p:cNvSpPr/>
          <p:nvPr/>
        </p:nvSpPr>
        <p:spPr>
          <a:xfrm>
            <a:off x="2410968" y="4828032"/>
            <a:ext cx="2036064" cy="2395728"/>
          </a:xfrm>
          <a:prstGeom prst="roundRect">
            <a:avLst>
              <a:gd name="adj" fmla="val 898"/>
            </a:avLst>
          </a:prstGeom>
          <a:solidFill>
            <a:srgbClr val="FFFFFF"/>
          </a:solidFill>
          <a:ln w="9525">
            <a:solidFill>
              <a:srgbClr val="C8DCD7"/>
            </a:solidFill>
            <a:prstDash val="solid"/>
          </a:ln>
        </p:spPr>
      </p:sp>
      <p:sp>
        <p:nvSpPr>
          <p:cNvPr id="75" name="Shape 73"/>
          <p:cNvSpPr/>
          <p:nvPr/>
        </p:nvSpPr>
        <p:spPr>
          <a:xfrm>
            <a:off x="2410968" y="4828032"/>
            <a:ext cx="2036064" cy="274320"/>
          </a:xfrm>
          <a:prstGeom prst="rect">
            <a:avLst/>
          </a:prstGeom>
          <a:solidFill>
            <a:srgbClr val="F2B84B"/>
          </a:solidFill>
          <a:ln/>
        </p:spPr>
      </p:sp>
      <p:sp>
        <p:nvSpPr>
          <p:cNvPr id="76" name="Text 74"/>
          <p:cNvSpPr/>
          <p:nvPr/>
        </p:nvSpPr>
        <p:spPr>
          <a:xfrm>
            <a:off x="2493264"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NON-ADDITIVE FACTS</a:t>
            </a:r>
            <a:endParaRPr lang="en-US" sz="700" dirty="0"/>
          </a:p>
        </p:txBody>
      </p:sp>
      <p:sp>
        <p:nvSpPr>
          <p:cNvPr id="77" name="Text 75"/>
          <p:cNvSpPr/>
          <p:nvPr/>
        </p:nvSpPr>
        <p:spPr>
          <a:xfrm>
            <a:off x="2502408" y="5193792"/>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Ratios never sum</a:t>
            </a:r>
            <a:endParaRPr lang="en-US" sz="1300" dirty="0"/>
          </a:p>
        </p:txBody>
      </p:sp>
      <p:sp>
        <p:nvSpPr>
          <p:cNvPr id="78" name="Shape 76"/>
          <p:cNvSpPr/>
          <p:nvPr/>
        </p:nvSpPr>
        <p:spPr>
          <a:xfrm>
            <a:off x="2520696" y="5628132"/>
            <a:ext cx="50292" cy="50292"/>
          </a:xfrm>
          <a:prstGeom prst="ellipse">
            <a:avLst/>
          </a:prstGeom>
          <a:solidFill>
            <a:srgbClr val="F2B84B"/>
          </a:solidFill>
          <a:ln/>
        </p:spPr>
      </p:sp>
      <p:sp>
        <p:nvSpPr>
          <p:cNvPr id="79" name="Text 77"/>
          <p:cNvSpPr/>
          <p:nvPr/>
        </p:nvSpPr>
        <p:spPr>
          <a:xfrm>
            <a:off x="2639568"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Apollo national reads 99.7%; zones read 121%, 138% and 149%.</a:t>
            </a:r>
            <a:endParaRPr lang="en-US" sz="690" dirty="0"/>
          </a:p>
        </p:txBody>
      </p:sp>
      <p:sp>
        <p:nvSpPr>
          <p:cNvPr id="80" name="Shape 78"/>
          <p:cNvSpPr/>
          <p:nvPr/>
        </p:nvSpPr>
        <p:spPr>
          <a:xfrm>
            <a:off x="2520696" y="5993892"/>
            <a:ext cx="50292" cy="50292"/>
          </a:xfrm>
          <a:prstGeom prst="ellipse">
            <a:avLst/>
          </a:prstGeom>
          <a:solidFill>
            <a:srgbClr val="F2B84B"/>
          </a:solidFill>
          <a:ln/>
        </p:spPr>
      </p:sp>
      <p:sp>
        <p:nvSpPr>
          <p:cNvPr id="81" name="Text 79"/>
          <p:cNvSpPr/>
          <p:nvPr/>
        </p:nvSpPr>
        <p:spPr>
          <a:xfrm>
            <a:off x="2639568"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The national figure is averaging error, not measured parity.</a:t>
            </a:r>
            <a:endParaRPr lang="en-US" sz="690" dirty="0"/>
          </a:p>
        </p:txBody>
      </p:sp>
      <p:sp>
        <p:nvSpPr>
          <p:cNvPr id="82" name="Shape 80"/>
          <p:cNvSpPr/>
          <p:nvPr/>
        </p:nvSpPr>
        <p:spPr>
          <a:xfrm>
            <a:off x="2520696" y="6359652"/>
            <a:ext cx="50292" cy="50292"/>
          </a:xfrm>
          <a:prstGeom prst="ellipse">
            <a:avLst/>
          </a:prstGeom>
          <a:solidFill>
            <a:srgbClr val="F2B84B"/>
          </a:solidFill>
          <a:ln/>
        </p:spPr>
      </p:sp>
      <p:sp>
        <p:nvSpPr>
          <p:cNvPr id="83" name="Text 81"/>
          <p:cNvSpPr/>
          <p:nvPr/>
        </p:nvSpPr>
        <p:spPr>
          <a:xfrm>
            <a:off x="2639568"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Any conversion above 100% is stock or timing, never performance.</a:t>
            </a:r>
            <a:endParaRPr lang="en-US" sz="690" dirty="0"/>
          </a:p>
        </p:txBody>
      </p:sp>
      <p:sp>
        <p:nvSpPr>
          <p:cNvPr id="84" name="Shape 82"/>
          <p:cNvSpPr/>
          <p:nvPr/>
        </p:nvSpPr>
        <p:spPr>
          <a:xfrm>
            <a:off x="2520696" y="6725412"/>
            <a:ext cx="50292" cy="50292"/>
          </a:xfrm>
          <a:prstGeom prst="ellipse">
            <a:avLst/>
          </a:prstGeom>
          <a:solidFill>
            <a:srgbClr val="F2B84B"/>
          </a:solidFill>
          <a:ln/>
        </p:spPr>
      </p:sp>
      <p:sp>
        <p:nvSpPr>
          <p:cNvPr id="85" name="Text 83"/>
          <p:cNvSpPr/>
          <p:nvPr/>
        </p:nvSpPr>
        <p:spPr>
          <a:xfrm>
            <a:off x="2639568"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Do not quote a ratio without stating its denominator.</a:t>
            </a:r>
            <a:endParaRPr lang="en-US" sz="690" dirty="0"/>
          </a:p>
        </p:txBody>
      </p:sp>
      <p:sp>
        <p:nvSpPr>
          <p:cNvPr id="86" name="Shape 84"/>
          <p:cNvSpPr/>
          <p:nvPr/>
        </p:nvSpPr>
        <p:spPr>
          <a:xfrm>
            <a:off x="4556760" y="4828032"/>
            <a:ext cx="2036064" cy="2395728"/>
          </a:xfrm>
          <a:prstGeom prst="roundRect">
            <a:avLst>
              <a:gd name="adj" fmla="val 898"/>
            </a:avLst>
          </a:prstGeom>
          <a:solidFill>
            <a:srgbClr val="FFFFFF"/>
          </a:solidFill>
          <a:ln w="9525">
            <a:solidFill>
              <a:srgbClr val="C8DCD7"/>
            </a:solidFill>
            <a:prstDash val="solid"/>
          </a:ln>
        </p:spPr>
      </p:sp>
      <p:sp>
        <p:nvSpPr>
          <p:cNvPr id="87" name="Shape 85"/>
          <p:cNvSpPr/>
          <p:nvPr/>
        </p:nvSpPr>
        <p:spPr>
          <a:xfrm>
            <a:off x="4556760" y="4828032"/>
            <a:ext cx="2036064" cy="274320"/>
          </a:xfrm>
          <a:prstGeom prst="rect">
            <a:avLst/>
          </a:prstGeom>
          <a:solidFill>
            <a:srgbClr val="116F68"/>
          </a:solidFill>
          <a:ln/>
        </p:spPr>
      </p:sp>
      <p:sp>
        <p:nvSpPr>
          <p:cNvPr id="88" name="Text 86"/>
          <p:cNvSpPr/>
          <p:nvPr/>
        </p:nvSpPr>
        <p:spPr>
          <a:xfrm>
            <a:off x="4639056" y="4846320"/>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COVERAGE</a:t>
            </a:r>
            <a:endParaRPr lang="en-US" sz="700" dirty="0"/>
          </a:p>
        </p:txBody>
      </p:sp>
      <p:sp>
        <p:nvSpPr>
          <p:cNvPr id="89" name="Text 87"/>
          <p:cNvSpPr/>
          <p:nvPr/>
        </p:nvSpPr>
        <p:spPr>
          <a:xfrm>
            <a:off x="4648200" y="5193792"/>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79.2%</a:t>
            </a:r>
            <a:endParaRPr lang="en-US" sz="1300" dirty="0"/>
          </a:p>
        </p:txBody>
      </p:sp>
      <p:sp>
        <p:nvSpPr>
          <p:cNvPr id="90" name="Shape 88"/>
          <p:cNvSpPr/>
          <p:nvPr/>
        </p:nvSpPr>
        <p:spPr>
          <a:xfrm>
            <a:off x="4666488" y="5628132"/>
            <a:ext cx="50292" cy="50292"/>
          </a:xfrm>
          <a:prstGeom prst="ellipse">
            <a:avLst/>
          </a:prstGeom>
          <a:solidFill>
            <a:srgbClr val="116F68"/>
          </a:solidFill>
          <a:ln/>
        </p:spPr>
      </p:sp>
      <p:sp>
        <p:nvSpPr>
          <p:cNvPr id="91" name="Text 89"/>
          <p:cNvSpPr/>
          <p:nvPr/>
        </p:nvSpPr>
        <p:spPr>
          <a:xfrm>
            <a:off x="4785360" y="5577840"/>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Chain scorecard covers ₹26.90 Cr of ₹33.96 Cr national MT offtake.</a:t>
            </a:r>
            <a:endParaRPr lang="en-US" sz="690" dirty="0"/>
          </a:p>
        </p:txBody>
      </p:sp>
      <p:sp>
        <p:nvSpPr>
          <p:cNvPr id="92" name="Shape 90"/>
          <p:cNvSpPr/>
          <p:nvPr/>
        </p:nvSpPr>
        <p:spPr>
          <a:xfrm>
            <a:off x="4666488" y="5993892"/>
            <a:ext cx="50292" cy="50292"/>
          </a:xfrm>
          <a:prstGeom prst="ellipse">
            <a:avLst/>
          </a:prstGeom>
          <a:solidFill>
            <a:srgbClr val="116F68"/>
          </a:solidFill>
          <a:ln/>
        </p:spPr>
      </p:sp>
      <p:sp>
        <p:nvSpPr>
          <p:cNvPr id="93" name="Text 91"/>
          <p:cNvSpPr/>
          <p:nvPr/>
        </p:nvSpPr>
        <p:spPr>
          <a:xfrm>
            <a:off x="4785360" y="594360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31,355 of 1,97,740 primary and offtake rows are matched.</a:t>
            </a:r>
            <a:endParaRPr lang="en-US" sz="690" dirty="0"/>
          </a:p>
        </p:txBody>
      </p:sp>
      <p:sp>
        <p:nvSpPr>
          <p:cNvPr id="94" name="Shape 92"/>
          <p:cNvSpPr/>
          <p:nvPr/>
        </p:nvSpPr>
        <p:spPr>
          <a:xfrm>
            <a:off x="4666488" y="6359652"/>
            <a:ext cx="50292" cy="50292"/>
          </a:xfrm>
          <a:prstGeom prst="ellipse">
            <a:avLst/>
          </a:prstGeom>
          <a:solidFill>
            <a:srgbClr val="116F68"/>
          </a:solidFill>
          <a:ln/>
        </p:spPr>
      </p:sp>
      <p:sp>
        <p:nvSpPr>
          <p:cNvPr id="95" name="Text 93"/>
          <p:cNvSpPr/>
          <p:nvPr/>
        </p:nvSpPr>
        <p:spPr>
          <a:xfrm>
            <a:off x="4785360" y="630936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Missing zone rows: 0. Period: July 2026.</a:t>
            </a:r>
            <a:endParaRPr lang="en-US" sz="690" dirty="0"/>
          </a:p>
        </p:txBody>
      </p:sp>
      <p:sp>
        <p:nvSpPr>
          <p:cNvPr id="96" name="Shape 94"/>
          <p:cNvSpPr/>
          <p:nvPr/>
        </p:nvSpPr>
        <p:spPr>
          <a:xfrm>
            <a:off x="4666488" y="6725412"/>
            <a:ext cx="50292" cy="50292"/>
          </a:xfrm>
          <a:prstGeom prst="ellipse">
            <a:avLst/>
          </a:prstGeom>
          <a:solidFill>
            <a:srgbClr val="116F68"/>
          </a:solidFill>
          <a:ln/>
        </p:spPr>
      </p:sp>
      <p:sp>
        <p:nvSpPr>
          <p:cNvPr id="97" name="Text 95"/>
          <p:cNvSpPr/>
          <p:nvPr/>
        </p:nvSpPr>
        <p:spPr>
          <a:xfrm>
            <a:off x="4785360" y="6675120"/>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Chains with missing July feeds are data gaps, not de-growth.</a:t>
            </a:r>
            <a:endParaRPr lang="en-US" sz="690" dirty="0"/>
          </a:p>
        </p:txBody>
      </p:sp>
      <p:sp>
        <p:nvSpPr>
          <p:cNvPr id="98" name="Shape 96"/>
          <p:cNvSpPr/>
          <p:nvPr/>
        </p:nvSpPr>
        <p:spPr>
          <a:xfrm>
            <a:off x="265176" y="7351776"/>
            <a:ext cx="2036064" cy="2395728"/>
          </a:xfrm>
          <a:prstGeom prst="roundRect">
            <a:avLst>
              <a:gd name="adj" fmla="val 898"/>
            </a:avLst>
          </a:prstGeom>
          <a:solidFill>
            <a:srgbClr val="FFFFFF"/>
          </a:solidFill>
          <a:ln w="9525">
            <a:solidFill>
              <a:srgbClr val="C8DCD7"/>
            </a:solidFill>
            <a:prstDash val="solid"/>
          </a:ln>
        </p:spPr>
      </p:sp>
      <p:sp>
        <p:nvSpPr>
          <p:cNvPr id="99" name="Shape 97"/>
          <p:cNvSpPr/>
          <p:nvPr/>
        </p:nvSpPr>
        <p:spPr>
          <a:xfrm>
            <a:off x="265176" y="7351776"/>
            <a:ext cx="2036064" cy="274320"/>
          </a:xfrm>
          <a:prstGeom prst="rect">
            <a:avLst/>
          </a:prstGeom>
          <a:solidFill>
            <a:srgbClr val="F2B84B"/>
          </a:solidFill>
          <a:ln/>
        </p:spPr>
      </p:sp>
      <p:sp>
        <p:nvSpPr>
          <p:cNvPr id="100" name="Text 98"/>
          <p:cNvSpPr/>
          <p:nvPr/>
        </p:nvSpPr>
        <p:spPr>
          <a:xfrm>
            <a:off x="347472"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MATERIALITY FLOOR</a:t>
            </a:r>
            <a:endParaRPr lang="en-US" sz="700" dirty="0"/>
          </a:p>
        </p:txBody>
      </p:sp>
      <p:sp>
        <p:nvSpPr>
          <p:cNvPr id="101" name="Text 99"/>
          <p:cNvSpPr/>
          <p:nvPr/>
        </p:nvSpPr>
        <p:spPr>
          <a:xfrm>
            <a:off x="356616" y="7717536"/>
            <a:ext cx="1853184" cy="310896"/>
          </a:xfrm>
          <a:prstGeom prst="rect">
            <a:avLst/>
          </a:prstGeom>
          <a:noFill/>
          <a:ln/>
        </p:spPr>
        <p:txBody>
          <a:bodyPr wrap="square" lIns="0" tIns="0" rIns="0" bIns="0" rtlCol="0" anchor="ctr"/>
          <a:lstStyle/>
          <a:p>
            <a:pPr algn="ctr" indent="0" marL="0">
              <a:buNone/>
            </a:pPr>
            <a:r>
              <a:rPr lang="en-US" sz="1300" b="1" dirty="0">
                <a:solidFill>
                  <a:srgbClr val="F2B84B"/>
                </a:solidFill>
                <a:latin typeface="Calibri Light" pitchFamily="34" charset="0"/>
                <a:ea typeface="Calibri Light" pitchFamily="34" charset="-122"/>
                <a:cs typeface="Calibri Light" pitchFamily="34" charset="-120"/>
              </a:rPr>
              <a:t>₹0.25 Cr</a:t>
            </a:r>
            <a:endParaRPr lang="en-US" sz="1300" dirty="0"/>
          </a:p>
        </p:txBody>
      </p:sp>
      <p:sp>
        <p:nvSpPr>
          <p:cNvPr id="102" name="Shape 100"/>
          <p:cNvSpPr/>
          <p:nvPr/>
        </p:nvSpPr>
        <p:spPr>
          <a:xfrm>
            <a:off x="374904" y="8151876"/>
            <a:ext cx="50292" cy="50292"/>
          </a:xfrm>
          <a:prstGeom prst="ellipse">
            <a:avLst/>
          </a:prstGeom>
          <a:solidFill>
            <a:srgbClr val="F2B84B"/>
          </a:solidFill>
          <a:ln/>
        </p:spPr>
      </p:sp>
      <p:sp>
        <p:nvSpPr>
          <p:cNvPr id="103" name="Text 101"/>
          <p:cNvSpPr/>
          <p:nvPr/>
        </p:nvSpPr>
        <p:spPr>
          <a:xfrm>
            <a:off x="493776"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No % shown, ranked or coloured below this base.</a:t>
            </a:r>
            <a:endParaRPr lang="en-US" sz="690" dirty="0"/>
          </a:p>
        </p:txBody>
      </p:sp>
      <p:sp>
        <p:nvSpPr>
          <p:cNvPr id="104" name="Shape 102"/>
          <p:cNvSpPr/>
          <p:nvPr/>
        </p:nvSpPr>
        <p:spPr>
          <a:xfrm>
            <a:off x="374904" y="8517636"/>
            <a:ext cx="50292" cy="50292"/>
          </a:xfrm>
          <a:prstGeom prst="ellipse">
            <a:avLst/>
          </a:prstGeom>
          <a:solidFill>
            <a:srgbClr val="F2B84B"/>
          </a:solidFill>
          <a:ln/>
        </p:spPr>
      </p:sp>
      <p:sp>
        <p:nvSpPr>
          <p:cNvPr id="105" name="Text 103"/>
          <p:cNvSpPr/>
          <p:nvPr/>
        </p:nvSpPr>
        <p:spPr>
          <a:xfrm>
            <a:off x="493776"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Removes 10 of 13 chains from the scorecard ranking.</a:t>
            </a:r>
            <a:endParaRPr lang="en-US" sz="690" dirty="0"/>
          </a:p>
        </p:txBody>
      </p:sp>
      <p:sp>
        <p:nvSpPr>
          <p:cNvPr id="106" name="Shape 104"/>
          <p:cNvSpPr/>
          <p:nvPr/>
        </p:nvSpPr>
        <p:spPr>
          <a:xfrm>
            <a:off x="374904" y="8883396"/>
            <a:ext cx="50292" cy="50292"/>
          </a:xfrm>
          <a:prstGeom prst="ellipse">
            <a:avLst/>
          </a:prstGeom>
          <a:solidFill>
            <a:srgbClr val="F2B84B"/>
          </a:solidFill>
          <a:ln/>
        </p:spPr>
      </p:sp>
      <p:sp>
        <p:nvSpPr>
          <p:cNvPr id="107" name="Text 105"/>
          <p:cNvSpPr/>
          <p:nvPr/>
        </p:nvSpPr>
        <p:spPr>
          <a:xfrm>
            <a:off x="493776"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Central zone recovery (₹0.11 Cr) falls below it.</a:t>
            </a:r>
            <a:endParaRPr lang="en-US" sz="690" dirty="0"/>
          </a:p>
        </p:txBody>
      </p:sp>
      <p:sp>
        <p:nvSpPr>
          <p:cNvPr id="108" name="Shape 106"/>
          <p:cNvSpPr/>
          <p:nvPr/>
        </p:nvSpPr>
        <p:spPr>
          <a:xfrm>
            <a:off x="374904" y="9249156"/>
            <a:ext cx="50292" cy="50292"/>
          </a:xfrm>
          <a:prstGeom prst="ellipse">
            <a:avLst/>
          </a:prstGeom>
          <a:solidFill>
            <a:srgbClr val="F2B84B"/>
          </a:solidFill>
          <a:ln/>
        </p:spPr>
      </p:sp>
      <p:sp>
        <p:nvSpPr>
          <p:cNvPr id="109" name="Text 107"/>
          <p:cNvSpPr/>
          <p:nvPr/>
        </p:nvSpPr>
        <p:spPr>
          <a:xfrm>
            <a:off x="493776"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Below the floor, report the absolute ₹ change only.</a:t>
            </a:r>
            <a:endParaRPr lang="en-US" sz="690" dirty="0"/>
          </a:p>
        </p:txBody>
      </p:sp>
      <p:sp>
        <p:nvSpPr>
          <p:cNvPr id="110" name="Shape 108"/>
          <p:cNvSpPr/>
          <p:nvPr/>
        </p:nvSpPr>
        <p:spPr>
          <a:xfrm>
            <a:off x="2410968" y="7351776"/>
            <a:ext cx="2036064" cy="2395728"/>
          </a:xfrm>
          <a:prstGeom prst="roundRect">
            <a:avLst>
              <a:gd name="adj" fmla="val 898"/>
            </a:avLst>
          </a:prstGeom>
          <a:solidFill>
            <a:srgbClr val="FFFFFF"/>
          </a:solidFill>
          <a:ln w="9525">
            <a:solidFill>
              <a:srgbClr val="C8DCD7"/>
            </a:solidFill>
            <a:prstDash val="solid"/>
          </a:ln>
        </p:spPr>
      </p:sp>
      <p:sp>
        <p:nvSpPr>
          <p:cNvPr id="111" name="Shape 109"/>
          <p:cNvSpPr/>
          <p:nvPr/>
        </p:nvSpPr>
        <p:spPr>
          <a:xfrm>
            <a:off x="2410968" y="7351776"/>
            <a:ext cx="2036064" cy="274320"/>
          </a:xfrm>
          <a:prstGeom prst="rect">
            <a:avLst/>
          </a:prstGeom>
          <a:solidFill>
            <a:srgbClr val="5F716E"/>
          </a:solidFill>
          <a:ln/>
        </p:spPr>
      </p:sp>
      <p:sp>
        <p:nvSpPr>
          <p:cNvPr id="112" name="Text 110"/>
          <p:cNvSpPr/>
          <p:nvPr/>
        </p:nvSpPr>
        <p:spPr>
          <a:xfrm>
            <a:off x="2493264"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STILL TO RECONCILE</a:t>
            </a:r>
            <a:endParaRPr lang="en-US" sz="700" dirty="0"/>
          </a:p>
        </p:txBody>
      </p:sp>
      <p:sp>
        <p:nvSpPr>
          <p:cNvPr id="113" name="Text 111"/>
          <p:cNvSpPr/>
          <p:nvPr/>
        </p:nvSpPr>
        <p:spPr>
          <a:xfrm>
            <a:off x="2502408" y="7717536"/>
            <a:ext cx="1853184" cy="310896"/>
          </a:xfrm>
          <a:prstGeom prst="rect">
            <a:avLst/>
          </a:prstGeom>
          <a:noFill/>
          <a:ln/>
        </p:spPr>
        <p:txBody>
          <a:bodyPr wrap="square" lIns="0" tIns="0" rIns="0" bIns="0" rtlCol="0" anchor="ctr"/>
          <a:lstStyle/>
          <a:p>
            <a:pPr algn="ctr" indent="0" marL="0">
              <a:buNone/>
            </a:pPr>
            <a:r>
              <a:rPr lang="en-US" sz="1300" b="1" dirty="0">
                <a:solidFill>
                  <a:srgbClr val="5F716E"/>
                </a:solidFill>
                <a:latin typeface="Calibri Light" pitchFamily="34" charset="0"/>
                <a:ea typeface="Calibri Light" pitchFamily="34" charset="-122"/>
                <a:cs typeface="Calibri Light" pitchFamily="34" charset="-120"/>
              </a:rPr>
              <a:t>Five fields</a:t>
            </a:r>
            <a:endParaRPr lang="en-US" sz="1300" dirty="0"/>
          </a:p>
        </p:txBody>
      </p:sp>
      <p:sp>
        <p:nvSpPr>
          <p:cNvPr id="114" name="Shape 112"/>
          <p:cNvSpPr/>
          <p:nvPr/>
        </p:nvSpPr>
        <p:spPr>
          <a:xfrm>
            <a:off x="2520696" y="8151876"/>
            <a:ext cx="50292" cy="50292"/>
          </a:xfrm>
          <a:prstGeom prst="ellipse">
            <a:avLst/>
          </a:prstGeom>
          <a:solidFill>
            <a:srgbClr val="5F716E"/>
          </a:solidFill>
          <a:ln/>
        </p:spPr>
      </p:sp>
      <p:sp>
        <p:nvSpPr>
          <p:cNvPr id="115" name="Text 113"/>
          <p:cNvSpPr/>
          <p:nvPr/>
        </p:nvSpPr>
        <p:spPr>
          <a:xfrm>
            <a:off x="2639568"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SAH, weighted distribution by chain, PDO, OOS, closing stock.</a:t>
            </a:r>
            <a:endParaRPr lang="en-US" sz="690" dirty="0"/>
          </a:p>
        </p:txBody>
      </p:sp>
      <p:sp>
        <p:nvSpPr>
          <p:cNvPr id="116" name="Shape 114"/>
          <p:cNvSpPr/>
          <p:nvPr/>
        </p:nvSpPr>
        <p:spPr>
          <a:xfrm>
            <a:off x="2520696" y="8517636"/>
            <a:ext cx="50292" cy="50292"/>
          </a:xfrm>
          <a:prstGeom prst="ellipse">
            <a:avLst/>
          </a:prstGeom>
          <a:solidFill>
            <a:srgbClr val="5F716E"/>
          </a:solidFill>
          <a:ln/>
        </p:spPr>
      </p:sp>
      <p:sp>
        <p:nvSpPr>
          <p:cNvPr id="117" name="Text 115"/>
          <p:cNvSpPr/>
          <p:nvPr/>
        </p:nvSpPr>
        <p:spPr>
          <a:xfrm>
            <a:off x="2639568"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Until these tie, cause is inferred and not measured.</a:t>
            </a:r>
            <a:endParaRPr lang="en-US" sz="690" dirty="0"/>
          </a:p>
        </p:txBody>
      </p:sp>
      <p:sp>
        <p:nvSpPr>
          <p:cNvPr id="118" name="Shape 116"/>
          <p:cNvSpPr/>
          <p:nvPr/>
        </p:nvSpPr>
        <p:spPr>
          <a:xfrm>
            <a:off x="2520696" y="8883396"/>
            <a:ext cx="50292" cy="50292"/>
          </a:xfrm>
          <a:prstGeom prst="ellipse">
            <a:avLst/>
          </a:prstGeom>
          <a:solidFill>
            <a:srgbClr val="5F716E"/>
          </a:solidFill>
          <a:ln/>
        </p:spPr>
      </p:sp>
      <p:sp>
        <p:nvSpPr>
          <p:cNvPr id="119" name="Text 117"/>
          <p:cNvSpPr/>
          <p:nvPr/>
        </p:nvSpPr>
        <p:spPr>
          <a:xfrm>
            <a:off x="2639568"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No SAH × share diagnosis is claimed in this pack.</a:t>
            </a:r>
            <a:endParaRPr lang="en-US" sz="690" dirty="0"/>
          </a:p>
        </p:txBody>
      </p:sp>
      <p:sp>
        <p:nvSpPr>
          <p:cNvPr id="120" name="Shape 118"/>
          <p:cNvSpPr/>
          <p:nvPr/>
        </p:nvSpPr>
        <p:spPr>
          <a:xfrm>
            <a:off x="2520696" y="9249156"/>
            <a:ext cx="50292" cy="50292"/>
          </a:xfrm>
          <a:prstGeom prst="ellipse">
            <a:avLst/>
          </a:prstGeom>
          <a:solidFill>
            <a:srgbClr val="5F716E"/>
          </a:solidFill>
          <a:ln/>
        </p:spPr>
      </p:sp>
      <p:sp>
        <p:nvSpPr>
          <p:cNvPr id="121" name="Text 119"/>
          <p:cNvSpPr/>
          <p:nvPr/>
        </p:nvSpPr>
        <p:spPr>
          <a:xfrm>
            <a:off x="2639568"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Stock pressure and turnover remain out of scope.</a:t>
            </a:r>
            <a:endParaRPr lang="en-US" sz="690" dirty="0"/>
          </a:p>
        </p:txBody>
      </p:sp>
      <p:sp>
        <p:nvSpPr>
          <p:cNvPr id="122" name="Shape 120"/>
          <p:cNvSpPr/>
          <p:nvPr/>
        </p:nvSpPr>
        <p:spPr>
          <a:xfrm>
            <a:off x="4556760" y="7351776"/>
            <a:ext cx="2036064" cy="2395728"/>
          </a:xfrm>
          <a:prstGeom prst="roundRect">
            <a:avLst>
              <a:gd name="adj" fmla="val 898"/>
            </a:avLst>
          </a:prstGeom>
          <a:solidFill>
            <a:srgbClr val="FFFFFF"/>
          </a:solidFill>
          <a:ln w="9525">
            <a:solidFill>
              <a:srgbClr val="C8DCD7"/>
            </a:solidFill>
            <a:prstDash val="solid"/>
          </a:ln>
        </p:spPr>
      </p:sp>
      <p:sp>
        <p:nvSpPr>
          <p:cNvPr id="123" name="Shape 121"/>
          <p:cNvSpPr/>
          <p:nvPr/>
        </p:nvSpPr>
        <p:spPr>
          <a:xfrm>
            <a:off x="4556760" y="7351776"/>
            <a:ext cx="2036064" cy="274320"/>
          </a:xfrm>
          <a:prstGeom prst="rect">
            <a:avLst/>
          </a:prstGeom>
          <a:solidFill>
            <a:srgbClr val="116F68"/>
          </a:solidFill>
          <a:ln/>
        </p:spPr>
      </p:sp>
      <p:sp>
        <p:nvSpPr>
          <p:cNvPr id="124" name="Text 122"/>
          <p:cNvSpPr/>
          <p:nvPr/>
        </p:nvSpPr>
        <p:spPr>
          <a:xfrm>
            <a:off x="4639056" y="7370064"/>
            <a:ext cx="1871472" cy="237744"/>
          </a:xfrm>
          <a:prstGeom prst="rect">
            <a:avLst/>
          </a:prstGeom>
          <a:noFill/>
          <a:ln/>
        </p:spPr>
        <p:txBody>
          <a:bodyPr wrap="square" lIns="0" tIns="0" rIns="0" bIns="0" rtlCol="0" anchor="ctr"/>
          <a:lstStyle/>
          <a:p>
            <a:pPr algn="ctr" indent="0" marL="0">
              <a:buNone/>
            </a:pPr>
            <a:r>
              <a:rPr lang="en-US" sz="700" b="1" spc="50" kern="0" dirty="0">
                <a:solidFill>
                  <a:srgbClr val="FFFFFF"/>
                </a:solidFill>
                <a:latin typeface="Calibri" pitchFamily="34" charset="0"/>
                <a:ea typeface="Calibri" pitchFamily="34" charset="-122"/>
                <a:cs typeface="Calibri" pitchFamily="34" charset="-120"/>
              </a:rPr>
              <a:t>AUTHORITY</a:t>
            </a:r>
            <a:endParaRPr lang="en-US" sz="700" dirty="0"/>
          </a:p>
        </p:txBody>
      </p:sp>
      <p:sp>
        <p:nvSpPr>
          <p:cNvPr id="125" name="Text 123"/>
          <p:cNvSpPr/>
          <p:nvPr/>
        </p:nvSpPr>
        <p:spPr>
          <a:xfrm>
            <a:off x="4648200" y="7717536"/>
            <a:ext cx="1853184" cy="310896"/>
          </a:xfrm>
          <a:prstGeom prst="rect">
            <a:avLst/>
          </a:prstGeom>
          <a:noFill/>
          <a:ln/>
        </p:spPr>
        <p:txBody>
          <a:bodyPr wrap="square" lIns="0" tIns="0" rIns="0" bIns="0" rtlCol="0" anchor="ctr"/>
          <a:lstStyle/>
          <a:p>
            <a:pPr algn="ctr" indent="0" marL="0">
              <a:buNone/>
            </a:pPr>
            <a:r>
              <a:rPr lang="en-US" sz="1300" b="1" dirty="0">
                <a:solidFill>
                  <a:srgbClr val="116F68"/>
                </a:solidFill>
                <a:latin typeface="Calibri Light" pitchFamily="34" charset="0"/>
                <a:ea typeface="Calibri Light" pitchFamily="34" charset="-122"/>
                <a:cs typeface="Calibri Light" pitchFamily="34" charset="-120"/>
              </a:rPr>
              <a:t>Ask first</a:t>
            </a:r>
            <a:endParaRPr lang="en-US" sz="1300" dirty="0"/>
          </a:p>
        </p:txBody>
      </p:sp>
      <p:sp>
        <p:nvSpPr>
          <p:cNvPr id="126" name="Shape 124"/>
          <p:cNvSpPr/>
          <p:nvPr/>
        </p:nvSpPr>
        <p:spPr>
          <a:xfrm>
            <a:off x="4666488" y="8151876"/>
            <a:ext cx="50292" cy="50292"/>
          </a:xfrm>
          <a:prstGeom prst="ellipse">
            <a:avLst/>
          </a:prstGeom>
          <a:solidFill>
            <a:srgbClr val="116F68"/>
          </a:solidFill>
          <a:ln/>
        </p:spPr>
      </p:sp>
      <p:sp>
        <p:nvSpPr>
          <p:cNvPr id="127" name="Text 125"/>
          <p:cNvSpPr/>
          <p:nvPr/>
        </p:nvSpPr>
        <p:spPr>
          <a:xfrm>
            <a:off x="4785360" y="8101584"/>
            <a:ext cx="1697736" cy="347472"/>
          </a:xfrm>
          <a:prstGeom prst="rect">
            <a:avLst/>
          </a:prstGeom>
          <a:noFill/>
          <a:ln/>
        </p:spPr>
        <p:txBody>
          <a:bodyPr wrap="square" lIns="0" tIns="0" rIns="0" bIns="0" rtlCol="0" anchor="t"/>
          <a:lstStyle/>
          <a:p>
            <a:pPr indent="0" marL="0">
              <a:lnSpc>
                <a:spcPct val="92000"/>
              </a:lnSpc>
              <a:buNone/>
            </a:pPr>
            <a:r>
              <a:rPr lang="en-US" sz="690" b="1" dirty="0">
                <a:solidFill>
                  <a:srgbClr val="183B39"/>
                </a:solidFill>
                <a:latin typeface="Calibri" pitchFamily="34" charset="0"/>
                <a:ea typeface="Calibri" pitchFamily="34" charset="-122"/>
                <a:cs typeface="Calibri" pitchFamily="34" charset="-120"/>
              </a:rPr>
              <a:t>Analysis recommends and sizes; it does not decide.</a:t>
            </a:r>
            <a:endParaRPr lang="en-US" sz="690" dirty="0"/>
          </a:p>
        </p:txBody>
      </p:sp>
      <p:sp>
        <p:nvSpPr>
          <p:cNvPr id="128" name="Shape 126"/>
          <p:cNvSpPr/>
          <p:nvPr/>
        </p:nvSpPr>
        <p:spPr>
          <a:xfrm>
            <a:off x="4666488" y="8517636"/>
            <a:ext cx="50292" cy="50292"/>
          </a:xfrm>
          <a:prstGeom prst="ellipse">
            <a:avLst/>
          </a:prstGeom>
          <a:solidFill>
            <a:srgbClr val="116F68"/>
          </a:solidFill>
          <a:ln/>
        </p:spPr>
      </p:sp>
      <p:sp>
        <p:nvSpPr>
          <p:cNvPr id="129" name="Text 127"/>
          <p:cNvSpPr/>
          <p:nvPr/>
        </p:nvSpPr>
        <p:spPr>
          <a:xfrm>
            <a:off x="4785360" y="846734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NKAM, RKAM and KAM approve loading, range and distribution.</a:t>
            </a:r>
            <a:endParaRPr lang="en-US" sz="690" dirty="0"/>
          </a:p>
        </p:txBody>
      </p:sp>
      <p:sp>
        <p:nvSpPr>
          <p:cNvPr id="130" name="Shape 128"/>
          <p:cNvSpPr/>
          <p:nvPr/>
        </p:nvSpPr>
        <p:spPr>
          <a:xfrm>
            <a:off x="4666488" y="8883396"/>
            <a:ext cx="50292" cy="50292"/>
          </a:xfrm>
          <a:prstGeom prst="ellipse">
            <a:avLst/>
          </a:prstGeom>
          <a:solidFill>
            <a:srgbClr val="116F68"/>
          </a:solidFill>
          <a:ln/>
        </p:spPr>
      </p:sp>
      <p:sp>
        <p:nvSpPr>
          <p:cNvPr id="131" name="Text 129"/>
          <p:cNvSpPr/>
          <p:nvPr/>
        </p:nvSpPr>
        <p:spPr>
          <a:xfrm>
            <a:off x="4785360" y="883310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Record what changed, the evidence, the owner and the date.</a:t>
            </a:r>
            <a:endParaRPr lang="en-US" sz="690" dirty="0"/>
          </a:p>
        </p:txBody>
      </p:sp>
      <p:sp>
        <p:nvSpPr>
          <p:cNvPr id="132" name="Shape 130"/>
          <p:cNvSpPr/>
          <p:nvPr/>
        </p:nvSpPr>
        <p:spPr>
          <a:xfrm>
            <a:off x="4666488" y="9249156"/>
            <a:ext cx="50292" cy="50292"/>
          </a:xfrm>
          <a:prstGeom prst="ellipse">
            <a:avLst/>
          </a:prstGeom>
          <a:solidFill>
            <a:srgbClr val="116F68"/>
          </a:solidFill>
          <a:ln/>
        </p:spPr>
      </p:sp>
      <p:sp>
        <p:nvSpPr>
          <p:cNvPr id="133" name="Text 131"/>
          <p:cNvSpPr/>
          <p:nvPr/>
        </p:nvSpPr>
        <p:spPr>
          <a:xfrm>
            <a:off x="4785360" y="9198864"/>
            <a:ext cx="1697736" cy="347472"/>
          </a:xfrm>
          <a:prstGeom prst="rect">
            <a:avLst/>
          </a:prstGeom>
          <a:noFill/>
          <a:ln/>
        </p:spPr>
        <p:txBody>
          <a:bodyPr wrap="square" lIns="0" tIns="0" rIns="0" bIns="0" rtlCol="0" anchor="t"/>
          <a:lstStyle/>
          <a:p>
            <a:pPr indent="0" marL="0">
              <a:lnSpc>
                <a:spcPct val="92000"/>
              </a:lnSpc>
              <a:buNone/>
            </a:pPr>
            <a:r>
              <a:rPr lang="en-US" sz="690" dirty="0">
                <a:solidFill>
                  <a:srgbClr val="183B39"/>
                </a:solidFill>
                <a:latin typeface="Calibri" pitchFamily="34" charset="0"/>
                <a:ea typeface="Calibri" pitchFamily="34" charset="-122"/>
                <a:cs typeface="Calibri" pitchFamily="34" charset="-120"/>
              </a:rPr>
              <a:t>Revoke or stop when the proof point fails.</a:t>
            </a:r>
            <a:endParaRPr lang="en-US" sz="690" dirty="0"/>
          </a:p>
        </p:txBody>
      </p:sp>
      <p:sp>
        <p:nvSpPr>
          <p:cNvPr id="134" name="Shape 132"/>
          <p:cNvSpPr/>
          <p:nvPr/>
        </p:nvSpPr>
        <p:spPr>
          <a:xfrm>
            <a:off x="265176" y="9930384"/>
            <a:ext cx="6327648" cy="475488"/>
          </a:xfrm>
          <a:prstGeom prst="roundRect">
            <a:avLst>
              <a:gd name="adj" fmla="val 3846"/>
            </a:avLst>
          </a:prstGeom>
          <a:solidFill>
            <a:srgbClr val="FBEDEC"/>
          </a:solidFill>
          <a:ln w="9525">
            <a:solidFill>
              <a:srgbClr val="D6544D"/>
            </a:solidFill>
            <a:prstDash val="solid"/>
          </a:ln>
        </p:spPr>
      </p:sp>
      <p:sp>
        <p:nvSpPr>
          <p:cNvPr id="135" name="Text 133"/>
          <p:cNvSpPr/>
          <p:nvPr/>
        </p:nvSpPr>
        <p:spPr>
          <a:xfrm>
            <a:off x="374904" y="9985248"/>
            <a:ext cx="6108192" cy="384048"/>
          </a:xfrm>
          <a:prstGeom prst="rect">
            <a:avLst/>
          </a:prstGeom>
          <a:noFill/>
          <a:ln/>
        </p:spPr>
        <p:txBody>
          <a:bodyPr wrap="square" lIns="0" tIns="0" rIns="0" bIns="0" rtlCol="0" anchor="t"/>
          <a:lstStyle/>
          <a:p>
            <a:pPr indent="0" marL="0">
              <a:lnSpc>
                <a:spcPct val="94000"/>
              </a:lnSpc>
              <a:buNone/>
            </a:pPr>
            <a:r>
              <a:rPr lang="en-US" sz="680" b="1" dirty="0">
                <a:solidFill>
                  <a:srgbClr val="D6544D"/>
                </a:solidFill>
                <a:latin typeface="Calibri" pitchFamily="34" charset="0"/>
                <a:ea typeface="Calibri" pitchFamily="34" charset="-122"/>
                <a:cs typeface="Calibri" pitchFamily="34" charset="-120"/>
              </a:rPr>
              <a:t>CHANGED SINCE THE PREVIOUS PACK   </a:t>
            </a:r>
            <a:pPr indent="0" marL="0">
              <a:lnSpc>
                <a:spcPct val="94000"/>
              </a:lnSpc>
              <a:buNone/>
            </a:pPr>
            <a:r>
              <a:rPr lang="en-US" sz="700" dirty="0">
                <a:solidFill>
                  <a:srgbClr val="183B39"/>
                </a:solidFill>
                <a:latin typeface="Calibri" pitchFamily="34" charset="0"/>
                <a:ea typeface="Calibri" pitchFamily="34" charset="-122"/>
                <a:cs typeface="Calibri" pitchFamily="34" charset="-120"/>
              </a:rPr>
              <a:t>Zone sales are now Modern Trade only. eB2B (₹2.20 Cr primary) and SIS are reported as their own channels, cut from the full July source with Channel == MT applied before aggregation. MT primary ₹47.02 Cr, MT offtake ₹33.96 Cr, gap ₹13.06 Cr — and national MT offtake now ties exactly to the sum of the six MT zones.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July 2026 Modern Trade Growth Command Centre</dc:title>
  <dc:subject>PptxGenJS Presentation</dc:subject>
  <dc:creator>Modern Trade Analytics</dc:creator>
  <cp:lastModifiedBy>Modern Trade Analytics</cp:lastModifiedBy>
  <cp:revision>1</cp:revision>
  <dcterms:created xsi:type="dcterms:W3CDTF">2026-08-16T20:49:21Z</dcterms:created>
  <dcterms:modified xsi:type="dcterms:W3CDTF">2026-08-16T20:49:21Z</dcterms:modified>
</cp:coreProperties>
</file>