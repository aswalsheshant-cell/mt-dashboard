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West</c:v>
                  </c:pt>
                  <c:pt idx="1">
                    <c:v>S-1</c:v>
                  </c:pt>
                  <c:pt idx="2">
                    <c:v>North</c:v>
                  </c:pt>
                  <c:pt idx="3">
                    <c:v>S-2</c:v>
                  </c:pt>
                  <c:pt idx="4">
                    <c:v>East</c:v>
                  </c:pt>
                  <c:pt idx="5">
                    <c:v>Central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10.0524</c:v>
                </c:pt>
                <c:pt idx="1">
                  <c:v>9.7986</c:v>
                </c:pt>
                <c:pt idx="2">
                  <c:v>11.9527</c:v>
                </c:pt>
                <c:pt idx="3">
                  <c:v>6.8914</c:v>
                </c:pt>
                <c:pt idx="4">
                  <c:v>7.8306</c:v>
                </c:pt>
                <c:pt idx="5">
                  <c:v>2.6873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West</c:v>
                  </c:pt>
                  <c:pt idx="1">
                    <c:v>S-1</c:v>
                  </c:pt>
                  <c:pt idx="2">
                    <c:v>North</c:v>
                  </c:pt>
                  <c:pt idx="3">
                    <c:v>S-2</c:v>
                  </c:pt>
                  <c:pt idx="4">
                    <c:v>East</c:v>
                  </c:pt>
                  <c:pt idx="5">
                    <c:v>Central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8.2769</c:v>
                </c:pt>
                <c:pt idx="1">
                  <c:v>8.1886</c:v>
                </c:pt>
                <c:pt idx="2">
                  <c:v>6.9873</c:v>
                </c:pt>
                <c:pt idx="3">
                  <c:v>4.9102</c:v>
                </c:pt>
                <c:pt idx="4">
                  <c:v>3.5511</c:v>
                </c:pt>
                <c:pt idx="5">
                  <c:v>2.1177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riser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Primary</c:v>
                  </c:pt>
                  <c:pt idx="1">
                    <c:v>Gap</c:v>
                  </c:pt>
                  <c:pt idx="2">
                    <c:v>Offtake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33.96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Primary</c:v>
                  </c:pt>
                  <c:pt idx="1">
                    <c:v>Gap</c:v>
                  </c:pt>
                  <c:pt idx="2">
                    <c:v>Offtake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47.02</c:v>
                </c:pt>
                <c:pt idx="1">
                  <c:v/>
                </c:pt>
                <c:pt idx="2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converted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Primary</c:v>
                  </c:pt>
                  <c:pt idx="1">
                    <c:v>Gap</c:v>
                  </c:pt>
                  <c:pt idx="2">
                    <c:v>Offtake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/>
                </c:pt>
                <c:pt idx="1">
                  <c:v>13.06</c:v>
                </c:pt>
                <c:pt idx="2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MT 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;;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Primary</c:v>
                  </c:pt>
                  <c:pt idx="1">
                    <c:v>Gap</c:v>
                  </c:pt>
                  <c:pt idx="2">
                    <c:v>Offtake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/>
                </c:pt>
                <c:pt idx="1">
                  <c:v/>
                </c:pt>
                <c:pt idx="2">
                  <c:v>33.96</c:v>
                </c:pt>
              </c:numCache>
            </c:numRef>
          </c:val>
        </c:ser>
        <c:dLbls>
          <c:numFmt formatCode="0.00;;" sourceLinked="0"/>
          <c:txPr>
            <a:bodyPr/>
            <a:lstStyle/>
            <a:p>
              <a:pPr>
                <a:defRPr b="0" i="0" strike="noStrike" sz="64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Recoverable</c:v>
                </c:pt>
              </c:strCache>
            </c:strRef>
          </c:tx>
          <c:spPr>
            <a:solidFill>
              <a:srgbClr val="2B9A6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South-2</c:v>
                  </c:pt>
                  <c:pt idx="1">
                    <c:v>East</c:v>
                  </c:pt>
                  <c:pt idx="2">
                    <c:v>North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2.55</c:v>
                </c:pt>
                <c:pt idx="2">
                  <c:v>2.79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60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42.32</c:v>
                </c:pt>
                <c:pt idx="2">
                  <c:v>39.41</c:v>
                </c:pt>
                <c:pt idx="3">
                  <c:v>47.02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33.6</c:v>
                </c:pt>
                <c:pt idx="1">
                  <c:v>38.11</c:v>
                </c:pt>
                <c:pt idx="2">
                  <c:v>36.04</c:v>
                </c:pt>
                <c:pt idx="3">
                  <c:v>33.96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0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2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solidFill>
              <a:srgbClr val="D6544D"/>
            </a:solidFill>
            <a:ln w="31750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90.1</c:v>
                </c:pt>
                <c:pt idx="2">
                  <c:v>91.4</c:v>
                </c:pt>
                <c:pt idx="3">
                  <c:v>72.2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660" u="none">
                  <a:solidFill>
                    <a:srgbClr val="183B39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2B9A66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85.2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South-1</c:v>
                </c:pt>
              </c:strCache>
            </c:strRef>
          </c:tx>
          <c:spPr>
            <a:solidFill>
              <a:srgbClr val="2B9A66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0">
                  <c:v/>
                </c:pt>
                <c:pt idx="1">
                  <c:v>86.3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South-2</c:v>
                </c:pt>
              </c:strCache>
            </c:strRef>
          </c:tx>
          <c:spPr>
            <a:solidFill>
              <a:srgbClr val="F2B84B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0">
                  <c:v/>
                </c:pt>
                <c:pt idx="1">
                  <c:v/>
                </c:pt>
                <c:pt idx="2">
                  <c:v>72.4</c:v>
                </c:pt>
                <c:pt idx="3">
                  <c:v/>
                </c:pt>
                <c:pt idx="4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D6544D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61.2</c:v>
                </c:pt>
                <c:pt idx="4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East</c:v>
                </c:pt>
              </c:strCache>
            </c:strRef>
          </c:tx>
          <c:spPr>
            <a:solidFill>
              <a:srgbClr val="D6544D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16.4</c:v>
                </c:pt>
                <c:pt idx="4">
                  <c:v>62.8</c:v>
                </c:pt>
              </c:numCache>
            </c:numRef>
          </c:xVal>
          <c:yVal>
            <c:numRef>
              <c:f>Sheet1!$F$2:$F$6</c:f>
              <c:numCache>
                <c:formatCode>General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49.9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7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640" b="0" i="0" u="none" strike="noStrike">
                    <a:solidFill>
                      <a:srgbClr val="000000"/>
                    </a:solidFill>
                    <a:latin typeface="Arial"/>
                  </a:rPr>
                  <a:t>July primary vs Q1 monthly run-rate, %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95"/>
          <c:min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640" b="0" i="0" u="none" strike="noStrike">
                    <a:solidFill>
                      <a:srgbClr val="000000"/>
                    </a:solidFill>
                    <a:latin typeface="Arial"/>
                  </a:rPr>
                  <a:t>July conversion %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2.0929</c:v>
                </c:pt>
                <c:pt idx="1">
                  <c:v>2.454</c:v>
                </c:pt>
                <c:pt idx="2">
                  <c:v>2.423</c:v>
                </c:pt>
                <c:pt idx="3">
                  <c:v>2.726</c:v>
                </c:pt>
                <c:pt idx="4">
                  <c:v>2.8988</c:v>
                </c:pt>
                <c:pt idx="5">
                  <c:v>2.3895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1.3295</c:v>
                </c:pt>
                <c:pt idx="1">
                  <c:v>1.5493</c:v>
                </c:pt>
                <c:pt idx="2">
                  <c:v>1.5924</c:v>
                </c:pt>
                <c:pt idx="3">
                  <c:v>1.6361</c:v>
                </c:pt>
                <c:pt idx="4">
                  <c:v>1.7881</c:v>
                </c:pt>
                <c:pt idx="5">
                  <c:v>1.5283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0.4378</c:v>
                </c:pt>
                <c:pt idx="1">
                  <c:v>1.0265</c:v>
                </c:pt>
                <c:pt idx="2">
                  <c:v>0.9663</c:v>
                </c:pt>
                <c:pt idx="3">
                  <c:v>0.815</c:v>
                </c:pt>
                <c:pt idx="4">
                  <c:v>0.4599</c:v>
                </c:pt>
                <c:pt idx="5">
                  <c:v>0.219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1.1237</c:v>
                </c:pt>
                <c:pt idx="1">
                  <c:v>1.3265</c:v>
                </c:pt>
                <c:pt idx="2">
                  <c:v>1.4203</c:v>
                </c:pt>
                <c:pt idx="3">
                  <c:v>2.0396</c:v>
                </c:pt>
                <c:pt idx="4">
                  <c:v>2.1851</c:v>
                </c:pt>
                <c:pt idx="5">
                  <c:v>2.8436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0.3484</c:v>
                </c:pt>
                <c:pt idx="1">
                  <c:v>0.6647</c:v>
                </c:pt>
                <c:pt idx="2">
                  <c:v>0.728</c:v>
                </c:pt>
                <c:pt idx="3">
                  <c:v>1.0665</c:v>
                </c:pt>
                <c:pt idx="4">
                  <c:v>0.6722</c:v>
                </c:pt>
                <c:pt idx="5">
                  <c:v>0.5503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0.1706</c:v>
                </c:pt>
                <c:pt idx="1">
                  <c:v>0.1715</c:v>
                </c:pt>
                <c:pt idx="2">
                  <c:v>0.1977</c:v>
                </c:pt>
                <c:pt idx="3">
                  <c:v>0.1672</c:v>
                </c:pt>
                <c:pt idx="4">
                  <c:v>0.1629</c:v>
                </c:pt>
                <c:pt idx="5">
                  <c:v>0.2181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0.9362</c:v>
                </c:pt>
                <c:pt idx="1">
                  <c:v>1.0264</c:v>
                </c:pt>
                <c:pt idx="2">
                  <c:v>1.0769</c:v>
                </c:pt>
                <c:pt idx="3">
                  <c:v>1.2856</c:v>
                </c:pt>
                <c:pt idx="4">
                  <c:v>1.1223</c:v>
                </c:pt>
                <c:pt idx="5">
                  <c:v>1.1188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0.8603</c:v>
                </c:pt>
                <c:pt idx="1">
                  <c:v>0.9523</c:v>
                </c:pt>
                <c:pt idx="2">
                  <c:v>0.9632</c:v>
                </c:pt>
                <c:pt idx="3">
                  <c:v>1.2141</c:v>
                </c:pt>
                <c:pt idx="4">
                  <c:v>1.2798</c:v>
                </c:pt>
                <c:pt idx="5">
                  <c:v>1.2277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0.2641</c:v>
                </c:pt>
                <c:pt idx="1">
                  <c:v>0.3788</c:v>
                </c:pt>
                <c:pt idx="2">
                  <c:v>0.4567</c:v>
                </c:pt>
                <c:pt idx="3">
                  <c:v>0.4755</c:v>
                </c:pt>
                <c:pt idx="4">
                  <c:v>0.3346</c:v>
                </c:pt>
                <c:pt idx="5">
                  <c:v>0.3219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0.3679</c:v>
                </c:pt>
                <c:pt idx="1">
                  <c:v>0.3982</c:v>
                </c:pt>
                <c:pt idx="2">
                  <c:v>0.5194</c:v>
                </c:pt>
                <c:pt idx="3">
                  <c:v>0.7716</c:v>
                </c:pt>
                <c:pt idx="4">
                  <c:v>0.7147</c:v>
                </c:pt>
                <c:pt idx="5">
                  <c:v>1.1802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0.2529</c:v>
                </c:pt>
                <c:pt idx="1">
                  <c:v>0.4333</c:v>
                </c:pt>
                <c:pt idx="2">
                  <c:v>0.6458</c:v>
                </c:pt>
                <c:pt idx="3">
                  <c:v>0.8138</c:v>
                </c:pt>
                <c:pt idx="4">
                  <c:v>0.5066</c:v>
                </c:pt>
                <c:pt idx="5">
                  <c:v>0.607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0.1424</c:v>
                </c:pt>
                <c:pt idx="1">
                  <c:v>0.1456</c:v>
                </c:pt>
                <c:pt idx="2">
                  <c:v>0.1665</c:v>
                </c:pt>
                <c:pt idx="3">
                  <c:v>0.1917</c:v>
                </c:pt>
                <c:pt idx="4">
                  <c:v>0.1937</c:v>
                </c:pt>
                <c:pt idx="5">
                  <c:v>0.1866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1.7192</c:v>
                </c:pt>
                <c:pt idx="1">
                  <c:v>2.0835</c:v>
                </c:pt>
                <c:pt idx="2">
                  <c:v>2.232</c:v>
                </c:pt>
                <c:pt idx="3">
                  <c:v>2.4319</c:v>
                </c:pt>
                <c:pt idx="4">
                  <c:v>2.2778</c:v>
                </c:pt>
                <c:pt idx="5">
                  <c:v>2.0919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1.2172</c:v>
                </c:pt>
                <c:pt idx="1">
                  <c:v>1.3299</c:v>
                </c:pt>
                <c:pt idx="2">
                  <c:v>1.6309</c:v>
                </c:pt>
                <c:pt idx="3">
                  <c:v>1.7503</c:v>
                </c:pt>
                <c:pt idx="4">
                  <c:v>1.6847</c:v>
                </c:pt>
                <c:pt idx="5">
                  <c:v>1.6785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0.386</c:v>
                </c:pt>
                <c:pt idx="1">
                  <c:v>0.6555</c:v>
                </c:pt>
                <c:pt idx="2">
                  <c:v>0.7694</c:v>
                </c:pt>
                <c:pt idx="3">
                  <c:v>0.79</c:v>
                </c:pt>
                <c:pt idx="4">
                  <c:v>0.5647</c:v>
                </c:pt>
                <c:pt idx="5">
                  <c:v>0.3459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0.4877</c:v>
                </c:pt>
                <c:pt idx="1">
                  <c:v>0.664</c:v>
                </c:pt>
                <c:pt idx="2">
                  <c:v>0.7389</c:v>
                </c:pt>
                <c:pt idx="3">
                  <c:v>1.0867</c:v>
                </c:pt>
                <c:pt idx="4">
                  <c:v>1.1125</c:v>
                </c:pt>
                <c:pt idx="5">
                  <c:v>1.4139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0.2136</c:v>
                </c:pt>
                <c:pt idx="1">
                  <c:v>0.4238</c:v>
                </c:pt>
                <c:pt idx="2">
                  <c:v>0.478</c:v>
                </c:pt>
                <c:pt idx="3">
                  <c:v>0.7077</c:v>
                </c:pt>
                <c:pt idx="4">
                  <c:v>0.511</c:v>
                </c:pt>
                <c:pt idx="5">
                  <c:v>0.3638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0.0733</c:v>
                </c:pt>
                <c:pt idx="1">
                  <c:v>0.1001</c:v>
                </c:pt>
                <c:pt idx="2">
                  <c:v>0.1125</c:v>
                </c:pt>
                <c:pt idx="3">
                  <c:v>0.1097</c:v>
                </c:pt>
                <c:pt idx="4">
                  <c:v>0.0996</c:v>
                </c:pt>
                <c:pt idx="5">
                  <c:v>0.1021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0.7289</c:v>
                </c:pt>
                <c:pt idx="1">
                  <c:v>0.8852</c:v>
                </c:pt>
                <c:pt idx="2">
                  <c:v>0.8872</c:v>
                </c:pt>
                <c:pt idx="3">
                  <c:v>1.0779</c:v>
                </c:pt>
                <c:pt idx="4">
                  <c:v>1.227</c:v>
                </c:pt>
                <c:pt idx="5">
                  <c:v>1.0426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0.6614</c:v>
                </c:pt>
                <c:pt idx="1">
                  <c:v>0.7824</c:v>
                </c:pt>
                <c:pt idx="2">
                  <c:v>0.8401</c:v>
                </c:pt>
                <c:pt idx="3">
                  <c:v>0.8741</c:v>
                </c:pt>
                <c:pt idx="4">
                  <c:v>0.9952</c:v>
                </c:pt>
                <c:pt idx="5">
                  <c:v>0.9423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0.121</c:v>
                </c:pt>
                <c:pt idx="1">
                  <c:v>0.247</c:v>
                </c:pt>
                <c:pt idx="2">
                  <c:v>0.2813</c:v>
                </c:pt>
                <c:pt idx="3">
                  <c:v>0.2857</c:v>
                </c:pt>
                <c:pt idx="4">
                  <c:v>0.2002</c:v>
                </c:pt>
                <c:pt idx="5">
                  <c:v>0.1361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0.1124</c:v>
                </c:pt>
                <c:pt idx="1">
                  <c:v>0.1877</c:v>
                </c:pt>
                <c:pt idx="2">
                  <c:v>0.2935</c:v>
                </c:pt>
                <c:pt idx="3">
                  <c:v>0.4778</c:v>
                </c:pt>
                <c:pt idx="4">
                  <c:v>0.503</c:v>
                </c:pt>
                <c:pt idx="5">
                  <c:v>0.5594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0.0861</c:v>
                </c:pt>
                <c:pt idx="1">
                  <c:v>0.1261</c:v>
                </c:pt>
                <c:pt idx="2">
                  <c:v>0.1731</c:v>
                </c:pt>
                <c:pt idx="3">
                  <c:v>0.363</c:v>
                </c:pt>
                <c:pt idx="4">
                  <c:v>0.2045</c:v>
                </c:pt>
                <c:pt idx="5">
                  <c:v>0.1963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0.04</c:v>
                </c:pt>
                <c:pt idx="1">
                  <c:v>0.0385</c:v>
                </c:pt>
                <c:pt idx="2">
                  <c:v>0.0454</c:v>
                </c:pt>
                <c:pt idx="3">
                  <c:v>0.0486</c:v>
                </c:pt>
                <c:pt idx="4">
                  <c:v>0.0433</c:v>
                </c:pt>
                <c:pt idx="5">
                  <c:v>0.0516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0.8135</c:v>
                </c:pt>
                <c:pt idx="1">
                  <c:v>0.9932</c:v>
                </c:pt>
                <c:pt idx="2">
                  <c:v>1.0007</c:v>
                </c:pt>
                <c:pt idx="3">
                  <c:v>1.148</c:v>
                </c:pt>
                <c:pt idx="4">
                  <c:v>1.049</c:v>
                </c:pt>
                <c:pt idx="5">
                  <c:v>1.3383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solidFill>
              <a:srgbClr val="F2B84B"/>
            </a:solidFill>
            <a:ln w="25400" cap="flat">
              <a:solidFill>
                <a:srgbClr val="F2B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0.0606</c:v>
                </c:pt>
                <c:pt idx="1">
                  <c:v>0.0795</c:v>
                </c:pt>
                <c:pt idx="2">
                  <c:v>0.1159</c:v>
                </c:pt>
                <c:pt idx="3">
                  <c:v>0.1131</c:v>
                </c:pt>
                <c:pt idx="4">
                  <c:v>0.1543</c:v>
                </c:pt>
                <c:pt idx="5">
                  <c:v>0.473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0.5446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0.3981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0.0918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0.6611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0.1806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0.0184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1.6358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</c:v>
                </c:pt>
                <c:pt idx="6">
                  <c:v>2.0664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solidFill>
              <a:srgbClr val="28A596"/>
            </a:solidFill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April</c:v>
                  </c:pt>
                  <c:pt idx="1">
                    <c:v>May</c:v>
                  </c:pt>
                  <c:pt idx="2">
                    <c:v>June</c:v>
                  </c:pt>
                  <c:pt idx="3">
                    <c:v>July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6.43</c:v>
                </c:pt>
                <c:pt idx="1">
                  <c:v>1.42</c:v>
                </c:pt>
                <c:pt idx="2">
                  <c:v>19.3</c:v>
                </c:pt>
                <c:pt idx="3">
                  <c:v>-0.64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4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4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8A5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BBlunt</c:v>
                  </c:pt>
                  <c:pt idx="1">
                    <c:v>Aqualogica</c:v>
                  </c:pt>
                  <c:pt idx="2">
                    <c:v>Mamaearth</c:v>
                  </c:pt>
                  <c:pt idx="3">
                    <c:v>Lumineve</c:v>
                  </c:pt>
                  <c:pt idx="4">
                    <c:v>The Derma Co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-0.4</c:v>
                </c:pt>
                <c:pt idx="1">
                  <c:v>3.79</c:v>
                </c:pt>
                <c:pt idx="2">
                  <c:v>3.87</c:v>
                </c:pt>
                <c:pt idx="3">
                  <c:v>7.69</c:v>
                </c:pt>
                <c:pt idx="4">
                  <c:v>11.57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4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-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ln w="28575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5F716E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1.6358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</c:v>
                </c:pt>
                <c:pt idx="6">
                  <c:v>2.0664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600" u="none">
                  <a:solidFill>
                    <a:srgbClr val="5F716E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solidFill>
              <a:srgbClr val="F2B84B"/>
            </a:solidFill>
            <a:ln w="28575" cap="flat">
              <a:solidFill>
                <a:srgbClr val="F2B8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5F716E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600" u="none">
                  <a:solidFill>
                    <a:srgbClr val="5F716E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mix %</c:v>
                </c:pt>
              </c:strCache>
            </c:strRef>
          </c:tx>
          <c:spPr>
            <a:solidFill>
              <a:srgbClr val="F2B8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62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B9A6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South-2</c:v>
                  </c:pt>
                  <c:pt idx="1">
                    <c:v>West</c:v>
                  </c:pt>
                  <c:pt idx="2">
                    <c:v>South-1</c:v>
                  </c:pt>
                  <c:pt idx="3">
                    <c:v>Central</c:v>
                  </c:pt>
                  <c:pt idx="4">
                    <c:v>North</c:v>
                  </c:pt>
                  <c:pt idx="5">
                    <c:v>East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6.37</c:v>
                </c:pt>
                <c:pt idx="1">
                  <c:v>6.58</c:v>
                </c:pt>
                <c:pt idx="2">
                  <c:v>7.88</c:v>
                </c:pt>
                <c:pt idx="3">
                  <c:v>8.54</c:v>
                </c:pt>
                <c:pt idx="4">
                  <c:v>9.24</c:v>
                </c:pt>
                <c:pt idx="5">
                  <c:v>10.23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62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offtake</c:v>
                </c:pt>
              </c:strCache>
            </c:strRef>
          </c:tx>
          <c:spPr>
            <a:solidFill>
              <a:srgbClr val="5F71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2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F716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2B84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6544D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Sancus</c:v>
                  </c:pt>
                  <c:pt idx="1">
                    <c:v>Wellness</c:v>
                  </c:pt>
                  <c:pt idx="2">
                    <c:v>Metro</c:v>
                  </c:pt>
                  <c:pt idx="3">
                    <c:v>Health &amp; Glow</c:v>
                  </c:pt>
                  <c:pt idx="4">
                    <c:v>FSN / Nykaa</c:v>
                  </c:pt>
                  <c:pt idx="5">
                    <c:v>Lulu</c:v>
                  </c:pt>
                  <c:pt idx="6">
                    <c:v>DMart</c:v>
                  </c:pt>
                  <c:pt idx="7">
                    <c:v>Reliance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0.13</c:v>
                </c:pt>
                <c:pt idx="5">
                  <c:v>0.18</c:v>
                </c:pt>
                <c:pt idx="6">
                  <c:v>0.98</c:v>
                </c:pt>
                <c:pt idx="7">
                  <c:v>1.3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62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DMart</c:v>
                  </c:pt>
                  <c:pt idx="1">
                    <c:v>Reliance</c:v>
                  </c:pt>
                  <c:pt idx="2">
                    <c:v>Apollo</c:v>
                  </c:pt>
                  <c:pt idx="3">
                    <c:v>FSN / Nykaa</c:v>
                  </c:pt>
                  <c:pt idx="4">
                    <c:v>Lulu</c:v>
                  </c:pt>
                  <c:pt idx="5">
                    <c:v>Wellness Forever</c:v>
                  </c:pt>
                  <c:pt idx="6">
                    <c:v>Health &amp; Glow</c:v>
                  </c:pt>
                  <c:pt idx="7">
                    <c:v>Metro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18.2536</c:v>
                </c:pt>
                <c:pt idx="1">
                  <c:v>15.6615</c:v>
                </c:pt>
                <c:pt idx="2">
                  <c:v>7.2003</c:v>
                </c:pt>
                <c:pt idx="3">
                  <c:v>2.079</c:v>
                </c:pt>
                <c:pt idx="4">
                  <c:v>0</c:v>
                </c:pt>
                <c:pt idx="5">
                  <c:v>0.4855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DMart</c:v>
                  </c:pt>
                  <c:pt idx="1">
                    <c:v>Reliance</c:v>
                  </c:pt>
                  <c:pt idx="2">
                    <c:v>Apollo</c:v>
                  </c:pt>
                  <c:pt idx="3">
                    <c:v>FSN / Nykaa</c:v>
                  </c:pt>
                  <c:pt idx="4">
                    <c:v>Lulu</c:v>
                  </c:pt>
                  <c:pt idx="5">
                    <c:v>Wellness Forever</c:v>
                  </c:pt>
                  <c:pt idx="6">
                    <c:v>Health &amp; Glow</c:v>
                  </c:pt>
                  <c:pt idx="7">
                    <c:v>Metro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</c:v>
                </c:pt>
                <c:pt idx="3">
                  <c:v>2.0664</c:v>
                </c:pt>
                <c:pt idx="4">
                  <c:v>1.6977</c:v>
                </c:pt>
                <c:pt idx="5">
                  <c:v>0.7209</c:v>
                </c:pt>
                <c:pt idx="6">
                  <c:v>0.5081</c:v>
                </c:pt>
                <c:pt idx="7">
                  <c:v>0.4858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Mamaearth</c:v>
                  </c:pt>
                  <c:pt idx="1">
                    <c:v>The Derma Co.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33.38</c:v>
                </c:pt>
                <c:pt idx="1">
                  <c:v>15.19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60" u="none">
                    <a:solidFill>
                      <a:srgbClr val="183B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Mamaearth</c:v>
                  </c:pt>
                  <c:pt idx="1">
                    <c:v>The Derma Co.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24.49</c:v>
                </c:pt>
                <c:pt idx="1">
                  <c:v>11.03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660" u="none">
                  <a:solidFill>
                    <a:srgbClr val="183B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7.0274</c:v>
                </c:pt>
                <c:pt idx="1">
                  <c:v>8.1685</c:v>
                </c:pt>
                <c:pt idx="2">
                  <c:v>8.5475</c:v>
                </c:pt>
                <c:pt idx="3">
                  <c:v>9.6257</c:v>
                </c:pt>
                <c:pt idx="4">
                  <c:v>9.6513</c:v>
                </c:pt>
                <c:pt idx="5">
                  <c:v>8.5257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solidFill>
              <a:srgbClr val="2E7DA8"/>
            </a:solidFill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4.8066</c:v>
                </c:pt>
                <c:pt idx="1">
                  <c:v>5.3825</c:v>
                </c:pt>
                <c:pt idx="2">
                  <c:v>6.1125</c:v>
                </c:pt>
                <c:pt idx="3">
                  <c:v>6.6803</c:v>
                </c:pt>
                <c:pt idx="4">
                  <c:v>6.8695</c:v>
                </c:pt>
                <c:pt idx="5">
                  <c:v>6.9504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D6544D"/>
            </a:solidFill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1.5518</c:v>
                </c:pt>
                <c:pt idx="1">
                  <c:v>2.7323</c:v>
                </c:pt>
                <c:pt idx="2">
                  <c:v>3.095</c:v>
                </c:pt>
                <c:pt idx="3">
                  <c:v>2.9543</c:v>
                </c:pt>
                <c:pt idx="4">
                  <c:v>1.991</c:v>
                </c:pt>
                <c:pt idx="5">
                  <c:v>1.304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solidFill>
              <a:srgbClr val="28A596"/>
            </a:solidFill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2.2515</c:v>
                </c:pt>
                <c:pt idx="1">
                  <c:v>2.7532</c:v>
                </c:pt>
                <c:pt idx="2">
                  <c:v>3.2367</c:v>
                </c:pt>
                <c:pt idx="3">
                  <c:v>4.6282</c:v>
                </c:pt>
                <c:pt idx="4">
                  <c:v>4.8318</c:v>
                </c:pt>
                <c:pt idx="5">
                  <c:v>7.1312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solidFill>
              <a:srgbClr val="2E7DA8"/>
            </a:solidFill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1.0422</c:v>
                </c:pt>
                <c:pt idx="1">
                  <c:v>1.8094</c:v>
                </c:pt>
                <c:pt idx="2">
                  <c:v>2.274</c:v>
                </c:pt>
                <c:pt idx="3">
                  <c:v>3.1776</c:v>
                </c:pt>
                <c:pt idx="4">
                  <c:v>2.0479</c:v>
                </c:pt>
                <c:pt idx="5">
                  <c:v>1.9915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solidFill>
              <a:srgbClr val="D6544D"/>
            </a:solidFill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Feb 26</c:v>
                  </c:pt>
                  <c:pt idx="1">
                    <c:v>Mar 26</c:v>
                  </c:pt>
                  <c:pt idx="2">
                    <c:v>Apr 26</c:v>
                  </c:pt>
                  <c:pt idx="3">
                    <c:v>May 26</c:v>
                  </c:pt>
                  <c:pt idx="4">
                    <c:v>Jun 26</c:v>
                  </c:pt>
                  <c:pt idx="5">
                    <c:v>Jul 26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0.5635</c:v>
                </c:pt>
                <c:pt idx="1">
                  <c:v>0.5748</c:v>
                </c:pt>
                <c:pt idx="2">
                  <c:v>0.6938</c:v>
                </c:pt>
                <c:pt idx="3">
                  <c:v>0.6607</c:v>
                </c:pt>
                <c:pt idx="4">
                  <c:v>0.6635</c:v>
                </c:pt>
                <c:pt idx="5">
                  <c:v>0.6285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chart" Target="/ppt/charts/chart2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chart" Target="/ppt/charts/chart2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chart" Target="/ppt/charts/chart29.xml"/><Relationship Id="rId3" Type="http://schemas.openxmlformats.org/officeDocument/2006/relationships/chart" Target="/ppt/charts/chart30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Modern Trade Growth Command Centre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| Primary, offtake, portfolio and execution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05840"/>
          </a:xfrm>
          <a:prstGeom prst="roundRect">
            <a:avLst>
              <a:gd name="adj" fmla="val 272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3533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 of MT offtake is recoverable at your own internal benchmark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170078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 MT offtake  •  73.4% MT conversion  •  ₹13.11 Cr MT gap  •  incl. eB2B ₹2.07 Cr and SIS ₹0.03 Cr sub-channels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1938528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(geographic zones + eB2B + SIS sub-channels). If North, East and South-2 converted at the rate West and South-1 already achieve, MT geographic conversion moves 72.2% → 85.5% with no additional primary; that represents ₹6.22 Cr of recoverable offtake from the existing load.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5176" y="241401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FLOW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56616" y="2779776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zone (₹ Cr)</a:t>
            </a:r>
            <a:endParaRPr lang="en-US" sz="72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338328" y="2980944"/>
          <a:ext cx="187147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9" name="Text 26"/>
          <p:cNvSpPr/>
          <p:nvPr/>
        </p:nvSpPr>
        <p:spPr>
          <a:xfrm>
            <a:off x="356616" y="4535424"/>
            <a:ext cx="1834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South-1 convert 82–84%. North and East convert 46–59% on more primary.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2420112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420112" y="2414016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2" name="Text 29"/>
          <p:cNvSpPr/>
          <p:nvPr/>
        </p:nvSpPr>
        <p:spPr>
          <a:xfrm>
            <a:off x="2502408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 GAP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2511552" y="2779776"/>
            <a:ext cx="1834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billed and not yet sold through</a:t>
            </a:r>
            <a:endParaRPr lang="en-US" sz="740" dirty="0"/>
          </a:p>
        </p:txBody>
      </p:sp>
      <p:graphicFrame>
        <p:nvGraphicFramePr>
          <p:cNvPr id="34" name="Chart 1" descr=""/>
          <p:cNvGraphicFramePr/>
          <p:nvPr/>
        </p:nvGraphicFramePr>
        <p:xfrm>
          <a:off x="2456688" y="3017520"/>
          <a:ext cx="1944624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Text 31"/>
          <p:cNvSpPr/>
          <p:nvPr/>
        </p:nvSpPr>
        <p:spPr>
          <a:xfrm>
            <a:off x="2529840" y="4553712"/>
            <a:ext cx="1798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and East hold ₹7.97 Cr of the gap — 61% of it in two zones. eB2B (₹2.20 Cr) and SIS are MT sub-channels with their own pages; zone benchmark uses geographic accounts only.</a:t>
            </a:r>
            <a:endParaRPr lang="en-US" sz="680" dirty="0"/>
          </a:p>
        </p:txBody>
      </p:sp>
      <p:sp>
        <p:nvSpPr>
          <p:cNvPr id="36" name="Shape 32"/>
          <p:cNvSpPr/>
          <p:nvPr/>
        </p:nvSpPr>
        <p:spPr>
          <a:xfrm>
            <a:off x="4575048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575048" y="2414016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8" name="Text 34"/>
          <p:cNvSpPr/>
          <p:nvPr/>
        </p:nvSpPr>
        <p:spPr>
          <a:xfrm>
            <a:off x="4657344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4666488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900" dirty="0"/>
          </a:p>
        </p:txBody>
      </p:sp>
      <p:sp>
        <p:nvSpPr>
          <p:cNvPr id="40" name="Text 36"/>
          <p:cNvSpPr/>
          <p:nvPr/>
        </p:nvSpPr>
        <p:spPr>
          <a:xfrm>
            <a:off x="4666488" y="3163824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no extra primary</a:t>
            </a:r>
            <a:endParaRPr lang="en-US" sz="680" dirty="0"/>
          </a:p>
        </p:txBody>
      </p:sp>
      <p:sp>
        <p:nvSpPr>
          <p:cNvPr id="41" name="Text 37"/>
          <p:cNvSpPr/>
          <p:nvPr/>
        </p:nvSpPr>
        <p:spPr>
          <a:xfrm>
            <a:off x="4666488" y="3383280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by zone (₹ Cr)</a:t>
            </a:r>
            <a:endParaRPr lang="en-US" sz="720" dirty="0"/>
          </a:p>
        </p:txBody>
      </p:sp>
      <p:graphicFrame>
        <p:nvGraphicFramePr>
          <p:cNvPr id="42" name="Chart 2" descr=""/>
          <p:cNvGraphicFramePr/>
          <p:nvPr/>
        </p:nvGraphicFramePr>
        <p:xfrm>
          <a:off x="4593336" y="3584448"/>
          <a:ext cx="1944624" cy="1005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3" name="Text 38"/>
          <p:cNvSpPr/>
          <p:nvPr/>
        </p:nvSpPr>
        <p:spPr>
          <a:xfrm>
            <a:off x="4666488" y="4626864"/>
            <a:ext cx="1834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+0.05 and Central +0.13 are below the ₹0.25 Cr floor.</a:t>
            </a:r>
            <a:endParaRPr lang="en-US" sz="620" dirty="0"/>
          </a:p>
        </p:txBody>
      </p:sp>
      <p:sp>
        <p:nvSpPr>
          <p:cNvPr id="44" name="Shape 39"/>
          <p:cNvSpPr/>
          <p:nvPr/>
        </p:nvSpPr>
        <p:spPr>
          <a:xfrm>
            <a:off x="265176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265176" y="517550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46" name="Text 41"/>
          <p:cNvSpPr/>
          <p:nvPr/>
        </p:nvSpPr>
        <p:spPr>
          <a:xfrm>
            <a:off x="347472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ONE-ACCOUNT MONTH</a:t>
            </a:r>
            <a:endParaRPr lang="en-US" sz="700" dirty="0"/>
          </a:p>
        </p:txBody>
      </p:sp>
      <p:sp>
        <p:nvSpPr>
          <p:cNvPr id="47" name="Text 42"/>
          <p:cNvSpPr/>
          <p:nvPr/>
        </p:nvSpPr>
        <p:spPr>
          <a:xfrm>
            <a:off x="356616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700" dirty="0"/>
          </a:p>
        </p:txBody>
      </p:sp>
      <p:sp>
        <p:nvSpPr>
          <p:cNvPr id="48" name="Text 43"/>
          <p:cNvSpPr/>
          <p:nvPr/>
        </p:nvSpPr>
        <p:spPr>
          <a:xfrm>
            <a:off x="356616" y="5888736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June → July</a:t>
            </a:r>
            <a:endParaRPr lang="en-US" sz="680" dirty="0"/>
          </a:p>
        </p:txBody>
      </p:sp>
      <p:sp>
        <p:nvSpPr>
          <p:cNvPr id="49" name="Shape 44"/>
          <p:cNvSpPr/>
          <p:nvPr/>
        </p:nvSpPr>
        <p:spPr>
          <a:xfrm>
            <a:off x="374904" y="61767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50" name="Text 45"/>
          <p:cNvSpPr/>
          <p:nvPr/>
        </p:nvSpPr>
        <p:spPr>
          <a:xfrm>
            <a:off x="493776" y="61264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fell ₹1.29 Cr month on month.</a:t>
            </a:r>
            <a:endParaRPr lang="en-US" sz="690" dirty="0"/>
          </a:p>
        </p:txBody>
      </p:sp>
      <p:sp>
        <p:nvSpPr>
          <p:cNvPr id="51" name="Shape 46"/>
          <p:cNvSpPr/>
          <p:nvPr/>
        </p:nvSpPr>
        <p:spPr>
          <a:xfrm>
            <a:off x="374904" y="656082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52" name="Text 47"/>
          <p:cNvSpPr/>
          <p:nvPr/>
        </p:nvSpPr>
        <p:spPr>
          <a:xfrm>
            <a:off x="493776" y="65105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combined, grew ₹0.13 Cr.</a:t>
            </a:r>
            <a:endParaRPr lang="en-US" sz="690" dirty="0"/>
          </a:p>
        </p:txBody>
      </p:sp>
      <p:sp>
        <p:nvSpPr>
          <p:cNvPr id="53" name="Shape 48"/>
          <p:cNvSpPr/>
          <p:nvPr/>
        </p:nvSpPr>
        <p:spPr>
          <a:xfrm>
            <a:off x="374904" y="694486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54" name="Text 49"/>
          <p:cNvSpPr/>
          <p:nvPr/>
        </p:nvSpPr>
        <p:spPr>
          <a:xfrm>
            <a:off x="493776" y="68945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broad softening — it is one account.</a:t>
            </a:r>
            <a:endParaRPr lang="en-US" sz="690" dirty="0"/>
          </a:p>
        </p:txBody>
      </p:sp>
      <p:sp>
        <p:nvSpPr>
          <p:cNvPr id="55" name="Shape 50"/>
          <p:cNvSpPr/>
          <p:nvPr/>
        </p:nvSpPr>
        <p:spPr>
          <a:xfrm>
            <a:off x="2420112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2420112" y="5175504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57" name="Text 52"/>
          <p:cNvSpPr/>
          <p:nvPr/>
        </p:nvSpPr>
        <p:spPr>
          <a:xfrm>
            <a:off x="2502408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MIS-TARGETED</a:t>
            </a:r>
            <a:endParaRPr lang="en-US" sz="700" dirty="0"/>
          </a:p>
        </p:txBody>
      </p:sp>
      <p:sp>
        <p:nvSpPr>
          <p:cNvPr id="58" name="Text 53"/>
          <p:cNvSpPr/>
          <p:nvPr/>
        </p:nvSpPr>
        <p:spPr>
          <a:xfrm>
            <a:off x="2511552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00" dirty="0"/>
          </a:p>
        </p:txBody>
      </p:sp>
      <p:sp>
        <p:nvSpPr>
          <p:cNvPr id="59" name="Text 54"/>
          <p:cNvSpPr/>
          <p:nvPr/>
        </p:nvSpPr>
        <p:spPr>
          <a:xfrm>
            <a:off x="2529840" y="588873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NPI value sits in the two worst-converting accounts</a:t>
            </a:r>
            <a:endParaRPr lang="en-US" sz="680" dirty="0"/>
          </a:p>
        </p:txBody>
      </p:sp>
      <p:sp>
        <p:nvSpPr>
          <p:cNvPr id="60" name="Shape 55"/>
          <p:cNvSpPr/>
          <p:nvPr/>
        </p:nvSpPr>
        <p:spPr>
          <a:xfrm>
            <a:off x="2529840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1" name="Text 56"/>
          <p:cNvSpPr/>
          <p:nvPr/>
        </p:nvSpPr>
        <p:spPr>
          <a:xfrm>
            <a:off x="2648712" y="6217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alone holds 47.1% of NPI at 51.4% conversion.</a:t>
            </a:r>
            <a:endParaRPr lang="en-US" sz="690" dirty="0"/>
          </a:p>
        </p:txBody>
      </p:sp>
      <p:sp>
        <p:nvSpPr>
          <p:cNvPr id="62" name="Shape 57"/>
          <p:cNvSpPr/>
          <p:nvPr/>
        </p:nvSpPr>
        <p:spPr>
          <a:xfrm>
            <a:off x="2529840" y="6633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3" name="Text 58"/>
          <p:cNvSpPr/>
          <p:nvPr/>
        </p:nvSpPr>
        <p:spPr>
          <a:xfrm>
            <a:off x="2648712" y="6583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runs the highest NPI mix (10.2%) on the worst flow (49.9%).</a:t>
            </a:r>
            <a:endParaRPr lang="en-US" sz="690" dirty="0"/>
          </a:p>
        </p:txBody>
      </p:sp>
      <p:sp>
        <p:nvSpPr>
          <p:cNvPr id="64" name="Shape 59"/>
          <p:cNvSpPr/>
          <p:nvPr/>
        </p:nvSpPr>
        <p:spPr>
          <a:xfrm>
            <a:off x="2529840" y="6999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65" name="Text 60"/>
          <p:cNvSpPr/>
          <p:nvPr/>
        </p:nvSpPr>
        <p:spPr>
          <a:xfrm>
            <a:off x="2648712" y="6949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will read as product failure when they are flow failure.</a:t>
            </a:r>
            <a:endParaRPr lang="en-US" sz="690" dirty="0"/>
          </a:p>
        </p:txBody>
      </p:sp>
      <p:sp>
        <p:nvSpPr>
          <p:cNvPr id="66" name="Shape 61"/>
          <p:cNvSpPr/>
          <p:nvPr/>
        </p:nvSpPr>
        <p:spPr>
          <a:xfrm>
            <a:off x="4575048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2"/>
          <p:cNvSpPr/>
          <p:nvPr/>
        </p:nvSpPr>
        <p:spPr>
          <a:xfrm>
            <a:off x="4575048" y="517550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68" name="Text 63"/>
          <p:cNvSpPr/>
          <p:nvPr/>
        </p:nvSpPr>
        <p:spPr>
          <a:xfrm>
            <a:off x="4657344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ENGINES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4684776" y="562813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70" name="Text 65"/>
          <p:cNvSpPr/>
          <p:nvPr/>
        </p:nvSpPr>
        <p:spPr>
          <a:xfrm>
            <a:off x="4803648" y="55778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₹8.27 Cr at 85.2% — national benchmark.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4684776" y="599389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72" name="Text 67"/>
          <p:cNvSpPr/>
          <p:nvPr/>
        </p:nvSpPr>
        <p:spPr>
          <a:xfrm>
            <a:off x="4803648" y="594360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₹8.18 Cr at 86.3% — best flow in the country.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4684776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4" name="Text 69"/>
          <p:cNvSpPr/>
          <p:nvPr/>
        </p:nvSpPr>
        <p:spPr>
          <a:xfrm>
            <a:off x="4803648" y="63093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₹4.41 Cr gap — largest recovery pool.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684776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6" name="Text 71"/>
          <p:cNvSpPr/>
          <p:nvPr/>
        </p:nvSpPr>
        <p:spPr>
          <a:xfrm>
            <a:off x="4803648" y="66751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49.9% conversion — weakest flow, highest NPI mix.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4684776" y="70911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8" name="Text 73"/>
          <p:cNvSpPr/>
          <p:nvPr/>
        </p:nvSpPr>
        <p:spPr>
          <a:xfrm>
            <a:off x="4803648" y="70408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now clears the floor at +₹0.90 Cr recoverable.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265176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265176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1" name="Text 76"/>
          <p:cNvSpPr/>
          <p:nvPr/>
        </p:nvSpPr>
        <p:spPr>
          <a:xfrm>
            <a:off x="347472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MOVES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374904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3" name="Text 78"/>
          <p:cNvSpPr/>
          <p:nvPr/>
        </p:nvSpPr>
        <p:spPr>
          <a:xfrm>
            <a:off x="493776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map Lulu, Wellness and H&amp;G primary — ₹2.23 Cr blind.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374904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5" name="Text 80"/>
          <p:cNvSpPr/>
          <p:nvPr/>
        </p:nvSpPr>
        <p:spPr>
          <a:xfrm>
            <a:off x="493776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cap East and North primary at trailing 3-month offtake.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374904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7" name="Text 82"/>
          <p:cNvSpPr/>
          <p:nvPr/>
        </p:nvSpPr>
        <p:spPr>
          <a:xfrm>
            <a:off x="493776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31–60d: Reliance recovery loop across North, East and Central.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9" name="Text 84"/>
          <p:cNvSpPr/>
          <p:nvPr/>
        </p:nvSpPr>
        <p:spPr>
          <a:xfrm>
            <a:off x="493776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61–90d: reset loading rules by verified conversion, not by target.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374904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1" name="Text 86"/>
          <p:cNvSpPr/>
          <p:nvPr/>
        </p:nvSpPr>
        <p:spPr>
          <a:xfrm>
            <a:off x="493776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already proven.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2420112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3" name="Shape 88"/>
          <p:cNvSpPr/>
          <p:nvPr/>
        </p:nvSpPr>
        <p:spPr>
          <a:xfrm>
            <a:off x="2420112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4" name="Text 89"/>
          <p:cNvSpPr/>
          <p:nvPr/>
        </p:nvSpPr>
        <p:spPr>
          <a:xfrm>
            <a:off x="2502408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SCOREBOARD</a:t>
            </a:r>
            <a:endParaRPr lang="en-US" sz="700" dirty="0"/>
          </a:p>
        </p:txBody>
      </p:sp>
      <p:sp>
        <p:nvSpPr>
          <p:cNvPr id="95" name="Shape 90"/>
          <p:cNvSpPr/>
          <p:nvPr/>
        </p:nvSpPr>
        <p:spPr>
          <a:xfrm>
            <a:off x="2529840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6" name="Text 91"/>
          <p:cNvSpPr/>
          <p:nvPr/>
        </p:nvSpPr>
        <p:spPr>
          <a:xfrm>
            <a:off x="2648712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— the one metric. 72.2% → 85.5%.</a:t>
            </a:r>
            <a:endParaRPr lang="en-US" sz="700" dirty="0"/>
          </a:p>
        </p:txBody>
      </p:sp>
      <p:sp>
        <p:nvSpPr>
          <p:cNvPr id="97" name="Shape 92"/>
          <p:cNvSpPr/>
          <p:nvPr/>
        </p:nvSpPr>
        <p:spPr>
          <a:xfrm>
            <a:off x="2529840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8" name="Text 93"/>
          <p:cNvSpPr/>
          <p:nvPr/>
        </p:nvSpPr>
        <p:spPr>
          <a:xfrm>
            <a:off x="2648712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−₹2.78 Cr and East −₹2.54 Cr against benchmark, weekly.</a:t>
            </a:r>
            <a:endParaRPr lang="en-US" sz="700" dirty="0"/>
          </a:p>
        </p:txBody>
      </p:sp>
      <p:sp>
        <p:nvSpPr>
          <p:cNvPr id="99" name="Shape 94"/>
          <p:cNvSpPr/>
          <p:nvPr/>
        </p:nvSpPr>
        <p:spPr>
          <a:xfrm>
            <a:off x="2529840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0" name="Text 95"/>
          <p:cNvSpPr/>
          <p:nvPr/>
        </p:nvSpPr>
        <p:spPr>
          <a:xfrm>
            <a:off x="2648712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 above 95% in priority stores.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2529840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2" name="Text 97"/>
          <p:cNvSpPr/>
          <p:nvPr/>
        </p:nvSpPr>
        <p:spPr>
          <a:xfrm>
            <a:off x="2648712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chains: zero before the August pack ships.</a:t>
            </a:r>
            <a:endParaRPr lang="en-US" sz="700" dirty="0"/>
          </a:p>
        </p:txBody>
      </p:sp>
      <p:sp>
        <p:nvSpPr>
          <p:cNvPr id="103" name="Shape 98"/>
          <p:cNvSpPr/>
          <p:nvPr/>
        </p:nvSpPr>
        <p:spPr>
          <a:xfrm>
            <a:off x="2529840" y="99258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4" name="Text 99"/>
          <p:cNvSpPr/>
          <p:nvPr/>
        </p:nvSpPr>
        <p:spPr>
          <a:xfrm>
            <a:off x="2648712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purity: no eB2B or SIS value inside any MT zone.</a:t>
            </a:r>
            <a:endParaRPr lang="en-US" sz="700" dirty="0"/>
          </a:p>
        </p:txBody>
      </p:sp>
      <p:sp>
        <p:nvSpPr>
          <p:cNvPr id="105" name="Shape 100"/>
          <p:cNvSpPr/>
          <p:nvPr/>
        </p:nvSpPr>
        <p:spPr>
          <a:xfrm>
            <a:off x="4575048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4575048" y="793699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07" name="Text 102"/>
          <p:cNvSpPr/>
          <p:nvPr/>
        </p:nvSpPr>
        <p:spPr>
          <a:xfrm>
            <a:off x="4657344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SAFEGUARDS</a:t>
            </a:r>
            <a:endParaRPr lang="en-US" sz="700" dirty="0"/>
          </a:p>
        </p:txBody>
      </p:sp>
      <p:sp>
        <p:nvSpPr>
          <p:cNvPr id="108" name="Shape 103"/>
          <p:cNvSpPr/>
          <p:nvPr/>
        </p:nvSpPr>
        <p:spPr>
          <a:xfrm>
            <a:off x="4684776" y="838962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09" name="Text 104"/>
          <p:cNvSpPr/>
          <p:nvPr/>
        </p:nvSpPr>
        <p:spPr>
          <a:xfrm>
            <a:off x="4803648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gap is not inventory or stock cover — it is unconverted billing.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4684776" y="877366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1" name="Text 106"/>
          <p:cNvSpPr/>
          <p:nvPr/>
        </p:nvSpPr>
        <p:spPr>
          <a:xfrm>
            <a:off x="4803648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above 100% is a timing or stock signal, never a success.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4684776" y="915771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3" name="Text 108"/>
          <p:cNvSpPr/>
          <p:nvPr/>
        </p:nvSpPr>
        <p:spPr>
          <a:xfrm>
            <a:off x="4803648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is shown below a ₹0.25 Cr materiality floor.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4684776" y="954176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5" name="Text 110"/>
          <p:cNvSpPr/>
          <p:nvPr/>
        </p:nvSpPr>
        <p:spPr>
          <a:xfrm>
            <a:off x="4803648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99.7% averages 121–149% zone errors — do not quote it.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4684776" y="99258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7" name="Text 112"/>
          <p:cNvSpPr/>
          <p:nvPr/>
        </p:nvSpPr>
        <p:spPr>
          <a:xfrm>
            <a:off x="4803648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YoY or target claim without a matched comparator.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Q1 FY27: Modern Trade grew 66.6% to ₹107.75 Cr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in review | Apr–Jun 2026 vs Apr–Jun 2025 | Modern Trade accounts only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₹107.75 Cr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₹64.69 Cr in Q1 FY26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GROWTH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+66.6%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read was +63.6%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PRIMARY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₹129.73 Cr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== MT, three months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CONVERSION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83.1%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fell to 72.2%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" y="230428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Q1 NOTE ON THE BASE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June pack reported Q1 at ₹114.39 Cr and +63.6% on a total MT base. Nykaa (FSN) (eB2B sub-channel) grew only 25% against the network’s 67%, dragging the blended headline. The geographic zone base grew 66.6%. Both bases are valid; quote the total MT (₹107.75 Cr, 66.6%) for zone-improvement commentary.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5176" y="29809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3" name="Text 41"/>
          <p:cNvSpPr/>
          <p:nvPr/>
        </p:nvSpPr>
        <p:spPr>
          <a:xfrm>
            <a:off x="374904" y="29992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— Q1 FY27 vs Q1 FY26 (MODERN TRADE ONLY)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328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5" name="Text 43"/>
          <p:cNvSpPr/>
          <p:nvPr/>
        </p:nvSpPr>
        <p:spPr>
          <a:xfrm>
            <a:off x="320040" y="3346704"/>
            <a:ext cx="10824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151220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242925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3346306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4217504" y="3346704"/>
            <a:ext cx="578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4905292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5776490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5844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51"/>
          <p:cNvSpPr/>
          <p:nvPr/>
        </p:nvSpPr>
        <p:spPr>
          <a:xfrm>
            <a:off x="265176" y="38953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0040" y="358444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51220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18.77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242925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29.05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3346306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+55%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217504" y="358444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27.0%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4905292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60" name="Text 58"/>
          <p:cNvSpPr/>
          <p:nvPr/>
        </p:nvSpPr>
        <p:spPr>
          <a:xfrm>
            <a:off x="5776490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265176" y="4206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20040" y="3895344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151220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15.83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42925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26.41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346306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17504" y="3895344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905292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776490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420624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65176" y="45171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" y="4206240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51220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13.56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42925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24.89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3346306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4217504" y="4206240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23.1%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905292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5776490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20040" y="4517136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80" name="Text 78"/>
          <p:cNvSpPr/>
          <p:nvPr/>
        </p:nvSpPr>
        <p:spPr>
          <a:xfrm>
            <a:off x="151220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9.52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242925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15.76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3346306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+66%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4217504" y="4517136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4905292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5776490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86" name="Shape 84"/>
          <p:cNvSpPr/>
          <p:nvPr/>
        </p:nvSpPr>
        <p:spPr>
          <a:xfrm>
            <a:off x="265176" y="482803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87" name="Shape 85"/>
          <p:cNvSpPr/>
          <p:nvPr/>
        </p:nvSpPr>
        <p:spPr>
          <a:xfrm>
            <a:off x="265176" y="51389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20040" y="4828032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89" name="Text 87"/>
          <p:cNvSpPr/>
          <p:nvPr/>
        </p:nvSpPr>
        <p:spPr>
          <a:xfrm>
            <a:off x="151220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</a:t>
            </a:r>
            <a:endParaRPr lang="en-US" sz="740" dirty="0"/>
          </a:p>
        </p:txBody>
      </p:sp>
      <p:sp>
        <p:nvSpPr>
          <p:cNvPr id="90" name="Text 88"/>
          <p:cNvSpPr/>
          <p:nvPr/>
        </p:nvSpPr>
        <p:spPr>
          <a:xfrm>
            <a:off x="242925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11.73</a:t>
            </a:r>
            <a:endParaRPr lang="en-US" sz="740" dirty="0"/>
          </a:p>
        </p:txBody>
      </p:sp>
      <p:sp>
        <p:nvSpPr>
          <p:cNvPr id="91" name="Text 89"/>
          <p:cNvSpPr/>
          <p:nvPr/>
        </p:nvSpPr>
        <p:spPr>
          <a:xfrm>
            <a:off x="3346306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92" name="Text 90"/>
          <p:cNvSpPr/>
          <p:nvPr/>
        </p:nvSpPr>
        <p:spPr>
          <a:xfrm>
            <a:off x="4217504" y="4828032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740" dirty="0"/>
          </a:p>
        </p:txBody>
      </p:sp>
      <p:sp>
        <p:nvSpPr>
          <p:cNvPr id="93" name="Text 91"/>
          <p:cNvSpPr/>
          <p:nvPr/>
        </p:nvSpPr>
        <p:spPr>
          <a:xfrm>
            <a:off x="4905292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94" name="Text 92"/>
          <p:cNvSpPr/>
          <p:nvPr/>
        </p:nvSpPr>
        <p:spPr>
          <a:xfrm>
            <a:off x="5776490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20040" y="513892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</a:t>
            </a:r>
            <a:endParaRPr lang="en-US" sz="740" dirty="0"/>
          </a:p>
        </p:txBody>
      </p:sp>
      <p:sp>
        <p:nvSpPr>
          <p:cNvPr id="97" name="Text 95"/>
          <p:cNvSpPr/>
          <p:nvPr/>
        </p:nvSpPr>
        <p:spPr>
          <a:xfrm>
            <a:off x="151220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64.69</a:t>
            </a:r>
            <a:endParaRPr lang="en-US" sz="740" dirty="0"/>
          </a:p>
        </p:txBody>
      </p:sp>
      <p:sp>
        <p:nvSpPr>
          <p:cNvPr id="98" name="Text 96"/>
          <p:cNvSpPr/>
          <p:nvPr/>
        </p:nvSpPr>
        <p:spPr>
          <a:xfrm>
            <a:off x="242925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107.75</a:t>
            </a:r>
            <a:endParaRPr lang="en-US" sz="740" dirty="0"/>
          </a:p>
        </p:txBody>
      </p:sp>
      <p:sp>
        <p:nvSpPr>
          <p:cNvPr id="99" name="Text 97"/>
          <p:cNvSpPr/>
          <p:nvPr/>
        </p:nvSpPr>
        <p:spPr>
          <a:xfrm>
            <a:off x="3346306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+66.6%</a:t>
            </a:r>
            <a:endParaRPr lang="en-US" sz="740" dirty="0"/>
          </a:p>
        </p:txBody>
      </p:sp>
      <p:sp>
        <p:nvSpPr>
          <p:cNvPr id="100" name="Text 98"/>
          <p:cNvSpPr/>
          <p:nvPr/>
        </p:nvSpPr>
        <p:spPr>
          <a:xfrm>
            <a:off x="4217504" y="513892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101" name="Text 99"/>
          <p:cNvSpPr/>
          <p:nvPr/>
        </p:nvSpPr>
        <p:spPr>
          <a:xfrm>
            <a:off x="4905292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83.1%</a:t>
            </a:r>
            <a:endParaRPr lang="en-US" sz="740" dirty="0"/>
          </a:p>
        </p:txBody>
      </p:sp>
      <p:sp>
        <p:nvSpPr>
          <p:cNvPr id="102" name="Text 100"/>
          <p:cNvSpPr/>
          <p:nvPr/>
        </p:nvSpPr>
        <p:spPr>
          <a:xfrm>
            <a:off x="5776490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</a:t>
            </a:r>
            <a:endParaRPr lang="en-US" sz="740" dirty="0"/>
          </a:p>
        </p:txBody>
      </p:sp>
      <p:sp>
        <p:nvSpPr>
          <p:cNvPr id="103" name="Text 101"/>
          <p:cNvSpPr/>
          <p:nvPr/>
        </p:nvSpPr>
        <p:spPr>
          <a:xfrm>
            <a:off x="265176" y="5504688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carried no primary in Apr–Jun and appears from July, so it has no Q1 comparative. eB2B (FSN) grew 25% to ₹6.53 Cr and is reported on page 13.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265176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65176" y="5815584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6" name="Text 104"/>
          <p:cNvSpPr/>
          <p:nvPr/>
        </p:nvSpPr>
        <p:spPr>
          <a:xfrm>
            <a:off x="347472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— Q1 FY27 (₹ Cr)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374904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</a:t>
            </a:r>
            <a:endParaRPr lang="en-US" sz="720" dirty="0"/>
          </a:p>
        </p:txBody>
      </p:sp>
      <p:sp>
        <p:nvSpPr>
          <p:cNvPr id="108" name="Text 106"/>
          <p:cNvSpPr/>
          <p:nvPr/>
        </p:nvSpPr>
        <p:spPr>
          <a:xfrm>
            <a:off x="1874520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26.00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2386584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42.32</a:t>
            </a:r>
            <a:endParaRPr lang="en-US" sz="720" dirty="0"/>
          </a:p>
        </p:txBody>
      </p:sp>
      <p:sp>
        <p:nvSpPr>
          <p:cNvPr id="110" name="Text 108"/>
          <p:cNvSpPr/>
          <p:nvPr/>
        </p:nvSpPr>
        <p:spPr>
          <a:xfrm>
            <a:off x="2898648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+63%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74904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112" name="Text 110"/>
          <p:cNvSpPr/>
          <p:nvPr/>
        </p:nvSpPr>
        <p:spPr>
          <a:xfrm>
            <a:off x="1874520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19.08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2386584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28.06</a:t>
            </a:r>
            <a:endParaRPr lang="en-US" sz="720" dirty="0"/>
          </a:p>
        </p:txBody>
      </p:sp>
      <p:sp>
        <p:nvSpPr>
          <p:cNvPr id="114" name="Text 112"/>
          <p:cNvSpPr/>
          <p:nvPr/>
        </p:nvSpPr>
        <p:spPr>
          <a:xfrm>
            <a:off x="2898648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374904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116" name="Text 114"/>
          <p:cNvSpPr/>
          <p:nvPr/>
        </p:nvSpPr>
        <p:spPr>
          <a:xfrm>
            <a:off x="1874520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7.93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386584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21.73</a:t>
            </a:r>
            <a:endParaRPr lang="en-US" sz="720" dirty="0"/>
          </a:p>
        </p:txBody>
      </p:sp>
      <p:sp>
        <p:nvSpPr>
          <p:cNvPr id="118" name="Text 116"/>
          <p:cNvSpPr/>
          <p:nvPr/>
        </p:nvSpPr>
        <p:spPr>
          <a:xfrm>
            <a:off x="2898648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+174%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374904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120" name="Text 118"/>
          <p:cNvSpPr/>
          <p:nvPr/>
        </p:nvSpPr>
        <p:spPr>
          <a:xfrm>
            <a:off x="1874520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2386584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3.33</a:t>
            </a:r>
            <a:endParaRPr lang="en-US" sz="720" dirty="0"/>
          </a:p>
        </p:txBody>
      </p:sp>
      <p:sp>
        <p:nvSpPr>
          <p:cNvPr id="122" name="Text 120"/>
          <p:cNvSpPr/>
          <p:nvPr/>
        </p:nvSpPr>
        <p:spPr>
          <a:xfrm>
            <a:off x="2898648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374904" y="738835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124" name="Text 122"/>
          <p:cNvSpPr/>
          <p:nvPr/>
        </p:nvSpPr>
        <p:spPr>
          <a:xfrm>
            <a:off x="1874520" y="7388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2.49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2386584" y="73883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</a:t>
            </a:r>
            <a:endParaRPr lang="en-US" sz="720" dirty="0"/>
          </a:p>
        </p:txBody>
      </p:sp>
      <p:sp>
        <p:nvSpPr>
          <p:cNvPr id="126" name="Text 124"/>
          <p:cNvSpPr/>
          <p:nvPr/>
        </p:nvSpPr>
        <p:spPr>
          <a:xfrm>
            <a:off x="2898648" y="7388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+17%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374904" y="76992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added ₹13.80 Cr — the largest absolute gain of any account, off a base a third of DMart’s.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3502152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502152" y="5815584"/>
            <a:ext cx="3090672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584448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— Q1 FY27 (₹ Cr)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3611880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132" name="Text 130"/>
          <p:cNvSpPr/>
          <p:nvPr/>
        </p:nvSpPr>
        <p:spPr>
          <a:xfrm>
            <a:off x="5111496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61.42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5623560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82.54</a:t>
            </a:r>
            <a:endParaRPr lang="en-US" sz="720" dirty="0"/>
          </a:p>
        </p:txBody>
      </p:sp>
      <p:sp>
        <p:nvSpPr>
          <p:cNvPr id="134" name="Text 132"/>
          <p:cNvSpPr/>
          <p:nvPr/>
        </p:nvSpPr>
        <p:spPr>
          <a:xfrm>
            <a:off x="6135624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3611880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5111496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6.34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5623560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29.51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6135624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+365%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3611880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20" dirty="0"/>
          </a:p>
        </p:txBody>
      </p:sp>
      <p:sp>
        <p:nvSpPr>
          <p:cNvPr id="140" name="Text 138"/>
          <p:cNvSpPr/>
          <p:nvPr/>
        </p:nvSpPr>
        <p:spPr>
          <a:xfrm>
            <a:off x="5111496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5623560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6135624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3611880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brands</a:t>
            </a:r>
            <a:endParaRPr lang="en-US" sz="720" dirty="0"/>
          </a:p>
        </p:txBody>
      </p:sp>
      <p:sp>
        <p:nvSpPr>
          <p:cNvPr id="144" name="Text 142"/>
          <p:cNvSpPr/>
          <p:nvPr/>
        </p:nvSpPr>
        <p:spPr>
          <a:xfrm>
            <a:off x="5111496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5623560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720" dirty="0"/>
          </a:p>
        </p:txBody>
      </p:sp>
      <p:sp>
        <p:nvSpPr>
          <p:cNvPr id="146" name="Text 144"/>
          <p:cNvSpPr/>
          <p:nvPr/>
        </p:nvSpPr>
        <p:spPr>
          <a:xfrm>
            <a:off x="6135624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−18%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3611880" y="7479792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added ₹23.17 Cr — 54% of all Q1 growth — off a base one tenth of Mamaearth’s. Its scale-up is the quarter’s biggest commercial event.</a:t>
            </a:r>
            <a:endParaRPr lang="en-US" sz="680" dirty="0"/>
          </a:p>
        </p:txBody>
      </p:sp>
      <p:sp>
        <p:nvSpPr>
          <p:cNvPr id="148" name="Shape 146"/>
          <p:cNvSpPr/>
          <p:nvPr/>
        </p:nvSpPr>
        <p:spPr>
          <a:xfrm>
            <a:off x="265176" y="81015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49" name="Text 147"/>
          <p:cNvSpPr/>
          <p:nvPr/>
        </p:nvSpPr>
        <p:spPr>
          <a:xfrm>
            <a:off x="374904" y="81198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READOUT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356616" y="85176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51" name="Text 149"/>
          <p:cNvSpPr/>
          <p:nvPr/>
        </p:nvSpPr>
        <p:spPr>
          <a:xfrm>
            <a:off x="475488" y="846734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grew more than 55% and South-1 led at +84%. Growth is broad-based, not carried by one geography.</a:t>
            </a:r>
            <a:endParaRPr lang="en-US" sz="740" dirty="0"/>
          </a:p>
        </p:txBody>
      </p:sp>
      <p:sp>
        <p:nvSpPr>
          <p:cNvPr id="152" name="Shape 150"/>
          <p:cNvSpPr/>
          <p:nvPr/>
        </p:nvSpPr>
        <p:spPr>
          <a:xfrm>
            <a:off x="356616" y="890168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53" name="Text 151"/>
          <p:cNvSpPr/>
          <p:nvPr/>
        </p:nvSpPr>
        <p:spPr>
          <a:xfrm>
            <a:off x="475488" y="885139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at +365% supplied 54% of the quarter’s growth on a tenth of Mamaearth’s base — the portfolio is genuinely widening.</a:t>
            </a:r>
            <a:endParaRPr lang="en-US" sz="740" dirty="0"/>
          </a:p>
        </p:txBody>
      </p:sp>
      <p:sp>
        <p:nvSpPr>
          <p:cNvPr id="154" name="Shape 152"/>
          <p:cNvSpPr/>
          <p:nvPr/>
        </p:nvSpPr>
        <p:spPr>
          <a:xfrm>
            <a:off x="356616" y="9285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55" name="Text 153"/>
          <p:cNvSpPr/>
          <p:nvPr/>
        </p:nvSpPr>
        <p:spPr>
          <a:xfrm>
            <a:off x="475488" y="923544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+174% is the fastest material account, now ₹21.73 Cr and ahead of its Q1 FY26 position by ₹13.80 Cr.</a:t>
            </a:r>
            <a:endParaRPr lang="en-US" sz="740" dirty="0"/>
          </a:p>
        </p:txBody>
      </p:sp>
      <p:sp>
        <p:nvSpPr>
          <p:cNvPr id="156" name="Shape 154"/>
          <p:cNvSpPr/>
          <p:nvPr/>
        </p:nvSpPr>
        <p:spPr>
          <a:xfrm>
            <a:off x="356616" y="96697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57" name="Text 155"/>
          <p:cNvSpPr/>
          <p:nvPr/>
        </p:nvSpPr>
        <p:spPr>
          <a:xfrm>
            <a:off x="475488" y="96194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converted at 83.1%; July converted at 72.2% — and the two zones that led Q1 conversion fell hardest. Page 3 explains why.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did not break — it is the quarter-opening load, and April did the same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July conversion fell | monthly Modern Trade flow, Apr–Jul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969264"/>
          </a:xfrm>
          <a:prstGeom prst="roundRect">
            <a:avLst>
              <a:gd name="adj" fmla="val 2830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3533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Conversion collapses in the first month of every quarter, then recovers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70.0%   →   May 90.1%   →   Jun 91.4%   →   Jul 72.2%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" y="192024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opened Q1 with ₹48.00 Cr of primary against ₹33.60 Cr of offtake. July opened Q2 with ₹47.02 Cr against ₹33.96 Cr. The two months are the same event, one quarter apart. Reading July on its own turns a billing rhythm into a performance crisis.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65176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primary vs offtake by month (₹ Cr)</a:t>
            </a:r>
            <a:endParaRPr lang="en-US" sz="72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246888" y="2578608"/>
          <a:ext cx="3090672" cy="15179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3502152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by month (%)</a:t>
            </a:r>
            <a:endParaRPr lang="en-US" sz="720" dirty="0"/>
          </a:p>
        </p:txBody>
      </p:sp>
      <p:graphicFrame>
        <p:nvGraphicFramePr>
          <p:cNvPr id="27" name="Chart 1" descr=""/>
          <p:cNvGraphicFramePr/>
          <p:nvPr/>
        </p:nvGraphicFramePr>
        <p:xfrm>
          <a:off x="3483864" y="2578608"/>
          <a:ext cx="3090672" cy="15179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Shape 24"/>
          <p:cNvSpPr/>
          <p:nvPr/>
        </p:nvSpPr>
        <p:spPr>
          <a:xfrm>
            <a:off x="265176" y="426110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9" name="Text 25"/>
          <p:cNvSpPr/>
          <p:nvPr/>
        </p:nvSpPr>
        <p:spPr>
          <a:xfrm>
            <a:off x="374904" y="4279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THAT LOADED HARDEST CONVERTED WORST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265176" y="460857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1" name="Text 27"/>
          <p:cNvSpPr/>
          <p:nvPr/>
        </p:nvSpPr>
        <p:spPr>
          <a:xfrm>
            <a:off x="32004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32" name="Text 28"/>
          <p:cNvSpPr/>
          <p:nvPr/>
        </p:nvSpPr>
        <p:spPr>
          <a:xfrm>
            <a:off x="1374648" y="462686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MONTHLY AVG PRIMARY</a:t>
            </a:r>
            <a:endParaRPr lang="en-US" sz="660" dirty="0"/>
          </a:p>
        </p:txBody>
      </p:sp>
      <p:sp>
        <p:nvSpPr>
          <p:cNvPr id="33" name="Text 29"/>
          <p:cNvSpPr/>
          <p:nvPr/>
        </p:nvSpPr>
        <p:spPr>
          <a:xfrm>
            <a:off x="295656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</a:t>
            </a:r>
            <a:endParaRPr lang="en-US" sz="660" dirty="0"/>
          </a:p>
        </p:txBody>
      </p:sp>
      <p:sp>
        <p:nvSpPr>
          <p:cNvPr id="34" name="Text 30"/>
          <p:cNvSpPr/>
          <p:nvPr/>
        </p:nvSpPr>
        <p:spPr>
          <a:xfrm>
            <a:off x="4011168" y="4626864"/>
            <a:ext cx="856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vs Q1</a:t>
            </a:r>
            <a:endParaRPr lang="en-US" sz="660" dirty="0"/>
          </a:p>
        </p:txBody>
      </p:sp>
      <p:sp>
        <p:nvSpPr>
          <p:cNvPr id="35" name="Text 31"/>
          <p:cNvSpPr/>
          <p:nvPr/>
        </p:nvSpPr>
        <p:spPr>
          <a:xfrm>
            <a:off x="4977892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36" name="Text 32"/>
          <p:cNvSpPr/>
          <p:nvPr/>
        </p:nvSpPr>
        <p:spPr>
          <a:xfrm>
            <a:off x="5812790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37" name="Shape 33"/>
          <p:cNvSpPr/>
          <p:nvPr/>
        </p:nvSpPr>
        <p:spPr>
          <a:xfrm>
            <a:off x="265176" y="4864608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8" name="Shape 34"/>
          <p:cNvSpPr/>
          <p:nvPr/>
        </p:nvSpPr>
        <p:spPr>
          <a:xfrm>
            <a:off x="265176" y="51572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2004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0" name="Text 36"/>
          <p:cNvSpPr/>
          <p:nvPr/>
        </p:nvSpPr>
        <p:spPr>
          <a:xfrm>
            <a:off x="1374648" y="4864608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4.36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295656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2" name="Text 38"/>
          <p:cNvSpPr/>
          <p:nvPr/>
        </p:nvSpPr>
        <p:spPr>
          <a:xfrm>
            <a:off x="4011168" y="4864608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+62.8%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4977892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44" name="Text 40"/>
          <p:cNvSpPr/>
          <p:nvPr/>
        </p:nvSpPr>
        <p:spPr>
          <a:xfrm>
            <a:off x="5812790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32004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1374648" y="515721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9.78</a:t>
            </a:r>
            <a:endParaRPr lang="en-US" sz="740" dirty="0"/>
          </a:p>
        </p:txBody>
      </p:sp>
      <p:sp>
        <p:nvSpPr>
          <p:cNvPr id="48" name="Text 44"/>
          <p:cNvSpPr/>
          <p:nvPr/>
        </p:nvSpPr>
        <p:spPr>
          <a:xfrm>
            <a:off x="295656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4011168" y="5157216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+16.4%</a:t>
            </a:r>
            <a:endParaRPr lang="en-US" sz="740" dirty="0"/>
          </a:p>
        </p:txBody>
      </p:sp>
      <p:sp>
        <p:nvSpPr>
          <p:cNvPr id="50" name="Text 46"/>
          <p:cNvSpPr/>
          <p:nvPr/>
        </p:nvSpPr>
        <p:spPr>
          <a:xfrm>
            <a:off x="4977892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51" name="Text 47"/>
          <p:cNvSpPr/>
          <p:nvPr/>
        </p:nvSpPr>
        <p:spPr>
          <a:xfrm>
            <a:off x="5812790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52" name="Shape 48"/>
          <p:cNvSpPr/>
          <p:nvPr/>
        </p:nvSpPr>
        <p:spPr>
          <a:xfrm>
            <a:off x="265176" y="5449824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49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32004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1374648" y="5449824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6.45</a:t>
            </a:r>
            <a:endParaRPr lang="en-US" sz="740" dirty="0"/>
          </a:p>
        </p:txBody>
      </p:sp>
      <p:sp>
        <p:nvSpPr>
          <p:cNvPr id="56" name="Text 52"/>
          <p:cNvSpPr/>
          <p:nvPr/>
        </p:nvSpPr>
        <p:spPr>
          <a:xfrm>
            <a:off x="295656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4011168" y="5449824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4977892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5812790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350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32004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1374648" y="5742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10.59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295656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011168" y="5742432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−10.5%</a:t>
            </a:r>
            <a:endParaRPr lang="en-US" sz="740" dirty="0"/>
          </a:p>
        </p:txBody>
      </p:sp>
      <p:sp>
        <p:nvSpPr>
          <p:cNvPr id="65" name="Text 61"/>
          <p:cNvSpPr/>
          <p:nvPr/>
        </p:nvSpPr>
        <p:spPr>
          <a:xfrm>
            <a:off x="4977892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66" name="Text 62"/>
          <p:cNvSpPr/>
          <p:nvPr/>
        </p:nvSpPr>
        <p:spPr>
          <a:xfrm>
            <a:off x="5812790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67" name="Shape 63"/>
          <p:cNvSpPr/>
          <p:nvPr/>
        </p:nvSpPr>
        <p:spPr>
          <a:xfrm>
            <a:off x="265176" y="603504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8" name="Shape 64"/>
          <p:cNvSpPr/>
          <p:nvPr/>
        </p:nvSpPr>
        <p:spPr>
          <a:xfrm>
            <a:off x="265176" y="6327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32004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1374648" y="603504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12.06</a:t>
            </a:r>
            <a:endParaRPr lang="en-US" sz="740" dirty="0"/>
          </a:p>
        </p:txBody>
      </p:sp>
      <p:sp>
        <p:nvSpPr>
          <p:cNvPr id="71" name="Text 67"/>
          <p:cNvSpPr/>
          <p:nvPr/>
        </p:nvSpPr>
        <p:spPr>
          <a:xfrm>
            <a:off x="295656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2" name="Text 68"/>
          <p:cNvSpPr/>
          <p:nvPr/>
        </p:nvSpPr>
        <p:spPr>
          <a:xfrm>
            <a:off x="4011168" y="6035040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−19.5%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4977892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5812790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265176" y="6382512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July load against each zone’s own Q1 run-rate. The order is monotonic: every zone that billed above its Q1 average lost conversion, every zone that billed below it gained. Assortment, pricing and execution do not move that cleanly.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265176" y="6711696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load against each zone’s own Q1 run-rate (x) versus July conversion (y)</a:t>
            </a:r>
            <a:endParaRPr lang="en-US" sz="720" dirty="0"/>
          </a:p>
        </p:txBody>
      </p:sp>
      <p:graphicFrame>
        <p:nvGraphicFramePr>
          <p:cNvPr id="77" name="Chart 2" descr=""/>
          <p:cNvGraphicFramePr/>
          <p:nvPr/>
        </p:nvGraphicFramePr>
        <p:xfrm>
          <a:off x="246888" y="6912864"/>
          <a:ext cx="6327648" cy="15179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8" name="Text 73"/>
          <p:cNvSpPr/>
          <p:nvPr/>
        </p:nvSpPr>
        <p:spPr>
          <a:xfrm>
            <a:off x="265176" y="8467344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points, one per zone. The downward slope is the finding: conversion falls as the zone bills further above its own quarterly rate.</a:t>
            </a:r>
            <a:endParaRPr lang="en-US" sz="660" dirty="0"/>
          </a:p>
        </p:txBody>
      </p:sp>
      <p:sp>
        <p:nvSpPr>
          <p:cNvPr id="79" name="Shape 74"/>
          <p:cNvSpPr/>
          <p:nvPr/>
        </p:nvSpPr>
        <p:spPr>
          <a:xfrm>
            <a:off x="265176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265176" y="877824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1" name="Text 76"/>
          <p:cNvSpPr/>
          <p:nvPr/>
        </p:nvSpPr>
        <p:spPr>
          <a:xfrm>
            <a:off x="347472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CHANGES</a:t>
            </a:r>
            <a:endParaRPr lang="en-US" sz="700" dirty="0"/>
          </a:p>
        </p:txBody>
      </p:sp>
      <p:sp>
        <p:nvSpPr>
          <p:cNvPr id="82" name="Text 77"/>
          <p:cNvSpPr/>
          <p:nvPr/>
        </p:nvSpPr>
        <p:spPr>
          <a:xfrm>
            <a:off x="356616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 is not broken</a:t>
            </a:r>
            <a:endParaRPr lang="en-US" sz="1150" dirty="0"/>
          </a:p>
        </p:txBody>
      </p:sp>
      <p:sp>
        <p:nvSpPr>
          <p:cNvPr id="83" name="Shape 78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4" name="Text 79"/>
          <p:cNvSpPr/>
          <p:nvPr/>
        </p:nvSpPr>
        <p:spPr>
          <a:xfrm>
            <a:off x="493776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converted at 89.7% across Q1 — second best in the country.</a:t>
            </a:r>
            <a:endParaRPr lang="en-US" sz="690" dirty="0"/>
          </a:p>
        </p:txBody>
      </p:sp>
      <p:sp>
        <p:nvSpPr>
          <p:cNvPr id="85" name="Shape 80"/>
          <p:cNvSpPr/>
          <p:nvPr/>
        </p:nvSpPr>
        <p:spPr>
          <a:xfrm>
            <a:off x="374904" y="988923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6" name="Text 81"/>
          <p:cNvSpPr/>
          <p:nvPr/>
        </p:nvSpPr>
        <p:spPr>
          <a:xfrm>
            <a:off x="493776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July primary is 62.8% above its own Q1 monthly run-rate.</a:t>
            </a:r>
            <a:endParaRPr lang="en-US" sz="690" dirty="0"/>
          </a:p>
        </p:txBody>
      </p:sp>
      <p:sp>
        <p:nvSpPr>
          <p:cNvPr id="87" name="Shape 82"/>
          <p:cNvSpPr/>
          <p:nvPr/>
        </p:nvSpPr>
        <p:spPr>
          <a:xfrm>
            <a:off x="374904" y="10236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8" name="Text 83"/>
          <p:cNvSpPr/>
          <p:nvPr/>
        </p:nvSpPr>
        <p:spPr>
          <a:xfrm>
            <a:off x="493776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49.9% read on a 63% load spike is arithmetic, not an execution failure.</a:t>
            </a:r>
            <a:endParaRPr lang="en-US" sz="690" dirty="0"/>
          </a:p>
        </p:txBody>
      </p:sp>
      <p:sp>
        <p:nvSpPr>
          <p:cNvPr id="89" name="Shape 84"/>
          <p:cNvSpPr/>
          <p:nvPr/>
        </p:nvSpPr>
        <p:spPr>
          <a:xfrm>
            <a:off x="2410968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5"/>
          <p:cNvSpPr/>
          <p:nvPr/>
        </p:nvSpPr>
        <p:spPr>
          <a:xfrm>
            <a:off x="2410968" y="877824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1" name="Text 86"/>
          <p:cNvSpPr/>
          <p:nvPr/>
        </p:nvSpPr>
        <p:spPr>
          <a:xfrm>
            <a:off x="2493264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TRUE</a:t>
            </a:r>
            <a:endParaRPr lang="en-US" sz="700" dirty="0"/>
          </a:p>
        </p:txBody>
      </p:sp>
      <p:sp>
        <p:nvSpPr>
          <p:cNvPr id="92" name="Text 87"/>
          <p:cNvSpPr/>
          <p:nvPr/>
        </p:nvSpPr>
        <p:spPr>
          <a:xfrm>
            <a:off x="2502408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stock is real</a:t>
            </a:r>
            <a:endParaRPr lang="en-US" sz="1150" dirty="0"/>
          </a:p>
        </p:txBody>
      </p:sp>
      <p:sp>
        <p:nvSpPr>
          <p:cNvPr id="93" name="Shape 88"/>
          <p:cNvSpPr/>
          <p:nvPr/>
        </p:nvSpPr>
        <p:spPr>
          <a:xfrm>
            <a:off x="2520696" y="954176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4" name="Text 89"/>
          <p:cNvSpPr/>
          <p:nvPr/>
        </p:nvSpPr>
        <p:spPr>
          <a:xfrm>
            <a:off x="2639568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is billed and not yet sold through, whatever caused it.</a:t>
            </a:r>
            <a:endParaRPr lang="en-US" sz="690" dirty="0"/>
          </a:p>
        </p:txBody>
      </p:sp>
      <p:sp>
        <p:nvSpPr>
          <p:cNvPr id="95" name="Shape 90"/>
          <p:cNvSpPr/>
          <p:nvPr/>
        </p:nvSpPr>
        <p:spPr>
          <a:xfrm>
            <a:off x="2520696" y="9889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6" name="Text 91"/>
          <p:cNvSpPr/>
          <p:nvPr/>
        </p:nvSpPr>
        <p:spPr>
          <a:xfrm>
            <a:off x="2639568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either sells in August or it suppresses the next order.</a:t>
            </a:r>
            <a:endParaRPr lang="en-US" sz="690" dirty="0"/>
          </a:p>
        </p:txBody>
      </p:sp>
      <p:sp>
        <p:nvSpPr>
          <p:cNvPr id="97" name="Shape 92"/>
          <p:cNvSpPr/>
          <p:nvPr/>
        </p:nvSpPr>
        <p:spPr>
          <a:xfrm>
            <a:off x="2520696" y="102367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8" name="Text 93"/>
          <p:cNvSpPr/>
          <p:nvPr/>
        </p:nvSpPr>
        <p:spPr>
          <a:xfrm>
            <a:off x="2639568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₹6.22 Cr benchmark gap stands as an August recovery target.</a:t>
            </a:r>
            <a:endParaRPr lang="en-US" sz="690" dirty="0"/>
          </a:p>
        </p:txBody>
      </p:sp>
      <p:sp>
        <p:nvSpPr>
          <p:cNvPr id="99" name="Shape 94"/>
          <p:cNvSpPr/>
          <p:nvPr/>
        </p:nvSpPr>
        <p:spPr>
          <a:xfrm>
            <a:off x="4556760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4556760" y="877824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01" name="Text 96"/>
          <p:cNvSpPr/>
          <p:nvPr/>
        </p:nvSpPr>
        <p:spPr>
          <a:xfrm>
            <a:off x="4639056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DIFFERENTLY</a:t>
            </a:r>
            <a:endParaRPr lang="en-US" sz="700" dirty="0"/>
          </a:p>
        </p:txBody>
      </p:sp>
      <p:sp>
        <p:nvSpPr>
          <p:cNvPr id="102" name="Text 97"/>
          <p:cNvSpPr/>
          <p:nvPr/>
        </p:nvSpPr>
        <p:spPr>
          <a:xfrm>
            <a:off x="4648200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the quarter</a:t>
            </a:r>
            <a:endParaRPr lang="en-US" sz="1150" dirty="0"/>
          </a:p>
        </p:txBody>
      </p:sp>
      <p:sp>
        <p:nvSpPr>
          <p:cNvPr id="103" name="Shape 98"/>
          <p:cNvSpPr/>
          <p:nvPr/>
        </p:nvSpPr>
        <p:spPr>
          <a:xfrm>
            <a:off x="4666488" y="95417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4" name="Text 99"/>
          <p:cNvSpPr/>
          <p:nvPr/>
        </p:nvSpPr>
        <p:spPr>
          <a:xfrm>
            <a:off x="4785360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conversion on a rolling quarter, never on the opening month.</a:t>
            </a:r>
            <a:endParaRPr lang="en-US" sz="690" dirty="0"/>
          </a:p>
        </p:txBody>
      </p:sp>
      <p:sp>
        <p:nvSpPr>
          <p:cNvPr id="105" name="Shape 100"/>
          <p:cNvSpPr/>
          <p:nvPr/>
        </p:nvSpPr>
        <p:spPr>
          <a:xfrm>
            <a:off x="4666488" y="988923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6" name="Text 101"/>
          <p:cNvSpPr/>
          <p:nvPr/>
        </p:nvSpPr>
        <p:spPr>
          <a:xfrm>
            <a:off x="4785360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month-1 primary at the trailing quarterly run-rate, by zone.</a:t>
            </a:r>
            <a:endParaRPr lang="en-US" sz="690" dirty="0"/>
          </a:p>
        </p:txBody>
      </p:sp>
      <p:sp>
        <p:nvSpPr>
          <p:cNvPr id="107" name="Shape 102"/>
          <p:cNvSpPr/>
          <p:nvPr/>
        </p:nvSpPr>
        <p:spPr>
          <a:xfrm>
            <a:off x="4666488" y="102367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8" name="Text 103"/>
          <p:cNvSpPr/>
          <p:nvPr/>
        </p:nvSpPr>
        <p:spPr>
          <a:xfrm>
            <a:off x="4785360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East and North in the August pack before funding any intervention.</a:t>
            </a:r>
            <a:endParaRPr lang="en-US" sz="690" dirty="0"/>
          </a:p>
        </p:txBody>
      </p:sp>
      <p:sp>
        <p:nvSpPr>
          <p:cNvPr id="109" name="Shape 104"/>
          <p:cNvSpPr/>
          <p:nvPr/>
        </p:nvSpPr>
        <p:spPr>
          <a:xfrm>
            <a:off x="265176" y="1064361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</p:sp>
      <p:sp>
        <p:nvSpPr>
          <p:cNvPr id="110" name="Text 105"/>
          <p:cNvSpPr/>
          <p:nvPr/>
        </p:nvSpPr>
        <p:spPr>
          <a:xfrm>
            <a:off x="393192" y="1071676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REST OF THIS PACK WITH THIS IN MIND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pages that follow report July on its own, because that is the month under review. Every July conversion figure in them is depressed by the quarter-opening load shown above. Use them to locate where the billed stock sits — not to rank zone capability. Q1 already did that, and it ranked North and East first.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reporting into a State × Chain × SKU growth engine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framework | measures in force now, and the fields still to be reconciled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841248"/>
          </a:xfrm>
          <a:prstGeom prst="roundRect">
            <a:avLst>
              <a:gd name="adj" fmla="val 326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371600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decision is not "push more primary" — it is "find proven demand constrained by execution."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4632" y="1737360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below are live on July data. SAH, PDO, OOS and stock fields join only after reconciliation — they are named as gaps, not quoted as findings.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5176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6616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Flow conversion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4904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÷ primary on comparable mapped cuts.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374904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0" name="Text 28"/>
          <p:cNvSpPr/>
          <p:nvPr/>
        </p:nvSpPr>
        <p:spPr>
          <a:xfrm>
            <a:off x="493776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KPI is supporting, not equal.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374904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2" name="Text 30"/>
          <p:cNvSpPr/>
          <p:nvPr/>
        </p:nvSpPr>
        <p:spPr>
          <a:xfrm>
            <a:off x="493776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73.4% → above 85% this quarter.</a:t>
            </a:r>
            <a:endParaRPr lang="en-US" sz="690" dirty="0"/>
          </a:p>
        </p:txBody>
      </p:sp>
      <p:sp>
        <p:nvSpPr>
          <p:cNvPr id="33" name="Shape 31"/>
          <p:cNvSpPr/>
          <p:nvPr/>
        </p:nvSpPr>
        <p:spPr>
          <a:xfrm>
            <a:off x="374904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by zone and chain — never as a national average alone.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2420112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0112" y="2231136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7" name="Text 35"/>
          <p:cNvSpPr/>
          <p:nvPr/>
        </p:nvSpPr>
        <p:spPr>
          <a:xfrm>
            <a:off x="2502408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11552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529840" y="3031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0" name="Text 38"/>
          <p:cNvSpPr/>
          <p:nvPr/>
        </p:nvSpPr>
        <p:spPr>
          <a:xfrm>
            <a:off x="2648712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growth % is shown, ranked or coloured below this base.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2529840" y="33969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2" name="Text 40"/>
          <p:cNvSpPr/>
          <p:nvPr/>
        </p:nvSpPr>
        <p:spPr>
          <a:xfrm>
            <a:off x="2648712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2529840" y="37627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4" name="Text 42"/>
          <p:cNvSpPr/>
          <p:nvPr/>
        </p:nvSpPr>
        <p:spPr>
          <a:xfrm>
            <a:off x="2648712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8 of 13 rows from the chain scorecard.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2529840" y="4128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46" name="Text 44"/>
          <p:cNvSpPr/>
          <p:nvPr/>
        </p:nvSpPr>
        <p:spPr>
          <a:xfrm>
            <a:off x="2648712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 ₹1 lakh move outranking a ₹1.42 Cr decline.</a:t>
            </a:r>
            <a:endParaRPr lang="en-US" sz="690" dirty="0"/>
          </a:p>
        </p:txBody>
      </p:sp>
      <p:sp>
        <p:nvSpPr>
          <p:cNvPr id="47" name="Shape 45"/>
          <p:cNvSpPr/>
          <p:nvPr/>
        </p:nvSpPr>
        <p:spPr>
          <a:xfrm>
            <a:off x="4575048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5048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7"/>
          <p:cNvSpPr/>
          <p:nvPr/>
        </p:nvSpPr>
        <p:spPr>
          <a:xfrm>
            <a:off x="4657344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PRODUCTIVITY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666488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SPD = share ÷ WD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684776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2" name="Text 50"/>
          <p:cNvSpPr/>
          <p:nvPr/>
        </p:nvSpPr>
        <p:spPr>
          <a:xfrm>
            <a:off x="4803648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weighted distribution.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4684776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4" name="Text 52"/>
          <p:cNvSpPr/>
          <p:nvPr/>
        </p:nvSpPr>
        <p:spPr>
          <a:xfrm>
            <a:off x="4803648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0.118 · Shampoo 0.045 · TDC FW 0.015.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4684776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6" name="Text 54"/>
          <p:cNvSpPr/>
          <p:nvPr/>
        </p:nvSpPr>
        <p:spPr>
          <a:xfrm>
            <a:off x="4803648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SPD on wide WD means fix the shelf, not add doors.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4684776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58" name="Text 56"/>
          <p:cNvSpPr/>
          <p:nvPr/>
        </p:nvSpPr>
        <p:spPr>
          <a:xfrm>
            <a:off x="4803648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PDO once store-count fields reconcile.</a:t>
            </a:r>
            <a:endParaRPr lang="en-US" sz="690" dirty="0"/>
          </a:p>
        </p:txBody>
      </p:sp>
      <p:sp>
        <p:nvSpPr>
          <p:cNvPr id="59" name="Shape 57"/>
          <p:cNvSpPr/>
          <p:nvPr/>
        </p:nvSpPr>
        <p:spPr>
          <a:xfrm>
            <a:off x="265176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65176" y="480974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61" name="Text 59"/>
          <p:cNvSpPr/>
          <p:nvPr/>
        </p:nvSpPr>
        <p:spPr>
          <a:xfrm>
            <a:off x="347472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GROSS, NEVER NET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56616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gap lines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374904" y="560984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4" name="Text 62"/>
          <p:cNvSpPr/>
          <p:nvPr/>
        </p:nvSpPr>
        <p:spPr>
          <a:xfrm>
            <a:off x="493776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= billed but unsold. ₹13.27 Cr.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374904" y="5975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6" name="Text 64"/>
          <p:cNvSpPr/>
          <p:nvPr/>
        </p:nvSpPr>
        <p:spPr>
          <a:xfrm>
            <a:off x="493776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= sold but unmapped. ₹2.23 Cr.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374904" y="63413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8" name="Text 66"/>
          <p:cNvSpPr/>
          <p:nvPr/>
        </p:nvSpPr>
        <p:spPr>
          <a:xfrm>
            <a:off x="493776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them hid ₹2.06 Cr of recoverable value.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670712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0" name="Text 68"/>
          <p:cNvSpPr/>
          <p:nvPr/>
        </p:nvSpPr>
        <p:spPr>
          <a:xfrm>
            <a:off x="493776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and zone gaps must share one stated base.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2420112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20112" y="480974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73" name="Text 71"/>
          <p:cNvSpPr/>
          <p:nvPr/>
        </p:nvSpPr>
        <p:spPr>
          <a:xfrm>
            <a:off x="2502408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× FLOW RULE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511552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Scale / Fix / Hold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2529840" y="560984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76" name="Text 74"/>
          <p:cNvSpPr/>
          <p:nvPr/>
        </p:nvSpPr>
        <p:spPr>
          <a:xfrm>
            <a:off x="2648712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up + offtake up → scale.</a:t>
            </a:r>
            <a:endParaRPr lang="en-US" sz="690" dirty="0"/>
          </a:p>
        </p:txBody>
      </p:sp>
      <p:sp>
        <p:nvSpPr>
          <p:cNvPr id="77" name="Shape 75"/>
          <p:cNvSpPr/>
          <p:nvPr/>
        </p:nvSpPr>
        <p:spPr>
          <a:xfrm>
            <a:off x="2529840" y="5975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78" name="Text 76"/>
          <p:cNvSpPr/>
          <p:nvPr/>
        </p:nvSpPr>
        <p:spPr>
          <a:xfrm>
            <a:off x="2648712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up + offtake weak → stop loading.</a:t>
            </a:r>
            <a:endParaRPr lang="en-US" sz="690" dirty="0"/>
          </a:p>
        </p:txBody>
      </p:sp>
      <p:sp>
        <p:nvSpPr>
          <p:cNvPr id="79" name="Shape 77"/>
          <p:cNvSpPr/>
          <p:nvPr/>
        </p:nvSpPr>
        <p:spPr>
          <a:xfrm>
            <a:off x="2529840" y="6341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80" name="Text 78"/>
          <p:cNvSpPr/>
          <p:nvPr/>
        </p:nvSpPr>
        <p:spPr>
          <a:xfrm>
            <a:off x="2648712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up + supply weak → replenish.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9840" y="670712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82" name="Text 80"/>
          <p:cNvSpPr/>
          <p:nvPr/>
        </p:nvSpPr>
        <p:spPr>
          <a:xfrm>
            <a:off x="2648712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down → validate competitor or OOS transfer first.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4575048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575048" y="4809744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5" name="Text 83"/>
          <p:cNvSpPr/>
          <p:nvPr/>
        </p:nvSpPr>
        <p:spPr>
          <a:xfrm>
            <a:off x="4657344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BEFORE YOU ACT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666488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Expected value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684776" y="560984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8" name="Text 86"/>
          <p:cNvSpPr/>
          <p:nvPr/>
        </p:nvSpPr>
        <p:spPr>
          <a:xfrm>
            <a:off x="4803648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every action by ₹ at stake × likelihood × cost.</a:t>
            </a:r>
            <a:endParaRPr lang="en-US" sz="690" dirty="0"/>
          </a:p>
        </p:txBody>
      </p:sp>
      <p:sp>
        <p:nvSpPr>
          <p:cNvPr id="89" name="Shape 87"/>
          <p:cNvSpPr/>
          <p:nvPr/>
        </p:nvSpPr>
        <p:spPr>
          <a:xfrm>
            <a:off x="4684776" y="597560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0" name="Text 88"/>
          <p:cNvSpPr/>
          <p:nvPr/>
        </p:nvSpPr>
        <p:spPr>
          <a:xfrm>
            <a:off x="4803648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zone that already performs, not a target.</a:t>
            </a:r>
            <a:endParaRPr lang="en-US" sz="690" dirty="0"/>
          </a:p>
        </p:txBody>
      </p:sp>
      <p:sp>
        <p:nvSpPr>
          <p:cNvPr id="91" name="Shape 89"/>
          <p:cNvSpPr/>
          <p:nvPr/>
        </p:nvSpPr>
        <p:spPr>
          <a:xfrm>
            <a:off x="4684776" y="63413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2" name="Text 90"/>
          <p:cNvSpPr/>
          <p:nvPr/>
        </p:nvSpPr>
        <p:spPr>
          <a:xfrm>
            <a:off x="4803648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do-nothing baseline so an action can be killed.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84776" y="670712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4" name="Text 92"/>
          <p:cNvSpPr/>
          <p:nvPr/>
        </p:nvSpPr>
        <p:spPr>
          <a:xfrm>
            <a:off x="4803648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 only after a controlled pilot.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265176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65176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7" name="Text 95"/>
          <p:cNvSpPr/>
          <p:nvPr/>
        </p:nvSpPr>
        <p:spPr>
          <a:xfrm>
            <a:off x="347472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AVAILABILITY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56616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Must-stock first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74904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0" name="Text 98"/>
          <p:cNvSpPr/>
          <p:nvPr/>
        </p:nvSpPr>
        <p:spPr>
          <a:xfrm>
            <a:off x="493776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hero availability %, not SKU count.</a:t>
            </a:r>
            <a:endParaRPr lang="en-US" sz="690" dirty="0"/>
          </a:p>
        </p:txBody>
      </p:sp>
      <p:sp>
        <p:nvSpPr>
          <p:cNvPr id="101" name="Shape 99"/>
          <p:cNvSpPr/>
          <p:nvPr/>
        </p:nvSpPr>
        <p:spPr>
          <a:xfrm>
            <a:off x="374904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2" name="Text 100"/>
          <p:cNvSpPr/>
          <p:nvPr/>
        </p:nvSpPr>
        <p:spPr>
          <a:xfrm>
            <a:off x="493776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#1 hero should fail the assortment score outright.</a:t>
            </a:r>
            <a:endParaRPr lang="en-US" sz="690" dirty="0"/>
          </a:p>
        </p:txBody>
      </p:sp>
      <p:sp>
        <p:nvSpPr>
          <p:cNvPr id="103" name="Shape 101"/>
          <p:cNvSpPr/>
          <p:nvPr/>
        </p:nvSpPr>
        <p:spPr>
          <a:xfrm>
            <a:off x="374904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3776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follows proven heroes — never leads them.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6" name="Text 104"/>
          <p:cNvSpPr/>
          <p:nvPr/>
        </p:nvSpPr>
        <p:spPr>
          <a:xfrm>
            <a:off x="493776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availability before any discounting.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420112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420112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9" name="Text 107"/>
          <p:cNvSpPr/>
          <p:nvPr/>
        </p:nvSpPr>
        <p:spPr>
          <a:xfrm>
            <a:off x="2502408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511552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pack roles</a:t>
            </a:r>
            <a:endParaRPr lang="en-US" sz="1150" dirty="0"/>
          </a:p>
        </p:txBody>
      </p:sp>
      <p:sp>
        <p:nvSpPr>
          <p:cNvPr id="111" name="Shape 109"/>
          <p:cNvSpPr/>
          <p:nvPr/>
        </p:nvSpPr>
        <p:spPr>
          <a:xfrm>
            <a:off x="2529840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2" name="Text 110"/>
          <p:cNvSpPr/>
          <p:nvPr/>
        </p:nvSpPr>
        <p:spPr>
          <a:xfrm>
            <a:off x="2648712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· core-volume · premium upgrade · dead.</a:t>
            </a:r>
            <a:endParaRPr lang="en-US" sz="690" dirty="0"/>
          </a:p>
        </p:txBody>
      </p:sp>
      <p:sp>
        <p:nvSpPr>
          <p:cNvPr id="113" name="Shape 111"/>
          <p:cNvSpPr/>
          <p:nvPr/>
        </p:nvSpPr>
        <p:spPr>
          <a:xfrm>
            <a:off x="2529840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4" name="Text 112"/>
          <p:cNvSpPr/>
          <p:nvPr/>
        </p:nvSpPr>
        <p:spPr>
          <a:xfrm>
            <a:off x="2648712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format gets every pack.</a:t>
            </a:r>
            <a:endParaRPr lang="en-US" sz="690" dirty="0"/>
          </a:p>
        </p:txBody>
      </p:sp>
      <p:sp>
        <p:nvSpPr>
          <p:cNvPr id="115" name="Shape 113"/>
          <p:cNvSpPr/>
          <p:nvPr/>
        </p:nvSpPr>
        <p:spPr>
          <a:xfrm>
            <a:off x="2529840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6" name="Text 114"/>
          <p:cNvSpPr/>
          <p:nvPr/>
        </p:nvSpPr>
        <p:spPr>
          <a:xfrm>
            <a:off x="2648712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dead packs before adding new ones.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9840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8" name="Text 116"/>
          <p:cNvSpPr/>
          <p:nvPr/>
        </p:nvSpPr>
        <p:spPr>
          <a:xfrm>
            <a:off x="2648712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pack on sales per store, not listings won.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575048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575048" y="738835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21" name="Text 119"/>
          <p:cNvSpPr/>
          <p:nvPr/>
        </p:nvSpPr>
        <p:spPr>
          <a:xfrm>
            <a:off x="4657344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STILL MISSING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4666488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first</a:t>
            </a:r>
            <a:endParaRPr lang="en-US" sz="1150" dirty="0"/>
          </a:p>
        </p:txBody>
      </p:sp>
      <p:sp>
        <p:nvSpPr>
          <p:cNvPr id="123" name="Shape 121"/>
          <p:cNvSpPr/>
          <p:nvPr/>
        </p:nvSpPr>
        <p:spPr>
          <a:xfrm>
            <a:off x="4684776" y="818845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4" name="Text 122"/>
          <p:cNvSpPr/>
          <p:nvPr/>
        </p:nvSpPr>
        <p:spPr>
          <a:xfrm>
            <a:off x="4803648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25" name="Shape 123"/>
          <p:cNvSpPr/>
          <p:nvPr/>
        </p:nvSpPr>
        <p:spPr>
          <a:xfrm>
            <a:off x="4684776" y="85542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6" name="Text 124"/>
          <p:cNvSpPr/>
          <p:nvPr/>
        </p:nvSpPr>
        <p:spPr>
          <a:xfrm>
            <a:off x="4803648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them, cause is inferred and not measured.</a:t>
            </a:r>
            <a:endParaRPr lang="en-US" sz="690" dirty="0"/>
          </a:p>
        </p:txBody>
      </p:sp>
      <p:sp>
        <p:nvSpPr>
          <p:cNvPr id="127" name="Shape 125"/>
          <p:cNvSpPr/>
          <p:nvPr/>
        </p:nvSpPr>
        <p:spPr>
          <a:xfrm>
            <a:off x="4684776" y="89199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8" name="Text 126"/>
          <p:cNvSpPr/>
          <p:nvPr/>
        </p:nvSpPr>
        <p:spPr>
          <a:xfrm>
            <a:off x="4803648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factless store × article × month table supplies the denominator.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84776" y="92857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30" name="Text 128"/>
          <p:cNvSpPr/>
          <p:nvPr/>
        </p:nvSpPr>
        <p:spPr>
          <a:xfrm>
            <a:off x="4803648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 until these tie to source.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shelf is already wide — Mamaearth is under-earning on it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| share and weighted distribution, MAT Jun 2026 | pack detail May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RMS June 2026 value share · Market_Share_By_PackSize_June26 · share-per-point derived as value share ÷ weighted distribution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10.5%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share · 89.0% WD · SPD #4 of 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3.7%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share · 81.5% WD · SPD #6 of 6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 WD — a genuine width gap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AT PEER RATE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+7.9 pts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categories, no new doors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2322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Garnier holds the same shelf we do and earns 3.7 share points more from 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" y="2596896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90.3% weighted distribution → 14.2% share.  Mamaearth 89.0% → 10.5%. Distribution is not the constraint in Face Wash, and it is not the constraint in Shampoo either — we hold 81.5% of the shelf and earn the lowest share per point of the top six brands.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5176" y="30906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4" name="Text 42"/>
          <p:cNvSpPr/>
          <p:nvPr/>
        </p:nvSpPr>
        <p:spPr>
          <a:xfrm>
            <a:off x="374904" y="31089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DISTRIBUTION — RANKED (MAT JUN 2026)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65176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65176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7" name="Text 45"/>
          <p:cNvSpPr/>
          <p:nvPr/>
        </p:nvSpPr>
        <p:spPr>
          <a:xfrm>
            <a:off x="320040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1450774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1948296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240059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2898113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51"/>
          <p:cNvSpPr/>
          <p:nvPr/>
        </p:nvSpPr>
        <p:spPr>
          <a:xfrm>
            <a:off x="265176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0040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450774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948296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40059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898113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265176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20040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450774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48296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40059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90.3%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98113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65176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6" name="Shape 64"/>
          <p:cNvSpPr/>
          <p:nvPr/>
        </p:nvSpPr>
        <p:spPr>
          <a:xfrm>
            <a:off x="265176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040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Pond's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450774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948296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40059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98.8%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898113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65176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20040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450774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948296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40059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898113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9" name="Shape 77"/>
          <p:cNvSpPr/>
          <p:nvPr/>
        </p:nvSpPr>
        <p:spPr>
          <a:xfrm>
            <a:off x="265176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20040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Clear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450774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948296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40059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898113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0.076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265176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20040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450774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948296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40059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898113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02152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3502152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3" name="Text 91"/>
          <p:cNvSpPr/>
          <p:nvPr/>
        </p:nvSpPr>
        <p:spPr>
          <a:xfrm>
            <a:off x="3557016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94" name="Text 92"/>
          <p:cNvSpPr/>
          <p:nvPr/>
        </p:nvSpPr>
        <p:spPr>
          <a:xfrm>
            <a:off x="468775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95" name="Text 93"/>
          <p:cNvSpPr/>
          <p:nvPr/>
        </p:nvSpPr>
        <p:spPr>
          <a:xfrm>
            <a:off x="5185272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96" name="Text 94"/>
          <p:cNvSpPr/>
          <p:nvPr/>
        </p:nvSpPr>
        <p:spPr>
          <a:xfrm>
            <a:off x="5637566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97" name="Text 95"/>
          <p:cNvSpPr/>
          <p:nvPr/>
        </p:nvSpPr>
        <p:spPr>
          <a:xfrm>
            <a:off x="6135089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3502152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99" name="Shape 97"/>
          <p:cNvSpPr/>
          <p:nvPr/>
        </p:nvSpPr>
        <p:spPr>
          <a:xfrm>
            <a:off x="3502152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57016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468775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16.6%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185272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5637566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135089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0.166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502152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557016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Paris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468775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5185272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5637566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91.6%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6135089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502152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502152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557016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&amp; Shoulders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8775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5185272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5637566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135089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3502152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557016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Sunsilk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468775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5185272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5637566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6135089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3502152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502152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557016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Plus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468775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5185272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5637566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6135089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3502152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3557016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68775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185272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5637566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81.5%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6135089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0.045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265176" y="5358384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 = value share ÷ weighted distribution: the share each point of shelf presence earns. Numeric distribution (ND) is not supplied in any source we hold, so share = ND × (WD ÷ ND) × SPD can only be read on its last term — we cannot yet tell whether 89.0% WD means most stores or a few very large ones. SPD here is a hand-cut stand-in for the MS vs TDP Index already written in PowerBI/DAX/05_TDP_Measures.dax, which cannot run until the TDP feed exists.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265176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65176" y="5760720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40" name="Text 138"/>
          <p:cNvSpPr/>
          <p:nvPr/>
        </p:nvSpPr>
        <p:spPr>
          <a:xfrm>
            <a:off x="347472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— CLOSE TO GARNIER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356616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+3.7 pts  ·  ~₹3.0 Cr / month</a:t>
            </a:r>
            <a:endParaRPr lang="en-US" sz="1250" dirty="0"/>
          </a:p>
        </p:txBody>
      </p:sp>
      <p:sp>
        <p:nvSpPr>
          <p:cNvPr id="142" name="Text 140"/>
          <p:cNvSpPr/>
          <p:nvPr/>
        </p:nvSpPr>
        <p:spPr>
          <a:xfrm>
            <a:off x="356616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Face Wash ≈ ₹81 Cr / month, so one share point is worth ₹0.81 Cr</a:t>
            </a:r>
            <a:endParaRPr lang="en-US" sz="630" dirty="0"/>
          </a:p>
        </p:txBody>
      </p:sp>
      <p:sp>
        <p:nvSpPr>
          <p:cNvPr id="143" name="Shape 141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44" name="Text 142"/>
          <p:cNvSpPr/>
          <p:nvPr/>
        </p:nvSpPr>
        <p:spPr>
          <a:xfrm>
            <a:off x="493776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earns 14.2% on 90.3% WD; we earn 10.5% on 89.0%.</a:t>
            </a:r>
            <a:endParaRPr lang="en-US" sz="690" dirty="0"/>
          </a:p>
        </p:txBody>
      </p:sp>
      <p:sp>
        <p:nvSpPr>
          <p:cNvPr id="145" name="Shape 143"/>
          <p:cNvSpPr/>
          <p:nvPr/>
        </p:nvSpPr>
        <p:spPr>
          <a:xfrm>
            <a:off x="374904" y="6954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46" name="Text 144"/>
          <p:cNvSpPr/>
          <p:nvPr/>
        </p:nvSpPr>
        <p:spPr>
          <a:xfrm>
            <a:off x="493776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shelf, 26% less share per point. The gap is velocity, not reach.</a:t>
            </a:r>
            <a:endParaRPr lang="en-US" sz="690" dirty="0"/>
          </a:p>
        </p:txBody>
      </p:sp>
      <p:sp>
        <p:nvSpPr>
          <p:cNvPr id="147" name="Shape 145"/>
          <p:cNvSpPr/>
          <p:nvPr/>
        </p:nvSpPr>
        <p:spPr>
          <a:xfrm>
            <a:off x="3502152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3502152" y="576072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49" name="Text 147"/>
          <p:cNvSpPr/>
          <p:nvPr/>
        </p:nvSpPr>
        <p:spPr>
          <a:xfrm>
            <a:off x="3584448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— REACH THE WEAKEST PEER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3593592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+4.2 pts  ·  ~₹6.9 Cr / month</a:t>
            </a:r>
            <a:endParaRPr lang="en-US" sz="1250" dirty="0"/>
          </a:p>
        </p:txBody>
      </p:sp>
      <p:sp>
        <p:nvSpPr>
          <p:cNvPr id="151" name="Text 149"/>
          <p:cNvSpPr/>
          <p:nvPr/>
        </p:nvSpPr>
        <p:spPr>
          <a:xfrm>
            <a:off x="3593592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Shampoo ≈ ₹164 Cr / month, so one share point is worth ₹1.64 Cr</a:t>
            </a:r>
            <a:endParaRPr lang="en-US" sz="630" dirty="0"/>
          </a:p>
        </p:txBody>
      </p:sp>
      <p:sp>
        <p:nvSpPr>
          <p:cNvPr id="152" name="Shape 150"/>
          <p:cNvSpPr/>
          <p:nvPr/>
        </p:nvSpPr>
        <p:spPr>
          <a:xfrm>
            <a:off x="3611880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53" name="Text 151"/>
          <p:cNvSpPr/>
          <p:nvPr/>
        </p:nvSpPr>
        <p:spPr>
          <a:xfrm>
            <a:off x="3730752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Sunsilk's 0.097 — the weakest of the five peers — 81.5% WD yields 7.9%.</a:t>
            </a:r>
            <a:endParaRPr lang="en-US" sz="690" dirty="0"/>
          </a:p>
        </p:txBody>
      </p:sp>
      <p:sp>
        <p:nvSpPr>
          <p:cNvPr id="154" name="Shape 152"/>
          <p:cNvSpPr/>
          <p:nvPr/>
        </p:nvSpPr>
        <p:spPr>
          <a:xfrm>
            <a:off x="3611880" y="6954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55" name="Text 153"/>
          <p:cNvSpPr/>
          <p:nvPr/>
        </p:nvSpPr>
        <p:spPr>
          <a:xfrm>
            <a:off x="3730752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benchmark; the peer median is 0.131.</a:t>
            </a:r>
            <a:endParaRPr lang="en-US" sz="690" dirty="0"/>
          </a:p>
        </p:txBody>
      </p:sp>
      <p:sp>
        <p:nvSpPr>
          <p:cNvPr id="156" name="Shape 154"/>
          <p:cNvSpPr/>
          <p:nvPr/>
        </p:nvSpPr>
        <p:spPr>
          <a:xfrm>
            <a:off x="265176" y="73334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57" name="Text 155"/>
          <p:cNvSpPr/>
          <p:nvPr/>
        </p:nvSpPr>
        <p:spPr>
          <a:xfrm>
            <a:off x="374904" y="735177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 — WHERE THE VOLUME ACTUALLY SITS (MAY 2026)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65176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Wash</a:t>
            </a:r>
            <a:endParaRPr lang="en-US" sz="720" dirty="0"/>
          </a:p>
        </p:txBody>
      </p:sp>
      <p:sp>
        <p:nvSpPr>
          <p:cNvPr id="159" name="Shape 157"/>
          <p:cNvSpPr/>
          <p:nvPr/>
        </p:nvSpPr>
        <p:spPr>
          <a:xfrm>
            <a:off x="265176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60" name="Text 158"/>
          <p:cNvSpPr/>
          <p:nvPr/>
        </p:nvSpPr>
        <p:spPr>
          <a:xfrm>
            <a:off x="320040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61" name="Text 159"/>
          <p:cNvSpPr/>
          <p:nvPr/>
        </p:nvSpPr>
        <p:spPr>
          <a:xfrm>
            <a:off x="1323505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62" name="Text 160"/>
          <p:cNvSpPr/>
          <p:nvPr/>
        </p:nvSpPr>
        <p:spPr>
          <a:xfrm>
            <a:off x="1945653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63" name="Text 161"/>
          <p:cNvSpPr/>
          <p:nvPr/>
        </p:nvSpPr>
        <p:spPr>
          <a:xfrm>
            <a:off x="2668148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64" name="Shape 162"/>
          <p:cNvSpPr/>
          <p:nvPr/>
        </p:nvSpPr>
        <p:spPr>
          <a:xfrm>
            <a:off x="265176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265176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320040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ml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1323505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00" dirty="0"/>
          </a:p>
        </p:txBody>
      </p:sp>
      <p:sp>
        <p:nvSpPr>
          <p:cNvPr id="168" name="Text 166"/>
          <p:cNvSpPr/>
          <p:nvPr/>
        </p:nvSpPr>
        <p:spPr>
          <a:xfrm>
            <a:off x="1945653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5.53</a:t>
            </a:r>
            <a:endParaRPr lang="en-US" sz="700" dirty="0"/>
          </a:p>
        </p:txBody>
      </p:sp>
      <p:sp>
        <p:nvSpPr>
          <p:cNvPr id="169" name="Text 167"/>
          <p:cNvSpPr/>
          <p:nvPr/>
        </p:nvSpPr>
        <p:spPr>
          <a:xfrm>
            <a:off x="2668148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+98%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265176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320040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ml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1323505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700" dirty="0"/>
          </a:p>
        </p:txBody>
      </p:sp>
      <p:sp>
        <p:nvSpPr>
          <p:cNvPr id="173" name="Text 171"/>
          <p:cNvSpPr/>
          <p:nvPr/>
        </p:nvSpPr>
        <p:spPr>
          <a:xfrm>
            <a:off x="1945653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00" dirty="0"/>
          </a:p>
        </p:txBody>
      </p:sp>
      <p:sp>
        <p:nvSpPr>
          <p:cNvPr id="174" name="Text 172"/>
          <p:cNvSpPr/>
          <p:nvPr/>
        </p:nvSpPr>
        <p:spPr>
          <a:xfrm>
            <a:off x="2668148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65176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65176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20040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ml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1323505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1945653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2668148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265176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20040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ml</a:t>
            </a:r>
            <a:endParaRPr lang="en-US" sz="700" dirty="0"/>
          </a:p>
        </p:txBody>
      </p:sp>
      <p:sp>
        <p:nvSpPr>
          <p:cNvPr id="183" name="Text 181"/>
          <p:cNvSpPr/>
          <p:nvPr/>
        </p:nvSpPr>
        <p:spPr>
          <a:xfrm>
            <a:off x="1323505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1945653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2668148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+80%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3502152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</a:t>
            </a:r>
            <a:endParaRPr lang="en-US" sz="720" dirty="0"/>
          </a:p>
        </p:txBody>
      </p:sp>
      <p:sp>
        <p:nvSpPr>
          <p:cNvPr id="187" name="Shape 185"/>
          <p:cNvSpPr/>
          <p:nvPr/>
        </p:nvSpPr>
        <p:spPr>
          <a:xfrm>
            <a:off x="3502152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88" name="Text 186"/>
          <p:cNvSpPr/>
          <p:nvPr/>
        </p:nvSpPr>
        <p:spPr>
          <a:xfrm>
            <a:off x="3557016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89" name="Text 187"/>
          <p:cNvSpPr/>
          <p:nvPr/>
        </p:nvSpPr>
        <p:spPr>
          <a:xfrm>
            <a:off x="4560481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90" name="Text 188"/>
          <p:cNvSpPr/>
          <p:nvPr/>
        </p:nvSpPr>
        <p:spPr>
          <a:xfrm>
            <a:off x="5182629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91" name="Text 189"/>
          <p:cNvSpPr/>
          <p:nvPr/>
        </p:nvSpPr>
        <p:spPr>
          <a:xfrm>
            <a:off x="5905124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92" name="Shape 190"/>
          <p:cNvSpPr/>
          <p:nvPr/>
        </p:nvSpPr>
        <p:spPr>
          <a:xfrm>
            <a:off x="3502152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93" name="Shape 191"/>
          <p:cNvSpPr/>
          <p:nvPr/>
        </p:nvSpPr>
        <p:spPr>
          <a:xfrm>
            <a:off x="3502152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3557016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ml</a:t>
            </a:r>
            <a:endParaRPr lang="en-US" sz="700" dirty="0"/>
          </a:p>
        </p:txBody>
      </p:sp>
      <p:sp>
        <p:nvSpPr>
          <p:cNvPr id="195" name="Text 193"/>
          <p:cNvSpPr/>
          <p:nvPr/>
        </p:nvSpPr>
        <p:spPr>
          <a:xfrm>
            <a:off x="4560481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5182629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</a:t>
            </a:r>
            <a:endParaRPr lang="en-US" sz="700" dirty="0"/>
          </a:p>
        </p:txBody>
      </p:sp>
      <p:sp>
        <p:nvSpPr>
          <p:cNvPr id="197" name="Text 195"/>
          <p:cNvSpPr/>
          <p:nvPr/>
        </p:nvSpPr>
        <p:spPr>
          <a:xfrm>
            <a:off x="5905124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3502152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557016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ml</a:t>
            </a:r>
            <a:endParaRPr lang="en-US" sz="700" dirty="0"/>
          </a:p>
        </p:txBody>
      </p:sp>
      <p:sp>
        <p:nvSpPr>
          <p:cNvPr id="200" name="Text 198"/>
          <p:cNvSpPr/>
          <p:nvPr/>
        </p:nvSpPr>
        <p:spPr>
          <a:xfrm>
            <a:off x="4560481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00" dirty="0"/>
          </a:p>
        </p:txBody>
      </p:sp>
      <p:sp>
        <p:nvSpPr>
          <p:cNvPr id="201" name="Text 199"/>
          <p:cNvSpPr/>
          <p:nvPr/>
        </p:nvSpPr>
        <p:spPr>
          <a:xfrm>
            <a:off x="5182629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5905124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−7%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502152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204" name="Shape 202"/>
          <p:cNvSpPr/>
          <p:nvPr/>
        </p:nvSpPr>
        <p:spPr>
          <a:xfrm>
            <a:off x="3502152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557016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 ml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4560481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700" dirty="0"/>
          </a:p>
        </p:txBody>
      </p:sp>
      <p:sp>
        <p:nvSpPr>
          <p:cNvPr id="207" name="Text 205"/>
          <p:cNvSpPr/>
          <p:nvPr/>
        </p:nvSpPr>
        <p:spPr>
          <a:xfrm>
            <a:off x="5182629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00" dirty="0"/>
          </a:p>
        </p:txBody>
      </p:sp>
      <p:sp>
        <p:nvSpPr>
          <p:cNvPr id="208" name="Text 206"/>
          <p:cNvSpPr/>
          <p:nvPr/>
        </p:nvSpPr>
        <p:spPr>
          <a:xfrm>
            <a:off x="5905124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3502152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3557016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ml</a:t>
            </a:r>
            <a:endParaRPr lang="en-US" sz="700" dirty="0"/>
          </a:p>
        </p:txBody>
      </p:sp>
      <p:sp>
        <p:nvSpPr>
          <p:cNvPr id="211" name="Text 209"/>
          <p:cNvSpPr/>
          <p:nvPr/>
        </p:nvSpPr>
        <p:spPr>
          <a:xfrm>
            <a:off x="4560481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700" dirty="0"/>
          </a:p>
        </p:txBody>
      </p:sp>
      <p:sp>
        <p:nvSpPr>
          <p:cNvPr id="212" name="Text 210"/>
          <p:cNvSpPr/>
          <p:nvPr/>
        </p:nvSpPr>
        <p:spPr>
          <a:xfrm>
            <a:off x="5182629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</a:t>
            </a:r>
            <a:endParaRPr lang="en-US" sz="700" dirty="0"/>
          </a:p>
        </p:txBody>
      </p:sp>
      <p:sp>
        <p:nvSpPr>
          <p:cNvPr id="213" name="Text 211"/>
          <p:cNvSpPr/>
          <p:nvPr/>
        </p:nvSpPr>
        <p:spPr>
          <a:xfrm>
            <a:off x="5905124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265176" y="9363456"/>
            <a:ext cx="6327648" cy="1152144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65176" y="9363456"/>
            <a:ext cx="6327648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16" name="Text 214"/>
          <p:cNvSpPr/>
          <p:nvPr/>
        </p:nvSpPr>
        <p:spPr>
          <a:xfrm>
            <a:off x="347472" y="9381744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READ — ONE HERO, TWO DECLINING PACKS, ONE CONCENTRATION RISK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374904" y="979779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218" name="Text 216"/>
          <p:cNvSpPr/>
          <p:nvPr/>
        </p:nvSpPr>
        <p:spPr>
          <a:xfrm>
            <a:off x="493776" y="974750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150 ml: 58% of Mamaearth Face Wash at +98% YoY. A chain-level delisting or stock gap on this one pack is a brand-level event, so it leads the hero-SKU OSA target.</a:t>
            </a:r>
            <a:endParaRPr lang="en-US" sz="720" dirty="0"/>
          </a:p>
        </p:txBody>
      </p:sp>
      <p:sp>
        <p:nvSpPr>
          <p:cNvPr id="219" name="Shape 217"/>
          <p:cNvSpPr/>
          <p:nvPr/>
        </p:nvSpPr>
        <p:spPr>
          <a:xfrm>
            <a:off x="374904" y="1007211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220" name="Text 218"/>
          <p:cNvSpPr/>
          <p:nvPr/>
        </p:nvSpPr>
        <p:spPr>
          <a:xfrm>
            <a:off x="493776" y="1002182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100 ml and Shampoo 250 ml: 21% and 13% of their brands, both declining on value and share. Check availability and promo cover before reading either as demand.</a:t>
            </a:r>
            <a:endParaRPr lang="en-US" sz="720" dirty="0"/>
          </a:p>
        </p:txBody>
      </p:sp>
      <p:sp>
        <p:nvSpPr>
          <p:cNvPr id="221" name="Shape 219"/>
          <p:cNvSpPr/>
          <p:nvPr/>
        </p:nvSpPr>
        <p:spPr>
          <a:xfrm>
            <a:off x="374904" y="103464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222" name="Text 220"/>
          <p:cNvSpPr/>
          <p:nvPr/>
        </p:nvSpPr>
        <p:spPr>
          <a:xfrm>
            <a:off x="493776" y="102961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400 ml concentration: 76% of Mamaearth Shampoo sits in a single pack. 650 ml is the only credible second pack and it is new.</a:t>
            </a:r>
            <a:endParaRPr lang="en-US" sz="720" dirty="0"/>
          </a:p>
        </p:txBody>
      </p:sp>
      <p:sp>
        <p:nvSpPr>
          <p:cNvPr id="223" name="Shape 221"/>
          <p:cNvSpPr/>
          <p:nvPr/>
        </p:nvSpPr>
        <p:spPr>
          <a:xfrm>
            <a:off x="265176" y="10625328"/>
            <a:ext cx="6327648" cy="768096"/>
          </a:xfrm>
          <a:prstGeom prst="roundRect">
            <a:avLst>
              <a:gd name="adj" fmla="val 357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24" name="Text 222"/>
          <p:cNvSpPr/>
          <p:nvPr/>
        </p:nvSpPr>
        <p:spPr>
          <a:xfrm>
            <a:off x="393192" y="10680192"/>
            <a:ext cx="6071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RATE BEFORE REACH   </a:t>
            </a:r>
            <a:pPr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two declining packs first, then run the shampoo velocity pilot in South-1 — the only zone where shampoo out-sells cleanser. Expand The Derma Co. Face Wash, where 27.3% WD is the one genuine width gap in the portfolio. Hold the large-format entry: 340 ml (₹261 Cr), 1000 ml (₹216 Cr) and 580 ml (₹64 Cr) are ₹541 Cr of pool we do not touch, but Dove covers 250/340/400/1000 ml and Head &amp; Shoulders 180/250/400/580 ml — these pools are contested, not empty. Entering them is a slow share-steal against an entrenched leader, and adding formats while under-earning per point spends listing fees to dilute a thin rate further.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zones convert at 86% — that rate is worth ₹6.22 Cr applied to the other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contribution, conversion and recoverable value at the internal benchmark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SCORECARD — RANKED BY RECOVERABLE VALUE, NOT BY SIZE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325122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111708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2898294" y="1627632"/>
            <a:ext cx="5195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3527563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209271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890979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896061" y="1627632"/>
            <a:ext cx="641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186537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2" name="Shape 30"/>
          <p:cNvSpPr/>
          <p:nvPr/>
        </p:nvSpPr>
        <p:spPr>
          <a:xfrm>
            <a:off x="265176" y="2212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1325122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2111708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2898294" y="186537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527563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61.3%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4209271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4890979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+2.79 Cr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5896061" y="186537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65176" y="25603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1325122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2111708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2898294" y="2212848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3527563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4209271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3.56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4890979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+2.55 Cr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5896061" y="2212848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265176" y="256032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1" name="Shape 49"/>
          <p:cNvSpPr/>
          <p:nvPr/>
        </p:nvSpPr>
        <p:spPr>
          <a:xfrm>
            <a:off x="265176" y="29077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1325122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2111708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2898294" y="2560320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3527563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4209271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890979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+0.90 Cr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5896061" y="2560320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265176" y="32552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0040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1325122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2111708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898294" y="2907792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527563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09271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890979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896061" y="2907792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3255264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65176" y="36027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325122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111708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8.27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2898294" y="3255264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3527563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209271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4890979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78" name="Text 76"/>
          <p:cNvSpPr/>
          <p:nvPr/>
        </p:nvSpPr>
        <p:spPr>
          <a:xfrm>
            <a:off x="5896061" y="3255264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265176" y="3950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20040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1325122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2111708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2898294" y="360273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3527563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4209271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</a:t>
            </a:r>
            <a:endParaRPr lang="en-US" sz="740" dirty="0"/>
          </a:p>
        </p:txBody>
      </p:sp>
      <p:sp>
        <p:nvSpPr>
          <p:cNvPr id="86" name="Text 84"/>
          <p:cNvSpPr/>
          <p:nvPr/>
        </p:nvSpPr>
        <p:spPr>
          <a:xfrm>
            <a:off x="4890979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896061" y="360273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88" name="Text 86"/>
          <p:cNvSpPr/>
          <p:nvPr/>
        </p:nvSpPr>
        <p:spPr>
          <a:xfrm>
            <a:off x="265176" y="4023360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= 85.73%, the mean MT conversion of West (85.2%) and South-1 (86.3%). Recoverable = primary × benchmark − actual offtake, holding primary flat; components are rounded to two decimals while the ₹6.22 Cr pool is computed on unrounded values. Zone gaps sum to ₹13.06 Cr. The previous pack headlined ₹13.11 Cr on a blended base that carried the Nykaa (FSN) eB2B account inside MT zone sales; that account is now reported as its own channel.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265176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65176" y="4480560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1" name="Text 89"/>
          <p:cNvSpPr/>
          <p:nvPr/>
        </p:nvSpPr>
        <p:spPr>
          <a:xfrm>
            <a:off x="347472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THE POOL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56616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356616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East and South-2 at benchmark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74904" y="54635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5" name="Text 93"/>
          <p:cNvSpPr/>
          <p:nvPr/>
        </p:nvSpPr>
        <p:spPr>
          <a:xfrm>
            <a:off x="493776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₹2.78 Cr — highest primary, third-worst flow.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5811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7" name="Text 95"/>
          <p:cNvSpPr/>
          <p:nvPr/>
        </p:nvSpPr>
        <p:spPr>
          <a:xfrm>
            <a:off x="493776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₹2.54 Cr — worst flow, highest NPI mix.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6158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9" name="Text 97"/>
          <p:cNvSpPr/>
          <p:nvPr/>
        </p:nvSpPr>
        <p:spPr>
          <a:xfrm>
            <a:off x="493776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₹0.90 Cr — newly above the floor once eB2B left its primary.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2420112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420112" y="4480560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02" name="Text 100"/>
          <p:cNvSpPr/>
          <p:nvPr/>
        </p:nvSpPr>
        <p:spPr>
          <a:xfrm>
            <a:off x="2502408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THE ENGINES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511552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₹16.45 Cr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2511552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offtake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2529840" y="54635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6" name="Text 104"/>
          <p:cNvSpPr/>
          <p:nvPr/>
        </p:nvSpPr>
        <p:spPr>
          <a:xfrm>
            <a:off x="2648712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 of national MT offtake at 85–86% conversion.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529840" y="58110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648712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pool here — the rate is already the benchmark.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2529840" y="615848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10" name="Text 108"/>
          <p:cNvSpPr/>
          <p:nvPr/>
        </p:nvSpPr>
        <p:spPr>
          <a:xfrm>
            <a:off x="2648712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spend flat; redirect field capacity to North.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4575048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575048" y="4480560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3" name="Text 111"/>
          <p:cNvSpPr/>
          <p:nvPr/>
        </p:nvSpPr>
        <p:spPr>
          <a:xfrm>
            <a:off x="4657344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ONE CELL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66488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₹0.90 Cr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4666488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South-2, almost all DMart</a:t>
            </a:r>
            <a:endParaRPr lang="en-US" sz="680" dirty="0"/>
          </a:p>
        </p:txBody>
      </p:sp>
      <p:sp>
        <p:nvSpPr>
          <p:cNvPr id="116" name="Shape 114"/>
          <p:cNvSpPr/>
          <p:nvPr/>
        </p:nvSpPr>
        <p:spPr>
          <a:xfrm>
            <a:off x="4684776" y="54635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7" name="Text 115"/>
          <p:cNvSpPr/>
          <p:nvPr/>
        </p:nvSpPr>
        <p:spPr>
          <a:xfrm>
            <a:off x="4803648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45.1% against 94–95% in West and Central.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4684776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9" name="Text 117"/>
          <p:cNvSpPr/>
          <p:nvPr/>
        </p:nvSpPr>
        <p:spPr>
          <a:xfrm>
            <a:off x="4803648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DC or fill problem, not a chain relationship problem.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84776" y="615848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21" name="Text 119"/>
          <p:cNvSpPr/>
          <p:nvPr/>
        </p:nvSpPr>
        <p:spPr>
          <a:xfrm>
            <a:off x="4803648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as a single-account audit, not a zone programme.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265176" y="654710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3" name="Text 121"/>
          <p:cNvSpPr/>
          <p:nvPr/>
        </p:nvSpPr>
        <p:spPr>
          <a:xfrm>
            <a:off x="374904" y="6565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ACTIONS</a:t>
            </a:r>
            <a:endParaRPr lang="en-US" sz="720" dirty="0"/>
          </a:p>
        </p:txBody>
      </p:sp>
      <p:sp>
        <p:nvSpPr>
          <p:cNvPr id="124" name="Shape 122"/>
          <p:cNvSpPr/>
          <p:nvPr/>
        </p:nvSpPr>
        <p:spPr>
          <a:xfrm>
            <a:off x="356616" y="6963156"/>
            <a:ext cx="50292" cy="50292"/>
          </a:xfrm>
          <a:prstGeom prst="ellipse">
            <a:avLst/>
          </a:prstGeom>
          <a:solidFill>
            <a:srgbClr val="183B39"/>
          </a:solidFill>
          <a:ln/>
        </p:spPr>
      </p:sp>
      <p:sp>
        <p:nvSpPr>
          <p:cNvPr id="125" name="Text 123"/>
          <p:cNvSpPr/>
          <p:nvPr/>
        </p:nvSpPr>
        <p:spPr>
          <a:xfrm>
            <a:off x="475488" y="691286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North and East: weekly chain × state × hero-EAN gap closure against a ₹2.78 Cr and ₹2.54 Cr target. Owner: zone ZSMs.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356616" y="734720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27" name="Text 125"/>
          <p:cNvSpPr/>
          <p:nvPr/>
        </p:nvSpPr>
        <p:spPr>
          <a:xfrm>
            <a:off x="475488" y="729691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South-2: now clears the floor at ₹0.90 Cr. Audit DMart DC-to-store fill against the West benchmark. Owner: NKAM DMart + Supply, 22 Aug.</a:t>
            </a:r>
            <a:endParaRPr lang="en-US" sz="760" dirty="0"/>
          </a:p>
        </p:txBody>
      </p:sp>
      <p:sp>
        <p:nvSpPr>
          <p:cNvPr id="128" name="Shape 126"/>
          <p:cNvSpPr/>
          <p:nvPr/>
        </p:nvSpPr>
        <p:spPr>
          <a:xfrm>
            <a:off x="356616" y="773125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29" name="Text 127"/>
          <p:cNvSpPr/>
          <p:nvPr/>
        </p:nvSpPr>
        <p:spPr>
          <a:xfrm>
            <a:off x="475488" y="768096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West, South-1: hold hero-SKU OSA, avoid unnecessary loading, document DMart West cadence as the national template.</a:t>
            </a:r>
            <a:endParaRPr lang="en-US" sz="760" dirty="0"/>
          </a:p>
        </p:txBody>
      </p:sp>
      <p:sp>
        <p:nvSpPr>
          <p:cNvPr id="130" name="Shape 128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5488" y="806500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Exception-report — Central and West: ₹0.13 Cr and ₹0.05 Cr recoverable are below the ₹0.25 Cr floor; keep them out of the weekly review.</a:t>
            </a:r>
            <a:endParaRPr lang="en-US" sz="760" dirty="0"/>
          </a:p>
        </p:txBody>
      </p:sp>
      <p:sp>
        <p:nvSpPr>
          <p:cNvPr id="132" name="Shape 130"/>
          <p:cNvSpPr/>
          <p:nvPr/>
        </p:nvSpPr>
        <p:spPr>
          <a:xfrm>
            <a:off x="356616" y="8499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133" name="Text 131"/>
          <p:cNvSpPr/>
          <p:nvPr/>
        </p:nvSpPr>
        <p:spPr>
          <a:xfrm>
            <a:off x="475488" y="844905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— eB2B (₹2.20 Cr) and SIS now report as their own channels on pages 13 and 14, outside every MT zone figure.</a:t>
            </a:r>
            <a:endParaRPr lang="en-US" sz="760" dirty="0"/>
          </a:p>
        </p:txBody>
      </p:sp>
      <p:sp>
        <p:nvSpPr>
          <p:cNvPr id="134" name="Shape 132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35" name="Text 133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CONVERSION PROBLEM AND NOT A DEMAND PROBLEM</a:t>
            </a:r>
            <a:endParaRPr lang="en-US" sz="720" dirty="0"/>
          </a:p>
        </p:txBody>
      </p:sp>
      <p:sp>
        <p:nvSpPr>
          <p:cNvPr id="136" name="Shape 134"/>
          <p:cNvSpPr/>
          <p:nvPr/>
        </p:nvSpPr>
        <p:spPr>
          <a:xfrm>
            <a:off x="265176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65176" y="9253728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38" name="Text 136"/>
          <p:cNvSpPr/>
          <p:nvPr/>
        </p:nvSpPr>
        <p:spPr>
          <a:xfrm>
            <a:off x="347472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PORTFOLIO, SIX DIFFERENT OUTCOMES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374904" y="970635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40" name="Text 138"/>
          <p:cNvSpPr/>
          <p:nvPr/>
        </p:nvSpPr>
        <p:spPr>
          <a:xfrm>
            <a:off x="493776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sells the same brands, packs and price list.</a:t>
            </a:r>
            <a:endParaRPr lang="en-US" sz="710" dirty="0"/>
          </a:p>
        </p:txBody>
      </p:sp>
      <p:sp>
        <p:nvSpPr>
          <p:cNvPr id="141" name="Shape 139"/>
          <p:cNvSpPr/>
          <p:nvPr/>
        </p:nvSpPr>
        <p:spPr>
          <a:xfrm>
            <a:off x="374904" y="1005382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42" name="Text 140"/>
          <p:cNvSpPr/>
          <p:nvPr/>
        </p:nvSpPr>
        <p:spPr>
          <a:xfrm>
            <a:off x="493776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still ranges from 49.9% to 86.3% — a 38-point spread.</a:t>
            </a:r>
            <a:endParaRPr lang="en-US" sz="710" dirty="0"/>
          </a:p>
        </p:txBody>
      </p:sp>
      <p:sp>
        <p:nvSpPr>
          <p:cNvPr id="143" name="Shape 141"/>
          <p:cNvSpPr/>
          <p:nvPr/>
        </p:nvSpPr>
        <p:spPr>
          <a:xfrm>
            <a:off x="374904" y="104013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44" name="Text 142"/>
          <p:cNvSpPr/>
          <p:nvPr/>
        </p:nvSpPr>
        <p:spPr>
          <a:xfrm>
            <a:off x="493776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rules out product, pricing and proposition, and leaves execution.</a:t>
            </a:r>
            <a:endParaRPr lang="en-US" sz="710" dirty="0"/>
          </a:p>
        </p:txBody>
      </p:sp>
      <p:sp>
        <p:nvSpPr>
          <p:cNvPr id="145" name="Shape 143"/>
          <p:cNvSpPr/>
          <p:nvPr/>
        </p:nvSpPr>
        <p:spPr>
          <a:xfrm>
            <a:off x="3502152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502152" y="9253728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47" name="Text 145"/>
          <p:cNvSpPr/>
          <p:nvPr/>
        </p:nvSpPr>
        <p:spPr>
          <a:xfrm>
            <a:off x="3584448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THIS READ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3611880" y="97063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49" name="Text 147"/>
          <p:cNvSpPr/>
          <p:nvPr/>
        </p:nvSpPr>
        <p:spPr>
          <a:xfrm>
            <a:off x="3730752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stock by chain — a gap can also be trade inventory in transit.</a:t>
            </a:r>
            <a:endParaRPr lang="en-US" sz="710" dirty="0"/>
          </a:p>
        </p:txBody>
      </p:sp>
      <p:sp>
        <p:nvSpPr>
          <p:cNvPr id="150" name="Shape 148"/>
          <p:cNvSpPr/>
          <p:nvPr/>
        </p:nvSpPr>
        <p:spPr>
          <a:xfrm>
            <a:off x="3611880" y="100538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51" name="Text 149"/>
          <p:cNvSpPr/>
          <p:nvPr/>
        </p:nvSpPr>
        <p:spPr>
          <a:xfrm>
            <a:off x="3730752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OOS and OSA by store — the direct test of the execution hypothesis.</a:t>
            </a:r>
            <a:endParaRPr lang="en-US" sz="710" dirty="0"/>
          </a:p>
        </p:txBody>
      </p:sp>
      <p:sp>
        <p:nvSpPr>
          <p:cNvPr id="152" name="Shape 150"/>
          <p:cNvSpPr/>
          <p:nvPr/>
        </p:nvSpPr>
        <p:spPr>
          <a:xfrm>
            <a:off x="3611880" y="10401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53" name="Text 151"/>
          <p:cNvSpPr/>
          <p:nvPr/>
        </p:nvSpPr>
        <p:spPr>
          <a:xfrm>
            <a:off x="3730752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both reconcile, this page sizes an opportunity; it does not prove a cause.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West: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₹9.71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₹8.27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85.2%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₹1.44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DMart execution as the national template • Reliance is the only weak cell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West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West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West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West-specific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West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West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South-1: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₹9.48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₹8.18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₹1.30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conversion in the country • Apollo cadence is the transferable asset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Apollo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DMart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₹2.31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Lulu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₹1.22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Karnataka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₹4.10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Tamil Nadu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₹2.63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Kerala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₹1.17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₹5.24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₹1.12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₹2.76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₹0.61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₹0.64 Cr · 7.9% of zone — highest NPI value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 conversion is the best zone in the country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sets the internal benchmark used to size the national recovery pool. It is not an outlier month — chain conversion is even across all three top accounts.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South-1 as the reference zone in every gap-closure target, not an external aspiration.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₹2.84 Cr and 81.0% is the most replicable model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Pharmacy-format cadence — small, frequent, tightly assorted orders — is the mechanism behind Apollo's near-parity flow nationally.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order-frequency and assortment-depth profile as a scoring template for other accounts.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₹1.22 Cr sits in the zone with no primary mapped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is the account the national scorecard ranks +46.5% and marks Scale. Its primary is unmapped nationally, so that growth claim cannot be verified.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Lulu billing mapping before any Lulu-based recommendation goes to the field.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zone where Mamaearth Shampoo out-sells Face Cleanser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₹1.23 Cr against Face Cleanser ₹1.12 Cr. Every other zone is cleanser-led, so South-1 is the natural proving ground for the shampoo range.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shampoo pack pilot here first, measured on sales per store, not listings added.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 · Sep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hold 77.8% — the widest base in the country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chain concentration of any zone. Demand is spread across formats rather than resting on one hypermarket relationship.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South-1 account mix as the target shape for East rebuilding.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alone is 50.1% of zone offtake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Single-state dependence is the one structural risk in an otherwise strong zone; Kerala at ₹1.17 Cr is materially under-developed against its retail base.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Kerala distribution white space in ₹ before the Q3 target reset.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RKAM · 15 Sep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NPI mix 7.9% | Highest national conversion — the cadence to export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North: Q1 best converter, July loaded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₹11.38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₹6.97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61.3%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₹4.41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90.0% across Q1 — the best zone • July primary 16.4% above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₹2.53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Delhi NCR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₹1.97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Rajasthan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Punjab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₹1.55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₹4.74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₹0.35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₹2.12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₹0.10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 · 9.2% of zone — second-highest NPI mix on the second-worst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₹2.78 Cr is recoverable at the internal benchmark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bills the most primary in the country (₹11.95 Cr) and converts it worst but one. At the West / South-1 rate of 82.95% the zone would deliver ₹9.91 Cr instead of ₹6.99 Cr.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₹2.78 Cr as the North recovery target and review it weekly against actuals.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North converts at 44.9% — the worst material cell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₹2.40 Cr of offtake this single chain-zone cell explains the bulk of the zone shortfall. DMart North at 77.9% and Apollo at 98.3% show the geography is not the constraint.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incremental loading into Reliance North until conversion clears 65% for two consecutive weeks.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immediate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three different conversion outcomes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98.3%, DMart 77.9%, Reliance 44.9% — identical range in one geography. That rules out demand, pricing and assortment, and points at account-level replenishment.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store-level OSA audit on Reliance North hero EANs; compare against Apollo North cadence.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RKAM + Trade Marketing · 25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is 9.2% into a 61.3%-converting zone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are being placed where sell-through is weakest. NPI carries the least shelf history and the highest liquidation risk, so it is the worst payload for a weak pipe.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further NPI allocation to North until zone conversion clears 70%.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NCR, Rajasthan and Punjab are evenly matched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₹1.97 / ₹1.67 / ₹1.55 Cr no single state carries the zone, so recovery has to be run per chain, not per state.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exception list at chain × state × hero-EAN, not state level.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20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at ₹1.68 Cr is strongest in the country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the largest shampoo zone by value despite the conversion problem, so the demand signal is real and the loss is downstream of it.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shampoo hero-EAN availability first when OSA effort is prioritised.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Supply · from 18 Aug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NPI mix 9.2% | ₹2.78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South-2: Isolated chain problem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₹6.73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₹4.87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₹1.85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weak cell (DMart) inside an otherwise functioning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₹1.95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₹1.64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Reliance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Telangana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Andhra Pradesh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₹3.74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₹1.11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₹0.20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₹0.31 Cr · 6.4% of zone — lowest NPI value nationally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at 45.1% — half its national rate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runs 94.2% in West and 77.9% in North. At 45.1% here the account is behaving unlike itself, which points at a regional DC or fill problem rather than the chain relationship.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DMart South-2 DC-to-store fill rate against the West benchmark.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South-2 reported at 148.5% conversion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ratio in the pack. Offtake exceeding primary by half means opening stock or a billing-period mismatch, not performance — and it inflates the zone average.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Apollo South-2 opening stock and billing cut-off before quoting zone conversion.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 recoverable, almost all of it inside DMart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the zone delivers ₹5.72 Cr against ₹4.91 Cr actual. The DMart cell alone accounts for the majority of the shortfall.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South-2 recovery as a single-account project, not a zone programme.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RKAM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material states in the zone cut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₹2.56 Cr and Andhra Pradesh ₹2.35 Cr are the whole zone. The source pack described "top three states at 100%" while listing two — a reporting artefact worth correcting.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state-count logic in the build script.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under-developed at ₹1.11 Cr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22.6% of zone offtake against 39.4% in West. The gap is distribution-led rather than demand-led given TDC strength in neighbouring South-1.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TDC listing white space in South-2 Apollo and Reliance doors.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RKAM · 15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NPI exposure nationally at 6.4%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conversion unresolved, low new-product exposure is the correct posture — this zone is not carrying launch risk on top of a fill problem.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NPI allocation flat until DMart fill is fixed.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NPI mix 6.4% | ₹0.90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East: Q1 star, July load spike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₹3.54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49.9%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89.7% across Q1 • July primary is 62.8% above its own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offtake, Jan–Jul 2026 (₹ Cr)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FSN/Nykaa EANs — range is contracting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Reliance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Vishal Mega Mart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West Bengal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Odisha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₹0.60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Bihar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₹2.91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₹0.60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₹0.47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 Cr · 10.2% of zone — the highest NPI mix on the 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 recoverable — the largest pool in the pack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bills ₹7.83 Cr and sells ₹3.55 Cr. At the West / South-1 benchmark the same billing delivers ₹6.50 Cr. This single zone is half the national opportunity.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₹2.54 Cr as the East recovery target with weekly owner review.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East at 52.9% carries 60.9% of the zone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dominates a zone that does not convert. Reliance runs 44.9% in North and 51.2% in Central too — this is a national account pattern surfacing hardest where it has most share.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East the lead case in the national Reliance recovery loop.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NPI mix nationally into the worst-converting zone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of East offtake is new product, against 6.4% in South-2. New products are being launched hardest where sell-through is weakest — the launch will read as a product failure when it is a flow failure.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60%; protect only listed hero EANs.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outruns selling by more than 2:1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this size over one month is a loading pattern, not an availability gap. Continued primary at this rate builds trade stock that will suppress future orders.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primary at trailing three-month offtake until the gap closes.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top chains cannot be flow-tested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reports above 100% and Vishal Mega Mart has no mapped primary, so only Reliance in this zone has a verifiable conversion figure.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Vishal Mega Mart billing and reconcile Apollo East opening stock.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barely present at ₹0.60 Cr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is 16.9% of East offtake against 39.4% in West. Fixing flow before adding TDC distribution avoids compounding the problem.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TDC expansion in East until zone conversion clears 60%.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 10.2% | ₹2.54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Central: Small and healthy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₹2.62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₹2.12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₹0.50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zone, sound flow — manage for cost, not intervention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₹0.46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51.2%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Madhya Pradesh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Chhattisgarh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₹0.44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₹1.25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₹0.40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₹0.82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₹0.02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 · 8.5% of zone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recoverable — below the ₹0.25 Cr floor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Central gains almost nothing. The zone is small and already flowing well, so it should not consume review time.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Central by exception only; drop it from the weekly gap review.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 pack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95.3% — best in the country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ahead of DMart West. Two zones now show DMart above 94%, which makes the 45.1% in South-2 clearly anomalous rather than a chain-wide characteristic.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Central and West together when scoping the DMart South-2 fill audit.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22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51.2% repeats the national pattern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zone where Reliance sits near 50% while other accounts in the same geography clear 78%. The consistency is the evidence.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the Reliance national loop; no separate zone action.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 is 79.3% of the zone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single-state-dependent zone in the pack. Chhattisgarh at ₹0.44 Cr is the only other material market.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Central as a single-state operation for planning and route design.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RKAM · Sep planning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TDC share of any zone at 38.7%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Mamaearth ₹1.25 Cr. Central over-indexes on TDC Face Cleanser relative to its size.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Central TDC assortment as the reference for South-2 TDC expansion.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Central reported at 137.7%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zone where Apollo exceeds 100%. The national Apollo figure of 99.7% is an average of wide zone-level errors, not a measured parity.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quoting Apollo national conversion until the zone figures reconcile.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mix 8.5% | ₹0.11 Cr recoverable — below the materiality floor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eB2B: MT digital sub-channel — marketplace and eB2B accounts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July 2026 | ₹ Cr | reported outside Modern Trade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94.1%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₹0.13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• MT digital sub-channel • formerly mis-labelled "Pan India"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44368"/>
          <a:ext cx="3090672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Nykaa (FSN)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Eremedium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offtake feed</a:t>
            </a:r>
            <a:endParaRPr lang="en-US" sz="620" dirty="0"/>
          </a:p>
        </p:txBody>
      </p:sp>
      <p:sp>
        <p:nvSpPr>
          <p:cNvPr id="56" name="Shape 52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58" name="Text 54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Pan India (no geography)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63" name="Text 59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₹1.65 Cr</a:t>
            </a:r>
            <a:endParaRPr lang="en-US" sz="680" dirty="0"/>
          </a:p>
        </p:txBody>
      </p:sp>
      <p:sp>
        <p:nvSpPr>
          <p:cNvPr id="65" name="Text 61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6" name="Text 62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7" name="Text 63"/>
          <p:cNvSpPr/>
          <p:nvPr/>
        </p:nvSpPr>
        <p:spPr>
          <a:xfrm>
            <a:off x="4648200" y="5294376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₹0.37 Cr</a:t>
            </a:r>
            <a:endParaRPr lang="en-US" sz="680" dirty="0"/>
          </a:p>
        </p:txBody>
      </p:sp>
      <p:sp>
        <p:nvSpPr>
          <p:cNvPr id="68" name="Text 64"/>
          <p:cNvSpPr/>
          <p:nvPr/>
        </p:nvSpPr>
        <p:spPr>
          <a:xfrm>
            <a:off x="4684776" y="5468112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9" name="Text 65"/>
          <p:cNvSpPr/>
          <p:nvPr/>
        </p:nvSpPr>
        <p:spPr>
          <a:xfrm>
            <a:off x="6007608" y="5468112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70" name="Shape 66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pPr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· 6.3% of channel</a:t>
            </a:r>
            <a:endParaRPr lang="en-US" sz="660" dirty="0"/>
          </a:p>
        </p:txBody>
      </p:sp>
      <p:sp>
        <p:nvSpPr>
          <p:cNvPr id="72" name="Shape 68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73" name="Text 69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76" name="Text 72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SUB-CHANNEL</a:t>
            </a:r>
            <a:endParaRPr lang="en-US" sz="620" dirty="0"/>
          </a:p>
        </p:txBody>
      </p:sp>
      <p:sp>
        <p:nvSpPr>
          <p:cNvPr id="77" name="Text 73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reported on its own page for clarity</a:t>
            </a:r>
            <a:endParaRPr lang="en-US" sz="740" dirty="0"/>
          </a:p>
        </p:txBody>
      </p:sp>
      <p:sp>
        <p:nvSpPr>
          <p:cNvPr id="78" name="Text 74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are classified eB2B in the channel master. Their replenishment model is near-real-time (94.1% July flow), so blending them into the geographic zone conversion benchmark would artificially inflate it. They count in total MT; excluded only from the zone benchmark.</a:t>
            </a:r>
            <a:endParaRPr lang="en-US" sz="650" dirty="0"/>
          </a:p>
        </p:txBody>
      </p:sp>
      <p:sp>
        <p:nvSpPr>
          <p:cNvPr id="79" name="Shape 75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eB2B in national MT totals (₹49.21 Cr primary, ₹36.10 Cr offtake). Report zone conversion on geographic MT only.</a:t>
            </a:r>
            <a:endParaRPr lang="en-US" sz="600" dirty="0"/>
          </a:p>
        </p:txBody>
      </p:sp>
      <p:sp>
        <p:nvSpPr>
          <p:cNvPr id="81" name="Text 77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82" name="Shape 78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84" name="Text 80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IDENTITY</a:t>
            </a:r>
            <a:endParaRPr lang="en-US" sz="620" dirty="0"/>
          </a:p>
        </p:txBody>
      </p:sp>
      <p:sp>
        <p:nvSpPr>
          <p:cNvPr id="85" name="Text 81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"Pan India" was a mis-label — corrected to eB2B sub-channel</a:t>
            </a:r>
            <a:endParaRPr lang="en-US" sz="740" dirty="0"/>
          </a:p>
        </p:txBody>
      </p:sp>
      <p:sp>
        <p:nvSpPr>
          <p:cNvPr id="86" name="Text 82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offtake for the former "Pan India" zone (860.01 L) equals the Nykaa (FSN) account exactly, 1:1. It is not a geography; it is the eB2B digital channel. The label is now corrected; the value stays inside total MT.</a:t>
            </a:r>
            <a:endParaRPr lang="en-US" sz="650" dirty="0"/>
          </a:p>
        </p:txBody>
      </p:sp>
      <p:sp>
        <p:nvSpPr>
          <p:cNvPr id="87" name="Shape 83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quote "Pan India" as a geographic zone. Always report as eB2B sub-channel of MT.</a:t>
            </a:r>
            <a:endParaRPr lang="en-US" sz="600" dirty="0"/>
          </a:p>
        </p:txBody>
      </p:sp>
      <p:sp>
        <p:nvSpPr>
          <p:cNvPr id="89" name="Text 85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applied Aug pack</a:t>
            </a:r>
            <a:endParaRPr lang="en-US" sz="620" dirty="0"/>
          </a:p>
        </p:txBody>
      </p:sp>
      <p:sp>
        <p:nvSpPr>
          <p:cNvPr id="90" name="Shape 86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2" name="Text 88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620" dirty="0"/>
          </a:p>
        </p:txBody>
      </p:sp>
      <p:sp>
        <p:nvSpPr>
          <p:cNvPr id="93" name="Text 89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B2C sits inside this number and cannot be split</a:t>
            </a:r>
            <a:endParaRPr lang="en-US" sz="740" dirty="0"/>
          </a:p>
        </p:txBody>
      </p:sp>
      <p:sp>
        <p:nvSpPr>
          <p:cNvPr id="94" name="Text 90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combines FSN (B2C marketplace) with Nykaa SS (eB2B) at article level. Carry the whole account under eB2B until separated feeds exist.</a:t>
            </a:r>
            <a:endParaRPr lang="en-US" sz="650" dirty="0"/>
          </a:p>
        </p:txBody>
      </p:sp>
      <p:sp>
        <p:nvSpPr>
          <p:cNvPr id="95" name="Shape 91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separated FSN and Nykaa SS feeds from the data owner.</a:t>
            </a:r>
            <a:endParaRPr lang="en-US" sz="600" dirty="0"/>
          </a:p>
        </p:txBody>
      </p:sp>
      <p:sp>
        <p:nvSpPr>
          <p:cNvPr id="97" name="Text 93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98" name="Shape 94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00" name="Text 96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101" name="Text 97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94.1% July flow, 97.8% across FY27 to date</a:t>
            </a:r>
            <a:endParaRPr lang="en-US" sz="740" dirty="0"/>
          </a:p>
        </p:txBody>
      </p:sp>
      <p:sp>
        <p:nvSpPr>
          <p:cNvPr id="102" name="Text 98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runs close to real time, so billing and selling stay in step. A useful ceiling, but the model does not transfer to hypermarket accounts.</a:t>
            </a:r>
            <a:endParaRPr lang="en-US" sz="650" dirty="0"/>
          </a:p>
        </p:txBody>
      </p:sp>
      <p:sp>
        <p:nvSpPr>
          <p:cNvPr id="103" name="Shape 99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04" name="Text 100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eB2B flow on its own line; never blend it into the MT conversion rate.</a:t>
            </a:r>
            <a:endParaRPr lang="en-US" sz="600" dirty="0"/>
          </a:p>
        </p:txBody>
      </p:sp>
      <p:sp>
        <p:nvSpPr>
          <p:cNvPr id="105" name="Text 101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106" name="Shape 102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8" name="Text 104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620" dirty="0"/>
          </a:p>
        </p:txBody>
      </p:sp>
      <p:sp>
        <p:nvSpPr>
          <p:cNvPr id="109" name="Text 105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₹2.07 Cr is down 4.6% on June</a:t>
            </a:r>
            <a:endParaRPr lang="en-US" sz="740" dirty="0"/>
          </a:p>
        </p:txBody>
      </p:sp>
      <p:sp>
        <p:nvSpPr>
          <p:cNvPr id="110" name="Text 106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since. Active EANs fell from 222 in January to 198 in July, so range contraction tracks the softness.</a:t>
            </a:r>
            <a:endParaRPr lang="en-US" sz="650" dirty="0"/>
          </a:p>
        </p:txBody>
      </p:sp>
      <p:sp>
        <p:nvSpPr>
          <p:cNvPr id="111" name="Shape 107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12" name="Text 108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drift before treating it as demand.</a:t>
            </a:r>
            <a:endParaRPr lang="en-US" sz="600" dirty="0"/>
          </a:p>
        </p:txBody>
      </p:sp>
      <p:sp>
        <p:nvSpPr>
          <p:cNvPr id="113" name="Text 109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114" name="Shape 110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16" name="Text 112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b="1" spc="50" kern="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17" name="Text 113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split returns zero against a ₹1.65 Cr brand total</a:t>
            </a:r>
            <a:endParaRPr lang="en-US" sz="740" dirty="0"/>
          </a:p>
        </p:txBody>
      </p:sp>
      <p:sp>
        <p:nvSpPr>
          <p:cNvPr id="118" name="Text 114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printed ₹0.00 Cr for all three Mamaearth sub-categories while the brand total read ₹1.65 Cr — a broken rollup, not a real result.</a:t>
            </a:r>
            <a:endParaRPr lang="en-US" sz="650" dirty="0"/>
          </a:p>
        </p:txBody>
      </p:sp>
      <p:sp>
        <p:nvSpPr>
          <p:cNvPr id="119" name="Shape 115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pPr indent="0" marL="0">
              <a:lnSpc>
                <a:spcPct val="90000"/>
              </a:lnSpc>
              <a:buNone/>
            </a:pP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eB2B sub-category rollup in the build script before publishing this page again.</a:t>
            </a:r>
            <a:endParaRPr lang="en-US" sz="600" dirty="0"/>
          </a:p>
        </p:txBody>
      </p:sp>
      <p:sp>
        <p:nvSpPr>
          <p:cNvPr id="121" name="Text 117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· FY27 to date: primary ₹8.79 Cr, offtake ₹8.60 Cr, 97.8% flow · included in total MT; excluded from geographic zone conversion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SIS: MT shop-in-shop sub-channel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Shop-in-Shop | FY27 to date | ₹ Lakh | MT sub-channel — reported separately from geographic zones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SIS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₹26.52 L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to date, net of returns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SALES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₹29.64 L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MRN returns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RETURNS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−₹4.55 L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of gross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PRIMARY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0.14%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FY27 all-channel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real — report on its own line, never inside an MT zone figure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month (₹ Lakh, FY27)</a:t>
            </a:r>
            <a:endParaRPr lang="en-US" sz="72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46888" y="2962656"/>
          <a:ext cx="3090672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brand (₹ Lakh, FY27)</a:t>
            </a:r>
            <a:endParaRPr lang="en-US" sz="720" dirty="0"/>
          </a:p>
        </p:txBody>
      </p:sp>
      <p:graphicFrame>
        <p:nvGraphicFramePr>
          <p:cNvPr id="46" name="Chart 1" descr=""/>
          <p:cNvGraphicFramePr/>
          <p:nvPr/>
        </p:nvGraphicFramePr>
        <p:xfrm>
          <a:off x="3483864" y="2962656"/>
          <a:ext cx="3090672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80974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48" name="Text 44"/>
          <p:cNvSpPr/>
          <p:nvPr/>
        </p:nvSpPr>
        <p:spPr>
          <a:xfrm>
            <a:off x="374904" y="48280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ACCOUNTS — FY27 TO DATE</a:t>
            </a:r>
            <a:endParaRPr lang="en-US" sz="720" dirty="0"/>
          </a:p>
        </p:txBody>
      </p:sp>
      <p:sp>
        <p:nvSpPr>
          <p:cNvPr id="49" name="Shape 45"/>
          <p:cNvSpPr/>
          <p:nvPr/>
        </p:nvSpPr>
        <p:spPr>
          <a:xfrm>
            <a:off x="265176" y="51572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50" name="Text 46"/>
          <p:cNvSpPr/>
          <p:nvPr/>
        </p:nvSpPr>
        <p:spPr>
          <a:xfrm>
            <a:off x="320040" y="5175504"/>
            <a:ext cx="16981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2127939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(₹ L)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3303074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(₹ L)</a:t>
            </a:r>
            <a:endParaRPr lang="en-US" sz="660" dirty="0"/>
          </a:p>
        </p:txBody>
      </p:sp>
      <p:sp>
        <p:nvSpPr>
          <p:cNvPr id="53" name="Text 49"/>
          <p:cNvSpPr/>
          <p:nvPr/>
        </p:nvSpPr>
        <p:spPr>
          <a:xfrm>
            <a:off x="4478209" y="5175504"/>
            <a:ext cx="20597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54" name="Shape 50"/>
          <p:cNvSpPr/>
          <p:nvPr/>
        </p:nvSpPr>
        <p:spPr>
          <a:xfrm>
            <a:off x="265176" y="541324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5" name="Shape 51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320040" y="5413248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2127939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23.38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3303074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4478209" y="5413248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SIS account; no offtake feed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716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320040" y="5742432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2127939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3303074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478209" y="5742432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account with both sides mapped</a:t>
            </a:r>
            <a:endParaRPr lang="en-US" sz="740" dirty="0"/>
          </a:p>
        </p:txBody>
      </p:sp>
      <p:sp>
        <p:nvSpPr>
          <p:cNvPr id="65" name="Shape 61"/>
          <p:cNvSpPr/>
          <p:nvPr/>
        </p:nvSpPr>
        <p:spPr>
          <a:xfrm>
            <a:off x="265176" y="607161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6" name="Shape 62"/>
          <p:cNvSpPr/>
          <p:nvPr/>
        </p:nvSpPr>
        <p:spPr>
          <a:xfrm>
            <a:off x="265176" y="64008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320040" y="6071616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Broadway</a:t>
            </a:r>
            <a:endParaRPr lang="en-US" sz="740" dirty="0"/>
          </a:p>
        </p:txBody>
      </p:sp>
      <p:sp>
        <p:nvSpPr>
          <p:cNvPr id="68" name="Text 64"/>
          <p:cNvSpPr/>
          <p:nvPr/>
        </p:nvSpPr>
        <p:spPr>
          <a:xfrm>
            <a:off x="2127939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−1.73</a:t>
            </a:r>
            <a:endParaRPr lang="en-US" sz="740" dirty="0"/>
          </a:p>
        </p:txBody>
      </p:sp>
      <p:sp>
        <p:nvSpPr>
          <p:cNvPr id="69" name="Text 65"/>
          <p:cNvSpPr/>
          <p:nvPr/>
        </p:nvSpPr>
        <p:spPr>
          <a:xfrm>
            <a:off x="3303074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4478209" y="6071616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negative — returns exceed billing</a:t>
            </a:r>
            <a:endParaRPr lang="en-US" sz="740" dirty="0"/>
          </a:p>
        </p:txBody>
      </p:sp>
      <p:sp>
        <p:nvSpPr>
          <p:cNvPr id="71" name="Shape 67"/>
          <p:cNvSpPr/>
          <p:nvPr/>
        </p:nvSpPr>
        <p:spPr>
          <a:xfrm>
            <a:off x="265176" y="6729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320040" y="6400800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2127939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billed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3303074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4478209" y="6400800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with no SIS primary</a:t>
            </a:r>
            <a:endParaRPr lang="en-US" sz="740" dirty="0"/>
          </a:p>
        </p:txBody>
      </p:sp>
      <p:sp>
        <p:nvSpPr>
          <p:cNvPr id="76" name="Shape 72"/>
          <p:cNvSpPr/>
          <p:nvPr/>
        </p:nvSpPr>
        <p:spPr>
          <a:xfrm>
            <a:off x="265176" y="672998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7" name="Shape 73"/>
          <p:cNvSpPr/>
          <p:nvPr/>
        </p:nvSpPr>
        <p:spPr>
          <a:xfrm>
            <a:off x="265176" y="7059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8" name="Text 74"/>
          <p:cNvSpPr/>
          <p:nvPr/>
        </p:nvSpPr>
        <p:spPr>
          <a:xfrm>
            <a:off x="320040" y="6729984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Basket</a:t>
            </a:r>
            <a:endParaRPr lang="en-US" sz="740" dirty="0"/>
          </a:p>
        </p:txBody>
      </p:sp>
      <p:sp>
        <p:nvSpPr>
          <p:cNvPr id="79" name="Text 75"/>
          <p:cNvSpPr/>
          <p:nvPr/>
        </p:nvSpPr>
        <p:spPr>
          <a:xfrm>
            <a:off x="2127939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in FY27</a:t>
            </a:r>
            <a:endParaRPr lang="en-US" sz="740" dirty="0"/>
          </a:p>
        </p:txBody>
      </p:sp>
      <p:sp>
        <p:nvSpPr>
          <p:cNvPr id="80" name="Text 76"/>
          <p:cNvSpPr/>
          <p:nvPr/>
        </p:nvSpPr>
        <p:spPr>
          <a:xfrm>
            <a:off x="3303074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40" dirty="0"/>
          </a:p>
        </p:txBody>
      </p:sp>
      <p:sp>
        <p:nvSpPr>
          <p:cNvPr id="81" name="Text 77"/>
          <p:cNvSpPr/>
          <p:nvPr/>
        </p:nvSpPr>
        <p:spPr>
          <a:xfrm>
            <a:off x="4478209" y="6729984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account, dormant in FY27</a:t>
            </a:r>
            <a:endParaRPr lang="en-US" sz="740" dirty="0"/>
          </a:p>
        </p:txBody>
      </p:sp>
      <p:sp>
        <p:nvSpPr>
          <p:cNvPr id="82" name="Shape 78"/>
          <p:cNvSpPr/>
          <p:nvPr/>
        </p:nvSpPr>
        <p:spPr>
          <a:xfrm>
            <a:off x="265176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265176" y="7242048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84" name="Text 80"/>
          <p:cNvSpPr/>
          <p:nvPr/>
        </p:nvSpPr>
        <p:spPr>
          <a:xfrm>
            <a:off x="347472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IN MT TOTAL</a:t>
            </a:r>
            <a:endParaRPr lang="en-US" sz="700" dirty="0"/>
          </a:p>
        </p:txBody>
      </p:sp>
      <p:sp>
        <p:nvSpPr>
          <p:cNvPr id="85" name="Text 81"/>
          <p:cNvSpPr/>
          <p:nvPr/>
        </p:nvSpPr>
        <p:spPr>
          <a:xfrm>
            <a:off x="356616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₹0.04 Cr</a:t>
            </a:r>
            <a:endParaRPr lang="en-US" sz="1500" dirty="0"/>
          </a:p>
        </p:txBody>
      </p:sp>
      <p:sp>
        <p:nvSpPr>
          <p:cNvPr id="86" name="Text 82"/>
          <p:cNvSpPr/>
          <p:nvPr/>
        </p:nvSpPr>
        <p:spPr>
          <a:xfrm>
            <a:off x="356616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offtake within MT — immaterial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374904" y="822502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88" name="Text 84"/>
          <p:cNvSpPr/>
          <p:nvPr/>
        </p:nvSpPr>
        <p:spPr>
          <a:xfrm>
            <a:off x="493776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Stop, Lifestyle and Broadway offtake sits inside the six geographic zones.</a:t>
            </a:r>
            <a:endParaRPr lang="en-US" sz="690" dirty="0"/>
          </a:p>
        </p:txBody>
      </p:sp>
      <p:sp>
        <p:nvSpPr>
          <p:cNvPr id="89" name="Shape 85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90" name="Text 86"/>
          <p:cNvSpPr/>
          <p:nvPr/>
        </p:nvSpPr>
        <p:spPr>
          <a:xfrm>
            <a:off x="493776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is 0.02% of total MT offtake — included in ₹36.10 Cr national MT figure.</a:t>
            </a:r>
            <a:endParaRPr lang="en-US" sz="690" dirty="0"/>
          </a:p>
        </p:txBody>
      </p:sp>
      <p:sp>
        <p:nvSpPr>
          <p:cNvPr id="91" name="Shape 87"/>
          <p:cNvSpPr/>
          <p:nvPr/>
        </p:nvSpPr>
        <p:spPr>
          <a:xfrm>
            <a:off x="374904" y="899312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92" name="Text 88"/>
          <p:cNvSpPr/>
          <p:nvPr/>
        </p:nvSpPr>
        <p:spPr>
          <a:xfrm>
            <a:off x="493776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on this page for transparency; zone conversion benchmark excludes SIS accounts.</a:t>
            </a:r>
            <a:endParaRPr lang="en-US" sz="690" dirty="0"/>
          </a:p>
        </p:txBody>
      </p:sp>
      <p:sp>
        <p:nvSpPr>
          <p:cNvPr id="93" name="Shape 89"/>
          <p:cNvSpPr/>
          <p:nvPr/>
        </p:nvSpPr>
        <p:spPr>
          <a:xfrm>
            <a:off x="2410968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2410968" y="724204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5" name="Text 91"/>
          <p:cNvSpPr/>
          <p:nvPr/>
        </p:nvSpPr>
        <p:spPr>
          <a:xfrm>
            <a:off x="2493264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RETURNS FIRST</a:t>
            </a:r>
            <a:endParaRPr lang="en-US" sz="700" dirty="0"/>
          </a:p>
        </p:txBody>
      </p:sp>
      <p:sp>
        <p:nvSpPr>
          <p:cNvPr id="96" name="Text 92"/>
          <p:cNvSpPr/>
          <p:nvPr/>
        </p:nvSpPr>
        <p:spPr>
          <a:xfrm>
            <a:off x="2502408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15.3%</a:t>
            </a:r>
            <a:endParaRPr lang="en-US" sz="1500" dirty="0"/>
          </a:p>
        </p:txBody>
      </p:sp>
      <p:sp>
        <p:nvSpPr>
          <p:cNvPr id="97" name="Text 93"/>
          <p:cNvSpPr/>
          <p:nvPr/>
        </p:nvSpPr>
        <p:spPr>
          <a:xfrm>
            <a:off x="2502408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as a share of gross</a:t>
            </a:r>
            <a:endParaRPr lang="en-US" sz="660" dirty="0"/>
          </a:p>
        </p:txBody>
      </p:sp>
      <p:sp>
        <p:nvSpPr>
          <p:cNvPr id="98" name="Shape 94"/>
          <p:cNvSpPr/>
          <p:nvPr/>
        </p:nvSpPr>
        <p:spPr>
          <a:xfrm>
            <a:off x="2520696" y="822502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9" name="Text 95"/>
          <p:cNvSpPr/>
          <p:nvPr/>
        </p:nvSpPr>
        <p:spPr>
          <a:xfrm>
            <a:off x="2639568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₹29.64 L becomes ₹26.52 L net of ₹4.55 L returns.</a:t>
            </a:r>
            <a:endParaRPr lang="en-US" sz="690" dirty="0"/>
          </a:p>
        </p:txBody>
      </p:sp>
      <p:sp>
        <p:nvSpPr>
          <p:cNvPr id="100" name="Shape 96"/>
          <p:cNvSpPr/>
          <p:nvPr/>
        </p:nvSpPr>
        <p:spPr>
          <a:xfrm>
            <a:off x="2520696" y="86090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1" name="Text 97"/>
          <p:cNvSpPr/>
          <p:nvPr/>
        </p:nvSpPr>
        <p:spPr>
          <a:xfrm>
            <a:off x="2639568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net negative (−₹0.64 L): returns exceeded billing that month.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2520696" y="899312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3" name="Text 99"/>
          <p:cNvSpPr/>
          <p:nvPr/>
        </p:nvSpPr>
        <p:spPr>
          <a:xfrm>
            <a:off x="2639568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quote SIS net; the gross figure overstates by 11.8%.</a:t>
            </a:r>
            <a:endParaRPr lang="en-US" sz="690" dirty="0"/>
          </a:p>
        </p:txBody>
      </p:sp>
      <p:sp>
        <p:nvSpPr>
          <p:cNvPr id="104" name="Shape 100"/>
          <p:cNvSpPr/>
          <p:nvPr/>
        </p:nvSpPr>
        <p:spPr>
          <a:xfrm>
            <a:off x="4556760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556760" y="7242048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06" name="Text 102"/>
          <p:cNvSpPr/>
          <p:nvPr/>
        </p:nvSpPr>
        <p:spPr>
          <a:xfrm>
            <a:off x="4639056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700" dirty="0"/>
          </a:p>
        </p:txBody>
      </p:sp>
      <p:sp>
        <p:nvSpPr>
          <p:cNvPr id="107" name="Text 103"/>
          <p:cNvSpPr/>
          <p:nvPr/>
        </p:nvSpPr>
        <p:spPr>
          <a:xfrm>
            <a:off x="4648200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662 rows</a:t>
            </a:r>
            <a:endParaRPr lang="en-US" sz="1500" dirty="0"/>
          </a:p>
        </p:txBody>
      </p:sp>
      <p:sp>
        <p:nvSpPr>
          <p:cNvPr id="108" name="Text 104"/>
          <p:cNvSpPr/>
          <p:nvPr/>
        </p:nvSpPr>
        <p:spPr>
          <a:xfrm>
            <a:off x="4648200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not row-capped</a:t>
            </a:r>
            <a:endParaRPr lang="en-US" sz="660" dirty="0"/>
          </a:p>
        </p:txBody>
      </p:sp>
      <p:sp>
        <p:nvSpPr>
          <p:cNvPr id="109" name="Shape 105"/>
          <p:cNvSpPr/>
          <p:nvPr/>
        </p:nvSpPr>
        <p:spPr>
          <a:xfrm>
            <a:off x="4666488" y="82250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0" name="Text 106"/>
          <p:cNvSpPr/>
          <p:nvPr/>
        </p:nvSpPr>
        <p:spPr>
          <a:xfrm>
            <a:off x="4785360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exact-duplicate invoice lines detected, not deduplicated.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4666488" y="86090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2" name="Text 108"/>
          <p:cNvSpPr/>
          <p:nvPr/>
        </p:nvSpPr>
        <p:spPr>
          <a:xfrm>
            <a:off x="4785360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₹2.48 L — checked and judged negligible, but unresolved.</a:t>
            </a:r>
            <a:endParaRPr lang="en-US" sz="690" dirty="0"/>
          </a:p>
        </p:txBody>
      </p:sp>
      <p:sp>
        <p:nvSpPr>
          <p:cNvPr id="113" name="Shape 109"/>
          <p:cNvSpPr/>
          <p:nvPr/>
        </p:nvSpPr>
        <p:spPr>
          <a:xfrm>
            <a:off x="4666488" y="899312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4" name="Text 110"/>
          <p:cNvSpPr/>
          <p:nvPr/>
        </p:nvSpPr>
        <p:spPr>
          <a:xfrm>
            <a:off x="4785360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 has primary and no offtake; Lifestyle the reverse.</a:t>
            </a:r>
            <a:endParaRPr lang="en-US" sz="690" dirty="0"/>
          </a:p>
        </p:txBody>
      </p:sp>
      <p:sp>
        <p:nvSpPr>
          <p:cNvPr id="115" name="Shape 111"/>
          <p:cNvSpPr/>
          <p:nvPr/>
        </p:nvSpPr>
        <p:spPr>
          <a:xfrm>
            <a:off x="265176" y="94914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6" name="Text 112"/>
          <p:cNvSpPr/>
          <p:nvPr/>
        </p:nvSpPr>
        <p:spPr>
          <a:xfrm>
            <a:off x="374904" y="95097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STRUCTURE</a:t>
            </a:r>
            <a:endParaRPr lang="en-US" sz="720" dirty="0"/>
          </a:p>
        </p:txBody>
      </p:sp>
      <p:sp>
        <p:nvSpPr>
          <p:cNvPr id="117" name="Shape 113"/>
          <p:cNvSpPr/>
          <p:nvPr/>
        </p:nvSpPr>
        <p:spPr>
          <a:xfrm>
            <a:off x="356616" y="990752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18" name="Text 114"/>
          <p:cNvSpPr/>
          <p:nvPr/>
        </p:nvSpPr>
        <p:spPr>
          <a:xfrm>
            <a:off x="475488" y="9857232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(total) → geographic zones + eB2B sub-channel + SIS sub-channel = ₹49.21 Cr primary, ₹36.10 Cr offtake.</a:t>
            </a:r>
            <a:endParaRPr lang="en-US" sz="700" dirty="0"/>
          </a:p>
        </p:txBody>
      </p:sp>
      <p:sp>
        <p:nvSpPr>
          <p:cNvPr id="119" name="Shape 115"/>
          <p:cNvSpPr/>
          <p:nvPr/>
        </p:nvSpPr>
        <p:spPr>
          <a:xfrm>
            <a:off x="356616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20" name="Text 116"/>
          <p:cNvSpPr/>
          <p:nvPr/>
        </p:nvSpPr>
        <p:spPr>
          <a:xfrm>
            <a:off x="475488" y="10149840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zones (6) → MT store accounts. Used for zone conversion benchmark and gap analysis. Primary ₹47.02 Cr, offtake ₹33.96 Cr.</a:t>
            </a:r>
            <a:endParaRPr lang="en-US" sz="700" dirty="0"/>
          </a:p>
        </p:txBody>
      </p:sp>
      <p:sp>
        <p:nvSpPr>
          <p:cNvPr id="121" name="Shape 117"/>
          <p:cNvSpPr/>
          <p:nvPr/>
        </p:nvSpPr>
        <p:spPr>
          <a:xfrm>
            <a:off x="356616" y="1049274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122" name="Text 118"/>
          <p:cNvSpPr/>
          <p:nvPr/>
        </p:nvSpPr>
        <p:spPr>
          <a:xfrm>
            <a:off x="475488" y="10442448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→ Nykaa (FSN) and Eremedium. FY27 primary ₹8.79 Cr, offtake ₹8.60 Cr. Formerly mis-labelled "Pan India" zone.</a:t>
            </a:r>
            <a:endParaRPr lang="en-US" sz="700" dirty="0"/>
          </a:p>
        </p:txBody>
      </p:sp>
      <p:sp>
        <p:nvSpPr>
          <p:cNvPr id="123" name="Shape 119"/>
          <p:cNvSpPr/>
          <p:nvPr/>
        </p:nvSpPr>
        <p:spPr>
          <a:xfrm>
            <a:off x="356616" y="10785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</p:sp>
      <p:sp>
        <p:nvSpPr>
          <p:cNvPr id="124" name="Text 120"/>
          <p:cNvSpPr/>
          <p:nvPr/>
        </p:nvSpPr>
        <p:spPr>
          <a:xfrm>
            <a:off x="475488" y="10735056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sub-channel → Azorte, Shoppers Stop, Broadway, Lifestyle. FY27 net primary ₹0.27 Cr. Included in total MT.</a:t>
            </a:r>
            <a:endParaRPr lang="en-US" sz="700" dirty="0"/>
          </a:p>
        </p:txBody>
      </p:sp>
      <p:sp>
        <p:nvSpPr>
          <p:cNvPr id="125" name="Shape 121"/>
          <p:cNvSpPr/>
          <p:nvPr/>
        </p:nvSpPr>
        <p:spPr>
          <a:xfrm>
            <a:off x="356616" y="110779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6" name="Text 122"/>
          <p:cNvSpPr/>
          <p:nvPr/>
        </p:nvSpPr>
        <p:spPr>
          <a:xfrm>
            <a:off x="475488" y="11027664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held in scripts/data/channel_master.json. No channel is merged or rolled into another without a business decision.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is a Reliance problem — every other chain combined grew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growth and risk | June–July 2026 | ranked by ₹ change above a ₹0.25 Cr materiality floor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60704"/>
          </a:xfrm>
          <a:prstGeom prst="roundRect">
            <a:avLst>
              <a:gd name="adj" fmla="val 258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3716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 fell ₹1.29 Cr month on month. Reliance accounts for ₹1.42 Cr of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added together, grew ₹0.13 Cr.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19568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ranked this table by MoM %, which put Sasta Sundar (+127.8% on a ₹1 lakh base) at the top and a ₹1.42 Cr decline in mid-table. Ranked by rupee change, the month has one story.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65176" y="246888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5" name="Text 23"/>
          <p:cNvSpPr/>
          <p:nvPr/>
        </p:nvSpPr>
        <p:spPr>
          <a:xfrm>
            <a:off x="374904" y="248716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CHAINS — ₹0.25 Cr FLOOR, RANKED BY RUPEE CHANGE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65176" y="2816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28346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18745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27889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3703320" y="283464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CHANGE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4709160" y="28346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%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532120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65176" y="307238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4" name="Shape 32"/>
          <p:cNvSpPr/>
          <p:nvPr/>
        </p:nvSpPr>
        <p:spPr>
          <a:xfrm>
            <a:off x="265176" y="34381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307238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745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₹9.48 Cr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27889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 Cr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3703320" y="3072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−1.42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4709160" y="307238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−15.0%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5532120" y="30723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— lead case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343814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18745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27889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 Cr</a:t>
            </a:r>
            <a:endParaRPr lang="en-US" sz="760" dirty="0"/>
          </a:p>
        </p:txBody>
      </p:sp>
      <p:sp>
        <p:nvSpPr>
          <p:cNvPr id="45" name="Text 43"/>
          <p:cNvSpPr/>
          <p:nvPr/>
        </p:nvSpPr>
        <p:spPr>
          <a:xfrm>
            <a:off x="3703320" y="34381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+0.54</a:t>
            </a:r>
            <a:endParaRPr lang="en-US" sz="760" dirty="0"/>
          </a:p>
        </p:txBody>
      </p:sp>
      <p:sp>
        <p:nvSpPr>
          <p:cNvPr id="46" name="Text 44"/>
          <p:cNvSpPr/>
          <p:nvPr/>
        </p:nvSpPr>
        <p:spPr>
          <a:xfrm>
            <a:off x="4709160" y="343814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5532120" y="34381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— no mapped primary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265176" y="380390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9" name="Shape 47"/>
          <p:cNvSpPr/>
          <p:nvPr/>
        </p:nvSpPr>
        <p:spPr>
          <a:xfrm>
            <a:off x="265176" y="41696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0040" y="380390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18745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₹14.56 Cr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27889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₹14.33 Cr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3703320" y="3803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4709160" y="380390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−1.5%</a:t>
            </a:r>
            <a:endParaRPr lang="en-US" sz="760" dirty="0"/>
          </a:p>
        </p:txBody>
      </p:sp>
      <p:sp>
        <p:nvSpPr>
          <p:cNvPr id="55" name="Text 53"/>
          <p:cNvSpPr/>
          <p:nvPr/>
        </p:nvSpPr>
        <p:spPr>
          <a:xfrm>
            <a:off x="5532120" y="38039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— largest account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265176" y="4297680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F4F9F8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4904" y="434340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6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   </a:t>
            </a:r>
            <a:pPr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chains moved less than ₹0.25 Cr and are excluded from ranking: Wellness Forever −0.08, Metro −0.12, Vishal Mega Mart +0.05, More Retail −0.03, Health &amp; Glow −0.01, V-Mart −0.01, Spencer +0.01, Arambagh −0.01, Ratandeep 0.00, Sasta Sundar +0.01, Sumo Save +0.01. Combined they moved −₹0.19 Cr.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265176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65176" y="484632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60" name="Text 58"/>
          <p:cNvSpPr/>
          <p:nvPr/>
        </p:nvSpPr>
        <p:spPr>
          <a:xfrm>
            <a:off x="347472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56616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356616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Reliance, June → July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74904" y="5865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4" name="Text 62"/>
          <p:cNvSpPr/>
          <p:nvPr/>
        </p:nvSpPr>
        <p:spPr>
          <a:xfrm>
            <a:off x="493776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and Sun Care carry most of the fall.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74904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6" name="Text 64"/>
          <p:cNvSpPr/>
          <p:nvPr/>
        </p:nvSpPr>
        <p:spPr>
          <a:xfrm>
            <a:off x="493776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converts 51.4% nationally — 44.9% in North, 52.9% in East.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8" name="Text 66"/>
          <p:cNvSpPr/>
          <p:nvPr/>
        </p:nvSpPr>
        <p:spPr>
          <a:xfrm>
            <a:off x="493776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the pattern; the zones are where it shows.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410968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410968" y="484632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71" name="Text 69"/>
          <p:cNvSpPr/>
          <p:nvPr/>
        </p:nvSpPr>
        <p:spPr>
          <a:xfrm>
            <a:off x="2493264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UNVERIFIED GROWTH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02408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+₹0.54 Cr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502408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on ₹0 mapped primary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2520696" y="5865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5" name="Text 73"/>
          <p:cNvSpPr/>
          <p:nvPr/>
        </p:nvSpPr>
        <p:spPr>
          <a:xfrm>
            <a:off x="2639568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"Scale" in the source pack on a +46.5% MoM read.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520696" y="62682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7" name="Text 75"/>
          <p:cNvSpPr/>
          <p:nvPr/>
        </p:nvSpPr>
        <p:spPr>
          <a:xfrm>
            <a:off x="2639568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is joined to this account, so flow cannot be tested.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520696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79" name="Text 77"/>
          <p:cNvSpPr/>
          <p:nvPr/>
        </p:nvSpPr>
        <p:spPr>
          <a:xfrm>
            <a:off x="2639568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recommendation until the billing route is mapped.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556760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556760" y="484632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82" name="Text 80"/>
          <p:cNvSpPr/>
          <p:nvPr/>
        </p:nvSpPr>
        <p:spPr>
          <a:xfrm>
            <a:off x="4639056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BOOK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648200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+₹0.13 Cr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4648200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chains except Reliance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4666488" y="586587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6" name="Text 84"/>
          <p:cNvSpPr/>
          <p:nvPr/>
        </p:nvSpPr>
        <p:spPr>
          <a:xfrm>
            <a:off x="4785360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−₹0.23 Cr on a ₹14.33 Cr base is normal variation.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4666488" y="62682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88" name="Text 86"/>
          <p:cNvSpPr/>
          <p:nvPr/>
        </p:nvSpPr>
        <p:spPr>
          <a:xfrm>
            <a:off x="4785360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account shows a material decline.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666488" y="66705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0" name="Text 88"/>
          <p:cNvSpPr/>
          <p:nvPr/>
        </p:nvSpPr>
        <p:spPr>
          <a:xfrm>
            <a:off x="4785360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launch a broad recovery programme for a single-account month.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5176" y="7242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2" name="Text 90"/>
          <p:cNvSpPr/>
          <p:nvPr/>
        </p:nvSpPr>
        <p:spPr>
          <a:xfrm>
            <a:off x="374904" y="726033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READOUT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356616" y="76581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4" name="Text 92"/>
          <p:cNvSpPr/>
          <p:nvPr/>
        </p:nvSpPr>
        <p:spPr>
          <a:xfrm>
            <a:off x="475488" y="7607808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explains the month. Run a Reliance recovery loop, not a Modern Trade recovery programme.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356616" y="80604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96" name="Text 94"/>
          <p:cNvSpPr/>
          <p:nvPr/>
        </p:nvSpPr>
        <p:spPr>
          <a:xfrm>
            <a:off x="475488" y="8010144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comparable set covers ₹26.90 Cr of ₹33.96 Cr national MT offtake — 79.2%. Chains with missing July feeds are data gaps, not de-growth, and stay outside the ranking.</a:t>
            </a:r>
            <a:endParaRPr lang="en-US" sz="740" dirty="0"/>
          </a:p>
        </p:txBody>
      </p:sp>
      <p:sp>
        <p:nvSpPr>
          <p:cNvPr id="97" name="Shape 95"/>
          <p:cNvSpPr/>
          <p:nvPr/>
        </p:nvSpPr>
        <p:spPr>
          <a:xfrm>
            <a:off x="356616" y="84627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8" name="Text 96"/>
          <p:cNvSpPr/>
          <p:nvPr/>
        </p:nvSpPr>
        <p:spPr>
          <a:xfrm>
            <a:off x="475488" y="8412480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chains — Lulu, Wellness Forever, Health &amp; Glow — show offtake against unmapped primary. Their growth reads cannot be verified and must not drive field action.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356616" y="886510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00" name="Text 98"/>
          <p:cNvSpPr/>
          <p:nvPr/>
        </p:nvSpPr>
        <p:spPr>
          <a:xfrm>
            <a:off x="475488" y="8814816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Reinstate percentage ranking only above the ₹0.25 Cr floor; below it, report absolute change.</a:t>
            </a:r>
            <a:endParaRPr lang="en-US" sz="740" dirty="0"/>
          </a:p>
        </p:txBody>
      </p:sp>
      <p:sp>
        <p:nvSpPr>
          <p:cNvPr id="101" name="Shape 99"/>
          <p:cNvSpPr/>
          <p:nvPr/>
        </p:nvSpPr>
        <p:spPr>
          <a:xfrm>
            <a:off x="265176" y="9418320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93192" y="9500616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ACTING ON THIS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 is not a trend. Reliance −15.0% is measured against June alone, and a single extreme month partly reverts on its own. Re-run this comparison against a rolling three-month base before committing trade spend, so the recovery programme is sized against the underlying rate rather than against one month of noise.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Fix the specific commercial loophole — not the whole account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recovery plan | evidence, action, success KPI and value at stake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RECOVERY LOOP — ORDERED BY VALUE AT STAKE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5176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56616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failure, not demand failure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6616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56616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6616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51.4% nationally — 44.9% North, 52.9% East, 51.2% Central. Same weakness in every zone it operates.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356616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6616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incremental loading until conversion clears 65%; run hero-EAN OSA audit against the Apollo cadence.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356616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51.4% → 76.5% (DMart parity)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56616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25 Aug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410968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10968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5" name="Text 33"/>
          <p:cNvSpPr/>
          <p:nvPr/>
        </p:nvSpPr>
        <p:spPr>
          <a:xfrm>
            <a:off x="2493264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02408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behaving unlike the account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02408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02408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502408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converts 94.2% in West and 95.3% in Central, but 45.1% in South-2 — a regional break, not a chain issue.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2502408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502408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DC-to-store fill rate and top-SKU store availability against the West benchmark.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2502408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conversion to 80%+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502408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4556760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56760" y="1609344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46" name="Text 44"/>
          <p:cNvSpPr/>
          <p:nvPr/>
        </p:nvSpPr>
        <p:spPr>
          <a:xfrm>
            <a:off x="4639056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48200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claim without a primary join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648200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648200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648200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 MoM on ₹1.70 Cr offtake with zero mapped primary. The growth may be real or a mapping artefact.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4648200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648200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Lulu billing route before any field instruction is issued on this account.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648200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mapped and flow computable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648200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265176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65176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57" name="Text 55"/>
          <p:cNvSpPr/>
          <p:nvPr/>
        </p:nvSpPr>
        <p:spPr>
          <a:xfrm>
            <a:off x="347472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56616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 below the floor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₹0.12 Cr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56616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356616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20.5% MoM but only ₹0.12 Cr in absolute terms — more SKUs on lower sales per SKU.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356616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356616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range expansion and remove non-productive EANs; no separate recovery programme.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356616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SKU and per store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356616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Metro · Sep cycle</a:t>
            </a:r>
            <a:endParaRPr lang="en-US" sz="620" dirty="0"/>
          </a:p>
        </p:txBody>
      </p:sp>
      <p:sp>
        <p:nvSpPr>
          <p:cNvPr id="66" name="Shape 64"/>
          <p:cNvSpPr/>
          <p:nvPr/>
        </p:nvSpPr>
        <p:spPr>
          <a:xfrm>
            <a:off x="2410968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410968" y="440740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68" name="Text 66"/>
          <p:cNvSpPr/>
          <p:nvPr/>
        </p:nvSpPr>
        <p:spPr>
          <a:xfrm>
            <a:off x="2493264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502408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cadence worth exporting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502408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502408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502408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 nationally. Zone figures read 121–149%, so the model is sound but the stock reconciliation is not.</a:t>
            </a:r>
            <a:endParaRPr lang="en-US" sz="680" dirty="0"/>
          </a:p>
        </p:txBody>
      </p:sp>
      <p:sp>
        <p:nvSpPr>
          <p:cNvPr id="73" name="Text 71"/>
          <p:cNvSpPr/>
          <p:nvPr/>
        </p:nvSpPr>
        <p:spPr>
          <a:xfrm>
            <a:off x="2502408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2502408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order frequency and assortment depth as a scoring template; reconcile opening stock.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2502408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published and applied to 2 accounts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502408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4556760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56760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79" name="Text 77"/>
          <p:cNvSpPr/>
          <p:nvPr/>
        </p:nvSpPr>
        <p:spPr>
          <a:xfrm>
            <a:off x="4639056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/ H&amp;G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4648200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above unmapped primary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648200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648200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648200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show more offtake than mapped primary — ₹0.24 Cr and ₹0.29 Cr of negative gap that nets against real shortfalls.</a:t>
            </a:r>
            <a:endParaRPr lang="en-US" sz="680" dirty="0"/>
          </a:p>
        </p:txBody>
      </p:sp>
      <p:sp>
        <p:nvSpPr>
          <p:cNvPr id="84" name="Text 82"/>
          <p:cNvSpPr/>
          <p:nvPr/>
        </p:nvSpPr>
        <p:spPr>
          <a:xfrm>
            <a:off x="4648200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4648200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both billing routes; report gross positive and gross negative gap separately.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4648200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unmapped material chains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4648200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88" name="Shape 86"/>
          <p:cNvSpPr/>
          <p:nvPr/>
        </p:nvSpPr>
        <p:spPr>
          <a:xfrm>
            <a:off x="265176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65176" y="72054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0" name="Text 88"/>
          <p:cNvSpPr/>
          <p:nvPr/>
        </p:nvSpPr>
        <p:spPr>
          <a:xfrm>
            <a:off x="347472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/ NYKAA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6616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Protect, and stop netting it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56616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356616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356616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flow, but July down 4.6% on June and active EANs down from 222 to 198 since January.</a:t>
            </a:r>
            <a:endParaRPr lang="en-US" sz="680" dirty="0"/>
          </a:p>
        </p:txBody>
      </p:sp>
      <p:sp>
        <p:nvSpPr>
          <p:cNvPr id="95" name="Text 93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356616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softness; report outside geographic gap arithmetic.</a:t>
            </a:r>
            <a:endParaRPr lang="en-US" sz="680" dirty="0"/>
          </a:p>
        </p:txBody>
      </p:sp>
      <p:sp>
        <p:nvSpPr>
          <p:cNvPr id="97" name="Text 95"/>
          <p:cNvSpPr/>
          <p:nvPr/>
        </p:nvSpPr>
        <p:spPr>
          <a:xfrm>
            <a:off x="356616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above 95%, return to ₹2.17 Cr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356616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FSN + Analyst · 31 Aug</a:t>
            </a:r>
            <a:endParaRPr lang="en-US" sz="620" dirty="0"/>
          </a:p>
        </p:txBody>
      </p:sp>
      <p:sp>
        <p:nvSpPr>
          <p:cNvPr id="99" name="Shape 97"/>
          <p:cNvSpPr/>
          <p:nvPr/>
        </p:nvSpPr>
        <p:spPr>
          <a:xfrm>
            <a:off x="2410968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410968" y="720547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1" name="Text 99"/>
          <p:cNvSpPr/>
          <p:nvPr/>
        </p:nvSpPr>
        <p:spPr>
          <a:xfrm>
            <a:off x="2493264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MEGA MART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502408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outrunning execution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2502408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2502408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05" name="Text 103"/>
          <p:cNvSpPr/>
          <p:nvPr/>
        </p:nvSpPr>
        <p:spPr>
          <a:xfrm>
            <a:off x="2502408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10.2% and offtake up 18.2%, but the account carries no mapped primary in the East cut.</a:t>
            </a:r>
            <a:endParaRPr lang="en-US" sz="680" dirty="0"/>
          </a:p>
        </p:txBody>
      </p:sp>
      <p:sp>
        <p:nvSpPr>
          <p:cNvPr id="106" name="Text 104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2502408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fill rate before adding doors; map primary.</a:t>
            </a:r>
            <a:endParaRPr lang="en-US" sz="680" dirty="0"/>
          </a:p>
        </p:txBody>
      </p:sp>
      <p:sp>
        <p:nvSpPr>
          <p:cNvPr id="108" name="Text 106"/>
          <p:cNvSpPr/>
          <p:nvPr/>
        </p:nvSpPr>
        <p:spPr>
          <a:xfrm>
            <a:off x="2502408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 and sales per new door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502408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East · Sep cycle</a:t>
            </a:r>
            <a:endParaRPr lang="en-US" sz="620" dirty="0"/>
          </a:p>
        </p:txBody>
      </p:sp>
      <p:sp>
        <p:nvSpPr>
          <p:cNvPr id="110" name="Shape 108"/>
          <p:cNvSpPr/>
          <p:nvPr/>
        </p:nvSpPr>
        <p:spPr>
          <a:xfrm>
            <a:off x="4556760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556760" y="7205472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12" name="Text 110"/>
          <p:cNvSpPr/>
          <p:nvPr/>
        </p:nvSpPr>
        <p:spPr>
          <a:xfrm>
            <a:off x="4639056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48200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chains, ₹0.19 Cr combined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4648200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pPr algn="ctr" indent="0" marL="0">
              <a:buNone/>
            </a:pPr>
            <a:r>
              <a:rPr lang="en-US" sz="8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4648200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16" name="Text 114"/>
          <p:cNvSpPr/>
          <p:nvPr/>
        </p:nvSpPr>
        <p:spPr>
          <a:xfrm>
            <a:off x="4648200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remaining chain moved less than ₹0.25 Cr. Percentage swings here are arithmetic, not commercial signal.</a:t>
            </a:r>
            <a:endParaRPr lang="en-US" sz="680" dirty="0"/>
          </a:p>
        </p:txBody>
      </p:sp>
      <p:sp>
        <p:nvSpPr>
          <p:cNvPr id="117" name="Text 11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spc="4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4648200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exception only; no named recovery action.</a:t>
            </a:r>
            <a:endParaRPr lang="en-US" sz="680" dirty="0"/>
          </a:p>
        </p:txBody>
      </p:sp>
      <p:sp>
        <p:nvSpPr>
          <p:cNvPr id="119" name="Text 117"/>
          <p:cNvSpPr/>
          <p:nvPr/>
        </p:nvSpPr>
        <p:spPr>
          <a:xfrm>
            <a:off x="4648200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pPr indent="0" marL="0">
              <a:lnSpc>
                <a:spcPct val="90000"/>
              </a:lnSpc>
              <a:buNone/>
            </a:pP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weekly review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4648200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standing</a:t>
            </a:r>
            <a:endParaRPr lang="en-US" sz="620" dirty="0"/>
          </a:p>
        </p:txBody>
      </p:sp>
      <p:sp>
        <p:nvSpPr>
          <p:cNvPr id="121" name="Shape 119"/>
          <p:cNvSpPr/>
          <p:nvPr/>
        </p:nvSpPr>
        <p:spPr>
          <a:xfrm>
            <a:off x="265176" y="10003536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74904" y="10058400"/>
            <a:ext cx="6108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  </a:t>
            </a:r>
            <a:pPr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and DMart South-2 carry ₹4.73 Cr of the ₹6.22 Cr recovery pool between them — 81%. Both are single-account audits that can start this week. The three mapping fixes cost analyst time only and unblock everything else, so they run first.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 account detail: Nykaa (FSN) holds 99.4% flow on a contracting range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| account deep dive | January–July 2026 | MT sub-channel — see page 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+ Nykaa SS, eB2B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outside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 pp vs MT (72.4%)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265176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Offtake, Jan–Jul 2026 (₹ Cr)</a:t>
            </a:r>
            <a:endParaRPr lang="en-US" sz="72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246888" y="2450592"/>
          <a:ext cx="309067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Text 34"/>
          <p:cNvSpPr/>
          <p:nvPr/>
        </p:nvSpPr>
        <p:spPr>
          <a:xfrm>
            <a:off x="3502152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 — 222 in January, 198 in July</a:t>
            </a:r>
            <a:endParaRPr lang="en-US" sz="720" dirty="0"/>
          </a:p>
        </p:txBody>
      </p:sp>
      <p:graphicFrame>
        <p:nvGraphicFramePr>
          <p:cNvPr id="38" name="Chart 1" descr=""/>
          <p:cNvGraphicFramePr/>
          <p:nvPr/>
        </p:nvGraphicFramePr>
        <p:xfrm>
          <a:off x="3483864" y="2450592"/>
          <a:ext cx="309067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Shape 35"/>
          <p:cNvSpPr/>
          <p:nvPr/>
        </p:nvSpPr>
        <p:spPr>
          <a:xfrm>
            <a:off x="265176" y="4315968"/>
            <a:ext cx="6327648" cy="548640"/>
          </a:xfrm>
          <a:prstGeom prst="roundRect">
            <a:avLst>
              <a:gd name="adj" fmla="val 5000"/>
            </a:avLst>
          </a:prstGeom>
          <a:solidFill>
            <a:srgbClr val="FDF6E6"/>
          </a:solidFill>
          <a:ln w="12700">
            <a:solidFill>
              <a:srgbClr val="F2B84B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11480" y="4389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to ₹2.07 Cr. Across the same period the active range fell from 222 EANs to 198 — a 10.8% contraction. Test delisting before calling this a demand decline.</a:t>
            </a:r>
            <a:endParaRPr lang="en-US" sz="760" dirty="0"/>
          </a:p>
        </p:txBody>
      </p:sp>
      <p:sp>
        <p:nvSpPr>
          <p:cNvPr id="41" name="Shape 37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2" name="Text 38"/>
          <p:cNvSpPr/>
          <p:nvPr/>
        </p:nvSpPr>
        <p:spPr>
          <a:xfrm>
            <a:off x="374904" y="50109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ENGINES — TOP EIGHT BY JULY OFFTAKE</a:t>
            </a:r>
            <a:endParaRPr lang="en-US" sz="720" dirty="0"/>
          </a:p>
        </p:txBody>
      </p:sp>
      <p:sp>
        <p:nvSpPr>
          <p:cNvPr id="43" name="Shape 39"/>
          <p:cNvSpPr/>
          <p:nvPr/>
        </p:nvSpPr>
        <p:spPr>
          <a:xfrm>
            <a:off x="265176" y="53400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4" name="Text 40"/>
          <p:cNvSpPr/>
          <p:nvPr/>
        </p:nvSpPr>
        <p:spPr>
          <a:xfrm>
            <a:off x="320040" y="5358384"/>
            <a:ext cx="136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566572" y="5358384"/>
            <a:ext cx="3752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4428902" y="5358384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5415029" y="5358384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60" dirty="0"/>
          </a:p>
        </p:txBody>
      </p:sp>
      <p:sp>
        <p:nvSpPr>
          <p:cNvPr id="48" name="Shape 44"/>
          <p:cNvSpPr/>
          <p:nvPr/>
        </p:nvSpPr>
        <p:spPr>
          <a:xfrm>
            <a:off x="265176" y="559612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9" name="Shape 45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320040" y="559612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566572" y="559612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100 ml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428902" y="559612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₹0.27 Cr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415029" y="559612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62179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320040" y="590702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566572" y="590702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50 ml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4428902" y="59070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5415029" y="59070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62179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0" name="Shape 56"/>
          <p:cNvSpPr/>
          <p:nvPr/>
        </p:nvSpPr>
        <p:spPr>
          <a:xfrm>
            <a:off x="265176" y="6528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320040" y="621792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566572" y="621792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with Turmeric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4428902" y="62179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5415029" y="62179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5" name="Shape 61"/>
          <p:cNvSpPr/>
          <p:nvPr/>
        </p:nvSpPr>
        <p:spPr>
          <a:xfrm>
            <a:off x="265176" y="68397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320040" y="6528816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566572" y="6528816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Face Wash with Vitamin C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4428902" y="65288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 Cr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5415029" y="65288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683971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1" name="Shape 67"/>
          <p:cNvSpPr/>
          <p:nvPr/>
        </p:nvSpPr>
        <p:spPr>
          <a:xfrm>
            <a:off x="265176" y="7150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320040" y="6839712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566572" y="6839712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Face Wash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428902" y="68397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415029" y="68397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265176" y="74615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320040" y="715060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566572" y="715060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50 ml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4428902" y="715060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5415029" y="715060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pack</a:t>
            </a:r>
            <a:endParaRPr lang="en-US" sz="720" dirty="0"/>
          </a:p>
        </p:txBody>
      </p:sp>
      <p:sp>
        <p:nvSpPr>
          <p:cNvPr id="81" name="Shape 77"/>
          <p:cNvSpPr/>
          <p:nvPr/>
        </p:nvSpPr>
        <p:spPr>
          <a:xfrm>
            <a:off x="265176" y="746150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82" name="Shape 78"/>
          <p:cNvSpPr/>
          <p:nvPr/>
        </p:nvSpPr>
        <p:spPr>
          <a:xfrm>
            <a:off x="265176" y="77724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20040" y="746150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84" name="Text 80"/>
          <p:cNvSpPr/>
          <p:nvPr/>
        </p:nvSpPr>
        <p:spPr>
          <a:xfrm>
            <a:off x="566572" y="746150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Sunscreen 50 g</a:t>
            </a:r>
            <a:endParaRPr lang="en-US" sz="720" dirty="0"/>
          </a:p>
        </p:txBody>
      </p:sp>
      <p:sp>
        <p:nvSpPr>
          <p:cNvPr id="85" name="Text 81"/>
          <p:cNvSpPr/>
          <p:nvPr/>
        </p:nvSpPr>
        <p:spPr>
          <a:xfrm>
            <a:off x="4428902" y="746150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6" name="Text 82"/>
          <p:cNvSpPr/>
          <p:nvPr/>
        </p:nvSpPr>
        <p:spPr>
          <a:xfrm>
            <a:off x="5415029" y="746150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8083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320040" y="777240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566572" y="777240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Onion Hair Fall Control Shampoo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4428902" y="777240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₹0.07 Cr</a:t>
            </a:r>
            <a:endParaRPr lang="en-US" sz="720" dirty="0"/>
          </a:p>
        </p:txBody>
      </p:sp>
      <p:sp>
        <p:nvSpPr>
          <p:cNvPr id="91" name="Text 87"/>
          <p:cNvSpPr/>
          <p:nvPr/>
        </p:nvSpPr>
        <p:spPr>
          <a:xfrm>
            <a:off x="5415029" y="777240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entry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265176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265176" y="8266176"/>
            <a:ext cx="3090672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94" name="Text 90"/>
          <p:cNvSpPr/>
          <p:nvPr/>
        </p:nvSpPr>
        <p:spPr>
          <a:xfrm>
            <a:off x="347472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CALL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74904" y="870051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6" name="Text 92"/>
          <p:cNvSpPr/>
          <p:nvPr/>
        </p:nvSpPr>
        <p:spPr>
          <a:xfrm>
            <a:off x="493776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two Rice Face Wash SKUs — 22% of account offtake.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74904" y="90114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98" name="Text 94"/>
          <p:cNvSpPr/>
          <p:nvPr/>
        </p:nvSpPr>
        <p:spPr>
          <a:xfrm>
            <a:off x="493776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4.6% June–July softness back to ₹2.17 Cr.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74904" y="93223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00" name="Text 96"/>
          <p:cNvSpPr/>
          <p:nvPr/>
        </p:nvSpPr>
        <p:spPr>
          <a:xfrm>
            <a:off x="493776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flow above 95% as the account benchmark.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3502152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3502152" y="8266176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3" name="Text 99"/>
          <p:cNvSpPr/>
          <p:nvPr/>
        </p:nvSpPr>
        <p:spPr>
          <a:xfrm>
            <a:off x="3584448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ACCOUNT CAREFULLY</a:t>
            </a:r>
            <a:endParaRPr lang="en-US" sz="700" dirty="0"/>
          </a:p>
        </p:txBody>
      </p:sp>
      <p:sp>
        <p:nvSpPr>
          <p:cNvPr id="104" name="Shape 100"/>
          <p:cNvSpPr/>
          <p:nvPr/>
        </p:nvSpPr>
        <p:spPr>
          <a:xfrm>
            <a:off x="3611880" y="8700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5" name="Text 101"/>
          <p:cNvSpPr/>
          <p:nvPr/>
        </p:nvSpPr>
        <p:spPr>
          <a:xfrm>
            <a:off x="3730752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— neither can be attributed.</a:t>
            </a:r>
            <a:endParaRPr lang="en-US" sz="720" dirty="0"/>
          </a:p>
        </p:txBody>
      </p:sp>
      <p:sp>
        <p:nvSpPr>
          <p:cNvPr id="106" name="Shape 102"/>
          <p:cNvSpPr/>
          <p:nvPr/>
        </p:nvSpPr>
        <p:spPr>
          <a:xfrm>
            <a:off x="3611880" y="9011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7" name="Text 103"/>
          <p:cNvSpPr/>
          <p:nvPr/>
        </p:nvSpPr>
        <p:spPr>
          <a:xfrm>
            <a:off x="3730752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is near real-time; 99.4% is not transferable to hypermarkets.</a:t>
            </a:r>
            <a:endParaRPr lang="en-US" sz="720" dirty="0"/>
          </a:p>
        </p:txBody>
      </p:sp>
      <p:sp>
        <p:nvSpPr>
          <p:cNvPr id="108" name="Shape 104"/>
          <p:cNvSpPr/>
          <p:nvPr/>
        </p:nvSpPr>
        <p:spPr>
          <a:xfrm>
            <a:off x="3611880" y="93223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9" name="Text 105"/>
          <p:cNvSpPr/>
          <p:nvPr/>
        </p:nvSpPr>
        <p:spPr>
          <a:xfrm>
            <a:off x="3730752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is eB2B and sits outside MT zone sales entirely.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NPI is ₹2.82 Cr — and 82% of it sits in the two accounts that convert worst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introduction | contribution by zone and chain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₹2.82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 of July offtake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ACCOUNTS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47.1% + DMart 35.3%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spc="50" kern="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 / 60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finalised with zero sale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New products are being launched through the weakest pipes in the network.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257860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holds 47.1% of all NPI value and converts at 51.4%. East runs the highest NPI mix in the country (10.2%) on the worst flow (49.9%). A launch that fails here will be read as a product failure when it is a flow failure.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65176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by zone (%), coloured by zone flow conversion</a:t>
            </a:r>
            <a:endParaRPr lang="en-US" sz="72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246888" y="3291840"/>
          <a:ext cx="3090672" cy="19751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0" name="Text 37"/>
          <p:cNvSpPr/>
          <p:nvPr/>
        </p:nvSpPr>
        <p:spPr>
          <a:xfrm>
            <a:off x="265176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colour is zone flow conversion: green above 78%, amber 70–78%, red below 60%. The two red zones carry the highest NPI exposure.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3502152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 by chain (₹ Cr)</a:t>
            </a:r>
            <a:endParaRPr lang="en-US" sz="720" dirty="0"/>
          </a:p>
        </p:txBody>
      </p:sp>
      <p:graphicFrame>
        <p:nvGraphicFramePr>
          <p:cNvPr id="42" name="Chart 1" descr=""/>
          <p:cNvGraphicFramePr/>
          <p:nvPr/>
        </p:nvGraphicFramePr>
        <p:xfrm>
          <a:off x="3447288" y="3291840"/>
          <a:ext cx="3127248" cy="19751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Text 39"/>
          <p:cNvSpPr/>
          <p:nvPr/>
        </p:nvSpPr>
        <p:spPr>
          <a:xfrm>
            <a:off x="3502152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₹1.30 Cr and DMart ₹0.98 Cr together are 82.4% of all NPI value. Converted from a source series reported in ₹ lakh.</a:t>
            </a:r>
            <a:endParaRPr lang="en-US" sz="640" dirty="0"/>
          </a:p>
        </p:txBody>
      </p:sp>
      <p:sp>
        <p:nvSpPr>
          <p:cNvPr id="44" name="Shape 40"/>
          <p:cNvSpPr/>
          <p:nvPr/>
        </p:nvSpPr>
        <p:spPr>
          <a:xfrm>
            <a:off x="265176" y="5614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5" name="Text 41"/>
          <p:cNvSpPr/>
          <p:nvPr/>
        </p:nvSpPr>
        <p:spPr>
          <a:xfrm>
            <a:off x="374904" y="563270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 — FULL NAMES, JULY OFFTAKE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59618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7" name="Text 43"/>
          <p:cNvSpPr/>
          <p:nvPr/>
        </p:nvSpPr>
        <p:spPr>
          <a:xfrm>
            <a:off x="320040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539315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2967002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3483864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3703139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6130826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3" name="Shape 49"/>
          <p:cNvSpPr/>
          <p:nvPr/>
        </p:nvSpPr>
        <p:spPr>
          <a:xfrm>
            <a:off x="265176" y="621792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4" name="Shape 50"/>
          <p:cNvSpPr/>
          <p:nvPr/>
        </p:nvSpPr>
        <p:spPr>
          <a:xfrm>
            <a:off x="265176" y="6492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320040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539315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Control Shampoo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2967002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3483864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3703139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 ml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6130826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265176" y="67665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320040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539315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400 ml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967002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483864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03139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Face Wash 100 ml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6130826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9" name="Shape 65"/>
          <p:cNvSpPr/>
          <p:nvPr/>
        </p:nvSpPr>
        <p:spPr>
          <a:xfrm>
            <a:off x="265176" y="70408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320040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539315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Daily Glow Sunscreen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2967002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73" name="Text 69"/>
          <p:cNvSpPr/>
          <p:nvPr/>
        </p:nvSpPr>
        <p:spPr>
          <a:xfrm>
            <a:off x="3483864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74" name="Text 70"/>
          <p:cNvSpPr/>
          <p:nvPr/>
        </p:nvSpPr>
        <p:spPr>
          <a:xfrm>
            <a:off x="3703139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130826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265176" y="7315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320040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8" name="Text 74"/>
          <p:cNvSpPr/>
          <p:nvPr/>
        </p:nvSpPr>
        <p:spPr>
          <a:xfrm>
            <a:off x="539315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Rosemary Anti-Hair Fall Shampoo</a:t>
            </a:r>
            <a:endParaRPr lang="en-US" sz="700" dirty="0"/>
          </a:p>
        </p:txBody>
      </p:sp>
      <p:sp>
        <p:nvSpPr>
          <p:cNvPr id="79" name="Text 75"/>
          <p:cNvSpPr/>
          <p:nvPr/>
        </p:nvSpPr>
        <p:spPr>
          <a:xfrm>
            <a:off x="2967002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0" name="Text 76"/>
          <p:cNvSpPr/>
          <p:nvPr/>
        </p:nvSpPr>
        <p:spPr>
          <a:xfrm>
            <a:off x="3483864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3703139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80 g</a:t>
            </a:r>
            <a:endParaRPr lang="en-US" sz="700" dirty="0"/>
          </a:p>
        </p:txBody>
      </p:sp>
      <p:sp>
        <p:nvSpPr>
          <p:cNvPr id="82" name="Text 78"/>
          <p:cNvSpPr/>
          <p:nvPr/>
        </p:nvSpPr>
        <p:spPr>
          <a:xfrm>
            <a:off x="6130826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265176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265176" y="749808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85" name="Text 81"/>
          <p:cNvSpPr/>
          <p:nvPr/>
        </p:nvSpPr>
        <p:spPr>
          <a:xfrm>
            <a:off x="347472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FINALISED EANs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374904" y="7950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7" name="Text 83"/>
          <p:cNvSpPr/>
          <p:nvPr/>
        </p:nvSpPr>
        <p:spPr>
          <a:xfrm>
            <a:off x="493776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 Cherry Red Hair Colour 130 g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374904" y="8279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89" name="Text 85"/>
          <p:cNvSpPr/>
          <p:nvPr/>
        </p:nvSpPr>
        <p:spPr>
          <a:xfrm>
            <a:off x="493776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20% Actives Peptide–Stem Cell Hair Serum</a:t>
            </a:r>
            <a:endParaRPr lang="en-US" sz="720" dirty="0"/>
          </a:p>
        </p:txBody>
      </p:sp>
      <p:sp>
        <p:nvSpPr>
          <p:cNvPr id="90" name="Shape 86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1" name="Text 87"/>
          <p:cNvSpPr/>
          <p:nvPr/>
        </p:nvSpPr>
        <p:spPr>
          <a:xfrm>
            <a:off x="493776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listing, stock receipt, OSA and launch visibility before any further loading.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3502152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3502152" y="7498080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94" name="Text 90"/>
          <p:cNvSpPr/>
          <p:nvPr/>
        </p:nvSpPr>
        <p:spPr>
          <a:xfrm>
            <a:off x="3584448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611880" y="7950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6" name="Text 92"/>
          <p:cNvSpPr/>
          <p:nvPr/>
        </p:nvSpPr>
        <p:spPr>
          <a:xfrm>
            <a:off x="3730752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611880" y="8279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8" name="Text 94"/>
          <p:cNvSpPr/>
          <p:nvPr/>
        </p:nvSpPr>
        <p:spPr>
          <a:xfrm>
            <a:off x="3730752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North NPI allocation until conversion clears 70%.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611880" y="86090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00" name="Text 96"/>
          <p:cNvSpPr/>
          <p:nvPr/>
        </p:nvSpPr>
        <p:spPr>
          <a:xfrm>
            <a:off x="3730752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launches through West, South-1 and Apollo first — the pipes that already convert.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265176" y="9107424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102" name="Text 98"/>
          <p:cNvSpPr/>
          <p:nvPr/>
        </p:nvSpPr>
        <p:spPr>
          <a:xfrm>
            <a:off x="393192" y="9180576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IS MISSING   </a:t>
            </a:r>
            <a:pPr indent="0" marL="0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currently judged on offtake alone, which cannot separate a weak product from a weak pipe. Report every launch as offtake per selling store against the zone conversion it was placed into. Until that split exists, a slow NPI in East and a slow NPI in West look identical on this page — and they need opposite decisions.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chains hold ₹13.27 Cr of gap; three more hide ₹2.23 Cr behind unmapped primary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gross positive and gross negative gap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Lulu bills through an unmapped route</a:t>
            </a:r>
            <a:endParaRPr lang="en-US" sz="72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46888" y="1481328"/>
          <a:ext cx="6327648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₹7.61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 — largest single gap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 — concentrated in South-2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brands carry 98.4% of offtake; Face Cleanser alone carries a third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sub-category architecture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offtake, the two engine brands (₹ Cr)</a:t>
            </a:r>
            <a:endParaRPr lang="en-US" sz="72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246888" y="1481328"/>
          <a:ext cx="3840480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4251960" y="1261872"/>
            <a:ext cx="2340864" cy="2066544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1960" y="1261872"/>
            <a:ext cx="23408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1"/>
          <p:cNvSpPr/>
          <p:nvPr/>
        </p:nvSpPr>
        <p:spPr>
          <a:xfrm>
            <a:off x="4334256" y="128016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GAP, TWICE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343400" y="162763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₹13.05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343400" y="197510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 across both engines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4361688" y="22448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28" name="Text 25"/>
          <p:cNvSpPr/>
          <p:nvPr/>
        </p:nvSpPr>
        <p:spPr>
          <a:xfrm>
            <a:off x="4480560" y="219456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₹8.89 Cr at 73.4% conversion.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361688" y="26106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30" name="Text 27"/>
          <p:cNvSpPr/>
          <p:nvPr/>
        </p:nvSpPr>
        <p:spPr>
          <a:xfrm>
            <a:off x="4480560" y="256032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₹4.16 Cr at 72.6%.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4361688" y="29763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32" name="Text 29"/>
          <p:cNvSpPr/>
          <p:nvPr/>
        </p:nvSpPr>
        <p:spPr>
          <a:xfrm>
            <a:off x="4480560" y="29260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0.8 pp of each other — the constraint is the channel, not the brand.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5176" y="34564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4" name="Text 31"/>
          <p:cNvSpPr/>
          <p:nvPr/>
        </p:nvSpPr>
        <p:spPr>
          <a:xfrm>
            <a:off x="320040" y="3474720"/>
            <a:ext cx="1322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1752715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2548646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3344576" y="3474720"/>
            <a:ext cx="566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4021117" y="3474720"/>
            <a:ext cx="924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OFFTAKE</a:t>
            </a:r>
            <a:endParaRPr lang="en-US" sz="660" dirty="0"/>
          </a:p>
        </p:txBody>
      </p:sp>
      <p:sp>
        <p:nvSpPr>
          <p:cNvPr id="39" name="Text 36"/>
          <p:cNvSpPr/>
          <p:nvPr/>
        </p:nvSpPr>
        <p:spPr>
          <a:xfrm>
            <a:off x="5055827" y="3474720"/>
            <a:ext cx="14821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0" name="Shape 37"/>
          <p:cNvSpPr/>
          <p:nvPr/>
        </p:nvSpPr>
        <p:spPr>
          <a:xfrm>
            <a:off x="265176" y="371246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1" name="Shape 38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20040" y="371246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1752715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33.38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2548646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3344576" y="371246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4021117" y="371246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67.8%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055827" y="371246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protect hero EANs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265176" y="42611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320040" y="398678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1752715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15.19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2548646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344576" y="398678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021117" y="398678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055827" y="398678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₹4.16 Cr gap — same flow problem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265176" y="426110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6" name="Shape 53"/>
          <p:cNvSpPr/>
          <p:nvPr/>
        </p:nvSpPr>
        <p:spPr>
          <a:xfrm>
            <a:off x="265176" y="45354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320040" y="426110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1752715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2548646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3344576" y="426110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4021117" y="426110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5055827" y="426110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or timing — validate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265176" y="48097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320040" y="453542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1752715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66" name="Text 63"/>
          <p:cNvSpPr/>
          <p:nvPr/>
        </p:nvSpPr>
        <p:spPr>
          <a:xfrm>
            <a:off x="2548646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00" dirty="0"/>
          </a:p>
        </p:txBody>
      </p:sp>
      <p:sp>
        <p:nvSpPr>
          <p:cNvPr id="67" name="Text 64"/>
          <p:cNvSpPr/>
          <p:nvPr/>
        </p:nvSpPr>
        <p:spPr>
          <a:xfrm>
            <a:off x="3344576" y="453542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700" dirty="0"/>
          </a:p>
        </p:txBody>
      </p:sp>
      <p:sp>
        <p:nvSpPr>
          <p:cNvPr id="68" name="Text 65"/>
          <p:cNvSpPr/>
          <p:nvPr/>
        </p:nvSpPr>
        <p:spPr>
          <a:xfrm>
            <a:off x="4021117" y="453542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5055827" y="453542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materiality floor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265176" y="480974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1" name="Shape 68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320040" y="480974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Sheth's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1752715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00" dirty="0"/>
          </a:p>
        </p:txBody>
      </p:sp>
      <p:sp>
        <p:nvSpPr>
          <p:cNvPr id="74" name="Text 71"/>
          <p:cNvSpPr/>
          <p:nvPr/>
        </p:nvSpPr>
        <p:spPr>
          <a:xfrm>
            <a:off x="2548646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3344576" y="480974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00" dirty="0"/>
          </a:p>
        </p:txBody>
      </p:sp>
      <p:sp>
        <p:nvSpPr>
          <p:cNvPr id="76" name="Text 73"/>
          <p:cNvSpPr/>
          <p:nvPr/>
        </p:nvSpPr>
        <p:spPr>
          <a:xfrm>
            <a:off x="4021117" y="480974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5055827" y="480974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mapped primary</a:t>
            </a:r>
            <a:endParaRPr lang="en-US" sz="700" dirty="0"/>
          </a:p>
        </p:txBody>
      </p:sp>
      <p:sp>
        <p:nvSpPr>
          <p:cNvPr id="78" name="Text 75"/>
          <p:cNvSpPr/>
          <p:nvPr/>
        </p:nvSpPr>
        <p:spPr>
          <a:xfrm>
            <a:off x="265176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top 3 sub-categories (₹ Cr, Feb–Jul)</a:t>
            </a:r>
            <a:endParaRPr lang="en-US" sz="720" dirty="0"/>
          </a:p>
        </p:txBody>
      </p:sp>
      <p:graphicFrame>
        <p:nvGraphicFramePr>
          <p:cNvPr id="79" name="Chart 1" descr=""/>
          <p:cNvGraphicFramePr/>
          <p:nvPr/>
        </p:nvGraphicFramePr>
        <p:xfrm>
          <a:off x="246888" y="5468112"/>
          <a:ext cx="309067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0" name="Text 76"/>
          <p:cNvSpPr/>
          <p:nvPr/>
        </p:nvSpPr>
        <p:spPr>
          <a:xfrm>
            <a:off x="3502152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top 3 sub-categories (₹ Cr, Feb–Jul)</a:t>
            </a:r>
            <a:endParaRPr lang="en-US" sz="720" dirty="0"/>
          </a:p>
        </p:txBody>
      </p:sp>
      <p:graphicFrame>
        <p:nvGraphicFramePr>
          <p:cNvPr id="81" name="Chart 2" descr=""/>
          <p:cNvGraphicFramePr/>
          <p:nvPr/>
        </p:nvGraphicFramePr>
        <p:xfrm>
          <a:off x="3483864" y="5468112"/>
          <a:ext cx="309067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2" name="Shape 77"/>
          <p:cNvSpPr/>
          <p:nvPr/>
        </p:nvSpPr>
        <p:spPr>
          <a:xfrm>
            <a:off x="265176" y="696772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3" name="Text 78"/>
          <p:cNvSpPr/>
          <p:nvPr/>
        </p:nvSpPr>
        <p:spPr>
          <a:xfrm>
            <a:off x="374904" y="698601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IMPLICATIONS</a:t>
            </a:r>
            <a:endParaRPr lang="en-US" sz="720" dirty="0"/>
          </a:p>
        </p:txBody>
      </p:sp>
      <p:sp>
        <p:nvSpPr>
          <p:cNvPr id="84" name="Shape 79"/>
          <p:cNvSpPr/>
          <p:nvPr/>
        </p:nvSpPr>
        <p:spPr>
          <a:xfrm>
            <a:off x="356616" y="7383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5" name="Text 80"/>
          <p:cNvSpPr/>
          <p:nvPr/>
        </p:nvSpPr>
        <p:spPr>
          <a:xfrm>
            <a:off x="475488" y="733348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convert at the same rate — 73.4% and 72.6%. The flow problem is channel-wide, not brand-specific, so it will not be fixed by brand-level action.</a:t>
            </a:r>
            <a:endParaRPr lang="en-US" sz="740" dirty="0"/>
          </a:p>
        </p:txBody>
      </p:sp>
      <p:sp>
        <p:nvSpPr>
          <p:cNvPr id="86" name="Shape 81"/>
          <p:cNvSpPr/>
          <p:nvPr/>
        </p:nvSpPr>
        <p:spPr>
          <a:xfrm>
            <a:off x="356616" y="774954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7" name="Text 82"/>
          <p:cNvSpPr/>
          <p:nvPr/>
        </p:nvSpPr>
        <p:spPr>
          <a:xfrm>
            <a:off x="475488" y="769924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Cleanser closed July at ₹8.53 Cr and The Derma Co. Face Cleanser at ₹7.13 Cr. One sub-category is ₹15.66 Cr — 43% of all Modern Trade offtake.</a:t>
            </a:r>
            <a:endParaRPr lang="en-US" sz="740" dirty="0"/>
          </a:p>
        </p:txBody>
      </p:sp>
      <p:sp>
        <p:nvSpPr>
          <p:cNvPr id="88" name="Shape 83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</p:sp>
      <p:sp>
        <p:nvSpPr>
          <p:cNvPr id="89" name="Text 84"/>
          <p:cNvSpPr/>
          <p:nvPr/>
        </p:nvSpPr>
        <p:spPr>
          <a:xfrm>
            <a:off x="475488" y="806500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has climbed every month since February and accelerated sharply into July; Mamaearth Sun Care has turned down since May.</a:t>
            </a:r>
            <a:endParaRPr lang="en-US" sz="740" dirty="0"/>
          </a:p>
        </p:txBody>
      </p:sp>
      <p:sp>
        <p:nvSpPr>
          <p:cNvPr id="90" name="Shape 85"/>
          <p:cNvSpPr/>
          <p:nvPr/>
        </p:nvSpPr>
        <p:spPr>
          <a:xfrm>
            <a:off x="356616" y="84810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91" name="Text 86"/>
          <p:cNvSpPr/>
          <p:nvPr/>
        </p:nvSpPr>
        <p:spPr>
          <a:xfrm>
            <a:off x="475488" y="843076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shows offtake above primary and Dr. Sheth's has no mapped primary; BBLUNT at ₹0.06 Cr sits below the materiality floor. All three are exception-report only.</a:t>
            </a:r>
            <a:endParaRPr lang="en-US" sz="740" dirty="0"/>
          </a:p>
        </p:txBody>
      </p:sp>
      <p:sp>
        <p:nvSpPr>
          <p:cNvPr id="92" name="Shape 87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3" name="Text 88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— WHAT THIS PORTFOLIO SHAPE MEANS</a:t>
            </a:r>
            <a:endParaRPr lang="en-US" sz="720" dirty="0"/>
          </a:p>
        </p:txBody>
      </p:sp>
      <p:sp>
        <p:nvSpPr>
          <p:cNvPr id="94" name="Shape 89"/>
          <p:cNvSpPr/>
          <p:nvPr/>
        </p:nvSpPr>
        <p:spPr>
          <a:xfrm>
            <a:off x="265176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5" name="Shape 90"/>
          <p:cNvSpPr/>
          <p:nvPr/>
        </p:nvSpPr>
        <p:spPr>
          <a:xfrm>
            <a:off x="265176" y="925372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96" name="Text 91"/>
          <p:cNvSpPr/>
          <p:nvPr/>
        </p:nvSpPr>
        <p:spPr>
          <a:xfrm>
            <a:off x="347472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BRANDS</a:t>
            </a:r>
            <a:endParaRPr lang="en-US" sz="700" dirty="0"/>
          </a:p>
        </p:txBody>
      </p:sp>
      <p:sp>
        <p:nvSpPr>
          <p:cNvPr id="97" name="Text 92"/>
          <p:cNvSpPr/>
          <p:nvPr/>
        </p:nvSpPr>
        <p:spPr>
          <a:xfrm>
            <a:off x="356616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98.4%</a:t>
            </a:r>
            <a:endParaRPr lang="en-US" sz="1500" dirty="0"/>
          </a:p>
        </p:txBody>
      </p:sp>
      <p:sp>
        <p:nvSpPr>
          <p:cNvPr id="98" name="Text 93"/>
          <p:cNvSpPr/>
          <p:nvPr/>
        </p:nvSpPr>
        <p:spPr>
          <a:xfrm>
            <a:off x="356616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offtake</a:t>
            </a:r>
            <a:endParaRPr lang="en-US" sz="660" dirty="0"/>
          </a:p>
        </p:txBody>
      </p:sp>
      <p:sp>
        <p:nvSpPr>
          <p:cNvPr id="99" name="Shape 94"/>
          <p:cNvSpPr/>
          <p:nvPr/>
        </p:nvSpPr>
        <p:spPr>
          <a:xfrm>
            <a:off x="374904" y="10200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0" name="Text 95"/>
          <p:cNvSpPr/>
          <p:nvPr/>
        </p:nvSpPr>
        <p:spPr>
          <a:xfrm>
            <a:off x="493776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remaining brands total ₹0.57 Cr — 1.6%.</a:t>
            </a:r>
            <a:endParaRPr lang="en-US" sz="670" dirty="0"/>
          </a:p>
        </p:txBody>
      </p:sp>
      <p:sp>
        <p:nvSpPr>
          <p:cNvPr id="101" name="Shape 96"/>
          <p:cNvSpPr/>
          <p:nvPr/>
        </p:nvSpPr>
        <p:spPr>
          <a:xfrm>
            <a:off x="374904" y="1054760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2" name="Text 97"/>
          <p:cNvSpPr/>
          <p:nvPr/>
        </p:nvSpPr>
        <p:spPr>
          <a:xfrm>
            <a:off x="493776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shock to either engine is a channel-level shock.</a:t>
            </a:r>
            <a:endParaRPr lang="en-US" sz="670" dirty="0"/>
          </a:p>
        </p:txBody>
      </p:sp>
      <p:sp>
        <p:nvSpPr>
          <p:cNvPr id="103" name="Shape 98"/>
          <p:cNvSpPr/>
          <p:nvPr/>
        </p:nvSpPr>
        <p:spPr>
          <a:xfrm>
            <a:off x="2410968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>
            <a:off x="2410968" y="925372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105" name="Text 100"/>
          <p:cNvSpPr/>
          <p:nvPr/>
        </p:nvSpPr>
        <p:spPr>
          <a:xfrm>
            <a:off x="2493264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SUB-CATEGORY</a:t>
            </a:r>
            <a:endParaRPr lang="en-US" sz="700" dirty="0"/>
          </a:p>
        </p:txBody>
      </p:sp>
      <p:sp>
        <p:nvSpPr>
          <p:cNvPr id="106" name="Text 101"/>
          <p:cNvSpPr/>
          <p:nvPr/>
        </p:nvSpPr>
        <p:spPr>
          <a:xfrm>
            <a:off x="2502408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43%</a:t>
            </a:r>
            <a:endParaRPr lang="en-US" sz="1500" dirty="0"/>
          </a:p>
        </p:txBody>
      </p:sp>
      <p:sp>
        <p:nvSpPr>
          <p:cNvPr id="107" name="Text 102"/>
          <p:cNvSpPr/>
          <p:nvPr/>
        </p:nvSpPr>
        <p:spPr>
          <a:xfrm>
            <a:off x="2502408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share of offtake</a:t>
            </a:r>
            <a:endParaRPr lang="en-US" sz="660" dirty="0"/>
          </a:p>
        </p:txBody>
      </p:sp>
      <p:sp>
        <p:nvSpPr>
          <p:cNvPr id="108" name="Shape 103"/>
          <p:cNvSpPr/>
          <p:nvPr/>
        </p:nvSpPr>
        <p:spPr>
          <a:xfrm>
            <a:off x="2520696" y="10200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09" name="Text 104"/>
          <p:cNvSpPr/>
          <p:nvPr/>
        </p:nvSpPr>
        <p:spPr>
          <a:xfrm>
            <a:off x="2639568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₹15.66 Cr across both brands in one sub-category.</a:t>
            </a:r>
            <a:endParaRPr lang="en-US" sz="670" dirty="0"/>
          </a:p>
        </p:txBody>
      </p:sp>
      <p:sp>
        <p:nvSpPr>
          <p:cNvPr id="110" name="Shape 105"/>
          <p:cNvSpPr/>
          <p:nvPr/>
        </p:nvSpPr>
        <p:spPr>
          <a:xfrm>
            <a:off x="2520696" y="10547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11" name="Text 106"/>
          <p:cNvSpPr/>
          <p:nvPr/>
        </p:nvSpPr>
        <p:spPr>
          <a:xfrm>
            <a:off x="2639568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risk is higher than the brand split suggests.</a:t>
            </a:r>
            <a:endParaRPr lang="en-US" sz="670" dirty="0"/>
          </a:p>
        </p:txBody>
      </p:sp>
      <p:sp>
        <p:nvSpPr>
          <p:cNvPr id="112" name="Shape 107"/>
          <p:cNvSpPr/>
          <p:nvPr/>
        </p:nvSpPr>
        <p:spPr>
          <a:xfrm>
            <a:off x="4556760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3" name="Shape 108"/>
          <p:cNvSpPr/>
          <p:nvPr/>
        </p:nvSpPr>
        <p:spPr>
          <a:xfrm>
            <a:off x="4556760" y="9253728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14" name="Text 109"/>
          <p:cNvSpPr/>
          <p:nvPr/>
        </p:nvSpPr>
        <p:spPr>
          <a:xfrm>
            <a:off x="4639056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DIVERGENCE TO WATCH</a:t>
            </a:r>
            <a:endParaRPr lang="en-US" sz="700" dirty="0"/>
          </a:p>
        </p:txBody>
      </p:sp>
      <p:sp>
        <p:nvSpPr>
          <p:cNvPr id="115" name="Text 110"/>
          <p:cNvSpPr/>
          <p:nvPr/>
        </p:nvSpPr>
        <p:spPr>
          <a:xfrm>
            <a:off x="4648200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Opposite ways</a:t>
            </a:r>
            <a:endParaRPr lang="en-US" sz="1500" dirty="0"/>
          </a:p>
        </p:txBody>
      </p:sp>
      <p:sp>
        <p:nvSpPr>
          <p:cNvPr id="116" name="Text 111"/>
          <p:cNvSpPr/>
          <p:nvPr/>
        </p:nvSpPr>
        <p:spPr>
          <a:xfrm>
            <a:off x="4648200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May</a:t>
            </a:r>
            <a:endParaRPr lang="en-US" sz="660" dirty="0"/>
          </a:p>
        </p:txBody>
      </p:sp>
      <p:sp>
        <p:nvSpPr>
          <p:cNvPr id="117" name="Shape 112"/>
          <p:cNvSpPr/>
          <p:nvPr/>
        </p:nvSpPr>
        <p:spPr>
          <a:xfrm>
            <a:off x="4666488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18" name="Text 113"/>
          <p:cNvSpPr/>
          <p:nvPr/>
        </p:nvSpPr>
        <p:spPr>
          <a:xfrm>
            <a:off x="4785360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Cleanser has accelerated every month to ₹7.13 Cr.</a:t>
            </a:r>
            <a:endParaRPr lang="en-US" sz="670" dirty="0"/>
          </a:p>
        </p:txBody>
      </p:sp>
      <p:sp>
        <p:nvSpPr>
          <p:cNvPr id="119" name="Shape 114"/>
          <p:cNvSpPr/>
          <p:nvPr/>
        </p:nvSpPr>
        <p:spPr>
          <a:xfrm>
            <a:off x="4666488" y="10547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20" name="Text 115"/>
          <p:cNvSpPr/>
          <p:nvPr/>
        </p:nvSpPr>
        <p:spPr>
          <a:xfrm>
            <a:off x="4785360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Mamaearth Sun Care's fall is seasonal before cutting range.</a:t>
            </a:r>
            <a:endParaRPr lang="en-US" sz="6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90-day cadence that converts ₹6.22 Cr without loading a single extra case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Decision-safe definitions, quality gates and authority boundaries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command centre | grain, conformity, coverage and controlled execution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60" kern="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786384"/>
          </a:xfrm>
          <a:prstGeom prst="roundRect">
            <a:avLst>
              <a:gd name="adj" fmla="val 3488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353312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 this pack to prioritise investigation and owner action — not to infer inventory, causality or autonomous execution.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commercial change remains subject to named human approval.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19456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24" name="Text 22"/>
          <p:cNvSpPr/>
          <p:nvPr/>
        </p:nvSpPr>
        <p:spPr>
          <a:xfrm>
            <a:off x="374904" y="22128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— ONE STATED BASE, NO NETTING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5420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" y="2560320"/>
            <a:ext cx="16387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2068469" y="2560320"/>
            <a:ext cx="806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2984313" y="2560320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566225" y="2560320"/>
            <a:ext cx="1971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2798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31" name="Shape 29"/>
          <p:cNvSpPr/>
          <p:nvPr/>
        </p:nvSpPr>
        <p:spPr>
          <a:xfrm>
            <a:off x="265176" y="3108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279806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068469" y="279806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₹49.21 Cr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2984313" y="279806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net value, zone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566225" y="279806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 sheet, converted to ₹ Cr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265176" y="3419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3108960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068469" y="3108960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2984313" y="310896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NSV, store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566225" y="3108960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Consumer-facing flow measure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265176" y="3419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42" name="Shape 40"/>
          <p:cNvSpPr/>
          <p:nvPr/>
        </p:nvSpPr>
        <p:spPr>
          <a:xfrm>
            <a:off x="265176" y="3730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3419856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2068469" y="3419856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₹13.27 Cr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984313" y="3419856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mapped only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566225" y="3419856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the recoverable pool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65176" y="4041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0040" y="3730752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068469" y="3730752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2984313" y="3730752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unmapped primary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566225" y="3730752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defect — never netted against the pool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5176" y="40416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</p:sp>
      <p:sp>
        <p:nvSpPr>
          <p:cNvPr id="53" name="Shape 51"/>
          <p:cNvSpPr/>
          <p:nvPr/>
        </p:nvSpPr>
        <p:spPr>
          <a:xfrm>
            <a:off x="265176" y="4352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0040" y="4041648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gap, summed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068469" y="4041648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2984313" y="404164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geographic zones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566225" y="4041648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Pan India, which has no primary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265176" y="4663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0040" y="435254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2068469" y="435254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2984313" y="435254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ratio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566225" y="435254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from sums — never average zones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265176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65176" y="482803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</p:sp>
      <p:sp>
        <p:nvSpPr>
          <p:cNvPr id="65" name="Text 63"/>
          <p:cNvSpPr/>
          <p:nvPr/>
        </p:nvSpPr>
        <p:spPr>
          <a:xfrm>
            <a:off x="347472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56616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breaks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74904" y="5628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68" name="Text 66"/>
          <p:cNvSpPr/>
          <p:nvPr/>
        </p:nvSpPr>
        <p:spPr>
          <a:xfrm>
            <a:off x="493776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Wellness Forever, Health &amp; Glow appear in offtake, not in primary.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5993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0" name="Text 68"/>
          <p:cNvSpPr/>
          <p:nvPr/>
        </p:nvSpPr>
        <p:spPr>
          <a:xfrm>
            <a:off x="493776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and cannot be separated.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374904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2" name="Text 70"/>
          <p:cNvSpPr/>
          <p:nvPr/>
        </p:nvSpPr>
        <p:spPr>
          <a:xfrm>
            <a:off x="493776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carries no geographic primary by design.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</p:sp>
      <p:sp>
        <p:nvSpPr>
          <p:cNvPr id="74" name="Text 72"/>
          <p:cNvSpPr/>
          <p:nvPr/>
        </p:nvSpPr>
        <p:spPr>
          <a:xfrm>
            <a:off x="493776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outer merge surfaces all of these automatically.</a:t>
            </a:r>
            <a:endParaRPr lang="en-US" sz="690" dirty="0"/>
          </a:p>
        </p:txBody>
      </p:sp>
      <p:sp>
        <p:nvSpPr>
          <p:cNvPr id="75" name="Shape 73"/>
          <p:cNvSpPr/>
          <p:nvPr/>
        </p:nvSpPr>
        <p:spPr>
          <a:xfrm>
            <a:off x="2410968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410968" y="482803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77" name="Text 75"/>
          <p:cNvSpPr/>
          <p:nvPr/>
        </p:nvSpPr>
        <p:spPr>
          <a:xfrm>
            <a:off x="2493264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FACTS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2502408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Ratios never sum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2520696" y="5628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0" name="Text 78"/>
          <p:cNvSpPr/>
          <p:nvPr/>
        </p:nvSpPr>
        <p:spPr>
          <a:xfrm>
            <a:off x="2639568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reads 99.7%; zones read 121%, 138% and 149%.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0696" y="59938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2" name="Text 80"/>
          <p:cNvSpPr/>
          <p:nvPr/>
        </p:nvSpPr>
        <p:spPr>
          <a:xfrm>
            <a:off x="2639568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figure is averaging error, not measured parity.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2520696" y="635965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4" name="Text 82"/>
          <p:cNvSpPr/>
          <p:nvPr/>
        </p:nvSpPr>
        <p:spPr>
          <a:xfrm>
            <a:off x="2639568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conversion above 100% is stock or timing, never performance.</a:t>
            </a:r>
            <a:endParaRPr lang="en-US" sz="690" dirty="0"/>
          </a:p>
        </p:txBody>
      </p:sp>
      <p:sp>
        <p:nvSpPr>
          <p:cNvPr id="85" name="Shape 83"/>
          <p:cNvSpPr/>
          <p:nvPr/>
        </p:nvSpPr>
        <p:spPr>
          <a:xfrm>
            <a:off x="2520696" y="6725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86" name="Text 84"/>
          <p:cNvSpPr/>
          <p:nvPr/>
        </p:nvSpPr>
        <p:spPr>
          <a:xfrm>
            <a:off x="2639568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quote a ratio without stating its denominator.</a:t>
            </a:r>
            <a:endParaRPr lang="en-US" sz="690" dirty="0"/>
          </a:p>
        </p:txBody>
      </p:sp>
      <p:sp>
        <p:nvSpPr>
          <p:cNvPr id="87" name="Shape 85"/>
          <p:cNvSpPr/>
          <p:nvPr/>
        </p:nvSpPr>
        <p:spPr>
          <a:xfrm>
            <a:off x="4556760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556760" y="482803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89" name="Text 87"/>
          <p:cNvSpPr/>
          <p:nvPr/>
        </p:nvSpPr>
        <p:spPr>
          <a:xfrm>
            <a:off x="4639056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648200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79.2%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66488" y="5628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2" name="Text 90"/>
          <p:cNvSpPr/>
          <p:nvPr/>
        </p:nvSpPr>
        <p:spPr>
          <a:xfrm>
            <a:off x="4785360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scorecard covers ₹26.90 Cr of ₹33.96 Cr national MT offtake.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66488" y="5993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4" name="Text 92"/>
          <p:cNvSpPr/>
          <p:nvPr/>
        </p:nvSpPr>
        <p:spPr>
          <a:xfrm>
            <a:off x="4785360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31,355 of 1,97,740 primary and offtake rows are matched.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4666488" y="63596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6" name="Text 94"/>
          <p:cNvSpPr/>
          <p:nvPr/>
        </p:nvSpPr>
        <p:spPr>
          <a:xfrm>
            <a:off x="4785360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zone rows: 0. Period: July 2026.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4666488" y="67254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98" name="Text 96"/>
          <p:cNvSpPr/>
          <p:nvPr/>
        </p:nvSpPr>
        <p:spPr>
          <a:xfrm>
            <a:off x="4785360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missing July feeds are data gaps, not de-growth.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265176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65176" y="73517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</p:sp>
      <p:sp>
        <p:nvSpPr>
          <p:cNvPr id="101" name="Text 99"/>
          <p:cNvSpPr/>
          <p:nvPr/>
        </p:nvSpPr>
        <p:spPr>
          <a:xfrm>
            <a:off x="347472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356616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374904" y="8151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3776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shown, ranked or coloured below this base.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85176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6" name="Text 104"/>
          <p:cNvSpPr/>
          <p:nvPr/>
        </p:nvSpPr>
        <p:spPr>
          <a:xfrm>
            <a:off x="493776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10 of 13 chains from the scorecard ranking.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374904" y="88833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08" name="Text 106"/>
          <p:cNvSpPr/>
          <p:nvPr/>
        </p:nvSpPr>
        <p:spPr>
          <a:xfrm>
            <a:off x="493776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recovery (₹0.11 Cr) falls below it.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374904" y="92491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3776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2410968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410968" y="7351776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</p:sp>
      <p:sp>
        <p:nvSpPr>
          <p:cNvPr id="113" name="Text 111"/>
          <p:cNvSpPr/>
          <p:nvPr/>
        </p:nvSpPr>
        <p:spPr>
          <a:xfrm>
            <a:off x="2493264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RECONCILE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2502408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fields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520696" y="81518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6" name="Text 114"/>
          <p:cNvSpPr/>
          <p:nvPr/>
        </p:nvSpPr>
        <p:spPr>
          <a:xfrm>
            <a:off x="2639568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0696" y="851763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18" name="Text 116"/>
          <p:cNvSpPr/>
          <p:nvPr/>
        </p:nvSpPr>
        <p:spPr>
          <a:xfrm>
            <a:off x="2639568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these tie, cause is inferred and not measured.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2520696" y="888339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0" name="Text 118"/>
          <p:cNvSpPr/>
          <p:nvPr/>
        </p:nvSpPr>
        <p:spPr>
          <a:xfrm>
            <a:off x="2639568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SAH × share diagnosis is claimed in this pack.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2520696" y="92491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</p:sp>
      <p:sp>
        <p:nvSpPr>
          <p:cNvPr id="122" name="Text 120"/>
          <p:cNvSpPr/>
          <p:nvPr/>
        </p:nvSpPr>
        <p:spPr>
          <a:xfrm>
            <a:off x="2639568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pressure and turnover remain out of scope.</a:t>
            </a:r>
            <a:endParaRPr lang="en-US" sz="690" dirty="0"/>
          </a:p>
        </p:txBody>
      </p:sp>
      <p:sp>
        <p:nvSpPr>
          <p:cNvPr id="123" name="Shape 121"/>
          <p:cNvSpPr/>
          <p:nvPr/>
        </p:nvSpPr>
        <p:spPr>
          <a:xfrm>
            <a:off x="4556760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556760" y="7351776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</p:sp>
      <p:sp>
        <p:nvSpPr>
          <p:cNvPr id="125" name="Text 123"/>
          <p:cNvSpPr/>
          <p:nvPr/>
        </p:nvSpPr>
        <p:spPr>
          <a:xfrm>
            <a:off x="4639056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648200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first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666488" y="81518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28" name="Text 126"/>
          <p:cNvSpPr/>
          <p:nvPr/>
        </p:nvSpPr>
        <p:spPr>
          <a:xfrm>
            <a:off x="4785360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recommends and sizes; it does not decide.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66488" y="85176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30" name="Text 128"/>
          <p:cNvSpPr/>
          <p:nvPr/>
        </p:nvSpPr>
        <p:spPr>
          <a:xfrm>
            <a:off x="4785360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NKAM, RKAM and KAM approve loading, range and distribution.</a:t>
            </a:r>
            <a:endParaRPr lang="en-US" sz="690" dirty="0"/>
          </a:p>
        </p:txBody>
      </p:sp>
      <p:sp>
        <p:nvSpPr>
          <p:cNvPr id="131" name="Shape 129"/>
          <p:cNvSpPr/>
          <p:nvPr/>
        </p:nvSpPr>
        <p:spPr>
          <a:xfrm>
            <a:off x="4666488" y="88833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32" name="Text 130"/>
          <p:cNvSpPr/>
          <p:nvPr/>
        </p:nvSpPr>
        <p:spPr>
          <a:xfrm>
            <a:off x="4785360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changed, the evidence, the owner and the date.</a:t>
            </a:r>
            <a:endParaRPr lang="en-US" sz="690" dirty="0"/>
          </a:p>
        </p:txBody>
      </p:sp>
      <p:sp>
        <p:nvSpPr>
          <p:cNvPr id="133" name="Shape 131"/>
          <p:cNvSpPr/>
          <p:nvPr/>
        </p:nvSpPr>
        <p:spPr>
          <a:xfrm>
            <a:off x="4666488" y="92491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</p:sp>
      <p:sp>
        <p:nvSpPr>
          <p:cNvPr id="134" name="Text 132"/>
          <p:cNvSpPr/>
          <p:nvPr/>
        </p:nvSpPr>
        <p:spPr>
          <a:xfrm>
            <a:off x="4785360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or stop when the proof point fails.</a:t>
            </a:r>
            <a:endParaRPr lang="en-US" sz="690" dirty="0"/>
          </a:p>
        </p:txBody>
      </p:sp>
      <p:sp>
        <p:nvSpPr>
          <p:cNvPr id="135" name="Shape 133"/>
          <p:cNvSpPr/>
          <p:nvPr/>
        </p:nvSpPr>
        <p:spPr>
          <a:xfrm>
            <a:off x="265176" y="9930384"/>
            <a:ext cx="6327648" cy="475488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9525">
            <a:solidFill>
              <a:srgbClr val="D6544D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374904" y="9985248"/>
            <a:ext cx="6108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SINCE THE PREVIOUS PACK   </a:t>
            </a:r>
            <a:pPr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sales are now Modern Trade only. eB2B (₹2.20 Cr primary) and SIS are reported as their own channels, cut from the full July source with Channel == MT applied before aggregation. MT primary ₹47.02 Cr, MT offtake ₹33.96 Cr, gap ₹13.06 Cr — and national MT offtake now ties exactly to the sum of the six MT zones.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Modern Trade Growth Command Centre</dc:title>
  <dc:subject>PptxGenJS Presentation</dc:subject>
  <dc:creator>Modern Trade Analytics</dc:creator>
  <cp:lastModifiedBy>Modern Trade Analytics</cp:lastModifiedBy>
  <cp:revision>1</cp:revision>
  <dcterms:created xsi:type="dcterms:W3CDTF">2026-08-18T05:36:31Z</dcterms:created>
  <dcterms:modified xsi:type="dcterms:W3CDTF">2026-08-18T05:36:31Z</dcterms:modified>
</cp:coreProperties>
</file>