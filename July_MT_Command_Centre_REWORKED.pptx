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1.xml" ContentType="application/vnd.openxmlformats-officedocument.drawingml.chart+xml"/>
  <Override PartName="/ppt/charts/chart1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3.xml" ContentType="application/vnd.openxmlformats-officedocument.drawingml.chart+xml"/>
  <Override PartName="/ppt/charts/chart1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5.xml" ContentType="application/vnd.openxmlformats-officedocument.drawingml.chart+xml"/>
  <Override PartName="/ppt/charts/chart1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7.xml" ContentType="application/vnd.openxmlformats-officedocument.drawingml.chart+xml"/>
  <Override PartName="/ppt/charts/chart18.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9.xml" ContentType="application/vnd.openxmlformats-officedocument.drawingml.chart+xml"/>
  <Override PartName="/ppt/charts/chart20.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1.xml" ContentType="application/vnd.openxmlformats-officedocument.drawingml.chart+xml"/>
  <Override PartName="/ppt/charts/chart2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3.xml" ContentType="application/vnd.openxmlformats-officedocument.drawingml.chart+xml"/>
  <Override PartName="/ppt/charts/chart24.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25.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6858000" cy="12191695"/>
  <p:notesSz cx="12191695"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Relationships xmlns="http://schemas.openxmlformats.org/package/2006/relationships"><Relationship Id="rId1" Type="http://schemas.openxmlformats.org/officeDocument/2006/relationships/package" Target="../embeddings/Microsoft_Excel_Worksheet2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Primary</c:v>
                </c:pt>
              </c:strCache>
            </c:strRef>
          </c:tx>
          <c:spPr>
            <a:solidFill>
              <a:srgbClr val="2E7DA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West</c:v>
                  </c:pt>
                  <c:pt idx="1">
                    <c:v>S-1</c:v>
                  </c:pt>
                  <c:pt idx="2">
                    <c:v>North</c:v>
                  </c:pt>
                  <c:pt idx="3">
                    <c:v>S-2</c:v>
                  </c:pt>
                  <c:pt idx="4">
                    <c:v>East</c:v>
                  </c:pt>
                  <c:pt idx="5">
                    <c:v>Central</c:v>
                  </c:pt>
                </c:lvl>
              </c:multiLvlStrCache>
            </c:multiLvlStrRef>
          </c:cat>
          <c:val>
            <c:numRef>
              <c:f>Sheet1!$B$2:$B$7</c:f>
              <c:numCache>
                <c:formatCode>General</c:formatCode>
                <c:ptCount val="6"/>
                <c:pt idx="0">
                  <c:v>10.0524</c:v>
                </c:pt>
                <c:pt idx="1">
                  <c:v>9.7986</c:v>
                </c:pt>
                <c:pt idx="2">
                  <c:v>11.9527</c:v>
                </c:pt>
                <c:pt idx="3">
                  <c:v>6.8914</c:v>
                </c:pt>
                <c:pt idx="4">
                  <c:v>7.8306</c:v>
                </c:pt>
                <c:pt idx="5">
                  <c:v>2.6873</c:v>
                </c:pt>
              </c:numCache>
            </c:numRef>
          </c:val>
        </c:ser>
        <c:ser>
          <c:idx val="1"/>
          <c:order val="1"/>
          <c:tx>
            <c:strRef>
              <c:f>Sheet1!$C$1</c:f>
              <c:strCache>
                <c:ptCount val="1"/>
                <c:pt idx="0">
                  <c:v>Offtake</c:v>
                </c:pt>
              </c:strCache>
            </c:strRef>
          </c:tx>
          <c:spPr>
            <a:solidFill>
              <a:srgbClr val="28A59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West</c:v>
                  </c:pt>
                  <c:pt idx="1">
                    <c:v>S-1</c:v>
                  </c:pt>
                  <c:pt idx="2">
                    <c:v>North</c:v>
                  </c:pt>
                  <c:pt idx="3">
                    <c:v>S-2</c:v>
                  </c:pt>
                  <c:pt idx="4">
                    <c:v>East</c:v>
                  </c:pt>
                  <c:pt idx="5">
                    <c:v>Central</c:v>
                  </c:pt>
                </c:lvl>
              </c:multiLvlStrCache>
            </c:multiLvlStrRef>
          </c:cat>
          <c:val>
            <c:numRef>
              <c:f>Sheet1!$C$2:$C$7</c:f>
              <c:numCache>
                <c:formatCode>General</c:formatCode>
                <c:ptCount val="6"/>
                <c:pt idx="0">
                  <c:v>8.2769</c:v>
                </c:pt>
                <c:pt idx="1">
                  <c:v>8.1886</c:v>
                </c:pt>
                <c:pt idx="2">
                  <c:v>6.9873</c:v>
                </c:pt>
                <c:pt idx="3">
                  <c:v>4.9102</c:v>
                </c:pt>
                <c:pt idx="4">
                  <c:v>3.5511</c:v>
                </c:pt>
                <c:pt idx="5">
                  <c:v>2.1177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2"/>
        <c:crosses val="autoZero"/>
        <c:auto val="1"/>
        <c:lblAlgn val="ctr"/>
        <c:noMultiLvlLbl val="1"/>
      </c:catAx>
      <c:valAx>
        <c:axId val="2094734552"/>
        <c:scaling>
          <c:orientation val="minMax"/>
          <c:max val="12"/>
        </c:scaling>
        <c:delete val="0"/>
        <c:axPos val="l"/>
        <c:majorGridlines>
          <c:spPr>
            <a:ln w="6350" cap="flat">
              <a:solidFill>
                <a:srgbClr val="E8F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600">
              <a:solidFill>
                <a:srgbClr val="5F716E"/>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Recoverable</c:v>
                </c:pt>
              </c:strCache>
            </c:strRef>
          </c:tx>
          <c:spPr>
            <a:solidFill>
              <a:srgbClr val="2B9A66"/>
            </a:solidFill>
            <a:effectLst/>
          </c:spPr>
          <c:invertIfNegative val="0"/>
          <c:dLbls>
            <c:numFmt formatCode="0.00" sourceLinked="0"/>
            <c:txPr>
              <a:bodyPr/>
              <a:lstStyle/>
              <a:p>
                <a:pPr>
                  <a:defRPr b="0" i="0" strike="noStrike" sz="600" u="none">
                    <a:solidFill>
                      <a:srgbClr val="183B39"/>
                    </a:solidFill>
                    <a:latin typeface="Arial"/>
                  </a:defRPr>
                </a:pPr>
              </a:p>
            </c:txPr>
            <c:showLegendKey val="0"/>
            <c:showVal val="1"/>
            <c:showCatName val="0"/>
            <c:showSerName val="0"/>
            <c:showPercent val="0"/>
            <c:showBubbleSize val="0"/>
            <c:showLeaderLines val="0"/>
          </c:dLbls>
          <c:cat>
            <c:multiLvlStrRef>
              <c:f>Sheet1!$A$2:$A$4</c:f>
              <c:multiLvlStrCache>
                <c:ptCount val="3"/>
                <c:lvl>
                  <c:pt idx="0">
                    <c:v>South-2</c:v>
                  </c:pt>
                  <c:pt idx="1">
                    <c:v>East</c:v>
                  </c:pt>
                  <c:pt idx="2">
                    <c:v>North</c:v>
                  </c:pt>
                </c:lvl>
              </c:multiLvlStrCache>
            </c:multiLvlStrRef>
          </c:cat>
          <c:val>
            <c:numRef>
              <c:f>Sheet1!$B$2:$B$4</c:f>
              <c:numCache>
                <c:formatCode>General</c:formatCode>
                <c:ptCount val="3"/>
                <c:pt idx="0">
                  <c:v>0.9</c:v>
                </c:pt>
                <c:pt idx="1">
                  <c:v>2.55</c:v>
                </c:pt>
                <c:pt idx="2">
                  <c:v>2.79</c:v>
                </c:pt>
              </c:numCache>
            </c:numRef>
          </c:val>
        </c:ser>
        <c:dLbls>
          <c:numFmt formatCode="0.00" sourceLinked="0"/>
          <c:txPr>
            <a:bodyPr/>
            <a:lstStyle/>
            <a:p>
              <a:pPr>
                <a:defRPr b="0" i="0" strike="noStrike" sz="600" u="none">
                  <a:solidFill>
                    <a:srgbClr val="183B39"/>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2"/>
        <c:crosses val="autoZero"/>
        <c:auto val="1"/>
        <c:lblAlgn val="ctr"/>
        <c:noMultiLvlLbl val="1"/>
      </c:catAx>
      <c:valAx>
        <c:axId val="2094734552"/>
        <c:scaling>
          <c:orientation val="minMax"/>
          <c:max val="3.4"/>
        </c:scaling>
        <c:delete val="0"/>
        <c:axPos val="b"/>
        <c:majorGridlines>
          <c:spPr>
            <a:ln w="6350" cap="flat">
              <a:solidFill>
                <a:srgbClr val="E8F0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Primary</c:v>
                </c:pt>
              </c:strCache>
            </c:strRef>
          </c:tx>
          <c:spPr>
            <a:solidFill>
              <a:srgbClr val="2E7DA8"/>
            </a:solidFill>
            <a:effectLst/>
          </c:spPr>
          <c:invertIfNegative val="0"/>
          <c:dLbls>
            <c:numFmt formatCode="0.0" sourceLinked="0"/>
            <c:txPr>
              <a:bodyPr/>
              <a:lstStyle/>
              <a:p>
                <a:pPr>
                  <a:defRPr b="0" i="0" strike="noStrike" sz="600" u="none">
                    <a:solidFill>
                      <a:srgbClr val="183B39"/>
                    </a:solidFill>
                    <a:latin typeface="Arial"/>
                  </a:defRPr>
                </a:pPr>
              </a:p>
            </c:txPr>
            <c:showLegendKey val="0"/>
            <c:showVal val="1"/>
            <c:showCatName val="0"/>
            <c:showSerName val="0"/>
            <c:showPercent val="0"/>
            <c:showBubbleSize val="0"/>
            <c:showLeaderLines val="0"/>
          </c:dLbls>
          <c:cat>
            <c:multiLvlStrRef>
              <c:f>Sheet1!$A$2:$A$5</c:f>
              <c:multiLvlStrCache>
                <c:ptCount val="4"/>
                <c:lvl>
                  <c:pt idx="0">
                    <c:v>Apr</c:v>
                  </c:pt>
                  <c:pt idx="1">
                    <c:v>May</c:v>
                  </c:pt>
                  <c:pt idx="2">
                    <c:v>Jun</c:v>
                  </c:pt>
                  <c:pt idx="3">
                    <c:v>Jul</c:v>
                  </c:pt>
                </c:lvl>
              </c:multiLvlStrCache>
            </c:multiLvlStrRef>
          </c:cat>
          <c:val>
            <c:numRef>
              <c:f>Sheet1!$B$2:$B$5</c:f>
              <c:numCache>
                <c:formatCode>General</c:formatCode>
                <c:ptCount val="4"/>
                <c:pt idx="0">
                  <c:v>48</c:v>
                </c:pt>
                <c:pt idx="1">
                  <c:v>42.32</c:v>
                </c:pt>
                <c:pt idx="2">
                  <c:v>39.41</c:v>
                </c:pt>
                <c:pt idx="3">
                  <c:v>47.02</c:v>
                </c:pt>
              </c:numCache>
            </c:numRef>
          </c:val>
        </c:ser>
        <c:ser>
          <c:idx val="1"/>
          <c:order val="1"/>
          <c:tx>
            <c:strRef>
              <c:f>Sheet1!$C$1</c:f>
              <c:strCache>
                <c:ptCount val="1"/>
                <c:pt idx="0">
                  <c:v>Offtake</c:v>
                </c:pt>
              </c:strCache>
            </c:strRef>
          </c:tx>
          <c:spPr>
            <a:solidFill>
              <a:srgbClr val="28A596"/>
            </a:solidFill>
            <a:effectLst/>
          </c:spPr>
          <c:invertIfNegative val="0"/>
          <c:dLbls>
            <c:numFmt formatCode="0.0" sourceLinked="0"/>
            <c:txPr>
              <a:bodyPr/>
              <a:lstStyle/>
              <a:p>
                <a:pPr>
                  <a:defRPr b="0" i="0" strike="noStrike" sz="600" u="none">
                    <a:solidFill>
                      <a:srgbClr val="183B39"/>
                    </a:solidFill>
                    <a:latin typeface="Arial"/>
                  </a:defRPr>
                </a:pPr>
              </a:p>
            </c:txPr>
            <c:showLegendKey val="0"/>
            <c:showVal val="1"/>
            <c:showCatName val="0"/>
            <c:showSerName val="0"/>
            <c:showPercent val="0"/>
            <c:showBubbleSize val="0"/>
            <c:showLeaderLines val="0"/>
          </c:dLbls>
          <c:cat>
            <c:multiLvlStrRef>
              <c:f>Sheet1!$A$2:$A$5</c:f>
              <c:multiLvlStrCache>
                <c:ptCount val="4"/>
                <c:lvl>
                  <c:pt idx="0">
                    <c:v>Apr</c:v>
                  </c:pt>
                  <c:pt idx="1">
                    <c:v>May</c:v>
                  </c:pt>
                  <c:pt idx="2">
                    <c:v>Jun</c:v>
                  </c:pt>
                  <c:pt idx="3">
                    <c:v>Jul</c:v>
                  </c:pt>
                </c:lvl>
              </c:multiLvlStrCache>
            </c:multiLvlStrRef>
          </c:cat>
          <c:val>
            <c:numRef>
              <c:f>Sheet1!$C$2:$C$5</c:f>
              <c:numCache>
                <c:formatCode>General</c:formatCode>
                <c:ptCount val="4"/>
                <c:pt idx="0">
                  <c:v>33.6</c:v>
                </c:pt>
                <c:pt idx="1">
                  <c:v>38.11</c:v>
                </c:pt>
                <c:pt idx="2">
                  <c:v>36.04</c:v>
                </c:pt>
                <c:pt idx="3">
                  <c:v>33.96</c:v>
                </c:pt>
              </c:numCache>
            </c:numRef>
          </c:val>
        </c:ser>
        <c:dLbls>
          <c:numFmt formatCode="0.0" sourceLinked="0"/>
          <c:txPr>
            <a:bodyPr/>
            <a:lstStyle/>
            <a:p>
              <a:pPr>
                <a:defRPr b="0" i="0" strike="noStrike" sz="600" u="none">
                  <a:solidFill>
                    <a:srgbClr val="183B39"/>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2"/>
        <c:crosses val="autoZero"/>
        <c:auto val="1"/>
        <c:lblAlgn val="ctr"/>
        <c:noMultiLvlLbl val="1"/>
      </c:catAx>
      <c:valAx>
        <c:axId val="2094734552"/>
        <c:scaling>
          <c:orientation val="minMax"/>
          <c:max val="55"/>
        </c:scaling>
        <c:delete val="0"/>
        <c:axPos val="l"/>
        <c:majorGridlines>
          <c:spPr>
            <a:ln w="6350" cap="flat">
              <a:solidFill>
                <a:srgbClr val="E8F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620">
              <a:solidFill>
                <a:srgbClr val="5F716E"/>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Conversion</c:v>
                </c:pt>
              </c:strCache>
            </c:strRef>
          </c:tx>
          <c:spPr>
            <a:solidFill>
              <a:srgbClr val="D6544D"/>
            </a:solidFill>
            <a:ln w="31750" cap="flat">
              <a:solidFill>
                <a:srgbClr val="D6544D"/>
              </a:solidFill>
              <a:prstDash val="solid"/>
              <a:round/>
            </a:ln>
            <a:effectLst/>
          </c:spPr>
          <c:invertIfNegative val="0"/>
          <c:dLbls>
            <c:numFmt formatCode="0.0" sourceLinked="0"/>
            <c:txPr>
              <a:bodyPr/>
              <a:lstStyle/>
              <a:p>
                <a:pPr>
                  <a:defRPr b="0" i="0" strike="noStrike" sz="660" u="none">
                    <a:solidFill>
                      <a:srgbClr val="183B39"/>
                    </a:solidFill>
                    <a:latin typeface="Arial"/>
                  </a:defRPr>
                </a:pPr>
              </a:p>
            </c:txPr>
            <c:dLblPos val="t"/>
            <c:showLegendKey val="0"/>
            <c:showVal val="1"/>
            <c:showCatName val="0"/>
            <c:showSerName val="0"/>
            <c:showPercent val="0"/>
            <c:showBubbleSize val="0"/>
            <c:showLeaderLines val="0"/>
          </c:dLbls>
          <c:marker>
            <c:symbol val="circle"/>
            <c:size val="6"/>
            <c:spPr>
              <a:solidFill>
                <a:srgbClr val="D6544D"/>
              </a:solidFill>
              <a:ln w="9525" cap="flat">
                <a:solidFill>
                  <a:srgbClr val="D6544D"/>
                </a:solidFill>
                <a:prstDash val="solid"/>
                <a:round/>
              </a:ln>
              <a:effectLst/>
            </c:spPr>
          </c:marker>
          <c:cat>
            <c:multiLvlStrRef>
              <c:f>Sheet1!$A$2:$A$5</c:f>
              <c:multiLvlStrCache>
                <c:ptCount val="4"/>
                <c:lvl>
                  <c:pt idx="0">
                    <c:v>Apr</c:v>
                  </c:pt>
                  <c:pt idx="1">
                    <c:v>May</c:v>
                  </c:pt>
                  <c:pt idx="2">
                    <c:v>Jun</c:v>
                  </c:pt>
                  <c:pt idx="3">
                    <c:v>Jul</c:v>
                  </c:pt>
                </c:lvl>
              </c:multiLvlStrCache>
            </c:multiLvlStrRef>
          </c:cat>
          <c:val>
            <c:numRef>
              <c:f>Sheet1!$B$2:$B$5</c:f>
              <c:numCache>
                <c:formatCode>General</c:formatCode>
                <c:ptCount val="4"/>
                <c:pt idx="0">
                  <c:v>70</c:v>
                </c:pt>
                <c:pt idx="1">
                  <c:v>90.1</c:v>
                </c:pt>
                <c:pt idx="2">
                  <c:v>91.4</c:v>
                </c:pt>
                <c:pt idx="3">
                  <c:v>72.2</c:v>
                </c:pt>
              </c:numCache>
            </c:numRef>
          </c:val>
          <c:smooth val="0"/>
        </c:ser>
        <c:dLbls>
          <c:numFmt formatCode="0.0" sourceLinked="0"/>
          <c:txPr>
            <a:bodyPr/>
            <a:lstStyle/>
            <a:p>
              <a:pPr>
                <a:defRPr b="0" i="0" strike="noStrike" sz="660" u="none">
                  <a:solidFill>
                    <a:srgbClr val="183B39"/>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2"/>
        <c:crosses val="autoZero"/>
        <c:auto val="1"/>
        <c:lblAlgn val="ctr"/>
        <c:noMultiLvlLbl val="1"/>
      </c:catAx>
      <c:valAx>
        <c:axId val="2094734552"/>
        <c:scaling>
          <c:orientation val="minMax"/>
          <c:max val="100"/>
          <c:min val="60"/>
        </c:scaling>
        <c:delete val="0"/>
        <c:axPos val="l"/>
        <c:majorGridlines>
          <c:spPr>
            <a:ln w="6350" cap="flat">
              <a:solidFill>
                <a:srgbClr val="E8F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Face Cleanser</c:v>
                </c:pt>
              </c:strCache>
            </c:strRef>
          </c:tx>
          <c:spPr>
            <a:solidFill>
              <a:srgbClr val="28A596"/>
            </a:solidFill>
            <a:ln w="22225" cap="flat">
              <a:solidFill>
                <a:srgbClr val="28A59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8A596"/>
              </a:solidFill>
              <a:ln w="9525" cap="flat">
                <a:solidFill>
                  <a:srgbClr val="28A596"/>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Sheet1!$B$2:$B$7</c:f>
              <c:numCache>
                <c:formatCode>General</c:formatCode>
                <c:ptCount val="6"/>
                <c:pt idx="0">
                  <c:v>2.0929</c:v>
                </c:pt>
                <c:pt idx="1">
                  <c:v>2.454</c:v>
                </c:pt>
                <c:pt idx="2">
                  <c:v>2.423</c:v>
                </c:pt>
                <c:pt idx="3">
                  <c:v>2.726</c:v>
                </c:pt>
                <c:pt idx="4">
                  <c:v>2.8988</c:v>
                </c:pt>
                <c:pt idx="5">
                  <c:v>2.3895</c:v>
                </c:pt>
              </c:numCache>
            </c:numRef>
          </c:val>
          <c:smooth val="0"/>
        </c:ser>
        <c:ser>
          <c:idx val="1"/>
          <c:order val="1"/>
          <c:tx>
            <c:strRef>
              <c:f>Sheet1!$C$1</c:f>
              <c:strCache>
                <c:ptCount val="1"/>
                <c:pt idx="0">
                  <c:v>Shampoo</c:v>
                </c:pt>
              </c:strCache>
            </c:strRef>
          </c:tx>
          <c:spPr>
            <a:solidFill>
              <a:srgbClr val="2E7DA8"/>
            </a:solidFill>
            <a:ln w="22225" cap="flat">
              <a:solidFill>
                <a:srgbClr val="2E7D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7DA8"/>
              </a:solidFill>
              <a:ln w="9525" cap="flat">
                <a:solidFill>
                  <a:srgbClr val="2E7DA8"/>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Sheet1!$C$2:$C$7</c:f>
              <c:numCache>
                <c:formatCode>General</c:formatCode>
                <c:ptCount val="6"/>
                <c:pt idx="0">
                  <c:v>1.3295</c:v>
                </c:pt>
                <c:pt idx="1">
                  <c:v>1.5493</c:v>
                </c:pt>
                <c:pt idx="2">
                  <c:v>1.5924</c:v>
                </c:pt>
                <c:pt idx="3">
                  <c:v>1.6361</c:v>
                </c:pt>
                <c:pt idx="4">
                  <c:v>1.7881</c:v>
                </c:pt>
                <c:pt idx="5">
                  <c:v>1.5283</c:v>
                </c:pt>
              </c:numCache>
            </c:numRef>
          </c:val>
          <c:smooth val="0"/>
        </c:ser>
        <c:ser>
          <c:idx val="2"/>
          <c:order val="2"/>
          <c:tx>
            <c:strRef>
              <c:f>Sheet1!$D$1</c:f>
              <c:strCache>
                <c:ptCount val="1"/>
                <c:pt idx="0">
                  <c:v>Sun Care</c:v>
                </c:pt>
              </c:strCache>
            </c:strRef>
          </c:tx>
          <c:spPr>
            <a:solidFill>
              <a:srgbClr val="D6544D"/>
            </a:solidFill>
            <a:ln w="22225" cap="flat">
              <a:solidFill>
                <a:srgbClr val="D6544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6544D"/>
              </a:solidFill>
              <a:ln w="9525" cap="flat">
                <a:solidFill>
                  <a:srgbClr val="D6544D"/>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Sheet1!$D$2:$D$7</c:f>
              <c:numCache>
                <c:formatCode>General</c:formatCode>
                <c:ptCount val="6"/>
                <c:pt idx="0">
                  <c:v>0.4378</c:v>
                </c:pt>
                <c:pt idx="1">
                  <c:v>1.0265</c:v>
                </c:pt>
                <c:pt idx="2">
                  <c:v>0.9663</c:v>
                </c:pt>
                <c:pt idx="3">
                  <c:v>0.815</c:v>
                </c:pt>
                <c:pt idx="4">
                  <c:v>0.4599</c:v>
                </c:pt>
                <c:pt idx="5">
                  <c:v>0.219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F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580">
              <a:solidFill>
                <a:srgbClr val="5F716E"/>
              </a:solidFil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Face Cleanser</c:v>
                </c:pt>
              </c:strCache>
            </c:strRef>
          </c:tx>
          <c:spPr>
            <a:solidFill>
              <a:srgbClr val="28A596"/>
            </a:solidFill>
            <a:ln w="22225" cap="flat">
              <a:solidFill>
                <a:srgbClr val="28A59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8A596"/>
              </a:solidFill>
              <a:ln w="9525" cap="flat">
                <a:solidFill>
                  <a:srgbClr val="28A596"/>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Sheet1!$B$2:$B$7</c:f>
              <c:numCache>
                <c:formatCode>General</c:formatCode>
                <c:ptCount val="6"/>
                <c:pt idx="0">
                  <c:v>1.1237</c:v>
                </c:pt>
                <c:pt idx="1">
                  <c:v>1.3265</c:v>
                </c:pt>
                <c:pt idx="2">
                  <c:v>1.4203</c:v>
                </c:pt>
                <c:pt idx="3">
                  <c:v>2.0396</c:v>
                </c:pt>
                <c:pt idx="4">
                  <c:v>2.1851</c:v>
                </c:pt>
                <c:pt idx="5">
                  <c:v>2.8436</c:v>
                </c:pt>
              </c:numCache>
            </c:numRef>
          </c:val>
          <c:smooth val="0"/>
        </c:ser>
        <c:ser>
          <c:idx val="1"/>
          <c:order val="1"/>
          <c:tx>
            <c:strRef>
              <c:f>Sheet1!$C$1</c:f>
              <c:strCache>
                <c:ptCount val="1"/>
                <c:pt idx="0">
                  <c:v>Sun Care</c:v>
                </c:pt>
              </c:strCache>
            </c:strRef>
          </c:tx>
          <c:spPr>
            <a:solidFill>
              <a:srgbClr val="2E7DA8"/>
            </a:solidFill>
            <a:ln w="22225" cap="flat">
              <a:solidFill>
                <a:srgbClr val="2E7D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7DA8"/>
              </a:solidFill>
              <a:ln w="9525" cap="flat">
                <a:solidFill>
                  <a:srgbClr val="2E7DA8"/>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Sheet1!$C$2:$C$7</c:f>
              <c:numCache>
                <c:formatCode>General</c:formatCode>
                <c:ptCount val="6"/>
                <c:pt idx="0">
                  <c:v>0.3484</c:v>
                </c:pt>
                <c:pt idx="1">
                  <c:v>0.6647</c:v>
                </c:pt>
                <c:pt idx="2">
                  <c:v>0.728</c:v>
                </c:pt>
                <c:pt idx="3">
                  <c:v>1.0665</c:v>
                </c:pt>
                <c:pt idx="4">
                  <c:v>0.6722</c:v>
                </c:pt>
                <c:pt idx="5">
                  <c:v>0.5503</c:v>
                </c:pt>
              </c:numCache>
            </c:numRef>
          </c:val>
          <c:smooth val="0"/>
        </c:ser>
        <c:ser>
          <c:idx val="2"/>
          <c:order val="2"/>
          <c:tx>
            <c:strRef>
              <c:f>Sheet1!$D$1</c:f>
              <c:strCache>
                <c:ptCount val="1"/>
                <c:pt idx="0">
                  <c:v>Face Serum</c:v>
                </c:pt>
              </c:strCache>
            </c:strRef>
          </c:tx>
          <c:spPr>
            <a:solidFill>
              <a:srgbClr val="D6544D"/>
            </a:solidFill>
            <a:ln w="22225" cap="flat">
              <a:solidFill>
                <a:srgbClr val="D6544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6544D"/>
              </a:solidFill>
              <a:ln w="9525" cap="flat">
                <a:solidFill>
                  <a:srgbClr val="D6544D"/>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Sheet1!$D$2:$D$7</c:f>
              <c:numCache>
                <c:formatCode>General</c:formatCode>
                <c:ptCount val="6"/>
                <c:pt idx="0">
                  <c:v>0.1706</c:v>
                </c:pt>
                <c:pt idx="1">
                  <c:v>0.1715</c:v>
                </c:pt>
                <c:pt idx="2">
                  <c:v>0.1977</c:v>
                </c:pt>
                <c:pt idx="3">
                  <c:v>0.1672</c:v>
                </c:pt>
                <c:pt idx="4">
                  <c:v>0.1629</c:v>
                </c:pt>
                <c:pt idx="5">
                  <c:v>0.2181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F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580">
              <a:solidFill>
                <a:srgbClr val="5F716E"/>
              </a:solidFill>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Face Cleanser</c:v>
                </c:pt>
              </c:strCache>
            </c:strRef>
          </c:tx>
          <c:spPr>
            <a:solidFill>
              <a:srgbClr val="28A596"/>
            </a:solidFill>
            <a:ln w="22225" cap="flat">
              <a:solidFill>
                <a:srgbClr val="28A59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8A596"/>
              </a:solidFill>
              <a:ln w="9525" cap="flat">
                <a:solidFill>
                  <a:srgbClr val="28A596"/>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Sheet1!$B$2:$B$7</c:f>
              <c:numCache>
                <c:formatCode>General</c:formatCode>
                <c:ptCount val="6"/>
                <c:pt idx="0">
                  <c:v>0.9362</c:v>
                </c:pt>
                <c:pt idx="1">
                  <c:v>1.0264</c:v>
                </c:pt>
                <c:pt idx="2">
                  <c:v>1.0769</c:v>
                </c:pt>
                <c:pt idx="3">
                  <c:v>1.2856</c:v>
                </c:pt>
                <c:pt idx="4">
                  <c:v>1.1223</c:v>
                </c:pt>
                <c:pt idx="5">
                  <c:v>1.1188</c:v>
                </c:pt>
              </c:numCache>
            </c:numRef>
          </c:val>
          <c:smooth val="0"/>
        </c:ser>
        <c:ser>
          <c:idx val="1"/>
          <c:order val="1"/>
          <c:tx>
            <c:strRef>
              <c:f>Sheet1!$C$1</c:f>
              <c:strCache>
                <c:ptCount val="1"/>
                <c:pt idx="0">
                  <c:v>Shampoo</c:v>
                </c:pt>
              </c:strCache>
            </c:strRef>
          </c:tx>
          <c:spPr>
            <a:solidFill>
              <a:srgbClr val="2E7DA8"/>
            </a:solidFill>
            <a:ln w="22225" cap="flat">
              <a:solidFill>
                <a:srgbClr val="2E7D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7DA8"/>
              </a:solidFill>
              <a:ln w="9525" cap="flat">
                <a:solidFill>
                  <a:srgbClr val="2E7DA8"/>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Sheet1!$C$2:$C$7</c:f>
              <c:numCache>
                <c:formatCode>General</c:formatCode>
                <c:ptCount val="6"/>
                <c:pt idx="0">
                  <c:v>0.8603</c:v>
                </c:pt>
                <c:pt idx="1">
                  <c:v>0.9523</c:v>
                </c:pt>
                <c:pt idx="2">
                  <c:v>0.9632</c:v>
                </c:pt>
                <c:pt idx="3">
                  <c:v>1.2141</c:v>
                </c:pt>
                <c:pt idx="4">
                  <c:v>1.2798</c:v>
                </c:pt>
                <c:pt idx="5">
                  <c:v>1.2277</c:v>
                </c:pt>
              </c:numCache>
            </c:numRef>
          </c:val>
          <c:smooth val="0"/>
        </c:ser>
        <c:ser>
          <c:idx val="2"/>
          <c:order val="2"/>
          <c:tx>
            <c:strRef>
              <c:f>Sheet1!$D$1</c:f>
              <c:strCache>
                <c:ptCount val="1"/>
                <c:pt idx="0">
                  <c:v>Sun Care</c:v>
                </c:pt>
              </c:strCache>
            </c:strRef>
          </c:tx>
          <c:spPr>
            <a:solidFill>
              <a:srgbClr val="D6544D"/>
            </a:solidFill>
            <a:ln w="22225" cap="flat">
              <a:solidFill>
                <a:srgbClr val="D6544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6544D"/>
              </a:solidFill>
              <a:ln w="9525" cap="flat">
                <a:solidFill>
                  <a:srgbClr val="D6544D"/>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Sheet1!$D$2:$D$7</c:f>
              <c:numCache>
                <c:formatCode>General</c:formatCode>
                <c:ptCount val="6"/>
                <c:pt idx="0">
                  <c:v>0.2641</c:v>
                </c:pt>
                <c:pt idx="1">
                  <c:v>0.3788</c:v>
                </c:pt>
                <c:pt idx="2">
                  <c:v>0.4567</c:v>
                </c:pt>
                <c:pt idx="3">
                  <c:v>0.4755</c:v>
                </c:pt>
                <c:pt idx="4">
                  <c:v>0.3346</c:v>
                </c:pt>
                <c:pt idx="5">
                  <c:v>0.3219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F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580">
              <a:solidFill>
                <a:srgbClr val="5F716E"/>
              </a:solidFill>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Face Cleanser</c:v>
                </c:pt>
              </c:strCache>
            </c:strRef>
          </c:tx>
          <c:spPr>
            <a:solidFill>
              <a:srgbClr val="28A596"/>
            </a:solidFill>
            <a:ln w="22225" cap="flat">
              <a:solidFill>
                <a:srgbClr val="28A59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8A596"/>
              </a:solidFill>
              <a:ln w="9525" cap="flat">
                <a:solidFill>
                  <a:srgbClr val="28A596"/>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Sheet1!$B$2:$B$7</c:f>
              <c:numCache>
                <c:formatCode>General</c:formatCode>
                <c:ptCount val="6"/>
                <c:pt idx="0">
                  <c:v>0.3679</c:v>
                </c:pt>
                <c:pt idx="1">
                  <c:v>0.3982</c:v>
                </c:pt>
                <c:pt idx="2">
                  <c:v>0.5194</c:v>
                </c:pt>
                <c:pt idx="3">
                  <c:v>0.7716</c:v>
                </c:pt>
                <c:pt idx="4">
                  <c:v>0.7147</c:v>
                </c:pt>
                <c:pt idx="5">
                  <c:v>1.1802</c:v>
                </c:pt>
              </c:numCache>
            </c:numRef>
          </c:val>
          <c:smooth val="0"/>
        </c:ser>
        <c:ser>
          <c:idx val="1"/>
          <c:order val="1"/>
          <c:tx>
            <c:strRef>
              <c:f>Sheet1!$C$1</c:f>
              <c:strCache>
                <c:ptCount val="1"/>
                <c:pt idx="0">
                  <c:v>Sun Care</c:v>
                </c:pt>
              </c:strCache>
            </c:strRef>
          </c:tx>
          <c:spPr>
            <a:solidFill>
              <a:srgbClr val="2E7DA8"/>
            </a:solidFill>
            <a:ln w="22225" cap="flat">
              <a:solidFill>
                <a:srgbClr val="2E7D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7DA8"/>
              </a:solidFill>
              <a:ln w="9525" cap="flat">
                <a:solidFill>
                  <a:srgbClr val="2E7DA8"/>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Sheet1!$C$2:$C$7</c:f>
              <c:numCache>
                <c:formatCode>General</c:formatCode>
                <c:ptCount val="6"/>
                <c:pt idx="0">
                  <c:v>0.2529</c:v>
                </c:pt>
                <c:pt idx="1">
                  <c:v>0.4333</c:v>
                </c:pt>
                <c:pt idx="2">
                  <c:v>0.6458</c:v>
                </c:pt>
                <c:pt idx="3">
                  <c:v>0.8138</c:v>
                </c:pt>
                <c:pt idx="4">
                  <c:v>0.5066</c:v>
                </c:pt>
                <c:pt idx="5">
                  <c:v>0.607</c:v>
                </c:pt>
              </c:numCache>
            </c:numRef>
          </c:val>
          <c:smooth val="0"/>
        </c:ser>
        <c:ser>
          <c:idx val="2"/>
          <c:order val="2"/>
          <c:tx>
            <c:strRef>
              <c:f>Sheet1!$D$1</c:f>
              <c:strCache>
                <c:ptCount val="1"/>
                <c:pt idx="0">
                  <c:v>Face Serum</c:v>
                </c:pt>
              </c:strCache>
            </c:strRef>
          </c:tx>
          <c:spPr>
            <a:solidFill>
              <a:srgbClr val="D6544D"/>
            </a:solidFill>
            <a:ln w="22225" cap="flat">
              <a:solidFill>
                <a:srgbClr val="D6544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6544D"/>
              </a:solidFill>
              <a:ln w="9525" cap="flat">
                <a:solidFill>
                  <a:srgbClr val="D6544D"/>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Sheet1!$D$2:$D$7</c:f>
              <c:numCache>
                <c:formatCode>General</c:formatCode>
                <c:ptCount val="6"/>
                <c:pt idx="0">
                  <c:v>0.1424</c:v>
                </c:pt>
                <c:pt idx="1">
                  <c:v>0.1456</c:v>
                </c:pt>
                <c:pt idx="2">
                  <c:v>0.1665</c:v>
                </c:pt>
                <c:pt idx="3">
                  <c:v>0.1917</c:v>
                </c:pt>
                <c:pt idx="4">
                  <c:v>0.1937</c:v>
                </c:pt>
                <c:pt idx="5">
                  <c:v>0.1866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F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580">
              <a:solidFill>
                <a:srgbClr val="5F716E"/>
              </a:solidFill>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Face Cleanser</c:v>
                </c:pt>
              </c:strCache>
            </c:strRef>
          </c:tx>
          <c:spPr>
            <a:solidFill>
              <a:srgbClr val="28A596"/>
            </a:solidFill>
            <a:ln w="22225" cap="flat">
              <a:solidFill>
                <a:srgbClr val="28A59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8A596"/>
              </a:solidFill>
              <a:ln w="9525" cap="flat">
                <a:solidFill>
                  <a:srgbClr val="28A596"/>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Sheet1!$B$2:$B$7</c:f>
              <c:numCache>
                <c:formatCode>General</c:formatCode>
                <c:ptCount val="6"/>
                <c:pt idx="0">
                  <c:v>1.7192</c:v>
                </c:pt>
                <c:pt idx="1">
                  <c:v>2.0835</c:v>
                </c:pt>
                <c:pt idx="2">
                  <c:v>2.232</c:v>
                </c:pt>
                <c:pt idx="3">
                  <c:v>2.4319</c:v>
                </c:pt>
                <c:pt idx="4">
                  <c:v>2.2778</c:v>
                </c:pt>
                <c:pt idx="5">
                  <c:v>2.0919</c:v>
                </c:pt>
              </c:numCache>
            </c:numRef>
          </c:val>
          <c:smooth val="0"/>
        </c:ser>
        <c:ser>
          <c:idx val="1"/>
          <c:order val="1"/>
          <c:tx>
            <c:strRef>
              <c:f>Sheet1!$C$1</c:f>
              <c:strCache>
                <c:ptCount val="1"/>
                <c:pt idx="0">
                  <c:v>Shampoo</c:v>
                </c:pt>
              </c:strCache>
            </c:strRef>
          </c:tx>
          <c:spPr>
            <a:solidFill>
              <a:srgbClr val="2E7DA8"/>
            </a:solidFill>
            <a:ln w="22225" cap="flat">
              <a:solidFill>
                <a:srgbClr val="2E7D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7DA8"/>
              </a:solidFill>
              <a:ln w="9525" cap="flat">
                <a:solidFill>
                  <a:srgbClr val="2E7DA8"/>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Sheet1!$C$2:$C$7</c:f>
              <c:numCache>
                <c:formatCode>General</c:formatCode>
                <c:ptCount val="6"/>
                <c:pt idx="0">
                  <c:v>1.2172</c:v>
                </c:pt>
                <c:pt idx="1">
                  <c:v>1.3299</c:v>
                </c:pt>
                <c:pt idx="2">
                  <c:v>1.6309</c:v>
                </c:pt>
                <c:pt idx="3">
                  <c:v>1.7503</c:v>
                </c:pt>
                <c:pt idx="4">
                  <c:v>1.6847</c:v>
                </c:pt>
                <c:pt idx="5">
                  <c:v>1.6785</c:v>
                </c:pt>
              </c:numCache>
            </c:numRef>
          </c:val>
          <c:smooth val="0"/>
        </c:ser>
        <c:ser>
          <c:idx val="2"/>
          <c:order val="2"/>
          <c:tx>
            <c:strRef>
              <c:f>Sheet1!$D$1</c:f>
              <c:strCache>
                <c:ptCount val="1"/>
                <c:pt idx="0">
                  <c:v>Sun Care</c:v>
                </c:pt>
              </c:strCache>
            </c:strRef>
          </c:tx>
          <c:spPr>
            <a:solidFill>
              <a:srgbClr val="D6544D"/>
            </a:solidFill>
            <a:ln w="22225" cap="flat">
              <a:solidFill>
                <a:srgbClr val="D6544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6544D"/>
              </a:solidFill>
              <a:ln w="9525" cap="flat">
                <a:solidFill>
                  <a:srgbClr val="D6544D"/>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Sheet1!$D$2:$D$7</c:f>
              <c:numCache>
                <c:formatCode>General</c:formatCode>
                <c:ptCount val="6"/>
                <c:pt idx="0">
                  <c:v>0.386</c:v>
                </c:pt>
                <c:pt idx="1">
                  <c:v>0.6555</c:v>
                </c:pt>
                <c:pt idx="2">
                  <c:v>0.7694</c:v>
                </c:pt>
                <c:pt idx="3">
                  <c:v>0.79</c:v>
                </c:pt>
                <c:pt idx="4">
                  <c:v>0.5647</c:v>
                </c:pt>
                <c:pt idx="5">
                  <c:v>0.3459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F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580">
              <a:solidFill>
                <a:srgbClr val="5F716E"/>
              </a:solidFill>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Face Cleanser</c:v>
                </c:pt>
              </c:strCache>
            </c:strRef>
          </c:tx>
          <c:spPr>
            <a:solidFill>
              <a:srgbClr val="28A596"/>
            </a:solidFill>
            <a:ln w="22225" cap="flat">
              <a:solidFill>
                <a:srgbClr val="28A59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8A596"/>
              </a:solidFill>
              <a:ln w="9525" cap="flat">
                <a:solidFill>
                  <a:srgbClr val="28A596"/>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Sheet1!$B$2:$B$7</c:f>
              <c:numCache>
                <c:formatCode>General</c:formatCode>
                <c:ptCount val="6"/>
                <c:pt idx="0">
                  <c:v>0.4877</c:v>
                </c:pt>
                <c:pt idx="1">
                  <c:v>0.664</c:v>
                </c:pt>
                <c:pt idx="2">
                  <c:v>0.7389</c:v>
                </c:pt>
                <c:pt idx="3">
                  <c:v>1.0867</c:v>
                </c:pt>
                <c:pt idx="4">
                  <c:v>1.1125</c:v>
                </c:pt>
                <c:pt idx="5">
                  <c:v>1.4139</c:v>
                </c:pt>
              </c:numCache>
            </c:numRef>
          </c:val>
          <c:smooth val="0"/>
        </c:ser>
        <c:ser>
          <c:idx val="1"/>
          <c:order val="1"/>
          <c:tx>
            <c:strRef>
              <c:f>Sheet1!$C$1</c:f>
              <c:strCache>
                <c:ptCount val="1"/>
                <c:pt idx="0">
                  <c:v>Sun Care</c:v>
                </c:pt>
              </c:strCache>
            </c:strRef>
          </c:tx>
          <c:spPr>
            <a:solidFill>
              <a:srgbClr val="2E7DA8"/>
            </a:solidFill>
            <a:ln w="22225" cap="flat">
              <a:solidFill>
                <a:srgbClr val="2E7D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7DA8"/>
              </a:solidFill>
              <a:ln w="9525" cap="flat">
                <a:solidFill>
                  <a:srgbClr val="2E7DA8"/>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Sheet1!$C$2:$C$7</c:f>
              <c:numCache>
                <c:formatCode>General</c:formatCode>
                <c:ptCount val="6"/>
                <c:pt idx="0">
                  <c:v>0.2136</c:v>
                </c:pt>
                <c:pt idx="1">
                  <c:v>0.4238</c:v>
                </c:pt>
                <c:pt idx="2">
                  <c:v>0.478</c:v>
                </c:pt>
                <c:pt idx="3">
                  <c:v>0.7077</c:v>
                </c:pt>
                <c:pt idx="4">
                  <c:v>0.511</c:v>
                </c:pt>
                <c:pt idx="5">
                  <c:v>0.3638</c:v>
                </c:pt>
              </c:numCache>
            </c:numRef>
          </c:val>
          <c:smooth val="0"/>
        </c:ser>
        <c:ser>
          <c:idx val="2"/>
          <c:order val="2"/>
          <c:tx>
            <c:strRef>
              <c:f>Sheet1!$D$1</c:f>
              <c:strCache>
                <c:ptCount val="1"/>
                <c:pt idx="0">
                  <c:v>Face Serum</c:v>
                </c:pt>
              </c:strCache>
            </c:strRef>
          </c:tx>
          <c:spPr>
            <a:solidFill>
              <a:srgbClr val="D6544D"/>
            </a:solidFill>
            <a:ln w="22225" cap="flat">
              <a:solidFill>
                <a:srgbClr val="D6544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6544D"/>
              </a:solidFill>
              <a:ln w="9525" cap="flat">
                <a:solidFill>
                  <a:srgbClr val="D6544D"/>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Sheet1!$D$2:$D$7</c:f>
              <c:numCache>
                <c:formatCode>General</c:formatCode>
                <c:ptCount val="6"/>
                <c:pt idx="0">
                  <c:v>0.0733</c:v>
                </c:pt>
                <c:pt idx="1">
                  <c:v>0.1001</c:v>
                </c:pt>
                <c:pt idx="2">
                  <c:v>0.1125</c:v>
                </c:pt>
                <c:pt idx="3">
                  <c:v>0.1097</c:v>
                </c:pt>
                <c:pt idx="4">
                  <c:v>0.0996</c:v>
                </c:pt>
                <c:pt idx="5">
                  <c:v>0.1021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F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580">
              <a:solidFill>
                <a:srgbClr val="5F716E"/>
              </a:solidFill>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Face Cleanser</c:v>
                </c:pt>
              </c:strCache>
            </c:strRef>
          </c:tx>
          <c:spPr>
            <a:solidFill>
              <a:srgbClr val="28A596"/>
            </a:solidFill>
            <a:ln w="22225" cap="flat">
              <a:solidFill>
                <a:srgbClr val="28A59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8A596"/>
              </a:solidFill>
              <a:ln w="9525" cap="flat">
                <a:solidFill>
                  <a:srgbClr val="28A596"/>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Sheet1!$B$2:$B$7</c:f>
              <c:numCache>
                <c:formatCode>General</c:formatCode>
                <c:ptCount val="6"/>
                <c:pt idx="0">
                  <c:v>0.7289</c:v>
                </c:pt>
                <c:pt idx="1">
                  <c:v>0.8852</c:v>
                </c:pt>
                <c:pt idx="2">
                  <c:v>0.8872</c:v>
                </c:pt>
                <c:pt idx="3">
                  <c:v>1.0779</c:v>
                </c:pt>
                <c:pt idx="4">
                  <c:v>1.227</c:v>
                </c:pt>
                <c:pt idx="5">
                  <c:v>1.0426</c:v>
                </c:pt>
              </c:numCache>
            </c:numRef>
          </c:val>
          <c:smooth val="0"/>
        </c:ser>
        <c:ser>
          <c:idx val="1"/>
          <c:order val="1"/>
          <c:tx>
            <c:strRef>
              <c:f>Sheet1!$C$1</c:f>
              <c:strCache>
                <c:ptCount val="1"/>
                <c:pt idx="0">
                  <c:v>Shampoo</c:v>
                </c:pt>
              </c:strCache>
            </c:strRef>
          </c:tx>
          <c:spPr>
            <a:solidFill>
              <a:srgbClr val="2E7DA8"/>
            </a:solidFill>
            <a:ln w="22225" cap="flat">
              <a:solidFill>
                <a:srgbClr val="2E7D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7DA8"/>
              </a:solidFill>
              <a:ln w="9525" cap="flat">
                <a:solidFill>
                  <a:srgbClr val="2E7DA8"/>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Sheet1!$C$2:$C$7</c:f>
              <c:numCache>
                <c:formatCode>General</c:formatCode>
                <c:ptCount val="6"/>
                <c:pt idx="0">
                  <c:v>0.6614</c:v>
                </c:pt>
                <c:pt idx="1">
                  <c:v>0.7824</c:v>
                </c:pt>
                <c:pt idx="2">
                  <c:v>0.8401</c:v>
                </c:pt>
                <c:pt idx="3">
                  <c:v>0.8741</c:v>
                </c:pt>
                <c:pt idx="4">
                  <c:v>0.9952</c:v>
                </c:pt>
                <c:pt idx="5">
                  <c:v>0.9423</c:v>
                </c:pt>
              </c:numCache>
            </c:numRef>
          </c:val>
          <c:smooth val="0"/>
        </c:ser>
        <c:ser>
          <c:idx val="2"/>
          <c:order val="2"/>
          <c:tx>
            <c:strRef>
              <c:f>Sheet1!$D$1</c:f>
              <c:strCache>
                <c:ptCount val="1"/>
                <c:pt idx="0">
                  <c:v>Sun Care</c:v>
                </c:pt>
              </c:strCache>
            </c:strRef>
          </c:tx>
          <c:spPr>
            <a:solidFill>
              <a:srgbClr val="D6544D"/>
            </a:solidFill>
            <a:ln w="22225" cap="flat">
              <a:solidFill>
                <a:srgbClr val="D6544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6544D"/>
              </a:solidFill>
              <a:ln w="9525" cap="flat">
                <a:solidFill>
                  <a:srgbClr val="D6544D"/>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Sheet1!$D$2:$D$7</c:f>
              <c:numCache>
                <c:formatCode>General</c:formatCode>
                <c:ptCount val="6"/>
                <c:pt idx="0">
                  <c:v>0.121</c:v>
                </c:pt>
                <c:pt idx="1">
                  <c:v>0.247</c:v>
                </c:pt>
                <c:pt idx="2">
                  <c:v>0.2813</c:v>
                </c:pt>
                <c:pt idx="3">
                  <c:v>0.2857</c:v>
                </c:pt>
                <c:pt idx="4">
                  <c:v>0.2002</c:v>
                </c:pt>
                <c:pt idx="5">
                  <c:v>0.1361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F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580">
              <a:solidFill>
                <a:srgbClr val="5F716E"/>
              </a:solidFill>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Face Cleanser</c:v>
                </c:pt>
              </c:strCache>
            </c:strRef>
          </c:tx>
          <c:spPr>
            <a:solidFill>
              <a:srgbClr val="28A596"/>
            </a:solidFill>
            <a:ln w="22225" cap="flat">
              <a:solidFill>
                <a:srgbClr val="28A59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8A596"/>
              </a:solidFill>
              <a:ln w="9525" cap="flat">
                <a:solidFill>
                  <a:srgbClr val="28A596"/>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Sheet1!$B$2:$B$7</c:f>
              <c:numCache>
                <c:formatCode>General</c:formatCode>
                <c:ptCount val="6"/>
                <c:pt idx="0">
                  <c:v>0.1124</c:v>
                </c:pt>
                <c:pt idx="1">
                  <c:v>0.1877</c:v>
                </c:pt>
                <c:pt idx="2">
                  <c:v>0.2935</c:v>
                </c:pt>
                <c:pt idx="3">
                  <c:v>0.4778</c:v>
                </c:pt>
                <c:pt idx="4">
                  <c:v>0.503</c:v>
                </c:pt>
                <c:pt idx="5">
                  <c:v>0.5594</c:v>
                </c:pt>
              </c:numCache>
            </c:numRef>
          </c:val>
          <c:smooth val="0"/>
        </c:ser>
        <c:ser>
          <c:idx val="1"/>
          <c:order val="1"/>
          <c:tx>
            <c:strRef>
              <c:f>Sheet1!$C$1</c:f>
              <c:strCache>
                <c:ptCount val="1"/>
                <c:pt idx="0">
                  <c:v>Sun Care</c:v>
                </c:pt>
              </c:strCache>
            </c:strRef>
          </c:tx>
          <c:spPr>
            <a:solidFill>
              <a:srgbClr val="2E7DA8"/>
            </a:solidFill>
            <a:ln w="22225" cap="flat">
              <a:solidFill>
                <a:srgbClr val="2E7D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7DA8"/>
              </a:solidFill>
              <a:ln w="9525" cap="flat">
                <a:solidFill>
                  <a:srgbClr val="2E7DA8"/>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Sheet1!$C$2:$C$7</c:f>
              <c:numCache>
                <c:formatCode>General</c:formatCode>
                <c:ptCount val="6"/>
                <c:pt idx="0">
                  <c:v>0.0861</c:v>
                </c:pt>
                <c:pt idx="1">
                  <c:v>0.1261</c:v>
                </c:pt>
                <c:pt idx="2">
                  <c:v>0.1731</c:v>
                </c:pt>
                <c:pt idx="3">
                  <c:v>0.363</c:v>
                </c:pt>
                <c:pt idx="4">
                  <c:v>0.2045</c:v>
                </c:pt>
                <c:pt idx="5">
                  <c:v>0.1963</c:v>
                </c:pt>
              </c:numCache>
            </c:numRef>
          </c:val>
          <c:smooth val="0"/>
        </c:ser>
        <c:ser>
          <c:idx val="2"/>
          <c:order val="2"/>
          <c:tx>
            <c:strRef>
              <c:f>Sheet1!$D$1</c:f>
              <c:strCache>
                <c:ptCount val="1"/>
                <c:pt idx="0">
                  <c:v>Face Serum</c:v>
                </c:pt>
              </c:strCache>
            </c:strRef>
          </c:tx>
          <c:spPr>
            <a:solidFill>
              <a:srgbClr val="D6544D"/>
            </a:solidFill>
            <a:ln w="22225" cap="flat">
              <a:solidFill>
                <a:srgbClr val="D6544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6544D"/>
              </a:solidFill>
              <a:ln w="9525" cap="flat">
                <a:solidFill>
                  <a:srgbClr val="D6544D"/>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Sheet1!$D$2:$D$7</c:f>
              <c:numCache>
                <c:formatCode>General</c:formatCode>
                <c:ptCount val="6"/>
                <c:pt idx="0">
                  <c:v>0.04</c:v>
                </c:pt>
                <c:pt idx="1">
                  <c:v>0.0385</c:v>
                </c:pt>
                <c:pt idx="2">
                  <c:v>0.0454</c:v>
                </c:pt>
                <c:pt idx="3">
                  <c:v>0.0486</c:v>
                </c:pt>
                <c:pt idx="4">
                  <c:v>0.0433</c:v>
                </c:pt>
                <c:pt idx="5">
                  <c:v>0.0516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F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580">
              <a:solidFill>
                <a:srgbClr val="5F716E"/>
              </a:solidFill>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Offtake</c:v>
                </c:pt>
              </c:strCache>
            </c:strRef>
          </c:tx>
          <c:spPr>
            <a:solidFill>
              <a:srgbClr val="28A596"/>
            </a:solidFill>
            <a:ln w="25400" cap="flat">
              <a:solidFill>
                <a:srgbClr val="28A59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8A596"/>
              </a:solidFill>
              <a:ln w="9525" cap="flat">
                <a:solidFill>
                  <a:srgbClr val="28A596"/>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Sheet1!$B$2:$B$7</c:f>
              <c:numCache>
                <c:formatCode>General</c:formatCode>
                <c:ptCount val="6"/>
                <c:pt idx="0">
                  <c:v>0.8135</c:v>
                </c:pt>
                <c:pt idx="1">
                  <c:v>0.9932</c:v>
                </c:pt>
                <c:pt idx="2">
                  <c:v>1.0007</c:v>
                </c:pt>
                <c:pt idx="3">
                  <c:v>1.148</c:v>
                </c:pt>
                <c:pt idx="4">
                  <c:v>1.049</c:v>
                </c:pt>
                <c:pt idx="5">
                  <c:v>1.3383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F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Active EANs</c:v>
                </c:pt>
              </c:strCache>
            </c:strRef>
          </c:tx>
          <c:spPr>
            <a:solidFill>
              <a:srgbClr val="F2B84B"/>
            </a:solidFill>
            <a:ln w="25400" cap="flat">
              <a:solidFill>
                <a:srgbClr val="F2B84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2B84B"/>
              </a:solidFill>
              <a:ln w="9525" cap="flat">
                <a:solidFill>
                  <a:srgbClr val="F2B84B"/>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Sheet1!$B$2:$B$7</c:f>
              <c:numCache>
                <c:formatCode>General</c:formatCode>
                <c:ptCount val="6"/>
                <c:pt idx="0">
                  <c:v>0.0606</c:v>
                </c:pt>
                <c:pt idx="1">
                  <c:v>0.0795</c:v>
                </c:pt>
                <c:pt idx="2">
                  <c:v>0.1159</c:v>
                </c:pt>
                <c:pt idx="3">
                  <c:v>0.1131</c:v>
                </c:pt>
                <c:pt idx="4">
                  <c:v>0.1543</c:v>
                </c:pt>
                <c:pt idx="5">
                  <c:v>0.473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F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Face Cleanser</c:v>
                </c:pt>
              </c:strCache>
            </c:strRef>
          </c:tx>
          <c:spPr>
            <a:solidFill>
              <a:srgbClr val="28A596"/>
            </a:solidFill>
            <a:ln w="22225" cap="flat">
              <a:solidFill>
                <a:srgbClr val="28A59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8A596"/>
              </a:solidFill>
              <a:ln w="9525" cap="flat">
                <a:solidFill>
                  <a:srgbClr val="28A596"/>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Sheet1!$B$2:$B$7</c:f>
              <c:numCache>
                <c:formatCode>General</c:formatCode>
                <c:ptCount val="6"/>
                <c:pt idx="0">
                  <c:v>0</c:v>
                </c:pt>
                <c:pt idx="1">
                  <c:v>0</c:v>
                </c:pt>
                <c:pt idx="2">
                  <c:v>0</c:v>
                </c:pt>
                <c:pt idx="3">
                  <c:v>0</c:v>
                </c:pt>
                <c:pt idx="4">
                  <c:v>0</c:v>
                </c:pt>
                <c:pt idx="5">
                  <c:v>0.5446</c:v>
                </c:pt>
              </c:numCache>
            </c:numRef>
          </c:val>
          <c:smooth val="0"/>
        </c:ser>
        <c:ser>
          <c:idx val="1"/>
          <c:order val="1"/>
          <c:tx>
            <c:strRef>
              <c:f>Sheet1!$C$1</c:f>
              <c:strCache>
                <c:ptCount val="1"/>
                <c:pt idx="0">
                  <c:v>Shampoo</c:v>
                </c:pt>
              </c:strCache>
            </c:strRef>
          </c:tx>
          <c:spPr>
            <a:solidFill>
              <a:srgbClr val="2E7DA8"/>
            </a:solidFill>
            <a:ln w="22225" cap="flat">
              <a:solidFill>
                <a:srgbClr val="2E7D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7DA8"/>
              </a:solidFill>
              <a:ln w="9525" cap="flat">
                <a:solidFill>
                  <a:srgbClr val="2E7DA8"/>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Sheet1!$C$2:$C$7</c:f>
              <c:numCache>
                <c:formatCode>General</c:formatCode>
                <c:ptCount val="6"/>
                <c:pt idx="0">
                  <c:v>0</c:v>
                </c:pt>
                <c:pt idx="1">
                  <c:v>0</c:v>
                </c:pt>
                <c:pt idx="2">
                  <c:v>0</c:v>
                </c:pt>
                <c:pt idx="3">
                  <c:v>0</c:v>
                </c:pt>
                <c:pt idx="4">
                  <c:v>0</c:v>
                </c:pt>
                <c:pt idx="5">
                  <c:v>0.3981</c:v>
                </c:pt>
              </c:numCache>
            </c:numRef>
          </c:val>
          <c:smooth val="0"/>
        </c:ser>
        <c:ser>
          <c:idx val="2"/>
          <c:order val="2"/>
          <c:tx>
            <c:strRef>
              <c:f>Sheet1!$D$1</c:f>
              <c:strCache>
                <c:ptCount val="1"/>
                <c:pt idx="0">
                  <c:v>Sun Care</c:v>
                </c:pt>
              </c:strCache>
            </c:strRef>
          </c:tx>
          <c:spPr>
            <a:solidFill>
              <a:srgbClr val="D6544D"/>
            </a:solidFill>
            <a:ln w="22225" cap="flat">
              <a:solidFill>
                <a:srgbClr val="D6544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6544D"/>
              </a:solidFill>
              <a:ln w="9525" cap="flat">
                <a:solidFill>
                  <a:srgbClr val="D6544D"/>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Sheet1!$D$2:$D$7</c:f>
              <c:numCache>
                <c:formatCode>General</c:formatCode>
                <c:ptCount val="6"/>
                <c:pt idx="0">
                  <c:v>0</c:v>
                </c:pt>
                <c:pt idx="1">
                  <c:v>0</c:v>
                </c:pt>
                <c:pt idx="2">
                  <c:v>0</c:v>
                </c:pt>
                <c:pt idx="3">
                  <c:v>0</c:v>
                </c:pt>
                <c:pt idx="4">
                  <c:v>0</c:v>
                </c:pt>
                <c:pt idx="5">
                  <c:v>0.0918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F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580">
              <a:solidFill>
                <a:srgbClr val="5F716E"/>
              </a:solidFill>
            </a:defRPr>
          </a:pPr>
          <a:endParaRPr lang="en-US"/>
        </a:p>
      </c:txPr>
    </c:legend>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Face Cleanser</c:v>
                </c:pt>
              </c:strCache>
            </c:strRef>
          </c:tx>
          <c:spPr>
            <a:solidFill>
              <a:srgbClr val="28A596"/>
            </a:solidFill>
            <a:ln w="22225" cap="flat">
              <a:solidFill>
                <a:srgbClr val="28A59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8A596"/>
              </a:solidFill>
              <a:ln w="9525" cap="flat">
                <a:solidFill>
                  <a:srgbClr val="28A596"/>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Sheet1!$B$2:$B$7</c:f>
              <c:numCache>
                <c:formatCode>General</c:formatCode>
                <c:ptCount val="6"/>
                <c:pt idx="0">
                  <c:v>0</c:v>
                </c:pt>
                <c:pt idx="1">
                  <c:v>0</c:v>
                </c:pt>
                <c:pt idx="2">
                  <c:v>0</c:v>
                </c:pt>
                <c:pt idx="3">
                  <c:v>0</c:v>
                </c:pt>
                <c:pt idx="4">
                  <c:v>0</c:v>
                </c:pt>
                <c:pt idx="5">
                  <c:v>0.6611</c:v>
                </c:pt>
              </c:numCache>
            </c:numRef>
          </c:val>
          <c:smooth val="0"/>
        </c:ser>
        <c:ser>
          <c:idx val="1"/>
          <c:order val="1"/>
          <c:tx>
            <c:strRef>
              <c:f>Sheet1!$C$1</c:f>
              <c:strCache>
                <c:ptCount val="1"/>
                <c:pt idx="0">
                  <c:v>Sun Care</c:v>
                </c:pt>
              </c:strCache>
            </c:strRef>
          </c:tx>
          <c:spPr>
            <a:solidFill>
              <a:srgbClr val="2E7DA8"/>
            </a:solidFill>
            <a:ln w="22225" cap="flat">
              <a:solidFill>
                <a:srgbClr val="2E7D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7DA8"/>
              </a:solidFill>
              <a:ln w="9525" cap="flat">
                <a:solidFill>
                  <a:srgbClr val="2E7DA8"/>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Sheet1!$C$2:$C$7</c:f>
              <c:numCache>
                <c:formatCode>General</c:formatCode>
                <c:ptCount val="6"/>
                <c:pt idx="0">
                  <c:v>0</c:v>
                </c:pt>
                <c:pt idx="1">
                  <c:v>0</c:v>
                </c:pt>
                <c:pt idx="2">
                  <c:v>0</c:v>
                </c:pt>
                <c:pt idx="3">
                  <c:v>0</c:v>
                </c:pt>
                <c:pt idx="4">
                  <c:v>0</c:v>
                </c:pt>
                <c:pt idx="5">
                  <c:v>0.1806</c:v>
                </c:pt>
              </c:numCache>
            </c:numRef>
          </c:val>
          <c:smooth val="0"/>
        </c:ser>
        <c:ser>
          <c:idx val="2"/>
          <c:order val="2"/>
          <c:tx>
            <c:strRef>
              <c:f>Sheet1!$D$1</c:f>
              <c:strCache>
                <c:ptCount val="1"/>
                <c:pt idx="0">
                  <c:v>Face Serum</c:v>
                </c:pt>
              </c:strCache>
            </c:strRef>
          </c:tx>
          <c:spPr>
            <a:solidFill>
              <a:srgbClr val="D6544D"/>
            </a:solidFill>
            <a:ln w="22225" cap="flat">
              <a:solidFill>
                <a:srgbClr val="D6544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6544D"/>
              </a:solidFill>
              <a:ln w="9525" cap="flat">
                <a:solidFill>
                  <a:srgbClr val="D6544D"/>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Sheet1!$D$2:$D$7</c:f>
              <c:numCache>
                <c:formatCode>General</c:formatCode>
                <c:ptCount val="6"/>
                <c:pt idx="0">
                  <c:v>0</c:v>
                </c:pt>
                <c:pt idx="1">
                  <c:v>0</c:v>
                </c:pt>
                <c:pt idx="2">
                  <c:v>0</c:v>
                </c:pt>
                <c:pt idx="3">
                  <c:v>0</c:v>
                </c:pt>
                <c:pt idx="4">
                  <c:v>0</c:v>
                </c:pt>
                <c:pt idx="5">
                  <c:v>0.0184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F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580">
              <a:solidFill>
                <a:srgbClr val="5F716E"/>
              </a:solidFill>
            </a:defRPr>
          </a:pPr>
          <a:endParaRPr lang="en-US"/>
        </a:p>
      </c:txPr>
    </c:legend>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Offtake</c:v>
                </c:pt>
              </c:strCache>
            </c:strRef>
          </c:tx>
          <c:spPr>
            <a:solidFill>
              <a:srgbClr val="28A596"/>
            </a:solidFill>
            <a:ln w="22225" cap="flat">
              <a:solidFill>
                <a:srgbClr val="28A59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8A596"/>
              </a:solidFill>
              <a:ln w="9525" cap="flat">
                <a:solidFill>
                  <a:srgbClr val="28A596"/>
                </a:solidFill>
                <a:prstDash val="solid"/>
                <a:round/>
              </a:ln>
              <a:effectLst/>
            </c:spPr>
          </c:marker>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Sheet1!$B$2:$B$8</c:f>
              <c:numCache>
                <c:formatCode>General</c:formatCode>
                <c:ptCount val="7"/>
                <c:pt idx="0">
                  <c:v>1.6358</c:v>
                </c:pt>
                <c:pt idx="1">
                  <c:v>1.6812</c:v>
                </c:pt>
                <c:pt idx="2">
                  <c:v>1.7321</c:v>
                </c:pt>
                <c:pt idx="3">
                  <c:v>2.2883</c:v>
                </c:pt>
                <c:pt idx="4">
                  <c:v>2.0787</c:v>
                </c:pt>
                <c:pt idx="5">
                  <c:v>2.1667</c:v>
                </c:pt>
                <c:pt idx="6">
                  <c:v>2.0664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F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580">
              <a:solidFill>
                <a:srgbClr val="5F716E"/>
              </a:solidFill>
            </a:defRPr>
          </a:pPr>
          <a:endParaRPr lang="en-US"/>
        </a:p>
      </c:txPr>
    </c:legend>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Active EANs</c:v>
                </c:pt>
              </c:strCache>
            </c:strRef>
          </c:tx>
          <c:spPr>
            <a:solidFill>
              <a:srgbClr val="28A596"/>
            </a:solidFill>
            <a:ln w="22225" cap="flat">
              <a:solidFill>
                <a:srgbClr val="28A59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8A596"/>
              </a:solidFill>
              <a:ln w="9525" cap="flat">
                <a:solidFill>
                  <a:srgbClr val="28A596"/>
                </a:solidFill>
                <a:prstDash val="solid"/>
                <a:round/>
              </a:ln>
              <a:effectLst/>
            </c:spPr>
          </c:marker>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Sheet1!$B$2:$B$8</c:f>
              <c:numCache>
                <c:formatCode>General</c:formatCode>
                <c:ptCount val="7"/>
                <c:pt idx="0">
                  <c:v>222</c:v>
                </c:pt>
                <c:pt idx="1">
                  <c:v>217</c:v>
                </c:pt>
                <c:pt idx="2">
                  <c:v>203</c:v>
                </c:pt>
                <c:pt idx="3">
                  <c:v>196</c:v>
                </c:pt>
                <c:pt idx="4">
                  <c:v>190</c:v>
                </c:pt>
                <c:pt idx="5">
                  <c:v>200</c:v>
                </c:pt>
                <c:pt idx="6">
                  <c:v>198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F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580">
              <a:solidFill>
                <a:srgbClr val="5F716E"/>
              </a:solidFill>
            </a:defRPr>
          </a:pPr>
          <a:endParaRPr lang="en-US"/>
        </a:p>
      </c:txPr>
    </c:legend>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SIS primary</c:v>
                </c:pt>
              </c:strCache>
            </c:strRef>
          </c:tx>
          <c:spPr>
            <a:solidFill>
              <a:srgbClr val="2E7DA8"/>
            </a:solidFill>
            <a:effectLst/>
          </c:spPr>
          <c:invertIfNegative val="0"/>
          <c:dLbls>
            <c:numFmt formatCode="0.0" sourceLinked="0"/>
            <c:txPr>
              <a:bodyPr/>
              <a:lstStyle/>
              <a:p>
                <a:pPr>
                  <a:defRPr b="0" i="0" strike="noStrike" sz="640" u="none">
                    <a:solidFill>
                      <a:srgbClr val="183B39"/>
                    </a:solidFill>
                    <a:latin typeface="Arial"/>
                  </a:defRPr>
                </a:pPr>
              </a:p>
            </c:txPr>
            <c:showLegendKey val="0"/>
            <c:showVal val="1"/>
            <c:showCatName val="0"/>
            <c:showSerName val="0"/>
            <c:showPercent val="0"/>
            <c:showBubbleSize val="0"/>
            <c:showLeaderLines val="0"/>
          </c:dLbls>
          <c:dPt>
            <c:idx val="0"/>
            <c:invertIfNegative val="0"/>
            <c:bubble3D val="0"/>
            <c:spPr>
              <a:solidFill>
                <a:srgbClr val="2E7DA8"/>
              </a:solidFill>
              <a:effectLst/>
            </c:spPr>
          </c:dPt>
          <c:dPt>
            <c:idx val="1"/>
            <c:invertIfNegative val="0"/>
            <c:bubble3D val="0"/>
            <c:spPr>
              <a:solidFill>
                <a:srgbClr val="2E7DA8"/>
              </a:solidFill>
              <a:effectLst/>
            </c:spPr>
          </c:dPt>
          <c:dPt>
            <c:idx val="2"/>
            <c:invertIfNegative val="0"/>
            <c:bubble3D val="0"/>
            <c:spPr>
              <a:solidFill>
                <a:srgbClr val="2E7DA8"/>
              </a:solidFill>
              <a:effectLst/>
            </c:spPr>
          </c:dPt>
          <c:dPt>
            <c:idx val="3"/>
            <c:invertIfNegative val="0"/>
            <c:bubble3D val="0"/>
            <c:spPr>
              <a:solidFill>
                <a:srgbClr val="D6544D"/>
              </a:solidFill>
              <a:effectLst/>
            </c:spPr>
          </c:dPt>
          <c:cat>
            <c:multiLvlStrRef>
              <c:f>Sheet1!$A$2:$A$5</c:f>
              <c:multiLvlStrCache>
                <c:ptCount val="4"/>
                <c:lvl>
                  <c:pt idx="0">
                    <c:v>April</c:v>
                  </c:pt>
                  <c:pt idx="1">
                    <c:v>May</c:v>
                  </c:pt>
                  <c:pt idx="2">
                    <c:v>June</c:v>
                  </c:pt>
                  <c:pt idx="3">
                    <c:v>July</c:v>
                  </c:pt>
                </c:lvl>
              </c:multiLvlStrCache>
            </c:multiLvlStrRef>
          </c:cat>
          <c:val>
            <c:numRef>
              <c:f>Sheet1!$B$2:$B$5</c:f>
              <c:numCache>
                <c:formatCode>General</c:formatCode>
                <c:ptCount val="4"/>
                <c:pt idx="0">
                  <c:v>6.43</c:v>
                </c:pt>
                <c:pt idx="1">
                  <c:v>1.42</c:v>
                </c:pt>
                <c:pt idx="2">
                  <c:v>19.3</c:v>
                </c:pt>
                <c:pt idx="3">
                  <c:v>-0.64</c:v>
                </c:pt>
              </c:numCache>
            </c:numRef>
          </c:val>
        </c:ser>
        <c:dLbls>
          <c:numFmt formatCode="0.0" sourceLinked="0"/>
          <c:txPr>
            <a:bodyPr/>
            <a:lstStyle/>
            <a:p>
              <a:pPr>
                <a:defRPr b="0" i="0" strike="noStrike" sz="640" u="none">
                  <a:solidFill>
                    <a:srgbClr val="183B39"/>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F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SIS primary</c:v>
                </c:pt>
              </c:strCache>
            </c:strRef>
          </c:tx>
          <c:spPr>
            <a:solidFill>
              <a:srgbClr val="D6544D"/>
            </a:solidFill>
            <a:effectLst/>
          </c:spPr>
          <c:invertIfNegative val="0"/>
          <c:dLbls>
            <c:numFmt formatCode="0.0" sourceLinked="0"/>
            <c:txPr>
              <a:bodyPr/>
              <a:lstStyle/>
              <a:p>
                <a:pPr>
                  <a:defRPr b="0" i="0" strike="noStrike" sz="640" u="none">
                    <a:solidFill>
                      <a:srgbClr val="183B39"/>
                    </a:solidFill>
                    <a:latin typeface="Arial"/>
                  </a:defRPr>
                </a:pPr>
              </a:p>
            </c:txPr>
            <c:showLegendKey val="0"/>
            <c:showVal val="1"/>
            <c:showCatName val="0"/>
            <c:showSerName val="0"/>
            <c:showPercent val="0"/>
            <c:showBubbleSize val="0"/>
            <c:showLeaderLines val="0"/>
          </c:dLbls>
          <c:dPt>
            <c:idx val="0"/>
            <c:invertIfNegative val="0"/>
            <c:bubble3D val="0"/>
            <c:spPr>
              <a:solidFill>
                <a:srgbClr val="D6544D"/>
              </a:solidFill>
              <a:effectLst/>
            </c:spPr>
          </c:dPt>
          <c:dPt>
            <c:idx val="1"/>
            <c:invertIfNegative val="0"/>
            <c:bubble3D val="0"/>
            <c:spPr>
              <a:solidFill>
                <a:srgbClr val="28A596"/>
              </a:solidFill>
              <a:effectLst/>
            </c:spPr>
          </c:dPt>
          <c:dPt>
            <c:idx val="2"/>
            <c:invertIfNegative val="0"/>
            <c:bubble3D val="0"/>
            <c:spPr>
              <a:solidFill>
                <a:srgbClr val="28A596"/>
              </a:solidFill>
              <a:effectLst/>
            </c:spPr>
          </c:dPt>
          <c:dPt>
            <c:idx val="3"/>
            <c:invertIfNegative val="0"/>
            <c:bubble3D val="0"/>
            <c:spPr>
              <a:solidFill>
                <a:srgbClr val="F2B84B"/>
              </a:solidFill>
              <a:effectLst/>
            </c:spPr>
          </c:dPt>
          <c:dPt>
            <c:idx val="4"/>
            <c:invertIfNegative val="0"/>
            <c:bubble3D val="0"/>
            <c:spPr>
              <a:solidFill>
                <a:srgbClr val="28A596"/>
              </a:solidFill>
              <a:effectLst/>
            </c:spPr>
          </c:dPt>
          <c:cat>
            <c:multiLvlStrRef>
              <c:f>Sheet1!$A$2:$A$6</c:f>
              <c:multiLvlStrCache>
                <c:ptCount val="5"/>
                <c:lvl>
                  <c:pt idx="0">
                    <c:v>BBlunt</c:v>
                  </c:pt>
                  <c:pt idx="1">
                    <c:v>Aqualogica</c:v>
                  </c:pt>
                  <c:pt idx="2">
                    <c:v>Mamaearth</c:v>
                  </c:pt>
                  <c:pt idx="3">
                    <c:v>Lumineve</c:v>
                  </c:pt>
                  <c:pt idx="4">
                    <c:v>The Derma Co</c:v>
                  </c:pt>
                </c:lvl>
              </c:multiLvlStrCache>
            </c:multiLvlStrRef>
          </c:cat>
          <c:val>
            <c:numRef>
              <c:f>Sheet1!$B$2:$B$6</c:f>
              <c:numCache>
                <c:formatCode>General</c:formatCode>
                <c:ptCount val="5"/>
                <c:pt idx="0">
                  <c:v>-0.4</c:v>
                </c:pt>
                <c:pt idx="1">
                  <c:v>3.79</c:v>
                </c:pt>
                <c:pt idx="2">
                  <c:v>3.87</c:v>
                </c:pt>
                <c:pt idx="3">
                  <c:v>7.69</c:v>
                </c:pt>
                <c:pt idx="4">
                  <c:v>11.57</c:v>
                </c:pt>
              </c:numCache>
            </c:numRef>
          </c:val>
        </c:ser>
        <c:dLbls>
          <c:numFmt formatCode="0.0" sourceLinked="0"/>
          <c:txPr>
            <a:bodyPr/>
            <a:lstStyle/>
            <a:p>
              <a:pPr>
                <a:defRPr b="0" i="0" strike="noStrike" sz="640" u="none">
                  <a:solidFill>
                    <a:srgbClr val="183B39"/>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2"/>
        <c:crosses val="autoZero"/>
        <c:auto val="1"/>
        <c:lblAlgn val="ctr"/>
        <c:noMultiLvlLbl val="1"/>
      </c:catAx>
      <c:valAx>
        <c:axId val="2094734552"/>
        <c:scaling>
          <c:orientation val="minMax"/>
          <c:max val="14"/>
          <c:min val="-4"/>
        </c:scaling>
        <c:delete val="0"/>
        <c:axPos val="b"/>
        <c:majorGridlines>
          <c:spPr>
            <a:ln w="6350" cap="flat">
              <a:solidFill>
                <a:srgbClr val="E8F0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Offtake</c:v>
                </c:pt>
              </c:strCache>
            </c:strRef>
          </c:tx>
          <c:spPr>
            <a:solidFill>
              <a:srgbClr val="28A596"/>
            </a:solidFill>
            <a:ln w="28575" cap="flat">
              <a:solidFill>
                <a:srgbClr val="28A596"/>
              </a:solidFill>
              <a:prstDash val="solid"/>
              <a:round/>
            </a:ln>
            <a:effectLst/>
          </c:spPr>
          <c:invertIfNegative val="0"/>
          <c:dLbls>
            <c:numFmt formatCode="0.00" sourceLinked="0"/>
            <c:txPr>
              <a:bodyPr/>
              <a:lstStyle/>
              <a:p>
                <a:pPr>
                  <a:defRPr b="0" i="0" strike="noStrike" sz="600" u="none">
                    <a:solidFill>
                      <a:srgbClr val="5F716E"/>
                    </a:solidFill>
                    <a:latin typeface="Arial"/>
                  </a:defRPr>
                </a:pPr>
              </a:p>
            </c:txPr>
            <c:dLblPos val="t"/>
            <c:showLegendKey val="0"/>
            <c:showVal val="1"/>
            <c:showCatName val="0"/>
            <c:showSerName val="0"/>
            <c:showPercent val="0"/>
            <c:showBubbleSize val="0"/>
            <c:showLeaderLines val="0"/>
          </c:dLbls>
          <c:marker>
            <c:symbol val="circle"/>
            <c:size val="6"/>
            <c:spPr>
              <a:solidFill>
                <a:srgbClr val="28A596"/>
              </a:solidFill>
              <a:ln w="9525" cap="flat">
                <a:solidFill>
                  <a:srgbClr val="28A596"/>
                </a:solidFill>
                <a:prstDash val="solid"/>
                <a:round/>
              </a:ln>
              <a:effectLst/>
            </c:spPr>
          </c:marker>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Sheet1!$B$2:$B$8</c:f>
              <c:numCache>
                <c:formatCode>General</c:formatCode>
                <c:ptCount val="7"/>
                <c:pt idx="0">
                  <c:v>1.6358</c:v>
                </c:pt>
                <c:pt idx="1">
                  <c:v>1.6812</c:v>
                </c:pt>
                <c:pt idx="2">
                  <c:v>1.7321</c:v>
                </c:pt>
                <c:pt idx="3">
                  <c:v>2.2883</c:v>
                </c:pt>
                <c:pt idx="4">
                  <c:v>2.0787</c:v>
                </c:pt>
                <c:pt idx="5">
                  <c:v>2.1667</c:v>
                </c:pt>
                <c:pt idx="6">
                  <c:v>2.0664</c:v>
                </c:pt>
              </c:numCache>
            </c:numRef>
          </c:val>
          <c:smooth val="0"/>
        </c:ser>
        <c:dLbls>
          <c:numFmt formatCode="0.00" sourceLinked="0"/>
          <c:txPr>
            <a:bodyPr/>
            <a:lstStyle/>
            <a:p>
              <a:pPr>
                <a:defRPr b="0" i="0" strike="noStrike" sz="600" u="none">
                  <a:solidFill>
                    <a:srgbClr val="5F716E"/>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F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Active EANs</c:v>
                </c:pt>
              </c:strCache>
            </c:strRef>
          </c:tx>
          <c:spPr>
            <a:solidFill>
              <a:srgbClr val="F2B84B"/>
            </a:solidFill>
            <a:ln w="28575" cap="flat">
              <a:solidFill>
                <a:srgbClr val="F2B84B"/>
              </a:solidFill>
              <a:prstDash val="solid"/>
              <a:round/>
            </a:ln>
            <a:effectLst/>
          </c:spPr>
          <c:invertIfNegative val="0"/>
          <c:dLbls>
            <c:numFmt formatCode="#,##0" sourceLinked="0"/>
            <c:txPr>
              <a:bodyPr/>
              <a:lstStyle/>
              <a:p>
                <a:pPr>
                  <a:defRPr b="0" i="0" strike="noStrike" sz="600" u="none">
                    <a:solidFill>
                      <a:srgbClr val="5F716E"/>
                    </a:solidFill>
                    <a:latin typeface="Arial"/>
                  </a:defRPr>
                </a:pPr>
              </a:p>
            </c:txPr>
            <c:dLblPos val="t"/>
            <c:showLegendKey val="0"/>
            <c:showVal val="1"/>
            <c:showCatName val="0"/>
            <c:showSerName val="0"/>
            <c:showPercent val="0"/>
            <c:showBubbleSize val="0"/>
            <c:showLeaderLines val="0"/>
          </c:dLbls>
          <c:marker>
            <c:symbol val="circle"/>
            <c:size val="6"/>
            <c:spPr>
              <a:solidFill>
                <a:srgbClr val="F2B84B"/>
              </a:solidFill>
              <a:ln w="9525" cap="flat">
                <a:solidFill>
                  <a:srgbClr val="F2B84B"/>
                </a:solidFill>
                <a:prstDash val="solid"/>
                <a:round/>
              </a:ln>
              <a:effectLst/>
            </c:spPr>
          </c:marker>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Sheet1!$B$2:$B$8</c:f>
              <c:numCache>
                <c:formatCode>General</c:formatCode>
                <c:ptCount val="7"/>
                <c:pt idx="0">
                  <c:v>222</c:v>
                </c:pt>
                <c:pt idx="1">
                  <c:v>217</c:v>
                </c:pt>
                <c:pt idx="2">
                  <c:v>203</c:v>
                </c:pt>
                <c:pt idx="3">
                  <c:v>196</c:v>
                </c:pt>
                <c:pt idx="4">
                  <c:v>190</c:v>
                </c:pt>
                <c:pt idx="5">
                  <c:v>200</c:v>
                </c:pt>
                <c:pt idx="6">
                  <c:v>198</c:v>
                </c:pt>
              </c:numCache>
            </c:numRef>
          </c:val>
          <c:smooth val="0"/>
        </c:ser>
        <c:dLbls>
          <c:numFmt formatCode="#,##0" sourceLinked="0"/>
          <c:txPr>
            <a:bodyPr/>
            <a:lstStyle/>
            <a:p>
              <a:pPr>
                <a:defRPr b="0" i="0" strike="noStrike" sz="600" u="none">
                  <a:solidFill>
                    <a:srgbClr val="5F716E"/>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F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NPI mix %</c:v>
                </c:pt>
              </c:strCache>
            </c:strRef>
          </c:tx>
          <c:spPr>
            <a:solidFill>
              <a:srgbClr val="F2B84B"/>
            </a:solidFill>
            <a:effectLst/>
          </c:spPr>
          <c:invertIfNegative val="0"/>
          <c:dLbls>
            <c:numFmt formatCode="0.0" sourceLinked="0"/>
            <c:txPr>
              <a:bodyPr/>
              <a:lstStyle/>
              <a:p>
                <a:pPr>
                  <a:defRPr b="0" i="0" strike="noStrike" sz="620" u="none">
                    <a:solidFill>
                      <a:srgbClr val="183B39"/>
                    </a:solidFill>
                    <a:latin typeface="Arial"/>
                  </a:defRPr>
                </a:pPr>
              </a:p>
            </c:txPr>
            <c:showLegendKey val="0"/>
            <c:showVal val="1"/>
            <c:showCatName val="0"/>
            <c:showSerName val="0"/>
            <c:showPercent val="0"/>
            <c:showBubbleSize val="0"/>
            <c:showLeaderLines val="0"/>
          </c:dLbls>
          <c:dPt>
            <c:idx val="0"/>
            <c:invertIfNegative val="0"/>
            <c:bubble3D val="0"/>
            <c:spPr>
              <a:solidFill>
                <a:srgbClr val="F2B84B"/>
              </a:solidFill>
              <a:effectLst/>
            </c:spPr>
          </c:dPt>
          <c:dPt>
            <c:idx val="1"/>
            <c:invertIfNegative val="0"/>
            <c:bubble3D val="0"/>
            <c:spPr>
              <a:solidFill>
                <a:srgbClr val="2B9A66"/>
              </a:solidFill>
              <a:effectLst/>
            </c:spPr>
          </c:dPt>
          <c:dPt>
            <c:idx val="2"/>
            <c:invertIfNegative val="0"/>
            <c:bubble3D val="0"/>
            <c:spPr>
              <a:solidFill>
                <a:srgbClr val="2B9A66"/>
              </a:solidFill>
              <a:effectLst/>
            </c:spPr>
          </c:dPt>
          <c:dPt>
            <c:idx val="3"/>
            <c:invertIfNegative val="0"/>
            <c:bubble3D val="0"/>
            <c:spPr>
              <a:solidFill>
                <a:srgbClr val="2B9A66"/>
              </a:solidFill>
              <a:effectLst/>
            </c:spPr>
          </c:dPt>
          <c:dPt>
            <c:idx val="4"/>
            <c:invertIfNegative val="0"/>
            <c:bubble3D val="0"/>
            <c:spPr>
              <a:solidFill>
                <a:srgbClr val="D6544D"/>
              </a:solidFill>
              <a:effectLst/>
            </c:spPr>
          </c:dPt>
          <c:dPt>
            <c:idx val="5"/>
            <c:invertIfNegative val="0"/>
            <c:bubble3D val="0"/>
            <c:spPr>
              <a:solidFill>
                <a:srgbClr val="D6544D"/>
              </a:solidFill>
              <a:effectLst/>
            </c:spPr>
          </c:dPt>
          <c:cat>
            <c:multiLvlStrRef>
              <c:f>Sheet1!$A$2:$A$7</c:f>
              <c:multiLvlStrCache>
                <c:ptCount val="6"/>
                <c:lvl>
                  <c:pt idx="0">
                    <c:v>South-2</c:v>
                  </c:pt>
                  <c:pt idx="1">
                    <c:v>West</c:v>
                  </c:pt>
                  <c:pt idx="2">
                    <c:v>South-1</c:v>
                  </c:pt>
                  <c:pt idx="3">
                    <c:v>Central</c:v>
                  </c:pt>
                  <c:pt idx="4">
                    <c:v>North</c:v>
                  </c:pt>
                  <c:pt idx="5">
                    <c:v>East</c:v>
                  </c:pt>
                </c:lvl>
              </c:multiLvlStrCache>
            </c:multiLvlStrRef>
          </c:cat>
          <c:val>
            <c:numRef>
              <c:f>Sheet1!$B$2:$B$7</c:f>
              <c:numCache>
                <c:formatCode>General</c:formatCode>
                <c:ptCount val="6"/>
                <c:pt idx="0">
                  <c:v>6.37</c:v>
                </c:pt>
                <c:pt idx="1">
                  <c:v>6.58</c:v>
                </c:pt>
                <c:pt idx="2">
                  <c:v>7.88</c:v>
                </c:pt>
                <c:pt idx="3">
                  <c:v>8.54</c:v>
                </c:pt>
                <c:pt idx="4">
                  <c:v>9.24</c:v>
                </c:pt>
                <c:pt idx="5">
                  <c:v>10.23</c:v>
                </c:pt>
              </c:numCache>
            </c:numRef>
          </c:val>
        </c:ser>
        <c:dLbls>
          <c:numFmt formatCode="0.0" sourceLinked="0"/>
          <c:txPr>
            <a:bodyPr/>
            <a:lstStyle/>
            <a:p>
              <a:pPr>
                <a:defRPr b="0" i="0" strike="noStrike" sz="620" u="none">
                  <a:solidFill>
                    <a:srgbClr val="183B39"/>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2"/>
        <c:crosses val="autoZero"/>
        <c:auto val="1"/>
        <c:lblAlgn val="ctr"/>
        <c:noMultiLvlLbl val="1"/>
      </c:catAx>
      <c:valAx>
        <c:axId val="2094734552"/>
        <c:scaling>
          <c:orientation val="minMax"/>
          <c:max val="12"/>
        </c:scaling>
        <c:delete val="0"/>
        <c:axPos val="b"/>
        <c:majorGridlines>
          <c:spPr>
            <a:ln w="6350" cap="flat">
              <a:solidFill>
                <a:srgbClr val="E8F0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NPI offtake</c:v>
                </c:pt>
              </c:strCache>
            </c:strRef>
          </c:tx>
          <c:spPr>
            <a:solidFill>
              <a:srgbClr val="5F716E"/>
            </a:solidFill>
            <a:effectLst/>
          </c:spPr>
          <c:invertIfNegative val="0"/>
          <c:dLbls>
            <c:numFmt formatCode="0.00" sourceLinked="0"/>
            <c:txPr>
              <a:bodyPr/>
              <a:lstStyle/>
              <a:p>
                <a:pPr>
                  <a:defRPr b="0" i="0" strike="noStrike" sz="620" u="none">
                    <a:solidFill>
                      <a:srgbClr val="183B39"/>
                    </a:solidFill>
                    <a:latin typeface="Arial"/>
                  </a:defRPr>
                </a:pPr>
              </a:p>
            </c:txPr>
            <c:showLegendKey val="0"/>
            <c:showVal val="1"/>
            <c:showCatName val="0"/>
            <c:showSerName val="0"/>
            <c:showPercent val="0"/>
            <c:showBubbleSize val="0"/>
            <c:showLeaderLines val="0"/>
          </c:dLbls>
          <c:dPt>
            <c:idx val="0"/>
            <c:invertIfNegative val="0"/>
            <c:bubble3D val="0"/>
            <c:spPr>
              <a:solidFill>
                <a:srgbClr val="5F716E"/>
              </a:solidFill>
              <a:effectLst/>
            </c:spPr>
          </c:dPt>
          <c:dPt>
            <c:idx val="1"/>
            <c:invertIfNegative val="0"/>
            <c:bubble3D val="0"/>
            <c:spPr>
              <a:solidFill>
                <a:srgbClr val="5F716E"/>
              </a:solidFill>
              <a:effectLst/>
            </c:spPr>
          </c:dPt>
          <c:dPt>
            <c:idx val="2"/>
            <c:invertIfNegative val="0"/>
            <c:bubble3D val="0"/>
            <c:spPr>
              <a:solidFill>
                <a:srgbClr val="5F716E"/>
              </a:solidFill>
              <a:effectLst/>
            </c:spPr>
          </c:dPt>
          <c:dPt>
            <c:idx val="3"/>
            <c:invertIfNegative val="0"/>
            <c:bubble3D val="0"/>
            <c:spPr>
              <a:solidFill>
                <a:srgbClr val="5F716E"/>
              </a:solidFill>
              <a:effectLst/>
            </c:spPr>
          </c:dPt>
          <c:dPt>
            <c:idx val="4"/>
            <c:invertIfNegative val="0"/>
            <c:bubble3D val="0"/>
            <c:spPr>
              <a:solidFill>
                <a:srgbClr val="5F716E"/>
              </a:solidFill>
              <a:effectLst/>
            </c:spPr>
          </c:dPt>
          <c:dPt>
            <c:idx val="5"/>
            <c:invertIfNegative val="0"/>
            <c:bubble3D val="0"/>
            <c:spPr>
              <a:solidFill>
                <a:srgbClr val="5F716E"/>
              </a:solidFill>
              <a:effectLst/>
            </c:spPr>
          </c:dPt>
          <c:dPt>
            <c:idx val="6"/>
            <c:invertIfNegative val="0"/>
            <c:bubble3D val="0"/>
            <c:spPr>
              <a:solidFill>
                <a:srgbClr val="F2B84B"/>
              </a:solidFill>
              <a:effectLst/>
            </c:spPr>
          </c:dPt>
          <c:dPt>
            <c:idx val="7"/>
            <c:invertIfNegative val="0"/>
            <c:bubble3D val="0"/>
            <c:spPr>
              <a:solidFill>
                <a:srgbClr val="D6544D"/>
              </a:solidFill>
              <a:effectLst/>
            </c:spPr>
          </c:dPt>
          <c:cat>
            <c:multiLvlStrRef>
              <c:f>Sheet1!$A$2:$A$9</c:f>
              <c:multiLvlStrCache>
                <c:ptCount val="8"/>
                <c:lvl>
                  <c:pt idx="0">
                    <c:v>Sancus</c:v>
                  </c:pt>
                  <c:pt idx="1">
                    <c:v>Wellness</c:v>
                  </c:pt>
                  <c:pt idx="2">
                    <c:v>Metro</c:v>
                  </c:pt>
                  <c:pt idx="3">
                    <c:v>Health &amp; Glow</c:v>
                  </c:pt>
                  <c:pt idx="4">
                    <c:v>FSN / Nykaa</c:v>
                  </c:pt>
                  <c:pt idx="5">
                    <c:v>Lulu</c:v>
                  </c:pt>
                  <c:pt idx="6">
                    <c:v>DMart</c:v>
                  </c:pt>
                  <c:pt idx="7">
                    <c:v>Reliance</c:v>
                  </c:pt>
                </c:lvl>
              </c:multiLvlStrCache>
            </c:multiLvlStrRef>
          </c:cat>
          <c:val>
            <c:numRef>
              <c:f>Sheet1!$B$2:$B$9</c:f>
              <c:numCache>
                <c:formatCode>General</c:formatCode>
                <c:ptCount val="8"/>
                <c:pt idx="0">
                  <c:v>0.03</c:v>
                </c:pt>
                <c:pt idx="1">
                  <c:v>0.04</c:v>
                </c:pt>
                <c:pt idx="2">
                  <c:v>0.05</c:v>
                </c:pt>
                <c:pt idx="3">
                  <c:v>0.06</c:v>
                </c:pt>
                <c:pt idx="4">
                  <c:v>0.13</c:v>
                </c:pt>
                <c:pt idx="5">
                  <c:v>0.18</c:v>
                </c:pt>
                <c:pt idx="6">
                  <c:v>0.98</c:v>
                </c:pt>
                <c:pt idx="7">
                  <c:v>1.3</c:v>
                </c:pt>
              </c:numCache>
            </c:numRef>
          </c:val>
        </c:ser>
        <c:dLbls>
          <c:numFmt formatCode="0.00" sourceLinked="0"/>
          <c:txPr>
            <a:bodyPr/>
            <a:lstStyle/>
            <a:p>
              <a:pPr>
                <a:defRPr b="0" i="0" strike="noStrike" sz="620" u="none">
                  <a:solidFill>
                    <a:srgbClr val="183B39"/>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2"/>
        <c:crosses val="autoZero"/>
        <c:auto val="1"/>
        <c:lblAlgn val="ctr"/>
        <c:noMultiLvlLbl val="1"/>
      </c:catAx>
      <c:valAx>
        <c:axId val="2094734552"/>
        <c:scaling>
          <c:orientation val="minMax"/>
          <c:max val="1.6"/>
        </c:scaling>
        <c:delete val="0"/>
        <c:axPos val="b"/>
        <c:majorGridlines>
          <c:spPr>
            <a:ln w="6350" cap="flat">
              <a:solidFill>
                <a:srgbClr val="E8F0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Primary</c:v>
                </c:pt>
              </c:strCache>
            </c:strRef>
          </c:tx>
          <c:spPr>
            <a:solidFill>
              <a:srgbClr val="2E7DA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DMart</c:v>
                  </c:pt>
                  <c:pt idx="1">
                    <c:v>Reliance</c:v>
                  </c:pt>
                  <c:pt idx="2">
                    <c:v>Apollo</c:v>
                  </c:pt>
                  <c:pt idx="3">
                    <c:v>FSN / Nykaa</c:v>
                  </c:pt>
                  <c:pt idx="4">
                    <c:v>Lulu</c:v>
                  </c:pt>
                  <c:pt idx="5">
                    <c:v>Wellness Forever</c:v>
                  </c:pt>
                  <c:pt idx="6">
                    <c:v>Health &amp; Glow</c:v>
                  </c:pt>
                  <c:pt idx="7">
                    <c:v>Metro</c:v>
                  </c:pt>
                </c:lvl>
              </c:multiLvlStrCache>
            </c:multiLvlStrRef>
          </c:cat>
          <c:val>
            <c:numRef>
              <c:f>Sheet1!$B$2:$B$9</c:f>
              <c:numCache>
                <c:formatCode>General</c:formatCode>
                <c:ptCount val="8"/>
                <c:pt idx="0">
                  <c:v>18.2536</c:v>
                </c:pt>
                <c:pt idx="1">
                  <c:v>15.6615</c:v>
                </c:pt>
                <c:pt idx="2">
                  <c:v>7.2003</c:v>
                </c:pt>
                <c:pt idx="3">
                  <c:v>2.079</c:v>
                </c:pt>
                <c:pt idx="4">
                  <c:v>0</c:v>
                </c:pt>
                <c:pt idx="5">
                  <c:v>0.4855</c:v>
                </c:pt>
                <c:pt idx="6">
                  <c:v>0.2203</c:v>
                </c:pt>
                <c:pt idx="7">
                  <c:v>1.8449</c:v>
                </c:pt>
              </c:numCache>
            </c:numRef>
          </c:val>
        </c:ser>
        <c:ser>
          <c:idx val="1"/>
          <c:order val="1"/>
          <c:tx>
            <c:strRef>
              <c:f>Sheet1!$C$1</c:f>
              <c:strCache>
                <c:ptCount val="1"/>
                <c:pt idx="0">
                  <c:v>Offtake</c:v>
                </c:pt>
              </c:strCache>
            </c:strRef>
          </c:tx>
          <c:spPr>
            <a:solidFill>
              <a:srgbClr val="28A59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DMart</c:v>
                  </c:pt>
                  <c:pt idx="1">
                    <c:v>Reliance</c:v>
                  </c:pt>
                  <c:pt idx="2">
                    <c:v>Apollo</c:v>
                  </c:pt>
                  <c:pt idx="3">
                    <c:v>FSN / Nykaa</c:v>
                  </c:pt>
                  <c:pt idx="4">
                    <c:v>Lulu</c:v>
                  </c:pt>
                  <c:pt idx="5">
                    <c:v>Wellness Forever</c:v>
                  </c:pt>
                  <c:pt idx="6">
                    <c:v>Health &amp; Glow</c:v>
                  </c:pt>
                  <c:pt idx="7">
                    <c:v>Metro</c:v>
                  </c:pt>
                </c:lvl>
              </c:multiLvlStrCache>
            </c:multiLvlStrRef>
          </c:cat>
          <c:val>
            <c:numRef>
              <c:f>Sheet1!$C$2:$C$9</c:f>
              <c:numCache>
                <c:formatCode>General</c:formatCode>
                <c:ptCount val="8"/>
                <c:pt idx="0">
                  <c:v>13.9672</c:v>
                </c:pt>
                <c:pt idx="1">
                  <c:v>8.0564</c:v>
                </c:pt>
                <c:pt idx="2">
                  <c:v>7.1816</c:v>
                </c:pt>
                <c:pt idx="3">
                  <c:v>2.0664</c:v>
                </c:pt>
                <c:pt idx="4">
                  <c:v>1.6977</c:v>
                </c:pt>
                <c:pt idx="5">
                  <c:v>0.7209</c:v>
                </c:pt>
                <c:pt idx="6">
                  <c:v>0.5081</c:v>
                </c:pt>
                <c:pt idx="7">
                  <c:v>0.4858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F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640">
              <a:solidFill>
                <a:srgbClr val="5F716E"/>
              </a:solidFill>
            </a:defRPr>
          </a:pPr>
          <a:endParaRPr lang="en-US"/>
        </a:p>
      </c:txPr>
    </c:legend>
    <c:plotVisOnly val="1"/>
    <c:dispBlanksAs val="span"/>
  </c:chart>
  <c:spPr>
    <a:no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Primary</c:v>
                </c:pt>
              </c:strCache>
            </c:strRef>
          </c:tx>
          <c:spPr>
            <a:solidFill>
              <a:srgbClr val="2E7DA8"/>
            </a:solidFill>
            <a:effectLst/>
          </c:spPr>
          <c:invertIfNegative val="0"/>
          <c:dLbls>
            <c:numFmt formatCode="0.00" sourceLinked="0"/>
            <c:txPr>
              <a:bodyPr/>
              <a:lstStyle/>
              <a:p>
                <a:pPr>
                  <a:defRPr b="0" i="0" strike="noStrike" sz="660" u="none">
                    <a:solidFill>
                      <a:srgbClr val="183B39"/>
                    </a:solidFill>
                    <a:latin typeface="Arial"/>
                  </a:defRPr>
                </a:pPr>
              </a:p>
            </c:txPr>
            <c:showLegendKey val="0"/>
            <c:showVal val="1"/>
            <c:showCatName val="0"/>
            <c:showSerName val="0"/>
            <c:showPercent val="0"/>
            <c:showBubbleSize val="0"/>
            <c:showLeaderLines val="0"/>
          </c:dLbls>
          <c:cat>
            <c:multiLvlStrRef>
              <c:f>Sheet1!$A$2:$A$3</c:f>
              <c:multiLvlStrCache>
                <c:ptCount val="2"/>
                <c:lvl>
                  <c:pt idx="0">
                    <c:v>Mamaearth</c:v>
                  </c:pt>
                  <c:pt idx="1">
                    <c:v>The Derma Co.</c:v>
                  </c:pt>
                </c:lvl>
              </c:multiLvlStrCache>
            </c:multiLvlStrRef>
          </c:cat>
          <c:val>
            <c:numRef>
              <c:f>Sheet1!$B$2:$B$3</c:f>
              <c:numCache>
                <c:formatCode>General</c:formatCode>
                <c:ptCount val="2"/>
                <c:pt idx="0">
                  <c:v>33.38</c:v>
                </c:pt>
                <c:pt idx="1">
                  <c:v>15.19</c:v>
                </c:pt>
              </c:numCache>
            </c:numRef>
          </c:val>
        </c:ser>
        <c:ser>
          <c:idx val="1"/>
          <c:order val="1"/>
          <c:tx>
            <c:strRef>
              <c:f>Sheet1!$C$1</c:f>
              <c:strCache>
                <c:ptCount val="1"/>
                <c:pt idx="0">
                  <c:v>Offtake</c:v>
                </c:pt>
              </c:strCache>
            </c:strRef>
          </c:tx>
          <c:spPr>
            <a:solidFill>
              <a:srgbClr val="28A596"/>
            </a:solidFill>
            <a:effectLst/>
          </c:spPr>
          <c:invertIfNegative val="0"/>
          <c:dLbls>
            <c:numFmt formatCode="0.00" sourceLinked="0"/>
            <c:txPr>
              <a:bodyPr/>
              <a:lstStyle/>
              <a:p>
                <a:pPr>
                  <a:defRPr b="0" i="0" strike="noStrike" sz="660" u="none">
                    <a:solidFill>
                      <a:srgbClr val="183B39"/>
                    </a:solidFill>
                    <a:latin typeface="Arial"/>
                  </a:defRPr>
                </a:pPr>
              </a:p>
            </c:txPr>
            <c:showLegendKey val="0"/>
            <c:showVal val="1"/>
            <c:showCatName val="0"/>
            <c:showSerName val="0"/>
            <c:showPercent val="0"/>
            <c:showBubbleSize val="0"/>
            <c:showLeaderLines val="0"/>
          </c:dLbls>
          <c:cat>
            <c:multiLvlStrRef>
              <c:f>Sheet1!$A$2:$A$3</c:f>
              <c:multiLvlStrCache>
                <c:ptCount val="2"/>
                <c:lvl>
                  <c:pt idx="0">
                    <c:v>Mamaearth</c:v>
                  </c:pt>
                  <c:pt idx="1">
                    <c:v>The Derma Co.</c:v>
                  </c:pt>
                </c:lvl>
              </c:multiLvlStrCache>
            </c:multiLvlStrRef>
          </c:cat>
          <c:val>
            <c:numRef>
              <c:f>Sheet1!$C$2:$C$3</c:f>
              <c:numCache>
                <c:formatCode>General</c:formatCode>
                <c:ptCount val="2"/>
                <c:pt idx="0">
                  <c:v>24.49</c:v>
                </c:pt>
                <c:pt idx="1">
                  <c:v>11.03</c:v>
                </c:pt>
              </c:numCache>
            </c:numRef>
          </c:val>
        </c:ser>
        <c:dLbls>
          <c:numFmt formatCode="0.00" sourceLinked="0"/>
          <c:txPr>
            <a:bodyPr/>
            <a:lstStyle/>
            <a:p>
              <a:pPr>
                <a:defRPr b="0" i="0" strike="noStrike" sz="660" u="none">
                  <a:solidFill>
                    <a:srgbClr val="183B39"/>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2"/>
        <c:crosses val="autoZero"/>
        <c:auto val="1"/>
        <c:lblAlgn val="ctr"/>
        <c:noMultiLvlLbl val="1"/>
      </c:catAx>
      <c:valAx>
        <c:axId val="2094734552"/>
        <c:scaling>
          <c:orientation val="minMax"/>
          <c:max val="40"/>
        </c:scaling>
        <c:delete val="0"/>
        <c:axPos val="l"/>
        <c:majorGridlines>
          <c:spPr>
            <a:ln w="6350" cap="flat">
              <a:solidFill>
                <a:srgbClr val="E8F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640">
              <a:solidFill>
                <a:srgbClr val="5F716E"/>
              </a:solidFill>
            </a:defRPr>
          </a:pPr>
          <a:endParaRPr lang="en-US"/>
        </a:p>
      </c:txPr>
    </c:legend>
    <c:plotVisOnly val="1"/>
    <c:dispBlanksAs val="span"/>
  </c:chart>
  <c:spPr>
    <a:no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Face Cleanser</c:v>
                </c:pt>
              </c:strCache>
            </c:strRef>
          </c:tx>
          <c:spPr>
            <a:solidFill>
              <a:srgbClr val="28A596"/>
            </a:solidFill>
            <a:ln w="25400" cap="flat">
              <a:solidFill>
                <a:srgbClr val="28A59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8A596"/>
              </a:solidFill>
              <a:ln w="9525" cap="flat">
                <a:solidFill>
                  <a:srgbClr val="28A596"/>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Sheet1!$B$2:$B$7</c:f>
              <c:numCache>
                <c:formatCode>General</c:formatCode>
                <c:ptCount val="6"/>
                <c:pt idx="0">
                  <c:v>7.0274</c:v>
                </c:pt>
                <c:pt idx="1">
                  <c:v>8.1685</c:v>
                </c:pt>
                <c:pt idx="2">
                  <c:v>8.5475</c:v>
                </c:pt>
                <c:pt idx="3">
                  <c:v>9.6257</c:v>
                </c:pt>
                <c:pt idx="4">
                  <c:v>9.6513</c:v>
                </c:pt>
                <c:pt idx="5">
                  <c:v>8.5257</c:v>
                </c:pt>
              </c:numCache>
            </c:numRef>
          </c:val>
          <c:smooth val="0"/>
        </c:ser>
        <c:ser>
          <c:idx val="1"/>
          <c:order val="1"/>
          <c:tx>
            <c:strRef>
              <c:f>Sheet1!$C$1</c:f>
              <c:strCache>
                <c:ptCount val="1"/>
                <c:pt idx="0">
                  <c:v>Shampoo</c:v>
                </c:pt>
              </c:strCache>
            </c:strRef>
          </c:tx>
          <c:spPr>
            <a:solidFill>
              <a:srgbClr val="2E7DA8"/>
            </a:solidFill>
            <a:ln w="25400" cap="flat">
              <a:solidFill>
                <a:srgbClr val="2E7D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7DA8"/>
              </a:solidFill>
              <a:ln w="9525" cap="flat">
                <a:solidFill>
                  <a:srgbClr val="2E7DA8"/>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Sheet1!$C$2:$C$7</c:f>
              <c:numCache>
                <c:formatCode>General</c:formatCode>
                <c:ptCount val="6"/>
                <c:pt idx="0">
                  <c:v>4.8066</c:v>
                </c:pt>
                <c:pt idx="1">
                  <c:v>5.3825</c:v>
                </c:pt>
                <c:pt idx="2">
                  <c:v>6.1125</c:v>
                </c:pt>
                <c:pt idx="3">
                  <c:v>6.6803</c:v>
                </c:pt>
                <c:pt idx="4">
                  <c:v>6.8695</c:v>
                </c:pt>
                <c:pt idx="5">
                  <c:v>6.9504</c:v>
                </c:pt>
              </c:numCache>
            </c:numRef>
          </c:val>
          <c:smooth val="0"/>
        </c:ser>
        <c:ser>
          <c:idx val="2"/>
          <c:order val="2"/>
          <c:tx>
            <c:strRef>
              <c:f>Sheet1!$D$1</c:f>
              <c:strCache>
                <c:ptCount val="1"/>
                <c:pt idx="0">
                  <c:v>Sun Care</c:v>
                </c:pt>
              </c:strCache>
            </c:strRef>
          </c:tx>
          <c:spPr>
            <a:solidFill>
              <a:srgbClr val="D6544D"/>
            </a:solidFill>
            <a:ln w="25400" cap="flat">
              <a:solidFill>
                <a:srgbClr val="D6544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6544D"/>
              </a:solidFill>
              <a:ln w="9525" cap="flat">
                <a:solidFill>
                  <a:srgbClr val="D6544D"/>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Sheet1!$D$2:$D$7</c:f>
              <c:numCache>
                <c:formatCode>General</c:formatCode>
                <c:ptCount val="6"/>
                <c:pt idx="0">
                  <c:v>1.5518</c:v>
                </c:pt>
                <c:pt idx="1">
                  <c:v>2.7323</c:v>
                </c:pt>
                <c:pt idx="2">
                  <c:v>3.095</c:v>
                </c:pt>
                <c:pt idx="3">
                  <c:v>2.9543</c:v>
                </c:pt>
                <c:pt idx="4">
                  <c:v>1.991</c:v>
                </c:pt>
                <c:pt idx="5">
                  <c:v>1.304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F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600">
              <a:solidFill>
                <a:srgbClr val="5F716E"/>
              </a:solidFill>
            </a:defRPr>
          </a:pPr>
          <a:endParaRPr lang="en-US"/>
        </a:p>
      </c:txPr>
    </c:legend>
    <c:plotVisOnly val="1"/>
    <c:dispBlanksAs val="span"/>
  </c:chart>
  <c:spPr>
    <a:no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Face Cleanser</c:v>
                </c:pt>
              </c:strCache>
            </c:strRef>
          </c:tx>
          <c:spPr>
            <a:solidFill>
              <a:srgbClr val="28A596"/>
            </a:solidFill>
            <a:ln w="25400" cap="flat">
              <a:solidFill>
                <a:srgbClr val="28A59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8A596"/>
              </a:solidFill>
              <a:ln w="9525" cap="flat">
                <a:solidFill>
                  <a:srgbClr val="28A596"/>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Sheet1!$B$2:$B$7</c:f>
              <c:numCache>
                <c:formatCode>General</c:formatCode>
                <c:ptCount val="6"/>
                <c:pt idx="0">
                  <c:v>2.2515</c:v>
                </c:pt>
                <c:pt idx="1">
                  <c:v>2.7532</c:v>
                </c:pt>
                <c:pt idx="2">
                  <c:v>3.2367</c:v>
                </c:pt>
                <c:pt idx="3">
                  <c:v>4.6282</c:v>
                </c:pt>
                <c:pt idx="4">
                  <c:v>4.8318</c:v>
                </c:pt>
                <c:pt idx="5">
                  <c:v>7.1312</c:v>
                </c:pt>
              </c:numCache>
            </c:numRef>
          </c:val>
          <c:smooth val="0"/>
        </c:ser>
        <c:ser>
          <c:idx val="1"/>
          <c:order val="1"/>
          <c:tx>
            <c:strRef>
              <c:f>Sheet1!$C$1</c:f>
              <c:strCache>
                <c:ptCount val="1"/>
                <c:pt idx="0">
                  <c:v>Sun Care</c:v>
                </c:pt>
              </c:strCache>
            </c:strRef>
          </c:tx>
          <c:spPr>
            <a:solidFill>
              <a:srgbClr val="2E7DA8"/>
            </a:solidFill>
            <a:ln w="25400" cap="flat">
              <a:solidFill>
                <a:srgbClr val="2E7D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7DA8"/>
              </a:solidFill>
              <a:ln w="9525" cap="flat">
                <a:solidFill>
                  <a:srgbClr val="2E7DA8"/>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Sheet1!$C$2:$C$7</c:f>
              <c:numCache>
                <c:formatCode>General</c:formatCode>
                <c:ptCount val="6"/>
                <c:pt idx="0">
                  <c:v>1.0422</c:v>
                </c:pt>
                <c:pt idx="1">
                  <c:v>1.8094</c:v>
                </c:pt>
                <c:pt idx="2">
                  <c:v>2.274</c:v>
                </c:pt>
                <c:pt idx="3">
                  <c:v>3.1776</c:v>
                </c:pt>
                <c:pt idx="4">
                  <c:v>2.0479</c:v>
                </c:pt>
                <c:pt idx="5">
                  <c:v>1.9915</c:v>
                </c:pt>
              </c:numCache>
            </c:numRef>
          </c:val>
          <c:smooth val="0"/>
        </c:ser>
        <c:ser>
          <c:idx val="2"/>
          <c:order val="2"/>
          <c:tx>
            <c:strRef>
              <c:f>Sheet1!$D$1</c:f>
              <c:strCache>
                <c:ptCount val="1"/>
                <c:pt idx="0">
                  <c:v>Face Serum</c:v>
                </c:pt>
              </c:strCache>
            </c:strRef>
          </c:tx>
          <c:spPr>
            <a:solidFill>
              <a:srgbClr val="D6544D"/>
            </a:solidFill>
            <a:ln w="25400" cap="flat">
              <a:solidFill>
                <a:srgbClr val="D6544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6544D"/>
              </a:solidFill>
              <a:ln w="9525" cap="flat">
                <a:solidFill>
                  <a:srgbClr val="D6544D"/>
                </a:solidFill>
                <a:prstDash val="solid"/>
                <a:round/>
              </a:ln>
              <a:effectLst/>
            </c:spPr>
          </c:marker>
          <c:cat>
            <c:multiLvlStrRef>
              <c:f>Sheet1!$A$2:$A$7</c:f>
              <c:multiLvlStrCache>
                <c:ptCount val="6"/>
                <c:lvl>
                  <c:pt idx="0">
                    <c:v>Feb 26</c:v>
                  </c:pt>
                  <c:pt idx="1">
                    <c:v>Mar 26</c:v>
                  </c:pt>
                  <c:pt idx="2">
                    <c:v>Apr 26</c:v>
                  </c:pt>
                  <c:pt idx="3">
                    <c:v>May 26</c:v>
                  </c:pt>
                  <c:pt idx="4">
                    <c:v>Jun 26</c:v>
                  </c:pt>
                  <c:pt idx="5">
                    <c:v>Jul 26</c:v>
                  </c:pt>
                </c:lvl>
              </c:multiLvlStrCache>
            </c:multiLvlStrRef>
          </c:cat>
          <c:val>
            <c:numRef>
              <c:f>Sheet1!$D$2:$D$7</c:f>
              <c:numCache>
                <c:formatCode>General</c:formatCode>
                <c:ptCount val="6"/>
                <c:pt idx="0">
                  <c:v>0.5635</c:v>
                </c:pt>
                <c:pt idx="1">
                  <c:v>0.5748</c:v>
                </c:pt>
                <c:pt idx="2">
                  <c:v>0.6938</c:v>
                </c:pt>
                <c:pt idx="3">
                  <c:v>0.6607</c:v>
                </c:pt>
                <c:pt idx="4">
                  <c:v>0.6635</c:v>
                </c:pt>
                <c:pt idx="5">
                  <c:v>0.6285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F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20" b="0" i="0" u="none" strike="noStrike">
                <a:solidFill>
                  <a:srgbClr val="5F716E"/>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600">
              <a:solidFill>
                <a:srgbClr val="5F716E"/>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chart" Target="/ppt/charts/chart12.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chart" Target="/ppt/charts/chart14.xm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chart" Target="/ppt/charts/chart16.xm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chart" Target="/ppt/charts/chart18.xm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chart" Target="/ppt/charts/chart20.xm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chart" Target="/ppt/charts/chart22.xm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chart" Target="/ppt/charts/chart24.xm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25.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6.xml"/><Relationship Id="rId2" Type="http://schemas.openxmlformats.org/officeDocument/2006/relationships/chart" Target="/ppt/charts/chart27.xml"/><Relationship Id="rId3" Type="http://schemas.openxmlformats.org/officeDocument/2006/relationships/chart" Target="/ppt/charts/chart28.xml"/><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BFA"/>
        </a:solidFill>
      </p:bgPr>
    </p:bg>
    <p:spTree>
      <p:nvGrpSpPr>
        <p:cNvPr id="1" name=""/>
        <p:cNvGrpSpPr/>
        <p:nvPr/>
      </p:nvGrpSpPr>
      <p:grpSpPr>
        <a:xfrm>
          <a:off x="0" y="0"/>
          <a:ext cx="0" cy="0"/>
          <a:chOff x="0" y="0"/>
          <a:chExt cx="0" cy="0"/>
        </a:xfrm>
      </p:grpSpPr>
      <p:sp>
        <p:nvSpPr>
          <p:cNvPr id="2" name="Shape 0"/>
          <p:cNvSpPr/>
          <p:nvPr/>
        </p:nvSpPr>
        <p:spPr>
          <a:xfrm>
            <a:off x="0" y="0"/>
            <a:ext cx="6858000" cy="1133856"/>
          </a:xfrm>
          <a:prstGeom prst="rect">
            <a:avLst/>
          </a:prstGeom>
          <a:solidFill>
            <a:srgbClr val="116F68"/>
          </a:solidFill>
          <a:ln/>
        </p:spPr>
      </p:sp>
      <p:sp>
        <p:nvSpPr>
          <p:cNvPr id="3" name="Text 1"/>
          <p:cNvSpPr/>
          <p:nvPr/>
        </p:nvSpPr>
        <p:spPr>
          <a:xfrm>
            <a:off x="365760" y="182880"/>
            <a:ext cx="5641848" cy="548640"/>
          </a:xfrm>
          <a:prstGeom prst="rect">
            <a:avLst/>
          </a:prstGeom>
          <a:noFill/>
          <a:ln/>
        </p:spPr>
        <p:txBody>
          <a:bodyPr wrap="square" lIns="0" tIns="0" rIns="0" bIns="0" rtlCol="0" anchor="ctr"/>
          <a:lstStyle/>
          <a:p>
            <a:pPr indent="0" marL="0">
              <a:lnSpc>
                <a:spcPct val="92000"/>
              </a:lnSpc>
              <a:buNone/>
            </a:pPr>
            <a:r>
              <a:rPr lang="en-US" sz="1650" b="1" dirty="0">
                <a:solidFill>
                  <a:srgbClr val="FFFFFF"/>
                </a:solidFill>
                <a:latin typeface="Calibri Light" pitchFamily="34" charset="0"/>
                <a:ea typeface="Calibri Light" pitchFamily="34" charset="-122"/>
                <a:cs typeface="Calibri Light" pitchFamily="34" charset="-120"/>
              </a:rPr>
              <a:t>July Modern Trade Growth Command Centre</a:t>
            </a:r>
            <a:endParaRPr lang="en-US" sz="1650" dirty="0"/>
          </a:p>
        </p:txBody>
      </p:sp>
      <p:sp>
        <p:nvSpPr>
          <p:cNvPr id="4" name="Text 2"/>
          <p:cNvSpPr/>
          <p:nvPr/>
        </p:nvSpPr>
        <p:spPr>
          <a:xfrm>
            <a:off x="384048" y="786384"/>
            <a:ext cx="5641848" cy="237744"/>
          </a:xfrm>
          <a:prstGeom prst="rect">
            <a:avLst/>
          </a:prstGeom>
          <a:noFill/>
          <a:ln/>
        </p:spPr>
        <p:txBody>
          <a:bodyPr wrap="square" lIns="0" tIns="0" rIns="0" bIns="0" rtlCol="0" anchor="ctr"/>
          <a:lstStyle/>
          <a:p>
            <a:pPr indent="0" marL="0">
              <a:buNone/>
            </a:pPr>
            <a:r>
              <a:rPr lang="en-US" sz="850" dirty="0">
                <a:solidFill>
                  <a:srgbClr val="BFDCD7"/>
                </a:solidFill>
                <a:latin typeface="Calibri" pitchFamily="34" charset="0"/>
                <a:ea typeface="Calibri" pitchFamily="34" charset="-122"/>
                <a:cs typeface="Calibri" pitchFamily="34" charset="-120"/>
              </a:rPr>
              <a:t>Honasa Consumer | Primary, offtake, portfolio and execution | July 2026</a:t>
            </a:r>
            <a:endParaRPr lang="en-US" sz="850" dirty="0"/>
          </a:p>
        </p:txBody>
      </p:sp>
      <p:sp>
        <p:nvSpPr>
          <p:cNvPr id="5" name="Text 3"/>
          <p:cNvSpPr/>
          <p:nvPr/>
        </p:nvSpPr>
        <p:spPr>
          <a:xfrm>
            <a:off x="6117336" y="365760"/>
            <a:ext cx="402336" cy="237744"/>
          </a:xfrm>
          <a:prstGeom prst="rect">
            <a:avLst/>
          </a:prstGeom>
          <a:noFill/>
          <a:ln/>
        </p:spPr>
        <p:txBody>
          <a:bodyPr wrap="square" lIns="0" tIns="0" rIns="0" bIns="0" rtlCol="0" anchor="t"/>
          <a:lstStyle/>
          <a:p>
            <a:pPr algn="r" indent="0" marL="0">
              <a:buNone/>
            </a:pPr>
            <a:r>
              <a:rPr lang="en-US" sz="950" b="1" dirty="0">
                <a:solidFill>
                  <a:srgbClr val="8FC4BD"/>
                </a:solidFill>
                <a:latin typeface="Calibri" pitchFamily="34" charset="0"/>
                <a:ea typeface="Calibri" pitchFamily="34" charset="-122"/>
                <a:cs typeface="Calibri" pitchFamily="34" charset="-120"/>
              </a:rPr>
              <a:t>01</a:t>
            </a:r>
            <a:endParaRPr lang="en-US" sz="950" dirty="0"/>
          </a:p>
        </p:txBody>
      </p:sp>
      <p:sp>
        <p:nvSpPr>
          <p:cNvPr id="6" name="Shape 4"/>
          <p:cNvSpPr/>
          <p:nvPr/>
        </p:nvSpPr>
        <p:spPr>
          <a:xfrm>
            <a:off x="265176" y="11375136"/>
            <a:ext cx="6327648" cy="420624"/>
          </a:xfrm>
          <a:prstGeom prst="roundRect">
            <a:avLst>
              <a:gd name="adj" fmla="val 6522"/>
            </a:avLst>
          </a:prstGeom>
          <a:solidFill>
            <a:srgbClr val="DFF2ED"/>
          </a:solidFill>
          <a:ln w="9525">
            <a:solidFill>
              <a:srgbClr val="C8DCD7"/>
            </a:solidFill>
            <a:prstDash val="solid"/>
          </a:ln>
        </p:spPr>
      </p:sp>
      <p:sp>
        <p:nvSpPr>
          <p:cNvPr id="7" name="Text 5"/>
          <p:cNvSpPr/>
          <p:nvPr/>
        </p:nvSpPr>
        <p:spPr>
          <a:xfrm>
            <a:off x="374904"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EVIDENCE</a:t>
            </a:r>
            <a:endParaRPr lang="en-US" sz="650" dirty="0"/>
          </a:p>
        </p:txBody>
      </p:sp>
      <p:sp>
        <p:nvSpPr>
          <p:cNvPr id="8" name="Text 6"/>
          <p:cNvSpPr/>
          <p:nvPr/>
        </p:nvSpPr>
        <p:spPr>
          <a:xfrm>
            <a:off x="374904"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moved</a:t>
            </a:r>
            <a:endParaRPr lang="en-US" sz="700" dirty="0"/>
          </a:p>
        </p:txBody>
      </p:sp>
      <p:sp>
        <p:nvSpPr>
          <p:cNvPr id="9" name="Text 7"/>
          <p:cNvSpPr/>
          <p:nvPr/>
        </p:nvSpPr>
        <p:spPr>
          <a:xfrm>
            <a:off x="1901952"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IMPLICATION</a:t>
            </a:r>
            <a:endParaRPr lang="en-US" sz="650" dirty="0"/>
          </a:p>
        </p:txBody>
      </p:sp>
      <p:sp>
        <p:nvSpPr>
          <p:cNvPr id="10" name="Text 8"/>
          <p:cNvSpPr/>
          <p:nvPr/>
        </p:nvSpPr>
        <p:spPr>
          <a:xfrm>
            <a:off x="1901952"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Why it matters</a:t>
            </a:r>
            <a:endParaRPr lang="en-US" sz="700" dirty="0"/>
          </a:p>
        </p:txBody>
      </p:sp>
      <p:sp>
        <p:nvSpPr>
          <p:cNvPr id="11" name="Shape 9"/>
          <p:cNvSpPr/>
          <p:nvPr/>
        </p:nvSpPr>
        <p:spPr>
          <a:xfrm>
            <a:off x="1819656" y="11457432"/>
            <a:ext cx="0" cy="265176"/>
          </a:xfrm>
          <a:prstGeom prst="line">
            <a:avLst/>
          </a:prstGeom>
          <a:noFill/>
          <a:ln w="9525">
            <a:solidFill>
              <a:srgbClr val="C8DCD7"/>
            </a:solidFill>
            <a:prstDash val="solid"/>
          </a:ln>
        </p:spPr>
      </p:sp>
      <p:sp>
        <p:nvSpPr>
          <p:cNvPr id="12" name="Text 10"/>
          <p:cNvSpPr/>
          <p:nvPr/>
        </p:nvSpPr>
        <p:spPr>
          <a:xfrm>
            <a:off x="3429000"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ACTION</a:t>
            </a:r>
            <a:endParaRPr lang="en-US" sz="650" dirty="0"/>
          </a:p>
        </p:txBody>
      </p:sp>
      <p:sp>
        <p:nvSpPr>
          <p:cNvPr id="13" name="Text 11"/>
          <p:cNvSpPr/>
          <p:nvPr/>
        </p:nvSpPr>
        <p:spPr>
          <a:xfrm>
            <a:off x="3429000"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changes now</a:t>
            </a:r>
            <a:endParaRPr lang="en-US" sz="700" dirty="0"/>
          </a:p>
        </p:txBody>
      </p:sp>
      <p:sp>
        <p:nvSpPr>
          <p:cNvPr id="14" name="Shape 12"/>
          <p:cNvSpPr/>
          <p:nvPr/>
        </p:nvSpPr>
        <p:spPr>
          <a:xfrm>
            <a:off x="3346704" y="11457432"/>
            <a:ext cx="0" cy="265176"/>
          </a:xfrm>
          <a:prstGeom prst="line">
            <a:avLst/>
          </a:prstGeom>
          <a:noFill/>
          <a:ln w="9525">
            <a:solidFill>
              <a:srgbClr val="C8DCD7"/>
            </a:solidFill>
            <a:prstDash val="solid"/>
          </a:ln>
        </p:spPr>
      </p:sp>
      <p:sp>
        <p:nvSpPr>
          <p:cNvPr id="15" name="Text 13"/>
          <p:cNvSpPr/>
          <p:nvPr/>
        </p:nvSpPr>
        <p:spPr>
          <a:xfrm>
            <a:off x="4956048"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OWNER</a:t>
            </a:r>
            <a:endParaRPr lang="en-US" sz="650" dirty="0"/>
          </a:p>
        </p:txBody>
      </p:sp>
      <p:sp>
        <p:nvSpPr>
          <p:cNvPr id="16" name="Text 14"/>
          <p:cNvSpPr/>
          <p:nvPr/>
        </p:nvSpPr>
        <p:spPr>
          <a:xfrm>
            <a:off x="4956048"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Who closes it</a:t>
            </a:r>
            <a:endParaRPr lang="en-US" sz="700" dirty="0"/>
          </a:p>
        </p:txBody>
      </p:sp>
      <p:sp>
        <p:nvSpPr>
          <p:cNvPr id="17" name="Shape 15"/>
          <p:cNvSpPr/>
          <p:nvPr/>
        </p:nvSpPr>
        <p:spPr>
          <a:xfrm>
            <a:off x="4873752" y="11457432"/>
            <a:ext cx="0" cy="265176"/>
          </a:xfrm>
          <a:prstGeom prst="line">
            <a:avLst/>
          </a:prstGeom>
          <a:noFill/>
          <a:ln w="9525">
            <a:solidFill>
              <a:srgbClr val="C8DCD7"/>
            </a:solidFill>
            <a:prstDash val="solid"/>
          </a:ln>
        </p:spPr>
      </p:sp>
      <p:sp>
        <p:nvSpPr>
          <p:cNvPr id="18" name="Text 16"/>
          <p:cNvSpPr/>
          <p:nvPr/>
        </p:nvSpPr>
        <p:spPr>
          <a:xfrm>
            <a:off x="301752" y="11887200"/>
            <a:ext cx="6254496" cy="201168"/>
          </a:xfrm>
          <a:prstGeom prst="rect">
            <a:avLst/>
          </a:prstGeom>
          <a:noFill/>
          <a:ln/>
        </p:spPr>
        <p:txBody>
          <a:bodyPr wrap="square" lIns="0" tIns="0" rIns="0" bIns="0" rtlCol="0" anchor="t"/>
          <a:lstStyle/>
          <a:p>
            <a:pPr algn="ctr" indent="0" marL="0">
              <a:buNone/>
            </a:pPr>
            <a:r>
              <a:rPr lang="en-US" sz="650" dirty="0">
                <a:solidFill>
                  <a:srgbClr val="5F716E"/>
                </a:solidFill>
                <a:latin typeface="Calibri" pitchFamily="34" charset="0"/>
                <a:ea typeface="Calibri" pitchFamily="34" charset="-122"/>
                <a:cs typeface="Calibri" pitchFamily="34" charset="-120"/>
              </a:rPr>
              <a:t>July Compiled Offtake (Sheet1) · July'26 primary and distributor secondary · values in ₹ Cr · Zone performance represents Modern Trade accounts only. eB2B and SIS channels are excluded from MT zone sales and reported separately.</a:t>
            </a:r>
            <a:endParaRPr lang="en-US" sz="650" dirty="0"/>
          </a:p>
        </p:txBody>
      </p:sp>
      <p:sp>
        <p:nvSpPr>
          <p:cNvPr id="19" name="Shape 17"/>
          <p:cNvSpPr/>
          <p:nvPr/>
        </p:nvSpPr>
        <p:spPr>
          <a:xfrm>
            <a:off x="265176" y="1261872"/>
            <a:ext cx="6327648" cy="1005840"/>
          </a:xfrm>
          <a:prstGeom prst="roundRect">
            <a:avLst>
              <a:gd name="adj" fmla="val 2727"/>
            </a:avLst>
          </a:prstGeom>
          <a:solidFill>
            <a:srgbClr val="DFF2ED"/>
          </a:solidFill>
          <a:ln w="12700">
            <a:solidFill>
              <a:srgbClr val="28A596"/>
            </a:solidFill>
            <a:prstDash val="solid"/>
          </a:ln>
        </p:spPr>
      </p:sp>
      <p:sp>
        <p:nvSpPr>
          <p:cNvPr id="20" name="Text 18"/>
          <p:cNvSpPr/>
          <p:nvPr/>
        </p:nvSpPr>
        <p:spPr>
          <a:xfrm>
            <a:off x="411480" y="1353312"/>
            <a:ext cx="6035040" cy="310896"/>
          </a:xfrm>
          <a:prstGeom prst="rect">
            <a:avLst/>
          </a:prstGeom>
          <a:noFill/>
          <a:ln/>
        </p:spPr>
        <p:txBody>
          <a:bodyPr wrap="square" lIns="0" tIns="0" rIns="0" bIns="0" rtlCol="0" anchor="ctr"/>
          <a:lstStyle/>
          <a:p>
            <a:pPr algn="ctr" indent="0" marL="0">
              <a:buNone/>
            </a:pPr>
            <a:r>
              <a:rPr lang="en-US" sz="1200" b="1" dirty="0">
                <a:solidFill>
                  <a:srgbClr val="116F68"/>
                </a:solidFill>
                <a:latin typeface="Calibri Light" pitchFamily="34" charset="0"/>
                <a:ea typeface="Calibri Light" pitchFamily="34" charset="-122"/>
                <a:cs typeface="Calibri Light" pitchFamily="34" charset="-120"/>
              </a:rPr>
              <a:t>₹6.22 Cr of MT offtake is recoverable at your own internal benchmark</a:t>
            </a:r>
            <a:endParaRPr lang="en-US" sz="1200" dirty="0"/>
          </a:p>
        </p:txBody>
      </p:sp>
      <p:sp>
        <p:nvSpPr>
          <p:cNvPr id="21" name="Text 19"/>
          <p:cNvSpPr/>
          <p:nvPr/>
        </p:nvSpPr>
        <p:spPr>
          <a:xfrm>
            <a:off x="411480" y="1700784"/>
            <a:ext cx="6035040" cy="219456"/>
          </a:xfrm>
          <a:prstGeom prst="rect">
            <a:avLst/>
          </a:prstGeom>
          <a:noFill/>
          <a:ln/>
        </p:spPr>
        <p:txBody>
          <a:bodyPr wrap="square" lIns="0" tIns="0" rIns="0" bIns="0" rtlCol="0" anchor="t"/>
          <a:lstStyle/>
          <a:p>
            <a:pPr algn="ctr" indent="0" marL="0">
              <a:buNone/>
            </a:pPr>
            <a:r>
              <a:rPr lang="en-US" sz="800" b="1" dirty="0">
                <a:solidFill>
                  <a:srgbClr val="183B39"/>
                </a:solidFill>
                <a:latin typeface="Calibri" pitchFamily="34" charset="0"/>
                <a:ea typeface="Calibri" pitchFamily="34" charset="-122"/>
                <a:cs typeface="Calibri" pitchFamily="34" charset="-120"/>
              </a:rPr>
              <a:t>₹33.96 Cr MT offtake  •  72.2% MT conversion  •  ₹13.06 Cr MT gap  •  eB2B and SIS reported separately</a:t>
            </a:r>
            <a:endParaRPr lang="en-US" sz="800" dirty="0"/>
          </a:p>
        </p:txBody>
      </p:sp>
      <p:sp>
        <p:nvSpPr>
          <p:cNvPr id="22" name="Text 20"/>
          <p:cNvSpPr/>
          <p:nvPr/>
        </p:nvSpPr>
        <p:spPr>
          <a:xfrm>
            <a:off x="484632" y="1938528"/>
            <a:ext cx="5888736" cy="274320"/>
          </a:xfrm>
          <a:prstGeom prst="rect">
            <a:avLst/>
          </a:prstGeom>
          <a:noFill/>
          <a:ln/>
        </p:spPr>
        <p:txBody>
          <a:bodyPr wrap="square" lIns="0" tIns="0" rIns="0" bIns="0" rtlCol="0" anchor="t"/>
          <a:lstStyle/>
          <a:p>
            <a:pPr algn="ctr" indent="0" marL="0">
              <a:lnSpc>
                <a:spcPct val="94000"/>
              </a:lnSpc>
              <a:buNone/>
            </a:pPr>
            <a:r>
              <a:rPr lang="en-US" sz="720" dirty="0">
                <a:solidFill>
                  <a:srgbClr val="5F716E"/>
                </a:solidFill>
                <a:latin typeface="Calibri" pitchFamily="34" charset="0"/>
                <a:ea typeface="Calibri" pitchFamily="34" charset="-122"/>
                <a:cs typeface="Calibri" pitchFamily="34" charset="-120"/>
              </a:rPr>
              <a:t>Modern Trade accounts only. If North, East and South-2 converted at the rate West and South-1 already achieve, MT conversion moves 72.2% → 85.5% with no additional primary. The previous pack read ₹36.10 Cr at 73.4% because the Nykaa (FSN) eB2B account was carried as a "Pan India" zone.</a:t>
            </a:r>
            <a:endParaRPr lang="en-US" sz="720" dirty="0"/>
          </a:p>
        </p:txBody>
      </p:sp>
      <p:sp>
        <p:nvSpPr>
          <p:cNvPr id="23" name="Shape 21"/>
          <p:cNvSpPr/>
          <p:nvPr/>
        </p:nvSpPr>
        <p:spPr>
          <a:xfrm>
            <a:off x="265176" y="2414016"/>
            <a:ext cx="2017776" cy="2615184"/>
          </a:xfrm>
          <a:prstGeom prst="roundRect">
            <a:avLst>
              <a:gd name="adj" fmla="val 906"/>
            </a:avLst>
          </a:prstGeom>
          <a:solidFill>
            <a:srgbClr val="FFFFFF"/>
          </a:solidFill>
          <a:ln w="9525">
            <a:solidFill>
              <a:srgbClr val="C8DCD7"/>
            </a:solidFill>
            <a:prstDash val="solid"/>
          </a:ln>
        </p:spPr>
      </p:sp>
      <p:sp>
        <p:nvSpPr>
          <p:cNvPr id="24" name="Shape 22"/>
          <p:cNvSpPr/>
          <p:nvPr/>
        </p:nvSpPr>
        <p:spPr>
          <a:xfrm>
            <a:off x="265176" y="2414016"/>
            <a:ext cx="2017776" cy="274320"/>
          </a:xfrm>
          <a:prstGeom prst="rect">
            <a:avLst/>
          </a:prstGeom>
          <a:solidFill>
            <a:srgbClr val="116F68"/>
          </a:solidFill>
          <a:ln/>
        </p:spPr>
      </p:sp>
      <p:sp>
        <p:nvSpPr>
          <p:cNvPr id="25" name="Text 23"/>
          <p:cNvSpPr/>
          <p:nvPr/>
        </p:nvSpPr>
        <p:spPr>
          <a:xfrm>
            <a:off x="347472" y="2432304"/>
            <a:ext cx="1853184"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SALES FLOW</a:t>
            </a:r>
            <a:endParaRPr lang="en-US" sz="700" dirty="0"/>
          </a:p>
        </p:txBody>
      </p:sp>
      <p:sp>
        <p:nvSpPr>
          <p:cNvPr id="26" name="Text 24"/>
          <p:cNvSpPr/>
          <p:nvPr/>
        </p:nvSpPr>
        <p:spPr>
          <a:xfrm>
            <a:off x="356616" y="2779776"/>
            <a:ext cx="1834896"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Primary vs offtake by zone (₹ Cr)</a:t>
            </a:r>
            <a:endParaRPr lang="en-US" sz="720" dirty="0"/>
          </a:p>
        </p:txBody>
      </p:sp>
      <p:graphicFrame>
        <p:nvGraphicFramePr>
          <p:cNvPr id="27" name="Chart 0" descr=""/>
          <p:cNvGraphicFramePr/>
          <p:nvPr/>
        </p:nvGraphicFramePr>
        <p:xfrm>
          <a:off x="338328" y="2980944"/>
          <a:ext cx="1871472" cy="1389888"/>
        </p:xfrm>
        <a:graphic xmlns:a="http://schemas.openxmlformats.org/drawingml/2006/main">
          <a:graphicData uri="http://schemas.openxmlformats.org/drawingml/2006/chart">
            <c:chart xmlns:c="http://schemas.openxmlformats.org/drawingml/2006/chart" r:id="rId1"/>
          </a:graphicData>
        </a:graphic>
      </p:graphicFrame>
      <p:sp>
        <p:nvSpPr>
          <p:cNvPr id="28" name="Text 25"/>
          <p:cNvSpPr/>
          <p:nvPr/>
        </p:nvSpPr>
        <p:spPr>
          <a:xfrm>
            <a:off x="356616" y="4535424"/>
            <a:ext cx="1834896" cy="402336"/>
          </a:xfrm>
          <a:prstGeom prst="rect">
            <a:avLst/>
          </a:prstGeom>
          <a:noFill/>
          <a:ln/>
        </p:spPr>
        <p:txBody>
          <a:bodyPr wrap="square" lIns="0" tIns="0" rIns="0" bIns="0" rtlCol="0" anchor="t"/>
          <a:lstStyle/>
          <a:p>
            <a:pPr indent="0" marL="0">
              <a:lnSpc>
                <a:spcPct val="92000"/>
              </a:lnSpc>
              <a:buNone/>
            </a:pPr>
            <a:r>
              <a:rPr lang="en-US" sz="680" dirty="0">
                <a:solidFill>
                  <a:srgbClr val="5F716E"/>
                </a:solidFill>
                <a:latin typeface="Calibri" pitchFamily="34" charset="0"/>
                <a:ea typeface="Calibri" pitchFamily="34" charset="-122"/>
                <a:cs typeface="Calibri" pitchFamily="34" charset="-120"/>
              </a:rPr>
              <a:t>West and South-1 convert 82–84%. North and East convert 46–59% on more primary.</a:t>
            </a:r>
            <a:endParaRPr lang="en-US" sz="680" dirty="0"/>
          </a:p>
        </p:txBody>
      </p:sp>
      <p:sp>
        <p:nvSpPr>
          <p:cNvPr id="29" name="Shape 26"/>
          <p:cNvSpPr/>
          <p:nvPr/>
        </p:nvSpPr>
        <p:spPr>
          <a:xfrm>
            <a:off x="2420112" y="2414016"/>
            <a:ext cx="2017776" cy="2615184"/>
          </a:xfrm>
          <a:prstGeom prst="roundRect">
            <a:avLst>
              <a:gd name="adj" fmla="val 906"/>
            </a:avLst>
          </a:prstGeom>
          <a:solidFill>
            <a:srgbClr val="FFFFFF"/>
          </a:solidFill>
          <a:ln w="9525">
            <a:solidFill>
              <a:srgbClr val="C8DCD7"/>
            </a:solidFill>
            <a:prstDash val="solid"/>
          </a:ln>
        </p:spPr>
      </p:sp>
      <p:sp>
        <p:nvSpPr>
          <p:cNvPr id="30" name="Shape 27"/>
          <p:cNvSpPr/>
          <p:nvPr/>
        </p:nvSpPr>
        <p:spPr>
          <a:xfrm>
            <a:off x="2420112" y="2414016"/>
            <a:ext cx="2017776" cy="274320"/>
          </a:xfrm>
          <a:prstGeom prst="rect">
            <a:avLst/>
          </a:prstGeom>
          <a:solidFill>
            <a:srgbClr val="D6544D"/>
          </a:solidFill>
          <a:ln/>
        </p:spPr>
      </p:sp>
      <p:sp>
        <p:nvSpPr>
          <p:cNvPr id="31" name="Text 28"/>
          <p:cNvSpPr/>
          <p:nvPr/>
        </p:nvSpPr>
        <p:spPr>
          <a:xfrm>
            <a:off x="2502408" y="2432304"/>
            <a:ext cx="1853184"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THE MT GAP</a:t>
            </a:r>
            <a:endParaRPr lang="en-US" sz="700" dirty="0"/>
          </a:p>
        </p:txBody>
      </p:sp>
      <p:sp>
        <p:nvSpPr>
          <p:cNvPr id="32" name="Text 29"/>
          <p:cNvSpPr/>
          <p:nvPr/>
        </p:nvSpPr>
        <p:spPr>
          <a:xfrm>
            <a:off x="2511552" y="2779776"/>
            <a:ext cx="1834896" cy="365760"/>
          </a:xfrm>
          <a:prstGeom prst="rect">
            <a:avLst/>
          </a:prstGeom>
          <a:noFill/>
          <a:ln/>
        </p:spPr>
        <p:txBody>
          <a:bodyPr wrap="square" lIns="0" tIns="0" rIns="0" bIns="0" rtlCol="0" anchor="t"/>
          <a:lstStyle/>
          <a:p>
            <a:pPr algn="ctr" indent="0" marL="0">
              <a:buNone/>
            </a:pPr>
            <a:r>
              <a:rPr lang="en-US" sz="1900" b="1" dirty="0">
                <a:solidFill>
                  <a:srgbClr val="D6544D"/>
                </a:solidFill>
                <a:latin typeface="Calibri Light" pitchFamily="34" charset="0"/>
                <a:ea typeface="Calibri Light" pitchFamily="34" charset="-122"/>
                <a:cs typeface="Calibri Light" pitchFamily="34" charset="-120"/>
              </a:rPr>
              <a:t>₹13.06 Cr</a:t>
            </a:r>
            <a:endParaRPr lang="en-US" sz="1900" dirty="0"/>
          </a:p>
        </p:txBody>
      </p:sp>
      <p:sp>
        <p:nvSpPr>
          <p:cNvPr id="33" name="Text 30"/>
          <p:cNvSpPr/>
          <p:nvPr/>
        </p:nvSpPr>
        <p:spPr>
          <a:xfrm>
            <a:off x="2529840" y="3163824"/>
            <a:ext cx="1798320" cy="292608"/>
          </a:xfrm>
          <a:prstGeom prst="rect">
            <a:avLst/>
          </a:prstGeom>
          <a:noFill/>
          <a:ln/>
        </p:spPr>
        <p:txBody>
          <a:bodyPr wrap="square" lIns="0" tIns="0" rIns="0" bIns="0" rtlCol="0" anchor="t"/>
          <a:lstStyle/>
          <a:p>
            <a:pPr algn="ctr" indent="0" marL="0">
              <a:lnSpc>
                <a:spcPct val="92000"/>
              </a:lnSpc>
              <a:buNone/>
            </a:pPr>
            <a:r>
              <a:rPr lang="en-US" sz="680" dirty="0">
                <a:solidFill>
                  <a:srgbClr val="5F716E"/>
                </a:solidFill>
                <a:latin typeface="Calibri" pitchFamily="34" charset="0"/>
                <a:ea typeface="Calibri" pitchFamily="34" charset="-122"/>
                <a:cs typeface="Calibri" pitchFamily="34" charset="-120"/>
              </a:rPr>
              <a:t>billed to MT accounts and not yet sold through</a:t>
            </a:r>
            <a:endParaRPr lang="en-US" sz="680" dirty="0"/>
          </a:p>
        </p:txBody>
      </p:sp>
      <p:sp>
        <p:nvSpPr>
          <p:cNvPr id="34" name="Shape 31"/>
          <p:cNvSpPr/>
          <p:nvPr/>
        </p:nvSpPr>
        <p:spPr>
          <a:xfrm>
            <a:off x="2529840" y="3579876"/>
            <a:ext cx="50292" cy="50292"/>
          </a:xfrm>
          <a:prstGeom prst="ellipse">
            <a:avLst/>
          </a:prstGeom>
          <a:solidFill>
            <a:srgbClr val="D6544D"/>
          </a:solidFill>
          <a:ln/>
        </p:spPr>
      </p:sp>
      <p:sp>
        <p:nvSpPr>
          <p:cNvPr id="35" name="Text 32"/>
          <p:cNvSpPr/>
          <p:nvPr/>
        </p:nvSpPr>
        <p:spPr>
          <a:xfrm>
            <a:off x="2648712" y="3529584"/>
            <a:ext cx="1679448" cy="365760"/>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MT primary ₹47.02 Cr less MT offtake ₹33.96 Cr.</a:t>
            </a:r>
            <a:endParaRPr lang="en-US" sz="690" dirty="0"/>
          </a:p>
        </p:txBody>
      </p:sp>
      <p:sp>
        <p:nvSpPr>
          <p:cNvPr id="36" name="Shape 33"/>
          <p:cNvSpPr/>
          <p:nvPr/>
        </p:nvSpPr>
        <p:spPr>
          <a:xfrm>
            <a:off x="2529840" y="3963924"/>
            <a:ext cx="50292" cy="50292"/>
          </a:xfrm>
          <a:prstGeom prst="ellipse">
            <a:avLst/>
          </a:prstGeom>
          <a:solidFill>
            <a:srgbClr val="D6544D"/>
          </a:solidFill>
          <a:ln/>
        </p:spPr>
      </p:sp>
      <p:sp>
        <p:nvSpPr>
          <p:cNvPr id="37" name="Text 34"/>
          <p:cNvSpPr/>
          <p:nvPr/>
        </p:nvSpPr>
        <p:spPr>
          <a:xfrm>
            <a:off x="2648712" y="3913632"/>
            <a:ext cx="1679448" cy="365760"/>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North and East hold ₹7.97 Cr of it — 61% in two zones.</a:t>
            </a:r>
            <a:endParaRPr lang="en-US" sz="690" dirty="0"/>
          </a:p>
        </p:txBody>
      </p:sp>
      <p:sp>
        <p:nvSpPr>
          <p:cNvPr id="38" name="Shape 35"/>
          <p:cNvSpPr/>
          <p:nvPr/>
        </p:nvSpPr>
        <p:spPr>
          <a:xfrm>
            <a:off x="2529840" y="4347972"/>
            <a:ext cx="50292" cy="50292"/>
          </a:xfrm>
          <a:prstGeom prst="ellipse">
            <a:avLst/>
          </a:prstGeom>
          <a:solidFill>
            <a:srgbClr val="2E7DA8"/>
          </a:solidFill>
          <a:ln/>
        </p:spPr>
      </p:sp>
      <p:sp>
        <p:nvSpPr>
          <p:cNvPr id="39" name="Text 36"/>
          <p:cNvSpPr/>
          <p:nvPr/>
        </p:nvSpPr>
        <p:spPr>
          <a:xfrm>
            <a:off x="2648712" y="4297680"/>
            <a:ext cx="1679448" cy="365760"/>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eB2B ₹2.20 Cr and SIS carry their own flow, on their own pages.</a:t>
            </a:r>
            <a:endParaRPr lang="en-US" sz="690" dirty="0"/>
          </a:p>
        </p:txBody>
      </p:sp>
      <p:sp>
        <p:nvSpPr>
          <p:cNvPr id="40" name="Shape 37"/>
          <p:cNvSpPr/>
          <p:nvPr/>
        </p:nvSpPr>
        <p:spPr>
          <a:xfrm>
            <a:off x="4575048" y="2414016"/>
            <a:ext cx="2017776" cy="2615184"/>
          </a:xfrm>
          <a:prstGeom prst="roundRect">
            <a:avLst>
              <a:gd name="adj" fmla="val 906"/>
            </a:avLst>
          </a:prstGeom>
          <a:solidFill>
            <a:srgbClr val="FFFFFF"/>
          </a:solidFill>
          <a:ln w="9525">
            <a:solidFill>
              <a:srgbClr val="C8DCD7"/>
            </a:solidFill>
            <a:prstDash val="solid"/>
          </a:ln>
        </p:spPr>
      </p:sp>
      <p:sp>
        <p:nvSpPr>
          <p:cNvPr id="41" name="Shape 38"/>
          <p:cNvSpPr/>
          <p:nvPr/>
        </p:nvSpPr>
        <p:spPr>
          <a:xfrm>
            <a:off x="4575048" y="2414016"/>
            <a:ext cx="2017776" cy="274320"/>
          </a:xfrm>
          <a:prstGeom prst="rect">
            <a:avLst/>
          </a:prstGeom>
          <a:solidFill>
            <a:srgbClr val="2B9A66"/>
          </a:solidFill>
          <a:ln/>
        </p:spPr>
      </p:sp>
      <p:sp>
        <p:nvSpPr>
          <p:cNvPr id="42" name="Text 39"/>
          <p:cNvSpPr/>
          <p:nvPr/>
        </p:nvSpPr>
        <p:spPr>
          <a:xfrm>
            <a:off x="4657344" y="2432304"/>
            <a:ext cx="1853184"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THE PRIZE</a:t>
            </a:r>
            <a:endParaRPr lang="en-US" sz="700" dirty="0"/>
          </a:p>
        </p:txBody>
      </p:sp>
      <p:sp>
        <p:nvSpPr>
          <p:cNvPr id="43" name="Text 40"/>
          <p:cNvSpPr/>
          <p:nvPr/>
        </p:nvSpPr>
        <p:spPr>
          <a:xfrm>
            <a:off x="4666488" y="2779776"/>
            <a:ext cx="1834896" cy="365760"/>
          </a:xfrm>
          <a:prstGeom prst="rect">
            <a:avLst/>
          </a:prstGeom>
          <a:noFill/>
          <a:ln/>
        </p:spPr>
        <p:txBody>
          <a:bodyPr wrap="square" lIns="0" tIns="0" rIns="0" bIns="0" rtlCol="0" anchor="t"/>
          <a:lstStyle/>
          <a:p>
            <a:pPr algn="ctr" indent="0" marL="0">
              <a:buNone/>
            </a:pPr>
            <a:r>
              <a:rPr lang="en-US" sz="1900" b="1" dirty="0">
                <a:solidFill>
                  <a:srgbClr val="2B9A66"/>
                </a:solidFill>
                <a:latin typeface="Calibri Light" pitchFamily="34" charset="0"/>
                <a:ea typeface="Calibri Light" pitchFamily="34" charset="-122"/>
                <a:cs typeface="Calibri Light" pitchFamily="34" charset="-120"/>
              </a:rPr>
              <a:t>₹6.22 Cr</a:t>
            </a:r>
            <a:endParaRPr lang="en-US" sz="1900" dirty="0"/>
          </a:p>
        </p:txBody>
      </p:sp>
      <p:sp>
        <p:nvSpPr>
          <p:cNvPr id="44" name="Text 41"/>
          <p:cNvSpPr/>
          <p:nvPr/>
        </p:nvSpPr>
        <p:spPr>
          <a:xfrm>
            <a:off x="4666488" y="3163824"/>
            <a:ext cx="1834896" cy="164592"/>
          </a:xfrm>
          <a:prstGeom prst="rect">
            <a:avLst/>
          </a:prstGeom>
          <a:noFill/>
          <a:ln/>
        </p:spPr>
        <p:txBody>
          <a:bodyPr wrap="square" lIns="0" tIns="0" rIns="0" bIns="0" rtlCol="0" anchor="t"/>
          <a:lstStyle/>
          <a:p>
            <a:pPr algn="ctr" indent="0" marL="0">
              <a:buNone/>
            </a:pPr>
            <a:r>
              <a:rPr lang="en-US" sz="680" dirty="0">
                <a:solidFill>
                  <a:srgbClr val="5F716E"/>
                </a:solidFill>
                <a:latin typeface="Calibri" pitchFamily="34" charset="0"/>
                <a:ea typeface="Calibri" pitchFamily="34" charset="-122"/>
                <a:cs typeface="Calibri" pitchFamily="34" charset="-120"/>
              </a:rPr>
              <a:t>one month, no extra primary</a:t>
            </a:r>
            <a:endParaRPr lang="en-US" sz="680" dirty="0"/>
          </a:p>
        </p:txBody>
      </p:sp>
      <p:sp>
        <p:nvSpPr>
          <p:cNvPr id="45" name="Text 42"/>
          <p:cNvSpPr/>
          <p:nvPr/>
        </p:nvSpPr>
        <p:spPr>
          <a:xfrm>
            <a:off x="4666488" y="3383280"/>
            <a:ext cx="1834896"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Recoverable by zone (₹ Cr)</a:t>
            </a:r>
            <a:endParaRPr lang="en-US" sz="720" dirty="0"/>
          </a:p>
        </p:txBody>
      </p:sp>
      <p:graphicFrame>
        <p:nvGraphicFramePr>
          <p:cNvPr id="46" name="Chart 1" descr=""/>
          <p:cNvGraphicFramePr/>
          <p:nvPr/>
        </p:nvGraphicFramePr>
        <p:xfrm>
          <a:off x="4593336" y="3584448"/>
          <a:ext cx="1944624" cy="1005840"/>
        </p:xfrm>
        <a:graphic xmlns:a="http://schemas.openxmlformats.org/drawingml/2006/main">
          <a:graphicData uri="http://schemas.openxmlformats.org/drawingml/2006/chart">
            <c:chart xmlns:c="http://schemas.openxmlformats.org/drawingml/2006/chart" r:id="rId2"/>
          </a:graphicData>
        </a:graphic>
      </p:graphicFrame>
      <p:sp>
        <p:nvSpPr>
          <p:cNvPr id="47" name="Text 43"/>
          <p:cNvSpPr/>
          <p:nvPr/>
        </p:nvSpPr>
        <p:spPr>
          <a:xfrm>
            <a:off x="4666488" y="4626864"/>
            <a:ext cx="1834896" cy="201168"/>
          </a:xfrm>
          <a:prstGeom prst="rect">
            <a:avLst/>
          </a:prstGeom>
          <a:noFill/>
          <a:ln/>
        </p:spPr>
        <p:txBody>
          <a:bodyPr wrap="square" lIns="0" tIns="0" rIns="0" bIns="0" rtlCol="0" anchor="t"/>
          <a:lstStyle/>
          <a:p>
            <a:pPr indent="0" marL="0">
              <a:lnSpc>
                <a:spcPct val="92000"/>
              </a:lnSpc>
              <a:buNone/>
            </a:pPr>
            <a:r>
              <a:rPr lang="en-US" sz="620" dirty="0">
                <a:solidFill>
                  <a:srgbClr val="5F716E"/>
                </a:solidFill>
                <a:latin typeface="Calibri" pitchFamily="34" charset="0"/>
                <a:ea typeface="Calibri" pitchFamily="34" charset="-122"/>
                <a:cs typeface="Calibri" pitchFamily="34" charset="-120"/>
              </a:rPr>
              <a:t>West +0.05 and Central +0.13 are below the ₹0.25 Cr floor.</a:t>
            </a:r>
            <a:endParaRPr lang="en-US" sz="620" dirty="0"/>
          </a:p>
        </p:txBody>
      </p:sp>
      <p:sp>
        <p:nvSpPr>
          <p:cNvPr id="48" name="Shape 44"/>
          <p:cNvSpPr/>
          <p:nvPr/>
        </p:nvSpPr>
        <p:spPr>
          <a:xfrm>
            <a:off x="265176" y="5175504"/>
            <a:ext cx="2017776" cy="2615184"/>
          </a:xfrm>
          <a:prstGeom prst="roundRect">
            <a:avLst>
              <a:gd name="adj" fmla="val 906"/>
            </a:avLst>
          </a:prstGeom>
          <a:solidFill>
            <a:srgbClr val="FFFFFF"/>
          </a:solidFill>
          <a:ln w="9525">
            <a:solidFill>
              <a:srgbClr val="C8DCD7"/>
            </a:solidFill>
            <a:prstDash val="solid"/>
          </a:ln>
        </p:spPr>
      </p:sp>
      <p:sp>
        <p:nvSpPr>
          <p:cNvPr id="49" name="Shape 45"/>
          <p:cNvSpPr/>
          <p:nvPr/>
        </p:nvSpPr>
        <p:spPr>
          <a:xfrm>
            <a:off x="265176" y="5175504"/>
            <a:ext cx="2017776" cy="274320"/>
          </a:xfrm>
          <a:prstGeom prst="rect">
            <a:avLst/>
          </a:prstGeom>
          <a:solidFill>
            <a:srgbClr val="D6544D"/>
          </a:solidFill>
          <a:ln/>
        </p:spPr>
      </p:sp>
      <p:sp>
        <p:nvSpPr>
          <p:cNvPr id="50" name="Text 46"/>
          <p:cNvSpPr/>
          <p:nvPr/>
        </p:nvSpPr>
        <p:spPr>
          <a:xfrm>
            <a:off x="347472" y="5193792"/>
            <a:ext cx="1853184"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A ONE-ACCOUNT MONTH</a:t>
            </a:r>
            <a:endParaRPr lang="en-US" sz="700" dirty="0"/>
          </a:p>
        </p:txBody>
      </p:sp>
      <p:sp>
        <p:nvSpPr>
          <p:cNvPr id="51" name="Text 47"/>
          <p:cNvSpPr/>
          <p:nvPr/>
        </p:nvSpPr>
        <p:spPr>
          <a:xfrm>
            <a:off x="356616" y="5541264"/>
            <a:ext cx="1834896" cy="329184"/>
          </a:xfrm>
          <a:prstGeom prst="rect">
            <a:avLst/>
          </a:prstGeom>
          <a:noFill/>
          <a:ln/>
        </p:spPr>
        <p:txBody>
          <a:bodyPr wrap="square" lIns="0" tIns="0" rIns="0" bIns="0" rtlCol="0" anchor="t"/>
          <a:lstStyle/>
          <a:p>
            <a:pPr algn="ctr" indent="0" marL="0">
              <a:buNone/>
            </a:pPr>
            <a:r>
              <a:rPr lang="en-US" sz="1700" b="1" dirty="0">
                <a:solidFill>
                  <a:srgbClr val="D6544D"/>
                </a:solidFill>
                <a:latin typeface="Calibri Light" pitchFamily="34" charset="0"/>
                <a:ea typeface="Calibri Light" pitchFamily="34" charset="-122"/>
                <a:cs typeface="Calibri Light" pitchFamily="34" charset="-120"/>
              </a:rPr>
              <a:t>−₹1.42 Cr</a:t>
            </a:r>
            <a:endParaRPr lang="en-US" sz="1700" dirty="0"/>
          </a:p>
        </p:txBody>
      </p:sp>
      <p:sp>
        <p:nvSpPr>
          <p:cNvPr id="52" name="Text 48"/>
          <p:cNvSpPr/>
          <p:nvPr/>
        </p:nvSpPr>
        <p:spPr>
          <a:xfrm>
            <a:off x="356616" y="5888736"/>
            <a:ext cx="1834896" cy="164592"/>
          </a:xfrm>
          <a:prstGeom prst="rect">
            <a:avLst/>
          </a:prstGeom>
          <a:noFill/>
          <a:ln/>
        </p:spPr>
        <p:txBody>
          <a:bodyPr wrap="square" lIns="0" tIns="0" rIns="0" bIns="0" rtlCol="0" anchor="t"/>
          <a:lstStyle/>
          <a:p>
            <a:pPr algn="ctr" indent="0" marL="0">
              <a:buNone/>
            </a:pPr>
            <a:r>
              <a:rPr lang="en-US" sz="680" dirty="0">
                <a:solidFill>
                  <a:srgbClr val="5F716E"/>
                </a:solidFill>
                <a:latin typeface="Calibri" pitchFamily="34" charset="0"/>
                <a:ea typeface="Calibri" pitchFamily="34" charset="-122"/>
                <a:cs typeface="Calibri" pitchFamily="34" charset="-120"/>
              </a:rPr>
              <a:t>Reliance June → July</a:t>
            </a:r>
            <a:endParaRPr lang="en-US" sz="680" dirty="0"/>
          </a:p>
        </p:txBody>
      </p:sp>
      <p:sp>
        <p:nvSpPr>
          <p:cNvPr id="53" name="Shape 49"/>
          <p:cNvSpPr/>
          <p:nvPr/>
        </p:nvSpPr>
        <p:spPr>
          <a:xfrm>
            <a:off x="374904" y="6176772"/>
            <a:ext cx="50292" cy="50292"/>
          </a:xfrm>
          <a:prstGeom prst="ellipse">
            <a:avLst/>
          </a:prstGeom>
          <a:solidFill>
            <a:srgbClr val="28A596"/>
          </a:solidFill>
          <a:ln/>
        </p:spPr>
      </p:sp>
      <p:sp>
        <p:nvSpPr>
          <p:cNvPr id="54" name="Text 50"/>
          <p:cNvSpPr/>
          <p:nvPr/>
        </p:nvSpPr>
        <p:spPr>
          <a:xfrm>
            <a:off x="493776" y="6126480"/>
            <a:ext cx="1679448" cy="365760"/>
          </a:xfrm>
          <a:prstGeom prst="rect">
            <a:avLst/>
          </a:prstGeom>
          <a:noFill/>
          <a:ln/>
        </p:spPr>
        <p:txBody>
          <a:bodyPr wrap="square" lIns="0" tIns="0" rIns="0" bIns="0" rtlCol="0" anchor="t"/>
          <a:lstStyle/>
          <a:p>
            <a:pPr indent="0" marL="0">
              <a:lnSpc>
                <a:spcPct val="92000"/>
              </a:lnSpc>
              <a:buNone/>
            </a:pPr>
            <a:r>
              <a:rPr lang="en-US" sz="690" b="1" dirty="0">
                <a:solidFill>
                  <a:srgbClr val="183B39"/>
                </a:solidFill>
                <a:latin typeface="Calibri" pitchFamily="34" charset="0"/>
                <a:ea typeface="Calibri" pitchFamily="34" charset="-122"/>
                <a:cs typeface="Calibri" pitchFamily="34" charset="-120"/>
              </a:rPr>
              <a:t>Modern Trade fell ₹1.29 Cr month on month.</a:t>
            </a:r>
            <a:endParaRPr lang="en-US" sz="690" dirty="0"/>
          </a:p>
        </p:txBody>
      </p:sp>
      <p:sp>
        <p:nvSpPr>
          <p:cNvPr id="55" name="Shape 51"/>
          <p:cNvSpPr/>
          <p:nvPr/>
        </p:nvSpPr>
        <p:spPr>
          <a:xfrm>
            <a:off x="374904" y="6560820"/>
            <a:ext cx="50292" cy="50292"/>
          </a:xfrm>
          <a:prstGeom prst="ellipse">
            <a:avLst/>
          </a:prstGeom>
          <a:solidFill>
            <a:srgbClr val="2B9A66"/>
          </a:solidFill>
          <a:ln/>
        </p:spPr>
      </p:sp>
      <p:sp>
        <p:nvSpPr>
          <p:cNvPr id="56" name="Text 52"/>
          <p:cNvSpPr/>
          <p:nvPr/>
        </p:nvSpPr>
        <p:spPr>
          <a:xfrm>
            <a:off x="493776" y="6510528"/>
            <a:ext cx="1679448" cy="365760"/>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Every other comparable chain, combined, grew ₹0.13 Cr.</a:t>
            </a:r>
            <a:endParaRPr lang="en-US" sz="690" dirty="0"/>
          </a:p>
        </p:txBody>
      </p:sp>
      <p:sp>
        <p:nvSpPr>
          <p:cNvPr id="57" name="Shape 53"/>
          <p:cNvSpPr/>
          <p:nvPr/>
        </p:nvSpPr>
        <p:spPr>
          <a:xfrm>
            <a:off x="374904" y="6944868"/>
            <a:ext cx="50292" cy="50292"/>
          </a:xfrm>
          <a:prstGeom prst="ellipse">
            <a:avLst/>
          </a:prstGeom>
          <a:solidFill>
            <a:srgbClr val="D6544D"/>
          </a:solidFill>
          <a:ln/>
        </p:spPr>
      </p:sp>
      <p:sp>
        <p:nvSpPr>
          <p:cNvPr id="58" name="Text 54"/>
          <p:cNvSpPr/>
          <p:nvPr/>
        </p:nvSpPr>
        <p:spPr>
          <a:xfrm>
            <a:off x="493776" y="6894576"/>
            <a:ext cx="1679448" cy="365760"/>
          </a:xfrm>
          <a:prstGeom prst="rect">
            <a:avLst/>
          </a:prstGeom>
          <a:noFill/>
          <a:ln/>
        </p:spPr>
        <p:txBody>
          <a:bodyPr wrap="square" lIns="0" tIns="0" rIns="0" bIns="0" rtlCol="0" anchor="t"/>
          <a:lstStyle/>
          <a:p>
            <a:pPr indent="0" marL="0">
              <a:lnSpc>
                <a:spcPct val="92000"/>
              </a:lnSpc>
              <a:buNone/>
            </a:pPr>
            <a:r>
              <a:rPr lang="en-US" sz="690" b="1" dirty="0">
                <a:solidFill>
                  <a:srgbClr val="183B39"/>
                </a:solidFill>
                <a:latin typeface="Calibri" pitchFamily="34" charset="0"/>
                <a:ea typeface="Calibri" pitchFamily="34" charset="-122"/>
                <a:cs typeface="Calibri" pitchFamily="34" charset="-120"/>
              </a:rPr>
              <a:t>This is not a broad softening — it is one account.</a:t>
            </a:r>
            <a:endParaRPr lang="en-US" sz="690" dirty="0"/>
          </a:p>
        </p:txBody>
      </p:sp>
      <p:sp>
        <p:nvSpPr>
          <p:cNvPr id="59" name="Shape 55"/>
          <p:cNvSpPr/>
          <p:nvPr/>
        </p:nvSpPr>
        <p:spPr>
          <a:xfrm>
            <a:off x="2420112" y="5175504"/>
            <a:ext cx="2017776" cy="2615184"/>
          </a:xfrm>
          <a:prstGeom prst="roundRect">
            <a:avLst>
              <a:gd name="adj" fmla="val 906"/>
            </a:avLst>
          </a:prstGeom>
          <a:solidFill>
            <a:srgbClr val="FFFFFF"/>
          </a:solidFill>
          <a:ln w="9525">
            <a:solidFill>
              <a:srgbClr val="C8DCD7"/>
            </a:solidFill>
            <a:prstDash val="solid"/>
          </a:ln>
        </p:spPr>
      </p:sp>
      <p:sp>
        <p:nvSpPr>
          <p:cNvPr id="60" name="Shape 56"/>
          <p:cNvSpPr/>
          <p:nvPr/>
        </p:nvSpPr>
        <p:spPr>
          <a:xfrm>
            <a:off x="2420112" y="5175504"/>
            <a:ext cx="2017776" cy="274320"/>
          </a:xfrm>
          <a:prstGeom prst="rect">
            <a:avLst/>
          </a:prstGeom>
          <a:solidFill>
            <a:srgbClr val="F2B84B"/>
          </a:solidFill>
          <a:ln/>
        </p:spPr>
      </p:sp>
      <p:sp>
        <p:nvSpPr>
          <p:cNvPr id="61" name="Text 57"/>
          <p:cNvSpPr/>
          <p:nvPr/>
        </p:nvSpPr>
        <p:spPr>
          <a:xfrm>
            <a:off x="2502408" y="5193792"/>
            <a:ext cx="1853184"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NPI IS MIS-TARGETED</a:t>
            </a:r>
            <a:endParaRPr lang="en-US" sz="700" dirty="0"/>
          </a:p>
        </p:txBody>
      </p:sp>
      <p:sp>
        <p:nvSpPr>
          <p:cNvPr id="62" name="Text 58"/>
          <p:cNvSpPr/>
          <p:nvPr/>
        </p:nvSpPr>
        <p:spPr>
          <a:xfrm>
            <a:off x="2511552" y="5541264"/>
            <a:ext cx="1834896" cy="329184"/>
          </a:xfrm>
          <a:prstGeom prst="rect">
            <a:avLst/>
          </a:prstGeom>
          <a:noFill/>
          <a:ln/>
        </p:spPr>
        <p:txBody>
          <a:bodyPr wrap="square" lIns="0" tIns="0" rIns="0" bIns="0" rtlCol="0" anchor="t"/>
          <a:lstStyle/>
          <a:p>
            <a:pPr algn="ctr" indent="0" marL="0">
              <a:buNone/>
            </a:pPr>
            <a:r>
              <a:rPr lang="en-US" sz="1700" b="1" dirty="0">
                <a:solidFill>
                  <a:srgbClr val="F2B84B"/>
                </a:solidFill>
                <a:latin typeface="Calibri Light" pitchFamily="34" charset="0"/>
                <a:ea typeface="Calibri Light" pitchFamily="34" charset="-122"/>
                <a:cs typeface="Calibri Light" pitchFamily="34" charset="-120"/>
              </a:rPr>
              <a:t>82.4%</a:t>
            </a:r>
            <a:endParaRPr lang="en-US" sz="1700" dirty="0"/>
          </a:p>
        </p:txBody>
      </p:sp>
      <p:sp>
        <p:nvSpPr>
          <p:cNvPr id="63" name="Text 59"/>
          <p:cNvSpPr/>
          <p:nvPr/>
        </p:nvSpPr>
        <p:spPr>
          <a:xfrm>
            <a:off x="2529840" y="5888736"/>
            <a:ext cx="1798320" cy="274320"/>
          </a:xfrm>
          <a:prstGeom prst="rect">
            <a:avLst/>
          </a:prstGeom>
          <a:noFill/>
          <a:ln/>
        </p:spPr>
        <p:txBody>
          <a:bodyPr wrap="square" lIns="0" tIns="0" rIns="0" bIns="0" rtlCol="0" anchor="t"/>
          <a:lstStyle/>
          <a:p>
            <a:pPr algn="ctr" indent="0" marL="0">
              <a:lnSpc>
                <a:spcPct val="92000"/>
              </a:lnSpc>
              <a:buNone/>
            </a:pPr>
            <a:r>
              <a:rPr lang="en-US" sz="680" dirty="0">
                <a:solidFill>
                  <a:srgbClr val="5F716E"/>
                </a:solidFill>
                <a:latin typeface="Calibri" pitchFamily="34" charset="0"/>
                <a:ea typeface="Calibri" pitchFamily="34" charset="-122"/>
                <a:cs typeface="Calibri" pitchFamily="34" charset="-120"/>
              </a:rPr>
              <a:t>of NPI value sits in the two worst-converting accounts</a:t>
            </a:r>
            <a:endParaRPr lang="en-US" sz="680" dirty="0"/>
          </a:p>
        </p:txBody>
      </p:sp>
      <p:sp>
        <p:nvSpPr>
          <p:cNvPr id="64" name="Shape 60"/>
          <p:cNvSpPr/>
          <p:nvPr/>
        </p:nvSpPr>
        <p:spPr>
          <a:xfrm>
            <a:off x="2529840" y="6268212"/>
            <a:ext cx="50292" cy="50292"/>
          </a:xfrm>
          <a:prstGeom prst="ellipse">
            <a:avLst/>
          </a:prstGeom>
          <a:solidFill>
            <a:srgbClr val="D6544D"/>
          </a:solidFill>
          <a:ln/>
        </p:spPr>
      </p:sp>
      <p:sp>
        <p:nvSpPr>
          <p:cNvPr id="65" name="Text 61"/>
          <p:cNvSpPr/>
          <p:nvPr/>
        </p:nvSpPr>
        <p:spPr>
          <a:xfrm>
            <a:off x="2648712" y="6217920"/>
            <a:ext cx="1679448"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Reliance alone holds 47.1% of NPI at 51.4% conversion.</a:t>
            </a:r>
            <a:endParaRPr lang="en-US" sz="690" dirty="0"/>
          </a:p>
        </p:txBody>
      </p:sp>
      <p:sp>
        <p:nvSpPr>
          <p:cNvPr id="66" name="Shape 62"/>
          <p:cNvSpPr/>
          <p:nvPr/>
        </p:nvSpPr>
        <p:spPr>
          <a:xfrm>
            <a:off x="2529840" y="6633972"/>
            <a:ext cx="50292" cy="50292"/>
          </a:xfrm>
          <a:prstGeom prst="ellipse">
            <a:avLst/>
          </a:prstGeom>
          <a:solidFill>
            <a:srgbClr val="D6544D"/>
          </a:solidFill>
          <a:ln/>
        </p:spPr>
      </p:sp>
      <p:sp>
        <p:nvSpPr>
          <p:cNvPr id="67" name="Text 63"/>
          <p:cNvSpPr/>
          <p:nvPr/>
        </p:nvSpPr>
        <p:spPr>
          <a:xfrm>
            <a:off x="2648712" y="6583680"/>
            <a:ext cx="1679448"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East runs the highest NPI mix (10.2%) on the worst flow (49.9%).</a:t>
            </a:r>
            <a:endParaRPr lang="en-US" sz="690" dirty="0"/>
          </a:p>
        </p:txBody>
      </p:sp>
      <p:sp>
        <p:nvSpPr>
          <p:cNvPr id="68" name="Shape 64"/>
          <p:cNvSpPr/>
          <p:nvPr/>
        </p:nvSpPr>
        <p:spPr>
          <a:xfrm>
            <a:off x="2529840" y="6999732"/>
            <a:ext cx="50292" cy="50292"/>
          </a:xfrm>
          <a:prstGeom prst="ellipse">
            <a:avLst/>
          </a:prstGeom>
          <a:solidFill>
            <a:srgbClr val="28A596"/>
          </a:solidFill>
          <a:ln/>
        </p:spPr>
      </p:sp>
      <p:sp>
        <p:nvSpPr>
          <p:cNvPr id="69" name="Text 65"/>
          <p:cNvSpPr/>
          <p:nvPr/>
        </p:nvSpPr>
        <p:spPr>
          <a:xfrm>
            <a:off x="2648712" y="6949440"/>
            <a:ext cx="1679448" cy="347472"/>
          </a:xfrm>
          <a:prstGeom prst="rect">
            <a:avLst/>
          </a:prstGeom>
          <a:noFill/>
          <a:ln/>
        </p:spPr>
        <p:txBody>
          <a:bodyPr wrap="square" lIns="0" tIns="0" rIns="0" bIns="0" rtlCol="0" anchor="t"/>
          <a:lstStyle/>
          <a:p>
            <a:pPr indent="0" marL="0">
              <a:lnSpc>
                <a:spcPct val="92000"/>
              </a:lnSpc>
              <a:buNone/>
            </a:pPr>
            <a:r>
              <a:rPr lang="en-US" sz="690" b="1" dirty="0">
                <a:solidFill>
                  <a:srgbClr val="183B39"/>
                </a:solidFill>
                <a:latin typeface="Calibri" pitchFamily="34" charset="0"/>
                <a:ea typeface="Calibri" pitchFamily="34" charset="-122"/>
                <a:cs typeface="Calibri" pitchFamily="34" charset="-120"/>
              </a:rPr>
              <a:t>Launches will read as product failure when they are flow failure.</a:t>
            </a:r>
            <a:endParaRPr lang="en-US" sz="690" dirty="0"/>
          </a:p>
        </p:txBody>
      </p:sp>
      <p:sp>
        <p:nvSpPr>
          <p:cNvPr id="70" name="Shape 66"/>
          <p:cNvSpPr/>
          <p:nvPr/>
        </p:nvSpPr>
        <p:spPr>
          <a:xfrm>
            <a:off x="4575048" y="5175504"/>
            <a:ext cx="2017776" cy="2615184"/>
          </a:xfrm>
          <a:prstGeom prst="roundRect">
            <a:avLst>
              <a:gd name="adj" fmla="val 906"/>
            </a:avLst>
          </a:prstGeom>
          <a:solidFill>
            <a:srgbClr val="FFFFFF"/>
          </a:solidFill>
          <a:ln w="9525">
            <a:solidFill>
              <a:srgbClr val="C8DCD7"/>
            </a:solidFill>
            <a:prstDash val="solid"/>
          </a:ln>
        </p:spPr>
      </p:sp>
      <p:sp>
        <p:nvSpPr>
          <p:cNvPr id="71" name="Shape 67"/>
          <p:cNvSpPr/>
          <p:nvPr/>
        </p:nvSpPr>
        <p:spPr>
          <a:xfrm>
            <a:off x="4575048" y="5175504"/>
            <a:ext cx="2017776" cy="274320"/>
          </a:xfrm>
          <a:prstGeom prst="rect">
            <a:avLst/>
          </a:prstGeom>
          <a:solidFill>
            <a:srgbClr val="116F68"/>
          </a:solidFill>
          <a:ln/>
        </p:spPr>
      </p:sp>
      <p:sp>
        <p:nvSpPr>
          <p:cNvPr id="72" name="Text 68"/>
          <p:cNvSpPr/>
          <p:nvPr/>
        </p:nvSpPr>
        <p:spPr>
          <a:xfrm>
            <a:off x="4657344" y="5193792"/>
            <a:ext cx="1853184"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GEOGRAPHIC ENGINES</a:t>
            </a:r>
            <a:endParaRPr lang="en-US" sz="700" dirty="0"/>
          </a:p>
        </p:txBody>
      </p:sp>
      <p:sp>
        <p:nvSpPr>
          <p:cNvPr id="73" name="Shape 69"/>
          <p:cNvSpPr/>
          <p:nvPr/>
        </p:nvSpPr>
        <p:spPr>
          <a:xfrm>
            <a:off x="4684776" y="5628132"/>
            <a:ext cx="50292" cy="50292"/>
          </a:xfrm>
          <a:prstGeom prst="ellipse">
            <a:avLst/>
          </a:prstGeom>
          <a:solidFill>
            <a:srgbClr val="2B9A66"/>
          </a:solidFill>
          <a:ln/>
        </p:spPr>
      </p:sp>
      <p:sp>
        <p:nvSpPr>
          <p:cNvPr id="74" name="Text 70"/>
          <p:cNvSpPr/>
          <p:nvPr/>
        </p:nvSpPr>
        <p:spPr>
          <a:xfrm>
            <a:off x="4803648" y="5577840"/>
            <a:ext cx="1679448" cy="347472"/>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West ₹8.27 Cr at 85.2% — national benchmark.</a:t>
            </a:r>
            <a:endParaRPr lang="en-US" sz="700" dirty="0"/>
          </a:p>
        </p:txBody>
      </p:sp>
      <p:sp>
        <p:nvSpPr>
          <p:cNvPr id="75" name="Shape 71"/>
          <p:cNvSpPr/>
          <p:nvPr/>
        </p:nvSpPr>
        <p:spPr>
          <a:xfrm>
            <a:off x="4684776" y="5993892"/>
            <a:ext cx="50292" cy="50292"/>
          </a:xfrm>
          <a:prstGeom prst="ellipse">
            <a:avLst/>
          </a:prstGeom>
          <a:solidFill>
            <a:srgbClr val="2B9A66"/>
          </a:solidFill>
          <a:ln/>
        </p:spPr>
      </p:sp>
      <p:sp>
        <p:nvSpPr>
          <p:cNvPr id="76" name="Text 72"/>
          <p:cNvSpPr/>
          <p:nvPr/>
        </p:nvSpPr>
        <p:spPr>
          <a:xfrm>
            <a:off x="4803648" y="5943600"/>
            <a:ext cx="1679448" cy="347472"/>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South-1 ₹8.18 Cr at 86.3% — best flow in the country.</a:t>
            </a:r>
            <a:endParaRPr lang="en-US" sz="700" dirty="0"/>
          </a:p>
        </p:txBody>
      </p:sp>
      <p:sp>
        <p:nvSpPr>
          <p:cNvPr id="77" name="Shape 73"/>
          <p:cNvSpPr/>
          <p:nvPr/>
        </p:nvSpPr>
        <p:spPr>
          <a:xfrm>
            <a:off x="4684776" y="6359652"/>
            <a:ext cx="50292" cy="50292"/>
          </a:xfrm>
          <a:prstGeom prst="ellipse">
            <a:avLst/>
          </a:prstGeom>
          <a:solidFill>
            <a:srgbClr val="D6544D"/>
          </a:solidFill>
          <a:ln/>
        </p:spPr>
      </p:sp>
      <p:sp>
        <p:nvSpPr>
          <p:cNvPr id="78" name="Text 74"/>
          <p:cNvSpPr/>
          <p:nvPr/>
        </p:nvSpPr>
        <p:spPr>
          <a:xfrm>
            <a:off x="4803648" y="6309360"/>
            <a:ext cx="1679448" cy="347472"/>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North ₹4.41 Cr gap — largest recovery pool.</a:t>
            </a:r>
            <a:endParaRPr lang="en-US" sz="700" dirty="0"/>
          </a:p>
        </p:txBody>
      </p:sp>
      <p:sp>
        <p:nvSpPr>
          <p:cNvPr id="79" name="Shape 75"/>
          <p:cNvSpPr/>
          <p:nvPr/>
        </p:nvSpPr>
        <p:spPr>
          <a:xfrm>
            <a:off x="4684776" y="6725412"/>
            <a:ext cx="50292" cy="50292"/>
          </a:xfrm>
          <a:prstGeom prst="ellipse">
            <a:avLst/>
          </a:prstGeom>
          <a:solidFill>
            <a:srgbClr val="D6544D"/>
          </a:solidFill>
          <a:ln/>
        </p:spPr>
      </p:sp>
      <p:sp>
        <p:nvSpPr>
          <p:cNvPr id="80" name="Text 76"/>
          <p:cNvSpPr/>
          <p:nvPr/>
        </p:nvSpPr>
        <p:spPr>
          <a:xfrm>
            <a:off x="4803648" y="6675120"/>
            <a:ext cx="1679448" cy="347472"/>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East 49.9% conversion — weakest flow, highest NPI mix.</a:t>
            </a:r>
            <a:endParaRPr lang="en-US" sz="700" dirty="0"/>
          </a:p>
        </p:txBody>
      </p:sp>
      <p:sp>
        <p:nvSpPr>
          <p:cNvPr id="81" name="Shape 77"/>
          <p:cNvSpPr/>
          <p:nvPr/>
        </p:nvSpPr>
        <p:spPr>
          <a:xfrm>
            <a:off x="4684776" y="7091172"/>
            <a:ext cx="50292" cy="50292"/>
          </a:xfrm>
          <a:prstGeom prst="ellipse">
            <a:avLst/>
          </a:prstGeom>
          <a:solidFill>
            <a:srgbClr val="F2B84B"/>
          </a:solidFill>
          <a:ln/>
        </p:spPr>
      </p:sp>
      <p:sp>
        <p:nvSpPr>
          <p:cNvPr id="82" name="Text 78"/>
          <p:cNvSpPr/>
          <p:nvPr/>
        </p:nvSpPr>
        <p:spPr>
          <a:xfrm>
            <a:off x="4803648" y="7040880"/>
            <a:ext cx="1679448" cy="347472"/>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South-2 now clears the floor at +₹0.89 Cr recoverable.</a:t>
            </a:r>
            <a:endParaRPr lang="en-US" sz="700" dirty="0"/>
          </a:p>
        </p:txBody>
      </p:sp>
      <p:sp>
        <p:nvSpPr>
          <p:cNvPr id="83" name="Shape 79"/>
          <p:cNvSpPr/>
          <p:nvPr/>
        </p:nvSpPr>
        <p:spPr>
          <a:xfrm>
            <a:off x="265176" y="7936992"/>
            <a:ext cx="2017776" cy="2615184"/>
          </a:xfrm>
          <a:prstGeom prst="roundRect">
            <a:avLst>
              <a:gd name="adj" fmla="val 906"/>
            </a:avLst>
          </a:prstGeom>
          <a:solidFill>
            <a:srgbClr val="FFFFFF"/>
          </a:solidFill>
          <a:ln w="9525">
            <a:solidFill>
              <a:srgbClr val="C8DCD7"/>
            </a:solidFill>
            <a:prstDash val="solid"/>
          </a:ln>
        </p:spPr>
      </p:sp>
      <p:sp>
        <p:nvSpPr>
          <p:cNvPr id="84" name="Shape 80"/>
          <p:cNvSpPr/>
          <p:nvPr/>
        </p:nvSpPr>
        <p:spPr>
          <a:xfrm>
            <a:off x="265176" y="7936992"/>
            <a:ext cx="2017776" cy="274320"/>
          </a:xfrm>
          <a:prstGeom prst="rect">
            <a:avLst/>
          </a:prstGeom>
          <a:solidFill>
            <a:srgbClr val="116F68"/>
          </a:solidFill>
          <a:ln/>
        </p:spPr>
      </p:sp>
      <p:sp>
        <p:nvSpPr>
          <p:cNvPr id="85" name="Text 81"/>
          <p:cNvSpPr/>
          <p:nvPr/>
        </p:nvSpPr>
        <p:spPr>
          <a:xfrm>
            <a:off x="347472" y="7955280"/>
            <a:ext cx="1853184"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90-DAY MOVES</a:t>
            </a:r>
            <a:endParaRPr lang="en-US" sz="700" dirty="0"/>
          </a:p>
        </p:txBody>
      </p:sp>
      <p:sp>
        <p:nvSpPr>
          <p:cNvPr id="86" name="Shape 82"/>
          <p:cNvSpPr/>
          <p:nvPr/>
        </p:nvSpPr>
        <p:spPr>
          <a:xfrm>
            <a:off x="374904" y="8389620"/>
            <a:ext cx="50292" cy="50292"/>
          </a:xfrm>
          <a:prstGeom prst="ellipse">
            <a:avLst/>
          </a:prstGeom>
          <a:solidFill>
            <a:srgbClr val="28A596"/>
          </a:solidFill>
          <a:ln/>
        </p:spPr>
      </p:sp>
      <p:sp>
        <p:nvSpPr>
          <p:cNvPr id="87" name="Text 83"/>
          <p:cNvSpPr/>
          <p:nvPr/>
        </p:nvSpPr>
        <p:spPr>
          <a:xfrm>
            <a:off x="493776" y="8339328"/>
            <a:ext cx="1679448" cy="365760"/>
          </a:xfrm>
          <a:prstGeom prst="rect">
            <a:avLst/>
          </a:prstGeom>
          <a:noFill/>
          <a:ln/>
        </p:spPr>
        <p:txBody>
          <a:bodyPr wrap="square" lIns="0" tIns="0" rIns="0" bIns="0" rtlCol="0" anchor="t"/>
          <a:lstStyle/>
          <a:p>
            <a:pPr indent="0" marL="0">
              <a:lnSpc>
                <a:spcPct val="92000"/>
              </a:lnSpc>
              <a:buNone/>
            </a:pPr>
            <a:r>
              <a:rPr lang="en-US" sz="700" b="1" dirty="0">
                <a:solidFill>
                  <a:srgbClr val="183B39"/>
                </a:solidFill>
                <a:latin typeface="Calibri" pitchFamily="34" charset="0"/>
                <a:ea typeface="Calibri" pitchFamily="34" charset="-122"/>
                <a:cs typeface="Calibri" pitchFamily="34" charset="-120"/>
              </a:rPr>
              <a:t>0–30d: map Lulu, Wellness and H&amp;G primary — ₹2.23 Cr blind.</a:t>
            </a:r>
            <a:endParaRPr lang="en-US" sz="700" dirty="0"/>
          </a:p>
        </p:txBody>
      </p:sp>
      <p:sp>
        <p:nvSpPr>
          <p:cNvPr id="88" name="Shape 84"/>
          <p:cNvSpPr/>
          <p:nvPr/>
        </p:nvSpPr>
        <p:spPr>
          <a:xfrm>
            <a:off x="374904" y="8773668"/>
            <a:ext cx="50292" cy="50292"/>
          </a:xfrm>
          <a:prstGeom prst="ellipse">
            <a:avLst/>
          </a:prstGeom>
          <a:solidFill>
            <a:srgbClr val="28A596"/>
          </a:solidFill>
          <a:ln/>
        </p:spPr>
      </p:sp>
      <p:sp>
        <p:nvSpPr>
          <p:cNvPr id="89" name="Text 85"/>
          <p:cNvSpPr/>
          <p:nvPr/>
        </p:nvSpPr>
        <p:spPr>
          <a:xfrm>
            <a:off x="493776" y="8723376"/>
            <a:ext cx="1679448" cy="365760"/>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0–30d: cap East and North primary at trailing 3-month offtake.</a:t>
            </a:r>
            <a:endParaRPr lang="en-US" sz="700" dirty="0"/>
          </a:p>
        </p:txBody>
      </p:sp>
      <p:sp>
        <p:nvSpPr>
          <p:cNvPr id="90" name="Shape 86"/>
          <p:cNvSpPr/>
          <p:nvPr/>
        </p:nvSpPr>
        <p:spPr>
          <a:xfrm>
            <a:off x="374904" y="9157716"/>
            <a:ext cx="50292" cy="50292"/>
          </a:xfrm>
          <a:prstGeom prst="ellipse">
            <a:avLst/>
          </a:prstGeom>
          <a:solidFill>
            <a:srgbClr val="28A596"/>
          </a:solidFill>
          <a:ln/>
        </p:spPr>
      </p:sp>
      <p:sp>
        <p:nvSpPr>
          <p:cNvPr id="91" name="Text 87"/>
          <p:cNvSpPr/>
          <p:nvPr/>
        </p:nvSpPr>
        <p:spPr>
          <a:xfrm>
            <a:off x="493776" y="9107424"/>
            <a:ext cx="1679448" cy="365760"/>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31–60d: Reliance recovery loop across North, East and Central.</a:t>
            </a:r>
            <a:endParaRPr lang="en-US" sz="700" dirty="0"/>
          </a:p>
        </p:txBody>
      </p:sp>
      <p:sp>
        <p:nvSpPr>
          <p:cNvPr id="92" name="Shape 88"/>
          <p:cNvSpPr/>
          <p:nvPr/>
        </p:nvSpPr>
        <p:spPr>
          <a:xfrm>
            <a:off x="374904" y="9541764"/>
            <a:ext cx="50292" cy="50292"/>
          </a:xfrm>
          <a:prstGeom prst="ellipse">
            <a:avLst/>
          </a:prstGeom>
          <a:solidFill>
            <a:srgbClr val="28A596"/>
          </a:solidFill>
          <a:ln/>
        </p:spPr>
      </p:sp>
      <p:sp>
        <p:nvSpPr>
          <p:cNvPr id="93" name="Text 89"/>
          <p:cNvSpPr/>
          <p:nvPr/>
        </p:nvSpPr>
        <p:spPr>
          <a:xfrm>
            <a:off x="493776" y="9491472"/>
            <a:ext cx="1679448" cy="365760"/>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61–90d: reset loading rules by verified conversion, not by target.</a:t>
            </a:r>
            <a:endParaRPr lang="en-US" sz="700" dirty="0"/>
          </a:p>
        </p:txBody>
      </p:sp>
      <p:sp>
        <p:nvSpPr>
          <p:cNvPr id="94" name="Shape 90"/>
          <p:cNvSpPr/>
          <p:nvPr/>
        </p:nvSpPr>
        <p:spPr>
          <a:xfrm>
            <a:off x="374904" y="9925812"/>
            <a:ext cx="50292" cy="50292"/>
          </a:xfrm>
          <a:prstGeom prst="ellipse">
            <a:avLst/>
          </a:prstGeom>
          <a:solidFill>
            <a:srgbClr val="28A596"/>
          </a:solidFill>
          <a:ln/>
        </p:spPr>
      </p:sp>
      <p:sp>
        <p:nvSpPr>
          <p:cNvPr id="95" name="Text 91"/>
          <p:cNvSpPr/>
          <p:nvPr/>
        </p:nvSpPr>
        <p:spPr>
          <a:xfrm>
            <a:off x="493776" y="9875520"/>
            <a:ext cx="1679448" cy="365760"/>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Scale only what offtake has already proven.</a:t>
            </a:r>
            <a:endParaRPr lang="en-US" sz="700" dirty="0"/>
          </a:p>
        </p:txBody>
      </p:sp>
      <p:sp>
        <p:nvSpPr>
          <p:cNvPr id="96" name="Shape 92"/>
          <p:cNvSpPr/>
          <p:nvPr/>
        </p:nvSpPr>
        <p:spPr>
          <a:xfrm>
            <a:off x="2420112" y="7936992"/>
            <a:ext cx="2017776" cy="2615184"/>
          </a:xfrm>
          <a:prstGeom prst="roundRect">
            <a:avLst>
              <a:gd name="adj" fmla="val 906"/>
            </a:avLst>
          </a:prstGeom>
          <a:solidFill>
            <a:srgbClr val="FFFFFF"/>
          </a:solidFill>
          <a:ln w="9525">
            <a:solidFill>
              <a:srgbClr val="C8DCD7"/>
            </a:solidFill>
            <a:prstDash val="solid"/>
          </a:ln>
        </p:spPr>
      </p:sp>
      <p:sp>
        <p:nvSpPr>
          <p:cNvPr id="97" name="Shape 93"/>
          <p:cNvSpPr/>
          <p:nvPr/>
        </p:nvSpPr>
        <p:spPr>
          <a:xfrm>
            <a:off x="2420112" y="7936992"/>
            <a:ext cx="2017776" cy="274320"/>
          </a:xfrm>
          <a:prstGeom prst="rect">
            <a:avLst/>
          </a:prstGeom>
          <a:solidFill>
            <a:srgbClr val="116F68"/>
          </a:solidFill>
          <a:ln/>
        </p:spPr>
      </p:sp>
      <p:sp>
        <p:nvSpPr>
          <p:cNvPr id="98" name="Text 94"/>
          <p:cNvSpPr/>
          <p:nvPr/>
        </p:nvSpPr>
        <p:spPr>
          <a:xfrm>
            <a:off x="2502408" y="7955280"/>
            <a:ext cx="1853184"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LEADERSHIP SCOREBOARD</a:t>
            </a:r>
            <a:endParaRPr lang="en-US" sz="700" dirty="0"/>
          </a:p>
        </p:txBody>
      </p:sp>
      <p:sp>
        <p:nvSpPr>
          <p:cNvPr id="99" name="Shape 95"/>
          <p:cNvSpPr/>
          <p:nvPr/>
        </p:nvSpPr>
        <p:spPr>
          <a:xfrm>
            <a:off x="2529840" y="8389620"/>
            <a:ext cx="50292" cy="50292"/>
          </a:xfrm>
          <a:prstGeom prst="ellipse">
            <a:avLst/>
          </a:prstGeom>
          <a:solidFill>
            <a:srgbClr val="28A596"/>
          </a:solidFill>
          <a:ln/>
        </p:spPr>
      </p:sp>
      <p:sp>
        <p:nvSpPr>
          <p:cNvPr id="100" name="Text 96"/>
          <p:cNvSpPr/>
          <p:nvPr/>
        </p:nvSpPr>
        <p:spPr>
          <a:xfrm>
            <a:off x="2648712" y="8339328"/>
            <a:ext cx="1679448" cy="365760"/>
          </a:xfrm>
          <a:prstGeom prst="rect">
            <a:avLst/>
          </a:prstGeom>
          <a:noFill/>
          <a:ln/>
        </p:spPr>
        <p:txBody>
          <a:bodyPr wrap="square" lIns="0" tIns="0" rIns="0" bIns="0" rtlCol="0" anchor="t"/>
          <a:lstStyle/>
          <a:p>
            <a:pPr indent="0" marL="0">
              <a:lnSpc>
                <a:spcPct val="92000"/>
              </a:lnSpc>
              <a:buNone/>
            </a:pPr>
            <a:r>
              <a:rPr lang="en-US" sz="700" b="1" dirty="0">
                <a:solidFill>
                  <a:srgbClr val="183B39"/>
                </a:solidFill>
                <a:latin typeface="Calibri" pitchFamily="34" charset="0"/>
                <a:ea typeface="Calibri" pitchFamily="34" charset="-122"/>
                <a:cs typeface="Calibri" pitchFamily="34" charset="-120"/>
              </a:rPr>
              <a:t>MT flow conversion — the one metric. 72.2% → 85.5%.</a:t>
            </a:r>
            <a:endParaRPr lang="en-US" sz="700" dirty="0"/>
          </a:p>
        </p:txBody>
      </p:sp>
      <p:sp>
        <p:nvSpPr>
          <p:cNvPr id="101" name="Shape 97"/>
          <p:cNvSpPr/>
          <p:nvPr/>
        </p:nvSpPr>
        <p:spPr>
          <a:xfrm>
            <a:off x="2529840" y="8773668"/>
            <a:ext cx="50292" cy="50292"/>
          </a:xfrm>
          <a:prstGeom prst="ellipse">
            <a:avLst/>
          </a:prstGeom>
          <a:solidFill>
            <a:srgbClr val="28A596"/>
          </a:solidFill>
          <a:ln/>
        </p:spPr>
      </p:sp>
      <p:sp>
        <p:nvSpPr>
          <p:cNvPr id="102" name="Text 98"/>
          <p:cNvSpPr/>
          <p:nvPr/>
        </p:nvSpPr>
        <p:spPr>
          <a:xfrm>
            <a:off x="2648712" y="8723376"/>
            <a:ext cx="1679448" cy="365760"/>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North gap −₹2.78 Cr and East −₹2.54 Cr against benchmark, weekly.</a:t>
            </a:r>
            <a:endParaRPr lang="en-US" sz="700" dirty="0"/>
          </a:p>
        </p:txBody>
      </p:sp>
      <p:sp>
        <p:nvSpPr>
          <p:cNvPr id="103" name="Shape 99"/>
          <p:cNvSpPr/>
          <p:nvPr/>
        </p:nvSpPr>
        <p:spPr>
          <a:xfrm>
            <a:off x="2529840" y="9157716"/>
            <a:ext cx="50292" cy="50292"/>
          </a:xfrm>
          <a:prstGeom prst="ellipse">
            <a:avLst/>
          </a:prstGeom>
          <a:solidFill>
            <a:srgbClr val="28A596"/>
          </a:solidFill>
          <a:ln/>
        </p:spPr>
      </p:sp>
      <p:sp>
        <p:nvSpPr>
          <p:cNvPr id="104" name="Text 100"/>
          <p:cNvSpPr/>
          <p:nvPr/>
        </p:nvSpPr>
        <p:spPr>
          <a:xfrm>
            <a:off x="2648712" y="9107424"/>
            <a:ext cx="1679448" cy="365760"/>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Hero-SKU OSA above 95% in priority stores.</a:t>
            </a:r>
            <a:endParaRPr lang="en-US" sz="700" dirty="0"/>
          </a:p>
        </p:txBody>
      </p:sp>
      <p:sp>
        <p:nvSpPr>
          <p:cNvPr id="105" name="Shape 101"/>
          <p:cNvSpPr/>
          <p:nvPr/>
        </p:nvSpPr>
        <p:spPr>
          <a:xfrm>
            <a:off x="2529840" y="9541764"/>
            <a:ext cx="50292" cy="50292"/>
          </a:xfrm>
          <a:prstGeom prst="ellipse">
            <a:avLst/>
          </a:prstGeom>
          <a:solidFill>
            <a:srgbClr val="28A596"/>
          </a:solidFill>
          <a:ln/>
        </p:spPr>
      </p:sp>
      <p:sp>
        <p:nvSpPr>
          <p:cNvPr id="106" name="Text 102"/>
          <p:cNvSpPr/>
          <p:nvPr/>
        </p:nvSpPr>
        <p:spPr>
          <a:xfrm>
            <a:off x="2648712" y="9491472"/>
            <a:ext cx="1679448" cy="365760"/>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Unmapped chains: zero before the August pack ships.</a:t>
            </a:r>
            <a:endParaRPr lang="en-US" sz="700" dirty="0"/>
          </a:p>
        </p:txBody>
      </p:sp>
      <p:sp>
        <p:nvSpPr>
          <p:cNvPr id="107" name="Shape 103"/>
          <p:cNvSpPr/>
          <p:nvPr/>
        </p:nvSpPr>
        <p:spPr>
          <a:xfrm>
            <a:off x="2529840" y="9925812"/>
            <a:ext cx="50292" cy="50292"/>
          </a:xfrm>
          <a:prstGeom prst="ellipse">
            <a:avLst/>
          </a:prstGeom>
          <a:solidFill>
            <a:srgbClr val="2B9A66"/>
          </a:solidFill>
          <a:ln/>
        </p:spPr>
      </p:sp>
      <p:sp>
        <p:nvSpPr>
          <p:cNvPr id="108" name="Text 104"/>
          <p:cNvSpPr/>
          <p:nvPr/>
        </p:nvSpPr>
        <p:spPr>
          <a:xfrm>
            <a:off x="2648712" y="9875520"/>
            <a:ext cx="1679448" cy="365760"/>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Channel purity: no eB2B or SIS value inside any MT zone.</a:t>
            </a:r>
            <a:endParaRPr lang="en-US" sz="700" dirty="0"/>
          </a:p>
        </p:txBody>
      </p:sp>
      <p:sp>
        <p:nvSpPr>
          <p:cNvPr id="109" name="Shape 105"/>
          <p:cNvSpPr/>
          <p:nvPr/>
        </p:nvSpPr>
        <p:spPr>
          <a:xfrm>
            <a:off x="4575048" y="7936992"/>
            <a:ext cx="2017776" cy="2615184"/>
          </a:xfrm>
          <a:prstGeom prst="roundRect">
            <a:avLst>
              <a:gd name="adj" fmla="val 906"/>
            </a:avLst>
          </a:prstGeom>
          <a:solidFill>
            <a:srgbClr val="FFFFFF"/>
          </a:solidFill>
          <a:ln w="9525">
            <a:solidFill>
              <a:srgbClr val="C8DCD7"/>
            </a:solidFill>
            <a:prstDash val="solid"/>
          </a:ln>
        </p:spPr>
      </p:sp>
      <p:sp>
        <p:nvSpPr>
          <p:cNvPr id="110" name="Shape 106"/>
          <p:cNvSpPr/>
          <p:nvPr/>
        </p:nvSpPr>
        <p:spPr>
          <a:xfrm>
            <a:off x="4575048" y="7936992"/>
            <a:ext cx="2017776" cy="274320"/>
          </a:xfrm>
          <a:prstGeom prst="rect">
            <a:avLst/>
          </a:prstGeom>
          <a:solidFill>
            <a:srgbClr val="5F716E"/>
          </a:solidFill>
          <a:ln/>
        </p:spPr>
      </p:sp>
      <p:sp>
        <p:nvSpPr>
          <p:cNvPr id="111" name="Text 107"/>
          <p:cNvSpPr/>
          <p:nvPr/>
        </p:nvSpPr>
        <p:spPr>
          <a:xfrm>
            <a:off x="4657344" y="7955280"/>
            <a:ext cx="1853184"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DECISION SAFEGUARDS</a:t>
            </a:r>
            <a:endParaRPr lang="en-US" sz="700" dirty="0"/>
          </a:p>
        </p:txBody>
      </p:sp>
      <p:sp>
        <p:nvSpPr>
          <p:cNvPr id="112" name="Shape 108"/>
          <p:cNvSpPr/>
          <p:nvPr/>
        </p:nvSpPr>
        <p:spPr>
          <a:xfrm>
            <a:off x="4684776" y="8389620"/>
            <a:ext cx="50292" cy="50292"/>
          </a:xfrm>
          <a:prstGeom prst="ellipse">
            <a:avLst/>
          </a:prstGeom>
          <a:solidFill>
            <a:srgbClr val="5F716E"/>
          </a:solidFill>
          <a:ln/>
        </p:spPr>
      </p:sp>
      <p:sp>
        <p:nvSpPr>
          <p:cNvPr id="113" name="Text 109"/>
          <p:cNvSpPr/>
          <p:nvPr/>
        </p:nvSpPr>
        <p:spPr>
          <a:xfrm>
            <a:off x="4803648" y="8339328"/>
            <a:ext cx="1679448" cy="365760"/>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Flow gap is not inventory or stock cover — it is unconverted billing.</a:t>
            </a:r>
            <a:endParaRPr lang="en-US" sz="700" dirty="0"/>
          </a:p>
        </p:txBody>
      </p:sp>
      <p:sp>
        <p:nvSpPr>
          <p:cNvPr id="114" name="Shape 110"/>
          <p:cNvSpPr/>
          <p:nvPr/>
        </p:nvSpPr>
        <p:spPr>
          <a:xfrm>
            <a:off x="4684776" y="8773668"/>
            <a:ext cx="50292" cy="50292"/>
          </a:xfrm>
          <a:prstGeom prst="ellipse">
            <a:avLst/>
          </a:prstGeom>
          <a:solidFill>
            <a:srgbClr val="5F716E"/>
          </a:solidFill>
          <a:ln/>
        </p:spPr>
      </p:sp>
      <p:sp>
        <p:nvSpPr>
          <p:cNvPr id="115" name="Text 111"/>
          <p:cNvSpPr/>
          <p:nvPr/>
        </p:nvSpPr>
        <p:spPr>
          <a:xfrm>
            <a:off x="4803648" y="8723376"/>
            <a:ext cx="1679448" cy="365760"/>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Conversion above 100% is a timing or stock signal, never a success.</a:t>
            </a:r>
            <a:endParaRPr lang="en-US" sz="700" dirty="0"/>
          </a:p>
        </p:txBody>
      </p:sp>
      <p:sp>
        <p:nvSpPr>
          <p:cNvPr id="116" name="Shape 112"/>
          <p:cNvSpPr/>
          <p:nvPr/>
        </p:nvSpPr>
        <p:spPr>
          <a:xfrm>
            <a:off x="4684776" y="9157716"/>
            <a:ext cx="50292" cy="50292"/>
          </a:xfrm>
          <a:prstGeom prst="ellipse">
            <a:avLst/>
          </a:prstGeom>
          <a:solidFill>
            <a:srgbClr val="5F716E"/>
          </a:solidFill>
          <a:ln/>
        </p:spPr>
      </p:sp>
      <p:sp>
        <p:nvSpPr>
          <p:cNvPr id="117" name="Text 113"/>
          <p:cNvSpPr/>
          <p:nvPr/>
        </p:nvSpPr>
        <p:spPr>
          <a:xfrm>
            <a:off x="4803648" y="9107424"/>
            <a:ext cx="1679448" cy="365760"/>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No % is shown below a ₹0.25 Cr materiality floor.</a:t>
            </a:r>
            <a:endParaRPr lang="en-US" sz="700" dirty="0"/>
          </a:p>
        </p:txBody>
      </p:sp>
      <p:sp>
        <p:nvSpPr>
          <p:cNvPr id="118" name="Shape 114"/>
          <p:cNvSpPr/>
          <p:nvPr/>
        </p:nvSpPr>
        <p:spPr>
          <a:xfrm>
            <a:off x="4684776" y="9541764"/>
            <a:ext cx="50292" cy="50292"/>
          </a:xfrm>
          <a:prstGeom prst="ellipse">
            <a:avLst/>
          </a:prstGeom>
          <a:solidFill>
            <a:srgbClr val="5F716E"/>
          </a:solidFill>
          <a:ln/>
        </p:spPr>
      </p:sp>
      <p:sp>
        <p:nvSpPr>
          <p:cNvPr id="119" name="Text 115"/>
          <p:cNvSpPr/>
          <p:nvPr/>
        </p:nvSpPr>
        <p:spPr>
          <a:xfrm>
            <a:off x="4803648" y="9491472"/>
            <a:ext cx="1679448" cy="365760"/>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Apollo national 99.7% averages 121–149% zone errors — do not quote it.</a:t>
            </a:r>
            <a:endParaRPr lang="en-US" sz="700" dirty="0"/>
          </a:p>
        </p:txBody>
      </p:sp>
      <p:sp>
        <p:nvSpPr>
          <p:cNvPr id="120" name="Shape 116"/>
          <p:cNvSpPr/>
          <p:nvPr/>
        </p:nvSpPr>
        <p:spPr>
          <a:xfrm>
            <a:off x="4684776" y="9925812"/>
            <a:ext cx="50292" cy="50292"/>
          </a:xfrm>
          <a:prstGeom prst="ellipse">
            <a:avLst/>
          </a:prstGeom>
          <a:solidFill>
            <a:srgbClr val="5F716E"/>
          </a:solidFill>
          <a:ln/>
        </p:spPr>
      </p:sp>
      <p:sp>
        <p:nvSpPr>
          <p:cNvPr id="121" name="Text 117"/>
          <p:cNvSpPr/>
          <p:nvPr/>
        </p:nvSpPr>
        <p:spPr>
          <a:xfrm>
            <a:off x="4803648" y="9875520"/>
            <a:ext cx="1679448" cy="365760"/>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No YoY or target claim without a matched comparator.</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A"/>
        </a:solidFill>
      </p:bgPr>
    </p:bg>
    <p:spTree>
      <p:nvGrpSpPr>
        <p:cNvPr id="1" name=""/>
        <p:cNvGrpSpPr/>
        <p:nvPr/>
      </p:nvGrpSpPr>
      <p:grpSpPr>
        <a:xfrm>
          <a:off x="0" y="0"/>
          <a:ext cx="0" cy="0"/>
          <a:chOff x="0" y="0"/>
          <a:chExt cx="0" cy="0"/>
        </a:xfrm>
      </p:grpSpPr>
      <p:sp>
        <p:nvSpPr>
          <p:cNvPr id="2" name="Shape 0"/>
          <p:cNvSpPr/>
          <p:nvPr/>
        </p:nvSpPr>
        <p:spPr>
          <a:xfrm>
            <a:off x="0" y="0"/>
            <a:ext cx="6858000" cy="1133856"/>
          </a:xfrm>
          <a:prstGeom prst="rect">
            <a:avLst/>
          </a:prstGeom>
          <a:solidFill>
            <a:srgbClr val="116F68"/>
          </a:solidFill>
          <a:ln/>
        </p:spPr>
      </p:sp>
      <p:sp>
        <p:nvSpPr>
          <p:cNvPr id="3" name="Text 1"/>
          <p:cNvSpPr/>
          <p:nvPr/>
        </p:nvSpPr>
        <p:spPr>
          <a:xfrm>
            <a:off x="365760" y="182880"/>
            <a:ext cx="5641848" cy="548640"/>
          </a:xfrm>
          <a:prstGeom prst="rect">
            <a:avLst/>
          </a:prstGeom>
          <a:noFill/>
          <a:ln/>
        </p:spPr>
        <p:txBody>
          <a:bodyPr wrap="square" lIns="0" tIns="0" rIns="0" bIns="0" rtlCol="0" anchor="ctr"/>
          <a:lstStyle/>
          <a:p>
            <a:pPr indent="0" marL="0">
              <a:lnSpc>
                <a:spcPct val="92000"/>
              </a:lnSpc>
              <a:buNone/>
            </a:pPr>
            <a:r>
              <a:rPr lang="en-US" sz="1650" b="1" dirty="0">
                <a:solidFill>
                  <a:srgbClr val="FFFFFF"/>
                </a:solidFill>
                <a:latin typeface="Calibri Light" pitchFamily="34" charset="0"/>
                <a:ea typeface="Calibri Light" pitchFamily="34" charset="-122"/>
                <a:cs typeface="Calibri Light" pitchFamily="34" charset="-120"/>
              </a:rPr>
              <a:t>Q1 FY27: Modern Trade grew 66.6% to ₹107.75 Cr</a:t>
            </a:r>
            <a:endParaRPr lang="en-US" sz="1650" dirty="0"/>
          </a:p>
        </p:txBody>
      </p:sp>
      <p:sp>
        <p:nvSpPr>
          <p:cNvPr id="4" name="Text 2"/>
          <p:cNvSpPr/>
          <p:nvPr/>
        </p:nvSpPr>
        <p:spPr>
          <a:xfrm>
            <a:off x="384048" y="786384"/>
            <a:ext cx="5641848" cy="237744"/>
          </a:xfrm>
          <a:prstGeom prst="rect">
            <a:avLst/>
          </a:prstGeom>
          <a:noFill/>
          <a:ln/>
        </p:spPr>
        <p:txBody>
          <a:bodyPr wrap="square" lIns="0" tIns="0" rIns="0" bIns="0" rtlCol="0" anchor="ctr"/>
          <a:lstStyle/>
          <a:p>
            <a:pPr indent="0" marL="0">
              <a:buNone/>
            </a:pPr>
            <a:r>
              <a:rPr lang="en-US" sz="850" dirty="0">
                <a:solidFill>
                  <a:srgbClr val="BFDCD7"/>
                </a:solidFill>
                <a:latin typeface="Calibri" pitchFamily="34" charset="0"/>
                <a:ea typeface="Calibri" pitchFamily="34" charset="-122"/>
                <a:cs typeface="Calibri" pitchFamily="34" charset="-120"/>
              </a:rPr>
              <a:t>Quarter in review | Apr–Jun 2026 vs Apr–Jun 2025 | Modern Trade accounts only | ₹ Cr</a:t>
            </a:r>
            <a:endParaRPr lang="en-US" sz="850" dirty="0"/>
          </a:p>
        </p:txBody>
      </p:sp>
      <p:sp>
        <p:nvSpPr>
          <p:cNvPr id="5" name="Text 3"/>
          <p:cNvSpPr/>
          <p:nvPr/>
        </p:nvSpPr>
        <p:spPr>
          <a:xfrm>
            <a:off x="6117336" y="365760"/>
            <a:ext cx="402336" cy="237744"/>
          </a:xfrm>
          <a:prstGeom prst="rect">
            <a:avLst/>
          </a:prstGeom>
          <a:noFill/>
          <a:ln/>
        </p:spPr>
        <p:txBody>
          <a:bodyPr wrap="square" lIns="0" tIns="0" rIns="0" bIns="0" rtlCol="0" anchor="t"/>
          <a:lstStyle/>
          <a:p>
            <a:pPr algn="r" indent="0" marL="0">
              <a:buNone/>
            </a:pPr>
            <a:r>
              <a:rPr lang="en-US" sz="950" b="1" dirty="0">
                <a:solidFill>
                  <a:srgbClr val="8FC4BD"/>
                </a:solidFill>
                <a:latin typeface="Calibri" pitchFamily="34" charset="0"/>
                <a:ea typeface="Calibri" pitchFamily="34" charset="-122"/>
                <a:cs typeface="Calibri" pitchFamily="34" charset="-120"/>
              </a:rPr>
              <a:t>02</a:t>
            </a:r>
            <a:endParaRPr lang="en-US" sz="950" dirty="0"/>
          </a:p>
        </p:txBody>
      </p:sp>
      <p:sp>
        <p:nvSpPr>
          <p:cNvPr id="6" name="Shape 4"/>
          <p:cNvSpPr/>
          <p:nvPr/>
        </p:nvSpPr>
        <p:spPr>
          <a:xfrm>
            <a:off x="265176" y="11375136"/>
            <a:ext cx="6327648" cy="420624"/>
          </a:xfrm>
          <a:prstGeom prst="roundRect">
            <a:avLst>
              <a:gd name="adj" fmla="val 6522"/>
            </a:avLst>
          </a:prstGeom>
          <a:solidFill>
            <a:srgbClr val="DFF2ED"/>
          </a:solidFill>
          <a:ln w="9525">
            <a:solidFill>
              <a:srgbClr val="C8DCD7"/>
            </a:solidFill>
            <a:prstDash val="solid"/>
          </a:ln>
        </p:spPr>
      </p:sp>
      <p:sp>
        <p:nvSpPr>
          <p:cNvPr id="7" name="Text 5"/>
          <p:cNvSpPr/>
          <p:nvPr/>
        </p:nvSpPr>
        <p:spPr>
          <a:xfrm>
            <a:off x="374904"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EVIDENCE</a:t>
            </a:r>
            <a:endParaRPr lang="en-US" sz="650" dirty="0"/>
          </a:p>
        </p:txBody>
      </p:sp>
      <p:sp>
        <p:nvSpPr>
          <p:cNvPr id="8" name="Text 6"/>
          <p:cNvSpPr/>
          <p:nvPr/>
        </p:nvSpPr>
        <p:spPr>
          <a:xfrm>
            <a:off x="374904"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moved</a:t>
            </a:r>
            <a:endParaRPr lang="en-US" sz="700" dirty="0"/>
          </a:p>
        </p:txBody>
      </p:sp>
      <p:sp>
        <p:nvSpPr>
          <p:cNvPr id="9" name="Text 7"/>
          <p:cNvSpPr/>
          <p:nvPr/>
        </p:nvSpPr>
        <p:spPr>
          <a:xfrm>
            <a:off x="1901952"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IMPLICATION</a:t>
            </a:r>
            <a:endParaRPr lang="en-US" sz="650" dirty="0"/>
          </a:p>
        </p:txBody>
      </p:sp>
      <p:sp>
        <p:nvSpPr>
          <p:cNvPr id="10" name="Text 8"/>
          <p:cNvSpPr/>
          <p:nvPr/>
        </p:nvSpPr>
        <p:spPr>
          <a:xfrm>
            <a:off x="1901952"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Why it matters</a:t>
            </a:r>
            <a:endParaRPr lang="en-US" sz="700" dirty="0"/>
          </a:p>
        </p:txBody>
      </p:sp>
      <p:sp>
        <p:nvSpPr>
          <p:cNvPr id="11" name="Shape 9"/>
          <p:cNvSpPr/>
          <p:nvPr/>
        </p:nvSpPr>
        <p:spPr>
          <a:xfrm>
            <a:off x="1819656" y="11457432"/>
            <a:ext cx="0" cy="265176"/>
          </a:xfrm>
          <a:prstGeom prst="line">
            <a:avLst/>
          </a:prstGeom>
          <a:noFill/>
          <a:ln w="9525">
            <a:solidFill>
              <a:srgbClr val="C8DCD7"/>
            </a:solidFill>
            <a:prstDash val="solid"/>
          </a:ln>
        </p:spPr>
      </p:sp>
      <p:sp>
        <p:nvSpPr>
          <p:cNvPr id="12" name="Text 10"/>
          <p:cNvSpPr/>
          <p:nvPr/>
        </p:nvSpPr>
        <p:spPr>
          <a:xfrm>
            <a:off x="3429000"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ACTION</a:t>
            </a:r>
            <a:endParaRPr lang="en-US" sz="650" dirty="0"/>
          </a:p>
        </p:txBody>
      </p:sp>
      <p:sp>
        <p:nvSpPr>
          <p:cNvPr id="13" name="Text 11"/>
          <p:cNvSpPr/>
          <p:nvPr/>
        </p:nvSpPr>
        <p:spPr>
          <a:xfrm>
            <a:off x="3429000"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changes now</a:t>
            </a:r>
            <a:endParaRPr lang="en-US" sz="700" dirty="0"/>
          </a:p>
        </p:txBody>
      </p:sp>
      <p:sp>
        <p:nvSpPr>
          <p:cNvPr id="14" name="Shape 12"/>
          <p:cNvSpPr/>
          <p:nvPr/>
        </p:nvSpPr>
        <p:spPr>
          <a:xfrm>
            <a:off x="3346704" y="11457432"/>
            <a:ext cx="0" cy="265176"/>
          </a:xfrm>
          <a:prstGeom prst="line">
            <a:avLst/>
          </a:prstGeom>
          <a:noFill/>
          <a:ln w="9525">
            <a:solidFill>
              <a:srgbClr val="C8DCD7"/>
            </a:solidFill>
            <a:prstDash val="solid"/>
          </a:ln>
        </p:spPr>
      </p:sp>
      <p:sp>
        <p:nvSpPr>
          <p:cNvPr id="15" name="Text 13"/>
          <p:cNvSpPr/>
          <p:nvPr/>
        </p:nvSpPr>
        <p:spPr>
          <a:xfrm>
            <a:off x="4956048"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OWNER</a:t>
            </a:r>
            <a:endParaRPr lang="en-US" sz="650" dirty="0"/>
          </a:p>
        </p:txBody>
      </p:sp>
      <p:sp>
        <p:nvSpPr>
          <p:cNvPr id="16" name="Text 14"/>
          <p:cNvSpPr/>
          <p:nvPr/>
        </p:nvSpPr>
        <p:spPr>
          <a:xfrm>
            <a:off x="4956048"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Who closes it</a:t>
            </a:r>
            <a:endParaRPr lang="en-US" sz="700" dirty="0"/>
          </a:p>
        </p:txBody>
      </p:sp>
      <p:sp>
        <p:nvSpPr>
          <p:cNvPr id="17" name="Shape 15"/>
          <p:cNvSpPr/>
          <p:nvPr/>
        </p:nvSpPr>
        <p:spPr>
          <a:xfrm>
            <a:off x="4873752" y="11457432"/>
            <a:ext cx="0" cy="265176"/>
          </a:xfrm>
          <a:prstGeom prst="line">
            <a:avLst/>
          </a:prstGeom>
          <a:noFill/>
          <a:ln w="9525">
            <a:solidFill>
              <a:srgbClr val="C8DCD7"/>
            </a:solidFill>
            <a:prstDash val="solid"/>
          </a:ln>
        </p:spPr>
      </p:sp>
      <p:sp>
        <p:nvSpPr>
          <p:cNvPr id="18" name="Text 16"/>
          <p:cNvSpPr/>
          <p:nvPr/>
        </p:nvSpPr>
        <p:spPr>
          <a:xfrm>
            <a:off x="301752" y="11887200"/>
            <a:ext cx="6254496" cy="201168"/>
          </a:xfrm>
          <a:prstGeom prst="rect">
            <a:avLst/>
          </a:prstGeom>
          <a:noFill/>
          <a:ln/>
        </p:spPr>
        <p:txBody>
          <a:bodyPr wrap="square" lIns="0" tIns="0" rIns="0" bIns="0" rtlCol="0" anchor="t"/>
          <a:lstStyle/>
          <a:p>
            <a:pPr algn="ctr" indent="0" marL="0">
              <a:buNone/>
            </a:pPr>
            <a:r>
              <a:rPr lang="en-US" sz="650" dirty="0">
                <a:solidFill>
                  <a:srgbClr val="5F716E"/>
                </a:solidFill>
                <a:latin typeface="Calibri" pitchFamily="34" charset="0"/>
                <a:ea typeface="Calibri" pitchFamily="34" charset="-122"/>
                <a:cs typeface="Calibri" pitchFamily="34" charset="-120"/>
              </a:rPr>
              <a:t>Q1 FY27 cut from the Apr/May/Jun month sources with Channel == MT · Q1 FY26 comparatives from the June 2026 MT offtake pack, restated MT-only · Zone performance represents Modern Trade accounts only. eB2B and SIS channels are excluded from MT zone sales and reported separately.</a:t>
            </a:r>
            <a:endParaRPr lang="en-US" sz="650" dirty="0"/>
          </a:p>
        </p:txBody>
      </p:sp>
      <p:sp>
        <p:nvSpPr>
          <p:cNvPr id="19" name="Shape 17"/>
          <p:cNvSpPr/>
          <p:nvPr/>
        </p:nvSpPr>
        <p:spPr>
          <a:xfrm>
            <a:off x="265176" y="1261872"/>
            <a:ext cx="1499616" cy="859536"/>
          </a:xfrm>
          <a:prstGeom prst="rect">
            <a:avLst/>
          </a:prstGeom>
          <a:solidFill>
            <a:srgbClr val="FFFFFF"/>
          </a:solidFill>
          <a:ln w="9525">
            <a:solidFill>
              <a:srgbClr val="C8DCD7"/>
            </a:solidFill>
            <a:prstDash val="solid"/>
          </a:ln>
        </p:spPr>
      </p:sp>
      <p:sp>
        <p:nvSpPr>
          <p:cNvPr id="20" name="Shape 18"/>
          <p:cNvSpPr/>
          <p:nvPr/>
        </p:nvSpPr>
        <p:spPr>
          <a:xfrm>
            <a:off x="265176" y="1261872"/>
            <a:ext cx="64008" cy="859536"/>
          </a:xfrm>
          <a:prstGeom prst="rect">
            <a:avLst/>
          </a:prstGeom>
          <a:solidFill>
            <a:srgbClr val="28A596"/>
          </a:solidFill>
          <a:ln/>
        </p:spPr>
      </p:sp>
      <p:sp>
        <p:nvSpPr>
          <p:cNvPr id="21" name="Text 19"/>
          <p:cNvSpPr/>
          <p:nvPr/>
        </p:nvSpPr>
        <p:spPr>
          <a:xfrm>
            <a:off x="420624"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Q1 MT OFFTAKE</a:t>
            </a:r>
            <a:endParaRPr lang="en-US" sz="680" dirty="0"/>
          </a:p>
        </p:txBody>
      </p:sp>
      <p:sp>
        <p:nvSpPr>
          <p:cNvPr id="22" name="Text 20"/>
          <p:cNvSpPr/>
          <p:nvPr/>
        </p:nvSpPr>
        <p:spPr>
          <a:xfrm>
            <a:off x="420624" y="1536192"/>
            <a:ext cx="1261872" cy="310896"/>
          </a:xfrm>
          <a:prstGeom prst="rect">
            <a:avLst/>
          </a:prstGeom>
          <a:noFill/>
          <a:ln/>
        </p:spPr>
        <p:txBody>
          <a:bodyPr wrap="square" lIns="0" tIns="0" rIns="0" bIns="0" rtlCol="0" anchor="ctr"/>
          <a:lstStyle/>
          <a:p>
            <a:pPr indent="0" marL="0">
              <a:buNone/>
            </a:pPr>
            <a:r>
              <a:rPr lang="en-US" sz="1350" b="1" dirty="0">
                <a:solidFill>
                  <a:srgbClr val="28A596"/>
                </a:solidFill>
                <a:latin typeface="Calibri Light" pitchFamily="34" charset="0"/>
                <a:ea typeface="Calibri Light" pitchFamily="34" charset="-122"/>
                <a:cs typeface="Calibri Light" pitchFamily="34" charset="-120"/>
              </a:rPr>
              <a:t>₹107.75 Cr</a:t>
            </a:r>
            <a:endParaRPr lang="en-US" sz="1350" dirty="0"/>
          </a:p>
        </p:txBody>
      </p:sp>
      <p:sp>
        <p:nvSpPr>
          <p:cNvPr id="23" name="Text 21"/>
          <p:cNvSpPr/>
          <p:nvPr/>
        </p:nvSpPr>
        <p:spPr>
          <a:xfrm>
            <a:off x="420624"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vs ₹64.69 Cr in Q1 FY26</a:t>
            </a:r>
            <a:endParaRPr lang="en-US" sz="680" dirty="0"/>
          </a:p>
        </p:txBody>
      </p:sp>
      <p:sp>
        <p:nvSpPr>
          <p:cNvPr id="24" name="Shape 22"/>
          <p:cNvSpPr/>
          <p:nvPr/>
        </p:nvSpPr>
        <p:spPr>
          <a:xfrm>
            <a:off x="1874520" y="1261872"/>
            <a:ext cx="1499616" cy="859536"/>
          </a:xfrm>
          <a:prstGeom prst="rect">
            <a:avLst/>
          </a:prstGeom>
          <a:solidFill>
            <a:srgbClr val="FFFFFF"/>
          </a:solidFill>
          <a:ln w="9525">
            <a:solidFill>
              <a:srgbClr val="C8DCD7"/>
            </a:solidFill>
            <a:prstDash val="solid"/>
          </a:ln>
        </p:spPr>
      </p:sp>
      <p:sp>
        <p:nvSpPr>
          <p:cNvPr id="25" name="Shape 23"/>
          <p:cNvSpPr/>
          <p:nvPr/>
        </p:nvSpPr>
        <p:spPr>
          <a:xfrm>
            <a:off x="1874520" y="1261872"/>
            <a:ext cx="64008" cy="859536"/>
          </a:xfrm>
          <a:prstGeom prst="rect">
            <a:avLst/>
          </a:prstGeom>
          <a:solidFill>
            <a:srgbClr val="2B9A66"/>
          </a:solidFill>
          <a:ln/>
        </p:spPr>
      </p:sp>
      <p:sp>
        <p:nvSpPr>
          <p:cNvPr id="26" name="Text 24"/>
          <p:cNvSpPr/>
          <p:nvPr/>
        </p:nvSpPr>
        <p:spPr>
          <a:xfrm>
            <a:off x="2029968"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Q1 GROWTH</a:t>
            </a:r>
            <a:endParaRPr lang="en-US" sz="680" dirty="0"/>
          </a:p>
        </p:txBody>
      </p:sp>
      <p:sp>
        <p:nvSpPr>
          <p:cNvPr id="27" name="Text 25"/>
          <p:cNvSpPr/>
          <p:nvPr/>
        </p:nvSpPr>
        <p:spPr>
          <a:xfrm>
            <a:off x="2029968" y="1536192"/>
            <a:ext cx="1261872" cy="310896"/>
          </a:xfrm>
          <a:prstGeom prst="rect">
            <a:avLst/>
          </a:prstGeom>
          <a:noFill/>
          <a:ln/>
        </p:spPr>
        <p:txBody>
          <a:bodyPr wrap="square" lIns="0" tIns="0" rIns="0" bIns="0" rtlCol="0" anchor="ctr"/>
          <a:lstStyle/>
          <a:p>
            <a:pPr indent="0" marL="0">
              <a:buNone/>
            </a:pPr>
            <a:r>
              <a:rPr lang="en-US" sz="1750" b="1" dirty="0">
                <a:solidFill>
                  <a:srgbClr val="2B9A66"/>
                </a:solidFill>
                <a:latin typeface="Calibri Light" pitchFamily="34" charset="0"/>
                <a:ea typeface="Calibri Light" pitchFamily="34" charset="-122"/>
                <a:cs typeface="Calibri Light" pitchFamily="34" charset="-120"/>
              </a:rPr>
              <a:t>+66.6%</a:t>
            </a:r>
            <a:endParaRPr lang="en-US" sz="1750" dirty="0"/>
          </a:p>
        </p:txBody>
      </p:sp>
      <p:sp>
        <p:nvSpPr>
          <p:cNvPr id="28" name="Text 26"/>
          <p:cNvSpPr/>
          <p:nvPr/>
        </p:nvSpPr>
        <p:spPr>
          <a:xfrm>
            <a:off x="2029968"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blended read was +63.6%</a:t>
            </a:r>
            <a:endParaRPr lang="en-US" sz="680" dirty="0"/>
          </a:p>
        </p:txBody>
      </p:sp>
      <p:sp>
        <p:nvSpPr>
          <p:cNvPr id="29" name="Shape 27"/>
          <p:cNvSpPr/>
          <p:nvPr/>
        </p:nvSpPr>
        <p:spPr>
          <a:xfrm>
            <a:off x="3483864" y="1261872"/>
            <a:ext cx="1499616" cy="859536"/>
          </a:xfrm>
          <a:prstGeom prst="rect">
            <a:avLst/>
          </a:prstGeom>
          <a:solidFill>
            <a:srgbClr val="FFFFFF"/>
          </a:solidFill>
          <a:ln w="9525">
            <a:solidFill>
              <a:srgbClr val="C8DCD7"/>
            </a:solidFill>
            <a:prstDash val="solid"/>
          </a:ln>
        </p:spPr>
      </p:sp>
      <p:sp>
        <p:nvSpPr>
          <p:cNvPr id="30" name="Shape 28"/>
          <p:cNvSpPr/>
          <p:nvPr/>
        </p:nvSpPr>
        <p:spPr>
          <a:xfrm>
            <a:off x="3483864" y="1261872"/>
            <a:ext cx="64008" cy="859536"/>
          </a:xfrm>
          <a:prstGeom prst="rect">
            <a:avLst/>
          </a:prstGeom>
          <a:solidFill>
            <a:srgbClr val="2E7DA8"/>
          </a:solidFill>
          <a:ln/>
        </p:spPr>
      </p:sp>
      <p:sp>
        <p:nvSpPr>
          <p:cNvPr id="31" name="Text 29"/>
          <p:cNvSpPr/>
          <p:nvPr/>
        </p:nvSpPr>
        <p:spPr>
          <a:xfrm>
            <a:off x="3639312"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Q1 MT PRIMARY</a:t>
            </a:r>
            <a:endParaRPr lang="en-US" sz="680" dirty="0"/>
          </a:p>
        </p:txBody>
      </p:sp>
      <p:sp>
        <p:nvSpPr>
          <p:cNvPr id="32" name="Text 30"/>
          <p:cNvSpPr/>
          <p:nvPr/>
        </p:nvSpPr>
        <p:spPr>
          <a:xfrm>
            <a:off x="3639312" y="1536192"/>
            <a:ext cx="1261872" cy="310896"/>
          </a:xfrm>
          <a:prstGeom prst="rect">
            <a:avLst/>
          </a:prstGeom>
          <a:noFill/>
          <a:ln/>
        </p:spPr>
        <p:txBody>
          <a:bodyPr wrap="square" lIns="0" tIns="0" rIns="0" bIns="0" rtlCol="0" anchor="ctr"/>
          <a:lstStyle/>
          <a:p>
            <a:pPr indent="0" marL="0">
              <a:buNone/>
            </a:pPr>
            <a:r>
              <a:rPr lang="en-US" sz="1350" b="1" dirty="0">
                <a:solidFill>
                  <a:srgbClr val="2E7DA8"/>
                </a:solidFill>
                <a:latin typeface="Calibri Light" pitchFamily="34" charset="0"/>
                <a:ea typeface="Calibri Light" pitchFamily="34" charset="-122"/>
                <a:cs typeface="Calibri Light" pitchFamily="34" charset="-120"/>
              </a:rPr>
              <a:t>₹129.73 Cr</a:t>
            </a:r>
            <a:endParaRPr lang="en-US" sz="1350" dirty="0"/>
          </a:p>
        </p:txBody>
      </p:sp>
      <p:sp>
        <p:nvSpPr>
          <p:cNvPr id="33" name="Text 31"/>
          <p:cNvSpPr/>
          <p:nvPr/>
        </p:nvSpPr>
        <p:spPr>
          <a:xfrm>
            <a:off x="3639312"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Channel == MT, three months</a:t>
            </a:r>
            <a:endParaRPr lang="en-US" sz="680" dirty="0"/>
          </a:p>
        </p:txBody>
      </p:sp>
      <p:sp>
        <p:nvSpPr>
          <p:cNvPr id="34" name="Shape 32"/>
          <p:cNvSpPr/>
          <p:nvPr/>
        </p:nvSpPr>
        <p:spPr>
          <a:xfrm>
            <a:off x="5093208" y="1261872"/>
            <a:ext cx="1499616" cy="859536"/>
          </a:xfrm>
          <a:prstGeom prst="rect">
            <a:avLst/>
          </a:prstGeom>
          <a:solidFill>
            <a:srgbClr val="FFFFFF"/>
          </a:solidFill>
          <a:ln w="9525">
            <a:solidFill>
              <a:srgbClr val="C8DCD7"/>
            </a:solidFill>
            <a:prstDash val="solid"/>
          </a:ln>
        </p:spPr>
      </p:sp>
      <p:sp>
        <p:nvSpPr>
          <p:cNvPr id="35" name="Shape 33"/>
          <p:cNvSpPr/>
          <p:nvPr/>
        </p:nvSpPr>
        <p:spPr>
          <a:xfrm>
            <a:off x="5093208" y="1261872"/>
            <a:ext cx="64008" cy="859536"/>
          </a:xfrm>
          <a:prstGeom prst="rect">
            <a:avLst/>
          </a:prstGeom>
          <a:solidFill>
            <a:srgbClr val="2B9A66"/>
          </a:solidFill>
          <a:ln/>
        </p:spPr>
      </p:sp>
      <p:sp>
        <p:nvSpPr>
          <p:cNvPr id="36" name="Text 34"/>
          <p:cNvSpPr/>
          <p:nvPr/>
        </p:nvSpPr>
        <p:spPr>
          <a:xfrm>
            <a:off x="5248656"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Q1 CONVERSION</a:t>
            </a:r>
            <a:endParaRPr lang="en-US" sz="680" dirty="0"/>
          </a:p>
        </p:txBody>
      </p:sp>
      <p:sp>
        <p:nvSpPr>
          <p:cNvPr id="37" name="Text 35"/>
          <p:cNvSpPr/>
          <p:nvPr/>
        </p:nvSpPr>
        <p:spPr>
          <a:xfrm>
            <a:off x="5248656" y="1536192"/>
            <a:ext cx="1261872" cy="310896"/>
          </a:xfrm>
          <a:prstGeom prst="rect">
            <a:avLst/>
          </a:prstGeom>
          <a:noFill/>
          <a:ln/>
        </p:spPr>
        <p:txBody>
          <a:bodyPr wrap="square" lIns="0" tIns="0" rIns="0" bIns="0" rtlCol="0" anchor="ctr"/>
          <a:lstStyle/>
          <a:p>
            <a:pPr indent="0" marL="0">
              <a:buNone/>
            </a:pPr>
            <a:r>
              <a:rPr lang="en-US" sz="1750" b="1" dirty="0">
                <a:solidFill>
                  <a:srgbClr val="2B9A66"/>
                </a:solidFill>
                <a:latin typeface="Calibri Light" pitchFamily="34" charset="0"/>
                <a:ea typeface="Calibri Light" pitchFamily="34" charset="-122"/>
                <a:cs typeface="Calibri Light" pitchFamily="34" charset="-120"/>
              </a:rPr>
              <a:t>83.1%</a:t>
            </a:r>
            <a:endParaRPr lang="en-US" sz="1750" dirty="0"/>
          </a:p>
        </p:txBody>
      </p:sp>
      <p:sp>
        <p:nvSpPr>
          <p:cNvPr id="38" name="Text 36"/>
          <p:cNvSpPr/>
          <p:nvPr/>
        </p:nvSpPr>
        <p:spPr>
          <a:xfrm>
            <a:off x="5248656"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July fell to 72.2%</a:t>
            </a:r>
            <a:endParaRPr lang="en-US" sz="680" dirty="0"/>
          </a:p>
        </p:txBody>
      </p:sp>
      <p:sp>
        <p:nvSpPr>
          <p:cNvPr id="39" name="Shape 37"/>
          <p:cNvSpPr/>
          <p:nvPr/>
        </p:nvSpPr>
        <p:spPr>
          <a:xfrm>
            <a:off x="265176" y="2231136"/>
            <a:ext cx="6327648" cy="603504"/>
          </a:xfrm>
          <a:prstGeom prst="roundRect">
            <a:avLst>
              <a:gd name="adj" fmla="val 4545"/>
            </a:avLst>
          </a:prstGeom>
          <a:solidFill>
            <a:srgbClr val="DFF2ED"/>
          </a:solidFill>
          <a:ln w="12700">
            <a:solidFill>
              <a:srgbClr val="28A596"/>
            </a:solidFill>
            <a:prstDash val="solid"/>
          </a:ln>
        </p:spPr>
      </p:sp>
      <p:sp>
        <p:nvSpPr>
          <p:cNvPr id="40" name="Text 38"/>
          <p:cNvSpPr/>
          <p:nvPr/>
        </p:nvSpPr>
        <p:spPr>
          <a:xfrm>
            <a:off x="393192" y="2304288"/>
            <a:ext cx="6071616" cy="475488"/>
          </a:xfrm>
          <a:prstGeom prst="rect">
            <a:avLst/>
          </a:prstGeom>
          <a:noFill/>
          <a:ln/>
        </p:spPr>
        <p:txBody>
          <a:bodyPr wrap="square" lIns="0" tIns="0" rIns="0" bIns="0" rtlCol="0" anchor="t"/>
          <a:lstStyle/>
          <a:p>
            <a:pPr indent="0" marL="0">
              <a:lnSpc>
                <a:spcPct val="94000"/>
              </a:lnSpc>
              <a:buNone/>
            </a:pPr>
            <a:r>
              <a:rPr lang="en-US" sz="700" b="1" dirty="0">
                <a:solidFill>
                  <a:srgbClr val="116F68"/>
                </a:solidFill>
                <a:latin typeface="Calibri" pitchFamily="34" charset="0"/>
                <a:ea typeface="Calibri" pitchFamily="34" charset="-122"/>
                <a:cs typeface="Calibri" pitchFamily="34" charset="-120"/>
              </a:rPr>
              <a:t>EXCLUDING eB2B MAKES MT LOOK BETTER, NOT WORSE   </a:t>
            </a:r>
            <a:pPr indent="0" marL="0">
              <a:lnSpc>
                <a:spcPct val="94000"/>
              </a:lnSpc>
              <a:buNone/>
            </a:pPr>
            <a:r>
              <a:rPr lang="en-US" sz="720" dirty="0">
                <a:solidFill>
                  <a:srgbClr val="183B39"/>
                </a:solidFill>
                <a:latin typeface="Calibri" pitchFamily="34" charset="0"/>
                <a:ea typeface="Calibri" pitchFamily="34" charset="-122"/>
                <a:cs typeface="Calibri" pitchFamily="34" charset="-120"/>
              </a:rPr>
              <a:t>The June pack reported Q1 at ₹114.39 Cr and +63.6% on a blended MT + eB2B base. Nykaa (FSN) grew only 25% against the network’s 67%, so carrying it inside MT held the headline down. On a Modern Trade base the quarter grew 66.6%.</a:t>
            </a:r>
            <a:endParaRPr lang="en-US" sz="700" dirty="0"/>
          </a:p>
        </p:txBody>
      </p:sp>
      <p:sp>
        <p:nvSpPr>
          <p:cNvPr id="41" name="Shape 39"/>
          <p:cNvSpPr/>
          <p:nvPr/>
        </p:nvSpPr>
        <p:spPr>
          <a:xfrm>
            <a:off x="265176" y="2980944"/>
            <a:ext cx="6327648" cy="256032"/>
          </a:xfrm>
          <a:prstGeom prst="rect">
            <a:avLst/>
          </a:prstGeom>
          <a:solidFill>
            <a:srgbClr val="116F68"/>
          </a:solidFill>
          <a:ln/>
        </p:spPr>
      </p:sp>
      <p:sp>
        <p:nvSpPr>
          <p:cNvPr id="42" name="Text 40"/>
          <p:cNvSpPr/>
          <p:nvPr/>
        </p:nvSpPr>
        <p:spPr>
          <a:xfrm>
            <a:off x="374904" y="2999232"/>
            <a:ext cx="6108192" cy="219456"/>
          </a:xfrm>
          <a:prstGeom prst="rect">
            <a:avLst/>
          </a:prstGeom>
          <a:noFill/>
          <a:ln/>
        </p:spPr>
        <p:txBody>
          <a:bodyPr wrap="square" lIns="0" tIns="0" rIns="0" bIns="0" rtlCol="0" anchor="ctr"/>
          <a:lstStyle/>
          <a:p>
            <a:pPr indent="0" marL="0">
              <a:buNone/>
            </a:pPr>
            <a:r>
              <a:rPr lang="en-US" sz="720" b="1" spc="60" kern="0" dirty="0">
                <a:solidFill>
                  <a:srgbClr val="FFFFFF"/>
                </a:solidFill>
                <a:latin typeface="Calibri" pitchFamily="34" charset="0"/>
                <a:ea typeface="Calibri" pitchFamily="34" charset="-122"/>
                <a:cs typeface="Calibri" pitchFamily="34" charset="-120"/>
              </a:rPr>
              <a:t>ZONE — Q1 FY27 vs Q1 FY26 (MODERN TRADE ONLY)</a:t>
            </a:r>
            <a:endParaRPr lang="en-US" sz="720" dirty="0"/>
          </a:p>
        </p:txBody>
      </p:sp>
      <p:sp>
        <p:nvSpPr>
          <p:cNvPr id="43" name="Shape 41"/>
          <p:cNvSpPr/>
          <p:nvPr/>
        </p:nvSpPr>
        <p:spPr>
          <a:xfrm>
            <a:off x="265176" y="3328416"/>
            <a:ext cx="6327648" cy="256032"/>
          </a:xfrm>
          <a:prstGeom prst="rect">
            <a:avLst/>
          </a:prstGeom>
          <a:solidFill>
            <a:srgbClr val="116F68"/>
          </a:solidFill>
          <a:ln/>
        </p:spPr>
      </p:sp>
      <p:sp>
        <p:nvSpPr>
          <p:cNvPr id="44" name="Text 42"/>
          <p:cNvSpPr/>
          <p:nvPr/>
        </p:nvSpPr>
        <p:spPr>
          <a:xfrm>
            <a:off x="320040" y="3346704"/>
            <a:ext cx="1082438" cy="219456"/>
          </a:xfrm>
          <a:prstGeom prst="rect">
            <a:avLst/>
          </a:prstGeom>
          <a:noFill/>
          <a:ln/>
        </p:spPr>
        <p:txBody>
          <a:bodyPr wrap="square" lIns="0" tIns="0" rIns="0" bIns="0" rtlCol="0" anchor="ctr"/>
          <a:lstStyle/>
          <a:p>
            <a:pPr algn="l" indent="0" marL="0">
              <a:buNone/>
            </a:pPr>
            <a:r>
              <a:rPr lang="en-US" sz="660" b="1" spc="40" kern="0" dirty="0">
                <a:solidFill>
                  <a:srgbClr val="FFFFFF"/>
                </a:solidFill>
                <a:latin typeface="Calibri" pitchFamily="34" charset="0"/>
                <a:ea typeface="Calibri" pitchFamily="34" charset="-122"/>
                <a:cs typeface="Calibri" pitchFamily="34" charset="-120"/>
              </a:rPr>
              <a:t>ZONE</a:t>
            </a:r>
            <a:endParaRPr lang="en-US" sz="660" dirty="0"/>
          </a:p>
        </p:txBody>
      </p:sp>
      <p:sp>
        <p:nvSpPr>
          <p:cNvPr id="45" name="Text 43"/>
          <p:cNvSpPr/>
          <p:nvPr/>
        </p:nvSpPr>
        <p:spPr>
          <a:xfrm>
            <a:off x="1512206" y="3346704"/>
            <a:ext cx="807322"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Q1 FY26</a:t>
            </a:r>
            <a:endParaRPr lang="en-US" sz="660" dirty="0"/>
          </a:p>
        </p:txBody>
      </p:sp>
      <p:sp>
        <p:nvSpPr>
          <p:cNvPr id="46" name="Text 44"/>
          <p:cNvSpPr/>
          <p:nvPr/>
        </p:nvSpPr>
        <p:spPr>
          <a:xfrm>
            <a:off x="2429256" y="3346704"/>
            <a:ext cx="807322"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Q1 FY27</a:t>
            </a:r>
            <a:endParaRPr lang="en-US" sz="660" dirty="0"/>
          </a:p>
        </p:txBody>
      </p:sp>
      <p:sp>
        <p:nvSpPr>
          <p:cNvPr id="47" name="Text 45"/>
          <p:cNvSpPr/>
          <p:nvPr/>
        </p:nvSpPr>
        <p:spPr>
          <a:xfrm>
            <a:off x="3346306" y="3346704"/>
            <a:ext cx="761470"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GROWTH</a:t>
            </a:r>
            <a:endParaRPr lang="en-US" sz="660" dirty="0"/>
          </a:p>
        </p:txBody>
      </p:sp>
      <p:sp>
        <p:nvSpPr>
          <p:cNvPr id="48" name="Text 46"/>
          <p:cNvSpPr/>
          <p:nvPr/>
        </p:nvSpPr>
        <p:spPr>
          <a:xfrm>
            <a:off x="4217504" y="3346704"/>
            <a:ext cx="578060"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MIX</a:t>
            </a:r>
            <a:endParaRPr lang="en-US" sz="660" dirty="0"/>
          </a:p>
        </p:txBody>
      </p:sp>
      <p:sp>
        <p:nvSpPr>
          <p:cNvPr id="49" name="Text 47"/>
          <p:cNvSpPr/>
          <p:nvPr/>
        </p:nvSpPr>
        <p:spPr>
          <a:xfrm>
            <a:off x="4905292" y="3346704"/>
            <a:ext cx="761470"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Q1 CONV.</a:t>
            </a:r>
            <a:endParaRPr lang="en-US" sz="660" dirty="0"/>
          </a:p>
        </p:txBody>
      </p:sp>
      <p:sp>
        <p:nvSpPr>
          <p:cNvPr id="50" name="Text 48"/>
          <p:cNvSpPr/>
          <p:nvPr/>
        </p:nvSpPr>
        <p:spPr>
          <a:xfrm>
            <a:off x="5776490" y="3346704"/>
            <a:ext cx="761470"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JUL CONV.</a:t>
            </a:r>
            <a:endParaRPr lang="en-US" sz="660" dirty="0"/>
          </a:p>
        </p:txBody>
      </p:sp>
      <p:sp>
        <p:nvSpPr>
          <p:cNvPr id="51" name="Shape 49"/>
          <p:cNvSpPr/>
          <p:nvPr/>
        </p:nvSpPr>
        <p:spPr>
          <a:xfrm>
            <a:off x="265176" y="3584448"/>
            <a:ext cx="6327648" cy="310896"/>
          </a:xfrm>
          <a:prstGeom prst="rect">
            <a:avLst/>
          </a:prstGeom>
          <a:solidFill>
            <a:srgbClr val="F4F9F8"/>
          </a:solidFill>
          <a:ln/>
        </p:spPr>
      </p:sp>
      <p:sp>
        <p:nvSpPr>
          <p:cNvPr id="52" name="Shape 50"/>
          <p:cNvSpPr/>
          <p:nvPr/>
        </p:nvSpPr>
        <p:spPr>
          <a:xfrm>
            <a:off x="265176" y="3895344"/>
            <a:ext cx="6327648" cy="0"/>
          </a:xfrm>
          <a:prstGeom prst="line">
            <a:avLst/>
          </a:prstGeom>
          <a:noFill/>
          <a:ln w="6350">
            <a:solidFill>
              <a:srgbClr val="C8DCD7"/>
            </a:solidFill>
            <a:prstDash val="solid"/>
          </a:ln>
        </p:spPr>
      </p:sp>
      <p:sp>
        <p:nvSpPr>
          <p:cNvPr id="53" name="Text 51"/>
          <p:cNvSpPr/>
          <p:nvPr/>
        </p:nvSpPr>
        <p:spPr>
          <a:xfrm>
            <a:off x="320040" y="3584448"/>
            <a:ext cx="1082438" cy="310896"/>
          </a:xfrm>
          <a:prstGeom prst="rect">
            <a:avLst/>
          </a:prstGeom>
          <a:noFill/>
          <a:ln/>
        </p:spPr>
        <p:txBody>
          <a:bodyPr wrap="square" lIns="0" tIns="0" rIns="0" bIns="0" rtlCol="0" anchor="ctr"/>
          <a:lstStyle/>
          <a:p>
            <a:pPr algn="l" indent="0" marL="0">
              <a:buNone/>
            </a:pPr>
            <a:r>
              <a:rPr lang="en-US" sz="740" b="1" dirty="0">
                <a:solidFill>
                  <a:srgbClr val="183B39"/>
                </a:solidFill>
                <a:latin typeface="Calibri" pitchFamily="34" charset="0"/>
                <a:ea typeface="Calibri" pitchFamily="34" charset="-122"/>
                <a:cs typeface="Calibri" pitchFamily="34" charset="-120"/>
              </a:rPr>
              <a:t>West</a:t>
            </a:r>
            <a:endParaRPr lang="en-US" sz="740" dirty="0"/>
          </a:p>
        </p:txBody>
      </p:sp>
      <p:sp>
        <p:nvSpPr>
          <p:cNvPr id="54" name="Text 52"/>
          <p:cNvSpPr/>
          <p:nvPr/>
        </p:nvSpPr>
        <p:spPr>
          <a:xfrm>
            <a:off x="1512206" y="3584448"/>
            <a:ext cx="807322" cy="310896"/>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18.77</a:t>
            </a:r>
            <a:endParaRPr lang="en-US" sz="740" dirty="0"/>
          </a:p>
        </p:txBody>
      </p:sp>
      <p:sp>
        <p:nvSpPr>
          <p:cNvPr id="55" name="Text 53"/>
          <p:cNvSpPr/>
          <p:nvPr/>
        </p:nvSpPr>
        <p:spPr>
          <a:xfrm>
            <a:off x="2429256" y="3584448"/>
            <a:ext cx="807322" cy="310896"/>
          </a:xfrm>
          <a:prstGeom prst="rect">
            <a:avLst/>
          </a:prstGeom>
          <a:noFill/>
          <a:ln/>
        </p:spPr>
        <p:txBody>
          <a:bodyPr wrap="square" lIns="0" tIns="0" rIns="0" bIns="0" rtlCol="0" anchor="ctr"/>
          <a:lstStyle/>
          <a:p>
            <a:pPr algn="r" indent="0" marL="0">
              <a:buNone/>
            </a:pPr>
            <a:r>
              <a:rPr lang="en-US" sz="740" b="1" dirty="0">
                <a:solidFill>
                  <a:srgbClr val="183B39"/>
                </a:solidFill>
                <a:latin typeface="Calibri" pitchFamily="34" charset="0"/>
                <a:ea typeface="Calibri" pitchFamily="34" charset="-122"/>
                <a:cs typeface="Calibri" pitchFamily="34" charset="-120"/>
              </a:rPr>
              <a:t>29.05</a:t>
            </a:r>
            <a:endParaRPr lang="en-US" sz="740" dirty="0"/>
          </a:p>
        </p:txBody>
      </p:sp>
      <p:sp>
        <p:nvSpPr>
          <p:cNvPr id="56" name="Text 54"/>
          <p:cNvSpPr/>
          <p:nvPr/>
        </p:nvSpPr>
        <p:spPr>
          <a:xfrm>
            <a:off x="3346306" y="3584448"/>
            <a:ext cx="761470" cy="310896"/>
          </a:xfrm>
          <a:prstGeom prst="rect">
            <a:avLst/>
          </a:prstGeom>
          <a:noFill/>
          <a:ln/>
        </p:spPr>
        <p:txBody>
          <a:bodyPr wrap="square" lIns="0" tIns="0" rIns="0" bIns="0" rtlCol="0" anchor="ctr"/>
          <a:lstStyle/>
          <a:p>
            <a:pPr algn="r" indent="0" marL="0">
              <a:buNone/>
            </a:pPr>
            <a:r>
              <a:rPr lang="en-US" sz="740" dirty="0">
                <a:solidFill>
                  <a:srgbClr val="2B9A66"/>
                </a:solidFill>
                <a:latin typeface="Calibri" pitchFamily="34" charset="0"/>
                <a:ea typeface="Calibri" pitchFamily="34" charset="-122"/>
                <a:cs typeface="Calibri" pitchFamily="34" charset="-120"/>
              </a:rPr>
              <a:t>+55%</a:t>
            </a:r>
            <a:endParaRPr lang="en-US" sz="740" dirty="0"/>
          </a:p>
        </p:txBody>
      </p:sp>
      <p:sp>
        <p:nvSpPr>
          <p:cNvPr id="57" name="Text 55"/>
          <p:cNvSpPr/>
          <p:nvPr/>
        </p:nvSpPr>
        <p:spPr>
          <a:xfrm>
            <a:off x="4217504" y="3584448"/>
            <a:ext cx="578060" cy="310896"/>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27.0%</a:t>
            </a:r>
            <a:endParaRPr lang="en-US" sz="740" dirty="0"/>
          </a:p>
        </p:txBody>
      </p:sp>
      <p:sp>
        <p:nvSpPr>
          <p:cNvPr id="58" name="Text 56"/>
          <p:cNvSpPr/>
          <p:nvPr/>
        </p:nvSpPr>
        <p:spPr>
          <a:xfrm>
            <a:off x="4905292" y="3584448"/>
            <a:ext cx="761470" cy="310896"/>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80.3%</a:t>
            </a:r>
            <a:endParaRPr lang="en-US" sz="740" dirty="0"/>
          </a:p>
        </p:txBody>
      </p:sp>
      <p:sp>
        <p:nvSpPr>
          <p:cNvPr id="59" name="Text 57"/>
          <p:cNvSpPr/>
          <p:nvPr/>
        </p:nvSpPr>
        <p:spPr>
          <a:xfrm>
            <a:off x="5776490" y="3584448"/>
            <a:ext cx="761470" cy="310896"/>
          </a:xfrm>
          <a:prstGeom prst="rect">
            <a:avLst/>
          </a:prstGeom>
          <a:noFill/>
          <a:ln/>
        </p:spPr>
        <p:txBody>
          <a:bodyPr wrap="square" lIns="0" tIns="0" rIns="0" bIns="0" rtlCol="0" anchor="ctr"/>
          <a:lstStyle/>
          <a:p>
            <a:pPr algn="r" indent="0" marL="0">
              <a:buNone/>
            </a:pPr>
            <a:r>
              <a:rPr lang="en-US" sz="740" dirty="0">
                <a:solidFill>
                  <a:srgbClr val="2B9A66"/>
                </a:solidFill>
                <a:latin typeface="Calibri" pitchFamily="34" charset="0"/>
                <a:ea typeface="Calibri" pitchFamily="34" charset="-122"/>
                <a:cs typeface="Calibri" pitchFamily="34" charset="-120"/>
              </a:rPr>
              <a:t>85.2%</a:t>
            </a:r>
            <a:endParaRPr lang="en-US" sz="740" dirty="0"/>
          </a:p>
        </p:txBody>
      </p:sp>
      <p:sp>
        <p:nvSpPr>
          <p:cNvPr id="60" name="Shape 58"/>
          <p:cNvSpPr/>
          <p:nvPr/>
        </p:nvSpPr>
        <p:spPr>
          <a:xfrm>
            <a:off x="265176" y="4206240"/>
            <a:ext cx="6327648" cy="0"/>
          </a:xfrm>
          <a:prstGeom prst="line">
            <a:avLst/>
          </a:prstGeom>
          <a:noFill/>
          <a:ln w="6350">
            <a:solidFill>
              <a:srgbClr val="C8DCD7"/>
            </a:solidFill>
            <a:prstDash val="solid"/>
          </a:ln>
        </p:spPr>
      </p:sp>
      <p:sp>
        <p:nvSpPr>
          <p:cNvPr id="61" name="Text 59"/>
          <p:cNvSpPr/>
          <p:nvPr/>
        </p:nvSpPr>
        <p:spPr>
          <a:xfrm>
            <a:off x="320040" y="3895344"/>
            <a:ext cx="1082438" cy="310896"/>
          </a:xfrm>
          <a:prstGeom prst="rect">
            <a:avLst/>
          </a:prstGeom>
          <a:noFill/>
          <a:ln/>
        </p:spPr>
        <p:txBody>
          <a:bodyPr wrap="square" lIns="0" tIns="0" rIns="0" bIns="0" rtlCol="0" anchor="ctr"/>
          <a:lstStyle/>
          <a:p>
            <a:pPr algn="l" indent="0" marL="0">
              <a:buNone/>
            </a:pPr>
            <a:r>
              <a:rPr lang="en-US" sz="740" b="1" dirty="0">
                <a:solidFill>
                  <a:srgbClr val="183B39"/>
                </a:solidFill>
                <a:latin typeface="Calibri" pitchFamily="34" charset="0"/>
                <a:ea typeface="Calibri" pitchFamily="34" charset="-122"/>
                <a:cs typeface="Calibri" pitchFamily="34" charset="-120"/>
              </a:rPr>
              <a:t>North</a:t>
            </a:r>
            <a:endParaRPr lang="en-US" sz="740" dirty="0"/>
          </a:p>
        </p:txBody>
      </p:sp>
      <p:sp>
        <p:nvSpPr>
          <p:cNvPr id="62" name="Text 60"/>
          <p:cNvSpPr/>
          <p:nvPr/>
        </p:nvSpPr>
        <p:spPr>
          <a:xfrm>
            <a:off x="1512206" y="3895344"/>
            <a:ext cx="807322" cy="310896"/>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15.83</a:t>
            </a:r>
            <a:endParaRPr lang="en-US" sz="740" dirty="0"/>
          </a:p>
        </p:txBody>
      </p:sp>
      <p:sp>
        <p:nvSpPr>
          <p:cNvPr id="63" name="Text 61"/>
          <p:cNvSpPr/>
          <p:nvPr/>
        </p:nvSpPr>
        <p:spPr>
          <a:xfrm>
            <a:off x="2429256" y="3895344"/>
            <a:ext cx="807322" cy="310896"/>
          </a:xfrm>
          <a:prstGeom prst="rect">
            <a:avLst/>
          </a:prstGeom>
          <a:noFill/>
          <a:ln/>
        </p:spPr>
        <p:txBody>
          <a:bodyPr wrap="square" lIns="0" tIns="0" rIns="0" bIns="0" rtlCol="0" anchor="ctr"/>
          <a:lstStyle/>
          <a:p>
            <a:pPr algn="r" indent="0" marL="0">
              <a:buNone/>
            </a:pPr>
            <a:r>
              <a:rPr lang="en-US" sz="740" b="1" dirty="0">
                <a:solidFill>
                  <a:srgbClr val="183B39"/>
                </a:solidFill>
                <a:latin typeface="Calibri" pitchFamily="34" charset="0"/>
                <a:ea typeface="Calibri" pitchFamily="34" charset="-122"/>
                <a:cs typeface="Calibri" pitchFamily="34" charset="-120"/>
              </a:rPr>
              <a:t>26.41</a:t>
            </a:r>
            <a:endParaRPr lang="en-US" sz="740" dirty="0"/>
          </a:p>
        </p:txBody>
      </p:sp>
      <p:sp>
        <p:nvSpPr>
          <p:cNvPr id="64" name="Text 62"/>
          <p:cNvSpPr/>
          <p:nvPr/>
        </p:nvSpPr>
        <p:spPr>
          <a:xfrm>
            <a:off x="3346306" y="3895344"/>
            <a:ext cx="761470" cy="310896"/>
          </a:xfrm>
          <a:prstGeom prst="rect">
            <a:avLst/>
          </a:prstGeom>
          <a:noFill/>
          <a:ln/>
        </p:spPr>
        <p:txBody>
          <a:bodyPr wrap="square" lIns="0" tIns="0" rIns="0" bIns="0" rtlCol="0" anchor="ctr"/>
          <a:lstStyle/>
          <a:p>
            <a:pPr algn="r" indent="0" marL="0">
              <a:buNone/>
            </a:pPr>
            <a:r>
              <a:rPr lang="en-US" sz="740" dirty="0">
                <a:solidFill>
                  <a:srgbClr val="2B9A66"/>
                </a:solidFill>
                <a:latin typeface="Calibri" pitchFamily="34" charset="0"/>
                <a:ea typeface="Calibri" pitchFamily="34" charset="-122"/>
                <a:cs typeface="Calibri" pitchFamily="34" charset="-120"/>
              </a:rPr>
              <a:t>+67%</a:t>
            </a:r>
            <a:endParaRPr lang="en-US" sz="740" dirty="0"/>
          </a:p>
        </p:txBody>
      </p:sp>
      <p:sp>
        <p:nvSpPr>
          <p:cNvPr id="65" name="Text 63"/>
          <p:cNvSpPr/>
          <p:nvPr/>
        </p:nvSpPr>
        <p:spPr>
          <a:xfrm>
            <a:off x="4217504" y="3895344"/>
            <a:ext cx="578060" cy="310896"/>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24.5%</a:t>
            </a:r>
            <a:endParaRPr lang="en-US" sz="740" dirty="0"/>
          </a:p>
        </p:txBody>
      </p:sp>
      <p:sp>
        <p:nvSpPr>
          <p:cNvPr id="66" name="Text 64"/>
          <p:cNvSpPr/>
          <p:nvPr/>
        </p:nvSpPr>
        <p:spPr>
          <a:xfrm>
            <a:off x="4905292" y="3895344"/>
            <a:ext cx="761470" cy="310896"/>
          </a:xfrm>
          <a:prstGeom prst="rect">
            <a:avLst/>
          </a:prstGeom>
          <a:noFill/>
          <a:ln/>
        </p:spPr>
        <p:txBody>
          <a:bodyPr wrap="square" lIns="0" tIns="0" rIns="0" bIns="0" rtlCol="0" anchor="ctr"/>
          <a:lstStyle/>
          <a:p>
            <a:pPr algn="r" indent="0" marL="0">
              <a:buNone/>
            </a:pPr>
            <a:r>
              <a:rPr lang="en-US" sz="740" dirty="0">
                <a:solidFill>
                  <a:srgbClr val="2B9A66"/>
                </a:solidFill>
                <a:latin typeface="Calibri" pitchFamily="34" charset="0"/>
                <a:ea typeface="Calibri" pitchFamily="34" charset="-122"/>
                <a:cs typeface="Calibri" pitchFamily="34" charset="-120"/>
              </a:rPr>
              <a:t>90.0%</a:t>
            </a:r>
            <a:endParaRPr lang="en-US" sz="740" dirty="0"/>
          </a:p>
        </p:txBody>
      </p:sp>
      <p:sp>
        <p:nvSpPr>
          <p:cNvPr id="67" name="Text 65"/>
          <p:cNvSpPr/>
          <p:nvPr/>
        </p:nvSpPr>
        <p:spPr>
          <a:xfrm>
            <a:off x="5776490" y="3895344"/>
            <a:ext cx="761470" cy="310896"/>
          </a:xfrm>
          <a:prstGeom prst="rect">
            <a:avLst/>
          </a:prstGeom>
          <a:noFill/>
          <a:ln/>
        </p:spPr>
        <p:txBody>
          <a:bodyPr wrap="square" lIns="0" tIns="0" rIns="0" bIns="0" rtlCol="0" anchor="ctr"/>
          <a:lstStyle/>
          <a:p>
            <a:pPr algn="r" indent="0" marL="0">
              <a:buNone/>
            </a:pPr>
            <a:r>
              <a:rPr lang="en-US" sz="740" b="1" dirty="0">
                <a:solidFill>
                  <a:srgbClr val="D6544D"/>
                </a:solidFill>
                <a:latin typeface="Calibri" pitchFamily="34" charset="0"/>
                <a:ea typeface="Calibri" pitchFamily="34" charset="-122"/>
                <a:cs typeface="Calibri" pitchFamily="34" charset="-120"/>
              </a:rPr>
              <a:t>61.2%</a:t>
            </a:r>
            <a:endParaRPr lang="en-US" sz="740" dirty="0"/>
          </a:p>
        </p:txBody>
      </p:sp>
      <p:sp>
        <p:nvSpPr>
          <p:cNvPr id="68" name="Shape 66"/>
          <p:cNvSpPr/>
          <p:nvPr/>
        </p:nvSpPr>
        <p:spPr>
          <a:xfrm>
            <a:off x="265176" y="4206240"/>
            <a:ext cx="6327648" cy="310896"/>
          </a:xfrm>
          <a:prstGeom prst="rect">
            <a:avLst/>
          </a:prstGeom>
          <a:solidFill>
            <a:srgbClr val="F4F9F8"/>
          </a:solidFill>
          <a:ln/>
        </p:spPr>
      </p:sp>
      <p:sp>
        <p:nvSpPr>
          <p:cNvPr id="69" name="Shape 67"/>
          <p:cNvSpPr/>
          <p:nvPr/>
        </p:nvSpPr>
        <p:spPr>
          <a:xfrm>
            <a:off x="265176" y="4517136"/>
            <a:ext cx="6327648" cy="0"/>
          </a:xfrm>
          <a:prstGeom prst="line">
            <a:avLst/>
          </a:prstGeom>
          <a:noFill/>
          <a:ln w="6350">
            <a:solidFill>
              <a:srgbClr val="C8DCD7"/>
            </a:solidFill>
            <a:prstDash val="solid"/>
          </a:ln>
        </p:spPr>
      </p:sp>
      <p:sp>
        <p:nvSpPr>
          <p:cNvPr id="70" name="Text 68"/>
          <p:cNvSpPr/>
          <p:nvPr/>
        </p:nvSpPr>
        <p:spPr>
          <a:xfrm>
            <a:off x="320040" y="4206240"/>
            <a:ext cx="1082438" cy="310896"/>
          </a:xfrm>
          <a:prstGeom prst="rect">
            <a:avLst/>
          </a:prstGeom>
          <a:noFill/>
          <a:ln/>
        </p:spPr>
        <p:txBody>
          <a:bodyPr wrap="square" lIns="0" tIns="0" rIns="0" bIns="0" rtlCol="0" anchor="ctr"/>
          <a:lstStyle/>
          <a:p>
            <a:pPr algn="l" indent="0" marL="0">
              <a:buNone/>
            </a:pPr>
            <a:r>
              <a:rPr lang="en-US" sz="740" b="1" dirty="0">
                <a:solidFill>
                  <a:srgbClr val="183B39"/>
                </a:solidFill>
                <a:latin typeface="Calibri" pitchFamily="34" charset="0"/>
                <a:ea typeface="Calibri" pitchFamily="34" charset="-122"/>
                <a:cs typeface="Calibri" pitchFamily="34" charset="-120"/>
              </a:rPr>
              <a:t>South-1</a:t>
            </a:r>
            <a:endParaRPr lang="en-US" sz="740" dirty="0"/>
          </a:p>
        </p:txBody>
      </p:sp>
      <p:sp>
        <p:nvSpPr>
          <p:cNvPr id="71" name="Text 69"/>
          <p:cNvSpPr/>
          <p:nvPr/>
        </p:nvSpPr>
        <p:spPr>
          <a:xfrm>
            <a:off x="1512206" y="4206240"/>
            <a:ext cx="807322" cy="310896"/>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13.56</a:t>
            </a:r>
            <a:endParaRPr lang="en-US" sz="740" dirty="0"/>
          </a:p>
        </p:txBody>
      </p:sp>
      <p:sp>
        <p:nvSpPr>
          <p:cNvPr id="72" name="Text 70"/>
          <p:cNvSpPr/>
          <p:nvPr/>
        </p:nvSpPr>
        <p:spPr>
          <a:xfrm>
            <a:off x="2429256" y="4206240"/>
            <a:ext cx="807322" cy="310896"/>
          </a:xfrm>
          <a:prstGeom prst="rect">
            <a:avLst/>
          </a:prstGeom>
          <a:noFill/>
          <a:ln/>
        </p:spPr>
        <p:txBody>
          <a:bodyPr wrap="square" lIns="0" tIns="0" rIns="0" bIns="0" rtlCol="0" anchor="ctr"/>
          <a:lstStyle/>
          <a:p>
            <a:pPr algn="r" indent="0" marL="0">
              <a:buNone/>
            </a:pPr>
            <a:r>
              <a:rPr lang="en-US" sz="740" b="1" dirty="0">
                <a:solidFill>
                  <a:srgbClr val="183B39"/>
                </a:solidFill>
                <a:latin typeface="Calibri" pitchFamily="34" charset="0"/>
                <a:ea typeface="Calibri" pitchFamily="34" charset="-122"/>
                <a:cs typeface="Calibri" pitchFamily="34" charset="-120"/>
              </a:rPr>
              <a:t>24.89</a:t>
            </a:r>
            <a:endParaRPr lang="en-US" sz="740" dirty="0"/>
          </a:p>
        </p:txBody>
      </p:sp>
      <p:sp>
        <p:nvSpPr>
          <p:cNvPr id="73" name="Text 71"/>
          <p:cNvSpPr/>
          <p:nvPr/>
        </p:nvSpPr>
        <p:spPr>
          <a:xfrm>
            <a:off x="3346306" y="4206240"/>
            <a:ext cx="761470" cy="310896"/>
          </a:xfrm>
          <a:prstGeom prst="rect">
            <a:avLst/>
          </a:prstGeom>
          <a:noFill/>
          <a:ln/>
        </p:spPr>
        <p:txBody>
          <a:bodyPr wrap="square" lIns="0" tIns="0" rIns="0" bIns="0" rtlCol="0" anchor="ctr"/>
          <a:lstStyle/>
          <a:p>
            <a:pPr algn="r" indent="0" marL="0">
              <a:buNone/>
            </a:pPr>
            <a:r>
              <a:rPr lang="en-US" sz="740" b="1" dirty="0">
                <a:solidFill>
                  <a:srgbClr val="2B9A66"/>
                </a:solidFill>
                <a:latin typeface="Calibri" pitchFamily="34" charset="0"/>
                <a:ea typeface="Calibri" pitchFamily="34" charset="-122"/>
                <a:cs typeface="Calibri" pitchFamily="34" charset="-120"/>
              </a:rPr>
              <a:t>+84%</a:t>
            </a:r>
            <a:endParaRPr lang="en-US" sz="740" dirty="0"/>
          </a:p>
        </p:txBody>
      </p:sp>
      <p:sp>
        <p:nvSpPr>
          <p:cNvPr id="74" name="Text 72"/>
          <p:cNvSpPr/>
          <p:nvPr/>
        </p:nvSpPr>
        <p:spPr>
          <a:xfrm>
            <a:off x="4217504" y="4206240"/>
            <a:ext cx="578060" cy="310896"/>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23.1%</a:t>
            </a:r>
            <a:endParaRPr lang="en-US" sz="740" dirty="0"/>
          </a:p>
        </p:txBody>
      </p:sp>
      <p:sp>
        <p:nvSpPr>
          <p:cNvPr id="75" name="Text 73"/>
          <p:cNvSpPr/>
          <p:nvPr/>
        </p:nvSpPr>
        <p:spPr>
          <a:xfrm>
            <a:off x="4905292" y="4206240"/>
            <a:ext cx="761470" cy="310896"/>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78.3%</a:t>
            </a:r>
            <a:endParaRPr lang="en-US" sz="740" dirty="0"/>
          </a:p>
        </p:txBody>
      </p:sp>
      <p:sp>
        <p:nvSpPr>
          <p:cNvPr id="76" name="Text 74"/>
          <p:cNvSpPr/>
          <p:nvPr/>
        </p:nvSpPr>
        <p:spPr>
          <a:xfrm>
            <a:off x="5776490" y="4206240"/>
            <a:ext cx="761470" cy="310896"/>
          </a:xfrm>
          <a:prstGeom prst="rect">
            <a:avLst/>
          </a:prstGeom>
          <a:noFill/>
          <a:ln/>
        </p:spPr>
        <p:txBody>
          <a:bodyPr wrap="square" lIns="0" tIns="0" rIns="0" bIns="0" rtlCol="0" anchor="ctr"/>
          <a:lstStyle/>
          <a:p>
            <a:pPr algn="r" indent="0" marL="0">
              <a:buNone/>
            </a:pPr>
            <a:r>
              <a:rPr lang="en-US" sz="740" dirty="0">
                <a:solidFill>
                  <a:srgbClr val="2B9A66"/>
                </a:solidFill>
                <a:latin typeface="Calibri" pitchFamily="34" charset="0"/>
                <a:ea typeface="Calibri" pitchFamily="34" charset="-122"/>
                <a:cs typeface="Calibri" pitchFamily="34" charset="-120"/>
              </a:rPr>
              <a:t>86.3%</a:t>
            </a:r>
            <a:endParaRPr lang="en-US" sz="740" dirty="0"/>
          </a:p>
        </p:txBody>
      </p:sp>
      <p:sp>
        <p:nvSpPr>
          <p:cNvPr id="77" name="Shape 75"/>
          <p:cNvSpPr/>
          <p:nvPr/>
        </p:nvSpPr>
        <p:spPr>
          <a:xfrm>
            <a:off x="265176" y="4828032"/>
            <a:ext cx="6327648" cy="0"/>
          </a:xfrm>
          <a:prstGeom prst="line">
            <a:avLst/>
          </a:prstGeom>
          <a:noFill/>
          <a:ln w="6350">
            <a:solidFill>
              <a:srgbClr val="C8DCD7"/>
            </a:solidFill>
            <a:prstDash val="solid"/>
          </a:ln>
        </p:spPr>
      </p:sp>
      <p:sp>
        <p:nvSpPr>
          <p:cNvPr id="78" name="Text 76"/>
          <p:cNvSpPr/>
          <p:nvPr/>
        </p:nvSpPr>
        <p:spPr>
          <a:xfrm>
            <a:off x="320040" y="4517136"/>
            <a:ext cx="1082438" cy="310896"/>
          </a:xfrm>
          <a:prstGeom prst="rect">
            <a:avLst/>
          </a:prstGeom>
          <a:noFill/>
          <a:ln/>
        </p:spPr>
        <p:txBody>
          <a:bodyPr wrap="square" lIns="0" tIns="0" rIns="0" bIns="0" rtlCol="0" anchor="ctr"/>
          <a:lstStyle/>
          <a:p>
            <a:pPr algn="l" indent="0" marL="0">
              <a:buNone/>
            </a:pPr>
            <a:r>
              <a:rPr lang="en-US" sz="740" b="1" dirty="0">
                <a:solidFill>
                  <a:srgbClr val="183B39"/>
                </a:solidFill>
                <a:latin typeface="Calibri" pitchFamily="34" charset="0"/>
                <a:ea typeface="Calibri" pitchFamily="34" charset="-122"/>
                <a:cs typeface="Calibri" pitchFamily="34" charset="-120"/>
              </a:rPr>
              <a:t>South-2</a:t>
            </a:r>
            <a:endParaRPr lang="en-US" sz="740" dirty="0"/>
          </a:p>
        </p:txBody>
      </p:sp>
      <p:sp>
        <p:nvSpPr>
          <p:cNvPr id="79" name="Text 77"/>
          <p:cNvSpPr/>
          <p:nvPr/>
        </p:nvSpPr>
        <p:spPr>
          <a:xfrm>
            <a:off x="1512206" y="4517136"/>
            <a:ext cx="807322" cy="310896"/>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9.52</a:t>
            </a:r>
            <a:endParaRPr lang="en-US" sz="740" dirty="0"/>
          </a:p>
        </p:txBody>
      </p:sp>
      <p:sp>
        <p:nvSpPr>
          <p:cNvPr id="80" name="Text 78"/>
          <p:cNvSpPr/>
          <p:nvPr/>
        </p:nvSpPr>
        <p:spPr>
          <a:xfrm>
            <a:off x="2429256" y="4517136"/>
            <a:ext cx="807322" cy="310896"/>
          </a:xfrm>
          <a:prstGeom prst="rect">
            <a:avLst/>
          </a:prstGeom>
          <a:noFill/>
          <a:ln/>
        </p:spPr>
        <p:txBody>
          <a:bodyPr wrap="square" lIns="0" tIns="0" rIns="0" bIns="0" rtlCol="0" anchor="ctr"/>
          <a:lstStyle/>
          <a:p>
            <a:pPr algn="r" indent="0" marL="0">
              <a:buNone/>
            </a:pPr>
            <a:r>
              <a:rPr lang="en-US" sz="740" b="1" dirty="0">
                <a:solidFill>
                  <a:srgbClr val="183B39"/>
                </a:solidFill>
                <a:latin typeface="Calibri" pitchFamily="34" charset="0"/>
                <a:ea typeface="Calibri" pitchFamily="34" charset="-122"/>
                <a:cs typeface="Calibri" pitchFamily="34" charset="-120"/>
              </a:rPr>
              <a:t>15.76</a:t>
            </a:r>
            <a:endParaRPr lang="en-US" sz="740" dirty="0"/>
          </a:p>
        </p:txBody>
      </p:sp>
      <p:sp>
        <p:nvSpPr>
          <p:cNvPr id="81" name="Text 79"/>
          <p:cNvSpPr/>
          <p:nvPr/>
        </p:nvSpPr>
        <p:spPr>
          <a:xfrm>
            <a:off x="3346306" y="4517136"/>
            <a:ext cx="761470" cy="310896"/>
          </a:xfrm>
          <a:prstGeom prst="rect">
            <a:avLst/>
          </a:prstGeom>
          <a:noFill/>
          <a:ln/>
        </p:spPr>
        <p:txBody>
          <a:bodyPr wrap="square" lIns="0" tIns="0" rIns="0" bIns="0" rtlCol="0" anchor="ctr"/>
          <a:lstStyle/>
          <a:p>
            <a:pPr algn="r" indent="0" marL="0">
              <a:buNone/>
            </a:pPr>
            <a:r>
              <a:rPr lang="en-US" sz="740" dirty="0">
                <a:solidFill>
                  <a:srgbClr val="2B9A66"/>
                </a:solidFill>
                <a:latin typeface="Calibri" pitchFamily="34" charset="0"/>
                <a:ea typeface="Calibri" pitchFamily="34" charset="-122"/>
                <a:cs typeface="Calibri" pitchFamily="34" charset="-120"/>
              </a:rPr>
              <a:t>+66%</a:t>
            </a:r>
            <a:endParaRPr lang="en-US" sz="740" dirty="0"/>
          </a:p>
        </p:txBody>
      </p:sp>
      <p:sp>
        <p:nvSpPr>
          <p:cNvPr id="82" name="Text 80"/>
          <p:cNvSpPr/>
          <p:nvPr/>
        </p:nvSpPr>
        <p:spPr>
          <a:xfrm>
            <a:off x="4217504" y="4517136"/>
            <a:ext cx="578060" cy="310896"/>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14.6%</a:t>
            </a:r>
            <a:endParaRPr lang="en-US" sz="740" dirty="0"/>
          </a:p>
        </p:txBody>
      </p:sp>
      <p:sp>
        <p:nvSpPr>
          <p:cNvPr id="83" name="Text 81"/>
          <p:cNvSpPr/>
          <p:nvPr/>
        </p:nvSpPr>
        <p:spPr>
          <a:xfrm>
            <a:off x="4905292" y="4517136"/>
            <a:ext cx="761470" cy="310896"/>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81.4%</a:t>
            </a:r>
            <a:endParaRPr lang="en-US" sz="740" dirty="0"/>
          </a:p>
        </p:txBody>
      </p:sp>
      <p:sp>
        <p:nvSpPr>
          <p:cNvPr id="84" name="Text 82"/>
          <p:cNvSpPr/>
          <p:nvPr/>
        </p:nvSpPr>
        <p:spPr>
          <a:xfrm>
            <a:off x="5776490" y="4517136"/>
            <a:ext cx="761470" cy="310896"/>
          </a:xfrm>
          <a:prstGeom prst="rect">
            <a:avLst/>
          </a:prstGeom>
          <a:noFill/>
          <a:ln/>
        </p:spPr>
        <p:txBody>
          <a:bodyPr wrap="square" lIns="0" tIns="0" rIns="0" bIns="0" rtlCol="0" anchor="ctr"/>
          <a:lstStyle/>
          <a:p>
            <a:pPr algn="r" indent="0" marL="0">
              <a:buNone/>
            </a:pPr>
            <a:r>
              <a:rPr lang="en-US" sz="740" dirty="0">
                <a:solidFill>
                  <a:srgbClr val="F2B84B"/>
                </a:solidFill>
                <a:latin typeface="Calibri" pitchFamily="34" charset="0"/>
                <a:ea typeface="Calibri" pitchFamily="34" charset="-122"/>
                <a:cs typeface="Calibri" pitchFamily="34" charset="-120"/>
              </a:rPr>
              <a:t>72.4%</a:t>
            </a:r>
            <a:endParaRPr lang="en-US" sz="740" dirty="0"/>
          </a:p>
        </p:txBody>
      </p:sp>
      <p:sp>
        <p:nvSpPr>
          <p:cNvPr id="85" name="Shape 83"/>
          <p:cNvSpPr/>
          <p:nvPr/>
        </p:nvSpPr>
        <p:spPr>
          <a:xfrm>
            <a:off x="265176" y="4828032"/>
            <a:ext cx="6327648" cy="310896"/>
          </a:xfrm>
          <a:prstGeom prst="rect">
            <a:avLst/>
          </a:prstGeom>
          <a:solidFill>
            <a:srgbClr val="F4F9F8"/>
          </a:solidFill>
          <a:ln/>
        </p:spPr>
      </p:sp>
      <p:sp>
        <p:nvSpPr>
          <p:cNvPr id="86" name="Shape 84"/>
          <p:cNvSpPr/>
          <p:nvPr/>
        </p:nvSpPr>
        <p:spPr>
          <a:xfrm>
            <a:off x="265176" y="5138928"/>
            <a:ext cx="6327648" cy="0"/>
          </a:xfrm>
          <a:prstGeom prst="line">
            <a:avLst/>
          </a:prstGeom>
          <a:noFill/>
          <a:ln w="6350">
            <a:solidFill>
              <a:srgbClr val="C8DCD7"/>
            </a:solidFill>
            <a:prstDash val="solid"/>
          </a:ln>
        </p:spPr>
      </p:sp>
      <p:sp>
        <p:nvSpPr>
          <p:cNvPr id="87" name="Text 85"/>
          <p:cNvSpPr/>
          <p:nvPr/>
        </p:nvSpPr>
        <p:spPr>
          <a:xfrm>
            <a:off x="320040" y="4828032"/>
            <a:ext cx="1082438" cy="310896"/>
          </a:xfrm>
          <a:prstGeom prst="rect">
            <a:avLst/>
          </a:prstGeom>
          <a:noFill/>
          <a:ln/>
        </p:spPr>
        <p:txBody>
          <a:bodyPr wrap="square" lIns="0" tIns="0" rIns="0" bIns="0" rtlCol="0" anchor="ctr"/>
          <a:lstStyle/>
          <a:p>
            <a:pPr algn="l" indent="0" marL="0">
              <a:buNone/>
            </a:pPr>
            <a:r>
              <a:rPr lang="en-US" sz="740" b="1" dirty="0">
                <a:solidFill>
                  <a:srgbClr val="183B39"/>
                </a:solidFill>
                <a:latin typeface="Calibri" pitchFamily="34" charset="0"/>
                <a:ea typeface="Calibri" pitchFamily="34" charset="-122"/>
                <a:cs typeface="Calibri" pitchFamily="34" charset="-120"/>
              </a:rPr>
              <a:t>East</a:t>
            </a:r>
            <a:endParaRPr lang="en-US" sz="740" dirty="0"/>
          </a:p>
        </p:txBody>
      </p:sp>
      <p:sp>
        <p:nvSpPr>
          <p:cNvPr id="88" name="Text 86"/>
          <p:cNvSpPr/>
          <p:nvPr/>
        </p:nvSpPr>
        <p:spPr>
          <a:xfrm>
            <a:off x="1512206" y="4828032"/>
            <a:ext cx="807322" cy="310896"/>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7.01</a:t>
            </a:r>
            <a:endParaRPr lang="en-US" sz="740" dirty="0"/>
          </a:p>
        </p:txBody>
      </p:sp>
      <p:sp>
        <p:nvSpPr>
          <p:cNvPr id="89" name="Text 87"/>
          <p:cNvSpPr/>
          <p:nvPr/>
        </p:nvSpPr>
        <p:spPr>
          <a:xfrm>
            <a:off x="2429256" y="4828032"/>
            <a:ext cx="807322" cy="310896"/>
          </a:xfrm>
          <a:prstGeom prst="rect">
            <a:avLst/>
          </a:prstGeom>
          <a:noFill/>
          <a:ln/>
        </p:spPr>
        <p:txBody>
          <a:bodyPr wrap="square" lIns="0" tIns="0" rIns="0" bIns="0" rtlCol="0" anchor="ctr"/>
          <a:lstStyle/>
          <a:p>
            <a:pPr algn="r" indent="0" marL="0">
              <a:buNone/>
            </a:pPr>
            <a:r>
              <a:rPr lang="en-US" sz="740" b="1" dirty="0">
                <a:solidFill>
                  <a:srgbClr val="183B39"/>
                </a:solidFill>
                <a:latin typeface="Calibri" pitchFamily="34" charset="0"/>
                <a:ea typeface="Calibri" pitchFamily="34" charset="-122"/>
                <a:cs typeface="Calibri" pitchFamily="34" charset="-120"/>
              </a:rPr>
              <a:t>11.73</a:t>
            </a:r>
            <a:endParaRPr lang="en-US" sz="740" dirty="0"/>
          </a:p>
        </p:txBody>
      </p:sp>
      <p:sp>
        <p:nvSpPr>
          <p:cNvPr id="90" name="Text 88"/>
          <p:cNvSpPr/>
          <p:nvPr/>
        </p:nvSpPr>
        <p:spPr>
          <a:xfrm>
            <a:off x="3346306" y="4828032"/>
            <a:ext cx="761470" cy="310896"/>
          </a:xfrm>
          <a:prstGeom prst="rect">
            <a:avLst/>
          </a:prstGeom>
          <a:noFill/>
          <a:ln/>
        </p:spPr>
        <p:txBody>
          <a:bodyPr wrap="square" lIns="0" tIns="0" rIns="0" bIns="0" rtlCol="0" anchor="ctr"/>
          <a:lstStyle/>
          <a:p>
            <a:pPr algn="r" indent="0" marL="0">
              <a:buNone/>
            </a:pPr>
            <a:r>
              <a:rPr lang="en-US" sz="740" dirty="0">
                <a:solidFill>
                  <a:srgbClr val="2B9A66"/>
                </a:solidFill>
                <a:latin typeface="Calibri" pitchFamily="34" charset="0"/>
                <a:ea typeface="Calibri" pitchFamily="34" charset="-122"/>
                <a:cs typeface="Calibri" pitchFamily="34" charset="-120"/>
              </a:rPr>
              <a:t>+67%</a:t>
            </a:r>
            <a:endParaRPr lang="en-US" sz="740" dirty="0"/>
          </a:p>
        </p:txBody>
      </p:sp>
      <p:sp>
        <p:nvSpPr>
          <p:cNvPr id="91" name="Text 89"/>
          <p:cNvSpPr/>
          <p:nvPr/>
        </p:nvSpPr>
        <p:spPr>
          <a:xfrm>
            <a:off x="4217504" y="4828032"/>
            <a:ext cx="578060" cy="310896"/>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10.9%</a:t>
            </a:r>
            <a:endParaRPr lang="en-US" sz="740" dirty="0"/>
          </a:p>
        </p:txBody>
      </p:sp>
      <p:sp>
        <p:nvSpPr>
          <p:cNvPr id="92" name="Text 90"/>
          <p:cNvSpPr/>
          <p:nvPr/>
        </p:nvSpPr>
        <p:spPr>
          <a:xfrm>
            <a:off x="4905292" y="4828032"/>
            <a:ext cx="761470" cy="310896"/>
          </a:xfrm>
          <a:prstGeom prst="rect">
            <a:avLst/>
          </a:prstGeom>
          <a:noFill/>
          <a:ln/>
        </p:spPr>
        <p:txBody>
          <a:bodyPr wrap="square" lIns="0" tIns="0" rIns="0" bIns="0" rtlCol="0" anchor="ctr"/>
          <a:lstStyle/>
          <a:p>
            <a:pPr algn="r" indent="0" marL="0">
              <a:buNone/>
            </a:pPr>
            <a:r>
              <a:rPr lang="en-US" sz="740" dirty="0">
                <a:solidFill>
                  <a:srgbClr val="2B9A66"/>
                </a:solidFill>
                <a:latin typeface="Calibri" pitchFamily="34" charset="0"/>
                <a:ea typeface="Calibri" pitchFamily="34" charset="-122"/>
                <a:cs typeface="Calibri" pitchFamily="34" charset="-120"/>
              </a:rPr>
              <a:t>89.7%</a:t>
            </a:r>
            <a:endParaRPr lang="en-US" sz="740" dirty="0"/>
          </a:p>
        </p:txBody>
      </p:sp>
      <p:sp>
        <p:nvSpPr>
          <p:cNvPr id="93" name="Text 91"/>
          <p:cNvSpPr/>
          <p:nvPr/>
        </p:nvSpPr>
        <p:spPr>
          <a:xfrm>
            <a:off x="5776490" y="4828032"/>
            <a:ext cx="761470" cy="310896"/>
          </a:xfrm>
          <a:prstGeom prst="rect">
            <a:avLst/>
          </a:prstGeom>
          <a:noFill/>
          <a:ln/>
        </p:spPr>
        <p:txBody>
          <a:bodyPr wrap="square" lIns="0" tIns="0" rIns="0" bIns="0" rtlCol="0" anchor="ctr"/>
          <a:lstStyle/>
          <a:p>
            <a:pPr algn="r" indent="0" marL="0">
              <a:buNone/>
            </a:pPr>
            <a:r>
              <a:rPr lang="en-US" sz="740" b="1" dirty="0">
                <a:solidFill>
                  <a:srgbClr val="D6544D"/>
                </a:solidFill>
                <a:latin typeface="Calibri" pitchFamily="34" charset="0"/>
                <a:ea typeface="Calibri" pitchFamily="34" charset="-122"/>
                <a:cs typeface="Calibri" pitchFamily="34" charset="-120"/>
              </a:rPr>
              <a:t>49.9%</a:t>
            </a:r>
            <a:endParaRPr lang="en-US" sz="740" dirty="0"/>
          </a:p>
        </p:txBody>
      </p:sp>
      <p:sp>
        <p:nvSpPr>
          <p:cNvPr id="94" name="Shape 92"/>
          <p:cNvSpPr/>
          <p:nvPr/>
        </p:nvSpPr>
        <p:spPr>
          <a:xfrm>
            <a:off x="265176" y="5449824"/>
            <a:ext cx="6327648" cy="0"/>
          </a:xfrm>
          <a:prstGeom prst="line">
            <a:avLst/>
          </a:prstGeom>
          <a:noFill/>
          <a:ln w="6350">
            <a:solidFill>
              <a:srgbClr val="C8DCD7"/>
            </a:solidFill>
            <a:prstDash val="solid"/>
          </a:ln>
        </p:spPr>
      </p:sp>
      <p:sp>
        <p:nvSpPr>
          <p:cNvPr id="95" name="Text 93"/>
          <p:cNvSpPr/>
          <p:nvPr/>
        </p:nvSpPr>
        <p:spPr>
          <a:xfrm>
            <a:off x="320040" y="5138928"/>
            <a:ext cx="1082438" cy="310896"/>
          </a:xfrm>
          <a:prstGeom prst="rect">
            <a:avLst/>
          </a:prstGeom>
          <a:noFill/>
          <a:ln/>
        </p:spPr>
        <p:txBody>
          <a:bodyPr wrap="square" lIns="0" tIns="0" rIns="0" bIns="0" rtlCol="0" anchor="ctr"/>
          <a:lstStyle/>
          <a:p>
            <a:pPr algn="l" indent="0" marL="0">
              <a:buNone/>
            </a:pPr>
            <a:r>
              <a:rPr lang="en-US" sz="740" b="1" dirty="0">
                <a:solidFill>
                  <a:srgbClr val="183B39"/>
                </a:solidFill>
                <a:latin typeface="Calibri" pitchFamily="34" charset="0"/>
                <a:ea typeface="Calibri" pitchFamily="34" charset="-122"/>
                <a:cs typeface="Calibri" pitchFamily="34" charset="-120"/>
              </a:rPr>
              <a:t>TOTAL MT</a:t>
            </a:r>
            <a:endParaRPr lang="en-US" sz="740" dirty="0"/>
          </a:p>
        </p:txBody>
      </p:sp>
      <p:sp>
        <p:nvSpPr>
          <p:cNvPr id="96" name="Text 94"/>
          <p:cNvSpPr/>
          <p:nvPr/>
        </p:nvSpPr>
        <p:spPr>
          <a:xfrm>
            <a:off x="1512206" y="5138928"/>
            <a:ext cx="807322" cy="310896"/>
          </a:xfrm>
          <a:prstGeom prst="rect">
            <a:avLst/>
          </a:prstGeom>
          <a:noFill/>
          <a:ln/>
        </p:spPr>
        <p:txBody>
          <a:bodyPr wrap="square" lIns="0" tIns="0" rIns="0" bIns="0" rtlCol="0" anchor="ctr"/>
          <a:lstStyle/>
          <a:p>
            <a:pPr algn="r" indent="0" marL="0">
              <a:buNone/>
            </a:pPr>
            <a:r>
              <a:rPr lang="en-US" sz="740" b="1" dirty="0">
                <a:solidFill>
                  <a:srgbClr val="183B39"/>
                </a:solidFill>
                <a:latin typeface="Calibri" pitchFamily="34" charset="0"/>
                <a:ea typeface="Calibri" pitchFamily="34" charset="-122"/>
                <a:cs typeface="Calibri" pitchFamily="34" charset="-120"/>
              </a:rPr>
              <a:t>64.69</a:t>
            </a:r>
            <a:endParaRPr lang="en-US" sz="740" dirty="0"/>
          </a:p>
        </p:txBody>
      </p:sp>
      <p:sp>
        <p:nvSpPr>
          <p:cNvPr id="97" name="Text 95"/>
          <p:cNvSpPr/>
          <p:nvPr/>
        </p:nvSpPr>
        <p:spPr>
          <a:xfrm>
            <a:off x="2429256" y="5138928"/>
            <a:ext cx="807322" cy="310896"/>
          </a:xfrm>
          <a:prstGeom prst="rect">
            <a:avLst/>
          </a:prstGeom>
          <a:noFill/>
          <a:ln/>
        </p:spPr>
        <p:txBody>
          <a:bodyPr wrap="square" lIns="0" tIns="0" rIns="0" bIns="0" rtlCol="0" anchor="ctr"/>
          <a:lstStyle/>
          <a:p>
            <a:pPr algn="r" indent="0" marL="0">
              <a:buNone/>
            </a:pPr>
            <a:r>
              <a:rPr lang="en-US" sz="740" b="1" dirty="0">
                <a:solidFill>
                  <a:srgbClr val="183B39"/>
                </a:solidFill>
                <a:latin typeface="Calibri" pitchFamily="34" charset="0"/>
                <a:ea typeface="Calibri" pitchFamily="34" charset="-122"/>
                <a:cs typeface="Calibri" pitchFamily="34" charset="-120"/>
              </a:rPr>
              <a:t>107.75</a:t>
            </a:r>
            <a:endParaRPr lang="en-US" sz="740" dirty="0"/>
          </a:p>
        </p:txBody>
      </p:sp>
      <p:sp>
        <p:nvSpPr>
          <p:cNvPr id="98" name="Text 96"/>
          <p:cNvSpPr/>
          <p:nvPr/>
        </p:nvSpPr>
        <p:spPr>
          <a:xfrm>
            <a:off x="3346306" y="5138928"/>
            <a:ext cx="761470" cy="310896"/>
          </a:xfrm>
          <a:prstGeom prst="rect">
            <a:avLst/>
          </a:prstGeom>
          <a:noFill/>
          <a:ln/>
        </p:spPr>
        <p:txBody>
          <a:bodyPr wrap="square" lIns="0" tIns="0" rIns="0" bIns="0" rtlCol="0" anchor="ctr"/>
          <a:lstStyle/>
          <a:p>
            <a:pPr algn="r" indent="0" marL="0">
              <a:buNone/>
            </a:pPr>
            <a:r>
              <a:rPr lang="en-US" sz="740" b="1" dirty="0">
                <a:solidFill>
                  <a:srgbClr val="2B9A66"/>
                </a:solidFill>
                <a:latin typeface="Calibri" pitchFamily="34" charset="0"/>
                <a:ea typeface="Calibri" pitchFamily="34" charset="-122"/>
                <a:cs typeface="Calibri" pitchFamily="34" charset="-120"/>
              </a:rPr>
              <a:t>+66.6%</a:t>
            </a:r>
            <a:endParaRPr lang="en-US" sz="740" dirty="0"/>
          </a:p>
        </p:txBody>
      </p:sp>
      <p:sp>
        <p:nvSpPr>
          <p:cNvPr id="99" name="Text 97"/>
          <p:cNvSpPr/>
          <p:nvPr/>
        </p:nvSpPr>
        <p:spPr>
          <a:xfrm>
            <a:off x="4217504" y="5138928"/>
            <a:ext cx="578060" cy="310896"/>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100%</a:t>
            </a:r>
            <a:endParaRPr lang="en-US" sz="740" dirty="0"/>
          </a:p>
        </p:txBody>
      </p:sp>
      <p:sp>
        <p:nvSpPr>
          <p:cNvPr id="100" name="Text 98"/>
          <p:cNvSpPr/>
          <p:nvPr/>
        </p:nvSpPr>
        <p:spPr>
          <a:xfrm>
            <a:off x="4905292" y="5138928"/>
            <a:ext cx="761470" cy="310896"/>
          </a:xfrm>
          <a:prstGeom prst="rect">
            <a:avLst/>
          </a:prstGeom>
          <a:noFill/>
          <a:ln/>
        </p:spPr>
        <p:txBody>
          <a:bodyPr wrap="square" lIns="0" tIns="0" rIns="0" bIns="0" rtlCol="0" anchor="ctr"/>
          <a:lstStyle/>
          <a:p>
            <a:pPr algn="r" indent="0" marL="0">
              <a:buNone/>
            </a:pPr>
            <a:r>
              <a:rPr lang="en-US" sz="740" b="1" dirty="0">
                <a:solidFill>
                  <a:srgbClr val="183B39"/>
                </a:solidFill>
                <a:latin typeface="Calibri" pitchFamily="34" charset="0"/>
                <a:ea typeface="Calibri" pitchFamily="34" charset="-122"/>
                <a:cs typeface="Calibri" pitchFamily="34" charset="-120"/>
              </a:rPr>
              <a:t>83.1%</a:t>
            </a:r>
            <a:endParaRPr lang="en-US" sz="740" dirty="0"/>
          </a:p>
        </p:txBody>
      </p:sp>
      <p:sp>
        <p:nvSpPr>
          <p:cNvPr id="101" name="Text 99"/>
          <p:cNvSpPr/>
          <p:nvPr/>
        </p:nvSpPr>
        <p:spPr>
          <a:xfrm>
            <a:off x="5776490" y="5138928"/>
            <a:ext cx="761470" cy="310896"/>
          </a:xfrm>
          <a:prstGeom prst="rect">
            <a:avLst/>
          </a:prstGeom>
          <a:noFill/>
          <a:ln/>
        </p:spPr>
        <p:txBody>
          <a:bodyPr wrap="square" lIns="0" tIns="0" rIns="0" bIns="0" rtlCol="0" anchor="ctr"/>
          <a:lstStyle/>
          <a:p>
            <a:pPr algn="r" indent="0" marL="0">
              <a:buNone/>
            </a:pPr>
            <a:r>
              <a:rPr lang="en-US" sz="740" b="1" dirty="0">
                <a:solidFill>
                  <a:srgbClr val="D6544D"/>
                </a:solidFill>
                <a:latin typeface="Calibri" pitchFamily="34" charset="0"/>
                <a:ea typeface="Calibri" pitchFamily="34" charset="-122"/>
                <a:cs typeface="Calibri" pitchFamily="34" charset="-120"/>
              </a:rPr>
              <a:t>72.2%</a:t>
            </a:r>
            <a:endParaRPr lang="en-US" sz="740" dirty="0"/>
          </a:p>
        </p:txBody>
      </p:sp>
      <p:sp>
        <p:nvSpPr>
          <p:cNvPr id="102" name="Text 100"/>
          <p:cNvSpPr/>
          <p:nvPr/>
        </p:nvSpPr>
        <p:spPr>
          <a:xfrm>
            <a:off x="265176" y="5504688"/>
            <a:ext cx="6327648" cy="219456"/>
          </a:xfrm>
          <a:prstGeom prst="rect">
            <a:avLst/>
          </a:prstGeom>
          <a:noFill/>
          <a:ln/>
        </p:spPr>
        <p:txBody>
          <a:bodyPr wrap="square" lIns="0" tIns="0" rIns="0" bIns="0" rtlCol="0" anchor="t"/>
          <a:lstStyle/>
          <a:p>
            <a:pPr indent="0" marL="0">
              <a:lnSpc>
                <a:spcPct val="94000"/>
              </a:lnSpc>
              <a:buNone/>
            </a:pPr>
            <a:r>
              <a:rPr lang="en-US" sz="660" dirty="0">
                <a:solidFill>
                  <a:srgbClr val="5F716E"/>
                </a:solidFill>
                <a:latin typeface="Calibri" pitchFamily="34" charset="0"/>
                <a:ea typeface="Calibri" pitchFamily="34" charset="-122"/>
                <a:cs typeface="Calibri" pitchFamily="34" charset="-120"/>
              </a:rPr>
              <a:t>Central carried no primary in Apr–Jun and appears from July, so it has no Q1 comparative. eB2B (FSN) grew 25% to ₹6.53 Cr and is reported on page 13.</a:t>
            </a:r>
            <a:endParaRPr lang="en-US" sz="660" dirty="0"/>
          </a:p>
        </p:txBody>
      </p:sp>
      <p:sp>
        <p:nvSpPr>
          <p:cNvPr id="103" name="Shape 101"/>
          <p:cNvSpPr/>
          <p:nvPr/>
        </p:nvSpPr>
        <p:spPr>
          <a:xfrm>
            <a:off x="265176" y="5815584"/>
            <a:ext cx="3090672" cy="2139696"/>
          </a:xfrm>
          <a:prstGeom prst="roundRect">
            <a:avLst>
              <a:gd name="adj" fmla="val 855"/>
            </a:avLst>
          </a:prstGeom>
          <a:solidFill>
            <a:srgbClr val="FFFFFF"/>
          </a:solidFill>
          <a:ln w="9525">
            <a:solidFill>
              <a:srgbClr val="C8DCD7"/>
            </a:solidFill>
            <a:prstDash val="solid"/>
          </a:ln>
        </p:spPr>
      </p:sp>
      <p:sp>
        <p:nvSpPr>
          <p:cNvPr id="104" name="Shape 102"/>
          <p:cNvSpPr/>
          <p:nvPr/>
        </p:nvSpPr>
        <p:spPr>
          <a:xfrm>
            <a:off x="265176" y="5815584"/>
            <a:ext cx="3090672" cy="274320"/>
          </a:xfrm>
          <a:prstGeom prst="rect">
            <a:avLst/>
          </a:prstGeom>
          <a:solidFill>
            <a:srgbClr val="116F68"/>
          </a:solidFill>
          <a:ln/>
        </p:spPr>
      </p:sp>
      <p:sp>
        <p:nvSpPr>
          <p:cNvPr id="105" name="Text 103"/>
          <p:cNvSpPr/>
          <p:nvPr/>
        </p:nvSpPr>
        <p:spPr>
          <a:xfrm>
            <a:off x="347472" y="5833872"/>
            <a:ext cx="2926080"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CHAIN — Q1 FY27 (₹ Cr)</a:t>
            </a:r>
            <a:endParaRPr lang="en-US" sz="700" dirty="0"/>
          </a:p>
        </p:txBody>
      </p:sp>
      <p:sp>
        <p:nvSpPr>
          <p:cNvPr id="106" name="Text 104"/>
          <p:cNvSpPr/>
          <p:nvPr/>
        </p:nvSpPr>
        <p:spPr>
          <a:xfrm>
            <a:off x="374904" y="6181344"/>
            <a:ext cx="1536192" cy="27432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D-Mart</a:t>
            </a:r>
            <a:endParaRPr lang="en-US" sz="720" dirty="0"/>
          </a:p>
        </p:txBody>
      </p:sp>
      <p:sp>
        <p:nvSpPr>
          <p:cNvPr id="107" name="Text 105"/>
          <p:cNvSpPr/>
          <p:nvPr/>
        </p:nvSpPr>
        <p:spPr>
          <a:xfrm>
            <a:off x="1874520" y="6181344"/>
            <a:ext cx="457200" cy="274320"/>
          </a:xfrm>
          <a:prstGeom prst="rect">
            <a:avLst/>
          </a:prstGeom>
          <a:noFill/>
          <a:ln/>
        </p:spPr>
        <p:txBody>
          <a:bodyPr wrap="square" lIns="0" tIns="0" rIns="0" bIns="0" rtlCol="0" anchor="t"/>
          <a:lstStyle/>
          <a:p>
            <a:pPr algn="r" indent="0" marL="0">
              <a:buNone/>
            </a:pPr>
            <a:r>
              <a:rPr lang="en-US" sz="700" dirty="0">
                <a:solidFill>
                  <a:srgbClr val="5F716E"/>
                </a:solidFill>
                <a:latin typeface="Calibri" pitchFamily="34" charset="0"/>
                <a:ea typeface="Calibri" pitchFamily="34" charset="-122"/>
                <a:cs typeface="Calibri" pitchFamily="34" charset="-120"/>
              </a:rPr>
              <a:t>26.00</a:t>
            </a:r>
            <a:endParaRPr lang="en-US" sz="700" dirty="0"/>
          </a:p>
        </p:txBody>
      </p:sp>
      <p:sp>
        <p:nvSpPr>
          <p:cNvPr id="108" name="Text 106"/>
          <p:cNvSpPr/>
          <p:nvPr/>
        </p:nvSpPr>
        <p:spPr>
          <a:xfrm>
            <a:off x="2386584" y="6181344"/>
            <a:ext cx="475488" cy="274320"/>
          </a:xfrm>
          <a:prstGeom prst="rect">
            <a:avLst/>
          </a:prstGeom>
          <a:noFill/>
          <a:ln/>
        </p:spPr>
        <p:txBody>
          <a:bodyPr wrap="square" lIns="0" tIns="0" rIns="0" bIns="0" rtlCol="0" anchor="t"/>
          <a:lstStyle/>
          <a:p>
            <a:pPr algn="r" indent="0" marL="0">
              <a:buNone/>
            </a:pPr>
            <a:r>
              <a:rPr lang="en-US" sz="720" b="1" dirty="0">
                <a:solidFill>
                  <a:srgbClr val="183B39"/>
                </a:solidFill>
                <a:latin typeface="Calibri" pitchFamily="34" charset="0"/>
                <a:ea typeface="Calibri" pitchFamily="34" charset="-122"/>
                <a:cs typeface="Calibri" pitchFamily="34" charset="-120"/>
              </a:rPr>
              <a:t>42.32</a:t>
            </a:r>
            <a:endParaRPr lang="en-US" sz="720" dirty="0"/>
          </a:p>
        </p:txBody>
      </p:sp>
      <p:sp>
        <p:nvSpPr>
          <p:cNvPr id="109" name="Text 107"/>
          <p:cNvSpPr/>
          <p:nvPr/>
        </p:nvSpPr>
        <p:spPr>
          <a:xfrm>
            <a:off x="2898648" y="6181344"/>
            <a:ext cx="365760" cy="274320"/>
          </a:xfrm>
          <a:prstGeom prst="rect">
            <a:avLst/>
          </a:prstGeom>
          <a:noFill/>
          <a:ln/>
        </p:spPr>
        <p:txBody>
          <a:bodyPr wrap="square" lIns="0" tIns="0" rIns="0" bIns="0" rtlCol="0" anchor="t"/>
          <a:lstStyle/>
          <a:p>
            <a:pPr algn="r" indent="0" marL="0">
              <a:buNone/>
            </a:pPr>
            <a:r>
              <a:rPr lang="en-US" sz="700" b="1" dirty="0">
                <a:solidFill>
                  <a:srgbClr val="2B9A66"/>
                </a:solidFill>
                <a:latin typeface="Calibri" pitchFamily="34" charset="0"/>
                <a:ea typeface="Calibri" pitchFamily="34" charset="-122"/>
                <a:cs typeface="Calibri" pitchFamily="34" charset="-120"/>
              </a:rPr>
              <a:t>+63%</a:t>
            </a:r>
            <a:endParaRPr lang="en-US" sz="700" dirty="0"/>
          </a:p>
        </p:txBody>
      </p:sp>
      <p:sp>
        <p:nvSpPr>
          <p:cNvPr id="110" name="Text 108"/>
          <p:cNvSpPr/>
          <p:nvPr/>
        </p:nvSpPr>
        <p:spPr>
          <a:xfrm>
            <a:off x="374904" y="6483096"/>
            <a:ext cx="1536192" cy="27432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Reliance</a:t>
            </a:r>
            <a:endParaRPr lang="en-US" sz="720" dirty="0"/>
          </a:p>
        </p:txBody>
      </p:sp>
      <p:sp>
        <p:nvSpPr>
          <p:cNvPr id="111" name="Text 109"/>
          <p:cNvSpPr/>
          <p:nvPr/>
        </p:nvSpPr>
        <p:spPr>
          <a:xfrm>
            <a:off x="1874520" y="6483096"/>
            <a:ext cx="457200" cy="274320"/>
          </a:xfrm>
          <a:prstGeom prst="rect">
            <a:avLst/>
          </a:prstGeom>
          <a:noFill/>
          <a:ln/>
        </p:spPr>
        <p:txBody>
          <a:bodyPr wrap="square" lIns="0" tIns="0" rIns="0" bIns="0" rtlCol="0" anchor="t"/>
          <a:lstStyle/>
          <a:p>
            <a:pPr algn="r" indent="0" marL="0">
              <a:buNone/>
            </a:pPr>
            <a:r>
              <a:rPr lang="en-US" sz="700" dirty="0">
                <a:solidFill>
                  <a:srgbClr val="5F716E"/>
                </a:solidFill>
                <a:latin typeface="Calibri" pitchFamily="34" charset="0"/>
                <a:ea typeface="Calibri" pitchFamily="34" charset="-122"/>
                <a:cs typeface="Calibri" pitchFamily="34" charset="-120"/>
              </a:rPr>
              <a:t>19.08</a:t>
            </a:r>
            <a:endParaRPr lang="en-US" sz="700" dirty="0"/>
          </a:p>
        </p:txBody>
      </p:sp>
      <p:sp>
        <p:nvSpPr>
          <p:cNvPr id="112" name="Text 110"/>
          <p:cNvSpPr/>
          <p:nvPr/>
        </p:nvSpPr>
        <p:spPr>
          <a:xfrm>
            <a:off x="2386584" y="6483096"/>
            <a:ext cx="475488" cy="274320"/>
          </a:xfrm>
          <a:prstGeom prst="rect">
            <a:avLst/>
          </a:prstGeom>
          <a:noFill/>
          <a:ln/>
        </p:spPr>
        <p:txBody>
          <a:bodyPr wrap="square" lIns="0" tIns="0" rIns="0" bIns="0" rtlCol="0" anchor="t"/>
          <a:lstStyle/>
          <a:p>
            <a:pPr algn="r" indent="0" marL="0">
              <a:buNone/>
            </a:pPr>
            <a:r>
              <a:rPr lang="en-US" sz="720" b="1" dirty="0">
                <a:solidFill>
                  <a:srgbClr val="183B39"/>
                </a:solidFill>
                <a:latin typeface="Calibri" pitchFamily="34" charset="0"/>
                <a:ea typeface="Calibri" pitchFamily="34" charset="-122"/>
                <a:cs typeface="Calibri" pitchFamily="34" charset="-120"/>
              </a:rPr>
              <a:t>28.06</a:t>
            </a:r>
            <a:endParaRPr lang="en-US" sz="720" dirty="0"/>
          </a:p>
        </p:txBody>
      </p:sp>
      <p:sp>
        <p:nvSpPr>
          <p:cNvPr id="113" name="Text 111"/>
          <p:cNvSpPr/>
          <p:nvPr/>
        </p:nvSpPr>
        <p:spPr>
          <a:xfrm>
            <a:off x="2898648" y="6483096"/>
            <a:ext cx="365760" cy="274320"/>
          </a:xfrm>
          <a:prstGeom prst="rect">
            <a:avLst/>
          </a:prstGeom>
          <a:noFill/>
          <a:ln/>
        </p:spPr>
        <p:txBody>
          <a:bodyPr wrap="square" lIns="0" tIns="0" rIns="0" bIns="0" rtlCol="0" anchor="t"/>
          <a:lstStyle/>
          <a:p>
            <a:pPr algn="r" indent="0" marL="0">
              <a:buNone/>
            </a:pPr>
            <a:r>
              <a:rPr lang="en-US" sz="700" b="1" dirty="0">
                <a:solidFill>
                  <a:srgbClr val="2B9A66"/>
                </a:solidFill>
                <a:latin typeface="Calibri" pitchFamily="34" charset="0"/>
                <a:ea typeface="Calibri" pitchFamily="34" charset="-122"/>
                <a:cs typeface="Calibri" pitchFamily="34" charset="-120"/>
              </a:rPr>
              <a:t>+47%</a:t>
            </a:r>
            <a:endParaRPr lang="en-US" sz="700" dirty="0"/>
          </a:p>
        </p:txBody>
      </p:sp>
      <p:sp>
        <p:nvSpPr>
          <p:cNvPr id="114" name="Text 112"/>
          <p:cNvSpPr/>
          <p:nvPr/>
        </p:nvSpPr>
        <p:spPr>
          <a:xfrm>
            <a:off x="374904" y="6784848"/>
            <a:ext cx="1536192" cy="27432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Apollo</a:t>
            </a:r>
            <a:endParaRPr lang="en-US" sz="720" dirty="0"/>
          </a:p>
        </p:txBody>
      </p:sp>
      <p:sp>
        <p:nvSpPr>
          <p:cNvPr id="115" name="Text 113"/>
          <p:cNvSpPr/>
          <p:nvPr/>
        </p:nvSpPr>
        <p:spPr>
          <a:xfrm>
            <a:off x="1874520" y="6784848"/>
            <a:ext cx="457200" cy="274320"/>
          </a:xfrm>
          <a:prstGeom prst="rect">
            <a:avLst/>
          </a:prstGeom>
          <a:noFill/>
          <a:ln/>
        </p:spPr>
        <p:txBody>
          <a:bodyPr wrap="square" lIns="0" tIns="0" rIns="0" bIns="0" rtlCol="0" anchor="t"/>
          <a:lstStyle/>
          <a:p>
            <a:pPr algn="r" indent="0" marL="0">
              <a:buNone/>
            </a:pPr>
            <a:r>
              <a:rPr lang="en-US" sz="700" dirty="0">
                <a:solidFill>
                  <a:srgbClr val="5F716E"/>
                </a:solidFill>
                <a:latin typeface="Calibri" pitchFamily="34" charset="0"/>
                <a:ea typeface="Calibri" pitchFamily="34" charset="-122"/>
                <a:cs typeface="Calibri" pitchFamily="34" charset="-120"/>
              </a:rPr>
              <a:t>7.93</a:t>
            </a:r>
            <a:endParaRPr lang="en-US" sz="700" dirty="0"/>
          </a:p>
        </p:txBody>
      </p:sp>
      <p:sp>
        <p:nvSpPr>
          <p:cNvPr id="116" name="Text 114"/>
          <p:cNvSpPr/>
          <p:nvPr/>
        </p:nvSpPr>
        <p:spPr>
          <a:xfrm>
            <a:off x="2386584" y="6784848"/>
            <a:ext cx="475488" cy="274320"/>
          </a:xfrm>
          <a:prstGeom prst="rect">
            <a:avLst/>
          </a:prstGeom>
          <a:noFill/>
          <a:ln/>
        </p:spPr>
        <p:txBody>
          <a:bodyPr wrap="square" lIns="0" tIns="0" rIns="0" bIns="0" rtlCol="0" anchor="t"/>
          <a:lstStyle/>
          <a:p>
            <a:pPr algn="r" indent="0" marL="0">
              <a:buNone/>
            </a:pPr>
            <a:r>
              <a:rPr lang="en-US" sz="720" b="1" dirty="0">
                <a:solidFill>
                  <a:srgbClr val="183B39"/>
                </a:solidFill>
                <a:latin typeface="Calibri" pitchFamily="34" charset="0"/>
                <a:ea typeface="Calibri" pitchFamily="34" charset="-122"/>
                <a:cs typeface="Calibri" pitchFamily="34" charset="-120"/>
              </a:rPr>
              <a:t>21.73</a:t>
            </a:r>
            <a:endParaRPr lang="en-US" sz="720" dirty="0"/>
          </a:p>
        </p:txBody>
      </p:sp>
      <p:sp>
        <p:nvSpPr>
          <p:cNvPr id="117" name="Text 115"/>
          <p:cNvSpPr/>
          <p:nvPr/>
        </p:nvSpPr>
        <p:spPr>
          <a:xfrm>
            <a:off x="2898648" y="6784848"/>
            <a:ext cx="365760" cy="274320"/>
          </a:xfrm>
          <a:prstGeom prst="rect">
            <a:avLst/>
          </a:prstGeom>
          <a:noFill/>
          <a:ln/>
        </p:spPr>
        <p:txBody>
          <a:bodyPr wrap="square" lIns="0" tIns="0" rIns="0" bIns="0" rtlCol="0" anchor="t"/>
          <a:lstStyle/>
          <a:p>
            <a:pPr algn="r" indent="0" marL="0">
              <a:buNone/>
            </a:pPr>
            <a:r>
              <a:rPr lang="en-US" sz="700" b="1" dirty="0">
                <a:solidFill>
                  <a:srgbClr val="2B9A66"/>
                </a:solidFill>
                <a:latin typeface="Calibri" pitchFamily="34" charset="0"/>
                <a:ea typeface="Calibri" pitchFamily="34" charset="-122"/>
                <a:cs typeface="Calibri" pitchFamily="34" charset="-120"/>
              </a:rPr>
              <a:t>+174%</a:t>
            </a:r>
            <a:endParaRPr lang="en-US" sz="700" dirty="0"/>
          </a:p>
        </p:txBody>
      </p:sp>
      <p:sp>
        <p:nvSpPr>
          <p:cNvPr id="118" name="Text 116"/>
          <p:cNvSpPr/>
          <p:nvPr/>
        </p:nvSpPr>
        <p:spPr>
          <a:xfrm>
            <a:off x="374904" y="7086600"/>
            <a:ext cx="1536192" cy="274320"/>
          </a:xfrm>
          <a:prstGeom prst="rect">
            <a:avLst/>
          </a:prstGeom>
          <a:noFill/>
          <a:ln/>
        </p:spPr>
        <p:txBody>
          <a:bodyPr wrap="square" lIns="0" tIns="0" rIns="0" bIns="0" rtlCol="0" anchor="t"/>
          <a:lstStyle/>
          <a:p>
            <a:pPr indent="0" marL="0">
              <a:buNone/>
            </a:pPr>
            <a:r>
              <a:rPr lang="en-US" sz="720" dirty="0">
                <a:solidFill>
                  <a:srgbClr val="183B39"/>
                </a:solidFill>
                <a:latin typeface="Calibri" pitchFamily="34" charset="0"/>
                <a:ea typeface="Calibri" pitchFamily="34" charset="-122"/>
                <a:cs typeface="Calibri" pitchFamily="34" charset="-120"/>
              </a:rPr>
              <a:t>Lulu</a:t>
            </a:r>
            <a:endParaRPr lang="en-US" sz="720" dirty="0"/>
          </a:p>
        </p:txBody>
      </p:sp>
      <p:sp>
        <p:nvSpPr>
          <p:cNvPr id="119" name="Text 117"/>
          <p:cNvSpPr/>
          <p:nvPr/>
        </p:nvSpPr>
        <p:spPr>
          <a:xfrm>
            <a:off x="1874520" y="7086600"/>
            <a:ext cx="457200" cy="274320"/>
          </a:xfrm>
          <a:prstGeom prst="rect">
            <a:avLst/>
          </a:prstGeom>
          <a:noFill/>
          <a:ln/>
        </p:spPr>
        <p:txBody>
          <a:bodyPr wrap="square" lIns="0" tIns="0" rIns="0" bIns="0" rtlCol="0" anchor="t"/>
          <a:lstStyle/>
          <a:p>
            <a:pPr algn="r" indent="0" marL="0">
              <a:buNone/>
            </a:pPr>
            <a:r>
              <a:rPr lang="en-US" sz="700" dirty="0">
                <a:solidFill>
                  <a:srgbClr val="5F716E"/>
                </a:solidFill>
                <a:latin typeface="Calibri" pitchFamily="34" charset="0"/>
                <a:ea typeface="Calibri" pitchFamily="34" charset="-122"/>
                <a:cs typeface="Calibri" pitchFamily="34" charset="-120"/>
              </a:rPr>
              <a:t>1.24</a:t>
            </a:r>
            <a:endParaRPr lang="en-US" sz="700" dirty="0"/>
          </a:p>
        </p:txBody>
      </p:sp>
      <p:sp>
        <p:nvSpPr>
          <p:cNvPr id="120" name="Text 118"/>
          <p:cNvSpPr/>
          <p:nvPr/>
        </p:nvSpPr>
        <p:spPr>
          <a:xfrm>
            <a:off x="2386584" y="7086600"/>
            <a:ext cx="475488" cy="274320"/>
          </a:xfrm>
          <a:prstGeom prst="rect">
            <a:avLst/>
          </a:prstGeom>
          <a:noFill/>
          <a:ln/>
        </p:spPr>
        <p:txBody>
          <a:bodyPr wrap="square" lIns="0" tIns="0" rIns="0" bIns="0" rtlCol="0" anchor="t"/>
          <a:lstStyle/>
          <a:p>
            <a:pPr algn="r" indent="0" marL="0">
              <a:buNone/>
            </a:pPr>
            <a:r>
              <a:rPr lang="en-US" sz="720" b="1" dirty="0">
                <a:solidFill>
                  <a:srgbClr val="183B39"/>
                </a:solidFill>
                <a:latin typeface="Calibri" pitchFamily="34" charset="0"/>
                <a:ea typeface="Calibri" pitchFamily="34" charset="-122"/>
                <a:cs typeface="Calibri" pitchFamily="34" charset="-120"/>
              </a:rPr>
              <a:t>3.33</a:t>
            </a:r>
            <a:endParaRPr lang="en-US" sz="720" dirty="0"/>
          </a:p>
        </p:txBody>
      </p:sp>
      <p:sp>
        <p:nvSpPr>
          <p:cNvPr id="121" name="Text 119"/>
          <p:cNvSpPr/>
          <p:nvPr/>
        </p:nvSpPr>
        <p:spPr>
          <a:xfrm>
            <a:off x="2898648" y="7086600"/>
            <a:ext cx="365760" cy="274320"/>
          </a:xfrm>
          <a:prstGeom prst="rect">
            <a:avLst/>
          </a:prstGeom>
          <a:noFill/>
          <a:ln/>
        </p:spPr>
        <p:txBody>
          <a:bodyPr wrap="square" lIns="0" tIns="0" rIns="0" bIns="0" rtlCol="0" anchor="t"/>
          <a:lstStyle/>
          <a:p>
            <a:pPr algn="r" indent="0" marL="0">
              <a:buNone/>
            </a:pPr>
            <a:r>
              <a:rPr lang="en-US" sz="700" b="1" dirty="0">
                <a:solidFill>
                  <a:srgbClr val="2B9A66"/>
                </a:solidFill>
                <a:latin typeface="Calibri" pitchFamily="34" charset="0"/>
                <a:ea typeface="Calibri" pitchFamily="34" charset="-122"/>
                <a:cs typeface="Calibri" pitchFamily="34" charset="-120"/>
              </a:rPr>
              <a:t>+169%</a:t>
            </a:r>
            <a:endParaRPr lang="en-US" sz="700" dirty="0"/>
          </a:p>
        </p:txBody>
      </p:sp>
      <p:sp>
        <p:nvSpPr>
          <p:cNvPr id="122" name="Text 120"/>
          <p:cNvSpPr/>
          <p:nvPr/>
        </p:nvSpPr>
        <p:spPr>
          <a:xfrm>
            <a:off x="374904" y="7388352"/>
            <a:ext cx="1536192" cy="274320"/>
          </a:xfrm>
          <a:prstGeom prst="rect">
            <a:avLst/>
          </a:prstGeom>
          <a:noFill/>
          <a:ln/>
        </p:spPr>
        <p:txBody>
          <a:bodyPr wrap="square" lIns="0" tIns="0" rIns="0" bIns="0" rtlCol="0" anchor="t"/>
          <a:lstStyle/>
          <a:p>
            <a:pPr indent="0" marL="0">
              <a:buNone/>
            </a:pPr>
            <a:r>
              <a:rPr lang="en-US" sz="720" dirty="0">
                <a:solidFill>
                  <a:srgbClr val="183B39"/>
                </a:solidFill>
                <a:latin typeface="Calibri" pitchFamily="34" charset="0"/>
                <a:ea typeface="Calibri" pitchFamily="34" charset="-122"/>
                <a:cs typeface="Calibri" pitchFamily="34" charset="-120"/>
              </a:rPr>
              <a:t>Wellness Forever</a:t>
            </a:r>
            <a:endParaRPr lang="en-US" sz="720" dirty="0"/>
          </a:p>
        </p:txBody>
      </p:sp>
      <p:sp>
        <p:nvSpPr>
          <p:cNvPr id="123" name="Text 121"/>
          <p:cNvSpPr/>
          <p:nvPr/>
        </p:nvSpPr>
        <p:spPr>
          <a:xfrm>
            <a:off x="1874520" y="7388352"/>
            <a:ext cx="457200" cy="274320"/>
          </a:xfrm>
          <a:prstGeom prst="rect">
            <a:avLst/>
          </a:prstGeom>
          <a:noFill/>
          <a:ln/>
        </p:spPr>
        <p:txBody>
          <a:bodyPr wrap="square" lIns="0" tIns="0" rIns="0" bIns="0" rtlCol="0" anchor="t"/>
          <a:lstStyle/>
          <a:p>
            <a:pPr algn="r" indent="0" marL="0">
              <a:buNone/>
            </a:pPr>
            <a:r>
              <a:rPr lang="en-US" sz="700" dirty="0">
                <a:solidFill>
                  <a:srgbClr val="5F716E"/>
                </a:solidFill>
                <a:latin typeface="Calibri" pitchFamily="34" charset="0"/>
                <a:ea typeface="Calibri" pitchFamily="34" charset="-122"/>
                <a:cs typeface="Calibri" pitchFamily="34" charset="-120"/>
              </a:rPr>
              <a:t>2.49</a:t>
            </a:r>
            <a:endParaRPr lang="en-US" sz="700" dirty="0"/>
          </a:p>
        </p:txBody>
      </p:sp>
      <p:sp>
        <p:nvSpPr>
          <p:cNvPr id="124" name="Text 122"/>
          <p:cNvSpPr/>
          <p:nvPr/>
        </p:nvSpPr>
        <p:spPr>
          <a:xfrm>
            <a:off x="2386584" y="7388352"/>
            <a:ext cx="475488" cy="274320"/>
          </a:xfrm>
          <a:prstGeom prst="rect">
            <a:avLst/>
          </a:prstGeom>
          <a:noFill/>
          <a:ln/>
        </p:spPr>
        <p:txBody>
          <a:bodyPr wrap="square" lIns="0" tIns="0" rIns="0" bIns="0" rtlCol="0" anchor="t"/>
          <a:lstStyle/>
          <a:p>
            <a:pPr algn="r" indent="0" marL="0">
              <a:buNone/>
            </a:pPr>
            <a:r>
              <a:rPr lang="en-US" sz="720" b="1" dirty="0">
                <a:solidFill>
                  <a:srgbClr val="183B39"/>
                </a:solidFill>
                <a:latin typeface="Calibri" pitchFamily="34" charset="0"/>
                <a:ea typeface="Calibri" pitchFamily="34" charset="-122"/>
                <a:cs typeface="Calibri" pitchFamily="34" charset="-120"/>
              </a:rPr>
              <a:t>2.91</a:t>
            </a:r>
            <a:endParaRPr lang="en-US" sz="720" dirty="0"/>
          </a:p>
        </p:txBody>
      </p:sp>
      <p:sp>
        <p:nvSpPr>
          <p:cNvPr id="125" name="Text 123"/>
          <p:cNvSpPr/>
          <p:nvPr/>
        </p:nvSpPr>
        <p:spPr>
          <a:xfrm>
            <a:off x="2898648" y="7388352"/>
            <a:ext cx="365760" cy="274320"/>
          </a:xfrm>
          <a:prstGeom prst="rect">
            <a:avLst/>
          </a:prstGeom>
          <a:noFill/>
          <a:ln/>
        </p:spPr>
        <p:txBody>
          <a:bodyPr wrap="square" lIns="0" tIns="0" rIns="0" bIns="0" rtlCol="0" anchor="t"/>
          <a:lstStyle/>
          <a:p>
            <a:pPr algn="r" indent="0" marL="0">
              <a:buNone/>
            </a:pPr>
            <a:r>
              <a:rPr lang="en-US" sz="700" b="1" dirty="0">
                <a:solidFill>
                  <a:srgbClr val="2B9A66"/>
                </a:solidFill>
                <a:latin typeface="Calibri" pitchFamily="34" charset="0"/>
                <a:ea typeface="Calibri" pitchFamily="34" charset="-122"/>
                <a:cs typeface="Calibri" pitchFamily="34" charset="-120"/>
              </a:rPr>
              <a:t>+17%</a:t>
            </a:r>
            <a:endParaRPr lang="en-US" sz="700" dirty="0"/>
          </a:p>
        </p:txBody>
      </p:sp>
      <p:sp>
        <p:nvSpPr>
          <p:cNvPr id="126" name="Text 124"/>
          <p:cNvSpPr/>
          <p:nvPr/>
        </p:nvSpPr>
        <p:spPr>
          <a:xfrm>
            <a:off x="374904" y="7699248"/>
            <a:ext cx="2871216" cy="274320"/>
          </a:xfrm>
          <a:prstGeom prst="rect">
            <a:avLst/>
          </a:prstGeom>
          <a:noFill/>
          <a:ln/>
        </p:spPr>
        <p:txBody>
          <a:bodyPr wrap="square" lIns="0" tIns="0" rIns="0" bIns="0" rtlCol="0" anchor="t"/>
          <a:lstStyle/>
          <a:p>
            <a:pPr indent="0" marL="0">
              <a:lnSpc>
                <a:spcPct val="90000"/>
              </a:lnSpc>
              <a:buNone/>
            </a:pPr>
            <a:r>
              <a:rPr lang="en-US" sz="660" dirty="0">
                <a:solidFill>
                  <a:srgbClr val="5F716E"/>
                </a:solidFill>
                <a:latin typeface="Calibri" pitchFamily="34" charset="0"/>
                <a:ea typeface="Calibri" pitchFamily="34" charset="-122"/>
                <a:cs typeface="Calibri" pitchFamily="34" charset="-120"/>
              </a:rPr>
              <a:t>Apollo added ₹13.80 Cr — the largest absolute gain of any account, off a base a third of DMart’s.</a:t>
            </a:r>
            <a:endParaRPr lang="en-US" sz="660" dirty="0"/>
          </a:p>
        </p:txBody>
      </p:sp>
      <p:sp>
        <p:nvSpPr>
          <p:cNvPr id="127" name="Shape 125"/>
          <p:cNvSpPr/>
          <p:nvPr/>
        </p:nvSpPr>
        <p:spPr>
          <a:xfrm>
            <a:off x="3502152" y="5815584"/>
            <a:ext cx="3090672" cy="2139696"/>
          </a:xfrm>
          <a:prstGeom prst="roundRect">
            <a:avLst>
              <a:gd name="adj" fmla="val 855"/>
            </a:avLst>
          </a:prstGeom>
          <a:solidFill>
            <a:srgbClr val="FFFFFF"/>
          </a:solidFill>
          <a:ln w="9525">
            <a:solidFill>
              <a:srgbClr val="C8DCD7"/>
            </a:solidFill>
            <a:prstDash val="solid"/>
          </a:ln>
        </p:spPr>
      </p:sp>
      <p:sp>
        <p:nvSpPr>
          <p:cNvPr id="128" name="Shape 126"/>
          <p:cNvSpPr/>
          <p:nvPr/>
        </p:nvSpPr>
        <p:spPr>
          <a:xfrm>
            <a:off x="3502152" y="5815584"/>
            <a:ext cx="3090672" cy="274320"/>
          </a:xfrm>
          <a:prstGeom prst="rect">
            <a:avLst/>
          </a:prstGeom>
          <a:solidFill>
            <a:srgbClr val="28A596"/>
          </a:solidFill>
          <a:ln/>
        </p:spPr>
      </p:sp>
      <p:sp>
        <p:nvSpPr>
          <p:cNvPr id="129" name="Text 127"/>
          <p:cNvSpPr/>
          <p:nvPr/>
        </p:nvSpPr>
        <p:spPr>
          <a:xfrm>
            <a:off x="3584448" y="5833872"/>
            <a:ext cx="2926080"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BRAND — Q1 FY27 (₹ Cr)</a:t>
            </a:r>
            <a:endParaRPr lang="en-US" sz="700" dirty="0"/>
          </a:p>
        </p:txBody>
      </p:sp>
      <p:sp>
        <p:nvSpPr>
          <p:cNvPr id="130" name="Text 128"/>
          <p:cNvSpPr/>
          <p:nvPr/>
        </p:nvSpPr>
        <p:spPr>
          <a:xfrm>
            <a:off x="3611880" y="6181344"/>
            <a:ext cx="1536192" cy="27432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Mamaearth</a:t>
            </a:r>
            <a:endParaRPr lang="en-US" sz="720" dirty="0"/>
          </a:p>
        </p:txBody>
      </p:sp>
      <p:sp>
        <p:nvSpPr>
          <p:cNvPr id="131" name="Text 129"/>
          <p:cNvSpPr/>
          <p:nvPr/>
        </p:nvSpPr>
        <p:spPr>
          <a:xfrm>
            <a:off x="5111496" y="6181344"/>
            <a:ext cx="457200" cy="274320"/>
          </a:xfrm>
          <a:prstGeom prst="rect">
            <a:avLst/>
          </a:prstGeom>
          <a:noFill/>
          <a:ln/>
        </p:spPr>
        <p:txBody>
          <a:bodyPr wrap="square" lIns="0" tIns="0" rIns="0" bIns="0" rtlCol="0" anchor="t"/>
          <a:lstStyle/>
          <a:p>
            <a:pPr algn="r" indent="0" marL="0">
              <a:buNone/>
            </a:pPr>
            <a:r>
              <a:rPr lang="en-US" sz="700" dirty="0">
                <a:solidFill>
                  <a:srgbClr val="5F716E"/>
                </a:solidFill>
                <a:latin typeface="Calibri" pitchFamily="34" charset="0"/>
                <a:ea typeface="Calibri" pitchFamily="34" charset="-122"/>
                <a:cs typeface="Calibri" pitchFamily="34" charset="-120"/>
              </a:rPr>
              <a:t>61.42</a:t>
            </a:r>
            <a:endParaRPr lang="en-US" sz="700" dirty="0"/>
          </a:p>
        </p:txBody>
      </p:sp>
      <p:sp>
        <p:nvSpPr>
          <p:cNvPr id="132" name="Text 130"/>
          <p:cNvSpPr/>
          <p:nvPr/>
        </p:nvSpPr>
        <p:spPr>
          <a:xfrm>
            <a:off x="5623560" y="6181344"/>
            <a:ext cx="475488" cy="274320"/>
          </a:xfrm>
          <a:prstGeom prst="rect">
            <a:avLst/>
          </a:prstGeom>
          <a:noFill/>
          <a:ln/>
        </p:spPr>
        <p:txBody>
          <a:bodyPr wrap="square" lIns="0" tIns="0" rIns="0" bIns="0" rtlCol="0" anchor="t"/>
          <a:lstStyle/>
          <a:p>
            <a:pPr algn="r" indent="0" marL="0">
              <a:buNone/>
            </a:pPr>
            <a:r>
              <a:rPr lang="en-US" sz="720" b="1" dirty="0">
                <a:solidFill>
                  <a:srgbClr val="183B39"/>
                </a:solidFill>
                <a:latin typeface="Calibri" pitchFamily="34" charset="0"/>
                <a:ea typeface="Calibri" pitchFamily="34" charset="-122"/>
                <a:cs typeface="Calibri" pitchFamily="34" charset="-120"/>
              </a:rPr>
              <a:t>82.54</a:t>
            </a:r>
            <a:endParaRPr lang="en-US" sz="720" dirty="0"/>
          </a:p>
        </p:txBody>
      </p:sp>
      <p:sp>
        <p:nvSpPr>
          <p:cNvPr id="133" name="Text 131"/>
          <p:cNvSpPr/>
          <p:nvPr/>
        </p:nvSpPr>
        <p:spPr>
          <a:xfrm>
            <a:off x="6135624" y="6181344"/>
            <a:ext cx="365760" cy="274320"/>
          </a:xfrm>
          <a:prstGeom prst="rect">
            <a:avLst/>
          </a:prstGeom>
          <a:noFill/>
          <a:ln/>
        </p:spPr>
        <p:txBody>
          <a:bodyPr wrap="square" lIns="0" tIns="0" rIns="0" bIns="0" rtlCol="0" anchor="t"/>
          <a:lstStyle/>
          <a:p>
            <a:pPr algn="r" indent="0" marL="0">
              <a:buNone/>
            </a:pPr>
            <a:r>
              <a:rPr lang="en-US" sz="700" b="1" dirty="0">
                <a:solidFill>
                  <a:srgbClr val="2B9A66"/>
                </a:solidFill>
                <a:latin typeface="Calibri" pitchFamily="34" charset="0"/>
                <a:ea typeface="Calibri" pitchFamily="34" charset="-122"/>
                <a:cs typeface="Calibri" pitchFamily="34" charset="-120"/>
              </a:rPr>
              <a:t>+34%</a:t>
            </a:r>
            <a:endParaRPr lang="en-US" sz="700" dirty="0"/>
          </a:p>
        </p:txBody>
      </p:sp>
      <p:sp>
        <p:nvSpPr>
          <p:cNvPr id="134" name="Text 132"/>
          <p:cNvSpPr/>
          <p:nvPr/>
        </p:nvSpPr>
        <p:spPr>
          <a:xfrm>
            <a:off x="3611880" y="6483096"/>
            <a:ext cx="1536192" cy="27432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The Derma Co.</a:t>
            </a:r>
            <a:endParaRPr lang="en-US" sz="720" dirty="0"/>
          </a:p>
        </p:txBody>
      </p:sp>
      <p:sp>
        <p:nvSpPr>
          <p:cNvPr id="135" name="Text 133"/>
          <p:cNvSpPr/>
          <p:nvPr/>
        </p:nvSpPr>
        <p:spPr>
          <a:xfrm>
            <a:off x="5111496" y="6483096"/>
            <a:ext cx="457200" cy="274320"/>
          </a:xfrm>
          <a:prstGeom prst="rect">
            <a:avLst/>
          </a:prstGeom>
          <a:noFill/>
          <a:ln/>
        </p:spPr>
        <p:txBody>
          <a:bodyPr wrap="square" lIns="0" tIns="0" rIns="0" bIns="0" rtlCol="0" anchor="t"/>
          <a:lstStyle/>
          <a:p>
            <a:pPr algn="r" indent="0" marL="0">
              <a:buNone/>
            </a:pPr>
            <a:r>
              <a:rPr lang="en-US" sz="700" dirty="0">
                <a:solidFill>
                  <a:srgbClr val="5F716E"/>
                </a:solidFill>
                <a:latin typeface="Calibri" pitchFamily="34" charset="0"/>
                <a:ea typeface="Calibri" pitchFamily="34" charset="-122"/>
                <a:cs typeface="Calibri" pitchFamily="34" charset="-120"/>
              </a:rPr>
              <a:t>6.34</a:t>
            </a:r>
            <a:endParaRPr lang="en-US" sz="700" dirty="0"/>
          </a:p>
        </p:txBody>
      </p:sp>
      <p:sp>
        <p:nvSpPr>
          <p:cNvPr id="136" name="Text 134"/>
          <p:cNvSpPr/>
          <p:nvPr/>
        </p:nvSpPr>
        <p:spPr>
          <a:xfrm>
            <a:off x="5623560" y="6483096"/>
            <a:ext cx="475488" cy="274320"/>
          </a:xfrm>
          <a:prstGeom prst="rect">
            <a:avLst/>
          </a:prstGeom>
          <a:noFill/>
          <a:ln/>
        </p:spPr>
        <p:txBody>
          <a:bodyPr wrap="square" lIns="0" tIns="0" rIns="0" bIns="0" rtlCol="0" anchor="t"/>
          <a:lstStyle/>
          <a:p>
            <a:pPr algn="r" indent="0" marL="0">
              <a:buNone/>
            </a:pPr>
            <a:r>
              <a:rPr lang="en-US" sz="720" b="1" dirty="0">
                <a:solidFill>
                  <a:srgbClr val="183B39"/>
                </a:solidFill>
                <a:latin typeface="Calibri" pitchFamily="34" charset="0"/>
                <a:ea typeface="Calibri" pitchFamily="34" charset="-122"/>
                <a:cs typeface="Calibri" pitchFamily="34" charset="-120"/>
              </a:rPr>
              <a:t>29.51</a:t>
            </a:r>
            <a:endParaRPr lang="en-US" sz="720" dirty="0"/>
          </a:p>
        </p:txBody>
      </p:sp>
      <p:sp>
        <p:nvSpPr>
          <p:cNvPr id="137" name="Text 135"/>
          <p:cNvSpPr/>
          <p:nvPr/>
        </p:nvSpPr>
        <p:spPr>
          <a:xfrm>
            <a:off x="6135624" y="6483096"/>
            <a:ext cx="365760" cy="274320"/>
          </a:xfrm>
          <a:prstGeom prst="rect">
            <a:avLst/>
          </a:prstGeom>
          <a:noFill/>
          <a:ln/>
        </p:spPr>
        <p:txBody>
          <a:bodyPr wrap="square" lIns="0" tIns="0" rIns="0" bIns="0" rtlCol="0" anchor="t"/>
          <a:lstStyle/>
          <a:p>
            <a:pPr algn="r" indent="0" marL="0">
              <a:buNone/>
            </a:pPr>
            <a:r>
              <a:rPr lang="en-US" sz="700" b="1" dirty="0">
                <a:solidFill>
                  <a:srgbClr val="2B9A66"/>
                </a:solidFill>
                <a:latin typeface="Calibri" pitchFamily="34" charset="0"/>
                <a:ea typeface="Calibri" pitchFamily="34" charset="-122"/>
                <a:cs typeface="Calibri" pitchFamily="34" charset="-120"/>
              </a:rPr>
              <a:t>+365%</a:t>
            </a:r>
            <a:endParaRPr lang="en-US" sz="700" dirty="0"/>
          </a:p>
        </p:txBody>
      </p:sp>
      <p:sp>
        <p:nvSpPr>
          <p:cNvPr id="138" name="Text 136"/>
          <p:cNvSpPr/>
          <p:nvPr/>
        </p:nvSpPr>
        <p:spPr>
          <a:xfrm>
            <a:off x="3611880" y="6784848"/>
            <a:ext cx="1536192" cy="274320"/>
          </a:xfrm>
          <a:prstGeom prst="rect">
            <a:avLst/>
          </a:prstGeom>
          <a:noFill/>
          <a:ln/>
        </p:spPr>
        <p:txBody>
          <a:bodyPr wrap="square" lIns="0" tIns="0" rIns="0" bIns="0" rtlCol="0" anchor="t"/>
          <a:lstStyle/>
          <a:p>
            <a:pPr indent="0" marL="0">
              <a:buNone/>
            </a:pPr>
            <a:r>
              <a:rPr lang="en-US" sz="720" dirty="0">
                <a:solidFill>
                  <a:srgbClr val="183B39"/>
                </a:solidFill>
                <a:latin typeface="Calibri" pitchFamily="34" charset="0"/>
                <a:ea typeface="Calibri" pitchFamily="34" charset="-122"/>
                <a:cs typeface="Calibri" pitchFamily="34" charset="-120"/>
              </a:rPr>
              <a:t>Aqualogica</a:t>
            </a:r>
            <a:endParaRPr lang="en-US" sz="720" dirty="0"/>
          </a:p>
        </p:txBody>
      </p:sp>
      <p:sp>
        <p:nvSpPr>
          <p:cNvPr id="139" name="Text 137"/>
          <p:cNvSpPr/>
          <p:nvPr/>
        </p:nvSpPr>
        <p:spPr>
          <a:xfrm>
            <a:off x="5111496" y="6784848"/>
            <a:ext cx="457200" cy="274320"/>
          </a:xfrm>
          <a:prstGeom prst="rect">
            <a:avLst/>
          </a:prstGeom>
          <a:noFill/>
          <a:ln/>
        </p:spPr>
        <p:txBody>
          <a:bodyPr wrap="square" lIns="0" tIns="0" rIns="0" bIns="0" rtlCol="0" anchor="t"/>
          <a:lstStyle/>
          <a:p>
            <a:pPr algn="r" indent="0" marL="0">
              <a:buNone/>
            </a:pPr>
            <a:r>
              <a:rPr lang="en-US" sz="700" dirty="0">
                <a:solidFill>
                  <a:srgbClr val="5F716E"/>
                </a:solidFill>
                <a:latin typeface="Calibri" pitchFamily="34" charset="0"/>
                <a:ea typeface="Calibri" pitchFamily="34" charset="-122"/>
                <a:cs typeface="Calibri" pitchFamily="34" charset="-120"/>
              </a:rPr>
              <a:t>1.69</a:t>
            </a:r>
            <a:endParaRPr lang="en-US" sz="700" dirty="0"/>
          </a:p>
        </p:txBody>
      </p:sp>
      <p:sp>
        <p:nvSpPr>
          <p:cNvPr id="140" name="Text 138"/>
          <p:cNvSpPr/>
          <p:nvPr/>
        </p:nvSpPr>
        <p:spPr>
          <a:xfrm>
            <a:off x="5623560" y="6784848"/>
            <a:ext cx="475488" cy="274320"/>
          </a:xfrm>
          <a:prstGeom prst="rect">
            <a:avLst/>
          </a:prstGeom>
          <a:noFill/>
          <a:ln/>
        </p:spPr>
        <p:txBody>
          <a:bodyPr wrap="square" lIns="0" tIns="0" rIns="0" bIns="0" rtlCol="0" anchor="t"/>
          <a:lstStyle/>
          <a:p>
            <a:pPr algn="r" indent="0" marL="0">
              <a:buNone/>
            </a:pPr>
            <a:r>
              <a:rPr lang="en-US" sz="720" b="1" dirty="0">
                <a:solidFill>
                  <a:srgbClr val="183B39"/>
                </a:solidFill>
                <a:latin typeface="Calibri" pitchFamily="34" charset="0"/>
                <a:ea typeface="Calibri" pitchFamily="34" charset="-122"/>
                <a:cs typeface="Calibri" pitchFamily="34" charset="-120"/>
              </a:rPr>
              <a:t>1.96</a:t>
            </a:r>
            <a:endParaRPr lang="en-US" sz="720" dirty="0"/>
          </a:p>
        </p:txBody>
      </p:sp>
      <p:sp>
        <p:nvSpPr>
          <p:cNvPr id="141" name="Text 139"/>
          <p:cNvSpPr/>
          <p:nvPr/>
        </p:nvSpPr>
        <p:spPr>
          <a:xfrm>
            <a:off x="6135624" y="6784848"/>
            <a:ext cx="365760" cy="274320"/>
          </a:xfrm>
          <a:prstGeom prst="rect">
            <a:avLst/>
          </a:prstGeom>
          <a:noFill/>
          <a:ln/>
        </p:spPr>
        <p:txBody>
          <a:bodyPr wrap="square" lIns="0" tIns="0" rIns="0" bIns="0" rtlCol="0" anchor="t"/>
          <a:lstStyle/>
          <a:p>
            <a:pPr algn="r" indent="0" marL="0">
              <a:buNone/>
            </a:pPr>
            <a:r>
              <a:rPr lang="en-US" sz="700" b="1" dirty="0">
                <a:solidFill>
                  <a:srgbClr val="2B9A66"/>
                </a:solidFill>
                <a:latin typeface="Calibri" pitchFamily="34" charset="0"/>
                <a:ea typeface="Calibri" pitchFamily="34" charset="-122"/>
                <a:cs typeface="Calibri" pitchFamily="34" charset="-120"/>
              </a:rPr>
              <a:t>+16%</a:t>
            </a:r>
            <a:endParaRPr lang="en-US" sz="700" dirty="0"/>
          </a:p>
        </p:txBody>
      </p:sp>
      <p:sp>
        <p:nvSpPr>
          <p:cNvPr id="142" name="Text 140"/>
          <p:cNvSpPr/>
          <p:nvPr/>
        </p:nvSpPr>
        <p:spPr>
          <a:xfrm>
            <a:off x="3611880" y="7086600"/>
            <a:ext cx="1536192" cy="274320"/>
          </a:xfrm>
          <a:prstGeom prst="rect">
            <a:avLst/>
          </a:prstGeom>
          <a:noFill/>
          <a:ln/>
        </p:spPr>
        <p:txBody>
          <a:bodyPr wrap="square" lIns="0" tIns="0" rIns="0" bIns="0" rtlCol="0" anchor="t"/>
          <a:lstStyle/>
          <a:p>
            <a:pPr indent="0" marL="0">
              <a:buNone/>
            </a:pPr>
            <a:r>
              <a:rPr lang="en-US" sz="720" dirty="0">
                <a:solidFill>
                  <a:srgbClr val="183B39"/>
                </a:solidFill>
                <a:latin typeface="Calibri" pitchFamily="34" charset="0"/>
                <a:ea typeface="Calibri" pitchFamily="34" charset="-122"/>
                <a:cs typeface="Calibri" pitchFamily="34" charset="-120"/>
              </a:rPr>
              <a:t>Other brands</a:t>
            </a:r>
            <a:endParaRPr lang="en-US" sz="720" dirty="0"/>
          </a:p>
        </p:txBody>
      </p:sp>
      <p:sp>
        <p:nvSpPr>
          <p:cNvPr id="143" name="Text 141"/>
          <p:cNvSpPr/>
          <p:nvPr/>
        </p:nvSpPr>
        <p:spPr>
          <a:xfrm>
            <a:off x="5111496" y="7086600"/>
            <a:ext cx="457200" cy="274320"/>
          </a:xfrm>
          <a:prstGeom prst="rect">
            <a:avLst/>
          </a:prstGeom>
          <a:noFill/>
          <a:ln/>
        </p:spPr>
        <p:txBody>
          <a:bodyPr wrap="square" lIns="0" tIns="0" rIns="0" bIns="0" rtlCol="0" anchor="t"/>
          <a:lstStyle/>
          <a:p>
            <a:pPr algn="r" indent="0" marL="0">
              <a:buNone/>
            </a:pPr>
            <a:r>
              <a:rPr lang="en-US" sz="700" dirty="0">
                <a:solidFill>
                  <a:srgbClr val="5F716E"/>
                </a:solidFill>
                <a:latin typeface="Calibri" pitchFamily="34" charset="0"/>
                <a:ea typeface="Calibri" pitchFamily="34" charset="-122"/>
                <a:cs typeface="Calibri" pitchFamily="34" charset="-120"/>
              </a:rPr>
              <a:t>0.44</a:t>
            </a:r>
            <a:endParaRPr lang="en-US" sz="700" dirty="0"/>
          </a:p>
        </p:txBody>
      </p:sp>
      <p:sp>
        <p:nvSpPr>
          <p:cNvPr id="144" name="Text 142"/>
          <p:cNvSpPr/>
          <p:nvPr/>
        </p:nvSpPr>
        <p:spPr>
          <a:xfrm>
            <a:off x="5623560" y="7086600"/>
            <a:ext cx="475488" cy="274320"/>
          </a:xfrm>
          <a:prstGeom prst="rect">
            <a:avLst/>
          </a:prstGeom>
          <a:noFill/>
          <a:ln/>
        </p:spPr>
        <p:txBody>
          <a:bodyPr wrap="square" lIns="0" tIns="0" rIns="0" bIns="0" rtlCol="0" anchor="t"/>
          <a:lstStyle/>
          <a:p>
            <a:pPr algn="r" indent="0" marL="0">
              <a:buNone/>
            </a:pPr>
            <a:r>
              <a:rPr lang="en-US" sz="720" b="1" dirty="0">
                <a:solidFill>
                  <a:srgbClr val="183B39"/>
                </a:solidFill>
                <a:latin typeface="Calibri" pitchFamily="34" charset="0"/>
                <a:ea typeface="Calibri" pitchFamily="34" charset="-122"/>
                <a:cs typeface="Calibri" pitchFamily="34" charset="-120"/>
              </a:rPr>
              <a:t>0.36</a:t>
            </a:r>
            <a:endParaRPr lang="en-US" sz="720" dirty="0"/>
          </a:p>
        </p:txBody>
      </p:sp>
      <p:sp>
        <p:nvSpPr>
          <p:cNvPr id="145" name="Text 143"/>
          <p:cNvSpPr/>
          <p:nvPr/>
        </p:nvSpPr>
        <p:spPr>
          <a:xfrm>
            <a:off x="6135624" y="7086600"/>
            <a:ext cx="365760" cy="274320"/>
          </a:xfrm>
          <a:prstGeom prst="rect">
            <a:avLst/>
          </a:prstGeom>
          <a:noFill/>
          <a:ln/>
        </p:spPr>
        <p:txBody>
          <a:bodyPr wrap="square" lIns="0" tIns="0" rIns="0" bIns="0" rtlCol="0" anchor="t"/>
          <a:lstStyle/>
          <a:p>
            <a:pPr algn="r" indent="0" marL="0">
              <a:buNone/>
            </a:pPr>
            <a:r>
              <a:rPr lang="en-US" sz="700" b="1" dirty="0">
                <a:solidFill>
                  <a:srgbClr val="D6544D"/>
                </a:solidFill>
                <a:latin typeface="Calibri" pitchFamily="34" charset="0"/>
                <a:ea typeface="Calibri" pitchFamily="34" charset="-122"/>
                <a:cs typeface="Calibri" pitchFamily="34" charset="-120"/>
              </a:rPr>
              <a:t>−18%</a:t>
            </a:r>
            <a:endParaRPr lang="en-US" sz="700" dirty="0"/>
          </a:p>
        </p:txBody>
      </p:sp>
      <p:sp>
        <p:nvSpPr>
          <p:cNvPr id="146" name="Text 144"/>
          <p:cNvSpPr/>
          <p:nvPr/>
        </p:nvSpPr>
        <p:spPr>
          <a:xfrm>
            <a:off x="3611880" y="7479792"/>
            <a:ext cx="2871216" cy="457200"/>
          </a:xfrm>
          <a:prstGeom prst="rect">
            <a:avLst/>
          </a:prstGeom>
          <a:noFill/>
          <a:ln/>
        </p:spPr>
        <p:txBody>
          <a:bodyPr wrap="square" lIns="0" tIns="0" rIns="0" bIns="0" rtlCol="0" anchor="t"/>
          <a:lstStyle/>
          <a:p>
            <a:pPr indent="0" marL="0">
              <a:lnSpc>
                <a:spcPct val="92000"/>
              </a:lnSpc>
              <a:buNone/>
            </a:pPr>
            <a:r>
              <a:rPr lang="en-US" sz="680" dirty="0">
                <a:solidFill>
                  <a:srgbClr val="5F716E"/>
                </a:solidFill>
                <a:latin typeface="Calibri" pitchFamily="34" charset="0"/>
                <a:ea typeface="Calibri" pitchFamily="34" charset="-122"/>
                <a:cs typeface="Calibri" pitchFamily="34" charset="-120"/>
              </a:rPr>
              <a:t>The Derma Co. added ₹23.17 Cr — 54% of all Q1 growth — off a base one tenth of Mamaearth’s. Its scale-up is the quarter’s biggest commercial event.</a:t>
            </a:r>
            <a:endParaRPr lang="en-US" sz="680" dirty="0"/>
          </a:p>
        </p:txBody>
      </p:sp>
      <p:sp>
        <p:nvSpPr>
          <p:cNvPr id="147" name="Shape 145"/>
          <p:cNvSpPr/>
          <p:nvPr/>
        </p:nvSpPr>
        <p:spPr>
          <a:xfrm>
            <a:off x="265176" y="8101584"/>
            <a:ext cx="6327648" cy="256032"/>
          </a:xfrm>
          <a:prstGeom prst="rect">
            <a:avLst/>
          </a:prstGeom>
          <a:solidFill>
            <a:srgbClr val="116F68"/>
          </a:solidFill>
          <a:ln/>
        </p:spPr>
      </p:sp>
      <p:sp>
        <p:nvSpPr>
          <p:cNvPr id="148" name="Text 146"/>
          <p:cNvSpPr/>
          <p:nvPr/>
        </p:nvSpPr>
        <p:spPr>
          <a:xfrm>
            <a:off x="374904" y="8119872"/>
            <a:ext cx="6108192" cy="219456"/>
          </a:xfrm>
          <a:prstGeom prst="rect">
            <a:avLst/>
          </a:prstGeom>
          <a:noFill/>
          <a:ln/>
        </p:spPr>
        <p:txBody>
          <a:bodyPr wrap="square" lIns="0" tIns="0" rIns="0" bIns="0" rtlCol="0" anchor="ctr"/>
          <a:lstStyle/>
          <a:p>
            <a:pPr indent="0" marL="0">
              <a:buNone/>
            </a:pPr>
            <a:r>
              <a:rPr lang="en-US" sz="720" b="1" spc="60" kern="0" dirty="0">
                <a:solidFill>
                  <a:srgbClr val="FFFFFF"/>
                </a:solidFill>
                <a:latin typeface="Calibri" pitchFamily="34" charset="0"/>
                <a:ea typeface="Calibri" pitchFamily="34" charset="-122"/>
                <a:cs typeface="Calibri" pitchFamily="34" charset="-120"/>
              </a:rPr>
              <a:t>Q1 READOUT</a:t>
            </a:r>
            <a:endParaRPr lang="en-US" sz="720" dirty="0"/>
          </a:p>
        </p:txBody>
      </p:sp>
      <p:sp>
        <p:nvSpPr>
          <p:cNvPr id="149" name="Shape 147"/>
          <p:cNvSpPr/>
          <p:nvPr/>
        </p:nvSpPr>
        <p:spPr>
          <a:xfrm>
            <a:off x="356616" y="8517636"/>
            <a:ext cx="50292" cy="50292"/>
          </a:xfrm>
          <a:prstGeom prst="ellipse">
            <a:avLst/>
          </a:prstGeom>
          <a:solidFill>
            <a:srgbClr val="28A596"/>
          </a:solidFill>
          <a:ln/>
        </p:spPr>
      </p:sp>
      <p:sp>
        <p:nvSpPr>
          <p:cNvPr id="150" name="Text 148"/>
          <p:cNvSpPr/>
          <p:nvPr/>
        </p:nvSpPr>
        <p:spPr>
          <a:xfrm>
            <a:off x="475488" y="8467344"/>
            <a:ext cx="6025896" cy="365760"/>
          </a:xfrm>
          <a:prstGeom prst="rect">
            <a:avLst/>
          </a:prstGeom>
          <a:noFill/>
          <a:ln/>
        </p:spPr>
        <p:txBody>
          <a:bodyPr wrap="square" lIns="0" tIns="0" rIns="0" bIns="0" rtlCol="0" anchor="t"/>
          <a:lstStyle/>
          <a:p>
            <a:pPr indent="0" marL="0">
              <a:lnSpc>
                <a:spcPct val="92000"/>
              </a:lnSpc>
              <a:buNone/>
            </a:pPr>
            <a:r>
              <a:rPr lang="en-US" sz="740" b="1" dirty="0">
                <a:solidFill>
                  <a:srgbClr val="183B39"/>
                </a:solidFill>
                <a:latin typeface="Calibri" pitchFamily="34" charset="0"/>
                <a:ea typeface="Calibri" pitchFamily="34" charset="-122"/>
                <a:cs typeface="Calibri" pitchFamily="34" charset="-120"/>
              </a:rPr>
              <a:t>Every zone grew more than 55% and South-1 led at +84%. Growth is broad-based, not carried by one geography.</a:t>
            </a:r>
            <a:endParaRPr lang="en-US" sz="740" dirty="0"/>
          </a:p>
        </p:txBody>
      </p:sp>
      <p:sp>
        <p:nvSpPr>
          <p:cNvPr id="151" name="Shape 149"/>
          <p:cNvSpPr/>
          <p:nvPr/>
        </p:nvSpPr>
        <p:spPr>
          <a:xfrm>
            <a:off x="356616" y="8901684"/>
            <a:ext cx="50292" cy="50292"/>
          </a:xfrm>
          <a:prstGeom prst="ellipse">
            <a:avLst/>
          </a:prstGeom>
          <a:solidFill>
            <a:srgbClr val="28A596"/>
          </a:solidFill>
          <a:ln/>
        </p:spPr>
      </p:sp>
      <p:sp>
        <p:nvSpPr>
          <p:cNvPr id="152" name="Text 150"/>
          <p:cNvSpPr/>
          <p:nvPr/>
        </p:nvSpPr>
        <p:spPr>
          <a:xfrm>
            <a:off x="475488" y="8851392"/>
            <a:ext cx="6025896" cy="365760"/>
          </a:xfrm>
          <a:prstGeom prst="rect">
            <a:avLst/>
          </a:prstGeom>
          <a:noFill/>
          <a:ln/>
        </p:spPr>
        <p:txBody>
          <a:bodyPr wrap="square" lIns="0" tIns="0" rIns="0" bIns="0" rtlCol="0" anchor="t"/>
          <a:lstStyle/>
          <a:p>
            <a:pPr indent="0" marL="0">
              <a:lnSpc>
                <a:spcPct val="92000"/>
              </a:lnSpc>
              <a:buNone/>
            </a:pPr>
            <a:r>
              <a:rPr lang="en-US" sz="740" dirty="0">
                <a:solidFill>
                  <a:srgbClr val="183B39"/>
                </a:solidFill>
                <a:latin typeface="Calibri" pitchFamily="34" charset="0"/>
                <a:ea typeface="Calibri" pitchFamily="34" charset="-122"/>
                <a:cs typeface="Calibri" pitchFamily="34" charset="-120"/>
              </a:rPr>
              <a:t>The Derma Co. at +365% supplied 54% of the quarter’s growth on a tenth of Mamaearth’s base — the portfolio is genuinely widening.</a:t>
            </a:r>
            <a:endParaRPr lang="en-US" sz="740" dirty="0"/>
          </a:p>
        </p:txBody>
      </p:sp>
      <p:sp>
        <p:nvSpPr>
          <p:cNvPr id="153" name="Shape 151"/>
          <p:cNvSpPr/>
          <p:nvPr/>
        </p:nvSpPr>
        <p:spPr>
          <a:xfrm>
            <a:off x="356616" y="9285732"/>
            <a:ext cx="50292" cy="50292"/>
          </a:xfrm>
          <a:prstGeom prst="ellipse">
            <a:avLst/>
          </a:prstGeom>
          <a:solidFill>
            <a:srgbClr val="28A596"/>
          </a:solidFill>
          <a:ln/>
        </p:spPr>
      </p:sp>
      <p:sp>
        <p:nvSpPr>
          <p:cNvPr id="154" name="Text 152"/>
          <p:cNvSpPr/>
          <p:nvPr/>
        </p:nvSpPr>
        <p:spPr>
          <a:xfrm>
            <a:off x="475488" y="9235440"/>
            <a:ext cx="6025896" cy="365760"/>
          </a:xfrm>
          <a:prstGeom prst="rect">
            <a:avLst/>
          </a:prstGeom>
          <a:noFill/>
          <a:ln/>
        </p:spPr>
        <p:txBody>
          <a:bodyPr wrap="square" lIns="0" tIns="0" rIns="0" bIns="0" rtlCol="0" anchor="t"/>
          <a:lstStyle/>
          <a:p>
            <a:pPr indent="0" marL="0">
              <a:lnSpc>
                <a:spcPct val="92000"/>
              </a:lnSpc>
              <a:buNone/>
            </a:pPr>
            <a:r>
              <a:rPr lang="en-US" sz="740" dirty="0">
                <a:solidFill>
                  <a:srgbClr val="183B39"/>
                </a:solidFill>
                <a:latin typeface="Calibri" pitchFamily="34" charset="0"/>
                <a:ea typeface="Calibri" pitchFamily="34" charset="-122"/>
                <a:cs typeface="Calibri" pitchFamily="34" charset="-120"/>
              </a:rPr>
              <a:t>Apollo at +174% is the fastest material account, now ₹21.73 Cr and ahead of its Q1 FY26 position by ₹13.80 Cr.</a:t>
            </a:r>
            <a:endParaRPr lang="en-US" sz="740" dirty="0"/>
          </a:p>
        </p:txBody>
      </p:sp>
      <p:sp>
        <p:nvSpPr>
          <p:cNvPr id="155" name="Shape 153"/>
          <p:cNvSpPr/>
          <p:nvPr/>
        </p:nvSpPr>
        <p:spPr>
          <a:xfrm>
            <a:off x="356616" y="9669780"/>
            <a:ext cx="50292" cy="50292"/>
          </a:xfrm>
          <a:prstGeom prst="ellipse">
            <a:avLst/>
          </a:prstGeom>
          <a:solidFill>
            <a:srgbClr val="D6544D"/>
          </a:solidFill>
          <a:ln/>
        </p:spPr>
      </p:sp>
      <p:sp>
        <p:nvSpPr>
          <p:cNvPr id="156" name="Text 154"/>
          <p:cNvSpPr/>
          <p:nvPr/>
        </p:nvSpPr>
        <p:spPr>
          <a:xfrm>
            <a:off x="475488" y="9619488"/>
            <a:ext cx="6025896" cy="365760"/>
          </a:xfrm>
          <a:prstGeom prst="rect">
            <a:avLst/>
          </a:prstGeom>
          <a:noFill/>
          <a:ln/>
        </p:spPr>
        <p:txBody>
          <a:bodyPr wrap="square" lIns="0" tIns="0" rIns="0" bIns="0" rtlCol="0" anchor="t"/>
          <a:lstStyle/>
          <a:p>
            <a:pPr indent="0" marL="0">
              <a:lnSpc>
                <a:spcPct val="92000"/>
              </a:lnSpc>
              <a:buNone/>
            </a:pPr>
            <a:r>
              <a:rPr lang="en-US" sz="740" b="1" dirty="0">
                <a:solidFill>
                  <a:srgbClr val="183B39"/>
                </a:solidFill>
                <a:latin typeface="Calibri" pitchFamily="34" charset="0"/>
                <a:ea typeface="Calibri" pitchFamily="34" charset="-122"/>
                <a:cs typeface="Calibri" pitchFamily="34" charset="-120"/>
              </a:rPr>
              <a:t>Q1 converted at 83.1%; July converted at 72.2% — and the two zones that led Q1 conversion fell hardest. Page 3 explains why.</a:t>
            </a:r>
            <a:endParaRPr lang="en-US" sz="7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A"/>
        </a:solidFill>
      </p:bgPr>
    </p:bg>
    <p:spTree>
      <p:nvGrpSpPr>
        <p:cNvPr id="1" name=""/>
        <p:cNvGrpSpPr/>
        <p:nvPr/>
      </p:nvGrpSpPr>
      <p:grpSpPr>
        <a:xfrm>
          <a:off x="0" y="0"/>
          <a:ext cx="0" cy="0"/>
          <a:chOff x="0" y="0"/>
          <a:chExt cx="0" cy="0"/>
        </a:xfrm>
      </p:grpSpPr>
      <p:sp>
        <p:nvSpPr>
          <p:cNvPr id="2" name="Shape 0"/>
          <p:cNvSpPr/>
          <p:nvPr/>
        </p:nvSpPr>
        <p:spPr>
          <a:xfrm>
            <a:off x="0" y="0"/>
            <a:ext cx="6858000" cy="1133856"/>
          </a:xfrm>
          <a:prstGeom prst="rect">
            <a:avLst/>
          </a:prstGeom>
          <a:solidFill>
            <a:srgbClr val="116F68"/>
          </a:solidFill>
          <a:ln/>
        </p:spPr>
      </p:sp>
      <p:sp>
        <p:nvSpPr>
          <p:cNvPr id="3" name="Text 1"/>
          <p:cNvSpPr/>
          <p:nvPr/>
        </p:nvSpPr>
        <p:spPr>
          <a:xfrm>
            <a:off x="365760" y="182880"/>
            <a:ext cx="5641848" cy="548640"/>
          </a:xfrm>
          <a:prstGeom prst="rect">
            <a:avLst/>
          </a:prstGeom>
          <a:noFill/>
          <a:ln/>
        </p:spPr>
        <p:txBody>
          <a:bodyPr wrap="square" lIns="0" tIns="0" rIns="0" bIns="0" rtlCol="0" anchor="ctr"/>
          <a:lstStyle/>
          <a:p>
            <a:pPr indent="0" marL="0">
              <a:lnSpc>
                <a:spcPct val="92000"/>
              </a:lnSpc>
              <a:buNone/>
            </a:pPr>
            <a:r>
              <a:rPr lang="en-US" sz="1450" b="1" dirty="0">
                <a:solidFill>
                  <a:srgbClr val="FFFFFF"/>
                </a:solidFill>
                <a:latin typeface="Calibri Light" pitchFamily="34" charset="0"/>
                <a:ea typeface="Calibri Light" pitchFamily="34" charset="-122"/>
                <a:cs typeface="Calibri Light" pitchFamily="34" charset="-120"/>
              </a:rPr>
              <a:t>July did not break — it is the quarter-opening load, and April did the same</a:t>
            </a:r>
            <a:endParaRPr lang="en-US" sz="1450" dirty="0"/>
          </a:p>
        </p:txBody>
      </p:sp>
      <p:sp>
        <p:nvSpPr>
          <p:cNvPr id="4" name="Text 2"/>
          <p:cNvSpPr/>
          <p:nvPr/>
        </p:nvSpPr>
        <p:spPr>
          <a:xfrm>
            <a:off x="384048" y="786384"/>
            <a:ext cx="5641848" cy="237744"/>
          </a:xfrm>
          <a:prstGeom prst="rect">
            <a:avLst/>
          </a:prstGeom>
          <a:noFill/>
          <a:ln/>
        </p:spPr>
        <p:txBody>
          <a:bodyPr wrap="square" lIns="0" tIns="0" rIns="0" bIns="0" rtlCol="0" anchor="ctr"/>
          <a:lstStyle/>
          <a:p>
            <a:pPr indent="0" marL="0">
              <a:buNone/>
            </a:pPr>
            <a:r>
              <a:rPr lang="en-US" sz="850" dirty="0">
                <a:solidFill>
                  <a:srgbClr val="BFDCD7"/>
                </a:solidFill>
                <a:latin typeface="Calibri" pitchFamily="34" charset="0"/>
                <a:ea typeface="Calibri" pitchFamily="34" charset="-122"/>
                <a:cs typeface="Calibri" pitchFamily="34" charset="-120"/>
              </a:rPr>
              <a:t>Why July conversion fell | monthly Modern Trade flow, Apr–Jul 2026 | ₹ Cr</a:t>
            </a:r>
            <a:endParaRPr lang="en-US" sz="850" dirty="0"/>
          </a:p>
        </p:txBody>
      </p:sp>
      <p:sp>
        <p:nvSpPr>
          <p:cNvPr id="5" name="Text 3"/>
          <p:cNvSpPr/>
          <p:nvPr/>
        </p:nvSpPr>
        <p:spPr>
          <a:xfrm>
            <a:off x="6117336" y="365760"/>
            <a:ext cx="402336" cy="237744"/>
          </a:xfrm>
          <a:prstGeom prst="rect">
            <a:avLst/>
          </a:prstGeom>
          <a:noFill/>
          <a:ln/>
        </p:spPr>
        <p:txBody>
          <a:bodyPr wrap="square" lIns="0" tIns="0" rIns="0" bIns="0" rtlCol="0" anchor="t"/>
          <a:lstStyle/>
          <a:p>
            <a:pPr algn="r" indent="0" marL="0">
              <a:buNone/>
            </a:pPr>
            <a:r>
              <a:rPr lang="en-US" sz="950" b="1" dirty="0">
                <a:solidFill>
                  <a:srgbClr val="8FC4BD"/>
                </a:solidFill>
                <a:latin typeface="Calibri" pitchFamily="34" charset="0"/>
                <a:ea typeface="Calibri" pitchFamily="34" charset="-122"/>
                <a:cs typeface="Calibri" pitchFamily="34" charset="-120"/>
              </a:rPr>
              <a:t>03</a:t>
            </a:r>
            <a:endParaRPr lang="en-US" sz="950" dirty="0"/>
          </a:p>
        </p:txBody>
      </p:sp>
      <p:sp>
        <p:nvSpPr>
          <p:cNvPr id="6" name="Shape 4"/>
          <p:cNvSpPr/>
          <p:nvPr/>
        </p:nvSpPr>
        <p:spPr>
          <a:xfrm>
            <a:off x="265176" y="11375136"/>
            <a:ext cx="6327648" cy="420624"/>
          </a:xfrm>
          <a:prstGeom prst="roundRect">
            <a:avLst>
              <a:gd name="adj" fmla="val 6522"/>
            </a:avLst>
          </a:prstGeom>
          <a:solidFill>
            <a:srgbClr val="DFF2ED"/>
          </a:solidFill>
          <a:ln w="9525">
            <a:solidFill>
              <a:srgbClr val="C8DCD7"/>
            </a:solidFill>
            <a:prstDash val="solid"/>
          </a:ln>
        </p:spPr>
      </p:sp>
      <p:sp>
        <p:nvSpPr>
          <p:cNvPr id="7" name="Text 5"/>
          <p:cNvSpPr/>
          <p:nvPr/>
        </p:nvSpPr>
        <p:spPr>
          <a:xfrm>
            <a:off x="374904"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EVIDENCE</a:t>
            </a:r>
            <a:endParaRPr lang="en-US" sz="650" dirty="0"/>
          </a:p>
        </p:txBody>
      </p:sp>
      <p:sp>
        <p:nvSpPr>
          <p:cNvPr id="8" name="Text 6"/>
          <p:cNvSpPr/>
          <p:nvPr/>
        </p:nvSpPr>
        <p:spPr>
          <a:xfrm>
            <a:off x="374904"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moved</a:t>
            </a:r>
            <a:endParaRPr lang="en-US" sz="700" dirty="0"/>
          </a:p>
        </p:txBody>
      </p:sp>
      <p:sp>
        <p:nvSpPr>
          <p:cNvPr id="9" name="Text 7"/>
          <p:cNvSpPr/>
          <p:nvPr/>
        </p:nvSpPr>
        <p:spPr>
          <a:xfrm>
            <a:off x="1901952"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IMPLICATION</a:t>
            </a:r>
            <a:endParaRPr lang="en-US" sz="650" dirty="0"/>
          </a:p>
        </p:txBody>
      </p:sp>
      <p:sp>
        <p:nvSpPr>
          <p:cNvPr id="10" name="Text 8"/>
          <p:cNvSpPr/>
          <p:nvPr/>
        </p:nvSpPr>
        <p:spPr>
          <a:xfrm>
            <a:off x="1901952"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Why it matters</a:t>
            </a:r>
            <a:endParaRPr lang="en-US" sz="700" dirty="0"/>
          </a:p>
        </p:txBody>
      </p:sp>
      <p:sp>
        <p:nvSpPr>
          <p:cNvPr id="11" name="Shape 9"/>
          <p:cNvSpPr/>
          <p:nvPr/>
        </p:nvSpPr>
        <p:spPr>
          <a:xfrm>
            <a:off x="1819656" y="11457432"/>
            <a:ext cx="0" cy="265176"/>
          </a:xfrm>
          <a:prstGeom prst="line">
            <a:avLst/>
          </a:prstGeom>
          <a:noFill/>
          <a:ln w="9525">
            <a:solidFill>
              <a:srgbClr val="C8DCD7"/>
            </a:solidFill>
            <a:prstDash val="solid"/>
          </a:ln>
        </p:spPr>
      </p:sp>
      <p:sp>
        <p:nvSpPr>
          <p:cNvPr id="12" name="Text 10"/>
          <p:cNvSpPr/>
          <p:nvPr/>
        </p:nvSpPr>
        <p:spPr>
          <a:xfrm>
            <a:off x="3429000"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ACTION</a:t>
            </a:r>
            <a:endParaRPr lang="en-US" sz="650" dirty="0"/>
          </a:p>
        </p:txBody>
      </p:sp>
      <p:sp>
        <p:nvSpPr>
          <p:cNvPr id="13" name="Text 11"/>
          <p:cNvSpPr/>
          <p:nvPr/>
        </p:nvSpPr>
        <p:spPr>
          <a:xfrm>
            <a:off x="3429000"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changes now</a:t>
            </a:r>
            <a:endParaRPr lang="en-US" sz="700" dirty="0"/>
          </a:p>
        </p:txBody>
      </p:sp>
      <p:sp>
        <p:nvSpPr>
          <p:cNvPr id="14" name="Shape 12"/>
          <p:cNvSpPr/>
          <p:nvPr/>
        </p:nvSpPr>
        <p:spPr>
          <a:xfrm>
            <a:off x="3346704" y="11457432"/>
            <a:ext cx="0" cy="265176"/>
          </a:xfrm>
          <a:prstGeom prst="line">
            <a:avLst/>
          </a:prstGeom>
          <a:noFill/>
          <a:ln w="9525">
            <a:solidFill>
              <a:srgbClr val="C8DCD7"/>
            </a:solidFill>
            <a:prstDash val="solid"/>
          </a:ln>
        </p:spPr>
      </p:sp>
      <p:sp>
        <p:nvSpPr>
          <p:cNvPr id="15" name="Text 13"/>
          <p:cNvSpPr/>
          <p:nvPr/>
        </p:nvSpPr>
        <p:spPr>
          <a:xfrm>
            <a:off x="4956048"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OWNER</a:t>
            </a:r>
            <a:endParaRPr lang="en-US" sz="650" dirty="0"/>
          </a:p>
        </p:txBody>
      </p:sp>
      <p:sp>
        <p:nvSpPr>
          <p:cNvPr id="16" name="Text 14"/>
          <p:cNvSpPr/>
          <p:nvPr/>
        </p:nvSpPr>
        <p:spPr>
          <a:xfrm>
            <a:off x="4956048"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Who closes it</a:t>
            </a:r>
            <a:endParaRPr lang="en-US" sz="700" dirty="0"/>
          </a:p>
        </p:txBody>
      </p:sp>
      <p:sp>
        <p:nvSpPr>
          <p:cNvPr id="17" name="Shape 15"/>
          <p:cNvSpPr/>
          <p:nvPr/>
        </p:nvSpPr>
        <p:spPr>
          <a:xfrm>
            <a:off x="4873752" y="11457432"/>
            <a:ext cx="0" cy="265176"/>
          </a:xfrm>
          <a:prstGeom prst="line">
            <a:avLst/>
          </a:prstGeom>
          <a:noFill/>
          <a:ln w="9525">
            <a:solidFill>
              <a:srgbClr val="C8DCD7"/>
            </a:solidFill>
            <a:prstDash val="solid"/>
          </a:ln>
        </p:spPr>
      </p:sp>
      <p:sp>
        <p:nvSpPr>
          <p:cNvPr id="18" name="Text 16"/>
          <p:cNvSpPr/>
          <p:nvPr/>
        </p:nvSpPr>
        <p:spPr>
          <a:xfrm>
            <a:off x="301752" y="11887200"/>
            <a:ext cx="6254496" cy="201168"/>
          </a:xfrm>
          <a:prstGeom prst="rect">
            <a:avLst/>
          </a:prstGeom>
          <a:noFill/>
          <a:ln/>
        </p:spPr>
        <p:txBody>
          <a:bodyPr wrap="square" lIns="0" tIns="0" rIns="0" bIns="0" rtlCol="0" anchor="t"/>
          <a:lstStyle/>
          <a:p>
            <a:pPr algn="ctr" indent="0" marL="0">
              <a:buNone/>
            </a:pPr>
            <a:r>
              <a:rPr lang="en-US" sz="650" dirty="0">
                <a:solidFill>
                  <a:srgbClr val="5F716E"/>
                </a:solidFill>
                <a:latin typeface="Calibri" pitchFamily="34" charset="0"/>
                <a:ea typeface="Calibri" pitchFamily="34" charset="-122"/>
                <a:cs typeface="Calibri" pitchFamily="34" charset="-120"/>
              </a:rPr>
              <a:t>Q1 FY27 cut from the Apr/May/Jun month sources with Channel == MT · Q1 FY26 comparatives from the June 2026 MT offtake pack, restated MT-only · Zone performance represents Modern Trade accounts only. eB2B and SIS channels are excluded from MT zone sales and reported separately.</a:t>
            </a:r>
            <a:endParaRPr lang="en-US" sz="650" dirty="0"/>
          </a:p>
        </p:txBody>
      </p:sp>
      <p:sp>
        <p:nvSpPr>
          <p:cNvPr id="19" name="Shape 17"/>
          <p:cNvSpPr/>
          <p:nvPr/>
        </p:nvSpPr>
        <p:spPr>
          <a:xfrm>
            <a:off x="265176" y="1261872"/>
            <a:ext cx="6327648" cy="969264"/>
          </a:xfrm>
          <a:prstGeom prst="roundRect">
            <a:avLst>
              <a:gd name="adj" fmla="val 2830"/>
            </a:avLst>
          </a:prstGeom>
          <a:solidFill>
            <a:srgbClr val="DFF2ED"/>
          </a:solidFill>
          <a:ln w="12700">
            <a:solidFill>
              <a:srgbClr val="28A596"/>
            </a:solidFill>
            <a:prstDash val="solid"/>
          </a:ln>
        </p:spPr>
      </p:sp>
      <p:sp>
        <p:nvSpPr>
          <p:cNvPr id="20" name="Text 18"/>
          <p:cNvSpPr/>
          <p:nvPr/>
        </p:nvSpPr>
        <p:spPr>
          <a:xfrm>
            <a:off x="411480" y="1353312"/>
            <a:ext cx="6035040" cy="292608"/>
          </a:xfrm>
          <a:prstGeom prst="rect">
            <a:avLst/>
          </a:prstGeom>
          <a:noFill/>
          <a:ln/>
        </p:spPr>
        <p:txBody>
          <a:bodyPr wrap="square" lIns="0" tIns="0" rIns="0" bIns="0" rtlCol="0" anchor="ctr"/>
          <a:lstStyle/>
          <a:p>
            <a:pPr algn="ctr" indent="0" marL="0">
              <a:buNone/>
            </a:pPr>
            <a:r>
              <a:rPr lang="en-US" sz="1150" b="1" dirty="0">
                <a:solidFill>
                  <a:srgbClr val="116F68"/>
                </a:solidFill>
                <a:latin typeface="Calibri Light" pitchFamily="34" charset="0"/>
                <a:ea typeface="Calibri Light" pitchFamily="34" charset="-122"/>
                <a:cs typeface="Calibri Light" pitchFamily="34" charset="-120"/>
              </a:rPr>
              <a:t>Conversion collapses in the first month of every quarter, then recovers</a:t>
            </a:r>
            <a:endParaRPr lang="en-US" sz="1150" dirty="0"/>
          </a:p>
        </p:txBody>
      </p:sp>
      <p:sp>
        <p:nvSpPr>
          <p:cNvPr id="21" name="Text 19"/>
          <p:cNvSpPr/>
          <p:nvPr/>
        </p:nvSpPr>
        <p:spPr>
          <a:xfrm>
            <a:off x="411480" y="1682496"/>
            <a:ext cx="6035040" cy="219456"/>
          </a:xfrm>
          <a:prstGeom prst="rect">
            <a:avLst/>
          </a:prstGeom>
          <a:noFill/>
          <a:ln/>
        </p:spPr>
        <p:txBody>
          <a:bodyPr wrap="square" lIns="0" tIns="0" rIns="0" bIns="0" rtlCol="0" anchor="t"/>
          <a:lstStyle/>
          <a:p>
            <a:pPr algn="ctr" indent="0" marL="0">
              <a:buNone/>
            </a:pPr>
            <a:r>
              <a:rPr lang="en-US" sz="900" b="1" dirty="0">
                <a:solidFill>
                  <a:srgbClr val="183B39"/>
                </a:solidFill>
                <a:latin typeface="Calibri" pitchFamily="34" charset="0"/>
                <a:ea typeface="Calibri" pitchFamily="34" charset="-122"/>
                <a:cs typeface="Calibri" pitchFamily="34" charset="-120"/>
              </a:rPr>
              <a:t>Apr 70.0%   →   May 90.1%   →   Jun 91.4%   →   Jul 72.2%</a:t>
            </a:r>
            <a:endParaRPr lang="en-US" sz="900" dirty="0"/>
          </a:p>
        </p:txBody>
      </p:sp>
      <p:sp>
        <p:nvSpPr>
          <p:cNvPr id="22" name="Text 20"/>
          <p:cNvSpPr/>
          <p:nvPr/>
        </p:nvSpPr>
        <p:spPr>
          <a:xfrm>
            <a:off x="484632" y="1920240"/>
            <a:ext cx="5888736" cy="256032"/>
          </a:xfrm>
          <a:prstGeom prst="rect">
            <a:avLst/>
          </a:prstGeom>
          <a:noFill/>
          <a:ln/>
        </p:spPr>
        <p:txBody>
          <a:bodyPr wrap="square" lIns="0" tIns="0" rIns="0" bIns="0" rtlCol="0" anchor="t"/>
          <a:lstStyle/>
          <a:p>
            <a:pPr algn="ctr" indent="0" marL="0">
              <a:lnSpc>
                <a:spcPct val="94000"/>
              </a:lnSpc>
              <a:buNone/>
            </a:pPr>
            <a:r>
              <a:rPr lang="en-US" sz="720" dirty="0">
                <a:solidFill>
                  <a:srgbClr val="5F716E"/>
                </a:solidFill>
                <a:latin typeface="Calibri" pitchFamily="34" charset="0"/>
                <a:ea typeface="Calibri" pitchFamily="34" charset="-122"/>
                <a:cs typeface="Calibri" pitchFamily="34" charset="-120"/>
              </a:rPr>
              <a:t>April opened Q1 with ₹48.00 Cr of primary against ₹33.60 Cr of offtake. July opened Q2 with ₹47.02 Cr against ₹33.96 Cr. The two months are the same event, one quarter apart. Reading July on its own turns a billing rhythm into a performance crisis.</a:t>
            </a:r>
            <a:endParaRPr lang="en-US" sz="720" dirty="0"/>
          </a:p>
        </p:txBody>
      </p:sp>
      <p:sp>
        <p:nvSpPr>
          <p:cNvPr id="23" name="Text 21"/>
          <p:cNvSpPr/>
          <p:nvPr/>
        </p:nvSpPr>
        <p:spPr>
          <a:xfrm>
            <a:off x="265176" y="2377440"/>
            <a:ext cx="3090672"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MT primary vs offtake by month (₹ Cr)</a:t>
            </a:r>
            <a:endParaRPr lang="en-US" sz="720" dirty="0"/>
          </a:p>
        </p:txBody>
      </p:sp>
      <p:graphicFrame>
        <p:nvGraphicFramePr>
          <p:cNvPr id="24" name="Chart 0" descr=""/>
          <p:cNvGraphicFramePr/>
          <p:nvPr/>
        </p:nvGraphicFramePr>
        <p:xfrm>
          <a:off x="246888" y="2578608"/>
          <a:ext cx="3090672" cy="1773936"/>
        </p:xfrm>
        <a:graphic xmlns:a="http://schemas.openxmlformats.org/drawingml/2006/main">
          <a:graphicData uri="http://schemas.openxmlformats.org/drawingml/2006/chart">
            <c:chart xmlns:c="http://schemas.openxmlformats.org/drawingml/2006/chart" r:id="rId1"/>
          </a:graphicData>
        </a:graphic>
      </p:graphicFrame>
      <p:sp>
        <p:nvSpPr>
          <p:cNvPr id="25" name="Text 22"/>
          <p:cNvSpPr/>
          <p:nvPr/>
        </p:nvSpPr>
        <p:spPr>
          <a:xfrm>
            <a:off x="3502152" y="2377440"/>
            <a:ext cx="3090672"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MT flow conversion by month (%)</a:t>
            </a:r>
            <a:endParaRPr lang="en-US" sz="720" dirty="0"/>
          </a:p>
        </p:txBody>
      </p:sp>
      <p:graphicFrame>
        <p:nvGraphicFramePr>
          <p:cNvPr id="26" name="Chart 1" descr=""/>
          <p:cNvGraphicFramePr/>
          <p:nvPr/>
        </p:nvGraphicFramePr>
        <p:xfrm>
          <a:off x="3483864" y="2578608"/>
          <a:ext cx="3090672" cy="1773936"/>
        </p:xfrm>
        <a:graphic xmlns:a="http://schemas.openxmlformats.org/drawingml/2006/main">
          <a:graphicData uri="http://schemas.openxmlformats.org/drawingml/2006/chart">
            <c:chart xmlns:c="http://schemas.openxmlformats.org/drawingml/2006/chart" r:id="rId2"/>
          </a:graphicData>
        </a:graphic>
      </p:graphicFrame>
      <p:sp>
        <p:nvSpPr>
          <p:cNvPr id="27" name="Shape 23"/>
          <p:cNvSpPr/>
          <p:nvPr/>
        </p:nvSpPr>
        <p:spPr>
          <a:xfrm>
            <a:off x="265176" y="4517136"/>
            <a:ext cx="6327648" cy="256032"/>
          </a:xfrm>
          <a:prstGeom prst="rect">
            <a:avLst/>
          </a:prstGeom>
          <a:solidFill>
            <a:srgbClr val="D6544D"/>
          </a:solidFill>
          <a:ln/>
        </p:spPr>
      </p:sp>
      <p:sp>
        <p:nvSpPr>
          <p:cNvPr id="28" name="Text 24"/>
          <p:cNvSpPr/>
          <p:nvPr/>
        </p:nvSpPr>
        <p:spPr>
          <a:xfrm>
            <a:off x="374904" y="4535424"/>
            <a:ext cx="6108192" cy="219456"/>
          </a:xfrm>
          <a:prstGeom prst="rect">
            <a:avLst/>
          </a:prstGeom>
          <a:noFill/>
          <a:ln/>
        </p:spPr>
        <p:txBody>
          <a:bodyPr wrap="square" lIns="0" tIns="0" rIns="0" bIns="0" rtlCol="0" anchor="ctr"/>
          <a:lstStyle/>
          <a:p>
            <a:pPr indent="0" marL="0">
              <a:buNone/>
            </a:pPr>
            <a:r>
              <a:rPr lang="en-US" sz="720" b="1" spc="60" kern="0" dirty="0">
                <a:solidFill>
                  <a:srgbClr val="FFFFFF"/>
                </a:solidFill>
                <a:latin typeface="Calibri" pitchFamily="34" charset="0"/>
                <a:ea typeface="Calibri" pitchFamily="34" charset="-122"/>
                <a:cs typeface="Calibri" pitchFamily="34" charset="-120"/>
              </a:rPr>
              <a:t>THE ZONES THAT LOADED HARDEST CONVERTED WORST</a:t>
            </a:r>
            <a:endParaRPr lang="en-US" sz="720" dirty="0"/>
          </a:p>
        </p:txBody>
      </p:sp>
      <p:sp>
        <p:nvSpPr>
          <p:cNvPr id="29" name="Shape 25"/>
          <p:cNvSpPr/>
          <p:nvPr/>
        </p:nvSpPr>
        <p:spPr>
          <a:xfrm>
            <a:off x="265176" y="4864608"/>
            <a:ext cx="6327648" cy="256032"/>
          </a:xfrm>
          <a:prstGeom prst="rect">
            <a:avLst/>
          </a:prstGeom>
          <a:solidFill>
            <a:srgbClr val="116F68"/>
          </a:solidFill>
          <a:ln/>
        </p:spPr>
      </p:sp>
      <p:sp>
        <p:nvSpPr>
          <p:cNvPr id="30" name="Text 26"/>
          <p:cNvSpPr/>
          <p:nvPr/>
        </p:nvSpPr>
        <p:spPr>
          <a:xfrm>
            <a:off x="320040" y="4882896"/>
            <a:ext cx="944880" cy="219456"/>
          </a:xfrm>
          <a:prstGeom prst="rect">
            <a:avLst/>
          </a:prstGeom>
          <a:noFill/>
          <a:ln/>
        </p:spPr>
        <p:txBody>
          <a:bodyPr wrap="square" lIns="0" tIns="0" rIns="0" bIns="0" rtlCol="0" anchor="ctr"/>
          <a:lstStyle/>
          <a:p>
            <a:pPr algn="l" indent="0" marL="0">
              <a:buNone/>
            </a:pPr>
            <a:r>
              <a:rPr lang="en-US" sz="660" b="1" spc="40" kern="0" dirty="0">
                <a:solidFill>
                  <a:srgbClr val="FFFFFF"/>
                </a:solidFill>
                <a:latin typeface="Calibri" pitchFamily="34" charset="0"/>
                <a:ea typeface="Calibri" pitchFamily="34" charset="-122"/>
                <a:cs typeface="Calibri" pitchFamily="34" charset="-120"/>
              </a:rPr>
              <a:t>ZONE</a:t>
            </a:r>
            <a:endParaRPr lang="en-US" sz="660" dirty="0"/>
          </a:p>
        </p:txBody>
      </p:sp>
      <p:sp>
        <p:nvSpPr>
          <p:cNvPr id="31" name="Text 27"/>
          <p:cNvSpPr/>
          <p:nvPr/>
        </p:nvSpPr>
        <p:spPr>
          <a:xfrm>
            <a:off x="1374648" y="4882896"/>
            <a:ext cx="1472184"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Q1 MONTHLY AVG PRIMARY</a:t>
            </a:r>
            <a:endParaRPr lang="en-US" sz="660" dirty="0"/>
          </a:p>
        </p:txBody>
      </p:sp>
      <p:sp>
        <p:nvSpPr>
          <p:cNvPr id="32" name="Text 28"/>
          <p:cNvSpPr/>
          <p:nvPr/>
        </p:nvSpPr>
        <p:spPr>
          <a:xfrm>
            <a:off x="2956560" y="4882896"/>
            <a:ext cx="944880"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JULY PRIMARY</a:t>
            </a:r>
            <a:endParaRPr lang="en-US" sz="660" dirty="0"/>
          </a:p>
        </p:txBody>
      </p:sp>
      <p:sp>
        <p:nvSpPr>
          <p:cNvPr id="33" name="Text 29"/>
          <p:cNvSpPr/>
          <p:nvPr/>
        </p:nvSpPr>
        <p:spPr>
          <a:xfrm>
            <a:off x="4011168" y="4882896"/>
            <a:ext cx="856996"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LOAD vs Q1</a:t>
            </a:r>
            <a:endParaRPr lang="en-US" sz="660" dirty="0"/>
          </a:p>
        </p:txBody>
      </p:sp>
      <p:sp>
        <p:nvSpPr>
          <p:cNvPr id="34" name="Text 30"/>
          <p:cNvSpPr/>
          <p:nvPr/>
        </p:nvSpPr>
        <p:spPr>
          <a:xfrm>
            <a:off x="4977892" y="4882896"/>
            <a:ext cx="725170"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Q1 CONV.</a:t>
            </a:r>
            <a:endParaRPr lang="en-US" sz="660" dirty="0"/>
          </a:p>
        </p:txBody>
      </p:sp>
      <p:sp>
        <p:nvSpPr>
          <p:cNvPr id="35" name="Text 31"/>
          <p:cNvSpPr/>
          <p:nvPr/>
        </p:nvSpPr>
        <p:spPr>
          <a:xfrm>
            <a:off x="5812790" y="4882896"/>
            <a:ext cx="725170"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JUL CONV.</a:t>
            </a:r>
            <a:endParaRPr lang="en-US" sz="660" dirty="0"/>
          </a:p>
        </p:txBody>
      </p:sp>
      <p:sp>
        <p:nvSpPr>
          <p:cNvPr id="36" name="Shape 32"/>
          <p:cNvSpPr/>
          <p:nvPr/>
        </p:nvSpPr>
        <p:spPr>
          <a:xfrm>
            <a:off x="265176" y="5120640"/>
            <a:ext cx="6327648" cy="329184"/>
          </a:xfrm>
          <a:prstGeom prst="rect">
            <a:avLst/>
          </a:prstGeom>
          <a:solidFill>
            <a:srgbClr val="F4F9F8"/>
          </a:solidFill>
          <a:ln/>
        </p:spPr>
      </p:sp>
      <p:sp>
        <p:nvSpPr>
          <p:cNvPr id="37" name="Shape 33"/>
          <p:cNvSpPr/>
          <p:nvPr/>
        </p:nvSpPr>
        <p:spPr>
          <a:xfrm>
            <a:off x="265176" y="5449824"/>
            <a:ext cx="6327648" cy="0"/>
          </a:xfrm>
          <a:prstGeom prst="line">
            <a:avLst/>
          </a:prstGeom>
          <a:noFill/>
          <a:ln w="6350">
            <a:solidFill>
              <a:srgbClr val="C8DCD7"/>
            </a:solidFill>
            <a:prstDash val="solid"/>
          </a:ln>
        </p:spPr>
      </p:sp>
      <p:sp>
        <p:nvSpPr>
          <p:cNvPr id="38" name="Text 34"/>
          <p:cNvSpPr/>
          <p:nvPr/>
        </p:nvSpPr>
        <p:spPr>
          <a:xfrm>
            <a:off x="320040" y="5120640"/>
            <a:ext cx="944880" cy="329184"/>
          </a:xfrm>
          <a:prstGeom prst="rect">
            <a:avLst/>
          </a:prstGeom>
          <a:noFill/>
          <a:ln/>
        </p:spPr>
        <p:txBody>
          <a:bodyPr wrap="square" lIns="0" tIns="0" rIns="0" bIns="0" rtlCol="0" anchor="ctr"/>
          <a:lstStyle/>
          <a:p>
            <a:pPr algn="l" indent="0" marL="0">
              <a:buNone/>
            </a:pPr>
            <a:r>
              <a:rPr lang="en-US" sz="740" b="1" dirty="0">
                <a:solidFill>
                  <a:srgbClr val="183B39"/>
                </a:solidFill>
                <a:latin typeface="Calibri" pitchFamily="34" charset="0"/>
                <a:ea typeface="Calibri" pitchFamily="34" charset="-122"/>
                <a:cs typeface="Calibri" pitchFamily="34" charset="-120"/>
              </a:rPr>
              <a:t>East</a:t>
            </a:r>
            <a:endParaRPr lang="en-US" sz="740" dirty="0"/>
          </a:p>
        </p:txBody>
      </p:sp>
      <p:sp>
        <p:nvSpPr>
          <p:cNvPr id="39" name="Text 35"/>
          <p:cNvSpPr/>
          <p:nvPr/>
        </p:nvSpPr>
        <p:spPr>
          <a:xfrm>
            <a:off x="1374648" y="5120640"/>
            <a:ext cx="1472184" cy="329184"/>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4.36</a:t>
            </a:r>
            <a:endParaRPr lang="en-US" sz="740" dirty="0"/>
          </a:p>
        </p:txBody>
      </p:sp>
      <p:sp>
        <p:nvSpPr>
          <p:cNvPr id="40" name="Text 36"/>
          <p:cNvSpPr/>
          <p:nvPr/>
        </p:nvSpPr>
        <p:spPr>
          <a:xfrm>
            <a:off x="2956560" y="5120640"/>
            <a:ext cx="944880" cy="329184"/>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7.10</a:t>
            </a:r>
            <a:endParaRPr lang="en-US" sz="740" dirty="0"/>
          </a:p>
        </p:txBody>
      </p:sp>
      <p:sp>
        <p:nvSpPr>
          <p:cNvPr id="41" name="Text 37"/>
          <p:cNvSpPr/>
          <p:nvPr/>
        </p:nvSpPr>
        <p:spPr>
          <a:xfrm>
            <a:off x="4011168" y="5120640"/>
            <a:ext cx="856996" cy="329184"/>
          </a:xfrm>
          <a:prstGeom prst="rect">
            <a:avLst/>
          </a:prstGeom>
          <a:noFill/>
          <a:ln/>
        </p:spPr>
        <p:txBody>
          <a:bodyPr wrap="square" lIns="0" tIns="0" rIns="0" bIns="0" rtlCol="0" anchor="ctr"/>
          <a:lstStyle/>
          <a:p>
            <a:pPr algn="r" indent="0" marL="0">
              <a:buNone/>
            </a:pPr>
            <a:r>
              <a:rPr lang="en-US" sz="740" b="1" dirty="0">
                <a:solidFill>
                  <a:srgbClr val="D6544D"/>
                </a:solidFill>
                <a:latin typeface="Calibri" pitchFamily="34" charset="0"/>
                <a:ea typeface="Calibri" pitchFamily="34" charset="-122"/>
                <a:cs typeface="Calibri" pitchFamily="34" charset="-120"/>
              </a:rPr>
              <a:t>+62.8%</a:t>
            </a:r>
            <a:endParaRPr lang="en-US" sz="740" dirty="0"/>
          </a:p>
        </p:txBody>
      </p:sp>
      <p:sp>
        <p:nvSpPr>
          <p:cNvPr id="42" name="Text 38"/>
          <p:cNvSpPr/>
          <p:nvPr/>
        </p:nvSpPr>
        <p:spPr>
          <a:xfrm>
            <a:off x="4977892" y="5120640"/>
            <a:ext cx="725170" cy="329184"/>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89.7%</a:t>
            </a:r>
            <a:endParaRPr lang="en-US" sz="740" dirty="0"/>
          </a:p>
        </p:txBody>
      </p:sp>
      <p:sp>
        <p:nvSpPr>
          <p:cNvPr id="43" name="Text 39"/>
          <p:cNvSpPr/>
          <p:nvPr/>
        </p:nvSpPr>
        <p:spPr>
          <a:xfrm>
            <a:off x="5812790" y="5120640"/>
            <a:ext cx="725170" cy="329184"/>
          </a:xfrm>
          <a:prstGeom prst="rect">
            <a:avLst/>
          </a:prstGeom>
          <a:noFill/>
          <a:ln/>
        </p:spPr>
        <p:txBody>
          <a:bodyPr wrap="square" lIns="0" tIns="0" rIns="0" bIns="0" rtlCol="0" anchor="ctr"/>
          <a:lstStyle/>
          <a:p>
            <a:pPr algn="r" indent="0" marL="0">
              <a:buNone/>
            </a:pPr>
            <a:r>
              <a:rPr lang="en-US" sz="740" b="1" dirty="0">
                <a:solidFill>
                  <a:srgbClr val="D6544D"/>
                </a:solidFill>
                <a:latin typeface="Calibri" pitchFamily="34" charset="0"/>
                <a:ea typeface="Calibri" pitchFamily="34" charset="-122"/>
                <a:cs typeface="Calibri" pitchFamily="34" charset="-120"/>
              </a:rPr>
              <a:t>49.9%</a:t>
            </a:r>
            <a:endParaRPr lang="en-US" sz="740" dirty="0"/>
          </a:p>
        </p:txBody>
      </p:sp>
      <p:sp>
        <p:nvSpPr>
          <p:cNvPr id="44" name="Shape 40"/>
          <p:cNvSpPr/>
          <p:nvPr/>
        </p:nvSpPr>
        <p:spPr>
          <a:xfrm>
            <a:off x="265176" y="5779008"/>
            <a:ext cx="6327648" cy="0"/>
          </a:xfrm>
          <a:prstGeom prst="line">
            <a:avLst/>
          </a:prstGeom>
          <a:noFill/>
          <a:ln w="6350">
            <a:solidFill>
              <a:srgbClr val="C8DCD7"/>
            </a:solidFill>
            <a:prstDash val="solid"/>
          </a:ln>
        </p:spPr>
      </p:sp>
      <p:sp>
        <p:nvSpPr>
          <p:cNvPr id="45" name="Text 41"/>
          <p:cNvSpPr/>
          <p:nvPr/>
        </p:nvSpPr>
        <p:spPr>
          <a:xfrm>
            <a:off x="320040" y="5449824"/>
            <a:ext cx="944880" cy="329184"/>
          </a:xfrm>
          <a:prstGeom prst="rect">
            <a:avLst/>
          </a:prstGeom>
          <a:noFill/>
          <a:ln/>
        </p:spPr>
        <p:txBody>
          <a:bodyPr wrap="square" lIns="0" tIns="0" rIns="0" bIns="0" rtlCol="0" anchor="ctr"/>
          <a:lstStyle/>
          <a:p>
            <a:pPr algn="l" indent="0" marL="0">
              <a:buNone/>
            </a:pPr>
            <a:r>
              <a:rPr lang="en-US" sz="740" b="1" dirty="0">
                <a:solidFill>
                  <a:srgbClr val="183B39"/>
                </a:solidFill>
                <a:latin typeface="Calibri" pitchFamily="34" charset="0"/>
                <a:ea typeface="Calibri" pitchFamily="34" charset="-122"/>
                <a:cs typeface="Calibri" pitchFamily="34" charset="-120"/>
              </a:rPr>
              <a:t>North</a:t>
            </a:r>
            <a:endParaRPr lang="en-US" sz="740" dirty="0"/>
          </a:p>
        </p:txBody>
      </p:sp>
      <p:sp>
        <p:nvSpPr>
          <p:cNvPr id="46" name="Text 42"/>
          <p:cNvSpPr/>
          <p:nvPr/>
        </p:nvSpPr>
        <p:spPr>
          <a:xfrm>
            <a:off x="1374648" y="5449824"/>
            <a:ext cx="1472184" cy="329184"/>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9.78</a:t>
            </a:r>
            <a:endParaRPr lang="en-US" sz="740" dirty="0"/>
          </a:p>
        </p:txBody>
      </p:sp>
      <p:sp>
        <p:nvSpPr>
          <p:cNvPr id="47" name="Text 43"/>
          <p:cNvSpPr/>
          <p:nvPr/>
        </p:nvSpPr>
        <p:spPr>
          <a:xfrm>
            <a:off x="2956560" y="5449824"/>
            <a:ext cx="944880" cy="329184"/>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11.38</a:t>
            </a:r>
            <a:endParaRPr lang="en-US" sz="740" dirty="0"/>
          </a:p>
        </p:txBody>
      </p:sp>
      <p:sp>
        <p:nvSpPr>
          <p:cNvPr id="48" name="Text 44"/>
          <p:cNvSpPr/>
          <p:nvPr/>
        </p:nvSpPr>
        <p:spPr>
          <a:xfrm>
            <a:off x="4011168" y="5449824"/>
            <a:ext cx="856996" cy="329184"/>
          </a:xfrm>
          <a:prstGeom prst="rect">
            <a:avLst/>
          </a:prstGeom>
          <a:noFill/>
          <a:ln/>
        </p:spPr>
        <p:txBody>
          <a:bodyPr wrap="square" lIns="0" tIns="0" rIns="0" bIns="0" rtlCol="0" anchor="ctr"/>
          <a:lstStyle/>
          <a:p>
            <a:pPr algn="r" indent="0" marL="0">
              <a:buNone/>
            </a:pPr>
            <a:r>
              <a:rPr lang="en-US" sz="740" b="1" dirty="0">
                <a:solidFill>
                  <a:srgbClr val="D6544D"/>
                </a:solidFill>
                <a:latin typeface="Calibri" pitchFamily="34" charset="0"/>
                <a:ea typeface="Calibri" pitchFamily="34" charset="-122"/>
                <a:cs typeface="Calibri" pitchFamily="34" charset="-120"/>
              </a:rPr>
              <a:t>+16.4%</a:t>
            </a:r>
            <a:endParaRPr lang="en-US" sz="740" dirty="0"/>
          </a:p>
        </p:txBody>
      </p:sp>
      <p:sp>
        <p:nvSpPr>
          <p:cNvPr id="49" name="Text 45"/>
          <p:cNvSpPr/>
          <p:nvPr/>
        </p:nvSpPr>
        <p:spPr>
          <a:xfrm>
            <a:off x="4977892" y="5449824"/>
            <a:ext cx="725170" cy="329184"/>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90.0%</a:t>
            </a:r>
            <a:endParaRPr lang="en-US" sz="740" dirty="0"/>
          </a:p>
        </p:txBody>
      </p:sp>
      <p:sp>
        <p:nvSpPr>
          <p:cNvPr id="50" name="Text 46"/>
          <p:cNvSpPr/>
          <p:nvPr/>
        </p:nvSpPr>
        <p:spPr>
          <a:xfrm>
            <a:off x="5812790" y="5449824"/>
            <a:ext cx="725170" cy="329184"/>
          </a:xfrm>
          <a:prstGeom prst="rect">
            <a:avLst/>
          </a:prstGeom>
          <a:noFill/>
          <a:ln/>
        </p:spPr>
        <p:txBody>
          <a:bodyPr wrap="square" lIns="0" tIns="0" rIns="0" bIns="0" rtlCol="0" anchor="ctr"/>
          <a:lstStyle/>
          <a:p>
            <a:pPr algn="r" indent="0" marL="0">
              <a:buNone/>
            </a:pPr>
            <a:r>
              <a:rPr lang="en-US" sz="740" b="1" dirty="0">
                <a:solidFill>
                  <a:srgbClr val="D6544D"/>
                </a:solidFill>
                <a:latin typeface="Calibri" pitchFamily="34" charset="0"/>
                <a:ea typeface="Calibri" pitchFamily="34" charset="-122"/>
                <a:cs typeface="Calibri" pitchFamily="34" charset="-120"/>
              </a:rPr>
              <a:t>61.2%</a:t>
            </a:r>
            <a:endParaRPr lang="en-US" sz="740" dirty="0"/>
          </a:p>
        </p:txBody>
      </p:sp>
      <p:sp>
        <p:nvSpPr>
          <p:cNvPr id="51" name="Shape 47"/>
          <p:cNvSpPr/>
          <p:nvPr/>
        </p:nvSpPr>
        <p:spPr>
          <a:xfrm>
            <a:off x="265176" y="5779008"/>
            <a:ext cx="6327648" cy="329184"/>
          </a:xfrm>
          <a:prstGeom prst="rect">
            <a:avLst/>
          </a:prstGeom>
          <a:solidFill>
            <a:srgbClr val="F4F9F8"/>
          </a:solidFill>
          <a:ln/>
        </p:spPr>
      </p:sp>
      <p:sp>
        <p:nvSpPr>
          <p:cNvPr id="52" name="Shape 48"/>
          <p:cNvSpPr/>
          <p:nvPr/>
        </p:nvSpPr>
        <p:spPr>
          <a:xfrm>
            <a:off x="265176" y="6108192"/>
            <a:ext cx="6327648" cy="0"/>
          </a:xfrm>
          <a:prstGeom prst="line">
            <a:avLst/>
          </a:prstGeom>
          <a:noFill/>
          <a:ln w="6350">
            <a:solidFill>
              <a:srgbClr val="C8DCD7"/>
            </a:solidFill>
            <a:prstDash val="solid"/>
          </a:ln>
        </p:spPr>
      </p:sp>
      <p:sp>
        <p:nvSpPr>
          <p:cNvPr id="53" name="Text 49"/>
          <p:cNvSpPr/>
          <p:nvPr/>
        </p:nvSpPr>
        <p:spPr>
          <a:xfrm>
            <a:off x="320040" y="5779008"/>
            <a:ext cx="944880" cy="329184"/>
          </a:xfrm>
          <a:prstGeom prst="rect">
            <a:avLst/>
          </a:prstGeom>
          <a:noFill/>
          <a:ln/>
        </p:spPr>
        <p:txBody>
          <a:bodyPr wrap="square" lIns="0" tIns="0" rIns="0" bIns="0" rtlCol="0" anchor="ctr"/>
          <a:lstStyle/>
          <a:p>
            <a:pPr algn="l" indent="0" marL="0">
              <a:buNone/>
            </a:pPr>
            <a:r>
              <a:rPr lang="en-US" sz="740" b="1" dirty="0">
                <a:solidFill>
                  <a:srgbClr val="183B39"/>
                </a:solidFill>
                <a:latin typeface="Calibri" pitchFamily="34" charset="0"/>
                <a:ea typeface="Calibri" pitchFamily="34" charset="-122"/>
                <a:cs typeface="Calibri" pitchFamily="34" charset="-120"/>
              </a:rPr>
              <a:t>South-2</a:t>
            </a:r>
            <a:endParaRPr lang="en-US" sz="740" dirty="0"/>
          </a:p>
        </p:txBody>
      </p:sp>
      <p:sp>
        <p:nvSpPr>
          <p:cNvPr id="54" name="Text 50"/>
          <p:cNvSpPr/>
          <p:nvPr/>
        </p:nvSpPr>
        <p:spPr>
          <a:xfrm>
            <a:off x="1374648" y="5779008"/>
            <a:ext cx="1472184" cy="329184"/>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6.45</a:t>
            </a:r>
            <a:endParaRPr lang="en-US" sz="740" dirty="0"/>
          </a:p>
        </p:txBody>
      </p:sp>
      <p:sp>
        <p:nvSpPr>
          <p:cNvPr id="55" name="Text 51"/>
          <p:cNvSpPr/>
          <p:nvPr/>
        </p:nvSpPr>
        <p:spPr>
          <a:xfrm>
            <a:off x="2956560" y="5779008"/>
            <a:ext cx="944880" cy="329184"/>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6.73</a:t>
            </a:r>
            <a:endParaRPr lang="en-US" sz="740" dirty="0"/>
          </a:p>
        </p:txBody>
      </p:sp>
      <p:sp>
        <p:nvSpPr>
          <p:cNvPr id="56" name="Text 52"/>
          <p:cNvSpPr/>
          <p:nvPr/>
        </p:nvSpPr>
        <p:spPr>
          <a:xfrm>
            <a:off x="4011168" y="5779008"/>
            <a:ext cx="856996" cy="329184"/>
          </a:xfrm>
          <a:prstGeom prst="rect">
            <a:avLst/>
          </a:prstGeom>
          <a:noFill/>
          <a:ln/>
        </p:spPr>
        <p:txBody>
          <a:bodyPr wrap="square" lIns="0" tIns="0" rIns="0" bIns="0" rtlCol="0" anchor="ctr"/>
          <a:lstStyle/>
          <a:p>
            <a:pPr algn="r" indent="0" marL="0">
              <a:buNone/>
            </a:pPr>
            <a:r>
              <a:rPr lang="en-US" sz="740" dirty="0">
                <a:solidFill>
                  <a:srgbClr val="F2B84B"/>
                </a:solidFill>
                <a:latin typeface="Calibri" pitchFamily="34" charset="0"/>
                <a:ea typeface="Calibri" pitchFamily="34" charset="-122"/>
                <a:cs typeface="Calibri" pitchFamily="34" charset="-120"/>
              </a:rPr>
              <a:t>+4.3%</a:t>
            </a:r>
            <a:endParaRPr lang="en-US" sz="740" dirty="0"/>
          </a:p>
        </p:txBody>
      </p:sp>
      <p:sp>
        <p:nvSpPr>
          <p:cNvPr id="57" name="Text 53"/>
          <p:cNvSpPr/>
          <p:nvPr/>
        </p:nvSpPr>
        <p:spPr>
          <a:xfrm>
            <a:off x="4977892" y="5779008"/>
            <a:ext cx="725170" cy="329184"/>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81.4%</a:t>
            </a:r>
            <a:endParaRPr lang="en-US" sz="740" dirty="0"/>
          </a:p>
        </p:txBody>
      </p:sp>
      <p:sp>
        <p:nvSpPr>
          <p:cNvPr id="58" name="Text 54"/>
          <p:cNvSpPr/>
          <p:nvPr/>
        </p:nvSpPr>
        <p:spPr>
          <a:xfrm>
            <a:off x="5812790" y="5779008"/>
            <a:ext cx="725170" cy="329184"/>
          </a:xfrm>
          <a:prstGeom prst="rect">
            <a:avLst/>
          </a:prstGeom>
          <a:noFill/>
          <a:ln/>
        </p:spPr>
        <p:txBody>
          <a:bodyPr wrap="square" lIns="0" tIns="0" rIns="0" bIns="0" rtlCol="0" anchor="ctr"/>
          <a:lstStyle/>
          <a:p>
            <a:pPr algn="r" indent="0" marL="0">
              <a:buNone/>
            </a:pPr>
            <a:r>
              <a:rPr lang="en-US" sz="740" dirty="0">
                <a:solidFill>
                  <a:srgbClr val="F2B84B"/>
                </a:solidFill>
                <a:latin typeface="Calibri" pitchFamily="34" charset="0"/>
                <a:ea typeface="Calibri" pitchFamily="34" charset="-122"/>
                <a:cs typeface="Calibri" pitchFamily="34" charset="-120"/>
              </a:rPr>
              <a:t>72.4%</a:t>
            </a:r>
            <a:endParaRPr lang="en-US" sz="740" dirty="0"/>
          </a:p>
        </p:txBody>
      </p:sp>
      <p:sp>
        <p:nvSpPr>
          <p:cNvPr id="59" name="Shape 55"/>
          <p:cNvSpPr/>
          <p:nvPr/>
        </p:nvSpPr>
        <p:spPr>
          <a:xfrm>
            <a:off x="265176" y="6437376"/>
            <a:ext cx="6327648" cy="0"/>
          </a:xfrm>
          <a:prstGeom prst="line">
            <a:avLst/>
          </a:prstGeom>
          <a:noFill/>
          <a:ln w="6350">
            <a:solidFill>
              <a:srgbClr val="C8DCD7"/>
            </a:solidFill>
            <a:prstDash val="solid"/>
          </a:ln>
        </p:spPr>
      </p:sp>
      <p:sp>
        <p:nvSpPr>
          <p:cNvPr id="60" name="Text 56"/>
          <p:cNvSpPr/>
          <p:nvPr/>
        </p:nvSpPr>
        <p:spPr>
          <a:xfrm>
            <a:off x="320040" y="6108192"/>
            <a:ext cx="944880" cy="329184"/>
          </a:xfrm>
          <a:prstGeom prst="rect">
            <a:avLst/>
          </a:prstGeom>
          <a:noFill/>
          <a:ln/>
        </p:spPr>
        <p:txBody>
          <a:bodyPr wrap="square" lIns="0" tIns="0" rIns="0" bIns="0" rtlCol="0" anchor="ctr"/>
          <a:lstStyle/>
          <a:p>
            <a:pPr algn="l" indent="0" marL="0">
              <a:buNone/>
            </a:pPr>
            <a:r>
              <a:rPr lang="en-US" sz="740" b="1" dirty="0">
                <a:solidFill>
                  <a:srgbClr val="183B39"/>
                </a:solidFill>
                <a:latin typeface="Calibri" pitchFamily="34" charset="0"/>
                <a:ea typeface="Calibri" pitchFamily="34" charset="-122"/>
                <a:cs typeface="Calibri" pitchFamily="34" charset="-120"/>
              </a:rPr>
              <a:t>South-1</a:t>
            </a:r>
            <a:endParaRPr lang="en-US" sz="740" dirty="0"/>
          </a:p>
        </p:txBody>
      </p:sp>
      <p:sp>
        <p:nvSpPr>
          <p:cNvPr id="61" name="Text 57"/>
          <p:cNvSpPr/>
          <p:nvPr/>
        </p:nvSpPr>
        <p:spPr>
          <a:xfrm>
            <a:off x="1374648" y="6108192"/>
            <a:ext cx="1472184" cy="329184"/>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10.59</a:t>
            </a:r>
            <a:endParaRPr lang="en-US" sz="740" dirty="0"/>
          </a:p>
        </p:txBody>
      </p:sp>
      <p:sp>
        <p:nvSpPr>
          <p:cNvPr id="62" name="Text 58"/>
          <p:cNvSpPr/>
          <p:nvPr/>
        </p:nvSpPr>
        <p:spPr>
          <a:xfrm>
            <a:off x="2956560" y="6108192"/>
            <a:ext cx="944880" cy="329184"/>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9.48</a:t>
            </a:r>
            <a:endParaRPr lang="en-US" sz="740" dirty="0"/>
          </a:p>
        </p:txBody>
      </p:sp>
      <p:sp>
        <p:nvSpPr>
          <p:cNvPr id="63" name="Text 59"/>
          <p:cNvSpPr/>
          <p:nvPr/>
        </p:nvSpPr>
        <p:spPr>
          <a:xfrm>
            <a:off x="4011168" y="6108192"/>
            <a:ext cx="856996" cy="329184"/>
          </a:xfrm>
          <a:prstGeom prst="rect">
            <a:avLst/>
          </a:prstGeom>
          <a:noFill/>
          <a:ln/>
        </p:spPr>
        <p:txBody>
          <a:bodyPr wrap="square" lIns="0" tIns="0" rIns="0" bIns="0" rtlCol="0" anchor="ctr"/>
          <a:lstStyle/>
          <a:p>
            <a:pPr algn="r" indent="0" marL="0">
              <a:buNone/>
            </a:pPr>
            <a:r>
              <a:rPr lang="en-US" sz="740" dirty="0">
                <a:solidFill>
                  <a:srgbClr val="2B9A66"/>
                </a:solidFill>
                <a:latin typeface="Calibri" pitchFamily="34" charset="0"/>
                <a:ea typeface="Calibri" pitchFamily="34" charset="-122"/>
                <a:cs typeface="Calibri" pitchFamily="34" charset="-120"/>
              </a:rPr>
              <a:t>−10.5%</a:t>
            </a:r>
            <a:endParaRPr lang="en-US" sz="740" dirty="0"/>
          </a:p>
        </p:txBody>
      </p:sp>
      <p:sp>
        <p:nvSpPr>
          <p:cNvPr id="64" name="Text 60"/>
          <p:cNvSpPr/>
          <p:nvPr/>
        </p:nvSpPr>
        <p:spPr>
          <a:xfrm>
            <a:off x="4977892" y="6108192"/>
            <a:ext cx="725170" cy="329184"/>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78.3%</a:t>
            </a:r>
            <a:endParaRPr lang="en-US" sz="740" dirty="0"/>
          </a:p>
        </p:txBody>
      </p:sp>
      <p:sp>
        <p:nvSpPr>
          <p:cNvPr id="65" name="Text 61"/>
          <p:cNvSpPr/>
          <p:nvPr/>
        </p:nvSpPr>
        <p:spPr>
          <a:xfrm>
            <a:off x="5812790" y="6108192"/>
            <a:ext cx="725170" cy="329184"/>
          </a:xfrm>
          <a:prstGeom prst="rect">
            <a:avLst/>
          </a:prstGeom>
          <a:noFill/>
          <a:ln/>
        </p:spPr>
        <p:txBody>
          <a:bodyPr wrap="square" lIns="0" tIns="0" rIns="0" bIns="0" rtlCol="0" anchor="ctr"/>
          <a:lstStyle/>
          <a:p>
            <a:pPr algn="r" indent="0" marL="0">
              <a:buNone/>
            </a:pPr>
            <a:r>
              <a:rPr lang="en-US" sz="740" dirty="0">
                <a:solidFill>
                  <a:srgbClr val="2B9A66"/>
                </a:solidFill>
                <a:latin typeface="Calibri" pitchFamily="34" charset="0"/>
                <a:ea typeface="Calibri" pitchFamily="34" charset="-122"/>
                <a:cs typeface="Calibri" pitchFamily="34" charset="-120"/>
              </a:rPr>
              <a:t>86.3%</a:t>
            </a:r>
            <a:endParaRPr lang="en-US" sz="740" dirty="0"/>
          </a:p>
        </p:txBody>
      </p:sp>
      <p:sp>
        <p:nvSpPr>
          <p:cNvPr id="66" name="Shape 62"/>
          <p:cNvSpPr/>
          <p:nvPr/>
        </p:nvSpPr>
        <p:spPr>
          <a:xfrm>
            <a:off x="265176" y="6437376"/>
            <a:ext cx="6327648" cy="329184"/>
          </a:xfrm>
          <a:prstGeom prst="rect">
            <a:avLst/>
          </a:prstGeom>
          <a:solidFill>
            <a:srgbClr val="F4F9F8"/>
          </a:solidFill>
          <a:ln/>
        </p:spPr>
      </p:sp>
      <p:sp>
        <p:nvSpPr>
          <p:cNvPr id="67" name="Shape 63"/>
          <p:cNvSpPr/>
          <p:nvPr/>
        </p:nvSpPr>
        <p:spPr>
          <a:xfrm>
            <a:off x="265176" y="6766560"/>
            <a:ext cx="6327648" cy="0"/>
          </a:xfrm>
          <a:prstGeom prst="line">
            <a:avLst/>
          </a:prstGeom>
          <a:noFill/>
          <a:ln w="6350">
            <a:solidFill>
              <a:srgbClr val="C8DCD7"/>
            </a:solidFill>
            <a:prstDash val="solid"/>
          </a:ln>
        </p:spPr>
      </p:sp>
      <p:sp>
        <p:nvSpPr>
          <p:cNvPr id="68" name="Text 64"/>
          <p:cNvSpPr/>
          <p:nvPr/>
        </p:nvSpPr>
        <p:spPr>
          <a:xfrm>
            <a:off x="320040" y="6437376"/>
            <a:ext cx="944880" cy="329184"/>
          </a:xfrm>
          <a:prstGeom prst="rect">
            <a:avLst/>
          </a:prstGeom>
          <a:noFill/>
          <a:ln/>
        </p:spPr>
        <p:txBody>
          <a:bodyPr wrap="square" lIns="0" tIns="0" rIns="0" bIns="0" rtlCol="0" anchor="ctr"/>
          <a:lstStyle/>
          <a:p>
            <a:pPr algn="l" indent="0" marL="0">
              <a:buNone/>
            </a:pPr>
            <a:r>
              <a:rPr lang="en-US" sz="740" b="1" dirty="0">
                <a:solidFill>
                  <a:srgbClr val="183B39"/>
                </a:solidFill>
                <a:latin typeface="Calibri" pitchFamily="34" charset="0"/>
                <a:ea typeface="Calibri" pitchFamily="34" charset="-122"/>
                <a:cs typeface="Calibri" pitchFamily="34" charset="-120"/>
              </a:rPr>
              <a:t>West</a:t>
            </a:r>
            <a:endParaRPr lang="en-US" sz="740" dirty="0"/>
          </a:p>
        </p:txBody>
      </p:sp>
      <p:sp>
        <p:nvSpPr>
          <p:cNvPr id="69" name="Text 65"/>
          <p:cNvSpPr/>
          <p:nvPr/>
        </p:nvSpPr>
        <p:spPr>
          <a:xfrm>
            <a:off x="1374648" y="6437376"/>
            <a:ext cx="1472184" cy="329184"/>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12.06</a:t>
            </a:r>
            <a:endParaRPr lang="en-US" sz="740" dirty="0"/>
          </a:p>
        </p:txBody>
      </p:sp>
      <p:sp>
        <p:nvSpPr>
          <p:cNvPr id="70" name="Text 66"/>
          <p:cNvSpPr/>
          <p:nvPr/>
        </p:nvSpPr>
        <p:spPr>
          <a:xfrm>
            <a:off x="2956560" y="6437376"/>
            <a:ext cx="944880" cy="329184"/>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9.71</a:t>
            </a:r>
            <a:endParaRPr lang="en-US" sz="740" dirty="0"/>
          </a:p>
        </p:txBody>
      </p:sp>
      <p:sp>
        <p:nvSpPr>
          <p:cNvPr id="71" name="Text 67"/>
          <p:cNvSpPr/>
          <p:nvPr/>
        </p:nvSpPr>
        <p:spPr>
          <a:xfrm>
            <a:off x="4011168" y="6437376"/>
            <a:ext cx="856996" cy="329184"/>
          </a:xfrm>
          <a:prstGeom prst="rect">
            <a:avLst/>
          </a:prstGeom>
          <a:noFill/>
          <a:ln/>
        </p:spPr>
        <p:txBody>
          <a:bodyPr wrap="square" lIns="0" tIns="0" rIns="0" bIns="0" rtlCol="0" anchor="ctr"/>
          <a:lstStyle/>
          <a:p>
            <a:pPr algn="r" indent="0" marL="0">
              <a:buNone/>
            </a:pPr>
            <a:r>
              <a:rPr lang="en-US" sz="740" dirty="0">
                <a:solidFill>
                  <a:srgbClr val="2B9A66"/>
                </a:solidFill>
                <a:latin typeface="Calibri" pitchFamily="34" charset="0"/>
                <a:ea typeface="Calibri" pitchFamily="34" charset="-122"/>
                <a:cs typeface="Calibri" pitchFamily="34" charset="-120"/>
              </a:rPr>
              <a:t>−19.5%</a:t>
            </a:r>
            <a:endParaRPr lang="en-US" sz="740" dirty="0"/>
          </a:p>
        </p:txBody>
      </p:sp>
      <p:sp>
        <p:nvSpPr>
          <p:cNvPr id="72" name="Text 68"/>
          <p:cNvSpPr/>
          <p:nvPr/>
        </p:nvSpPr>
        <p:spPr>
          <a:xfrm>
            <a:off x="4977892" y="6437376"/>
            <a:ext cx="725170" cy="329184"/>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80.3%</a:t>
            </a:r>
            <a:endParaRPr lang="en-US" sz="740" dirty="0"/>
          </a:p>
        </p:txBody>
      </p:sp>
      <p:sp>
        <p:nvSpPr>
          <p:cNvPr id="73" name="Text 69"/>
          <p:cNvSpPr/>
          <p:nvPr/>
        </p:nvSpPr>
        <p:spPr>
          <a:xfrm>
            <a:off x="5812790" y="6437376"/>
            <a:ext cx="725170" cy="329184"/>
          </a:xfrm>
          <a:prstGeom prst="rect">
            <a:avLst/>
          </a:prstGeom>
          <a:noFill/>
          <a:ln/>
        </p:spPr>
        <p:txBody>
          <a:bodyPr wrap="square" lIns="0" tIns="0" rIns="0" bIns="0" rtlCol="0" anchor="ctr"/>
          <a:lstStyle/>
          <a:p>
            <a:pPr algn="r" indent="0" marL="0">
              <a:buNone/>
            </a:pPr>
            <a:r>
              <a:rPr lang="en-US" sz="740" dirty="0">
                <a:solidFill>
                  <a:srgbClr val="2B9A66"/>
                </a:solidFill>
                <a:latin typeface="Calibri" pitchFamily="34" charset="0"/>
                <a:ea typeface="Calibri" pitchFamily="34" charset="-122"/>
                <a:cs typeface="Calibri" pitchFamily="34" charset="-120"/>
              </a:rPr>
              <a:t>85.2%</a:t>
            </a:r>
            <a:endParaRPr lang="en-US" sz="740" dirty="0"/>
          </a:p>
        </p:txBody>
      </p:sp>
      <p:sp>
        <p:nvSpPr>
          <p:cNvPr id="74" name="Text 70"/>
          <p:cNvSpPr/>
          <p:nvPr/>
        </p:nvSpPr>
        <p:spPr>
          <a:xfrm>
            <a:off x="265176" y="6821424"/>
            <a:ext cx="6327648" cy="274320"/>
          </a:xfrm>
          <a:prstGeom prst="rect">
            <a:avLst/>
          </a:prstGeom>
          <a:noFill/>
          <a:ln/>
        </p:spPr>
        <p:txBody>
          <a:bodyPr wrap="square" lIns="0" tIns="0" rIns="0" bIns="0" rtlCol="0" anchor="t"/>
          <a:lstStyle/>
          <a:p>
            <a:pPr indent="0" marL="0">
              <a:lnSpc>
                <a:spcPct val="94000"/>
              </a:lnSpc>
              <a:buNone/>
            </a:pPr>
            <a:r>
              <a:rPr lang="en-US" sz="680" dirty="0">
                <a:solidFill>
                  <a:srgbClr val="5F716E"/>
                </a:solidFill>
                <a:latin typeface="Calibri" pitchFamily="34" charset="0"/>
                <a:ea typeface="Calibri" pitchFamily="34" charset="-122"/>
                <a:cs typeface="Calibri" pitchFamily="34" charset="-120"/>
              </a:rPr>
              <a:t>Ranked by July load against each zone’s own Q1 run-rate. The order is monotonic: every zone that billed above its Q1 average lost conversion, every zone that billed below it gained. Assortment, pricing and execution do not move that cleanly.</a:t>
            </a:r>
            <a:endParaRPr lang="en-US" sz="680" dirty="0"/>
          </a:p>
        </p:txBody>
      </p:sp>
      <p:sp>
        <p:nvSpPr>
          <p:cNvPr id="75" name="Shape 71"/>
          <p:cNvSpPr/>
          <p:nvPr/>
        </p:nvSpPr>
        <p:spPr>
          <a:xfrm>
            <a:off x="265176" y="7205472"/>
            <a:ext cx="2036064" cy="1865376"/>
          </a:xfrm>
          <a:prstGeom prst="roundRect">
            <a:avLst>
              <a:gd name="adj" fmla="val 980"/>
            </a:avLst>
          </a:prstGeom>
          <a:solidFill>
            <a:srgbClr val="FFFFFF"/>
          </a:solidFill>
          <a:ln w="9525">
            <a:solidFill>
              <a:srgbClr val="C8DCD7"/>
            </a:solidFill>
            <a:prstDash val="solid"/>
          </a:ln>
        </p:spPr>
      </p:sp>
      <p:sp>
        <p:nvSpPr>
          <p:cNvPr id="76" name="Shape 72"/>
          <p:cNvSpPr/>
          <p:nvPr/>
        </p:nvSpPr>
        <p:spPr>
          <a:xfrm>
            <a:off x="265176" y="7205472"/>
            <a:ext cx="2036064" cy="274320"/>
          </a:xfrm>
          <a:prstGeom prst="rect">
            <a:avLst/>
          </a:prstGeom>
          <a:solidFill>
            <a:srgbClr val="D6544D"/>
          </a:solidFill>
          <a:ln/>
        </p:spPr>
      </p:sp>
      <p:sp>
        <p:nvSpPr>
          <p:cNvPr id="77" name="Text 73"/>
          <p:cNvSpPr/>
          <p:nvPr/>
        </p:nvSpPr>
        <p:spPr>
          <a:xfrm>
            <a:off x="347472" y="722376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WHAT THIS CHANGES</a:t>
            </a:r>
            <a:endParaRPr lang="en-US" sz="700" dirty="0"/>
          </a:p>
        </p:txBody>
      </p:sp>
      <p:sp>
        <p:nvSpPr>
          <p:cNvPr id="78" name="Text 74"/>
          <p:cNvSpPr/>
          <p:nvPr/>
        </p:nvSpPr>
        <p:spPr>
          <a:xfrm>
            <a:off x="356616" y="7571232"/>
            <a:ext cx="1853184" cy="310896"/>
          </a:xfrm>
          <a:prstGeom prst="rect">
            <a:avLst/>
          </a:prstGeom>
          <a:noFill/>
          <a:ln/>
        </p:spPr>
        <p:txBody>
          <a:bodyPr wrap="square" lIns="0" tIns="0" rIns="0" bIns="0" rtlCol="0" anchor="ctr"/>
          <a:lstStyle/>
          <a:p>
            <a:pPr algn="ctr" indent="0" marL="0">
              <a:buNone/>
            </a:pPr>
            <a:r>
              <a:rPr lang="en-US" sz="1200" b="1" dirty="0">
                <a:solidFill>
                  <a:srgbClr val="D6544D"/>
                </a:solidFill>
                <a:latin typeface="Calibri Light" pitchFamily="34" charset="0"/>
                <a:ea typeface="Calibri Light" pitchFamily="34" charset="-122"/>
                <a:cs typeface="Calibri Light" pitchFamily="34" charset="-120"/>
              </a:rPr>
              <a:t>East is not broken</a:t>
            </a:r>
            <a:endParaRPr lang="en-US" sz="1200" dirty="0"/>
          </a:p>
        </p:txBody>
      </p:sp>
      <p:sp>
        <p:nvSpPr>
          <p:cNvPr id="79" name="Shape 75"/>
          <p:cNvSpPr/>
          <p:nvPr/>
        </p:nvSpPr>
        <p:spPr>
          <a:xfrm>
            <a:off x="374904" y="8023860"/>
            <a:ext cx="50292" cy="50292"/>
          </a:xfrm>
          <a:prstGeom prst="ellipse">
            <a:avLst/>
          </a:prstGeom>
          <a:solidFill>
            <a:srgbClr val="D6544D"/>
          </a:solidFill>
          <a:ln/>
        </p:spPr>
      </p:sp>
      <p:sp>
        <p:nvSpPr>
          <p:cNvPr id="80" name="Text 76"/>
          <p:cNvSpPr/>
          <p:nvPr/>
        </p:nvSpPr>
        <p:spPr>
          <a:xfrm>
            <a:off x="493776" y="7973568"/>
            <a:ext cx="1697736" cy="365760"/>
          </a:xfrm>
          <a:prstGeom prst="rect">
            <a:avLst/>
          </a:prstGeom>
          <a:noFill/>
          <a:ln/>
        </p:spPr>
        <p:txBody>
          <a:bodyPr wrap="square" lIns="0" tIns="0" rIns="0" bIns="0" rtlCol="0" anchor="t"/>
          <a:lstStyle/>
          <a:p>
            <a:pPr indent="0" marL="0">
              <a:lnSpc>
                <a:spcPct val="92000"/>
              </a:lnSpc>
              <a:buNone/>
            </a:pPr>
            <a:r>
              <a:rPr lang="en-US" sz="700" b="1" dirty="0">
                <a:solidFill>
                  <a:srgbClr val="183B39"/>
                </a:solidFill>
                <a:latin typeface="Calibri" pitchFamily="34" charset="0"/>
                <a:ea typeface="Calibri" pitchFamily="34" charset="-122"/>
                <a:cs typeface="Calibri" pitchFamily="34" charset="-120"/>
              </a:rPr>
              <a:t>East converted at 89.7% across Q1 — second best in the country.</a:t>
            </a:r>
            <a:endParaRPr lang="en-US" sz="700" dirty="0"/>
          </a:p>
        </p:txBody>
      </p:sp>
      <p:sp>
        <p:nvSpPr>
          <p:cNvPr id="81" name="Shape 77"/>
          <p:cNvSpPr/>
          <p:nvPr/>
        </p:nvSpPr>
        <p:spPr>
          <a:xfrm>
            <a:off x="374904" y="8407908"/>
            <a:ext cx="50292" cy="50292"/>
          </a:xfrm>
          <a:prstGeom prst="ellipse">
            <a:avLst/>
          </a:prstGeom>
          <a:solidFill>
            <a:srgbClr val="D6544D"/>
          </a:solidFill>
          <a:ln/>
        </p:spPr>
      </p:sp>
      <p:sp>
        <p:nvSpPr>
          <p:cNvPr id="82" name="Text 78"/>
          <p:cNvSpPr/>
          <p:nvPr/>
        </p:nvSpPr>
        <p:spPr>
          <a:xfrm>
            <a:off x="493776" y="8357616"/>
            <a:ext cx="1697736" cy="365760"/>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Its July primary is 62.8% above its own Q1 monthly run-rate.</a:t>
            </a:r>
            <a:endParaRPr lang="en-US" sz="700" dirty="0"/>
          </a:p>
        </p:txBody>
      </p:sp>
      <p:sp>
        <p:nvSpPr>
          <p:cNvPr id="83" name="Shape 79"/>
          <p:cNvSpPr/>
          <p:nvPr/>
        </p:nvSpPr>
        <p:spPr>
          <a:xfrm>
            <a:off x="374904" y="8791956"/>
            <a:ext cx="50292" cy="50292"/>
          </a:xfrm>
          <a:prstGeom prst="ellipse">
            <a:avLst/>
          </a:prstGeom>
          <a:solidFill>
            <a:srgbClr val="D6544D"/>
          </a:solidFill>
          <a:ln/>
        </p:spPr>
      </p:sp>
      <p:sp>
        <p:nvSpPr>
          <p:cNvPr id="84" name="Text 80"/>
          <p:cNvSpPr/>
          <p:nvPr/>
        </p:nvSpPr>
        <p:spPr>
          <a:xfrm>
            <a:off x="493776" y="8741664"/>
            <a:ext cx="1697736" cy="365760"/>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A 49.9% read on a 63% load spike is arithmetic, not an execution failure.</a:t>
            </a:r>
            <a:endParaRPr lang="en-US" sz="700" dirty="0"/>
          </a:p>
        </p:txBody>
      </p:sp>
      <p:sp>
        <p:nvSpPr>
          <p:cNvPr id="85" name="Shape 81"/>
          <p:cNvSpPr/>
          <p:nvPr/>
        </p:nvSpPr>
        <p:spPr>
          <a:xfrm>
            <a:off x="2410968" y="7205472"/>
            <a:ext cx="2036064" cy="1865376"/>
          </a:xfrm>
          <a:prstGeom prst="roundRect">
            <a:avLst>
              <a:gd name="adj" fmla="val 980"/>
            </a:avLst>
          </a:prstGeom>
          <a:solidFill>
            <a:srgbClr val="FFFFFF"/>
          </a:solidFill>
          <a:ln w="9525">
            <a:solidFill>
              <a:srgbClr val="C8DCD7"/>
            </a:solidFill>
            <a:prstDash val="solid"/>
          </a:ln>
        </p:spPr>
      </p:sp>
      <p:sp>
        <p:nvSpPr>
          <p:cNvPr id="86" name="Shape 82"/>
          <p:cNvSpPr/>
          <p:nvPr/>
        </p:nvSpPr>
        <p:spPr>
          <a:xfrm>
            <a:off x="2410968" y="7205472"/>
            <a:ext cx="2036064" cy="274320"/>
          </a:xfrm>
          <a:prstGeom prst="rect">
            <a:avLst/>
          </a:prstGeom>
          <a:solidFill>
            <a:srgbClr val="F2B84B"/>
          </a:solidFill>
          <a:ln/>
        </p:spPr>
      </p:sp>
      <p:sp>
        <p:nvSpPr>
          <p:cNvPr id="87" name="Text 83"/>
          <p:cNvSpPr/>
          <p:nvPr/>
        </p:nvSpPr>
        <p:spPr>
          <a:xfrm>
            <a:off x="2493264" y="722376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WHAT STAYS TRUE</a:t>
            </a:r>
            <a:endParaRPr lang="en-US" sz="700" dirty="0"/>
          </a:p>
        </p:txBody>
      </p:sp>
      <p:sp>
        <p:nvSpPr>
          <p:cNvPr id="88" name="Text 84"/>
          <p:cNvSpPr/>
          <p:nvPr/>
        </p:nvSpPr>
        <p:spPr>
          <a:xfrm>
            <a:off x="2502408" y="7571232"/>
            <a:ext cx="1853184" cy="310896"/>
          </a:xfrm>
          <a:prstGeom prst="rect">
            <a:avLst/>
          </a:prstGeom>
          <a:noFill/>
          <a:ln/>
        </p:spPr>
        <p:txBody>
          <a:bodyPr wrap="square" lIns="0" tIns="0" rIns="0" bIns="0" rtlCol="0" anchor="ctr"/>
          <a:lstStyle/>
          <a:p>
            <a:pPr algn="ctr" indent="0" marL="0">
              <a:buNone/>
            </a:pPr>
            <a:r>
              <a:rPr lang="en-US" sz="1200" b="1" dirty="0">
                <a:solidFill>
                  <a:srgbClr val="F2B84B"/>
                </a:solidFill>
                <a:latin typeface="Calibri Light" pitchFamily="34" charset="0"/>
                <a:ea typeface="Calibri Light" pitchFamily="34" charset="-122"/>
                <a:cs typeface="Calibri Light" pitchFamily="34" charset="-120"/>
              </a:rPr>
              <a:t>The stock is real</a:t>
            </a:r>
            <a:endParaRPr lang="en-US" sz="1200" dirty="0"/>
          </a:p>
        </p:txBody>
      </p:sp>
      <p:sp>
        <p:nvSpPr>
          <p:cNvPr id="89" name="Shape 85"/>
          <p:cNvSpPr/>
          <p:nvPr/>
        </p:nvSpPr>
        <p:spPr>
          <a:xfrm>
            <a:off x="2520696" y="8023860"/>
            <a:ext cx="50292" cy="50292"/>
          </a:xfrm>
          <a:prstGeom prst="ellipse">
            <a:avLst/>
          </a:prstGeom>
          <a:solidFill>
            <a:srgbClr val="F2B84B"/>
          </a:solidFill>
          <a:ln/>
        </p:spPr>
      </p:sp>
      <p:sp>
        <p:nvSpPr>
          <p:cNvPr id="90" name="Text 86"/>
          <p:cNvSpPr/>
          <p:nvPr/>
        </p:nvSpPr>
        <p:spPr>
          <a:xfrm>
            <a:off x="2639568" y="7973568"/>
            <a:ext cx="1697736" cy="365760"/>
          </a:xfrm>
          <a:prstGeom prst="rect">
            <a:avLst/>
          </a:prstGeom>
          <a:noFill/>
          <a:ln/>
        </p:spPr>
        <p:txBody>
          <a:bodyPr wrap="square" lIns="0" tIns="0" rIns="0" bIns="0" rtlCol="0" anchor="t"/>
          <a:lstStyle/>
          <a:p>
            <a:pPr indent="0" marL="0">
              <a:lnSpc>
                <a:spcPct val="92000"/>
              </a:lnSpc>
              <a:buNone/>
            </a:pPr>
            <a:r>
              <a:rPr lang="en-US" sz="700" b="1" dirty="0">
                <a:solidFill>
                  <a:srgbClr val="183B39"/>
                </a:solidFill>
                <a:latin typeface="Calibri" pitchFamily="34" charset="0"/>
                <a:ea typeface="Calibri" pitchFamily="34" charset="-122"/>
                <a:cs typeface="Calibri" pitchFamily="34" charset="-120"/>
              </a:rPr>
              <a:t>₹13.06 Cr is billed and not yet sold through, whatever caused it.</a:t>
            </a:r>
            <a:endParaRPr lang="en-US" sz="700" dirty="0"/>
          </a:p>
        </p:txBody>
      </p:sp>
      <p:sp>
        <p:nvSpPr>
          <p:cNvPr id="91" name="Shape 87"/>
          <p:cNvSpPr/>
          <p:nvPr/>
        </p:nvSpPr>
        <p:spPr>
          <a:xfrm>
            <a:off x="2520696" y="8407908"/>
            <a:ext cx="50292" cy="50292"/>
          </a:xfrm>
          <a:prstGeom prst="ellipse">
            <a:avLst/>
          </a:prstGeom>
          <a:solidFill>
            <a:srgbClr val="F2B84B"/>
          </a:solidFill>
          <a:ln/>
        </p:spPr>
      </p:sp>
      <p:sp>
        <p:nvSpPr>
          <p:cNvPr id="92" name="Text 88"/>
          <p:cNvSpPr/>
          <p:nvPr/>
        </p:nvSpPr>
        <p:spPr>
          <a:xfrm>
            <a:off x="2639568" y="8357616"/>
            <a:ext cx="1697736" cy="365760"/>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It either sells in August or it suppresses the next order.</a:t>
            </a:r>
            <a:endParaRPr lang="en-US" sz="700" dirty="0"/>
          </a:p>
        </p:txBody>
      </p:sp>
      <p:sp>
        <p:nvSpPr>
          <p:cNvPr id="93" name="Shape 89"/>
          <p:cNvSpPr/>
          <p:nvPr/>
        </p:nvSpPr>
        <p:spPr>
          <a:xfrm>
            <a:off x="2520696" y="8791956"/>
            <a:ext cx="50292" cy="50292"/>
          </a:xfrm>
          <a:prstGeom prst="ellipse">
            <a:avLst/>
          </a:prstGeom>
          <a:solidFill>
            <a:srgbClr val="F2B84B"/>
          </a:solidFill>
          <a:ln/>
        </p:spPr>
      </p:sp>
      <p:sp>
        <p:nvSpPr>
          <p:cNvPr id="94" name="Text 90"/>
          <p:cNvSpPr/>
          <p:nvPr/>
        </p:nvSpPr>
        <p:spPr>
          <a:xfrm>
            <a:off x="2639568" y="8741664"/>
            <a:ext cx="1697736" cy="365760"/>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The ₹6.22 Cr benchmark gap stands as an August recovery target.</a:t>
            </a:r>
            <a:endParaRPr lang="en-US" sz="700" dirty="0"/>
          </a:p>
        </p:txBody>
      </p:sp>
      <p:sp>
        <p:nvSpPr>
          <p:cNvPr id="95" name="Shape 91"/>
          <p:cNvSpPr/>
          <p:nvPr/>
        </p:nvSpPr>
        <p:spPr>
          <a:xfrm>
            <a:off x="4556760" y="7205472"/>
            <a:ext cx="2036064" cy="1865376"/>
          </a:xfrm>
          <a:prstGeom prst="roundRect">
            <a:avLst>
              <a:gd name="adj" fmla="val 980"/>
            </a:avLst>
          </a:prstGeom>
          <a:solidFill>
            <a:srgbClr val="FFFFFF"/>
          </a:solidFill>
          <a:ln w="9525">
            <a:solidFill>
              <a:srgbClr val="C8DCD7"/>
            </a:solidFill>
            <a:prstDash val="solid"/>
          </a:ln>
        </p:spPr>
      </p:sp>
      <p:sp>
        <p:nvSpPr>
          <p:cNvPr id="96" name="Shape 92"/>
          <p:cNvSpPr/>
          <p:nvPr/>
        </p:nvSpPr>
        <p:spPr>
          <a:xfrm>
            <a:off x="4556760" y="7205472"/>
            <a:ext cx="2036064" cy="274320"/>
          </a:xfrm>
          <a:prstGeom prst="rect">
            <a:avLst/>
          </a:prstGeom>
          <a:solidFill>
            <a:srgbClr val="2B9A66"/>
          </a:solidFill>
          <a:ln/>
        </p:spPr>
      </p:sp>
      <p:sp>
        <p:nvSpPr>
          <p:cNvPr id="97" name="Text 93"/>
          <p:cNvSpPr/>
          <p:nvPr/>
        </p:nvSpPr>
        <p:spPr>
          <a:xfrm>
            <a:off x="4639056" y="722376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WHAT TO DO DIFFERENTLY</a:t>
            </a:r>
            <a:endParaRPr lang="en-US" sz="700" dirty="0"/>
          </a:p>
        </p:txBody>
      </p:sp>
      <p:sp>
        <p:nvSpPr>
          <p:cNvPr id="98" name="Text 94"/>
          <p:cNvSpPr/>
          <p:nvPr/>
        </p:nvSpPr>
        <p:spPr>
          <a:xfrm>
            <a:off x="4648200" y="7571232"/>
            <a:ext cx="1853184" cy="310896"/>
          </a:xfrm>
          <a:prstGeom prst="rect">
            <a:avLst/>
          </a:prstGeom>
          <a:noFill/>
          <a:ln/>
        </p:spPr>
        <p:txBody>
          <a:bodyPr wrap="square" lIns="0" tIns="0" rIns="0" bIns="0" rtlCol="0" anchor="ctr"/>
          <a:lstStyle/>
          <a:p>
            <a:pPr algn="ctr" indent="0" marL="0">
              <a:buNone/>
            </a:pPr>
            <a:r>
              <a:rPr lang="en-US" sz="1200" b="1" dirty="0">
                <a:solidFill>
                  <a:srgbClr val="2B9A66"/>
                </a:solidFill>
                <a:latin typeface="Calibri Light" pitchFamily="34" charset="0"/>
                <a:ea typeface="Calibri Light" pitchFamily="34" charset="-122"/>
                <a:cs typeface="Calibri Light" pitchFamily="34" charset="-120"/>
              </a:rPr>
              <a:t>Phase the quarter</a:t>
            </a:r>
            <a:endParaRPr lang="en-US" sz="1200" dirty="0"/>
          </a:p>
        </p:txBody>
      </p:sp>
      <p:sp>
        <p:nvSpPr>
          <p:cNvPr id="99" name="Shape 95"/>
          <p:cNvSpPr/>
          <p:nvPr/>
        </p:nvSpPr>
        <p:spPr>
          <a:xfrm>
            <a:off x="4666488" y="8023860"/>
            <a:ext cx="50292" cy="50292"/>
          </a:xfrm>
          <a:prstGeom prst="ellipse">
            <a:avLst/>
          </a:prstGeom>
          <a:solidFill>
            <a:srgbClr val="2B9A66"/>
          </a:solidFill>
          <a:ln/>
        </p:spPr>
      </p:sp>
      <p:sp>
        <p:nvSpPr>
          <p:cNvPr id="100" name="Text 96"/>
          <p:cNvSpPr/>
          <p:nvPr/>
        </p:nvSpPr>
        <p:spPr>
          <a:xfrm>
            <a:off x="4785360" y="7973568"/>
            <a:ext cx="1697736" cy="365760"/>
          </a:xfrm>
          <a:prstGeom prst="rect">
            <a:avLst/>
          </a:prstGeom>
          <a:noFill/>
          <a:ln/>
        </p:spPr>
        <p:txBody>
          <a:bodyPr wrap="square" lIns="0" tIns="0" rIns="0" bIns="0" rtlCol="0" anchor="t"/>
          <a:lstStyle/>
          <a:p>
            <a:pPr indent="0" marL="0">
              <a:lnSpc>
                <a:spcPct val="92000"/>
              </a:lnSpc>
              <a:buNone/>
            </a:pPr>
            <a:r>
              <a:rPr lang="en-US" sz="700" b="1" dirty="0">
                <a:solidFill>
                  <a:srgbClr val="183B39"/>
                </a:solidFill>
                <a:latin typeface="Calibri" pitchFamily="34" charset="0"/>
                <a:ea typeface="Calibri" pitchFamily="34" charset="-122"/>
                <a:cs typeface="Calibri" pitchFamily="34" charset="-120"/>
              </a:rPr>
              <a:t>Judge conversion on a rolling quarter, never on the opening month.</a:t>
            </a:r>
            <a:endParaRPr lang="en-US" sz="700" dirty="0"/>
          </a:p>
        </p:txBody>
      </p:sp>
      <p:sp>
        <p:nvSpPr>
          <p:cNvPr id="101" name="Shape 97"/>
          <p:cNvSpPr/>
          <p:nvPr/>
        </p:nvSpPr>
        <p:spPr>
          <a:xfrm>
            <a:off x="4666488" y="8407908"/>
            <a:ext cx="50292" cy="50292"/>
          </a:xfrm>
          <a:prstGeom prst="ellipse">
            <a:avLst/>
          </a:prstGeom>
          <a:solidFill>
            <a:srgbClr val="2B9A66"/>
          </a:solidFill>
          <a:ln/>
        </p:spPr>
      </p:sp>
      <p:sp>
        <p:nvSpPr>
          <p:cNvPr id="102" name="Text 98"/>
          <p:cNvSpPr/>
          <p:nvPr/>
        </p:nvSpPr>
        <p:spPr>
          <a:xfrm>
            <a:off x="4785360" y="8357616"/>
            <a:ext cx="1697736" cy="365760"/>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Cap month-1 primary at the trailing quarterly run-rate, by zone.</a:t>
            </a:r>
            <a:endParaRPr lang="en-US" sz="700" dirty="0"/>
          </a:p>
        </p:txBody>
      </p:sp>
      <p:sp>
        <p:nvSpPr>
          <p:cNvPr id="103" name="Shape 99"/>
          <p:cNvSpPr/>
          <p:nvPr/>
        </p:nvSpPr>
        <p:spPr>
          <a:xfrm>
            <a:off x="4666488" y="8791956"/>
            <a:ext cx="50292" cy="50292"/>
          </a:xfrm>
          <a:prstGeom prst="ellipse">
            <a:avLst/>
          </a:prstGeom>
          <a:solidFill>
            <a:srgbClr val="2B9A66"/>
          </a:solidFill>
          <a:ln/>
        </p:spPr>
      </p:sp>
      <p:sp>
        <p:nvSpPr>
          <p:cNvPr id="104" name="Text 100"/>
          <p:cNvSpPr/>
          <p:nvPr/>
        </p:nvSpPr>
        <p:spPr>
          <a:xfrm>
            <a:off x="4785360" y="8741664"/>
            <a:ext cx="1697736" cy="365760"/>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Re-read East and North in the August pack before funding any intervention.</a:t>
            </a:r>
            <a:endParaRPr lang="en-US" sz="700" dirty="0"/>
          </a:p>
        </p:txBody>
      </p:sp>
      <p:sp>
        <p:nvSpPr>
          <p:cNvPr id="105" name="Shape 101"/>
          <p:cNvSpPr/>
          <p:nvPr/>
        </p:nvSpPr>
        <p:spPr>
          <a:xfrm>
            <a:off x="265176" y="9217152"/>
            <a:ext cx="6327648" cy="603504"/>
          </a:xfrm>
          <a:prstGeom prst="roundRect">
            <a:avLst>
              <a:gd name="adj" fmla="val 4545"/>
            </a:avLst>
          </a:prstGeom>
          <a:solidFill>
            <a:srgbClr val="FBEDEC"/>
          </a:solidFill>
          <a:ln w="12700">
            <a:solidFill>
              <a:srgbClr val="D6544D"/>
            </a:solidFill>
            <a:prstDash val="solid"/>
          </a:ln>
        </p:spPr>
      </p:sp>
      <p:sp>
        <p:nvSpPr>
          <p:cNvPr id="106" name="Text 102"/>
          <p:cNvSpPr/>
          <p:nvPr/>
        </p:nvSpPr>
        <p:spPr>
          <a:xfrm>
            <a:off x="393192" y="9290304"/>
            <a:ext cx="6071616" cy="475488"/>
          </a:xfrm>
          <a:prstGeom prst="rect">
            <a:avLst/>
          </a:prstGeom>
          <a:noFill/>
          <a:ln/>
        </p:spPr>
        <p:txBody>
          <a:bodyPr wrap="square" lIns="0" tIns="0" rIns="0" bIns="0" rtlCol="0" anchor="t"/>
          <a:lstStyle/>
          <a:p>
            <a:pPr indent="0" marL="0">
              <a:lnSpc>
                <a:spcPct val="94000"/>
              </a:lnSpc>
              <a:buNone/>
            </a:pPr>
            <a:r>
              <a:rPr lang="en-US" sz="700" b="1" dirty="0">
                <a:solidFill>
                  <a:srgbClr val="D6544D"/>
                </a:solidFill>
                <a:latin typeface="Calibri" pitchFamily="34" charset="0"/>
                <a:ea typeface="Calibri" pitchFamily="34" charset="-122"/>
                <a:cs typeface="Calibri" pitchFamily="34" charset="-120"/>
              </a:rPr>
              <a:t>READ THE REST OF THIS PACK WITH THIS IN MIND   </a:t>
            </a:r>
            <a:pPr indent="0" marL="0">
              <a:lnSpc>
                <a:spcPct val="94000"/>
              </a:lnSpc>
              <a:buNone/>
            </a:pPr>
            <a:r>
              <a:rPr lang="en-US" sz="720" dirty="0">
                <a:solidFill>
                  <a:srgbClr val="183B39"/>
                </a:solidFill>
                <a:latin typeface="Calibri" pitchFamily="34" charset="0"/>
                <a:ea typeface="Calibri" pitchFamily="34" charset="-122"/>
                <a:cs typeface="Calibri" pitchFamily="34" charset="-120"/>
              </a:rPr>
              <a:t>The zone pages that follow report July on its own, because that is the month under review. Every July conversion figure in them is depressed by the quarter-opening load shown above. Use them to locate where the billed stock sits — not to rank zone capability. Q1 already did that, and it ranked North and East first.</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A"/>
        </a:solidFill>
      </p:bgPr>
    </p:bg>
    <p:spTree>
      <p:nvGrpSpPr>
        <p:cNvPr id="1" name=""/>
        <p:cNvGrpSpPr/>
        <p:nvPr/>
      </p:nvGrpSpPr>
      <p:grpSpPr>
        <a:xfrm>
          <a:off x="0" y="0"/>
          <a:ext cx="0" cy="0"/>
          <a:chOff x="0" y="0"/>
          <a:chExt cx="0" cy="0"/>
        </a:xfrm>
      </p:grpSpPr>
      <p:sp>
        <p:nvSpPr>
          <p:cNvPr id="2" name="Shape 0"/>
          <p:cNvSpPr/>
          <p:nvPr/>
        </p:nvSpPr>
        <p:spPr>
          <a:xfrm>
            <a:off x="0" y="0"/>
            <a:ext cx="6858000" cy="1133856"/>
          </a:xfrm>
          <a:prstGeom prst="rect">
            <a:avLst/>
          </a:prstGeom>
          <a:solidFill>
            <a:srgbClr val="116F68"/>
          </a:solidFill>
          <a:ln/>
        </p:spPr>
      </p:sp>
      <p:sp>
        <p:nvSpPr>
          <p:cNvPr id="3" name="Text 1"/>
          <p:cNvSpPr/>
          <p:nvPr/>
        </p:nvSpPr>
        <p:spPr>
          <a:xfrm>
            <a:off x="365760" y="182880"/>
            <a:ext cx="5641848" cy="548640"/>
          </a:xfrm>
          <a:prstGeom prst="rect">
            <a:avLst/>
          </a:prstGeom>
          <a:noFill/>
          <a:ln/>
        </p:spPr>
        <p:txBody>
          <a:bodyPr wrap="square" lIns="0" tIns="0" rIns="0" bIns="0" rtlCol="0" anchor="ctr"/>
          <a:lstStyle/>
          <a:p>
            <a:pPr indent="0" marL="0">
              <a:lnSpc>
                <a:spcPct val="92000"/>
              </a:lnSpc>
              <a:buNone/>
            </a:pPr>
            <a:r>
              <a:rPr lang="en-US" sz="1450" b="1" dirty="0">
                <a:solidFill>
                  <a:srgbClr val="FFFFFF"/>
                </a:solidFill>
                <a:latin typeface="Calibri Light" pitchFamily="34" charset="0"/>
                <a:ea typeface="Calibri Light" pitchFamily="34" charset="-122"/>
                <a:cs typeface="Calibri Light" pitchFamily="34" charset="-120"/>
              </a:rPr>
              <a:t>Convert reporting into a State × Chain × SKU growth engine</a:t>
            </a:r>
            <a:endParaRPr lang="en-US" sz="1450" dirty="0"/>
          </a:p>
        </p:txBody>
      </p:sp>
      <p:sp>
        <p:nvSpPr>
          <p:cNvPr id="4" name="Text 2"/>
          <p:cNvSpPr/>
          <p:nvPr/>
        </p:nvSpPr>
        <p:spPr>
          <a:xfrm>
            <a:off x="384048" y="786384"/>
            <a:ext cx="5641848" cy="237744"/>
          </a:xfrm>
          <a:prstGeom prst="rect">
            <a:avLst/>
          </a:prstGeom>
          <a:noFill/>
          <a:ln/>
        </p:spPr>
        <p:txBody>
          <a:bodyPr wrap="square" lIns="0" tIns="0" rIns="0" bIns="0" rtlCol="0" anchor="ctr"/>
          <a:lstStyle/>
          <a:p>
            <a:pPr indent="0" marL="0">
              <a:buNone/>
            </a:pPr>
            <a:r>
              <a:rPr lang="en-US" sz="850" dirty="0">
                <a:solidFill>
                  <a:srgbClr val="BFDCD7"/>
                </a:solidFill>
                <a:latin typeface="Calibri" pitchFamily="34" charset="0"/>
                <a:ea typeface="Calibri" pitchFamily="34" charset="-122"/>
                <a:cs typeface="Calibri" pitchFamily="34" charset="-120"/>
              </a:rPr>
              <a:t>Decision framework | measures in force now, and the fields still to be reconciled</a:t>
            </a:r>
            <a:endParaRPr lang="en-US" sz="850" dirty="0"/>
          </a:p>
        </p:txBody>
      </p:sp>
      <p:sp>
        <p:nvSpPr>
          <p:cNvPr id="5" name="Text 3"/>
          <p:cNvSpPr/>
          <p:nvPr/>
        </p:nvSpPr>
        <p:spPr>
          <a:xfrm>
            <a:off x="6117336" y="365760"/>
            <a:ext cx="402336" cy="237744"/>
          </a:xfrm>
          <a:prstGeom prst="rect">
            <a:avLst/>
          </a:prstGeom>
          <a:noFill/>
          <a:ln/>
        </p:spPr>
        <p:txBody>
          <a:bodyPr wrap="square" lIns="0" tIns="0" rIns="0" bIns="0" rtlCol="0" anchor="t"/>
          <a:lstStyle/>
          <a:p>
            <a:pPr algn="r" indent="0" marL="0">
              <a:buNone/>
            </a:pPr>
            <a:r>
              <a:rPr lang="en-US" sz="950" b="1" dirty="0">
                <a:solidFill>
                  <a:srgbClr val="8FC4BD"/>
                </a:solidFill>
                <a:latin typeface="Calibri" pitchFamily="34" charset="0"/>
                <a:ea typeface="Calibri" pitchFamily="34" charset="-122"/>
                <a:cs typeface="Calibri" pitchFamily="34" charset="-120"/>
              </a:rPr>
              <a:t>04</a:t>
            </a:r>
            <a:endParaRPr lang="en-US" sz="950" dirty="0"/>
          </a:p>
        </p:txBody>
      </p:sp>
      <p:sp>
        <p:nvSpPr>
          <p:cNvPr id="6" name="Shape 4"/>
          <p:cNvSpPr/>
          <p:nvPr/>
        </p:nvSpPr>
        <p:spPr>
          <a:xfrm>
            <a:off x="265176" y="11375136"/>
            <a:ext cx="6327648" cy="420624"/>
          </a:xfrm>
          <a:prstGeom prst="roundRect">
            <a:avLst>
              <a:gd name="adj" fmla="val 6522"/>
            </a:avLst>
          </a:prstGeom>
          <a:solidFill>
            <a:srgbClr val="DFF2ED"/>
          </a:solidFill>
          <a:ln w="9525">
            <a:solidFill>
              <a:srgbClr val="C8DCD7"/>
            </a:solidFill>
            <a:prstDash val="solid"/>
          </a:ln>
        </p:spPr>
      </p:sp>
      <p:sp>
        <p:nvSpPr>
          <p:cNvPr id="7" name="Text 5"/>
          <p:cNvSpPr/>
          <p:nvPr/>
        </p:nvSpPr>
        <p:spPr>
          <a:xfrm>
            <a:off x="374904"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EVIDENCE</a:t>
            </a:r>
            <a:endParaRPr lang="en-US" sz="650" dirty="0"/>
          </a:p>
        </p:txBody>
      </p:sp>
      <p:sp>
        <p:nvSpPr>
          <p:cNvPr id="8" name="Text 6"/>
          <p:cNvSpPr/>
          <p:nvPr/>
        </p:nvSpPr>
        <p:spPr>
          <a:xfrm>
            <a:off x="374904"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moved</a:t>
            </a:r>
            <a:endParaRPr lang="en-US" sz="700" dirty="0"/>
          </a:p>
        </p:txBody>
      </p:sp>
      <p:sp>
        <p:nvSpPr>
          <p:cNvPr id="9" name="Text 7"/>
          <p:cNvSpPr/>
          <p:nvPr/>
        </p:nvSpPr>
        <p:spPr>
          <a:xfrm>
            <a:off x="1901952"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IMPLICATION</a:t>
            </a:r>
            <a:endParaRPr lang="en-US" sz="650" dirty="0"/>
          </a:p>
        </p:txBody>
      </p:sp>
      <p:sp>
        <p:nvSpPr>
          <p:cNvPr id="10" name="Text 8"/>
          <p:cNvSpPr/>
          <p:nvPr/>
        </p:nvSpPr>
        <p:spPr>
          <a:xfrm>
            <a:off x="1901952"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Why it matters</a:t>
            </a:r>
            <a:endParaRPr lang="en-US" sz="700" dirty="0"/>
          </a:p>
        </p:txBody>
      </p:sp>
      <p:sp>
        <p:nvSpPr>
          <p:cNvPr id="11" name="Shape 9"/>
          <p:cNvSpPr/>
          <p:nvPr/>
        </p:nvSpPr>
        <p:spPr>
          <a:xfrm>
            <a:off x="1819656" y="11457432"/>
            <a:ext cx="0" cy="265176"/>
          </a:xfrm>
          <a:prstGeom prst="line">
            <a:avLst/>
          </a:prstGeom>
          <a:noFill/>
          <a:ln w="9525">
            <a:solidFill>
              <a:srgbClr val="C8DCD7"/>
            </a:solidFill>
            <a:prstDash val="solid"/>
          </a:ln>
        </p:spPr>
      </p:sp>
      <p:sp>
        <p:nvSpPr>
          <p:cNvPr id="12" name="Text 10"/>
          <p:cNvSpPr/>
          <p:nvPr/>
        </p:nvSpPr>
        <p:spPr>
          <a:xfrm>
            <a:off x="3429000"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ACTION</a:t>
            </a:r>
            <a:endParaRPr lang="en-US" sz="650" dirty="0"/>
          </a:p>
        </p:txBody>
      </p:sp>
      <p:sp>
        <p:nvSpPr>
          <p:cNvPr id="13" name="Text 11"/>
          <p:cNvSpPr/>
          <p:nvPr/>
        </p:nvSpPr>
        <p:spPr>
          <a:xfrm>
            <a:off x="3429000"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changes now</a:t>
            </a:r>
            <a:endParaRPr lang="en-US" sz="700" dirty="0"/>
          </a:p>
        </p:txBody>
      </p:sp>
      <p:sp>
        <p:nvSpPr>
          <p:cNvPr id="14" name="Shape 12"/>
          <p:cNvSpPr/>
          <p:nvPr/>
        </p:nvSpPr>
        <p:spPr>
          <a:xfrm>
            <a:off x="3346704" y="11457432"/>
            <a:ext cx="0" cy="265176"/>
          </a:xfrm>
          <a:prstGeom prst="line">
            <a:avLst/>
          </a:prstGeom>
          <a:noFill/>
          <a:ln w="9525">
            <a:solidFill>
              <a:srgbClr val="C8DCD7"/>
            </a:solidFill>
            <a:prstDash val="solid"/>
          </a:ln>
        </p:spPr>
      </p:sp>
      <p:sp>
        <p:nvSpPr>
          <p:cNvPr id="15" name="Text 13"/>
          <p:cNvSpPr/>
          <p:nvPr/>
        </p:nvSpPr>
        <p:spPr>
          <a:xfrm>
            <a:off x="4956048"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OWNER</a:t>
            </a:r>
            <a:endParaRPr lang="en-US" sz="650" dirty="0"/>
          </a:p>
        </p:txBody>
      </p:sp>
      <p:sp>
        <p:nvSpPr>
          <p:cNvPr id="16" name="Text 14"/>
          <p:cNvSpPr/>
          <p:nvPr/>
        </p:nvSpPr>
        <p:spPr>
          <a:xfrm>
            <a:off x="4956048"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Who closes it</a:t>
            </a:r>
            <a:endParaRPr lang="en-US" sz="700" dirty="0"/>
          </a:p>
        </p:txBody>
      </p:sp>
      <p:sp>
        <p:nvSpPr>
          <p:cNvPr id="17" name="Shape 15"/>
          <p:cNvSpPr/>
          <p:nvPr/>
        </p:nvSpPr>
        <p:spPr>
          <a:xfrm>
            <a:off x="4873752" y="11457432"/>
            <a:ext cx="0" cy="265176"/>
          </a:xfrm>
          <a:prstGeom prst="line">
            <a:avLst/>
          </a:prstGeom>
          <a:noFill/>
          <a:ln w="9525">
            <a:solidFill>
              <a:srgbClr val="C8DCD7"/>
            </a:solidFill>
            <a:prstDash val="solid"/>
          </a:ln>
        </p:spPr>
      </p:sp>
      <p:sp>
        <p:nvSpPr>
          <p:cNvPr id="18" name="Text 16"/>
          <p:cNvSpPr/>
          <p:nvPr/>
        </p:nvSpPr>
        <p:spPr>
          <a:xfrm>
            <a:off x="301752" y="11887200"/>
            <a:ext cx="6254496" cy="201168"/>
          </a:xfrm>
          <a:prstGeom prst="rect">
            <a:avLst/>
          </a:prstGeom>
          <a:noFill/>
          <a:ln/>
        </p:spPr>
        <p:txBody>
          <a:bodyPr wrap="square" lIns="0" tIns="0" rIns="0" bIns="0" rtlCol="0" anchor="t"/>
          <a:lstStyle/>
          <a:p>
            <a:pPr algn="ctr" indent="0" marL="0">
              <a:buNone/>
            </a:pPr>
            <a:r>
              <a:rPr lang="en-US" sz="650" dirty="0">
                <a:solidFill>
                  <a:srgbClr val="5F716E"/>
                </a:solidFill>
                <a:latin typeface="Calibri" pitchFamily="34" charset="0"/>
                <a:ea typeface="Calibri" pitchFamily="34" charset="-122"/>
                <a:cs typeface="Calibri" pitchFamily="34" charset="-120"/>
              </a:rPr>
              <a:t>July Compiled Offtake (Sheet1) · July'26 primary and distributor secondary · values in ₹ Cr · Zone performance represents Modern Trade accounts only. eB2B and SIS channels are excluded from MT zone sales and reported separately.</a:t>
            </a:r>
            <a:endParaRPr lang="en-US" sz="650" dirty="0"/>
          </a:p>
        </p:txBody>
      </p:sp>
      <p:sp>
        <p:nvSpPr>
          <p:cNvPr id="19" name="Shape 17"/>
          <p:cNvSpPr/>
          <p:nvPr/>
        </p:nvSpPr>
        <p:spPr>
          <a:xfrm>
            <a:off x="265176" y="1261872"/>
            <a:ext cx="6327648" cy="841248"/>
          </a:xfrm>
          <a:prstGeom prst="roundRect">
            <a:avLst>
              <a:gd name="adj" fmla="val 3261"/>
            </a:avLst>
          </a:prstGeom>
          <a:solidFill>
            <a:srgbClr val="DFF2ED"/>
          </a:solidFill>
          <a:ln w="12700">
            <a:solidFill>
              <a:srgbClr val="28A596"/>
            </a:solidFill>
            <a:prstDash val="solid"/>
          </a:ln>
        </p:spPr>
      </p:sp>
      <p:sp>
        <p:nvSpPr>
          <p:cNvPr id="20" name="Text 18"/>
          <p:cNvSpPr/>
          <p:nvPr/>
        </p:nvSpPr>
        <p:spPr>
          <a:xfrm>
            <a:off x="429768" y="1371600"/>
            <a:ext cx="5998464" cy="329184"/>
          </a:xfrm>
          <a:prstGeom prst="rect">
            <a:avLst/>
          </a:prstGeom>
          <a:noFill/>
          <a:ln/>
        </p:spPr>
        <p:txBody>
          <a:bodyPr wrap="square" lIns="0" tIns="0" rIns="0" bIns="0" rtlCol="0" anchor="ctr"/>
          <a:lstStyle/>
          <a:p>
            <a:pPr algn="ctr" indent="0" marL="0">
              <a:buNone/>
            </a:pPr>
            <a:r>
              <a:rPr lang="en-US" sz="1050" b="1" dirty="0">
                <a:solidFill>
                  <a:srgbClr val="116F68"/>
                </a:solidFill>
                <a:latin typeface="Calibri Light" pitchFamily="34" charset="0"/>
                <a:ea typeface="Calibri Light" pitchFamily="34" charset="-122"/>
                <a:cs typeface="Calibri Light" pitchFamily="34" charset="-120"/>
              </a:rPr>
              <a:t>The decision is not "push more primary" — it is "find proven demand constrained by execution."</a:t>
            </a:r>
            <a:endParaRPr lang="en-US" sz="1050" dirty="0"/>
          </a:p>
        </p:txBody>
      </p:sp>
      <p:sp>
        <p:nvSpPr>
          <p:cNvPr id="21" name="Text 19"/>
          <p:cNvSpPr/>
          <p:nvPr/>
        </p:nvSpPr>
        <p:spPr>
          <a:xfrm>
            <a:off x="484632" y="1737360"/>
            <a:ext cx="5888736" cy="274320"/>
          </a:xfrm>
          <a:prstGeom prst="rect">
            <a:avLst/>
          </a:prstGeom>
          <a:noFill/>
          <a:ln/>
        </p:spPr>
        <p:txBody>
          <a:bodyPr wrap="square" lIns="0" tIns="0" rIns="0" bIns="0" rtlCol="0" anchor="t"/>
          <a:lstStyle/>
          <a:p>
            <a:pPr algn="ctr" indent="0" marL="0">
              <a:lnSpc>
                <a:spcPct val="94000"/>
              </a:lnSpc>
              <a:buNone/>
            </a:pPr>
            <a:r>
              <a:rPr lang="en-US" sz="720" dirty="0">
                <a:solidFill>
                  <a:srgbClr val="5F716E"/>
                </a:solidFill>
                <a:latin typeface="Calibri" pitchFamily="34" charset="0"/>
                <a:ea typeface="Calibri" pitchFamily="34" charset="-122"/>
                <a:cs typeface="Calibri" pitchFamily="34" charset="-120"/>
              </a:rPr>
              <a:t>Six rules below are live on July data. SAH, PDO, OOS and stock fields join only after reconciliation — they are named as gaps, not quoted as findings.</a:t>
            </a:r>
            <a:endParaRPr lang="en-US" sz="720" dirty="0"/>
          </a:p>
        </p:txBody>
      </p:sp>
      <p:sp>
        <p:nvSpPr>
          <p:cNvPr id="22" name="Shape 20"/>
          <p:cNvSpPr/>
          <p:nvPr/>
        </p:nvSpPr>
        <p:spPr>
          <a:xfrm>
            <a:off x="265176" y="2231136"/>
            <a:ext cx="2017776" cy="2432304"/>
          </a:xfrm>
          <a:prstGeom prst="roundRect">
            <a:avLst>
              <a:gd name="adj" fmla="val 906"/>
            </a:avLst>
          </a:prstGeom>
          <a:solidFill>
            <a:srgbClr val="FFFFFF"/>
          </a:solidFill>
          <a:ln w="9525">
            <a:solidFill>
              <a:srgbClr val="C8DCD7"/>
            </a:solidFill>
            <a:prstDash val="solid"/>
          </a:ln>
        </p:spPr>
      </p:sp>
      <p:sp>
        <p:nvSpPr>
          <p:cNvPr id="23" name="Shape 21"/>
          <p:cNvSpPr/>
          <p:nvPr/>
        </p:nvSpPr>
        <p:spPr>
          <a:xfrm>
            <a:off x="265176" y="2231136"/>
            <a:ext cx="2017776" cy="274320"/>
          </a:xfrm>
          <a:prstGeom prst="rect">
            <a:avLst/>
          </a:prstGeom>
          <a:solidFill>
            <a:srgbClr val="116F68"/>
          </a:solidFill>
          <a:ln/>
        </p:spPr>
      </p:sp>
      <p:sp>
        <p:nvSpPr>
          <p:cNvPr id="24" name="Text 22"/>
          <p:cNvSpPr/>
          <p:nvPr/>
        </p:nvSpPr>
        <p:spPr>
          <a:xfrm>
            <a:off x="347472" y="2249424"/>
            <a:ext cx="1853184"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THE ONE METRIC</a:t>
            </a:r>
            <a:endParaRPr lang="en-US" sz="700" dirty="0"/>
          </a:p>
        </p:txBody>
      </p:sp>
      <p:sp>
        <p:nvSpPr>
          <p:cNvPr id="25" name="Text 23"/>
          <p:cNvSpPr/>
          <p:nvPr/>
        </p:nvSpPr>
        <p:spPr>
          <a:xfrm>
            <a:off x="356616" y="2596896"/>
            <a:ext cx="1834896" cy="310896"/>
          </a:xfrm>
          <a:prstGeom prst="rect">
            <a:avLst/>
          </a:prstGeom>
          <a:noFill/>
          <a:ln/>
        </p:spPr>
        <p:txBody>
          <a:bodyPr wrap="square" lIns="0" tIns="0" rIns="0" bIns="0" rtlCol="0" anchor="ctr"/>
          <a:lstStyle/>
          <a:p>
            <a:pPr algn="ctr" indent="0" marL="0">
              <a:buNone/>
            </a:pPr>
            <a:r>
              <a:rPr lang="en-US" sz="1150" b="1" dirty="0">
                <a:solidFill>
                  <a:srgbClr val="116F68"/>
                </a:solidFill>
                <a:latin typeface="Calibri Light" pitchFamily="34" charset="0"/>
                <a:ea typeface="Calibri Light" pitchFamily="34" charset="-122"/>
                <a:cs typeface="Calibri Light" pitchFamily="34" charset="-120"/>
              </a:rPr>
              <a:t>Flow conversion</a:t>
            </a:r>
            <a:endParaRPr lang="en-US" sz="1150" dirty="0"/>
          </a:p>
        </p:txBody>
      </p:sp>
      <p:sp>
        <p:nvSpPr>
          <p:cNvPr id="26" name="Shape 24"/>
          <p:cNvSpPr/>
          <p:nvPr/>
        </p:nvSpPr>
        <p:spPr>
          <a:xfrm>
            <a:off x="374904" y="3031236"/>
            <a:ext cx="50292" cy="50292"/>
          </a:xfrm>
          <a:prstGeom prst="ellipse">
            <a:avLst/>
          </a:prstGeom>
          <a:solidFill>
            <a:srgbClr val="116F68"/>
          </a:solidFill>
          <a:ln/>
        </p:spPr>
      </p:sp>
      <p:sp>
        <p:nvSpPr>
          <p:cNvPr id="27" name="Text 25"/>
          <p:cNvSpPr/>
          <p:nvPr/>
        </p:nvSpPr>
        <p:spPr>
          <a:xfrm>
            <a:off x="493776" y="2980944"/>
            <a:ext cx="1679448" cy="347472"/>
          </a:xfrm>
          <a:prstGeom prst="rect">
            <a:avLst/>
          </a:prstGeom>
          <a:noFill/>
          <a:ln/>
        </p:spPr>
        <p:txBody>
          <a:bodyPr wrap="square" lIns="0" tIns="0" rIns="0" bIns="0" rtlCol="0" anchor="t"/>
          <a:lstStyle/>
          <a:p>
            <a:pPr indent="0" marL="0">
              <a:lnSpc>
                <a:spcPct val="92000"/>
              </a:lnSpc>
              <a:buNone/>
            </a:pPr>
            <a:r>
              <a:rPr lang="en-US" sz="690" b="1" dirty="0">
                <a:solidFill>
                  <a:srgbClr val="183B39"/>
                </a:solidFill>
                <a:latin typeface="Calibri" pitchFamily="34" charset="0"/>
                <a:ea typeface="Calibri" pitchFamily="34" charset="-122"/>
                <a:cs typeface="Calibri" pitchFamily="34" charset="-120"/>
              </a:rPr>
              <a:t>Offtake ÷ primary on comparable mapped cuts.</a:t>
            </a:r>
            <a:endParaRPr lang="en-US" sz="690" dirty="0"/>
          </a:p>
        </p:txBody>
      </p:sp>
      <p:sp>
        <p:nvSpPr>
          <p:cNvPr id="28" name="Shape 26"/>
          <p:cNvSpPr/>
          <p:nvPr/>
        </p:nvSpPr>
        <p:spPr>
          <a:xfrm>
            <a:off x="374904" y="3396996"/>
            <a:ext cx="50292" cy="50292"/>
          </a:xfrm>
          <a:prstGeom prst="ellipse">
            <a:avLst/>
          </a:prstGeom>
          <a:solidFill>
            <a:srgbClr val="116F68"/>
          </a:solidFill>
          <a:ln/>
        </p:spPr>
      </p:sp>
      <p:sp>
        <p:nvSpPr>
          <p:cNvPr id="29" name="Text 27"/>
          <p:cNvSpPr/>
          <p:nvPr/>
        </p:nvSpPr>
        <p:spPr>
          <a:xfrm>
            <a:off x="493776" y="3346704"/>
            <a:ext cx="1679448"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Every other KPI is supporting, not equal.</a:t>
            </a:r>
            <a:endParaRPr lang="en-US" sz="690" dirty="0"/>
          </a:p>
        </p:txBody>
      </p:sp>
      <p:sp>
        <p:nvSpPr>
          <p:cNvPr id="30" name="Shape 28"/>
          <p:cNvSpPr/>
          <p:nvPr/>
        </p:nvSpPr>
        <p:spPr>
          <a:xfrm>
            <a:off x="374904" y="3762756"/>
            <a:ext cx="50292" cy="50292"/>
          </a:xfrm>
          <a:prstGeom prst="ellipse">
            <a:avLst/>
          </a:prstGeom>
          <a:solidFill>
            <a:srgbClr val="116F68"/>
          </a:solidFill>
          <a:ln/>
        </p:spPr>
      </p:sp>
      <p:sp>
        <p:nvSpPr>
          <p:cNvPr id="31" name="Text 29"/>
          <p:cNvSpPr/>
          <p:nvPr/>
        </p:nvSpPr>
        <p:spPr>
          <a:xfrm>
            <a:off x="493776" y="3712464"/>
            <a:ext cx="1679448"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Target: 73.4% → above 85% this quarter.</a:t>
            </a:r>
            <a:endParaRPr lang="en-US" sz="690" dirty="0"/>
          </a:p>
        </p:txBody>
      </p:sp>
      <p:sp>
        <p:nvSpPr>
          <p:cNvPr id="32" name="Shape 30"/>
          <p:cNvSpPr/>
          <p:nvPr/>
        </p:nvSpPr>
        <p:spPr>
          <a:xfrm>
            <a:off x="374904" y="4128516"/>
            <a:ext cx="50292" cy="50292"/>
          </a:xfrm>
          <a:prstGeom prst="ellipse">
            <a:avLst/>
          </a:prstGeom>
          <a:solidFill>
            <a:srgbClr val="116F68"/>
          </a:solidFill>
          <a:ln/>
        </p:spPr>
      </p:sp>
      <p:sp>
        <p:nvSpPr>
          <p:cNvPr id="33" name="Text 31"/>
          <p:cNvSpPr/>
          <p:nvPr/>
        </p:nvSpPr>
        <p:spPr>
          <a:xfrm>
            <a:off x="493776" y="4078224"/>
            <a:ext cx="1679448"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Read it by zone and chain — never as a national average alone.</a:t>
            </a:r>
            <a:endParaRPr lang="en-US" sz="690" dirty="0"/>
          </a:p>
        </p:txBody>
      </p:sp>
      <p:sp>
        <p:nvSpPr>
          <p:cNvPr id="34" name="Shape 32"/>
          <p:cNvSpPr/>
          <p:nvPr/>
        </p:nvSpPr>
        <p:spPr>
          <a:xfrm>
            <a:off x="2420112" y="2231136"/>
            <a:ext cx="2017776" cy="2432304"/>
          </a:xfrm>
          <a:prstGeom prst="roundRect">
            <a:avLst>
              <a:gd name="adj" fmla="val 906"/>
            </a:avLst>
          </a:prstGeom>
          <a:solidFill>
            <a:srgbClr val="FFFFFF"/>
          </a:solidFill>
          <a:ln w="9525">
            <a:solidFill>
              <a:srgbClr val="C8DCD7"/>
            </a:solidFill>
            <a:prstDash val="solid"/>
          </a:ln>
        </p:spPr>
      </p:sp>
      <p:sp>
        <p:nvSpPr>
          <p:cNvPr id="35" name="Shape 33"/>
          <p:cNvSpPr/>
          <p:nvPr/>
        </p:nvSpPr>
        <p:spPr>
          <a:xfrm>
            <a:off x="2420112" y="2231136"/>
            <a:ext cx="2017776" cy="274320"/>
          </a:xfrm>
          <a:prstGeom prst="rect">
            <a:avLst/>
          </a:prstGeom>
          <a:solidFill>
            <a:srgbClr val="F2B84B"/>
          </a:solidFill>
          <a:ln/>
        </p:spPr>
      </p:sp>
      <p:sp>
        <p:nvSpPr>
          <p:cNvPr id="36" name="Text 34"/>
          <p:cNvSpPr/>
          <p:nvPr/>
        </p:nvSpPr>
        <p:spPr>
          <a:xfrm>
            <a:off x="2502408" y="2249424"/>
            <a:ext cx="1853184"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MATERIALITY FLOOR</a:t>
            </a:r>
            <a:endParaRPr lang="en-US" sz="700" dirty="0"/>
          </a:p>
        </p:txBody>
      </p:sp>
      <p:sp>
        <p:nvSpPr>
          <p:cNvPr id="37" name="Text 35"/>
          <p:cNvSpPr/>
          <p:nvPr/>
        </p:nvSpPr>
        <p:spPr>
          <a:xfrm>
            <a:off x="2511552" y="2596896"/>
            <a:ext cx="1834896" cy="310896"/>
          </a:xfrm>
          <a:prstGeom prst="rect">
            <a:avLst/>
          </a:prstGeom>
          <a:noFill/>
          <a:ln/>
        </p:spPr>
        <p:txBody>
          <a:bodyPr wrap="square" lIns="0" tIns="0" rIns="0" bIns="0" rtlCol="0" anchor="ctr"/>
          <a:lstStyle/>
          <a:p>
            <a:pPr algn="ctr" indent="0" marL="0">
              <a:buNone/>
            </a:pPr>
            <a:r>
              <a:rPr lang="en-US" sz="1150" b="1" dirty="0">
                <a:solidFill>
                  <a:srgbClr val="F2B84B"/>
                </a:solidFill>
                <a:latin typeface="Calibri Light" pitchFamily="34" charset="0"/>
                <a:ea typeface="Calibri Light" pitchFamily="34" charset="-122"/>
                <a:cs typeface="Calibri Light" pitchFamily="34" charset="-120"/>
              </a:rPr>
              <a:t>₹0.25 Cr</a:t>
            </a:r>
            <a:endParaRPr lang="en-US" sz="1150" dirty="0"/>
          </a:p>
        </p:txBody>
      </p:sp>
      <p:sp>
        <p:nvSpPr>
          <p:cNvPr id="38" name="Shape 36"/>
          <p:cNvSpPr/>
          <p:nvPr/>
        </p:nvSpPr>
        <p:spPr>
          <a:xfrm>
            <a:off x="2529840" y="3031236"/>
            <a:ext cx="50292" cy="50292"/>
          </a:xfrm>
          <a:prstGeom prst="ellipse">
            <a:avLst/>
          </a:prstGeom>
          <a:solidFill>
            <a:srgbClr val="F2B84B"/>
          </a:solidFill>
          <a:ln/>
        </p:spPr>
      </p:sp>
      <p:sp>
        <p:nvSpPr>
          <p:cNvPr id="39" name="Text 37"/>
          <p:cNvSpPr/>
          <p:nvPr/>
        </p:nvSpPr>
        <p:spPr>
          <a:xfrm>
            <a:off x="2648712" y="2980944"/>
            <a:ext cx="1679448" cy="347472"/>
          </a:xfrm>
          <a:prstGeom prst="rect">
            <a:avLst/>
          </a:prstGeom>
          <a:noFill/>
          <a:ln/>
        </p:spPr>
        <p:txBody>
          <a:bodyPr wrap="square" lIns="0" tIns="0" rIns="0" bIns="0" rtlCol="0" anchor="t"/>
          <a:lstStyle/>
          <a:p>
            <a:pPr indent="0" marL="0">
              <a:lnSpc>
                <a:spcPct val="92000"/>
              </a:lnSpc>
              <a:buNone/>
            </a:pPr>
            <a:r>
              <a:rPr lang="en-US" sz="690" b="1" dirty="0">
                <a:solidFill>
                  <a:srgbClr val="183B39"/>
                </a:solidFill>
                <a:latin typeface="Calibri" pitchFamily="34" charset="0"/>
                <a:ea typeface="Calibri" pitchFamily="34" charset="-122"/>
                <a:cs typeface="Calibri" pitchFamily="34" charset="-120"/>
              </a:rPr>
              <a:t>No growth % is shown, ranked or coloured below this base.</a:t>
            </a:r>
            <a:endParaRPr lang="en-US" sz="690" dirty="0"/>
          </a:p>
        </p:txBody>
      </p:sp>
      <p:sp>
        <p:nvSpPr>
          <p:cNvPr id="40" name="Shape 38"/>
          <p:cNvSpPr/>
          <p:nvPr/>
        </p:nvSpPr>
        <p:spPr>
          <a:xfrm>
            <a:off x="2529840" y="3396996"/>
            <a:ext cx="50292" cy="50292"/>
          </a:xfrm>
          <a:prstGeom prst="ellipse">
            <a:avLst/>
          </a:prstGeom>
          <a:solidFill>
            <a:srgbClr val="F2B84B"/>
          </a:solidFill>
          <a:ln/>
        </p:spPr>
      </p:sp>
      <p:sp>
        <p:nvSpPr>
          <p:cNvPr id="41" name="Text 39"/>
          <p:cNvSpPr/>
          <p:nvPr/>
        </p:nvSpPr>
        <p:spPr>
          <a:xfrm>
            <a:off x="2648712" y="3346704"/>
            <a:ext cx="1679448"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Below the floor, report the absolute ₹ change only.</a:t>
            </a:r>
            <a:endParaRPr lang="en-US" sz="690" dirty="0"/>
          </a:p>
        </p:txBody>
      </p:sp>
      <p:sp>
        <p:nvSpPr>
          <p:cNvPr id="42" name="Shape 40"/>
          <p:cNvSpPr/>
          <p:nvPr/>
        </p:nvSpPr>
        <p:spPr>
          <a:xfrm>
            <a:off x="2529840" y="3762756"/>
            <a:ext cx="50292" cy="50292"/>
          </a:xfrm>
          <a:prstGeom prst="ellipse">
            <a:avLst/>
          </a:prstGeom>
          <a:solidFill>
            <a:srgbClr val="F2B84B"/>
          </a:solidFill>
          <a:ln/>
        </p:spPr>
      </p:sp>
      <p:sp>
        <p:nvSpPr>
          <p:cNvPr id="43" name="Text 41"/>
          <p:cNvSpPr/>
          <p:nvPr/>
        </p:nvSpPr>
        <p:spPr>
          <a:xfrm>
            <a:off x="2648712" y="3712464"/>
            <a:ext cx="1679448"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Removes 8 of 13 rows from the chain scorecard.</a:t>
            </a:r>
            <a:endParaRPr lang="en-US" sz="690" dirty="0"/>
          </a:p>
        </p:txBody>
      </p:sp>
      <p:sp>
        <p:nvSpPr>
          <p:cNvPr id="44" name="Shape 42"/>
          <p:cNvSpPr/>
          <p:nvPr/>
        </p:nvSpPr>
        <p:spPr>
          <a:xfrm>
            <a:off x="2529840" y="4128516"/>
            <a:ext cx="50292" cy="50292"/>
          </a:xfrm>
          <a:prstGeom prst="ellipse">
            <a:avLst/>
          </a:prstGeom>
          <a:solidFill>
            <a:srgbClr val="F2B84B"/>
          </a:solidFill>
          <a:ln/>
        </p:spPr>
      </p:sp>
      <p:sp>
        <p:nvSpPr>
          <p:cNvPr id="45" name="Text 43"/>
          <p:cNvSpPr/>
          <p:nvPr/>
        </p:nvSpPr>
        <p:spPr>
          <a:xfrm>
            <a:off x="2648712" y="4078224"/>
            <a:ext cx="1679448"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Stops a ₹1 lakh move outranking a ₹1.42 Cr decline.</a:t>
            </a:r>
            <a:endParaRPr lang="en-US" sz="690" dirty="0"/>
          </a:p>
        </p:txBody>
      </p:sp>
      <p:sp>
        <p:nvSpPr>
          <p:cNvPr id="46" name="Shape 44"/>
          <p:cNvSpPr/>
          <p:nvPr/>
        </p:nvSpPr>
        <p:spPr>
          <a:xfrm>
            <a:off x="4575048" y="2231136"/>
            <a:ext cx="2017776" cy="2432304"/>
          </a:xfrm>
          <a:prstGeom prst="roundRect">
            <a:avLst>
              <a:gd name="adj" fmla="val 906"/>
            </a:avLst>
          </a:prstGeom>
          <a:solidFill>
            <a:srgbClr val="FFFFFF"/>
          </a:solidFill>
          <a:ln w="9525">
            <a:solidFill>
              <a:srgbClr val="C8DCD7"/>
            </a:solidFill>
            <a:prstDash val="solid"/>
          </a:ln>
        </p:spPr>
      </p:sp>
      <p:sp>
        <p:nvSpPr>
          <p:cNvPr id="47" name="Shape 45"/>
          <p:cNvSpPr/>
          <p:nvPr/>
        </p:nvSpPr>
        <p:spPr>
          <a:xfrm>
            <a:off x="4575048" y="2231136"/>
            <a:ext cx="2017776" cy="274320"/>
          </a:xfrm>
          <a:prstGeom prst="rect">
            <a:avLst/>
          </a:prstGeom>
          <a:solidFill>
            <a:srgbClr val="116F68"/>
          </a:solidFill>
          <a:ln/>
        </p:spPr>
      </p:sp>
      <p:sp>
        <p:nvSpPr>
          <p:cNvPr id="48" name="Text 46"/>
          <p:cNvSpPr/>
          <p:nvPr/>
        </p:nvSpPr>
        <p:spPr>
          <a:xfrm>
            <a:off x="4657344" y="2249424"/>
            <a:ext cx="1853184"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DISTRIBUTION PRODUCTIVITY</a:t>
            </a:r>
            <a:endParaRPr lang="en-US" sz="700" dirty="0"/>
          </a:p>
        </p:txBody>
      </p:sp>
      <p:sp>
        <p:nvSpPr>
          <p:cNvPr id="49" name="Text 47"/>
          <p:cNvSpPr/>
          <p:nvPr/>
        </p:nvSpPr>
        <p:spPr>
          <a:xfrm>
            <a:off x="4666488" y="2596896"/>
            <a:ext cx="1834896" cy="310896"/>
          </a:xfrm>
          <a:prstGeom prst="rect">
            <a:avLst/>
          </a:prstGeom>
          <a:noFill/>
          <a:ln/>
        </p:spPr>
        <p:txBody>
          <a:bodyPr wrap="square" lIns="0" tIns="0" rIns="0" bIns="0" rtlCol="0" anchor="ctr"/>
          <a:lstStyle/>
          <a:p>
            <a:pPr algn="ctr" indent="0" marL="0">
              <a:buNone/>
            </a:pPr>
            <a:r>
              <a:rPr lang="en-US" sz="1150" b="1" dirty="0">
                <a:solidFill>
                  <a:srgbClr val="116F68"/>
                </a:solidFill>
                <a:latin typeface="Calibri Light" pitchFamily="34" charset="0"/>
                <a:ea typeface="Calibri Light" pitchFamily="34" charset="-122"/>
                <a:cs typeface="Calibri Light" pitchFamily="34" charset="-120"/>
              </a:rPr>
              <a:t>SPD = share ÷ WD</a:t>
            </a:r>
            <a:endParaRPr lang="en-US" sz="1150" dirty="0"/>
          </a:p>
        </p:txBody>
      </p:sp>
      <p:sp>
        <p:nvSpPr>
          <p:cNvPr id="50" name="Shape 48"/>
          <p:cNvSpPr/>
          <p:nvPr/>
        </p:nvSpPr>
        <p:spPr>
          <a:xfrm>
            <a:off x="4684776" y="3031236"/>
            <a:ext cx="50292" cy="50292"/>
          </a:xfrm>
          <a:prstGeom prst="ellipse">
            <a:avLst/>
          </a:prstGeom>
          <a:solidFill>
            <a:srgbClr val="116F68"/>
          </a:solidFill>
          <a:ln/>
        </p:spPr>
      </p:sp>
      <p:sp>
        <p:nvSpPr>
          <p:cNvPr id="51" name="Text 49"/>
          <p:cNvSpPr/>
          <p:nvPr/>
        </p:nvSpPr>
        <p:spPr>
          <a:xfrm>
            <a:off x="4803648" y="2980944"/>
            <a:ext cx="1679448" cy="347472"/>
          </a:xfrm>
          <a:prstGeom prst="rect">
            <a:avLst/>
          </a:prstGeom>
          <a:noFill/>
          <a:ln/>
        </p:spPr>
        <p:txBody>
          <a:bodyPr wrap="square" lIns="0" tIns="0" rIns="0" bIns="0" rtlCol="0" anchor="t"/>
          <a:lstStyle/>
          <a:p>
            <a:pPr indent="0" marL="0">
              <a:lnSpc>
                <a:spcPct val="92000"/>
              </a:lnSpc>
              <a:buNone/>
            </a:pPr>
            <a:r>
              <a:rPr lang="en-US" sz="690" b="1" dirty="0">
                <a:solidFill>
                  <a:srgbClr val="183B39"/>
                </a:solidFill>
                <a:latin typeface="Calibri" pitchFamily="34" charset="0"/>
                <a:ea typeface="Calibri" pitchFamily="34" charset="-122"/>
                <a:cs typeface="Calibri" pitchFamily="34" charset="-120"/>
              </a:rPr>
              <a:t>Share per point of weighted distribution.</a:t>
            </a:r>
            <a:endParaRPr lang="en-US" sz="690" dirty="0"/>
          </a:p>
        </p:txBody>
      </p:sp>
      <p:sp>
        <p:nvSpPr>
          <p:cNvPr id="52" name="Shape 50"/>
          <p:cNvSpPr/>
          <p:nvPr/>
        </p:nvSpPr>
        <p:spPr>
          <a:xfrm>
            <a:off x="4684776" y="3396996"/>
            <a:ext cx="50292" cy="50292"/>
          </a:xfrm>
          <a:prstGeom prst="ellipse">
            <a:avLst/>
          </a:prstGeom>
          <a:solidFill>
            <a:srgbClr val="116F68"/>
          </a:solidFill>
          <a:ln/>
        </p:spPr>
      </p:sp>
      <p:sp>
        <p:nvSpPr>
          <p:cNvPr id="53" name="Text 51"/>
          <p:cNvSpPr/>
          <p:nvPr/>
        </p:nvSpPr>
        <p:spPr>
          <a:xfrm>
            <a:off x="4803648" y="3346704"/>
            <a:ext cx="1679448"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Face Wash 0.118 · Shampoo 0.045 · TDC FW 0.015.</a:t>
            </a:r>
            <a:endParaRPr lang="en-US" sz="690" dirty="0"/>
          </a:p>
        </p:txBody>
      </p:sp>
      <p:sp>
        <p:nvSpPr>
          <p:cNvPr id="54" name="Shape 52"/>
          <p:cNvSpPr/>
          <p:nvPr/>
        </p:nvSpPr>
        <p:spPr>
          <a:xfrm>
            <a:off x="4684776" y="3762756"/>
            <a:ext cx="50292" cy="50292"/>
          </a:xfrm>
          <a:prstGeom prst="ellipse">
            <a:avLst/>
          </a:prstGeom>
          <a:solidFill>
            <a:srgbClr val="116F68"/>
          </a:solidFill>
          <a:ln/>
        </p:spPr>
      </p:sp>
      <p:sp>
        <p:nvSpPr>
          <p:cNvPr id="55" name="Text 53"/>
          <p:cNvSpPr/>
          <p:nvPr/>
        </p:nvSpPr>
        <p:spPr>
          <a:xfrm>
            <a:off x="4803648" y="3712464"/>
            <a:ext cx="1679448"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Low SPD on wide WD means fix the shelf, not add doors.</a:t>
            </a:r>
            <a:endParaRPr lang="en-US" sz="690" dirty="0"/>
          </a:p>
        </p:txBody>
      </p:sp>
      <p:sp>
        <p:nvSpPr>
          <p:cNvPr id="56" name="Shape 54"/>
          <p:cNvSpPr/>
          <p:nvPr/>
        </p:nvSpPr>
        <p:spPr>
          <a:xfrm>
            <a:off x="4684776" y="4128516"/>
            <a:ext cx="50292" cy="50292"/>
          </a:xfrm>
          <a:prstGeom prst="ellipse">
            <a:avLst/>
          </a:prstGeom>
          <a:solidFill>
            <a:srgbClr val="116F68"/>
          </a:solidFill>
          <a:ln/>
        </p:spPr>
      </p:sp>
      <p:sp>
        <p:nvSpPr>
          <p:cNvPr id="57" name="Text 55"/>
          <p:cNvSpPr/>
          <p:nvPr/>
        </p:nvSpPr>
        <p:spPr>
          <a:xfrm>
            <a:off x="4803648" y="4078224"/>
            <a:ext cx="1679448"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Pair with PDO once store-count fields reconcile.</a:t>
            </a:r>
            <a:endParaRPr lang="en-US" sz="690" dirty="0"/>
          </a:p>
        </p:txBody>
      </p:sp>
      <p:sp>
        <p:nvSpPr>
          <p:cNvPr id="58" name="Shape 56"/>
          <p:cNvSpPr/>
          <p:nvPr/>
        </p:nvSpPr>
        <p:spPr>
          <a:xfrm>
            <a:off x="265176" y="4809744"/>
            <a:ext cx="2017776" cy="2432304"/>
          </a:xfrm>
          <a:prstGeom prst="roundRect">
            <a:avLst>
              <a:gd name="adj" fmla="val 906"/>
            </a:avLst>
          </a:prstGeom>
          <a:solidFill>
            <a:srgbClr val="FFFFFF"/>
          </a:solidFill>
          <a:ln w="9525">
            <a:solidFill>
              <a:srgbClr val="C8DCD7"/>
            </a:solidFill>
            <a:prstDash val="solid"/>
          </a:ln>
        </p:spPr>
      </p:sp>
      <p:sp>
        <p:nvSpPr>
          <p:cNvPr id="59" name="Shape 57"/>
          <p:cNvSpPr/>
          <p:nvPr/>
        </p:nvSpPr>
        <p:spPr>
          <a:xfrm>
            <a:off x="265176" y="4809744"/>
            <a:ext cx="2017776" cy="274320"/>
          </a:xfrm>
          <a:prstGeom prst="rect">
            <a:avLst/>
          </a:prstGeom>
          <a:solidFill>
            <a:srgbClr val="D6544D"/>
          </a:solidFill>
          <a:ln/>
        </p:spPr>
      </p:sp>
      <p:sp>
        <p:nvSpPr>
          <p:cNvPr id="60" name="Text 58"/>
          <p:cNvSpPr/>
          <p:nvPr/>
        </p:nvSpPr>
        <p:spPr>
          <a:xfrm>
            <a:off x="347472" y="4828032"/>
            <a:ext cx="1853184"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GROSS, NEVER NET</a:t>
            </a:r>
            <a:endParaRPr lang="en-US" sz="700" dirty="0"/>
          </a:p>
        </p:txBody>
      </p:sp>
      <p:sp>
        <p:nvSpPr>
          <p:cNvPr id="61" name="Text 59"/>
          <p:cNvSpPr/>
          <p:nvPr/>
        </p:nvSpPr>
        <p:spPr>
          <a:xfrm>
            <a:off x="356616" y="5175504"/>
            <a:ext cx="1834896" cy="310896"/>
          </a:xfrm>
          <a:prstGeom prst="rect">
            <a:avLst/>
          </a:prstGeom>
          <a:noFill/>
          <a:ln/>
        </p:spPr>
        <p:txBody>
          <a:bodyPr wrap="square" lIns="0" tIns="0" rIns="0" bIns="0" rtlCol="0" anchor="ctr"/>
          <a:lstStyle/>
          <a:p>
            <a:pPr algn="ctr" indent="0" marL="0">
              <a:buNone/>
            </a:pPr>
            <a:r>
              <a:rPr lang="en-US" sz="1150" b="1" dirty="0">
                <a:solidFill>
                  <a:srgbClr val="D6544D"/>
                </a:solidFill>
                <a:latin typeface="Calibri Light" pitchFamily="34" charset="0"/>
                <a:ea typeface="Calibri Light" pitchFamily="34" charset="-122"/>
                <a:cs typeface="Calibri Light" pitchFamily="34" charset="-120"/>
              </a:rPr>
              <a:t>Two gap lines</a:t>
            </a:r>
            <a:endParaRPr lang="en-US" sz="1150" dirty="0"/>
          </a:p>
        </p:txBody>
      </p:sp>
      <p:sp>
        <p:nvSpPr>
          <p:cNvPr id="62" name="Shape 60"/>
          <p:cNvSpPr/>
          <p:nvPr/>
        </p:nvSpPr>
        <p:spPr>
          <a:xfrm>
            <a:off x="374904" y="5609844"/>
            <a:ext cx="50292" cy="50292"/>
          </a:xfrm>
          <a:prstGeom prst="ellipse">
            <a:avLst/>
          </a:prstGeom>
          <a:solidFill>
            <a:srgbClr val="D6544D"/>
          </a:solidFill>
          <a:ln/>
        </p:spPr>
      </p:sp>
      <p:sp>
        <p:nvSpPr>
          <p:cNvPr id="63" name="Text 61"/>
          <p:cNvSpPr/>
          <p:nvPr/>
        </p:nvSpPr>
        <p:spPr>
          <a:xfrm>
            <a:off x="493776" y="5559552"/>
            <a:ext cx="1679448" cy="347472"/>
          </a:xfrm>
          <a:prstGeom prst="rect">
            <a:avLst/>
          </a:prstGeom>
          <a:noFill/>
          <a:ln/>
        </p:spPr>
        <p:txBody>
          <a:bodyPr wrap="square" lIns="0" tIns="0" rIns="0" bIns="0" rtlCol="0" anchor="t"/>
          <a:lstStyle/>
          <a:p>
            <a:pPr indent="0" marL="0">
              <a:lnSpc>
                <a:spcPct val="92000"/>
              </a:lnSpc>
              <a:buNone/>
            </a:pPr>
            <a:r>
              <a:rPr lang="en-US" sz="690" b="1" dirty="0">
                <a:solidFill>
                  <a:srgbClr val="183B39"/>
                </a:solidFill>
                <a:latin typeface="Calibri" pitchFamily="34" charset="0"/>
                <a:ea typeface="Calibri" pitchFamily="34" charset="-122"/>
                <a:cs typeface="Calibri" pitchFamily="34" charset="-120"/>
              </a:rPr>
              <a:t>Positive gap = billed but unsold. ₹13.27 Cr.</a:t>
            </a:r>
            <a:endParaRPr lang="en-US" sz="690" dirty="0"/>
          </a:p>
        </p:txBody>
      </p:sp>
      <p:sp>
        <p:nvSpPr>
          <p:cNvPr id="64" name="Shape 62"/>
          <p:cNvSpPr/>
          <p:nvPr/>
        </p:nvSpPr>
        <p:spPr>
          <a:xfrm>
            <a:off x="374904" y="5975604"/>
            <a:ext cx="50292" cy="50292"/>
          </a:xfrm>
          <a:prstGeom prst="ellipse">
            <a:avLst/>
          </a:prstGeom>
          <a:solidFill>
            <a:srgbClr val="D6544D"/>
          </a:solidFill>
          <a:ln/>
        </p:spPr>
      </p:sp>
      <p:sp>
        <p:nvSpPr>
          <p:cNvPr id="65" name="Text 63"/>
          <p:cNvSpPr/>
          <p:nvPr/>
        </p:nvSpPr>
        <p:spPr>
          <a:xfrm>
            <a:off x="493776" y="5925312"/>
            <a:ext cx="1679448"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Negative gap = sold but unmapped. ₹2.23 Cr.</a:t>
            </a:r>
            <a:endParaRPr lang="en-US" sz="690" dirty="0"/>
          </a:p>
        </p:txBody>
      </p:sp>
      <p:sp>
        <p:nvSpPr>
          <p:cNvPr id="66" name="Shape 64"/>
          <p:cNvSpPr/>
          <p:nvPr/>
        </p:nvSpPr>
        <p:spPr>
          <a:xfrm>
            <a:off x="374904" y="6341364"/>
            <a:ext cx="50292" cy="50292"/>
          </a:xfrm>
          <a:prstGeom prst="ellipse">
            <a:avLst/>
          </a:prstGeom>
          <a:solidFill>
            <a:srgbClr val="D6544D"/>
          </a:solidFill>
          <a:ln/>
        </p:spPr>
      </p:sp>
      <p:sp>
        <p:nvSpPr>
          <p:cNvPr id="67" name="Text 65"/>
          <p:cNvSpPr/>
          <p:nvPr/>
        </p:nvSpPr>
        <p:spPr>
          <a:xfrm>
            <a:off x="493776" y="6291072"/>
            <a:ext cx="1679448"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Netting them hid ₹2.06 Cr of recoverable value.</a:t>
            </a:r>
            <a:endParaRPr lang="en-US" sz="690" dirty="0"/>
          </a:p>
        </p:txBody>
      </p:sp>
      <p:sp>
        <p:nvSpPr>
          <p:cNvPr id="68" name="Shape 66"/>
          <p:cNvSpPr/>
          <p:nvPr/>
        </p:nvSpPr>
        <p:spPr>
          <a:xfrm>
            <a:off x="374904" y="6707124"/>
            <a:ext cx="50292" cy="50292"/>
          </a:xfrm>
          <a:prstGeom prst="ellipse">
            <a:avLst/>
          </a:prstGeom>
          <a:solidFill>
            <a:srgbClr val="D6544D"/>
          </a:solidFill>
          <a:ln/>
        </p:spPr>
      </p:sp>
      <p:sp>
        <p:nvSpPr>
          <p:cNvPr id="69" name="Text 67"/>
          <p:cNvSpPr/>
          <p:nvPr/>
        </p:nvSpPr>
        <p:spPr>
          <a:xfrm>
            <a:off x="493776" y="6656832"/>
            <a:ext cx="1679448"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Chain and zone gaps must share one stated base.</a:t>
            </a:r>
            <a:endParaRPr lang="en-US" sz="690" dirty="0"/>
          </a:p>
        </p:txBody>
      </p:sp>
      <p:sp>
        <p:nvSpPr>
          <p:cNvPr id="70" name="Shape 68"/>
          <p:cNvSpPr/>
          <p:nvPr/>
        </p:nvSpPr>
        <p:spPr>
          <a:xfrm>
            <a:off x="2420112" y="4809744"/>
            <a:ext cx="2017776" cy="2432304"/>
          </a:xfrm>
          <a:prstGeom prst="roundRect">
            <a:avLst>
              <a:gd name="adj" fmla="val 906"/>
            </a:avLst>
          </a:prstGeom>
          <a:solidFill>
            <a:srgbClr val="FFFFFF"/>
          </a:solidFill>
          <a:ln w="9525">
            <a:solidFill>
              <a:srgbClr val="C8DCD7"/>
            </a:solidFill>
            <a:prstDash val="solid"/>
          </a:ln>
        </p:spPr>
      </p:sp>
      <p:sp>
        <p:nvSpPr>
          <p:cNvPr id="71" name="Shape 69"/>
          <p:cNvSpPr/>
          <p:nvPr/>
        </p:nvSpPr>
        <p:spPr>
          <a:xfrm>
            <a:off x="2420112" y="4809744"/>
            <a:ext cx="2017776" cy="274320"/>
          </a:xfrm>
          <a:prstGeom prst="rect">
            <a:avLst/>
          </a:prstGeom>
          <a:solidFill>
            <a:srgbClr val="116F68"/>
          </a:solidFill>
          <a:ln/>
        </p:spPr>
      </p:sp>
      <p:sp>
        <p:nvSpPr>
          <p:cNvPr id="72" name="Text 70"/>
          <p:cNvSpPr/>
          <p:nvPr/>
        </p:nvSpPr>
        <p:spPr>
          <a:xfrm>
            <a:off x="2502408" y="4828032"/>
            <a:ext cx="1853184"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MARKET × FLOW RULE</a:t>
            </a:r>
            <a:endParaRPr lang="en-US" sz="700" dirty="0"/>
          </a:p>
        </p:txBody>
      </p:sp>
      <p:sp>
        <p:nvSpPr>
          <p:cNvPr id="73" name="Text 71"/>
          <p:cNvSpPr/>
          <p:nvPr/>
        </p:nvSpPr>
        <p:spPr>
          <a:xfrm>
            <a:off x="2511552" y="5175504"/>
            <a:ext cx="1834896" cy="310896"/>
          </a:xfrm>
          <a:prstGeom prst="rect">
            <a:avLst/>
          </a:prstGeom>
          <a:noFill/>
          <a:ln/>
        </p:spPr>
        <p:txBody>
          <a:bodyPr wrap="square" lIns="0" tIns="0" rIns="0" bIns="0" rtlCol="0" anchor="ctr"/>
          <a:lstStyle/>
          <a:p>
            <a:pPr algn="ctr" indent="0" marL="0">
              <a:buNone/>
            </a:pPr>
            <a:r>
              <a:rPr lang="en-US" sz="1150" b="1" dirty="0">
                <a:solidFill>
                  <a:srgbClr val="116F68"/>
                </a:solidFill>
                <a:latin typeface="Calibri Light" pitchFamily="34" charset="0"/>
                <a:ea typeface="Calibri Light" pitchFamily="34" charset="-122"/>
                <a:cs typeface="Calibri Light" pitchFamily="34" charset="-120"/>
              </a:rPr>
              <a:t>Scale / Fix / Hold</a:t>
            </a:r>
            <a:endParaRPr lang="en-US" sz="1150" dirty="0"/>
          </a:p>
        </p:txBody>
      </p:sp>
      <p:sp>
        <p:nvSpPr>
          <p:cNvPr id="74" name="Shape 72"/>
          <p:cNvSpPr/>
          <p:nvPr/>
        </p:nvSpPr>
        <p:spPr>
          <a:xfrm>
            <a:off x="2529840" y="5609844"/>
            <a:ext cx="50292" cy="50292"/>
          </a:xfrm>
          <a:prstGeom prst="ellipse">
            <a:avLst/>
          </a:prstGeom>
          <a:solidFill>
            <a:srgbClr val="116F68"/>
          </a:solidFill>
          <a:ln/>
        </p:spPr>
      </p:sp>
      <p:sp>
        <p:nvSpPr>
          <p:cNvPr id="75" name="Text 73"/>
          <p:cNvSpPr/>
          <p:nvPr/>
        </p:nvSpPr>
        <p:spPr>
          <a:xfrm>
            <a:off x="2648712" y="5559552"/>
            <a:ext cx="1679448" cy="347472"/>
          </a:xfrm>
          <a:prstGeom prst="rect">
            <a:avLst/>
          </a:prstGeom>
          <a:noFill/>
          <a:ln/>
        </p:spPr>
        <p:txBody>
          <a:bodyPr wrap="square" lIns="0" tIns="0" rIns="0" bIns="0" rtlCol="0" anchor="t"/>
          <a:lstStyle/>
          <a:p>
            <a:pPr indent="0" marL="0">
              <a:lnSpc>
                <a:spcPct val="92000"/>
              </a:lnSpc>
              <a:buNone/>
            </a:pPr>
            <a:r>
              <a:rPr lang="en-US" sz="690" b="1" dirty="0">
                <a:solidFill>
                  <a:srgbClr val="183B39"/>
                </a:solidFill>
                <a:latin typeface="Calibri" pitchFamily="34" charset="0"/>
                <a:ea typeface="Calibri" pitchFamily="34" charset="-122"/>
                <a:cs typeface="Calibri" pitchFamily="34" charset="-120"/>
              </a:rPr>
              <a:t>Share up + offtake up → scale.</a:t>
            </a:r>
            <a:endParaRPr lang="en-US" sz="690" dirty="0"/>
          </a:p>
        </p:txBody>
      </p:sp>
      <p:sp>
        <p:nvSpPr>
          <p:cNvPr id="76" name="Shape 74"/>
          <p:cNvSpPr/>
          <p:nvPr/>
        </p:nvSpPr>
        <p:spPr>
          <a:xfrm>
            <a:off x="2529840" y="5975604"/>
            <a:ext cx="50292" cy="50292"/>
          </a:xfrm>
          <a:prstGeom prst="ellipse">
            <a:avLst/>
          </a:prstGeom>
          <a:solidFill>
            <a:srgbClr val="116F68"/>
          </a:solidFill>
          <a:ln/>
        </p:spPr>
      </p:sp>
      <p:sp>
        <p:nvSpPr>
          <p:cNvPr id="77" name="Text 75"/>
          <p:cNvSpPr/>
          <p:nvPr/>
        </p:nvSpPr>
        <p:spPr>
          <a:xfrm>
            <a:off x="2648712" y="5925312"/>
            <a:ext cx="1679448"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Primary up + offtake weak → stop loading.</a:t>
            </a:r>
            <a:endParaRPr lang="en-US" sz="690" dirty="0"/>
          </a:p>
        </p:txBody>
      </p:sp>
      <p:sp>
        <p:nvSpPr>
          <p:cNvPr id="78" name="Shape 76"/>
          <p:cNvSpPr/>
          <p:nvPr/>
        </p:nvSpPr>
        <p:spPr>
          <a:xfrm>
            <a:off x="2529840" y="6341364"/>
            <a:ext cx="50292" cy="50292"/>
          </a:xfrm>
          <a:prstGeom prst="ellipse">
            <a:avLst/>
          </a:prstGeom>
          <a:solidFill>
            <a:srgbClr val="116F68"/>
          </a:solidFill>
          <a:ln/>
        </p:spPr>
      </p:sp>
      <p:sp>
        <p:nvSpPr>
          <p:cNvPr id="79" name="Text 77"/>
          <p:cNvSpPr/>
          <p:nvPr/>
        </p:nvSpPr>
        <p:spPr>
          <a:xfrm>
            <a:off x="2648712" y="6291072"/>
            <a:ext cx="1679448"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Offtake up + supply weak → replenish.</a:t>
            </a:r>
            <a:endParaRPr lang="en-US" sz="690" dirty="0"/>
          </a:p>
        </p:txBody>
      </p:sp>
      <p:sp>
        <p:nvSpPr>
          <p:cNvPr id="80" name="Shape 78"/>
          <p:cNvSpPr/>
          <p:nvPr/>
        </p:nvSpPr>
        <p:spPr>
          <a:xfrm>
            <a:off x="2529840" y="6707124"/>
            <a:ext cx="50292" cy="50292"/>
          </a:xfrm>
          <a:prstGeom prst="ellipse">
            <a:avLst/>
          </a:prstGeom>
          <a:solidFill>
            <a:srgbClr val="116F68"/>
          </a:solidFill>
          <a:ln/>
        </p:spPr>
      </p:sp>
      <p:sp>
        <p:nvSpPr>
          <p:cNvPr id="81" name="Text 79"/>
          <p:cNvSpPr/>
          <p:nvPr/>
        </p:nvSpPr>
        <p:spPr>
          <a:xfrm>
            <a:off x="2648712" y="6656832"/>
            <a:ext cx="1679448"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Share down → validate competitor or OOS transfer first.</a:t>
            </a:r>
            <a:endParaRPr lang="en-US" sz="690" dirty="0"/>
          </a:p>
        </p:txBody>
      </p:sp>
      <p:sp>
        <p:nvSpPr>
          <p:cNvPr id="82" name="Shape 80"/>
          <p:cNvSpPr/>
          <p:nvPr/>
        </p:nvSpPr>
        <p:spPr>
          <a:xfrm>
            <a:off x="4575048" y="4809744"/>
            <a:ext cx="2017776" cy="2432304"/>
          </a:xfrm>
          <a:prstGeom prst="roundRect">
            <a:avLst>
              <a:gd name="adj" fmla="val 906"/>
            </a:avLst>
          </a:prstGeom>
          <a:solidFill>
            <a:srgbClr val="FFFFFF"/>
          </a:solidFill>
          <a:ln w="9525">
            <a:solidFill>
              <a:srgbClr val="C8DCD7"/>
            </a:solidFill>
            <a:prstDash val="solid"/>
          </a:ln>
        </p:spPr>
      </p:sp>
      <p:sp>
        <p:nvSpPr>
          <p:cNvPr id="83" name="Shape 81"/>
          <p:cNvSpPr/>
          <p:nvPr/>
        </p:nvSpPr>
        <p:spPr>
          <a:xfrm>
            <a:off x="4575048" y="4809744"/>
            <a:ext cx="2017776" cy="274320"/>
          </a:xfrm>
          <a:prstGeom prst="rect">
            <a:avLst/>
          </a:prstGeom>
          <a:solidFill>
            <a:srgbClr val="2B9A66"/>
          </a:solidFill>
          <a:ln/>
        </p:spPr>
      </p:sp>
      <p:sp>
        <p:nvSpPr>
          <p:cNvPr id="84" name="Text 82"/>
          <p:cNvSpPr/>
          <p:nvPr/>
        </p:nvSpPr>
        <p:spPr>
          <a:xfrm>
            <a:off x="4657344" y="4828032"/>
            <a:ext cx="1853184"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SIZE BEFORE YOU ACT</a:t>
            </a:r>
            <a:endParaRPr lang="en-US" sz="700" dirty="0"/>
          </a:p>
        </p:txBody>
      </p:sp>
      <p:sp>
        <p:nvSpPr>
          <p:cNvPr id="85" name="Text 83"/>
          <p:cNvSpPr/>
          <p:nvPr/>
        </p:nvSpPr>
        <p:spPr>
          <a:xfrm>
            <a:off x="4666488" y="5175504"/>
            <a:ext cx="1834896" cy="310896"/>
          </a:xfrm>
          <a:prstGeom prst="rect">
            <a:avLst/>
          </a:prstGeom>
          <a:noFill/>
          <a:ln/>
        </p:spPr>
        <p:txBody>
          <a:bodyPr wrap="square" lIns="0" tIns="0" rIns="0" bIns="0" rtlCol="0" anchor="ctr"/>
          <a:lstStyle/>
          <a:p>
            <a:pPr algn="ctr" indent="0" marL="0">
              <a:buNone/>
            </a:pPr>
            <a:r>
              <a:rPr lang="en-US" sz="1150" b="1" dirty="0">
                <a:solidFill>
                  <a:srgbClr val="2B9A66"/>
                </a:solidFill>
                <a:latin typeface="Calibri Light" pitchFamily="34" charset="0"/>
                <a:ea typeface="Calibri Light" pitchFamily="34" charset="-122"/>
                <a:cs typeface="Calibri Light" pitchFamily="34" charset="-120"/>
              </a:rPr>
              <a:t>Expected value</a:t>
            </a:r>
            <a:endParaRPr lang="en-US" sz="1150" dirty="0"/>
          </a:p>
        </p:txBody>
      </p:sp>
      <p:sp>
        <p:nvSpPr>
          <p:cNvPr id="86" name="Shape 84"/>
          <p:cNvSpPr/>
          <p:nvPr/>
        </p:nvSpPr>
        <p:spPr>
          <a:xfrm>
            <a:off x="4684776" y="5609844"/>
            <a:ext cx="50292" cy="50292"/>
          </a:xfrm>
          <a:prstGeom prst="ellipse">
            <a:avLst/>
          </a:prstGeom>
          <a:solidFill>
            <a:srgbClr val="2B9A66"/>
          </a:solidFill>
          <a:ln/>
        </p:spPr>
      </p:sp>
      <p:sp>
        <p:nvSpPr>
          <p:cNvPr id="87" name="Text 85"/>
          <p:cNvSpPr/>
          <p:nvPr/>
        </p:nvSpPr>
        <p:spPr>
          <a:xfrm>
            <a:off x="4803648" y="5559552"/>
            <a:ext cx="1679448" cy="347472"/>
          </a:xfrm>
          <a:prstGeom prst="rect">
            <a:avLst/>
          </a:prstGeom>
          <a:noFill/>
          <a:ln/>
        </p:spPr>
        <p:txBody>
          <a:bodyPr wrap="square" lIns="0" tIns="0" rIns="0" bIns="0" rtlCol="0" anchor="t"/>
          <a:lstStyle/>
          <a:p>
            <a:pPr indent="0" marL="0">
              <a:lnSpc>
                <a:spcPct val="92000"/>
              </a:lnSpc>
              <a:buNone/>
            </a:pPr>
            <a:r>
              <a:rPr lang="en-US" sz="690" b="1" dirty="0">
                <a:solidFill>
                  <a:srgbClr val="183B39"/>
                </a:solidFill>
                <a:latin typeface="Calibri" pitchFamily="34" charset="0"/>
                <a:ea typeface="Calibri" pitchFamily="34" charset="-122"/>
                <a:cs typeface="Calibri" pitchFamily="34" charset="-120"/>
              </a:rPr>
              <a:t>Rank every action by ₹ at stake × likelihood × cost.</a:t>
            </a:r>
            <a:endParaRPr lang="en-US" sz="690" dirty="0"/>
          </a:p>
        </p:txBody>
      </p:sp>
      <p:sp>
        <p:nvSpPr>
          <p:cNvPr id="88" name="Shape 86"/>
          <p:cNvSpPr/>
          <p:nvPr/>
        </p:nvSpPr>
        <p:spPr>
          <a:xfrm>
            <a:off x="4684776" y="5975604"/>
            <a:ext cx="50292" cy="50292"/>
          </a:xfrm>
          <a:prstGeom prst="ellipse">
            <a:avLst/>
          </a:prstGeom>
          <a:solidFill>
            <a:srgbClr val="2B9A66"/>
          </a:solidFill>
          <a:ln/>
        </p:spPr>
      </p:sp>
      <p:sp>
        <p:nvSpPr>
          <p:cNvPr id="89" name="Text 87"/>
          <p:cNvSpPr/>
          <p:nvPr/>
        </p:nvSpPr>
        <p:spPr>
          <a:xfrm>
            <a:off x="4803648" y="5925312"/>
            <a:ext cx="1679448"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Benchmark against a zone that already performs, not a target.</a:t>
            </a:r>
            <a:endParaRPr lang="en-US" sz="690" dirty="0"/>
          </a:p>
        </p:txBody>
      </p:sp>
      <p:sp>
        <p:nvSpPr>
          <p:cNvPr id="90" name="Shape 88"/>
          <p:cNvSpPr/>
          <p:nvPr/>
        </p:nvSpPr>
        <p:spPr>
          <a:xfrm>
            <a:off x="4684776" y="6341364"/>
            <a:ext cx="50292" cy="50292"/>
          </a:xfrm>
          <a:prstGeom prst="ellipse">
            <a:avLst/>
          </a:prstGeom>
          <a:solidFill>
            <a:srgbClr val="2B9A66"/>
          </a:solidFill>
          <a:ln/>
        </p:spPr>
      </p:sp>
      <p:sp>
        <p:nvSpPr>
          <p:cNvPr id="91" name="Text 89"/>
          <p:cNvSpPr/>
          <p:nvPr/>
        </p:nvSpPr>
        <p:spPr>
          <a:xfrm>
            <a:off x="4803648" y="6291072"/>
            <a:ext cx="1679448"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State the do-nothing baseline so an action can be killed.</a:t>
            </a:r>
            <a:endParaRPr lang="en-US" sz="690" dirty="0"/>
          </a:p>
        </p:txBody>
      </p:sp>
      <p:sp>
        <p:nvSpPr>
          <p:cNvPr id="92" name="Shape 90"/>
          <p:cNvSpPr/>
          <p:nvPr/>
        </p:nvSpPr>
        <p:spPr>
          <a:xfrm>
            <a:off x="4684776" y="6707124"/>
            <a:ext cx="50292" cy="50292"/>
          </a:xfrm>
          <a:prstGeom prst="ellipse">
            <a:avLst/>
          </a:prstGeom>
          <a:solidFill>
            <a:srgbClr val="2B9A66"/>
          </a:solidFill>
          <a:ln/>
        </p:spPr>
      </p:sp>
      <p:sp>
        <p:nvSpPr>
          <p:cNvPr id="93" name="Text 91"/>
          <p:cNvSpPr/>
          <p:nvPr/>
        </p:nvSpPr>
        <p:spPr>
          <a:xfrm>
            <a:off x="4803648" y="6656832"/>
            <a:ext cx="1679448"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Annualise only after a controlled pilot.</a:t>
            </a:r>
            <a:endParaRPr lang="en-US" sz="690" dirty="0"/>
          </a:p>
        </p:txBody>
      </p:sp>
      <p:sp>
        <p:nvSpPr>
          <p:cNvPr id="94" name="Shape 92"/>
          <p:cNvSpPr/>
          <p:nvPr/>
        </p:nvSpPr>
        <p:spPr>
          <a:xfrm>
            <a:off x="265176" y="7388352"/>
            <a:ext cx="2017776" cy="2432304"/>
          </a:xfrm>
          <a:prstGeom prst="roundRect">
            <a:avLst>
              <a:gd name="adj" fmla="val 906"/>
            </a:avLst>
          </a:prstGeom>
          <a:solidFill>
            <a:srgbClr val="FFFFFF"/>
          </a:solidFill>
          <a:ln w="9525">
            <a:solidFill>
              <a:srgbClr val="C8DCD7"/>
            </a:solidFill>
            <a:prstDash val="solid"/>
          </a:ln>
        </p:spPr>
      </p:sp>
      <p:sp>
        <p:nvSpPr>
          <p:cNvPr id="95" name="Shape 93"/>
          <p:cNvSpPr/>
          <p:nvPr/>
        </p:nvSpPr>
        <p:spPr>
          <a:xfrm>
            <a:off x="265176" y="7388352"/>
            <a:ext cx="2017776" cy="274320"/>
          </a:xfrm>
          <a:prstGeom prst="rect">
            <a:avLst/>
          </a:prstGeom>
          <a:solidFill>
            <a:srgbClr val="116F68"/>
          </a:solidFill>
          <a:ln/>
        </p:spPr>
      </p:sp>
      <p:sp>
        <p:nvSpPr>
          <p:cNvPr id="96" name="Text 94"/>
          <p:cNvSpPr/>
          <p:nvPr/>
        </p:nvSpPr>
        <p:spPr>
          <a:xfrm>
            <a:off x="347472" y="7406640"/>
            <a:ext cx="1853184"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HERO-SKU AVAILABILITY</a:t>
            </a:r>
            <a:endParaRPr lang="en-US" sz="700" dirty="0"/>
          </a:p>
        </p:txBody>
      </p:sp>
      <p:sp>
        <p:nvSpPr>
          <p:cNvPr id="97" name="Text 95"/>
          <p:cNvSpPr/>
          <p:nvPr/>
        </p:nvSpPr>
        <p:spPr>
          <a:xfrm>
            <a:off x="356616" y="7754112"/>
            <a:ext cx="1834896" cy="310896"/>
          </a:xfrm>
          <a:prstGeom prst="rect">
            <a:avLst/>
          </a:prstGeom>
          <a:noFill/>
          <a:ln/>
        </p:spPr>
        <p:txBody>
          <a:bodyPr wrap="square" lIns="0" tIns="0" rIns="0" bIns="0" rtlCol="0" anchor="ctr"/>
          <a:lstStyle/>
          <a:p>
            <a:pPr algn="ctr" indent="0" marL="0">
              <a:buNone/>
            </a:pPr>
            <a:r>
              <a:rPr lang="en-US" sz="1150" b="1" dirty="0">
                <a:solidFill>
                  <a:srgbClr val="116F68"/>
                </a:solidFill>
                <a:latin typeface="Calibri Light" pitchFamily="34" charset="0"/>
                <a:ea typeface="Calibri Light" pitchFamily="34" charset="-122"/>
                <a:cs typeface="Calibri Light" pitchFamily="34" charset="-120"/>
              </a:rPr>
              <a:t>Must-stock first</a:t>
            </a:r>
            <a:endParaRPr lang="en-US" sz="1150" dirty="0"/>
          </a:p>
        </p:txBody>
      </p:sp>
      <p:sp>
        <p:nvSpPr>
          <p:cNvPr id="98" name="Shape 96"/>
          <p:cNvSpPr/>
          <p:nvPr/>
        </p:nvSpPr>
        <p:spPr>
          <a:xfrm>
            <a:off x="374904" y="8188452"/>
            <a:ext cx="50292" cy="50292"/>
          </a:xfrm>
          <a:prstGeom prst="ellipse">
            <a:avLst/>
          </a:prstGeom>
          <a:solidFill>
            <a:srgbClr val="116F68"/>
          </a:solidFill>
          <a:ln/>
        </p:spPr>
      </p:sp>
      <p:sp>
        <p:nvSpPr>
          <p:cNvPr id="99" name="Text 97"/>
          <p:cNvSpPr/>
          <p:nvPr/>
        </p:nvSpPr>
        <p:spPr>
          <a:xfrm>
            <a:off x="493776" y="8138160"/>
            <a:ext cx="1679448" cy="347472"/>
          </a:xfrm>
          <a:prstGeom prst="rect">
            <a:avLst/>
          </a:prstGeom>
          <a:noFill/>
          <a:ln/>
        </p:spPr>
        <p:txBody>
          <a:bodyPr wrap="square" lIns="0" tIns="0" rIns="0" bIns="0" rtlCol="0" anchor="t"/>
          <a:lstStyle/>
          <a:p>
            <a:pPr indent="0" marL="0">
              <a:lnSpc>
                <a:spcPct val="92000"/>
              </a:lnSpc>
              <a:buNone/>
            </a:pPr>
            <a:r>
              <a:rPr lang="en-US" sz="690" b="1" dirty="0">
                <a:solidFill>
                  <a:srgbClr val="183B39"/>
                </a:solidFill>
                <a:latin typeface="Calibri" pitchFamily="34" charset="0"/>
                <a:ea typeface="Calibri" pitchFamily="34" charset="-122"/>
                <a:cs typeface="Calibri" pitchFamily="34" charset="-120"/>
              </a:rPr>
              <a:t>Measure hero availability %, not SKU count.</a:t>
            </a:r>
            <a:endParaRPr lang="en-US" sz="690" dirty="0"/>
          </a:p>
        </p:txBody>
      </p:sp>
      <p:sp>
        <p:nvSpPr>
          <p:cNvPr id="100" name="Shape 98"/>
          <p:cNvSpPr/>
          <p:nvPr/>
        </p:nvSpPr>
        <p:spPr>
          <a:xfrm>
            <a:off x="374904" y="8554212"/>
            <a:ext cx="50292" cy="50292"/>
          </a:xfrm>
          <a:prstGeom prst="ellipse">
            <a:avLst/>
          </a:prstGeom>
          <a:solidFill>
            <a:srgbClr val="116F68"/>
          </a:solidFill>
          <a:ln/>
        </p:spPr>
      </p:sp>
      <p:sp>
        <p:nvSpPr>
          <p:cNvPr id="101" name="Text 99"/>
          <p:cNvSpPr/>
          <p:nvPr/>
        </p:nvSpPr>
        <p:spPr>
          <a:xfrm>
            <a:off x="493776" y="8503920"/>
            <a:ext cx="1679448"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A missing #1 hero should fail the assortment score outright.</a:t>
            </a:r>
            <a:endParaRPr lang="en-US" sz="690" dirty="0"/>
          </a:p>
        </p:txBody>
      </p:sp>
      <p:sp>
        <p:nvSpPr>
          <p:cNvPr id="102" name="Shape 100"/>
          <p:cNvSpPr/>
          <p:nvPr/>
        </p:nvSpPr>
        <p:spPr>
          <a:xfrm>
            <a:off x="374904" y="8919972"/>
            <a:ext cx="50292" cy="50292"/>
          </a:xfrm>
          <a:prstGeom prst="ellipse">
            <a:avLst/>
          </a:prstGeom>
          <a:solidFill>
            <a:srgbClr val="116F68"/>
          </a:solidFill>
          <a:ln/>
        </p:spPr>
      </p:sp>
      <p:sp>
        <p:nvSpPr>
          <p:cNvPr id="103" name="Text 101"/>
          <p:cNvSpPr/>
          <p:nvPr/>
        </p:nvSpPr>
        <p:spPr>
          <a:xfrm>
            <a:off x="493776" y="8869680"/>
            <a:ext cx="1679448"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Long tail follows proven heroes — never leads them.</a:t>
            </a:r>
            <a:endParaRPr lang="en-US" sz="690" dirty="0"/>
          </a:p>
        </p:txBody>
      </p:sp>
      <p:sp>
        <p:nvSpPr>
          <p:cNvPr id="104" name="Shape 102"/>
          <p:cNvSpPr/>
          <p:nvPr/>
        </p:nvSpPr>
        <p:spPr>
          <a:xfrm>
            <a:off x="374904" y="9285732"/>
            <a:ext cx="50292" cy="50292"/>
          </a:xfrm>
          <a:prstGeom prst="ellipse">
            <a:avLst/>
          </a:prstGeom>
          <a:solidFill>
            <a:srgbClr val="116F68"/>
          </a:solidFill>
          <a:ln/>
        </p:spPr>
      </p:sp>
      <p:sp>
        <p:nvSpPr>
          <p:cNvPr id="105" name="Text 103"/>
          <p:cNvSpPr/>
          <p:nvPr/>
        </p:nvSpPr>
        <p:spPr>
          <a:xfrm>
            <a:off x="493776" y="9235440"/>
            <a:ext cx="1679448"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Protect availability before any discounting.</a:t>
            </a:r>
            <a:endParaRPr lang="en-US" sz="690" dirty="0"/>
          </a:p>
        </p:txBody>
      </p:sp>
      <p:sp>
        <p:nvSpPr>
          <p:cNvPr id="106" name="Shape 104"/>
          <p:cNvSpPr/>
          <p:nvPr/>
        </p:nvSpPr>
        <p:spPr>
          <a:xfrm>
            <a:off x="2420112" y="7388352"/>
            <a:ext cx="2017776" cy="2432304"/>
          </a:xfrm>
          <a:prstGeom prst="roundRect">
            <a:avLst>
              <a:gd name="adj" fmla="val 906"/>
            </a:avLst>
          </a:prstGeom>
          <a:solidFill>
            <a:srgbClr val="FFFFFF"/>
          </a:solidFill>
          <a:ln w="9525">
            <a:solidFill>
              <a:srgbClr val="C8DCD7"/>
            </a:solidFill>
            <a:prstDash val="solid"/>
          </a:ln>
        </p:spPr>
      </p:sp>
      <p:sp>
        <p:nvSpPr>
          <p:cNvPr id="107" name="Shape 105"/>
          <p:cNvSpPr/>
          <p:nvPr/>
        </p:nvSpPr>
        <p:spPr>
          <a:xfrm>
            <a:off x="2420112" y="7388352"/>
            <a:ext cx="2017776" cy="274320"/>
          </a:xfrm>
          <a:prstGeom prst="rect">
            <a:avLst/>
          </a:prstGeom>
          <a:solidFill>
            <a:srgbClr val="116F68"/>
          </a:solidFill>
          <a:ln/>
        </p:spPr>
      </p:sp>
      <p:sp>
        <p:nvSpPr>
          <p:cNvPr id="108" name="Text 106"/>
          <p:cNvSpPr/>
          <p:nvPr/>
        </p:nvSpPr>
        <p:spPr>
          <a:xfrm>
            <a:off x="2502408" y="7406640"/>
            <a:ext cx="1853184"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PACK ARCHITECTURE</a:t>
            </a:r>
            <a:endParaRPr lang="en-US" sz="700" dirty="0"/>
          </a:p>
        </p:txBody>
      </p:sp>
      <p:sp>
        <p:nvSpPr>
          <p:cNvPr id="109" name="Text 107"/>
          <p:cNvSpPr/>
          <p:nvPr/>
        </p:nvSpPr>
        <p:spPr>
          <a:xfrm>
            <a:off x="2511552" y="7754112"/>
            <a:ext cx="1834896" cy="310896"/>
          </a:xfrm>
          <a:prstGeom prst="rect">
            <a:avLst/>
          </a:prstGeom>
          <a:noFill/>
          <a:ln/>
        </p:spPr>
        <p:txBody>
          <a:bodyPr wrap="square" lIns="0" tIns="0" rIns="0" bIns="0" rtlCol="0" anchor="ctr"/>
          <a:lstStyle/>
          <a:p>
            <a:pPr algn="ctr" indent="0" marL="0">
              <a:buNone/>
            </a:pPr>
            <a:r>
              <a:rPr lang="en-US" sz="1150" b="1" dirty="0">
                <a:solidFill>
                  <a:srgbClr val="116F68"/>
                </a:solidFill>
                <a:latin typeface="Calibri Light" pitchFamily="34" charset="0"/>
                <a:ea typeface="Calibri Light" pitchFamily="34" charset="-122"/>
                <a:cs typeface="Calibri Light" pitchFamily="34" charset="-120"/>
              </a:rPr>
              <a:t>4 pack roles</a:t>
            </a:r>
            <a:endParaRPr lang="en-US" sz="1150" dirty="0"/>
          </a:p>
        </p:txBody>
      </p:sp>
      <p:sp>
        <p:nvSpPr>
          <p:cNvPr id="110" name="Shape 108"/>
          <p:cNvSpPr/>
          <p:nvPr/>
        </p:nvSpPr>
        <p:spPr>
          <a:xfrm>
            <a:off x="2529840" y="8188452"/>
            <a:ext cx="50292" cy="50292"/>
          </a:xfrm>
          <a:prstGeom prst="ellipse">
            <a:avLst/>
          </a:prstGeom>
          <a:solidFill>
            <a:srgbClr val="116F68"/>
          </a:solidFill>
          <a:ln/>
        </p:spPr>
      </p:sp>
      <p:sp>
        <p:nvSpPr>
          <p:cNvPr id="111" name="Text 109"/>
          <p:cNvSpPr/>
          <p:nvPr/>
        </p:nvSpPr>
        <p:spPr>
          <a:xfrm>
            <a:off x="2648712" y="8138160"/>
            <a:ext cx="1679448" cy="347472"/>
          </a:xfrm>
          <a:prstGeom prst="rect">
            <a:avLst/>
          </a:prstGeom>
          <a:noFill/>
          <a:ln/>
        </p:spPr>
        <p:txBody>
          <a:bodyPr wrap="square" lIns="0" tIns="0" rIns="0" bIns="0" rtlCol="0" anchor="t"/>
          <a:lstStyle/>
          <a:p>
            <a:pPr indent="0" marL="0">
              <a:lnSpc>
                <a:spcPct val="92000"/>
              </a:lnSpc>
              <a:buNone/>
            </a:pPr>
            <a:r>
              <a:rPr lang="en-US" sz="690" b="1" dirty="0">
                <a:solidFill>
                  <a:srgbClr val="183B39"/>
                </a:solidFill>
                <a:latin typeface="Calibri" pitchFamily="34" charset="0"/>
                <a:ea typeface="Calibri" pitchFamily="34" charset="-122"/>
                <a:cs typeface="Calibri" pitchFamily="34" charset="-120"/>
              </a:rPr>
              <a:t>Traffic · core-volume · premium upgrade · dead.</a:t>
            </a:r>
            <a:endParaRPr lang="en-US" sz="690" dirty="0"/>
          </a:p>
        </p:txBody>
      </p:sp>
      <p:sp>
        <p:nvSpPr>
          <p:cNvPr id="112" name="Shape 110"/>
          <p:cNvSpPr/>
          <p:nvPr/>
        </p:nvSpPr>
        <p:spPr>
          <a:xfrm>
            <a:off x="2529840" y="8554212"/>
            <a:ext cx="50292" cy="50292"/>
          </a:xfrm>
          <a:prstGeom prst="ellipse">
            <a:avLst/>
          </a:prstGeom>
          <a:solidFill>
            <a:srgbClr val="116F68"/>
          </a:solidFill>
          <a:ln/>
        </p:spPr>
      </p:sp>
      <p:sp>
        <p:nvSpPr>
          <p:cNvPr id="113" name="Text 111"/>
          <p:cNvSpPr/>
          <p:nvPr/>
        </p:nvSpPr>
        <p:spPr>
          <a:xfrm>
            <a:off x="2648712" y="8503920"/>
            <a:ext cx="1679448"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Not every format gets every pack.</a:t>
            </a:r>
            <a:endParaRPr lang="en-US" sz="690" dirty="0"/>
          </a:p>
        </p:txBody>
      </p:sp>
      <p:sp>
        <p:nvSpPr>
          <p:cNvPr id="114" name="Shape 112"/>
          <p:cNvSpPr/>
          <p:nvPr/>
        </p:nvSpPr>
        <p:spPr>
          <a:xfrm>
            <a:off x="2529840" y="8919972"/>
            <a:ext cx="50292" cy="50292"/>
          </a:xfrm>
          <a:prstGeom prst="ellipse">
            <a:avLst/>
          </a:prstGeom>
          <a:solidFill>
            <a:srgbClr val="116F68"/>
          </a:solidFill>
          <a:ln/>
        </p:spPr>
      </p:sp>
      <p:sp>
        <p:nvSpPr>
          <p:cNvPr id="115" name="Text 113"/>
          <p:cNvSpPr/>
          <p:nvPr/>
        </p:nvSpPr>
        <p:spPr>
          <a:xfrm>
            <a:off x="2648712" y="8869680"/>
            <a:ext cx="1679448"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Retire dead packs before adding new ones.</a:t>
            </a:r>
            <a:endParaRPr lang="en-US" sz="690" dirty="0"/>
          </a:p>
        </p:txBody>
      </p:sp>
      <p:sp>
        <p:nvSpPr>
          <p:cNvPr id="116" name="Shape 114"/>
          <p:cNvSpPr/>
          <p:nvPr/>
        </p:nvSpPr>
        <p:spPr>
          <a:xfrm>
            <a:off x="2529840" y="9285732"/>
            <a:ext cx="50292" cy="50292"/>
          </a:xfrm>
          <a:prstGeom prst="ellipse">
            <a:avLst/>
          </a:prstGeom>
          <a:solidFill>
            <a:srgbClr val="116F68"/>
          </a:solidFill>
          <a:ln/>
        </p:spPr>
      </p:sp>
      <p:sp>
        <p:nvSpPr>
          <p:cNvPr id="117" name="Text 115"/>
          <p:cNvSpPr/>
          <p:nvPr/>
        </p:nvSpPr>
        <p:spPr>
          <a:xfrm>
            <a:off x="2648712" y="9235440"/>
            <a:ext cx="1679448"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Judge a pack on sales per store, not listings won.</a:t>
            </a:r>
            <a:endParaRPr lang="en-US" sz="690" dirty="0"/>
          </a:p>
        </p:txBody>
      </p:sp>
      <p:sp>
        <p:nvSpPr>
          <p:cNvPr id="118" name="Shape 116"/>
          <p:cNvSpPr/>
          <p:nvPr/>
        </p:nvSpPr>
        <p:spPr>
          <a:xfrm>
            <a:off x="4575048" y="7388352"/>
            <a:ext cx="2017776" cy="2432304"/>
          </a:xfrm>
          <a:prstGeom prst="roundRect">
            <a:avLst>
              <a:gd name="adj" fmla="val 906"/>
            </a:avLst>
          </a:prstGeom>
          <a:solidFill>
            <a:srgbClr val="FFFFFF"/>
          </a:solidFill>
          <a:ln w="9525">
            <a:solidFill>
              <a:srgbClr val="C8DCD7"/>
            </a:solidFill>
            <a:prstDash val="solid"/>
          </a:ln>
        </p:spPr>
      </p:sp>
      <p:sp>
        <p:nvSpPr>
          <p:cNvPr id="119" name="Shape 117"/>
          <p:cNvSpPr/>
          <p:nvPr/>
        </p:nvSpPr>
        <p:spPr>
          <a:xfrm>
            <a:off x="4575048" y="7388352"/>
            <a:ext cx="2017776" cy="274320"/>
          </a:xfrm>
          <a:prstGeom prst="rect">
            <a:avLst/>
          </a:prstGeom>
          <a:solidFill>
            <a:srgbClr val="5F716E"/>
          </a:solidFill>
          <a:ln/>
        </p:spPr>
      </p:sp>
      <p:sp>
        <p:nvSpPr>
          <p:cNvPr id="120" name="Text 118"/>
          <p:cNvSpPr/>
          <p:nvPr/>
        </p:nvSpPr>
        <p:spPr>
          <a:xfrm>
            <a:off x="4657344" y="7406640"/>
            <a:ext cx="1853184"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THE FIELDS STILL MISSING</a:t>
            </a:r>
            <a:endParaRPr lang="en-US" sz="700" dirty="0"/>
          </a:p>
        </p:txBody>
      </p:sp>
      <p:sp>
        <p:nvSpPr>
          <p:cNvPr id="121" name="Text 119"/>
          <p:cNvSpPr/>
          <p:nvPr/>
        </p:nvSpPr>
        <p:spPr>
          <a:xfrm>
            <a:off x="4666488" y="7754112"/>
            <a:ext cx="1834896" cy="310896"/>
          </a:xfrm>
          <a:prstGeom prst="rect">
            <a:avLst/>
          </a:prstGeom>
          <a:noFill/>
          <a:ln/>
        </p:spPr>
        <p:txBody>
          <a:bodyPr wrap="square" lIns="0" tIns="0" rIns="0" bIns="0" rtlCol="0" anchor="ctr"/>
          <a:lstStyle/>
          <a:p>
            <a:pPr algn="ctr" indent="0" marL="0">
              <a:buNone/>
            </a:pPr>
            <a:r>
              <a:rPr lang="en-US" sz="1150" b="1" dirty="0">
                <a:solidFill>
                  <a:srgbClr val="5F716E"/>
                </a:solidFill>
                <a:latin typeface="Calibri Light" pitchFamily="34" charset="0"/>
                <a:ea typeface="Calibri Light" pitchFamily="34" charset="-122"/>
                <a:cs typeface="Calibri Light" pitchFamily="34" charset="-120"/>
              </a:rPr>
              <a:t>Reconcile first</a:t>
            </a:r>
            <a:endParaRPr lang="en-US" sz="1150" dirty="0"/>
          </a:p>
        </p:txBody>
      </p:sp>
      <p:sp>
        <p:nvSpPr>
          <p:cNvPr id="122" name="Shape 120"/>
          <p:cNvSpPr/>
          <p:nvPr/>
        </p:nvSpPr>
        <p:spPr>
          <a:xfrm>
            <a:off x="4684776" y="8188452"/>
            <a:ext cx="50292" cy="50292"/>
          </a:xfrm>
          <a:prstGeom prst="ellipse">
            <a:avLst/>
          </a:prstGeom>
          <a:solidFill>
            <a:srgbClr val="5F716E"/>
          </a:solidFill>
          <a:ln/>
        </p:spPr>
      </p:sp>
      <p:sp>
        <p:nvSpPr>
          <p:cNvPr id="123" name="Text 121"/>
          <p:cNvSpPr/>
          <p:nvPr/>
        </p:nvSpPr>
        <p:spPr>
          <a:xfrm>
            <a:off x="4803648" y="8138160"/>
            <a:ext cx="1679448" cy="347472"/>
          </a:xfrm>
          <a:prstGeom prst="rect">
            <a:avLst/>
          </a:prstGeom>
          <a:noFill/>
          <a:ln/>
        </p:spPr>
        <p:txBody>
          <a:bodyPr wrap="square" lIns="0" tIns="0" rIns="0" bIns="0" rtlCol="0" anchor="t"/>
          <a:lstStyle/>
          <a:p>
            <a:pPr indent="0" marL="0">
              <a:lnSpc>
                <a:spcPct val="92000"/>
              </a:lnSpc>
              <a:buNone/>
            </a:pPr>
            <a:r>
              <a:rPr lang="en-US" sz="690" b="1" dirty="0">
                <a:solidFill>
                  <a:srgbClr val="183B39"/>
                </a:solidFill>
                <a:latin typeface="Calibri" pitchFamily="34" charset="0"/>
                <a:ea typeface="Calibri" pitchFamily="34" charset="-122"/>
                <a:cs typeface="Calibri" pitchFamily="34" charset="-120"/>
              </a:rPr>
              <a:t>SAH, weighted distribution by chain, PDO, OOS, closing stock.</a:t>
            </a:r>
            <a:endParaRPr lang="en-US" sz="690" dirty="0"/>
          </a:p>
        </p:txBody>
      </p:sp>
      <p:sp>
        <p:nvSpPr>
          <p:cNvPr id="124" name="Shape 122"/>
          <p:cNvSpPr/>
          <p:nvPr/>
        </p:nvSpPr>
        <p:spPr>
          <a:xfrm>
            <a:off x="4684776" y="8554212"/>
            <a:ext cx="50292" cy="50292"/>
          </a:xfrm>
          <a:prstGeom prst="ellipse">
            <a:avLst/>
          </a:prstGeom>
          <a:solidFill>
            <a:srgbClr val="5F716E"/>
          </a:solidFill>
          <a:ln/>
        </p:spPr>
      </p:sp>
      <p:sp>
        <p:nvSpPr>
          <p:cNvPr id="125" name="Text 123"/>
          <p:cNvSpPr/>
          <p:nvPr/>
        </p:nvSpPr>
        <p:spPr>
          <a:xfrm>
            <a:off x="4803648" y="8503920"/>
            <a:ext cx="1679448"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Without them, cause is inferred and not measured.</a:t>
            </a:r>
            <a:endParaRPr lang="en-US" sz="690" dirty="0"/>
          </a:p>
        </p:txBody>
      </p:sp>
      <p:sp>
        <p:nvSpPr>
          <p:cNvPr id="126" name="Shape 124"/>
          <p:cNvSpPr/>
          <p:nvPr/>
        </p:nvSpPr>
        <p:spPr>
          <a:xfrm>
            <a:off x="4684776" y="8919972"/>
            <a:ext cx="50292" cy="50292"/>
          </a:xfrm>
          <a:prstGeom prst="ellipse">
            <a:avLst/>
          </a:prstGeom>
          <a:solidFill>
            <a:srgbClr val="5F716E"/>
          </a:solidFill>
          <a:ln/>
        </p:spPr>
      </p:sp>
      <p:sp>
        <p:nvSpPr>
          <p:cNvPr id="127" name="Text 125"/>
          <p:cNvSpPr/>
          <p:nvPr/>
        </p:nvSpPr>
        <p:spPr>
          <a:xfrm>
            <a:off x="4803648" y="8869680"/>
            <a:ext cx="1679448"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A factless store × article × month table supplies the denominator.</a:t>
            </a:r>
            <a:endParaRPr lang="en-US" sz="690" dirty="0"/>
          </a:p>
        </p:txBody>
      </p:sp>
      <p:sp>
        <p:nvSpPr>
          <p:cNvPr id="128" name="Shape 126"/>
          <p:cNvSpPr/>
          <p:nvPr/>
        </p:nvSpPr>
        <p:spPr>
          <a:xfrm>
            <a:off x="4684776" y="9285732"/>
            <a:ext cx="50292" cy="50292"/>
          </a:xfrm>
          <a:prstGeom prst="ellipse">
            <a:avLst/>
          </a:prstGeom>
          <a:solidFill>
            <a:srgbClr val="5F716E"/>
          </a:solidFill>
          <a:ln/>
        </p:spPr>
      </p:sp>
      <p:sp>
        <p:nvSpPr>
          <p:cNvPr id="129" name="Text 127"/>
          <p:cNvSpPr/>
          <p:nvPr/>
        </p:nvSpPr>
        <p:spPr>
          <a:xfrm>
            <a:off x="4803648" y="9235440"/>
            <a:ext cx="1679448"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No causal claim until these tie to source.</a:t>
            </a:r>
            <a:endParaRPr lang="en-US" sz="69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A"/>
        </a:solidFill>
      </p:bgPr>
    </p:bg>
    <p:spTree>
      <p:nvGrpSpPr>
        <p:cNvPr id="1" name=""/>
        <p:cNvGrpSpPr/>
        <p:nvPr/>
      </p:nvGrpSpPr>
      <p:grpSpPr>
        <a:xfrm>
          <a:off x="0" y="0"/>
          <a:ext cx="0" cy="0"/>
          <a:chOff x="0" y="0"/>
          <a:chExt cx="0" cy="0"/>
        </a:xfrm>
      </p:grpSpPr>
      <p:sp>
        <p:nvSpPr>
          <p:cNvPr id="2" name="Shape 0"/>
          <p:cNvSpPr/>
          <p:nvPr/>
        </p:nvSpPr>
        <p:spPr>
          <a:xfrm>
            <a:off x="0" y="0"/>
            <a:ext cx="6858000" cy="1133856"/>
          </a:xfrm>
          <a:prstGeom prst="rect">
            <a:avLst/>
          </a:prstGeom>
          <a:solidFill>
            <a:srgbClr val="116F68"/>
          </a:solidFill>
          <a:ln/>
        </p:spPr>
      </p:sp>
      <p:sp>
        <p:nvSpPr>
          <p:cNvPr id="3" name="Text 1"/>
          <p:cNvSpPr/>
          <p:nvPr/>
        </p:nvSpPr>
        <p:spPr>
          <a:xfrm>
            <a:off x="365760" y="182880"/>
            <a:ext cx="5641848" cy="548640"/>
          </a:xfrm>
          <a:prstGeom prst="rect">
            <a:avLst/>
          </a:prstGeom>
          <a:noFill/>
          <a:ln/>
        </p:spPr>
        <p:txBody>
          <a:bodyPr wrap="square" lIns="0" tIns="0" rIns="0" bIns="0" rtlCol="0" anchor="ctr"/>
          <a:lstStyle/>
          <a:p>
            <a:pPr indent="0" marL="0">
              <a:lnSpc>
                <a:spcPct val="92000"/>
              </a:lnSpc>
              <a:buNone/>
            </a:pPr>
            <a:r>
              <a:rPr lang="en-US" sz="1450" b="1" dirty="0">
                <a:solidFill>
                  <a:srgbClr val="FFFFFF"/>
                </a:solidFill>
                <a:latin typeface="Calibri Light" pitchFamily="34" charset="0"/>
                <a:ea typeface="Calibri Light" pitchFamily="34" charset="-122"/>
                <a:cs typeface="Calibri Light" pitchFamily="34" charset="-120"/>
              </a:rPr>
              <a:t>The shelf is already wide — Mamaearth is under-earning on it</a:t>
            </a:r>
            <a:endParaRPr lang="en-US" sz="1450" dirty="0"/>
          </a:p>
        </p:txBody>
      </p:sp>
      <p:sp>
        <p:nvSpPr>
          <p:cNvPr id="4" name="Text 2"/>
          <p:cNvSpPr/>
          <p:nvPr/>
        </p:nvSpPr>
        <p:spPr>
          <a:xfrm>
            <a:off x="384048" y="786384"/>
            <a:ext cx="5641848" cy="237744"/>
          </a:xfrm>
          <a:prstGeom prst="rect">
            <a:avLst/>
          </a:prstGeom>
          <a:noFill/>
          <a:ln/>
        </p:spPr>
        <p:txBody>
          <a:bodyPr wrap="square" lIns="0" tIns="0" rIns="0" bIns="0" rtlCol="0" anchor="ctr"/>
          <a:lstStyle/>
          <a:p>
            <a:pPr indent="0" marL="0">
              <a:buNone/>
            </a:pPr>
            <a:r>
              <a:rPr lang="en-US" sz="850" dirty="0">
                <a:solidFill>
                  <a:srgbClr val="BFDCD7"/>
                </a:solidFill>
                <a:latin typeface="Calibri" pitchFamily="34" charset="0"/>
                <a:ea typeface="Calibri" pitchFamily="34" charset="-122"/>
                <a:cs typeface="Calibri" pitchFamily="34" charset="-120"/>
              </a:rPr>
              <a:t>Nielsen MT | share and weighted distribution, MAT Jun 2026 | pack detail May 2026</a:t>
            </a:r>
            <a:endParaRPr lang="en-US" sz="850" dirty="0"/>
          </a:p>
        </p:txBody>
      </p:sp>
      <p:sp>
        <p:nvSpPr>
          <p:cNvPr id="5" name="Text 3"/>
          <p:cNvSpPr/>
          <p:nvPr/>
        </p:nvSpPr>
        <p:spPr>
          <a:xfrm>
            <a:off x="6117336" y="365760"/>
            <a:ext cx="402336" cy="237744"/>
          </a:xfrm>
          <a:prstGeom prst="rect">
            <a:avLst/>
          </a:prstGeom>
          <a:noFill/>
          <a:ln/>
        </p:spPr>
        <p:txBody>
          <a:bodyPr wrap="square" lIns="0" tIns="0" rIns="0" bIns="0" rtlCol="0" anchor="t"/>
          <a:lstStyle/>
          <a:p>
            <a:pPr algn="r" indent="0" marL="0">
              <a:buNone/>
            </a:pPr>
            <a:r>
              <a:rPr lang="en-US" sz="950" b="1" dirty="0">
                <a:solidFill>
                  <a:srgbClr val="8FC4BD"/>
                </a:solidFill>
                <a:latin typeface="Calibri" pitchFamily="34" charset="0"/>
                <a:ea typeface="Calibri" pitchFamily="34" charset="-122"/>
                <a:cs typeface="Calibri" pitchFamily="34" charset="-120"/>
              </a:rPr>
              <a:t>05</a:t>
            </a:r>
            <a:endParaRPr lang="en-US" sz="950" dirty="0"/>
          </a:p>
        </p:txBody>
      </p:sp>
      <p:sp>
        <p:nvSpPr>
          <p:cNvPr id="6" name="Shape 4"/>
          <p:cNvSpPr/>
          <p:nvPr/>
        </p:nvSpPr>
        <p:spPr>
          <a:xfrm>
            <a:off x="265176" y="11375136"/>
            <a:ext cx="6327648" cy="420624"/>
          </a:xfrm>
          <a:prstGeom prst="roundRect">
            <a:avLst>
              <a:gd name="adj" fmla="val 6522"/>
            </a:avLst>
          </a:prstGeom>
          <a:solidFill>
            <a:srgbClr val="DFF2ED"/>
          </a:solidFill>
          <a:ln w="9525">
            <a:solidFill>
              <a:srgbClr val="C8DCD7"/>
            </a:solidFill>
            <a:prstDash val="solid"/>
          </a:ln>
        </p:spPr>
      </p:sp>
      <p:sp>
        <p:nvSpPr>
          <p:cNvPr id="7" name="Text 5"/>
          <p:cNvSpPr/>
          <p:nvPr/>
        </p:nvSpPr>
        <p:spPr>
          <a:xfrm>
            <a:off x="374904"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EVIDENCE</a:t>
            </a:r>
            <a:endParaRPr lang="en-US" sz="650" dirty="0"/>
          </a:p>
        </p:txBody>
      </p:sp>
      <p:sp>
        <p:nvSpPr>
          <p:cNvPr id="8" name="Text 6"/>
          <p:cNvSpPr/>
          <p:nvPr/>
        </p:nvSpPr>
        <p:spPr>
          <a:xfrm>
            <a:off x="374904"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moved</a:t>
            </a:r>
            <a:endParaRPr lang="en-US" sz="700" dirty="0"/>
          </a:p>
        </p:txBody>
      </p:sp>
      <p:sp>
        <p:nvSpPr>
          <p:cNvPr id="9" name="Text 7"/>
          <p:cNvSpPr/>
          <p:nvPr/>
        </p:nvSpPr>
        <p:spPr>
          <a:xfrm>
            <a:off x="1901952"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IMPLICATION</a:t>
            </a:r>
            <a:endParaRPr lang="en-US" sz="650" dirty="0"/>
          </a:p>
        </p:txBody>
      </p:sp>
      <p:sp>
        <p:nvSpPr>
          <p:cNvPr id="10" name="Text 8"/>
          <p:cNvSpPr/>
          <p:nvPr/>
        </p:nvSpPr>
        <p:spPr>
          <a:xfrm>
            <a:off x="1901952"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Why it matters</a:t>
            </a:r>
            <a:endParaRPr lang="en-US" sz="700" dirty="0"/>
          </a:p>
        </p:txBody>
      </p:sp>
      <p:sp>
        <p:nvSpPr>
          <p:cNvPr id="11" name="Shape 9"/>
          <p:cNvSpPr/>
          <p:nvPr/>
        </p:nvSpPr>
        <p:spPr>
          <a:xfrm>
            <a:off x="1819656" y="11457432"/>
            <a:ext cx="0" cy="265176"/>
          </a:xfrm>
          <a:prstGeom prst="line">
            <a:avLst/>
          </a:prstGeom>
          <a:noFill/>
          <a:ln w="9525">
            <a:solidFill>
              <a:srgbClr val="C8DCD7"/>
            </a:solidFill>
            <a:prstDash val="solid"/>
          </a:ln>
        </p:spPr>
      </p:sp>
      <p:sp>
        <p:nvSpPr>
          <p:cNvPr id="12" name="Text 10"/>
          <p:cNvSpPr/>
          <p:nvPr/>
        </p:nvSpPr>
        <p:spPr>
          <a:xfrm>
            <a:off x="3429000"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ACTION</a:t>
            </a:r>
            <a:endParaRPr lang="en-US" sz="650" dirty="0"/>
          </a:p>
        </p:txBody>
      </p:sp>
      <p:sp>
        <p:nvSpPr>
          <p:cNvPr id="13" name="Text 11"/>
          <p:cNvSpPr/>
          <p:nvPr/>
        </p:nvSpPr>
        <p:spPr>
          <a:xfrm>
            <a:off x="3429000"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changes now</a:t>
            </a:r>
            <a:endParaRPr lang="en-US" sz="700" dirty="0"/>
          </a:p>
        </p:txBody>
      </p:sp>
      <p:sp>
        <p:nvSpPr>
          <p:cNvPr id="14" name="Shape 12"/>
          <p:cNvSpPr/>
          <p:nvPr/>
        </p:nvSpPr>
        <p:spPr>
          <a:xfrm>
            <a:off x="3346704" y="11457432"/>
            <a:ext cx="0" cy="265176"/>
          </a:xfrm>
          <a:prstGeom prst="line">
            <a:avLst/>
          </a:prstGeom>
          <a:noFill/>
          <a:ln w="9525">
            <a:solidFill>
              <a:srgbClr val="C8DCD7"/>
            </a:solidFill>
            <a:prstDash val="solid"/>
          </a:ln>
        </p:spPr>
      </p:sp>
      <p:sp>
        <p:nvSpPr>
          <p:cNvPr id="15" name="Text 13"/>
          <p:cNvSpPr/>
          <p:nvPr/>
        </p:nvSpPr>
        <p:spPr>
          <a:xfrm>
            <a:off x="4956048"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OWNER</a:t>
            </a:r>
            <a:endParaRPr lang="en-US" sz="650" dirty="0"/>
          </a:p>
        </p:txBody>
      </p:sp>
      <p:sp>
        <p:nvSpPr>
          <p:cNvPr id="16" name="Text 14"/>
          <p:cNvSpPr/>
          <p:nvPr/>
        </p:nvSpPr>
        <p:spPr>
          <a:xfrm>
            <a:off x="4956048"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Who closes it</a:t>
            </a:r>
            <a:endParaRPr lang="en-US" sz="700" dirty="0"/>
          </a:p>
        </p:txBody>
      </p:sp>
      <p:sp>
        <p:nvSpPr>
          <p:cNvPr id="17" name="Shape 15"/>
          <p:cNvSpPr/>
          <p:nvPr/>
        </p:nvSpPr>
        <p:spPr>
          <a:xfrm>
            <a:off x="4873752" y="11457432"/>
            <a:ext cx="0" cy="265176"/>
          </a:xfrm>
          <a:prstGeom prst="line">
            <a:avLst/>
          </a:prstGeom>
          <a:noFill/>
          <a:ln w="9525">
            <a:solidFill>
              <a:srgbClr val="C8DCD7"/>
            </a:solidFill>
            <a:prstDash val="solid"/>
          </a:ln>
        </p:spPr>
      </p:sp>
      <p:sp>
        <p:nvSpPr>
          <p:cNvPr id="18" name="Text 16"/>
          <p:cNvSpPr/>
          <p:nvPr/>
        </p:nvSpPr>
        <p:spPr>
          <a:xfrm>
            <a:off x="301752" y="11887200"/>
            <a:ext cx="6254496" cy="201168"/>
          </a:xfrm>
          <a:prstGeom prst="rect">
            <a:avLst/>
          </a:prstGeom>
          <a:noFill/>
          <a:ln/>
        </p:spPr>
        <p:txBody>
          <a:bodyPr wrap="square" lIns="0" tIns="0" rIns="0" bIns="0" rtlCol="0" anchor="t"/>
          <a:lstStyle/>
          <a:p>
            <a:pPr algn="ctr" indent="0" marL="0">
              <a:buNone/>
            </a:pPr>
            <a:r>
              <a:rPr lang="en-US" sz="650" dirty="0">
                <a:solidFill>
                  <a:srgbClr val="5F716E"/>
                </a:solidFill>
                <a:latin typeface="Calibri" pitchFamily="34" charset="0"/>
                <a:ea typeface="Calibri" pitchFamily="34" charset="-122"/>
                <a:cs typeface="Calibri" pitchFamily="34" charset="-120"/>
              </a:rPr>
              <a:t>Nielsen RMS June 2026 value share · Market_Share_By_PackSize_June26 · share-per-point derived as value share ÷ weighted distribution · Zone performance represents Modern Trade accounts only. eB2B and SIS channels are excluded from MT zone sales and reported separately.</a:t>
            </a:r>
            <a:endParaRPr lang="en-US" sz="650" dirty="0"/>
          </a:p>
        </p:txBody>
      </p:sp>
      <p:sp>
        <p:nvSpPr>
          <p:cNvPr id="19" name="Shape 17"/>
          <p:cNvSpPr/>
          <p:nvPr/>
        </p:nvSpPr>
        <p:spPr>
          <a:xfrm>
            <a:off x="265176" y="1261872"/>
            <a:ext cx="1499616" cy="859536"/>
          </a:xfrm>
          <a:prstGeom prst="rect">
            <a:avLst/>
          </a:prstGeom>
          <a:solidFill>
            <a:srgbClr val="FFFFFF"/>
          </a:solidFill>
          <a:ln w="9525">
            <a:solidFill>
              <a:srgbClr val="C8DCD7"/>
            </a:solidFill>
            <a:prstDash val="solid"/>
          </a:ln>
        </p:spPr>
      </p:sp>
      <p:sp>
        <p:nvSpPr>
          <p:cNvPr id="20" name="Shape 18"/>
          <p:cNvSpPr/>
          <p:nvPr/>
        </p:nvSpPr>
        <p:spPr>
          <a:xfrm>
            <a:off x="265176" y="1261872"/>
            <a:ext cx="64008" cy="859536"/>
          </a:xfrm>
          <a:prstGeom prst="rect">
            <a:avLst/>
          </a:prstGeom>
          <a:solidFill>
            <a:srgbClr val="28A596"/>
          </a:solidFill>
          <a:ln/>
        </p:spPr>
      </p:sp>
      <p:sp>
        <p:nvSpPr>
          <p:cNvPr id="21" name="Text 19"/>
          <p:cNvSpPr/>
          <p:nvPr/>
        </p:nvSpPr>
        <p:spPr>
          <a:xfrm>
            <a:off x="420624"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FACE WASH</a:t>
            </a:r>
            <a:endParaRPr lang="en-US" sz="680" dirty="0"/>
          </a:p>
        </p:txBody>
      </p:sp>
      <p:sp>
        <p:nvSpPr>
          <p:cNvPr id="22" name="Text 20"/>
          <p:cNvSpPr/>
          <p:nvPr/>
        </p:nvSpPr>
        <p:spPr>
          <a:xfrm>
            <a:off x="420624" y="1536192"/>
            <a:ext cx="1261872" cy="310896"/>
          </a:xfrm>
          <a:prstGeom prst="rect">
            <a:avLst/>
          </a:prstGeom>
          <a:noFill/>
          <a:ln/>
        </p:spPr>
        <p:txBody>
          <a:bodyPr wrap="square" lIns="0" tIns="0" rIns="0" bIns="0" rtlCol="0" anchor="ctr"/>
          <a:lstStyle/>
          <a:p>
            <a:pPr indent="0" marL="0">
              <a:buNone/>
            </a:pPr>
            <a:r>
              <a:rPr lang="en-US" sz="1750" b="1" dirty="0">
                <a:solidFill>
                  <a:srgbClr val="28A596"/>
                </a:solidFill>
                <a:latin typeface="Calibri Light" pitchFamily="34" charset="0"/>
                <a:ea typeface="Calibri Light" pitchFamily="34" charset="-122"/>
                <a:cs typeface="Calibri Light" pitchFamily="34" charset="-120"/>
              </a:rPr>
              <a:t>10.5%</a:t>
            </a:r>
            <a:endParaRPr lang="en-US" sz="1750" dirty="0"/>
          </a:p>
        </p:txBody>
      </p:sp>
      <p:sp>
        <p:nvSpPr>
          <p:cNvPr id="23" name="Text 21"/>
          <p:cNvSpPr/>
          <p:nvPr/>
        </p:nvSpPr>
        <p:spPr>
          <a:xfrm>
            <a:off x="420624"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#4 share · 89.0% WD · SPD #4 of 6</a:t>
            </a:r>
            <a:endParaRPr lang="en-US" sz="680" dirty="0"/>
          </a:p>
        </p:txBody>
      </p:sp>
      <p:sp>
        <p:nvSpPr>
          <p:cNvPr id="24" name="Shape 22"/>
          <p:cNvSpPr/>
          <p:nvPr/>
        </p:nvSpPr>
        <p:spPr>
          <a:xfrm>
            <a:off x="1874520" y="1261872"/>
            <a:ext cx="1499616" cy="859536"/>
          </a:xfrm>
          <a:prstGeom prst="rect">
            <a:avLst/>
          </a:prstGeom>
          <a:solidFill>
            <a:srgbClr val="FFFFFF"/>
          </a:solidFill>
          <a:ln w="9525">
            <a:solidFill>
              <a:srgbClr val="C8DCD7"/>
            </a:solidFill>
            <a:prstDash val="solid"/>
          </a:ln>
        </p:spPr>
      </p:sp>
      <p:sp>
        <p:nvSpPr>
          <p:cNvPr id="25" name="Shape 23"/>
          <p:cNvSpPr/>
          <p:nvPr/>
        </p:nvSpPr>
        <p:spPr>
          <a:xfrm>
            <a:off x="1874520" y="1261872"/>
            <a:ext cx="64008" cy="859536"/>
          </a:xfrm>
          <a:prstGeom prst="rect">
            <a:avLst/>
          </a:prstGeom>
          <a:solidFill>
            <a:srgbClr val="D6544D"/>
          </a:solidFill>
          <a:ln/>
        </p:spPr>
      </p:sp>
      <p:sp>
        <p:nvSpPr>
          <p:cNvPr id="26" name="Text 24"/>
          <p:cNvSpPr/>
          <p:nvPr/>
        </p:nvSpPr>
        <p:spPr>
          <a:xfrm>
            <a:off x="2029968"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SHAMPOO</a:t>
            </a:r>
            <a:endParaRPr lang="en-US" sz="680" dirty="0"/>
          </a:p>
        </p:txBody>
      </p:sp>
      <p:sp>
        <p:nvSpPr>
          <p:cNvPr id="27" name="Text 25"/>
          <p:cNvSpPr/>
          <p:nvPr/>
        </p:nvSpPr>
        <p:spPr>
          <a:xfrm>
            <a:off x="2029968" y="1536192"/>
            <a:ext cx="1261872" cy="310896"/>
          </a:xfrm>
          <a:prstGeom prst="rect">
            <a:avLst/>
          </a:prstGeom>
          <a:noFill/>
          <a:ln/>
        </p:spPr>
        <p:txBody>
          <a:bodyPr wrap="square" lIns="0" tIns="0" rIns="0" bIns="0" rtlCol="0" anchor="ctr"/>
          <a:lstStyle/>
          <a:p>
            <a:pPr indent="0" marL="0">
              <a:buNone/>
            </a:pPr>
            <a:r>
              <a:rPr lang="en-US" sz="1750" b="1" dirty="0">
                <a:solidFill>
                  <a:srgbClr val="D6544D"/>
                </a:solidFill>
                <a:latin typeface="Calibri Light" pitchFamily="34" charset="0"/>
                <a:ea typeface="Calibri Light" pitchFamily="34" charset="-122"/>
                <a:cs typeface="Calibri Light" pitchFamily="34" charset="-120"/>
              </a:rPr>
              <a:t>3.7%</a:t>
            </a:r>
            <a:endParaRPr lang="en-US" sz="1750" dirty="0"/>
          </a:p>
        </p:txBody>
      </p:sp>
      <p:sp>
        <p:nvSpPr>
          <p:cNvPr id="28" name="Text 26"/>
          <p:cNvSpPr/>
          <p:nvPr/>
        </p:nvSpPr>
        <p:spPr>
          <a:xfrm>
            <a:off x="2029968"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#6 share · 81.5% WD · SPD #6 of 6</a:t>
            </a:r>
            <a:endParaRPr lang="en-US" sz="680" dirty="0"/>
          </a:p>
        </p:txBody>
      </p:sp>
      <p:sp>
        <p:nvSpPr>
          <p:cNvPr id="29" name="Shape 27"/>
          <p:cNvSpPr/>
          <p:nvPr/>
        </p:nvSpPr>
        <p:spPr>
          <a:xfrm>
            <a:off x="3483864" y="1261872"/>
            <a:ext cx="1499616" cy="859536"/>
          </a:xfrm>
          <a:prstGeom prst="rect">
            <a:avLst/>
          </a:prstGeom>
          <a:solidFill>
            <a:srgbClr val="FFFFFF"/>
          </a:solidFill>
          <a:ln w="9525">
            <a:solidFill>
              <a:srgbClr val="C8DCD7"/>
            </a:solidFill>
            <a:prstDash val="solid"/>
          </a:ln>
        </p:spPr>
      </p:sp>
      <p:sp>
        <p:nvSpPr>
          <p:cNvPr id="30" name="Shape 28"/>
          <p:cNvSpPr/>
          <p:nvPr/>
        </p:nvSpPr>
        <p:spPr>
          <a:xfrm>
            <a:off x="3483864" y="1261872"/>
            <a:ext cx="64008" cy="859536"/>
          </a:xfrm>
          <a:prstGeom prst="rect">
            <a:avLst/>
          </a:prstGeom>
          <a:solidFill>
            <a:srgbClr val="F2B84B"/>
          </a:solidFill>
          <a:ln/>
        </p:spPr>
      </p:sp>
      <p:sp>
        <p:nvSpPr>
          <p:cNvPr id="31" name="Text 29"/>
          <p:cNvSpPr/>
          <p:nvPr/>
        </p:nvSpPr>
        <p:spPr>
          <a:xfrm>
            <a:off x="3639312"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THE DERMA CO. FW</a:t>
            </a:r>
            <a:endParaRPr lang="en-US" sz="680" dirty="0"/>
          </a:p>
        </p:txBody>
      </p:sp>
      <p:sp>
        <p:nvSpPr>
          <p:cNvPr id="32" name="Text 30"/>
          <p:cNvSpPr/>
          <p:nvPr/>
        </p:nvSpPr>
        <p:spPr>
          <a:xfrm>
            <a:off x="3639312" y="1536192"/>
            <a:ext cx="1261872" cy="310896"/>
          </a:xfrm>
          <a:prstGeom prst="rect">
            <a:avLst/>
          </a:prstGeom>
          <a:noFill/>
          <a:ln/>
        </p:spPr>
        <p:txBody>
          <a:bodyPr wrap="square" lIns="0" tIns="0" rIns="0" bIns="0" rtlCol="0" anchor="ctr"/>
          <a:lstStyle/>
          <a:p>
            <a:pPr indent="0" marL="0">
              <a:buNone/>
            </a:pPr>
            <a:r>
              <a:rPr lang="en-US" sz="1750" b="1" dirty="0">
                <a:solidFill>
                  <a:srgbClr val="F2B84B"/>
                </a:solidFill>
                <a:latin typeface="Calibri Light" pitchFamily="34" charset="0"/>
                <a:ea typeface="Calibri Light" pitchFamily="34" charset="-122"/>
                <a:cs typeface="Calibri Light" pitchFamily="34" charset="-120"/>
              </a:rPr>
              <a:t>0.4%</a:t>
            </a:r>
            <a:endParaRPr lang="en-US" sz="1750" dirty="0"/>
          </a:p>
        </p:txBody>
      </p:sp>
      <p:sp>
        <p:nvSpPr>
          <p:cNvPr id="33" name="Text 31"/>
          <p:cNvSpPr/>
          <p:nvPr/>
        </p:nvSpPr>
        <p:spPr>
          <a:xfrm>
            <a:off x="3639312"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27.3% WD — a genuine width gap</a:t>
            </a:r>
            <a:endParaRPr lang="en-US" sz="680" dirty="0"/>
          </a:p>
        </p:txBody>
      </p:sp>
      <p:sp>
        <p:nvSpPr>
          <p:cNvPr id="34" name="Shape 32"/>
          <p:cNvSpPr/>
          <p:nvPr/>
        </p:nvSpPr>
        <p:spPr>
          <a:xfrm>
            <a:off x="5093208" y="1261872"/>
            <a:ext cx="1499616" cy="859536"/>
          </a:xfrm>
          <a:prstGeom prst="rect">
            <a:avLst/>
          </a:prstGeom>
          <a:solidFill>
            <a:srgbClr val="FFFFFF"/>
          </a:solidFill>
          <a:ln w="9525">
            <a:solidFill>
              <a:srgbClr val="C8DCD7"/>
            </a:solidFill>
            <a:prstDash val="solid"/>
          </a:ln>
        </p:spPr>
      </p:sp>
      <p:sp>
        <p:nvSpPr>
          <p:cNvPr id="35" name="Shape 33"/>
          <p:cNvSpPr/>
          <p:nvPr/>
        </p:nvSpPr>
        <p:spPr>
          <a:xfrm>
            <a:off x="5093208" y="1261872"/>
            <a:ext cx="64008" cy="859536"/>
          </a:xfrm>
          <a:prstGeom prst="rect">
            <a:avLst/>
          </a:prstGeom>
          <a:solidFill>
            <a:srgbClr val="2B9A66"/>
          </a:solidFill>
          <a:ln/>
        </p:spPr>
      </p:sp>
      <p:sp>
        <p:nvSpPr>
          <p:cNvPr id="36" name="Text 34"/>
          <p:cNvSpPr/>
          <p:nvPr/>
        </p:nvSpPr>
        <p:spPr>
          <a:xfrm>
            <a:off x="5248656"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AVAILABLE AT PEER RATE</a:t>
            </a:r>
            <a:endParaRPr lang="en-US" sz="680" dirty="0"/>
          </a:p>
        </p:txBody>
      </p:sp>
      <p:sp>
        <p:nvSpPr>
          <p:cNvPr id="37" name="Text 35"/>
          <p:cNvSpPr/>
          <p:nvPr/>
        </p:nvSpPr>
        <p:spPr>
          <a:xfrm>
            <a:off x="5248656" y="1536192"/>
            <a:ext cx="1261872" cy="310896"/>
          </a:xfrm>
          <a:prstGeom prst="rect">
            <a:avLst/>
          </a:prstGeom>
          <a:noFill/>
          <a:ln/>
        </p:spPr>
        <p:txBody>
          <a:bodyPr wrap="square" lIns="0" tIns="0" rIns="0" bIns="0" rtlCol="0" anchor="ctr"/>
          <a:lstStyle/>
          <a:p>
            <a:pPr indent="0" marL="0">
              <a:buNone/>
            </a:pPr>
            <a:r>
              <a:rPr lang="en-US" sz="1550" b="1" dirty="0">
                <a:solidFill>
                  <a:srgbClr val="2B9A66"/>
                </a:solidFill>
                <a:latin typeface="Calibri Light" pitchFamily="34" charset="0"/>
                <a:ea typeface="Calibri Light" pitchFamily="34" charset="-122"/>
                <a:cs typeface="Calibri Light" pitchFamily="34" charset="-120"/>
              </a:rPr>
              <a:t>+7.9 pts</a:t>
            </a:r>
            <a:endParaRPr lang="en-US" sz="1550" dirty="0"/>
          </a:p>
        </p:txBody>
      </p:sp>
      <p:sp>
        <p:nvSpPr>
          <p:cNvPr id="38" name="Text 36"/>
          <p:cNvSpPr/>
          <p:nvPr/>
        </p:nvSpPr>
        <p:spPr>
          <a:xfrm>
            <a:off x="5248656"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both categories, no new doors</a:t>
            </a:r>
            <a:endParaRPr lang="en-US" sz="680" dirty="0"/>
          </a:p>
        </p:txBody>
      </p:sp>
      <p:sp>
        <p:nvSpPr>
          <p:cNvPr id="39" name="Shape 37"/>
          <p:cNvSpPr/>
          <p:nvPr/>
        </p:nvSpPr>
        <p:spPr>
          <a:xfrm>
            <a:off x="265176" y="2231136"/>
            <a:ext cx="6327648" cy="713232"/>
          </a:xfrm>
          <a:prstGeom prst="roundRect">
            <a:avLst>
              <a:gd name="adj" fmla="val 3846"/>
            </a:avLst>
          </a:prstGeom>
          <a:solidFill>
            <a:srgbClr val="DFF2ED"/>
          </a:solidFill>
          <a:ln w="12700">
            <a:solidFill>
              <a:srgbClr val="28A596"/>
            </a:solidFill>
            <a:prstDash val="solid"/>
          </a:ln>
        </p:spPr>
      </p:sp>
      <p:sp>
        <p:nvSpPr>
          <p:cNvPr id="40" name="Text 38"/>
          <p:cNvSpPr/>
          <p:nvPr/>
        </p:nvSpPr>
        <p:spPr>
          <a:xfrm>
            <a:off x="411480" y="2322576"/>
            <a:ext cx="6035040" cy="274320"/>
          </a:xfrm>
          <a:prstGeom prst="rect">
            <a:avLst/>
          </a:prstGeom>
          <a:noFill/>
          <a:ln/>
        </p:spPr>
        <p:txBody>
          <a:bodyPr wrap="square" lIns="0" tIns="0" rIns="0" bIns="0" rtlCol="0" anchor="ctr"/>
          <a:lstStyle/>
          <a:p>
            <a:pPr algn="ctr" indent="0" marL="0">
              <a:buNone/>
            </a:pPr>
            <a:r>
              <a:rPr lang="en-US" sz="1100" b="1" dirty="0">
                <a:solidFill>
                  <a:srgbClr val="116F68"/>
                </a:solidFill>
                <a:latin typeface="Calibri Light" pitchFamily="34" charset="0"/>
                <a:ea typeface="Calibri Light" pitchFamily="34" charset="-122"/>
                <a:cs typeface="Calibri Light" pitchFamily="34" charset="-120"/>
              </a:rPr>
              <a:t>Garnier holds the same shelf we do and earns 3.7 share points more from it</a:t>
            </a:r>
            <a:endParaRPr lang="en-US" sz="1100" dirty="0"/>
          </a:p>
        </p:txBody>
      </p:sp>
      <p:sp>
        <p:nvSpPr>
          <p:cNvPr id="41" name="Text 39"/>
          <p:cNvSpPr/>
          <p:nvPr/>
        </p:nvSpPr>
        <p:spPr>
          <a:xfrm>
            <a:off x="484632" y="2596896"/>
            <a:ext cx="5888736" cy="310896"/>
          </a:xfrm>
          <a:prstGeom prst="rect">
            <a:avLst/>
          </a:prstGeom>
          <a:noFill/>
          <a:ln/>
        </p:spPr>
        <p:txBody>
          <a:bodyPr wrap="square" lIns="0" tIns="0" rIns="0" bIns="0" rtlCol="0" anchor="t"/>
          <a:lstStyle/>
          <a:p>
            <a:pPr algn="ctr" indent="0" marL="0">
              <a:lnSpc>
                <a:spcPct val="94000"/>
              </a:lnSpc>
              <a:buNone/>
            </a:pPr>
            <a:r>
              <a:rPr lang="en-US" sz="700" dirty="0">
                <a:solidFill>
                  <a:srgbClr val="5F716E"/>
                </a:solidFill>
                <a:latin typeface="Calibri" pitchFamily="34" charset="0"/>
                <a:ea typeface="Calibri" pitchFamily="34" charset="-122"/>
                <a:cs typeface="Calibri" pitchFamily="34" charset="-120"/>
              </a:rPr>
              <a:t>Garnier 90.3% weighted distribution → 14.2% share.  Mamaearth 89.0% → 10.5%. Distribution is not the constraint in Face Wash, and it is not the constraint in Shampoo either — we hold 81.5% of the shelf and earn the lowest share per point of the top six brands.</a:t>
            </a:r>
            <a:endParaRPr lang="en-US" sz="700" dirty="0"/>
          </a:p>
        </p:txBody>
      </p:sp>
      <p:sp>
        <p:nvSpPr>
          <p:cNvPr id="42" name="Shape 40"/>
          <p:cNvSpPr/>
          <p:nvPr/>
        </p:nvSpPr>
        <p:spPr>
          <a:xfrm>
            <a:off x="265176" y="3090672"/>
            <a:ext cx="6327648" cy="256032"/>
          </a:xfrm>
          <a:prstGeom prst="rect">
            <a:avLst/>
          </a:prstGeom>
          <a:solidFill>
            <a:srgbClr val="116F68"/>
          </a:solidFill>
          <a:ln/>
        </p:spPr>
      </p:sp>
      <p:sp>
        <p:nvSpPr>
          <p:cNvPr id="43" name="Text 41"/>
          <p:cNvSpPr/>
          <p:nvPr/>
        </p:nvSpPr>
        <p:spPr>
          <a:xfrm>
            <a:off x="374904" y="3108960"/>
            <a:ext cx="6108192" cy="219456"/>
          </a:xfrm>
          <a:prstGeom prst="rect">
            <a:avLst/>
          </a:prstGeom>
          <a:noFill/>
          <a:ln/>
        </p:spPr>
        <p:txBody>
          <a:bodyPr wrap="square" lIns="0" tIns="0" rIns="0" bIns="0" rtlCol="0" anchor="ctr"/>
          <a:lstStyle/>
          <a:p>
            <a:pPr indent="0" marL="0">
              <a:buNone/>
            </a:pPr>
            <a:r>
              <a:rPr lang="en-US" sz="720" b="1" spc="60" kern="0" dirty="0">
                <a:solidFill>
                  <a:srgbClr val="FFFFFF"/>
                </a:solidFill>
                <a:latin typeface="Calibri" pitchFamily="34" charset="0"/>
                <a:ea typeface="Calibri" pitchFamily="34" charset="-122"/>
                <a:cs typeface="Calibri" pitchFamily="34" charset="-120"/>
              </a:rPr>
              <a:t>SHARE PER POINT OF DISTRIBUTION — RANKED (MAT JUN 2026)</a:t>
            </a:r>
            <a:endParaRPr lang="en-US" sz="720" dirty="0"/>
          </a:p>
        </p:txBody>
      </p:sp>
      <p:sp>
        <p:nvSpPr>
          <p:cNvPr id="44" name="Text 42"/>
          <p:cNvSpPr/>
          <p:nvPr/>
        </p:nvSpPr>
        <p:spPr>
          <a:xfrm>
            <a:off x="265176" y="3438144"/>
            <a:ext cx="3090672"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Face Wash</a:t>
            </a:r>
            <a:endParaRPr lang="en-US" sz="720" dirty="0"/>
          </a:p>
        </p:txBody>
      </p:sp>
      <p:sp>
        <p:nvSpPr>
          <p:cNvPr id="45" name="Shape 43"/>
          <p:cNvSpPr/>
          <p:nvPr/>
        </p:nvSpPr>
        <p:spPr>
          <a:xfrm>
            <a:off x="265176" y="3621024"/>
            <a:ext cx="3090672" cy="256032"/>
          </a:xfrm>
          <a:prstGeom prst="rect">
            <a:avLst/>
          </a:prstGeom>
          <a:solidFill>
            <a:srgbClr val="116F68"/>
          </a:solidFill>
          <a:ln/>
        </p:spPr>
      </p:sp>
      <p:sp>
        <p:nvSpPr>
          <p:cNvPr id="46" name="Text 44"/>
          <p:cNvSpPr/>
          <p:nvPr/>
        </p:nvSpPr>
        <p:spPr>
          <a:xfrm>
            <a:off x="320040" y="3639312"/>
            <a:ext cx="1198493" cy="219456"/>
          </a:xfrm>
          <a:prstGeom prst="rect">
            <a:avLst/>
          </a:prstGeom>
          <a:noFill/>
          <a:ln/>
        </p:spPr>
        <p:txBody>
          <a:bodyPr wrap="square" lIns="0" tIns="0" rIns="0" bIns="0" rtlCol="0" anchor="ctr"/>
          <a:lstStyle/>
          <a:p>
            <a:pPr algn="l" indent="0" marL="0">
              <a:buNone/>
            </a:pPr>
            <a:r>
              <a:rPr lang="en-US" sz="660" b="1" spc="40" kern="0" dirty="0">
                <a:solidFill>
                  <a:srgbClr val="FFFFFF"/>
                </a:solidFill>
                <a:latin typeface="Calibri" pitchFamily="34" charset="0"/>
                <a:ea typeface="Calibri" pitchFamily="34" charset="-122"/>
                <a:cs typeface="Calibri" pitchFamily="34" charset="-120"/>
              </a:rPr>
              <a:t>BRAND</a:t>
            </a:r>
            <a:endParaRPr lang="en-US" sz="660" dirty="0"/>
          </a:p>
        </p:txBody>
      </p:sp>
      <p:sp>
        <p:nvSpPr>
          <p:cNvPr id="47" name="Text 45"/>
          <p:cNvSpPr/>
          <p:nvPr/>
        </p:nvSpPr>
        <p:spPr>
          <a:xfrm>
            <a:off x="1628261" y="3639312"/>
            <a:ext cx="478971"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SHARE</a:t>
            </a:r>
            <a:endParaRPr lang="en-US" sz="660" dirty="0"/>
          </a:p>
        </p:txBody>
      </p:sp>
      <p:sp>
        <p:nvSpPr>
          <p:cNvPr id="48" name="Text 46"/>
          <p:cNvSpPr/>
          <p:nvPr/>
        </p:nvSpPr>
        <p:spPr>
          <a:xfrm>
            <a:off x="2216960" y="3639312"/>
            <a:ext cx="478971"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WD</a:t>
            </a:r>
            <a:endParaRPr lang="en-US" sz="660" dirty="0"/>
          </a:p>
        </p:txBody>
      </p:sp>
      <p:sp>
        <p:nvSpPr>
          <p:cNvPr id="49" name="Text 47"/>
          <p:cNvSpPr/>
          <p:nvPr/>
        </p:nvSpPr>
        <p:spPr>
          <a:xfrm>
            <a:off x="2805660" y="3639312"/>
            <a:ext cx="495324"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SPD</a:t>
            </a:r>
            <a:endParaRPr lang="en-US" sz="660" dirty="0"/>
          </a:p>
        </p:txBody>
      </p:sp>
      <p:sp>
        <p:nvSpPr>
          <p:cNvPr id="50" name="Shape 48"/>
          <p:cNvSpPr/>
          <p:nvPr/>
        </p:nvSpPr>
        <p:spPr>
          <a:xfrm>
            <a:off x="265176" y="3877056"/>
            <a:ext cx="3090672" cy="237744"/>
          </a:xfrm>
          <a:prstGeom prst="rect">
            <a:avLst/>
          </a:prstGeom>
          <a:solidFill>
            <a:srgbClr val="F4F9F8"/>
          </a:solidFill>
          <a:ln/>
        </p:spPr>
      </p:sp>
      <p:sp>
        <p:nvSpPr>
          <p:cNvPr id="51" name="Shape 49"/>
          <p:cNvSpPr/>
          <p:nvPr/>
        </p:nvSpPr>
        <p:spPr>
          <a:xfrm>
            <a:off x="265176" y="4114800"/>
            <a:ext cx="3090672" cy="0"/>
          </a:xfrm>
          <a:prstGeom prst="line">
            <a:avLst/>
          </a:prstGeom>
          <a:noFill/>
          <a:ln w="6350">
            <a:solidFill>
              <a:srgbClr val="C8DCD7"/>
            </a:solidFill>
            <a:prstDash val="solid"/>
          </a:ln>
        </p:spPr>
      </p:sp>
      <p:sp>
        <p:nvSpPr>
          <p:cNvPr id="52" name="Text 50"/>
          <p:cNvSpPr/>
          <p:nvPr/>
        </p:nvSpPr>
        <p:spPr>
          <a:xfrm>
            <a:off x="320040" y="3877056"/>
            <a:ext cx="1198493" cy="237744"/>
          </a:xfrm>
          <a:prstGeom prst="rect">
            <a:avLst/>
          </a:prstGeom>
          <a:noFill/>
          <a:ln/>
        </p:spPr>
        <p:txBody>
          <a:bodyPr wrap="square" lIns="0" tIns="0" rIns="0" bIns="0" rtlCol="0" anchor="ctr"/>
          <a:lstStyle/>
          <a:p>
            <a:pPr algn="l" indent="0" marL="0">
              <a:buNone/>
            </a:pPr>
            <a:r>
              <a:rPr lang="en-US" sz="700" dirty="0">
                <a:solidFill>
                  <a:srgbClr val="183B39"/>
                </a:solidFill>
                <a:latin typeface="Calibri" pitchFamily="34" charset="0"/>
                <a:ea typeface="Calibri" pitchFamily="34" charset="-122"/>
                <a:cs typeface="Calibri" pitchFamily="34" charset="-120"/>
              </a:rPr>
              <a:t>Himalaya</a:t>
            </a:r>
            <a:endParaRPr lang="en-US" sz="700" dirty="0"/>
          </a:p>
        </p:txBody>
      </p:sp>
      <p:sp>
        <p:nvSpPr>
          <p:cNvPr id="53" name="Text 51"/>
          <p:cNvSpPr/>
          <p:nvPr/>
        </p:nvSpPr>
        <p:spPr>
          <a:xfrm>
            <a:off x="1628261" y="3877056"/>
            <a:ext cx="478971" cy="237744"/>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22.6%</a:t>
            </a:r>
            <a:endParaRPr lang="en-US" sz="700" dirty="0"/>
          </a:p>
        </p:txBody>
      </p:sp>
      <p:sp>
        <p:nvSpPr>
          <p:cNvPr id="54" name="Text 52"/>
          <p:cNvSpPr/>
          <p:nvPr/>
        </p:nvSpPr>
        <p:spPr>
          <a:xfrm>
            <a:off x="2216960" y="3877056"/>
            <a:ext cx="478971" cy="237744"/>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99.8%</a:t>
            </a:r>
            <a:endParaRPr lang="en-US" sz="700" dirty="0"/>
          </a:p>
        </p:txBody>
      </p:sp>
      <p:sp>
        <p:nvSpPr>
          <p:cNvPr id="55" name="Text 53"/>
          <p:cNvSpPr/>
          <p:nvPr/>
        </p:nvSpPr>
        <p:spPr>
          <a:xfrm>
            <a:off x="2805660" y="3877056"/>
            <a:ext cx="495324" cy="237744"/>
          </a:xfrm>
          <a:prstGeom prst="rect">
            <a:avLst/>
          </a:prstGeom>
          <a:noFill/>
          <a:ln/>
        </p:spPr>
        <p:txBody>
          <a:bodyPr wrap="square" lIns="0" tIns="0" rIns="0" bIns="0" rtlCol="0" anchor="ctr"/>
          <a:lstStyle/>
          <a:p>
            <a:pPr algn="r" indent="0" marL="0">
              <a:buNone/>
            </a:pPr>
            <a:r>
              <a:rPr lang="en-US" sz="700" b="1" dirty="0">
                <a:solidFill>
                  <a:srgbClr val="183B39"/>
                </a:solidFill>
                <a:latin typeface="Calibri" pitchFamily="34" charset="0"/>
                <a:ea typeface="Calibri" pitchFamily="34" charset="-122"/>
                <a:cs typeface="Calibri" pitchFamily="34" charset="-120"/>
              </a:rPr>
              <a:t>0.226</a:t>
            </a:r>
            <a:endParaRPr lang="en-US" sz="700" dirty="0"/>
          </a:p>
        </p:txBody>
      </p:sp>
      <p:sp>
        <p:nvSpPr>
          <p:cNvPr id="56" name="Shape 54"/>
          <p:cNvSpPr/>
          <p:nvPr/>
        </p:nvSpPr>
        <p:spPr>
          <a:xfrm>
            <a:off x="265176" y="4352544"/>
            <a:ext cx="3090672" cy="0"/>
          </a:xfrm>
          <a:prstGeom prst="line">
            <a:avLst/>
          </a:prstGeom>
          <a:noFill/>
          <a:ln w="6350">
            <a:solidFill>
              <a:srgbClr val="C8DCD7"/>
            </a:solidFill>
            <a:prstDash val="solid"/>
          </a:ln>
        </p:spPr>
      </p:sp>
      <p:sp>
        <p:nvSpPr>
          <p:cNvPr id="57" name="Text 55"/>
          <p:cNvSpPr/>
          <p:nvPr/>
        </p:nvSpPr>
        <p:spPr>
          <a:xfrm>
            <a:off x="320040" y="4114800"/>
            <a:ext cx="1198493" cy="237744"/>
          </a:xfrm>
          <a:prstGeom prst="rect">
            <a:avLst/>
          </a:prstGeom>
          <a:noFill/>
          <a:ln/>
        </p:spPr>
        <p:txBody>
          <a:bodyPr wrap="square" lIns="0" tIns="0" rIns="0" bIns="0" rtlCol="0" anchor="ctr"/>
          <a:lstStyle/>
          <a:p>
            <a:pPr algn="l" indent="0" marL="0">
              <a:buNone/>
            </a:pPr>
            <a:r>
              <a:rPr lang="en-US" sz="700" dirty="0">
                <a:solidFill>
                  <a:srgbClr val="183B39"/>
                </a:solidFill>
                <a:latin typeface="Calibri" pitchFamily="34" charset="0"/>
                <a:ea typeface="Calibri" pitchFamily="34" charset="-122"/>
                <a:cs typeface="Calibri" pitchFamily="34" charset="-120"/>
              </a:rPr>
              <a:t>Garnier</a:t>
            </a:r>
            <a:endParaRPr lang="en-US" sz="700" dirty="0"/>
          </a:p>
        </p:txBody>
      </p:sp>
      <p:sp>
        <p:nvSpPr>
          <p:cNvPr id="58" name="Text 56"/>
          <p:cNvSpPr/>
          <p:nvPr/>
        </p:nvSpPr>
        <p:spPr>
          <a:xfrm>
            <a:off x="1628261" y="4114800"/>
            <a:ext cx="478971" cy="237744"/>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14.2%</a:t>
            </a:r>
            <a:endParaRPr lang="en-US" sz="700" dirty="0"/>
          </a:p>
        </p:txBody>
      </p:sp>
      <p:sp>
        <p:nvSpPr>
          <p:cNvPr id="59" name="Text 57"/>
          <p:cNvSpPr/>
          <p:nvPr/>
        </p:nvSpPr>
        <p:spPr>
          <a:xfrm>
            <a:off x="2216960" y="4114800"/>
            <a:ext cx="478971" cy="237744"/>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90.3%</a:t>
            </a:r>
            <a:endParaRPr lang="en-US" sz="700" dirty="0"/>
          </a:p>
        </p:txBody>
      </p:sp>
      <p:sp>
        <p:nvSpPr>
          <p:cNvPr id="60" name="Text 58"/>
          <p:cNvSpPr/>
          <p:nvPr/>
        </p:nvSpPr>
        <p:spPr>
          <a:xfrm>
            <a:off x="2805660" y="4114800"/>
            <a:ext cx="495324" cy="237744"/>
          </a:xfrm>
          <a:prstGeom prst="rect">
            <a:avLst/>
          </a:prstGeom>
          <a:noFill/>
          <a:ln/>
        </p:spPr>
        <p:txBody>
          <a:bodyPr wrap="square" lIns="0" tIns="0" rIns="0" bIns="0" rtlCol="0" anchor="ctr"/>
          <a:lstStyle/>
          <a:p>
            <a:pPr algn="r" indent="0" marL="0">
              <a:buNone/>
            </a:pPr>
            <a:r>
              <a:rPr lang="en-US" sz="700" b="1" dirty="0">
                <a:solidFill>
                  <a:srgbClr val="183B39"/>
                </a:solidFill>
                <a:latin typeface="Calibri" pitchFamily="34" charset="0"/>
                <a:ea typeface="Calibri" pitchFamily="34" charset="-122"/>
                <a:cs typeface="Calibri" pitchFamily="34" charset="-120"/>
              </a:rPr>
              <a:t>0.157</a:t>
            </a:r>
            <a:endParaRPr lang="en-US" sz="700" dirty="0"/>
          </a:p>
        </p:txBody>
      </p:sp>
      <p:sp>
        <p:nvSpPr>
          <p:cNvPr id="61" name="Shape 59"/>
          <p:cNvSpPr/>
          <p:nvPr/>
        </p:nvSpPr>
        <p:spPr>
          <a:xfrm>
            <a:off x="265176" y="4352544"/>
            <a:ext cx="3090672" cy="237744"/>
          </a:xfrm>
          <a:prstGeom prst="rect">
            <a:avLst/>
          </a:prstGeom>
          <a:solidFill>
            <a:srgbClr val="F4F9F8"/>
          </a:solidFill>
          <a:ln/>
        </p:spPr>
      </p:sp>
      <p:sp>
        <p:nvSpPr>
          <p:cNvPr id="62" name="Shape 60"/>
          <p:cNvSpPr/>
          <p:nvPr/>
        </p:nvSpPr>
        <p:spPr>
          <a:xfrm>
            <a:off x="265176" y="4590288"/>
            <a:ext cx="3090672" cy="0"/>
          </a:xfrm>
          <a:prstGeom prst="line">
            <a:avLst/>
          </a:prstGeom>
          <a:noFill/>
          <a:ln w="6350">
            <a:solidFill>
              <a:srgbClr val="C8DCD7"/>
            </a:solidFill>
            <a:prstDash val="solid"/>
          </a:ln>
        </p:spPr>
      </p:sp>
      <p:sp>
        <p:nvSpPr>
          <p:cNvPr id="63" name="Text 61"/>
          <p:cNvSpPr/>
          <p:nvPr/>
        </p:nvSpPr>
        <p:spPr>
          <a:xfrm>
            <a:off x="320040" y="4352544"/>
            <a:ext cx="1198493" cy="237744"/>
          </a:xfrm>
          <a:prstGeom prst="rect">
            <a:avLst/>
          </a:prstGeom>
          <a:noFill/>
          <a:ln/>
        </p:spPr>
        <p:txBody>
          <a:bodyPr wrap="square" lIns="0" tIns="0" rIns="0" bIns="0" rtlCol="0" anchor="ctr"/>
          <a:lstStyle/>
          <a:p>
            <a:pPr algn="l" indent="0" marL="0">
              <a:buNone/>
            </a:pPr>
            <a:r>
              <a:rPr lang="en-US" sz="700" dirty="0">
                <a:solidFill>
                  <a:srgbClr val="183B39"/>
                </a:solidFill>
                <a:latin typeface="Calibri" pitchFamily="34" charset="0"/>
                <a:ea typeface="Calibri" pitchFamily="34" charset="-122"/>
                <a:cs typeface="Calibri" pitchFamily="34" charset="-120"/>
              </a:rPr>
              <a:t>Pond's</a:t>
            </a:r>
            <a:endParaRPr lang="en-US" sz="700" dirty="0"/>
          </a:p>
        </p:txBody>
      </p:sp>
      <p:sp>
        <p:nvSpPr>
          <p:cNvPr id="64" name="Text 62"/>
          <p:cNvSpPr/>
          <p:nvPr/>
        </p:nvSpPr>
        <p:spPr>
          <a:xfrm>
            <a:off x="1628261" y="4352544"/>
            <a:ext cx="478971" cy="237744"/>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13.8%</a:t>
            </a:r>
            <a:endParaRPr lang="en-US" sz="700" dirty="0"/>
          </a:p>
        </p:txBody>
      </p:sp>
      <p:sp>
        <p:nvSpPr>
          <p:cNvPr id="65" name="Text 63"/>
          <p:cNvSpPr/>
          <p:nvPr/>
        </p:nvSpPr>
        <p:spPr>
          <a:xfrm>
            <a:off x="2216960" y="4352544"/>
            <a:ext cx="478971" cy="237744"/>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98.8%</a:t>
            </a:r>
            <a:endParaRPr lang="en-US" sz="700" dirty="0"/>
          </a:p>
        </p:txBody>
      </p:sp>
      <p:sp>
        <p:nvSpPr>
          <p:cNvPr id="66" name="Text 64"/>
          <p:cNvSpPr/>
          <p:nvPr/>
        </p:nvSpPr>
        <p:spPr>
          <a:xfrm>
            <a:off x="2805660" y="4352544"/>
            <a:ext cx="495324" cy="237744"/>
          </a:xfrm>
          <a:prstGeom prst="rect">
            <a:avLst/>
          </a:prstGeom>
          <a:noFill/>
          <a:ln/>
        </p:spPr>
        <p:txBody>
          <a:bodyPr wrap="square" lIns="0" tIns="0" rIns="0" bIns="0" rtlCol="0" anchor="ctr"/>
          <a:lstStyle/>
          <a:p>
            <a:pPr algn="r" indent="0" marL="0">
              <a:buNone/>
            </a:pPr>
            <a:r>
              <a:rPr lang="en-US" sz="700" b="1" dirty="0">
                <a:solidFill>
                  <a:srgbClr val="183B39"/>
                </a:solidFill>
                <a:latin typeface="Calibri" pitchFamily="34" charset="0"/>
                <a:ea typeface="Calibri" pitchFamily="34" charset="-122"/>
                <a:cs typeface="Calibri" pitchFamily="34" charset="-120"/>
              </a:rPr>
              <a:t>0.140</a:t>
            </a:r>
            <a:endParaRPr lang="en-US" sz="700" dirty="0"/>
          </a:p>
        </p:txBody>
      </p:sp>
      <p:sp>
        <p:nvSpPr>
          <p:cNvPr id="67" name="Shape 65"/>
          <p:cNvSpPr/>
          <p:nvPr/>
        </p:nvSpPr>
        <p:spPr>
          <a:xfrm>
            <a:off x="265176" y="4828032"/>
            <a:ext cx="3090672" cy="0"/>
          </a:xfrm>
          <a:prstGeom prst="line">
            <a:avLst/>
          </a:prstGeom>
          <a:noFill/>
          <a:ln w="6350">
            <a:solidFill>
              <a:srgbClr val="C8DCD7"/>
            </a:solidFill>
            <a:prstDash val="solid"/>
          </a:ln>
        </p:spPr>
      </p:sp>
      <p:sp>
        <p:nvSpPr>
          <p:cNvPr id="68" name="Text 66"/>
          <p:cNvSpPr/>
          <p:nvPr/>
        </p:nvSpPr>
        <p:spPr>
          <a:xfrm>
            <a:off x="320040" y="4590288"/>
            <a:ext cx="1198493" cy="237744"/>
          </a:xfrm>
          <a:prstGeom prst="rect">
            <a:avLst/>
          </a:prstGeom>
          <a:noFill/>
          <a:ln/>
        </p:spPr>
        <p:txBody>
          <a:bodyPr wrap="square" lIns="0" tIns="0" rIns="0" bIns="0" rtlCol="0" anchor="ctr"/>
          <a:lstStyle/>
          <a:p>
            <a:pPr algn="l" indent="0" marL="0">
              <a:buNone/>
            </a:pPr>
            <a:r>
              <a:rPr lang="en-US" sz="700" b="1" dirty="0">
                <a:solidFill>
                  <a:srgbClr val="183B39"/>
                </a:solidFill>
                <a:latin typeface="Calibri" pitchFamily="34" charset="0"/>
                <a:ea typeface="Calibri" pitchFamily="34" charset="-122"/>
                <a:cs typeface="Calibri" pitchFamily="34" charset="-120"/>
              </a:rPr>
              <a:t>Mamaearth</a:t>
            </a:r>
            <a:endParaRPr lang="en-US" sz="700" dirty="0"/>
          </a:p>
        </p:txBody>
      </p:sp>
      <p:sp>
        <p:nvSpPr>
          <p:cNvPr id="69" name="Text 67"/>
          <p:cNvSpPr/>
          <p:nvPr/>
        </p:nvSpPr>
        <p:spPr>
          <a:xfrm>
            <a:off x="1628261" y="4590288"/>
            <a:ext cx="478971" cy="237744"/>
          </a:xfrm>
          <a:prstGeom prst="rect">
            <a:avLst/>
          </a:prstGeom>
          <a:noFill/>
          <a:ln/>
        </p:spPr>
        <p:txBody>
          <a:bodyPr wrap="square" lIns="0" tIns="0" rIns="0" bIns="0" rtlCol="0" anchor="ctr"/>
          <a:lstStyle/>
          <a:p>
            <a:pPr algn="r" indent="0" marL="0">
              <a:buNone/>
            </a:pPr>
            <a:r>
              <a:rPr lang="en-US" sz="700" b="1" dirty="0">
                <a:solidFill>
                  <a:srgbClr val="183B39"/>
                </a:solidFill>
                <a:latin typeface="Calibri" pitchFamily="34" charset="0"/>
                <a:ea typeface="Calibri" pitchFamily="34" charset="-122"/>
                <a:cs typeface="Calibri" pitchFamily="34" charset="-120"/>
              </a:rPr>
              <a:t>10.5%</a:t>
            </a:r>
            <a:endParaRPr lang="en-US" sz="700" dirty="0"/>
          </a:p>
        </p:txBody>
      </p:sp>
      <p:sp>
        <p:nvSpPr>
          <p:cNvPr id="70" name="Text 68"/>
          <p:cNvSpPr/>
          <p:nvPr/>
        </p:nvSpPr>
        <p:spPr>
          <a:xfrm>
            <a:off x="2216960" y="4590288"/>
            <a:ext cx="478971" cy="237744"/>
          </a:xfrm>
          <a:prstGeom prst="rect">
            <a:avLst/>
          </a:prstGeom>
          <a:noFill/>
          <a:ln/>
        </p:spPr>
        <p:txBody>
          <a:bodyPr wrap="square" lIns="0" tIns="0" rIns="0" bIns="0" rtlCol="0" anchor="ctr"/>
          <a:lstStyle/>
          <a:p>
            <a:pPr algn="r" indent="0" marL="0">
              <a:buNone/>
            </a:pPr>
            <a:r>
              <a:rPr lang="en-US" sz="700" b="1" dirty="0">
                <a:solidFill>
                  <a:srgbClr val="183B39"/>
                </a:solidFill>
                <a:latin typeface="Calibri" pitchFamily="34" charset="0"/>
                <a:ea typeface="Calibri" pitchFamily="34" charset="-122"/>
                <a:cs typeface="Calibri" pitchFamily="34" charset="-120"/>
              </a:rPr>
              <a:t>89.0%</a:t>
            </a:r>
            <a:endParaRPr lang="en-US" sz="700" dirty="0"/>
          </a:p>
        </p:txBody>
      </p:sp>
      <p:sp>
        <p:nvSpPr>
          <p:cNvPr id="71" name="Text 69"/>
          <p:cNvSpPr/>
          <p:nvPr/>
        </p:nvSpPr>
        <p:spPr>
          <a:xfrm>
            <a:off x="2805660" y="4590288"/>
            <a:ext cx="495324" cy="237744"/>
          </a:xfrm>
          <a:prstGeom prst="rect">
            <a:avLst/>
          </a:prstGeom>
          <a:noFill/>
          <a:ln/>
        </p:spPr>
        <p:txBody>
          <a:bodyPr wrap="square" lIns="0" tIns="0" rIns="0" bIns="0" rtlCol="0" anchor="ctr"/>
          <a:lstStyle/>
          <a:p>
            <a:pPr algn="r" indent="0" marL="0">
              <a:buNone/>
            </a:pPr>
            <a:r>
              <a:rPr lang="en-US" sz="700" b="1" dirty="0">
                <a:solidFill>
                  <a:srgbClr val="F2B84B"/>
                </a:solidFill>
                <a:latin typeface="Calibri" pitchFamily="34" charset="0"/>
                <a:ea typeface="Calibri" pitchFamily="34" charset="-122"/>
                <a:cs typeface="Calibri" pitchFamily="34" charset="-120"/>
              </a:rPr>
              <a:t>0.118</a:t>
            </a:r>
            <a:endParaRPr lang="en-US" sz="700" dirty="0"/>
          </a:p>
        </p:txBody>
      </p:sp>
      <p:sp>
        <p:nvSpPr>
          <p:cNvPr id="72" name="Shape 70"/>
          <p:cNvSpPr/>
          <p:nvPr/>
        </p:nvSpPr>
        <p:spPr>
          <a:xfrm>
            <a:off x="265176" y="4828032"/>
            <a:ext cx="3090672" cy="237744"/>
          </a:xfrm>
          <a:prstGeom prst="rect">
            <a:avLst/>
          </a:prstGeom>
          <a:solidFill>
            <a:srgbClr val="F4F9F8"/>
          </a:solidFill>
          <a:ln/>
        </p:spPr>
      </p:sp>
      <p:sp>
        <p:nvSpPr>
          <p:cNvPr id="73" name="Shape 71"/>
          <p:cNvSpPr/>
          <p:nvPr/>
        </p:nvSpPr>
        <p:spPr>
          <a:xfrm>
            <a:off x="265176" y="5065776"/>
            <a:ext cx="3090672" cy="0"/>
          </a:xfrm>
          <a:prstGeom prst="line">
            <a:avLst/>
          </a:prstGeom>
          <a:noFill/>
          <a:ln w="6350">
            <a:solidFill>
              <a:srgbClr val="C8DCD7"/>
            </a:solidFill>
            <a:prstDash val="solid"/>
          </a:ln>
        </p:spPr>
      </p:sp>
      <p:sp>
        <p:nvSpPr>
          <p:cNvPr id="74" name="Text 72"/>
          <p:cNvSpPr/>
          <p:nvPr/>
        </p:nvSpPr>
        <p:spPr>
          <a:xfrm>
            <a:off x="320040" y="4828032"/>
            <a:ext cx="1198493" cy="237744"/>
          </a:xfrm>
          <a:prstGeom prst="rect">
            <a:avLst/>
          </a:prstGeom>
          <a:noFill/>
          <a:ln/>
        </p:spPr>
        <p:txBody>
          <a:bodyPr wrap="square" lIns="0" tIns="0" rIns="0" bIns="0" rtlCol="0" anchor="ctr"/>
          <a:lstStyle/>
          <a:p>
            <a:pPr algn="l" indent="0" marL="0">
              <a:buNone/>
            </a:pPr>
            <a:r>
              <a:rPr lang="en-US" sz="700" dirty="0">
                <a:solidFill>
                  <a:srgbClr val="183B39"/>
                </a:solidFill>
                <a:latin typeface="Calibri" pitchFamily="34" charset="0"/>
                <a:ea typeface="Calibri" pitchFamily="34" charset="-122"/>
                <a:cs typeface="Calibri" pitchFamily="34" charset="-120"/>
              </a:rPr>
              <a:t>Clean &amp; Clear</a:t>
            </a:r>
            <a:endParaRPr lang="en-US" sz="700" dirty="0"/>
          </a:p>
        </p:txBody>
      </p:sp>
      <p:sp>
        <p:nvSpPr>
          <p:cNvPr id="75" name="Text 73"/>
          <p:cNvSpPr/>
          <p:nvPr/>
        </p:nvSpPr>
        <p:spPr>
          <a:xfrm>
            <a:off x="1628261" y="4828032"/>
            <a:ext cx="478971" cy="237744"/>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7.5%</a:t>
            </a:r>
            <a:endParaRPr lang="en-US" sz="700" dirty="0"/>
          </a:p>
        </p:txBody>
      </p:sp>
      <p:sp>
        <p:nvSpPr>
          <p:cNvPr id="76" name="Text 74"/>
          <p:cNvSpPr/>
          <p:nvPr/>
        </p:nvSpPr>
        <p:spPr>
          <a:xfrm>
            <a:off x="2216960" y="4828032"/>
            <a:ext cx="478971" cy="237744"/>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98.3%</a:t>
            </a:r>
            <a:endParaRPr lang="en-US" sz="700" dirty="0"/>
          </a:p>
        </p:txBody>
      </p:sp>
      <p:sp>
        <p:nvSpPr>
          <p:cNvPr id="77" name="Text 75"/>
          <p:cNvSpPr/>
          <p:nvPr/>
        </p:nvSpPr>
        <p:spPr>
          <a:xfrm>
            <a:off x="2805660" y="4828032"/>
            <a:ext cx="495324" cy="237744"/>
          </a:xfrm>
          <a:prstGeom prst="rect">
            <a:avLst/>
          </a:prstGeom>
          <a:noFill/>
          <a:ln/>
        </p:spPr>
        <p:txBody>
          <a:bodyPr wrap="square" lIns="0" tIns="0" rIns="0" bIns="0" rtlCol="0" anchor="ctr"/>
          <a:lstStyle/>
          <a:p>
            <a:pPr algn="r" indent="0" marL="0">
              <a:buNone/>
            </a:pPr>
            <a:r>
              <a:rPr lang="en-US" sz="700" b="1" dirty="0">
                <a:solidFill>
                  <a:srgbClr val="183B39"/>
                </a:solidFill>
                <a:latin typeface="Calibri" pitchFamily="34" charset="0"/>
                <a:ea typeface="Calibri" pitchFamily="34" charset="-122"/>
                <a:cs typeface="Calibri" pitchFamily="34" charset="-120"/>
              </a:rPr>
              <a:t>0.076</a:t>
            </a:r>
            <a:endParaRPr lang="en-US" sz="700" dirty="0"/>
          </a:p>
        </p:txBody>
      </p:sp>
      <p:sp>
        <p:nvSpPr>
          <p:cNvPr id="78" name="Shape 76"/>
          <p:cNvSpPr/>
          <p:nvPr/>
        </p:nvSpPr>
        <p:spPr>
          <a:xfrm>
            <a:off x="265176" y="5303520"/>
            <a:ext cx="3090672" cy="0"/>
          </a:xfrm>
          <a:prstGeom prst="line">
            <a:avLst/>
          </a:prstGeom>
          <a:noFill/>
          <a:ln w="6350">
            <a:solidFill>
              <a:srgbClr val="C8DCD7"/>
            </a:solidFill>
            <a:prstDash val="solid"/>
          </a:ln>
        </p:spPr>
      </p:sp>
      <p:sp>
        <p:nvSpPr>
          <p:cNvPr id="79" name="Text 77"/>
          <p:cNvSpPr/>
          <p:nvPr/>
        </p:nvSpPr>
        <p:spPr>
          <a:xfrm>
            <a:off x="320040" y="5065776"/>
            <a:ext cx="1198493" cy="237744"/>
          </a:xfrm>
          <a:prstGeom prst="rect">
            <a:avLst/>
          </a:prstGeom>
          <a:noFill/>
          <a:ln/>
        </p:spPr>
        <p:txBody>
          <a:bodyPr wrap="square" lIns="0" tIns="0" rIns="0" bIns="0" rtlCol="0" anchor="ctr"/>
          <a:lstStyle/>
          <a:p>
            <a:pPr algn="l" indent="0" marL="0">
              <a:buNone/>
            </a:pPr>
            <a:r>
              <a:rPr lang="en-US" sz="700" dirty="0">
                <a:solidFill>
                  <a:srgbClr val="5F716E"/>
                </a:solidFill>
                <a:latin typeface="Calibri" pitchFamily="34" charset="0"/>
                <a:ea typeface="Calibri" pitchFamily="34" charset="-122"/>
                <a:cs typeface="Calibri" pitchFamily="34" charset="-120"/>
              </a:rPr>
              <a:t>The Derma Co.</a:t>
            </a:r>
            <a:endParaRPr lang="en-US" sz="700" dirty="0"/>
          </a:p>
        </p:txBody>
      </p:sp>
      <p:sp>
        <p:nvSpPr>
          <p:cNvPr id="80" name="Text 78"/>
          <p:cNvSpPr/>
          <p:nvPr/>
        </p:nvSpPr>
        <p:spPr>
          <a:xfrm>
            <a:off x="1628261" y="5065776"/>
            <a:ext cx="478971" cy="237744"/>
          </a:xfrm>
          <a:prstGeom prst="rect">
            <a:avLst/>
          </a:prstGeom>
          <a:noFill/>
          <a:ln/>
        </p:spPr>
        <p:txBody>
          <a:bodyPr wrap="square" lIns="0" tIns="0" rIns="0" bIns="0" rtlCol="0" anchor="ctr"/>
          <a:lstStyle/>
          <a:p>
            <a:pPr algn="r" indent="0" marL="0">
              <a:buNone/>
            </a:pPr>
            <a:r>
              <a:rPr lang="en-US" sz="700" dirty="0">
                <a:solidFill>
                  <a:srgbClr val="5F716E"/>
                </a:solidFill>
                <a:latin typeface="Calibri" pitchFamily="34" charset="0"/>
                <a:ea typeface="Calibri" pitchFamily="34" charset="-122"/>
                <a:cs typeface="Calibri" pitchFamily="34" charset="-120"/>
              </a:rPr>
              <a:t>0.4%</a:t>
            </a:r>
            <a:endParaRPr lang="en-US" sz="700" dirty="0"/>
          </a:p>
        </p:txBody>
      </p:sp>
      <p:sp>
        <p:nvSpPr>
          <p:cNvPr id="81" name="Text 79"/>
          <p:cNvSpPr/>
          <p:nvPr/>
        </p:nvSpPr>
        <p:spPr>
          <a:xfrm>
            <a:off x="2216960" y="5065776"/>
            <a:ext cx="478971" cy="237744"/>
          </a:xfrm>
          <a:prstGeom prst="rect">
            <a:avLst/>
          </a:prstGeom>
          <a:noFill/>
          <a:ln/>
        </p:spPr>
        <p:txBody>
          <a:bodyPr wrap="square" lIns="0" tIns="0" rIns="0" bIns="0" rtlCol="0" anchor="ctr"/>
          <a:lstStyle/>
          <a:p>
            <a:pPr algn="r" indent="0" marL="0">
              <a:buNone/>
            </a:pPr>
            <a:r>
              <a:rPr lang="en-US" sz="700" dirty="0">
                <a:solidFill>
                  <a:srgbClr val="5F716E"/>
                </a:solidFill>
                <a:latin typeface="Calibri" pitchFamily="34" charset="0"/>
                <a:ea typeface="Calibri" pitchFamily="34" charset="-122"/>
                <a:cs typeface="Calibri" pitchFamily="34" charset="-120"/>
              </a:rPr>
              <a:t>27.3%</a:t>
            </a:r>
            <a:endParaRPr lang="en-US" sz="700" dirty="0"/>
          </a:p>
        </p:txBody>
      </p:sp>
      <p:sp>
        <p:nvSpPr>
          <p:cNvPr id="82" name="Text 80"/>
          <p:cNvSpPr/>
          <p:nvPr/>
        </p:nvSpPr>
        <p:spPr>
          <a:xfrm>
            <a:off x="2805660" y="5065776"/>
            <a:ext cx="495324" cy="237744"/>
          </a:xfrm>
          <a:prstGeom prst="rect">
            <a:avLst/>
          </a:prstGeom>
          <a:noFill/>
          <a:ln/>
        </p:spPr>
        <p:txBody>
          <a:bodyPr wrap="square" lIns="0" tIns="0" rIns="0" bIns="0" rtlCol="0" anchor="ctr"/>
          <a:lstStyle/>
          <a:p>
            <a:pPr algn="r" indent="0" marL="0">
              <a:buNone/>
            </a:pPr>
            <a:r>
              <a:rPr lang="en-US" sz="700" b="1" dirty="0">
                <a:solidFill>
                  <a:srgbClr val="5F716E"/>
                </a:solidFill>
                <a:latin typeface="Calibri" pitchFamily="34" charset="0"/>
                <a:ea typeface="Calibri" pitchFamily="34" charset="-122"/>
                <a:cs typeface="Calibri" pitchFamily="34" charset="-120"/>
              </a:rPr>
              <a:t>0.015</a:t>
            </a:r>
            <a:endParaRPr lang="en-US" sz="700" dirty="0"/>
          </a:p>
        </p:txBody>
      </p:sp>
      <p:sp>
        <p:nvSpPr>
          <p:cNvPr id="83" name="Text 81"/>
          <p:cNvSpPr/>
          <p:nvPr/>
        </p:nvSpPr>
        <p:spPr>
          <a:xfrm>
            <a:off x="3502152" y="3438144"/>
            <a:ext cx="3090672"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Shampoo</a:t>
            </a:r>
            <a:endParaRPr lang="en-US" sz="720" dirty="0"/>
          </a:p>
        </p:txBody>
      </p:sp>
      <p:sp>
        <p:nvSpPr>
          <p:cNvPr id="84" name="Shape 82"/>
          <p:cNvSpPr/>
          <p:nvPr/>
        </p:nvSpPr>
        <p:spPr>
          <a:xfrm>
            <a:off x="3502152" y="3621024"/>
            <a:ext cx="3090672" cy="256032"/>
          </a:xfrm>
          <a:prstGeom prst="rect">
            <a:avLst/>
          </a:prstGeom>
          <a:solidFill>
            <a:srgbClr val="116F68"/>
          </a:solidFill>
          <a:ln/>
        </p:spPr>
      </p:sp>
      <p:sp>
        <p:nvSpPr>
          <p:cNvPr id="85" name="Text 83"/>
          <p:cNvSpPr/>
          <p:nvPr/>
        </p:nvSpPr>
        <p:spPr>
          <a:xfrm>
            <a:off x="3557016" y="3639312"/>
            <a:ext cx="1198493" cy="219456"/>
          </a:xfrm>
          <a:prstGeom prst="rect">
            <a:avLst/>
          </a:prstGeom>
          <a:noFill/>
          <a:ln/>
        </p:spPr>
        <p:txBody>
          <a:bodyPr wrap="square" lIns="0" tIns="0" rIns="0" bIns="0" rtlCol="0" anchor="ctr"/>
          <a:lstStyle/>
          <a:p>
            <a:pPr algn="l" indent="0" marL="0">
              <a:buNone/>
            </a:pPr>
            <a:r>
              <a:rPr lang="en-US" sz="660" b="1" spc="40" kern="0" dirty="0">
                <a:solidFill>
                  <a:srgbClr val="FFFFFF"/>
                </a:solidFill>
                <a:latin typeface="Calibri" pitchFamily="34" charset="0"/>
                <a:ea typeface="Calibri" pitchFamily="34" charset="-122"/>
                <a:cs typeface="Calibri" pitchFamily="34" charset="-120"/>
              </a:rPr>
              <a:t>BRAND</a:t>
            </a:r>
            <a:endParaRPr lang="en-US" sz="660" dirty="0"/>
          </a:p>
        </p:txBody>
      </p:sp>
      <p:sp>
        <p:nvSpPr>
          <p:cNvPr id="86" name="Text 84"/>
          <p:cNvSpPr/>
          <p:nvPr/>
        </p:nvSpPr>
        <p:spPr>
          <a:xfrm>
            <a:off x="4865237" y="3639312"/>
            <a:ext cx="478971"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SHARE</a:t>
            </a:r>
            <a:endParaRPr lang="en-US" sz="660" dirty="0"/>
          </a:p>
        </p:txBody>
      </p:sp>
      <p:sp>
        <p:nvSpPr>
          <p:cNvPr id="87" name="Text 85"/>
          <p:cNvSpPr/>
          <p:nvPr/>
        </p:nvSpPr>
        <p:spPr>
          <a:xfrm>
            <a:off x="5453936" y="3639312"/>
            <a:ext cx="478971"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WD</a:t>
            </a:r>
            <a:endParaRPr lang="en-US" sz="660" dirty="0"/>
          </a:p>
        </p:txBody>
      </p:sp>
      <p:sp>
        <p:nvSpPr>
          <p:cNvPr id="88" name="Text 86"/>
          <p:cNvSpPr/>
          <p:nvPr/>
        </p:nvSpPr>
        <p:spPr>
          <a:xfrm>
            <a:off x="6042636" y="3639312"/>
            <a:ext cx="495324"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SPD</a:t>
            </a:r>
            <a:endParaRPr lang="en-US" sz="660" dirty="0"/>
          </a:p>
        </p:txBody>
      </p:sp>
      <p:sp>
        <p:nvSpPr>
          <p:cNvPr id="89" name="Shape 87"/>
          <p:cNvSpPr/>
          <p:nvPr/>
        </p:nvSpPr>
        <p:spPr>
          <a:xfrm>
            <a:off x="3502152" y="3877056"/>
            <a:ext cx="3090672" cy="237744"/>
          </a:xfrm>
          <a:prstGeom prst="rect">
            <a:avLst/>
          </a:prstGeom>
          <a:solidFill>
            <a:srgbClr val="F4F9F8"/>
          </a:solidFill>
          <a:ln/>
        </p:spPr>
      </p:sp>
      <p:sp>
        <p:nvSpPr>
          <p:cNvPr id="90" name="Shape 88"/>
          <p:cNvSpPr/>
          <p:nvPr/>
        </p:nvSpPr>
        <p:spPr>
          <a:xfrm>
            <a:off x="3502152" y="4114800"/>
            <a:ext cx="3090672" cy="0"/>
          </a:xfrm>
          <a:prstGeom prst="line">
            <a:avLst/>
          </a:prstGeom>
          <a:noFill/>
          <a:ln w="6350">
            <a:solidFill>
              <a:srgbClr val="C8DCD7"/>
            </a:solidFill>
            <a:prstDash val="solid"/>
          </a:ln>
        </p:spPr>
      </p:sp>
      <p:sp>
        <p:nvSpPr>
          <p:cNvPr id="91" name="Text 89"/>
          <p:cNvSpPr/>
          <p:nvPr/>
        </p:nvSpPr>
        <p:spPr>
          <a:xfrm>
            <a:off x="3557016" y="3877056"/>
            <a:ext cx="1198493" cy="237744"/>
          </a:xfrm>
          <a:prstGeom prst="rect">
            <a:avLst/>
          </a:prstGeom>
          <a:noFill/>
          <a:ln/>
        </p:spPr>
        <p:txBody>
          <a:bodyPr wrap="square" lIns="0" tIns="0" rIns="0" bIns="0" rtlCol="0" anchor="ctr"/>
          <a:lstStyle/>
          <a:p>
            <a:pPr algn="l" indent="0" marL="0">
              <a:buNone/>
            </a:pPr>
            <a:r>
              <a:rPr lang="en-US" sz="700" dirty="0">
                <a:solidFill>
                  <a:srgbClr val="183B39"/>
                </a:solidFill>
                <a:latin typeface="Calibri" pitchFamily="34" charset="0"/>
                <a:ea typeface="Calibri" pitchFamily="34" charset="-122"/>
                <a:cs typeface="Calibri" pitchFamily="34" charset="-120"/>
              </a:rPr>
              <a:t>Dove</a:t>
            </a:r>
            <a:endParaRPr lang="en-US" sz="700" dirty="0"/>
          </a:p>
        </p:txBody>
      </p:sp>
      <p:sp>
        <p:nvSpPr>
          <p:cNvPr id="92" name="Text 90"/>
          <p:cNvSpPr/>
          <p:nvPr/>
        </p:nvSpPr>
        <p:spPr>
          <a:xfrm>
            <a:off x="4865237" y="3877056"/>
            <a:ext cx="478971" cy="237744"/>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16.6%</a:t>
            </a:r>
            <a:endParaRPr lang="en-US" sz="700" dirty="0"/>
          </a:p>
        </p:txBody>
      </p:sp>
      <p:sp>
        <p:nvSpPr>
          <p:cNvPr id="93" name="Text 91"/>
          <p:cNvSpPr/>
          <p:nvPr/>
        </p:nvSpPr>
        <p:spPr>
          <a:xfrm>
            <a:off x="5453936" y="3877056"/>
            <a:ext cx="478971" cy="237744"/>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99.7%</a:t>
            </a:r>
            <a:endParaRPr lang="en-US" sz="700" dirty="0"/>
          </a:p>
        </p:txBody>
      </p:sp>
      <p:sp>
        <p:nvSpPr>
          <p:cNvPr id="94" name="Text 92"/>
          <p:cNvSpPr/>
          <p:nvPr/>
        </p:nvSpPr>
        <p:spPr>
          <a:xfrm>
            <a:off x="6042636" y="3877056"/>
            <a:ext cx="495324" cy="237744"/>
          </a:xfrm>
          <a:prstGeom prst="rect">
            <a:avLst/>
          </a:prstGeom>
          <a:noFill/>
          <a:ln/>
        </p:spPr>
        <p:txBody>
          <a:bodyPr wrap="square" lIns="0" tIns="0" rIns="0" bIns="0" rtlCol="0" anchor="ctr"/>
          <a:lstStyle/>
          <a:p>
            <a:pPr algn="r" indent="0" marL="0">
              <a:buNone/>
            </a:pPr>
            <a:r>
              <a:rPr lang="en-US" sz="700" b="1" dirty="0">
                <a:solidFill>
                  <a:srgbClr val="183B39"/>
                </a:solidFill>
                <a:latin typeface="Calibri" pitchFamily="34" charset="0"/>
                <a:ea typeface="Calibri" pitchFamily="34" charset="-122"/>
                <a:cs typeface="Calibri" pitchFamily="34" charset="-120"/>
              </a:rPr>
              <a:t>0.166</a:t>
            </a:r>
            <a:endParaRPr lang="en-US" sz="700" dirty="0"/>
          </a:p>
        </p:txBody>
      </p:sp>
      <p:sp>
        <p:nvSpPr>
          <p:cNvPr id="95" name="Shape 93"/>
          <p:cNvSpPr/>
          <p:nvPr/>
        </p:nvSpPr>
        <p:spPr>
          <a:xfrm>
            <a:off x="3502152" y="4352544"/>
            <a:ext cx="3090672" cy="0"/>
          </a:xfrm>
          <a:prstGeom prst="line">
            <a:avLst/>
          </a:prstGeom>
          <a:noFill/>
          <a:ln w="6350">
            <a:solidFill>
              <a:srgbClr val="C8DCD7"/>
            </a:solidFill>
            <a:prstDash val="solid"/>
          </a:ln>
        </p:spPr>
      </p:sp>
      <p:sp>
        <p:nvSpPr>
          <p:cNvPr id="96" name="Text 94"/>
          <p:cNvSpPr/>
          <p:nvPr/>
        </p:nvSpPr>
        <p:spPr>
          <a:xfrm>
            <a:off x="3557016" y="4114800"/>
            <a:ext cx="1198493" cy="237744"/>
          </a:xfrm>
          <a:prstGeom prst="rect">
            <a:avLst/>
          </a:prstGeom>
          <a:noFill/>
          <a:ln/>
        </p:spPr>
        <p:txBody>
          <a:bodyPr wrap="square" lIns="0" tIns="0" rIns="0" bIns="0" rtlCol="0" anchor="ctr"/>
          <a:lstStyle/>
          <a:p>
            <a:pPr algn="l" indent="0" marL="0">
              <a:buNone/>
            </a:pPr>
            <a:r>
              <a:rPr lang="en-US" sz="700" dirty="0">
                <a:solidFill>
                  <a:srgbClr val="183B39"/>
                </a:solidFill>
                <a:latin typeface="Calibri" pitchFamily="34" charset="0"/>
                <a:ea typeface="Calibri" pitchFamily="34" charset="-122"/>
                <a:cs typeface="Calibri" pitchFamily="34" charset="-120"/>
              </a:rPr>
              <a:t>L'Oréal Paris</a:t>
            </a:r>
            <a:endParaRPr lang="en-US" sz="700" dirty="0"/>
          </a:p>
        </p:txBody>
      </p:sp>
      <p:sp>
        <p:nvSpPr>
          <p:cNvPr id="97" name="Text 95"/>
          <p:cNvSpPr/>
          <p:nvPr/>
        </p:nvSpPr>
        <p:spPr>
          <a:xfrm>
            <a:off x="4865237" y="4114800"/>
            <a:ext cx="478971" cy="237744"/>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12.8%</a:t>
            </a:r>
            <a:endParaRPr lang="en-US" sz="700" dirty="0"/>
          </a:p>
        </p:txBody>
      </p:sp>
      <p:sp>
        <p:nvSpPr>
          <p:cNvPr id="98" name="Text 96"/>
          <p:cNvSpPr/>
          <p:nvPr/>
        </p:nvSpPr>
        <p:spPr>
          <a:xfrm>
            <a:off x="5453936" y="4114800"/>
            <a:ext cx="478971" cy="237744"/>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91.6%</a:t>
            </a:r>
            <a:endParaRPr lang="en-US" sz="700" dirty="0"/>
          </a:p>
        </p:txBody>
      </p:sp>
      <p:sp>
        <p:nvSpPr>
          <p:cNvPr id="99" name="Text 97"/>
          <p:cNvSpPr/>
          <p:nvPr/>
        </p:nvSpPr>
        <p:spPr>
          <a:xfrm>
            <a:off x="6042636" y="4114800"/>
            <a:ext cx="495324" cy="237744"/>
          </a:xfrm>
          <a:prstGeom prst="rect">
            <a:avLst/>
          </a:prstGeom>
          <a:noFill/>
          <a:ln/>
        </p:spPr>
        <p:txBody>
          <a:bodyPr wrap="square" lIns="0" tIns="0" rIns="0" bIns="0" rtlCol="0" anchor="ctr"/>
          <a:lstStyle/>
          <a:p>
            <a:pPr algn="r" indent="0" marL="0">
              <a:buNone/>
            </a:pPr>
            <a:r>
              <a:rPr lang="en-US" sz="700" b="1" dirty="0">
                <a:solidFill>
                  <a:srgbClr val="183B39"/>
                </a:solidFill>
                <a:latin typeface="Calibri" pitchFamily="34" charset="0"/>
                <a:ea typeface="Calibri" pitchFamily="34" charset="-122"/>
                <a:cs typeface="Calibri" pitchFamily="34" charset="-120"/>
              </a:rPr>
              <a:t>0.140</a:t>
            </a:r>
            <a:endParaRPr lang="en-US" sz="700" dirty="0"/>
          </a:p>
        </p:txBody>
      </p:sp>
      <p:sp>
        <p:nvSpPr>
          <p:cNvPr id="100" name="Shape 98"/>
          <p:cNvSpPr/>
          <p:nvPr/>
        </p:nvSpPr>
        <p:spPr>
          <a:xfrm>
            <a:off x="3502152" y="4352544"/>
            <a:ext cx="3090672" cy="237744"/>
          </a:xfrm>
          <a:prstGeom prst="rect">
            <a:avLst/>
          </a:prstGeom>
          <a:solidFill>
            <a:srgbClr val="F4F9F8"/>
          </a:solidFill>
          <a:ln/>
        </p:spPr>
      </p:sp>
      <p:sp>
        <p:nvSpPr>
          <p:cNvPr id="101" name="Shape 99"/>
          <p:cNvSpPr/>
          <p:nvPr/>
        </p:nvSpPr>
        <p:spPr>
          <a:xfrm>
            <a:off x="3502152" y="4590288"/>
            <a:ext cx="3090672" cy="0"/>
          </a:xfrm>
          <a:prstGeom prst="line">
            <a:avLst/>
          </a:prstGeom>
          <a:noFill/>
          <a:ln w="6350">
            <a:solidFill>
              <a:srgbClr val="C8DCD7"/>
            </a:solidFill>
            <a:prstDash val="solid"/>
          </a:ln>
        </p:spPr>
      </p:sp>
      <p:sp>
        <p:nvSpPr>
          <p:cNvPr id="102" name="Text 100"/>
          <p:cNvSpPr/>
          <p:nvPr/>
        </p:nvSpPr>
        <p:spPr>
          <a:xfrm>
            <a:off x="3557016" y="4352544"/>
            <a:ext cx="1198493" cy="237744"/>
          </a:xfrm>
          <a:prstGeom prst="rect">
            <a:avLst/>
          </a:prstGeom>
          <a:noFill/>
          <a:ln/>
        </p:spPr>
        <p:txBody>
          <a:bodyPr wrap="square" lIns="0" tIns="0" rIns="0" bIns="0" rtlCol="0" anchor="ctr"/>
          <a:lstStyle/>
          <a:p>
            <a:pPr algn="l" indent="0" marL="0">
              <a:buNone/>
            </a:pPr>
            <a:r>
              <a:rPr lang="en-US" sz="700" dirty="0">
                <a:solidFill>
                  <a:srgbClr val="183B39"/>
                </a:solidFill>
                <a:latin typeface="Calibri" pitchFamily="34" charset="0"/>
                <a:ea typeface="Calibri" pitchFamily="34" charset="-122"/>
                <a:cs typeface="Calibri" pitchFamily="34" charset="-120"/>
              </a:rPr>
              <a:t>Head &amp; Shoulders</a:t>
            </a:r>
            <a:endParaRPr lang="en-US" sz="700" dirty="0"/>
          </a:p>
        </p:txBody>
      </p:sp>
      <p:sp>
        <p:nvSpPr>
          <p:cNvPr id="103" name="Text 101"/>
          <p:cNvSpPr/>
          <p:nvPr/>
        </p:nvSpPr>
        <p:spPr>
          <a:xfrm>
            <a:off x="4865237" y="4352544"/>
            <a:ext cx="478971" cy="237744"/>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13.0%</a:t>
            </a:r>
            <a:endParaRPr lang="en-US" sz="700" dirty="0"/>
          </a:p>
        </p:txBody>
      </p:sp>
      <p:sp>
        <p:nvSpPr>
          <p:cNvPr id="104" name="Text 102"/>
          <p:cNvSpPr/>
          <p:nvPr/>
        </p:nvSpPr>
        <p:spPr>
          <a:xfrm>
            <a:off x="5453936" y="4352544"/>
            <a:ext cx="478971" cy="237744"/>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99.6%</a:t>
            </a:r>
            <a:endParaRPr lang="en-US" sz="700" dirty="0"/>
          </a:p>
        </p:txBody>
      </p:sp>
      <p:sp>
        <p:nvSpPr>
          <p:cNvPr id="105" name="Text 103"/>
          <p:cNvSpPr/>
          <p:nvPr/>
        </p:nvSpPr>
        <p:spPr>
          <a:xfrm>
            <a:off x="6042636" y="4352544"/>
            <a:ext cx="495324" cy="237744"/>
          </a:xfrm>
          <a:prstGeom prst="rect">
            <a:avLst/>
          </a:prstGeom>
          <a:noFill/>
          <a:ln/>
        </p:spPr>
        <p:txBody>
          <a:bodyPr wrap="square" lIns="0" tIns="0" rIns="0" bIns="0" rtlCol="0" anchor="ctr"/>
          <a:lstStyle/>
          <a:p>
            <a:pPr algn="r" indent="0" marL="0">
              <a:buNone/>
            </a:pPr>
            <a:r>
              <a:rPr lang="en-US" sz="700" b="1" dirty="0">
                <a:solidFill>
                  <a:srgbClr val="183B39"/>
                </a:solidFill>
                <a:latin typeface="Calibri" pitchFamily="34" charset="0"/>
                <a:ea typeface="Calibri" pitchFamily="34" charset="-122"/>
                <a:cs typeface="Calibri" pitchFamily="34" charset="-120"/>
              </a:rPr>
              <a:t>0.131</a:t>
            </a:r>
            <a:endParaRPr lang="en-US" sz="700" dirty="0"/>
          </a:p>
        </p:txBody>
      </p:sp>
      <p:sp>
        <p:nvSpPr>
          <p:cNvPr id="106" name="Shape 104"/>
          <p:cNvSpPr/>
          <p:nvPr/>
        </p:nvSpPr>
        <p:spPr>
          <a:xfrm>
            <a:off x="3502152" y="4828032"/>
            <a:ext cx="3090672" cy="0"/>
          </a:xfrm>
          <a:prstGeom prst="line">
            <a:avLst/>
          </a:prstGeom>
          <a:noFill/>
          <a:ln w="6350">
            <a:solidFill>
              <a:srgbClr val="C8DCD7"/>
            </a:solidFill>
            <a:prstDash val="solid"/>
          </a:ln>
        </p:spPr>
      </p:sp>
      <p:sp>
        <p:nvSpPr>
          <p:cNvPr id="107" name="Text 105"/>
          <p:cNvSpPr/>
          <p:nvPr/>
        </p:nvSpPr>
        <p:spPr>
          <a:xfrm>
            <a:off x="3557016" y="4590288"/>
            <a:ext cx="1198493" cy="237744"/>
          </a:xfrm>
          <a:prstGeom prst="rect">
            <a:avLst/>
          </a:prstGeom>
          <a:noFill/>
          <a:ln/>
        </p:spPr>
        <p:txBody>
          <a:bodyPr wrap="square" lIns="0" tIns="0" rIns="0" bIns="0" rtlCol="0" anchor="ctr"/>
          <a:lstStyle/>
          <a:p>
            <a:pPr algn="l" indent="0" marL="0">
              <a:buNone/>
            </a:pPr>
            <a:r>
              <a:rPr lang="en-US" sz="700" dirty="0">
                <a:solidFill>
                  <a:srgbClr val="183B39"/>
                </a:solidFill>
                <a:latin typeface="Calibri" pitchFamily="34" charset="0"/>
                <a:ea typeface="Calibri" pitchFamily="34" charset="-122"/>
                <a:cs typeface="Calibri" pitchFamily="34" charset="-120"/>
              </a:rPr>
              <a:t>Sunsilk</a:t>
            </a:r>
            <a:endParaRPr lang="en-US" sz="700" dirty="0"/>
          </a:p>
        </p:txBody>
      </p:sp>
      <p:sp>
        <p:nvSpPr>
          <p:cNvPr id="108" name="Text 106"/>
          <p:cNvSpPr/>
          <p:nvPr/>
        </p:nvSpPr>
        <p:spPr>
          <a:xfrm>
            <a:off x="4865237" y="4590288"/>
            <a:ext cx="478971" cy="237744"/>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9.6%</a:t>
            </a:r>
            <a:endParaRPr lang="en-US" sz="700" dirty="0"/>
          </a:p>
        </p:txBody>
      </p:sp>
      <p:sp>
        <p:nvSpPr>
          <p:cNvPr id="109" name="Text 107"/>
          <p:cNvSpPr/>
          <p:nvPr/>
        </p:nvSpPr>
        <p:spPr>
          <a:xfrm>
            <a:off x="5453936" y="4590288"/>
            <a:ext cx="478971" cy="237744"/>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99.4%</a:t>
            </a:r>
            <a:endParaRPr lang="en-US" sz="700" dirty="0"/>
          </a:p>
        </p:txBody>
      </p:sp>
      <p:sp>
        <p:nvSpPr>
          <p:cNvPr id="110" name="Text 108"/>
          <p:cNvSpPr/>
          <p:nvPr/>
        </p:nvSpPr>
        <p:spPr>
          <a:xfrm>
            <a:off x="6042636" y="4590288"/>
            <a:ext cx="495324" cy="237744"/>
          </a:xfrm>
          <a:prstGeom prst="rect">
            <a:avLst/>
          </a:prstGeom>
          <a:noFill/>
          <a:ln/>
        </p:spPr>
        <p:txBody>
          <a:bodyPr wrap="square" lIns="0" tIns="0" rIns="0" bIns="0" rtlCol="0" anchor="ctr"/>
          <a:lstStyle/>
          <a:p>
            <a:pPr algn="r" indent="0" marL="0">
              <a:buNone/>
            </a:pPr>
            <a:r>
              <a:rPr lang="en-US" sz="700" b="1" dirty="0">
                <a:solidFill>
                  <a:srgbClr val="183B39"/>
                </a:solidFill>
                <a:latin typeface="Calibri" pitchFamily="34" charset="0"/>
                <a:ea typeface="Calibri" pitchFamily="34" charset="-122"/>
                <a:cs typeface="Calibri" pitchFamily="34" charset="-120"/>
              </a:rPr>
              <a:t>0.097</a:t>
            </a:r>
            <a:endParaRPr lang="en-US" sz="700" dirty="0"/>
          </a:p>
        </p:txBody>
      </p:sp>
      <p:sp>
        <p:nvSpPr>
          <p:cNvPr id="111" name="Shape 109"/>
          <p:cNvSpPr/>
          <p:nvPr/>
        </p:nvSpPr>
        <p:spPr>
          <a:xfrm>
            <a:off x="3502152" y="4828032"/>
            <a:ext cx="3090672" cy="237744"/>
          </a:xfrm>
          <a:prstGeom prst="rect">
            <a:avLst/>
          </a:prstGeom>
          <a:solidFill>
            <a:srgbClr val="F4F9F8"/>
          </a:solidFill>
          <a:ln/>
        </p:spPr>
      </p:sp>
      <p:sp>
        <p:nvSpPr>
          <p:cNvPr id="112" name="Shape 110"/>
          <p:cNvSpPr/>
          <p:nvPr/>
        </p:nvSpPr>
        <p:spPr>
          <a:xfrm>
            <a:off x="3502152" y="5065776"/>
            <a:ext cx="3090672" cy="0"/>
          </a:xfrm>
          <a:prstGeom prst="line">
            <a:avLst/>
          </a:prstGeom>
          <a:noFill/>
          <a:ln w="6350">
            <a:solidFill>
              <a:srgbClr val="C8DCD7"/>
            </a:solidFill>
            <a:prstDash val="solid"/>
          </a:ln>
        </p:spPr>
      </p:sp>
      <p:sp>
        <p:nvSpPr>
          <p:cNvPr id="113" name="Text 111"/>
          <p:cNvSpPr/>
          <p:nvPr/>
        </p:nvSpPr>
        <p:spPr>
          <a:xfrm>
            <a:off x="3557016" y="4828032"/>
            <a:ext cx="1198493" cy="237744"/>
          </a:xfrm>
          <a:prstGeom prst="rect">
            <a:avLst/>
          </a:prstGeom>
          <a:noFill/>
          <a:ln/>
        </p:spPr>
        <p:txBody>
          <a:bodyPr wrap="square" lIns="0" tIns="0" rIns="0" bIns="0" rtlCol="0" anchor="ctr"/>
          <a:lstStyle/>
          <a:p>
            <a:pPr algn="l" indent="0" marL="0">
              <a:buNone/>
            </a:pPr>
            <a:r>
              <a:rPr lang="en-US" sz="700" dirty="0">
                <a:solidFill>
                  <a:srgbClr val="183B39"/>
                </a:solidFill>
                <a:latin typeface="Calibri" pitchFamily="34" charset="0"/>
                <a:ea typeface="Calibri" pitchFamily="34" charset="-122"/>
                <a:cs typeface="Calibri" pitchFamily="34" charset="-120"/>
              </a:rPr>
              <a:t>Clinic Plus</a:t>
            </a:r>
            <a:endParaRPr lang="en-US" sz="700" dirty="0"/>
          </a:p>
        </p:txBody>
      </p:sp>
      <p:sp>
        <p:nvSpPr>
          <p:cNvPr id="114" name="Text 112"/>
          <p:cNvSpPr/>
          <p:nvPr/>
        </p:nvSpPr>
        <p:spPr>
          <a:xfrm>
            <a:off x="4865237" y="4828032"/>
            <a:ext cx="478971" cy="237744"/>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9.6%</a:t>
            </a:r>
            <a:endParaRPr lang="en-US" sz="700" dirty="0"/>
          </a:p>
        </p:txBody>
      </p:sp>
      <p:sp>
        <p:nvSpPr>
          <p:cNvPr id="115" name="Text 113"/>
          <p:cNvSpPr/>
          <p:nvPr/>
        </p:nvSpPr>
        <p:spPr>
          <a:xfrm>
            <a:off x="5453936" y="4828032"/>
            <a:ext cx="478971" cy="237744"/>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99.4%</a:t>
            </a:r>
            <a:endParaRPr lang="en-US" sz="700" dirty="0"/>
          </a:p>
        </p:txBody>
      </p:sp>
      <p:sp>
        <p:nvSpPr>
          <p:cNvPr id="116" name="Text 114"/>
          <p:cNvSpPr/>
          <p:nvPr/>
        </p:nvSpPr>
        <p:spPr>
          <a:xfrm>
            <a:off x="6042636" y="4828032"/>
            <a:ext cx="495324" cy="237744"/>
          </a:xfrm>
          <a:prstGeom prst="rect">
            <a:avLst/>
          </a:prstGeom>
          <a:noFill/>
          <a:ln/>
        </p:spPr>
        <p:txBody>
          <a:bodyPr wrap="square" lIns="0" tIns="0" rIns="0" bIns="0" rtlCol="0" anchor="ctr"/>
          <a:lstStyle/>
          <a:p>
            <a:pPr algn="r" indent="0" marL="0">
              <a:buNone/>
            </a:pPr>
            <a:r>
              <a:rPr lang="en-US" sz="700" b="1" dirty="0">
                <a:solidFill>
                  <a:srgbClr val="183B39"/>
                </a:solidFill>
                <a:latin typeface="Calibri" pitchFamily="34" charset="0"/>
                <a:ea typeface="Calibri" pitchFamily="34" charset="-122"/>
                <a:cs typeface="Calibri" pitchFamily="34" charset="-120"/>
              </a:rPr>
              <a:t>0.097</a:t>
            </a:r>
            <a:endParaRPr lang="en-US" sz="700" dirty="0"/>
          </a:p>
        </p:txBody>
      </p:sp>
      <p:sp>
        <p:nvSpPr>
          <p:cNvPr id="117" name="Shape 115"/>
          <p:cNvSpPr/>
          <p:nvPr/>
        </p:nvSpPr>
        <p:spPr>
          <a:xfrm>
            <a:off x="3502152" y="5303520"/>
            <a:ext cx="3090672" cy="0"/>
          </a:xfrm>
          <a:prstGeom prst="line">
            <a:avLst/>
          </a:prstGeom>
          <a:noFill/>
          <a:ln w="6350">
            <a:solidFill>
              <a:srgbClr val="C8DCD7"/>
            </a:solidFill>
            <a:prstDash val="solid"/>
          </a:ln>
        </p:spPr>
      </p:sp>
      <p:sp>
        <p:nvSpPr>
          <p:cNvPr id="118" name="Text 116"/>
          <p:cNvSpPr/>
          <p:nvPr/>
        </p:nvSpPr>
        <p:spPr>
          <a:xfrm>
            <a:off x="3557016" y="5065776"/>
            <a:ext cx="1198493" cy="237744"/>
          </a:xfrm>
          <a:prstGeom prst="rect">
            <a:avLst/>
          </a:prstGeom>
          <a:noFill/>
          <a:ln/>
        </p:spPr>
        <p:txBody>
          <a:bodyPr wrap="square" lIns="0" tIns="0" rIns="0" bIns="0" rtlCol="0" anchor="ctr"/>
          <a:lstStyle/>
          <a:p>
            <a:pPr algn="l" indent="0" marL="0">
              <a:buNone/>
            </a:pPr>
            <a:r>
              <a:rPr lang="en-US" sz="700" b="1" dirty="0">
                <a:solidFill>
                  <a:srgbClr val="183B39"/>
                </a:solidFill>
                <a:latin typeface="Calibri" pitchFamily="34" charset="0"/>
                <a:ea typeface="Calibri" pitchFamily="34" charset="-122"/>
                <a:cs typeface="Calibri" pitchFamily="34" charset="-120"/>
              </a:rPr>
              <a:t>Mamaearth</a:t>
            </a:r>
            <a:endParaRPr lang="en-US" sz="700" dirty="0"/>
          </a:p>
        </p:txBody>
      </p:sp>
      <p:sp>
        <p:nvSpPr>
          <p:cNvPr id="119" name="Text 117"/>
          <p:cNvSpPr/>
          <p:nvPr/>
        </p:nvSpPr>
        <p:spPr>
          <a:xfrm>
            <a:off x="4865237" y="5065776"/>
            <a:ext cx="478971" cy="237744"/>
          </a:xfrm>
          <a:prstGeom prst="rect">
            <a:avLst/>
          </a:prstGeom>
          <a:noFill/>
          <a:ln/>
        </p:spPr>
        <p:txBody>
          <a:bodyPr wrap="square" lIns="0" tIns="0" rIns="0" bIns="0" rtlCol="0" anchor="ctr"/>
          <a:lstStyle/>
          <a:p>
            <a:pPr algn="r" indent="0" marL="0">
              <a:buNone/>
            </a:pPr>
            <a:r>
              <a:rPr lang="en-US" sz="700" b="1" dirty="0">
                <a:solidFill>
                  <a:srgbClr val="183B39"/>
                </a:solidFill>
                <a:latin typeface="Calibri" pitchFamily="34" charset="0"/>
                <a:ea typeface="Calibri" pitchFamily="34" charset="-122"/>
                <a:cs typeface="Calibri" pitchFamily="34" charset="-120"/>
              </a:rPr>
              <a:t>3.7%</a:t>
            </a:r>
            <a:endParaRPr lang="en-US" sz="700" dirty="0"/>
          </a:p>
        </p:txBody>
      </p:sp>
      <p:sp>
        <p:nvSpPr>
          <p:cNvPr id="120" name="Text 118"/>
          <p:cNvSpPr/>
          <p:nvPr/>
        </p:nvSpPr>
        <p:spPr>
          <a:xfrm>
            <a:off x="5453936" y="5065776"/>
            <a:ext cx="478971" cy="237744"/>
          </a:xfrm>
          <a:prstGeom prst="rect">
            <a:avLst/>
          </a:prstGeom>
          <a:noFill/>
          <a:ln/>
        </p:spPr>
        <p:txBody>
          <a:bodyPr wrap="square" lIns="0" tIns="0" rIns="0" bIns="0" rtlCol="0" anchor="ctr"/>
          <a:lstStyle/>
          <a:p>
            <a:pPr algn="r" indent="0" marL="0">
              <a:buNone/>
            </a:pPr>
            <a:r>
              <a:rPr lang="en-US" sz="700" b="1" dirty="0">
                <a:solidFill>
                  <a:srgbClr val="183B39"/>
                </a:solidFill>
                <a:latin typeface="Calibri" pitchFamily="34" charset="0"/>
                <a:ea typeface="Calibri" pitchFamily="34" charset="-122"/>
                <a:cs typeface="Calibri" pitchFamily="34" charset="-120"/>
              </a:rPr>
              <a:t>81.5%</a:t>
            </a:r>
            <a:endParaRPr lang="en-US" sz="700" dirty="0"/>
          </a:p>
        </p:txBody>
      </p:sp>
      <p:sp>
        <p:nvSpPr>
          <p:cNvPr id="121" name="Text 119"/>
          <p:cNvSpPr/>
          <p:nvPr/>
        </p:nvSpPr>
        <p:spPr>
          <a:xfrm>
            <a:off x="6042636" y="5065776"/>
            <a:ext cx="495324" cy="237744"/>
          </a:xfrm>
          <a:prstGeom prst="rect">
            <a:avLst/>
          </a:prstGeom>
          <a:noFill/>
          <a:ln/>
        </p:spPr>
        <p:txBody>
          <a:bodyPr wrap="square" lIns="0" tIns="0" rIns="0" bIns="0" rtlCol="0" anchor="ctr"/>
          <a:lstStyle/>
          <a:p>
            <a:pPr algn="r" indent="0" marL="0">
              <a:buNone/>
            </a:pPr>
            <a:r>
              <a:rPr lang="en-US" sz="700" b="1" dirty="0">
                <a:solidFill>
                  <a:srgbClr val="D6544D"/>
                </a:solidFill>
                <a:latin typeface="Calibri" pitchFamily="34" charset="0"/>
                <a:ea typeface="Calibri" pitchFamily="34" charset="-122"/>
                <a:cs typeface="Calibri" pitchFamily="34" charset="-120"/>
              </a:rPr>
              <a:t>0.045</a:t>
            </a:r>
            <a:endParaRPr lang="en-US" sz="700" dirty="0"/>
          </a:p>
        </p:txBody>
      </p:sp>
      <p:sp>
        <p:nvSpPr>
          <p:cNvPr id="122" name="Text 120"/>
          <p:cNvSpPr/>
          <p:nvPr/>
        </p:nvSpPr>
        <p:spPr>
          <a:xfrm>
            <a:off x="265176" y="5358384"/>
            <a:ext cx="6327648" cy="237744"/>
          </a:xfrm>
          <a:prstGeom prst="rect">
            <a:avLst/>
          </a:prstGeom>
          <a:noFill/>
          <a:ln/>
        </p:spPr>
        <p:txBody>
          <a:bodyPr wrap="square" lIns="0" tIns="0" rIns="0" bIns="0" rtlCol="0" anchor="t"/>
          <a:lstStyle/>
          <a:p>
            <a:pPr indent="0" marL="0">
              <a:lnSpc>
                <a:spcPct val="94000"/>
              </a:lnSpc>
              <a:buNone/>
            </a:pPr>
            <a:r>
              <a:rPr lang="en-US" sz="660" dirty="0">
                <a:solidFill>
                  <a:srgbClr val="5F716E"/>
                </a:solidFill>
                <a:latin typeface="Calibri" pitchFamily="34" charset="0"/>
                <a:ea typeface="Calibri" pitchFamily="34" charset="-122"/>
                <a:cs typeface="Calibri" pitchFamily="34" charset="-120"/>
              </a:rPr>
              <a:t>SPD = value share ÷ weighted distribution: the share each point of shelf presence earns. It separates "we are not on enough shelves" from "we are not selling off the shelves we hold".</a:t>
            </a:r>
            <a:endParaRPr lang="en-US" sz="660" dirty="0"/>
          </a:p>
        </p:txBody>
      </p:sp>
      <p:sp>
        <p:nvSpPr>
          <p:cNvPr id="123" name="Shape 121"/>
          <p:cNvSpPr/>
          <p:nvPr/>
        </p:nvSpPr>
        <p:spPr>
          <a:xfrm>
            <a:off x="265176" y="5632704"/>
            <a:ext cx="3090672" cy="1444752"/>
          </a:xfrm>
          <a:prstGeom prst="roundRect">
            <a:avLst>
              <a:gd name="adj" fmla="val 1266"/>
            </a:avLst>
          </a:prstGeom>
          <a:solidFill>
            <a:srgbClr val="FFFFFF"/>
          </a:solidFill>
          <a:ln w="9525">
            <a:solidFill>
              <a:srgbClr val="C8DCD7"/>
            </a:solidFill>
            <a:prstDash val="solid"/>
          </a:ln>
        </p:spPr>
      </p:sp>
      <p:sp>
        <p:nvSpPr>
          <p:cNvPr id="124" name="Shape 122"/>
          <p:cNvSpPr/>
          <p:nvPr/>
        </p:nvSpPr>
        <p:spPr>
          <a:xfrm>
            <a:off x="265176" y="5632704"/>
            <a:ext cx="3090672" cy="274320"/>
          </a:xfrm>
          <a:prstGeom prst="rect">
            <a:avLst/>
          </a:prstGeom>
          <a:solidFill>
            <a:srgbClr val="F2B84B"/>
          </a:solidFill>
          <a:ln/>
        </p:spPr>
      </p:sp>
      <p:sp>
        <p:nvSpPr>
          <p:cNvPr id="125" name="Text 123"/>
          <p:cNvSpPr/>
          <p:nvPr/>
        </p:nvSpPr>
        <p:spPr>
          <a:xfrm>
            <a:off x="347472" y="5650992"/>
            <a:ext cx="2926080"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FACE WASH — CLOSE TO GARNIER</a:t>
            </a:r>
            <a:endParaRPr lang="en-US" sz="700" dirty="0"/>
          </a:p>
        </p:txBody>
      </p:sp>
      <p:sp>
        <p:nvSpPr>
          <p:cNvPr id="126" name="Text 124"/>
          <p:cNvSpPr/>
          <p:nvPr/>
        </p:nvSpPr>
        <p:spPr>
          <a:xfrm>
            <a:off x="356616" y="5998464"/>
            <a:ext cx="2907792" cy="274320"/>
          </a:xfrm>
          <a:prstGeom prst="rect">
            <a:avLst/>
          </a:prstGeom>
          <a:noFill/>
          <a:ln/>
        </p:spPr>
        <p:txBody>
          <a:bodyPr wrap="square" lIns="0" tIns="0" rIns="0" bIns="0" rtlCol="0" anchor="ctr"/>
          <a:lstStyle/>
          <a:p>
            <a:pPr algn="ctr" indent="0" marL="0">
              <a:buNone/>
            </a:pPr>
            <a:r>
              <a:rPr lang="en-US" sz="1250" b="1" dirty="0">
                <a:solidFill>
                  <a:srgbClr val="F2B84B"/>
                </a:solidFill>
                <a:latin typeface="Calibri Light" pitchFamily="34" charset="0"/>
                <a:ea typeface="Calibri Light" pitchFamily="34" charset="-122"/>
                <a:cs typeface="Calibri Light" pitchFamily="34" charset="-120"/>
              </a:rPr>
              <a:t>+3.7 pts  ·  ~₹3.0 Cr / month</a:t>
            </a:r>
            <a:endParaRPr lang="en-US" sz="1250" dirty="0"/>
          </a:p>
        </p:txBody>
      </p:sp>
      <p:sp>
        <p:nvSpPr>
          <p:cNvPr id="127" name="Text 125"/>
          <p:cNvSpPr/>
          <p:nvPr/>
        </p:nvSpPr>
        <p:spPr>
          <a:xfrm>
            <a:off x="356616" y="6291072"/>
            <a:ext cx="2907792" cy="146304"/>
          </a:xfrm>
          <a:prstGeom prst="rect">
            <a:avLst/>
          </a:prstGeom>
          <a:noFill/>
          <a:ln/>
        </p:spPr>
        <p:txBody>
          <a:bodyPr wrap="square" lIns="0" tIns="0" rIns="0" bIns="0" rtlCol="0" anchor="t"/>
          <a:lstStyle/>
          <a:p>
            <a:pPr algn="ctr" indent="0" marL="0">
              <a:buNone/>
            </a:pPr>
            <a:r>
              <a:rPr lang="en-US" sz="630" dirty="0">
                <a:solidFill>
                  <a:srgbClr val="5F716E"/>
                </a:solidFill>
                <a:latin typeface="Calibri" pitchFamily="34" charset="0"/>
                <a:ea typeface="Calibri" pitchFamily="34" charset="-122"/>
                <a:cs typeface="Calibri" pitchFamily="34" charset="-120"/>
              </a:rPr>
              <a:t>Nielsen MT Face Wash ≈ ₹81 Cr / month, so one share point is worth ₹0.81 Cr</a:t>
            </a:r>
            <a:endParaRPr lang="en-US" sz="630" dirty="0"/>
          </a:p>
        </p:txBody>
      </p:sp>
      <p:sp>
        <p:nvSpPr>
          <p:cNvPr id="128" name="Shape 126"/>
          <p:cNvSpPr/>
          <p:nvPr/>
        </p:nvSpPr>
        <p:spPr>
          <a:xfrm>
            <a:off x="374904" y="6542532"/>
            <a:ext cx="50292" cy="50292"/>
          </a:xfrm>
          <a:prstGeom prst="ellipse">
            <a:avLst/>
          </a:prstGeom>
          <a:solidFill>
            <a:srgbClr val="F2B84B"/>
          </a:solidFill>
          <a:ln/>
        </p:spPr>
      </p:sp>
      <p:sp>
        <p:nvSpPr>
          <p:cNvPr id="129" name="Text 127"/>
          <p:cNvSpPr/>
          <p:nvPr/>
        </p:nvSpPr>
        <p:spPr>
          <a:xfrm>
            <a:off x="493776" y="6492240"/>
            <a:ext cx="2752344" cy="265176"/>
          </a:xfrm>
          <a:prstGeom prst="rect">
            <a:avLst/>
          </a:prstGeom>
          <a:noFill/>
          <a:ln/>
        </p:spPr>
        <p:txBody>
          <a:bodyPr wrap="square" lIns="0" tIns="0" rIns="0" bIns="0" rtlCol="0" anchor="t"/>
          <a:lstStyle/>
          <a:p>
            <a:pPr indent="0" marL="0">
              <a:lnSpc>
                <a:spcPct val="92000"/>
              </a:lnSpc>
              <a:buNone/>
            </a:pPr>
            <a:r>
              <a:rPr lang="en-US" sz="690" b="1" dirty="0">
                <a:solidFill>
                  <a:srgbClr val="183B39"/>
                </a:solidFill>
                <a:latin typeface="Calibri" pitchFamily="34" charset="0"/>
                <a:ea typeface="Calibri" pitchFamily="34" charset="-122"/>
                <a:cs typeface="Calibri" pitchFamily="34" charset="-120"/>
              </a:rPr>
              <a:t>Garnier earns 14.2% on 90.3% WD; we earn 10.5% on 89.0%.</a:t>
            </a:r>
            <a:endParaRPr lang="en-US" sz="690" dirty="0"/>
          </a:p>
        </p:txBody>
      </p:sp>
      <p:sp>
        <p:nvSpPr>
          <p:cNvPr id="130" name="Shape 128"/>
          <p:cNvSpPr/>
          <p:nvPr/>
        </p:nvSpPr>
        <p:spPr>
          <a:xfrm>
            <a:off x="374904" y="6825996"/>
            <a:ext cx="50292" cy="50292"/>
          </a:xfrm>
          <a:prstGeom prst="ellipse">
            <a:avLst/>
          </a:prstGeom>
          <a:solidFill>
            <a:srgbClr val="F2B84B"/>
          </a:solidFill>
          <a:ln/>
        </p:spPr>
      </p:sp>
      <p:sp>
        <p:nvSpPr>
          <p:cNvPr id="131" name="Text 129"/>
          <p:cNvSpPr/>
          <p:nvPr/>
        </p:nvSpPr>
        <p:spPr>
          <a:xfrm>
            <a:off x="493776" y="6775704"/>
            <a:ext cx="2752344" cy="265176"/>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Same shelf, 26% less share per point. The gap is velocity, not reach.</a:t>
            </a:r>
            <a:endParaRPr lang="en-US" sz="690" dirty="0"/>
          </a:p>
        </p:txBody>
      </p:sp>
      <p:sp>
        <p:nvSpPr>
          <p:cNvPr id="132" name="Shape 130"/>
          <p:cNvSpPr/>
          <p:nvPr/>
        </p:nvSpPr>
        <p:spPr>
          <a:xfrm>
            <a:off x="3502152" y="5632704"/>
            <a:ext cx="3090672" cy="1444752"/>
          </a:xfrm>
          <a:prstGeom prst="roundRect">
            <a:avLst>
              <a:gd name="adj" fmla="val 1266"/>
            </a:avLst>
          </a:prstGeom>
          <a:solidFill>
            <a:srgbClr val="FFFFFF"/>
          </a:solidFill>
          <a:ln w="9525">
            <a:solidFill>
              <a:srgbClr val="C8DCD7"/>
            </a:solidFill>
            <a:prstDash val="solid"/>
          </a:ln>
        </p:spPr>
      </p:sp>
      <p:sp>
        <p:nvSpPr>
          <p:cNvPr id="133" name="Shape 131"/>
          <p:cNvSpPr/>
          <p:nvPr/>
        </p:nvSpPr>
        <p:spPr>
          <a:xfrm>
            <a:off x="3502152" y="5632704"/>
            <a:ext cx="3090672" cy="274320"/>
          </a:xfrm>
          <a:prstGeom prst="rect">
            <a:avLst/>
          </a:prstGeom>
          <a:solidFill>
            <a:srgbClr val="D6544D"/>
          </a:solidFill>
          <a:ln/>
        </p:spPr>
      </p:sp>
      <p:sp>
        <p:nvSpPr>
          <p:cNvPr id="134" name="Text 132"/>
          <p:cNvSpPr/>
          <p:nvPr/>
        </p:nvSpPr>
        <p:spPr>
          <a:xfrm>
            <a:off x="3584448" y="5650992"/>
            <a:ext cx="2926080"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SHAMPOO — REACH THE WEAKEST PEER</a:t>
            </a:r>
            <a:endParaRPr lang="en-US" sz="700" dirty="0"/>
          </a:p>
        </p:txBody>
      </p:sp>
      <p:sp>
        <p:nvSpPr>
          <p:cNvPr id="135" name="Text 133"/>
          <p:cNvSpPr/>
          <p:nvPr/>
        </p:nvSpPr>
        <p:spPr>
          <a:xfrm>
            <a:off x="3593592" y="5998464"/>
            <a:ext cx="2907792" cy="274320"/>
          </a:xfrm>
          <a:prstGeom prst="rect">
            <a:avLst/>
          </a:prstGeom>
          <a:noFill/>
          <a:ln/>
        </p:spPr>
        <p:txBody>
          <a:bodyPr wrap="square" lIns="0" tIns="0" rIns="0" bIns="0" rtlCol="0" anchor="ctr"/>
          <a:lstStyle/>
          <a:p>
            <a:pPr algn="ctr" indent="0" marL="0">
              <a:buNone/>
            </a:pPr>
            <a:r>
              <a:rPr lang="en-US" sz="1250" b="1" dirty="0">
                <a:solidFill>
                  <a:srgbClr val="D6544D"/>
                </a:solidFill>
                <a:latin typeface="Calibri Light" pitchFamily="34" charset="0"/>
                <a:ea typeface="Calibri Light" pitchFamily="34" charset="-122"/>
                <a:cs typeface="Calibri Light" pitchFamily="34" charset="-120"/>
              </a:rPr>
              <a:t>+4.2 pts  ·  ~₹6.9 Cr / month</a:t>
            </a:r>
            <a:endParaRPr lang="en-US" sz="1250" dirty="0"/>
          </a:p>
        </p:txBody>
      </p:sp>
      <p:sp>
        <p:nvSpPr>
          <p:cNvPr id="136" name="Text 134"/>
          <p:cNvSpPr/>
          <p:nvPr/>
        </p:nvSpPr>
        <p:spPr>
          <a:xfrm>
            <a:off x="3593592" y="6291072"/>
            <a:ext cx="2907792" cy="146304"/>
          </a:xfrm>
          <a:prstGeom prst="rect">
            <a:avLst/>
          </a:prstGeom>
          <a:noFill/>
          <a:ln/>
        </p:spPr>
        <p:txBody>
          <a:bodyPr wrap="square" lIns="0" tIns="0" rIns="0" bIns="0" rtlCol="0" anchor="t"/>
          <a:lstStyle/>
          <a:p>
            <a:pPr algn="ctr" indent="0" marL="0">
              <a:buNone/>
            </a:pPr>
            <a:r>
              <a:rPr lang="en-US" sz="630" dirty="0">
                <a:solidFill>
                  <a:srgbClr val="5F716E"/>
                </a:solidFill>
                <a:latin typeface="Calibri" pitchFamily="34" charset="0"/>
                <a:ea typeface="Calibri" pitchFamily="34" charset="-122"/>
                <a:cs typeface="Calibri" pitchFamily="34" charset="-120"/>
              </a:rPr>
              <a:t>Nielsen MT Shampoo ≈ ₹164 Cr / month, so one share point is worth ₹1.64 Cr</a:t>
            </a:r>
            <a:endParaRPr lang="en-US" sz="630" dirty="0"/>
          </a:p>
        </p:txBody>
      </p:sp>
      <p:sp>
        <p:nvSpPr>
          <p:cNvPr id="137" name="Shape 135"/>
          <p:cNvSpPr/>
          <p:nvPr/>
        </p:nvSpPr>
        <p:spPr>
          <a:xfrm>
            <a:off x="3611880" y="6542532"/>
            <a:ext cx="50292" cy="50292"/>
          </a:xfrm>
          <a:prstGeom prst="ellipse">
            <a:avLst/>
          </a:prstGeom>
          <a:solidFill>
            <a:srgbClr val="D6544D"/>
          </a:solidFill>
          <a:ln/>
        </p:spPr>
      </p:sp>
      <p:sp>
        <p:nvSpPr>
          <p:cNvPr id="138" name="Text 136"/>
          <p:cNvSpPr/>
          <p:nvPr/>
        </p:nvSpPr>
        <p:spPr>
          <a:xfrm>
            <a:off x="3730752" y="6492240"/>
            <a:ext cx="2752344" cy="265176"/>
          </a:xfrm>
          <a:prstGeom prst="rect">
            <a:avLst/>
          </a:prstGeom>
          <a:noFill/>
          <a:ln/>
        </p:spPr>
        <p:txBody>
          <a:bodyPr wrap="square" lIns="0" tIns="0" rIns="0" bIns="0" rtlCol="0" anchor="t"/>
          <a:lstStyle/>
          <a:p>
            <a:pPr indent="0" marL="0">
              <a:lnSpc>
                <a:spcPct val="92000"/>
              </a:lnSpc>
              <a:buNone/>
            </a:pPr>
            <a:r>
              <a:rPr lang="en-US" sz="690" b="1" dirty="0">
                <a:solidFill>
                  <a:srgbClr val="183B39"/>
                </a:solidFill>
                <a:latin typeface="Calibri" pitchFamily="34" charset="0"/>
                <a:ea typeface="Calibri" pitchFamily="34" charset="-122"/>
                <a:cs typeface="Calibri" pitchFamily="34" charset="-120"/>
              </a:rPr>
              <a:t>At Sunsilk's 0.097 — the weakest of the five peers — 81.5% WD yields 7.9%.</a:t>
            </a:r>
            <a:endParaRPr lang="en-US" sz="690" dirty="0"/>
          </a:p>
        </p:txBody>
      </p:sp>
      <p:sp>
        <p:nvSpPr>
          <p:cNvPr id="139" name="Shape 137"/>
          <p:cNvSpPr/>
          <p:nvPr/>
        </p:nvSpPr>
        <p:spPr>
          <a:xfrm>
            <a:off x="3611880" y="6825996"/>
            <a:ext cx="50292" cy="50292"/>
          </a:xfrm>
          <a:prstGeom prst="ellipse">
            <a:avLst/>
          </a:prstGeom>
          <a:solidFill>
            <a:srgbClr val="D6544D"/>
          </a:solidFill>
          <a:ln/>
        </p:spPr>
      </p:sp>
      <p:sp>
        <p:nvSpPr>
          <p:cNvPr id="140" name="Text 138"/>
          <p:cNvSpPr/>
          <p:nvPr/>
        </p:nvSpPr>
        <p:spPr>
          <a:xfrm>
            <a:off x="3730752" y="6775704"/>
            <a:ext cx="2752344" cy="265176"/>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A conservative benchmark; the peer median is 0.131.</a:t>
            </a:r>
            <a:endParaRPr lang="en-US" sz="690" dirty="0"/>
          </a:p>
        </p:txBody>
      </p:sp>
      <p:sp>
        <p:nvSpPr>
          <p:cNvPr id="141" name="Shape 139"/>
          <p:cNvSpPr/>
          <p:nvPr/>
        </p:nvSpPr>
        <p:spPr>
          <a:xfrm>
            <a:off x="265176" y="7205472"/>
            <a:ext cx="6327648" cy="256032"/>
          </a:xfrm>
          <a:prstGeom prst="rect">
            <a:avLst/>
          </a:prstGeom>
          <a:solidFill>
            <a:srgbClr val="116F68"/>
          </a:solidFill>
          <a:ln/>
        </p:spPr>
      </p:sp>
      <p:sp>
        <p:nvSpPr>
          <p:cNvPr id="142" name="Text 140"/>
          <p:cNvSpPr/>
          <p:nvPr/>
        </p:nvSpPr>
        <p:spPr>
          <a:xfrm>
            <a:off x="374904" y="7223760"/>
            <a:ext cx="6108192" cy="219456"/>
          </a:xfrm>
          <a:prstGeom prst="rect">
            <a:avLst/>
          </a:prstGeom>
          <a:noFill/>
          <a:ln/>
        </p:spPr>
        <p:txBody>
          <a:bodyPr wrap="square" lIns="0" tIns="0" rIns="0" bIns="0" rtlCol="0" anchor="ctr"/>
          <a:lstStyle/>
          <a:p>
            <a:pPr indent="0" marL="0">
              <a:buNone/>
            </a:pPr>
            <a:r>
              <a:rPr lang="en-US" sz="720" b="1" spc="60" kern="0" dirty="0">
                <a:solidFill>
                  <a:srgbClr val="FFFFFF"/>
                </a:solidFill>
                <a:latin typeface="Calibri" pitchFamily="34" charset="0"/>
                <a:ea typeface="Calibri" pitchFamily="34" charset="-122"/>
                <a:cs typeface="Calibri" pitchFamily="34" charset="-120"/>
              </a:rPr>
              <a:t>PACK ARCHITECTURE — WHERE THE VOLUME ACTUALLY SITS (MAY 2026)</a:t>
            </a:r>
            <a:endParaRPr lang="en-US" sz="720" dirty="0"/>
          </a:p>
        </p:txBody>
      </p:sp>
      <p:sp>
        <p:nvSpPr>
          <p:cNvPr id="143" name="Text 141"/>
          <p:cNvSpPr/>
          <p:nvPr/>
        </p:nvSpPr>
        <p:spPr>
          <a:xfrm>
            <a:off x="265176" y="7552944"/>
            <a:ext cx="3090672"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Mamaearth Face Wash</a:t>
            </a:r>
            <a:endParaRPr lang="en-US" sz="720" dirty="0"/>
          </a:p>
        </p:txBody>
      </p:sp>
      <p:sp>
        <p:nvSpPr>
          <p:cNvPr id="144" name="Shape 142"/>
          <p:cNvSpPr/>
          <p:nvPr/>
        </p:nvSpPr>
        <p:spPr>
          <a:xfrm>
            <a:off x="265176" y="7735824"/>
            <a:ext cx="3090672" cy="256032"/>
          </a:xfrm>
          <a:prstGeom prst="rect">
            <a:avLst/>
          </a:prstGeom>
          <a:solidFill>
            <a:srgbClr val="116F68"/>
          </a:solidFill>
          <a:ln/>
        </p:spPr>
      </p:sp>
      <p:sp>
        <p:nvSpPr>
          <p:cNvPr id="145" name="Text 143"/>
          <p:cNvSpPr/>
          <p:nvPr/>
        </p:nvSpPr>
        <p:spPr>
          <a:xfrm>
            <a:off x="320040" y="7754112"/>
            <a:ext cx="893737" cy="219456"/>
          </a:xfrm>
          <a:prstGeom prst="rect">
            <a:avLst/>
          </a:prstGeom>
          <a:noFill/>
          <a:ln/>
        </p:spPr>
        <p:txBody>
          <a:bodyPr wrap="square" lIns="0" tIns="0" rIns="0" bIns="0" rtlCol="0" anchor="ctr"/>
          <a:lstStyle/>
          <a:p>
            <a:pPr algn="l" indent="0" marL="0">
              <a:buNone/>
            </a:pPr>
            <a:r>
              <a:rPr lang="en-US" sz="660" b="1" spc="40" kern="0" dirty="0">
                <a:solidFill>
                  <a:srgbClr val="FFFFFF"/>
                </a:solidFill>
                <a:latin typeface="Calibri" pitchFamily="34" charset="0"/>
                <a:ea typeface="Calibri" pitchFamily="34" charset="-122"/>
                <a:cs typeface="Calibri" pitchFamily="34" charset="-120"/>
              </a:rPr>
              <a:t>PACK</a:t>
            </a:r>
            <a:endParaRPr lang="en-US" sz="660" dirty="0"/>
          </a:p>
        </p:txBody>
      </p:sp>
      <p:sp>
        <p:nvSpPr>
          <p:cNvPr id="146" name="Text 144"/>
          <p:cNvSpPr/>
          <p:nvPr/>
        </p:nvSpPr>
        <p:spPr>
          <a:xfrm>
            <a:off x="1323505" y="7754112"/>
            <a:ext cx="512420"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MIX</a:t>
            </a:r>
            <a:endParaRPr lang="en-US" sz="660" dirty="0"/>
          </a:p>
        </p:txBody>
      </p:sp>
      <p:sp>
        <p:nvSpPr>
          <p:cNvPr id="147" name="Text 145"/>
          <p:cNvSpPr/>
          <p:nvPr/>
        </p:nvSpPr>
        <p:spPr>
          <a:xfrm>
            <a:off x="1945653" y="7754112"/>
            <a:ext cx="612767"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 Cr</a:t>
            </a:r>
            <a:endParaRPr lang="en-US" sz="660" dirty="0"/>
          </a:p>
        </p:txBody>
      </p:sp>
      <p:sp>
        <p:nvSpPr>
          <p:cNvPr id="148" name="Text 146"/>
          <p:cNvSpPr/>
          <p:nvPr/>
        </p:nvSpPr>
        <p:spPr>
          <a:xfrm>
            <a:off x="2668148" y="7754112"/>
            <a:ext cx="632836"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YoY</a:t>
            </a:r>
            <a:endParaRPr lang="en-US" sz="660" dirty="0"/>
          </a:p>
        </p:txBody>
      </p:sp>
      <p:sp>
        <p:nvSpPr>
          <p:cNvPr id="149" name="Shape 147"/>
          <p:cNvSpPr/>
          <p:nvPr/>
        </p:nvSpPr>
        <p:spPr>
          <a:xfrm>
            <a:off x="265176" y="7991856"/>
            <a:ext cx="3090672" cy="237744"/>
          </a:xfrm>
          <a:prstGeom prst="rect">
            <a:avLst/>
          </a:prstGeom>
          <a:solidFill>
            <a:srgbClr val="F4F9F8"/>
          </a:solidFill>
          <a:ln/>
        </p:spPr>
      </p:sp>
      <p:sp>
        <p:nvSpPr>
          <p:cNvPr id="150" name="Shape 148"/>
          <p:cNvSpPr/>
          <p:nvPr/>
        </p:nvSpPr>
        <p:spPr>
          <a:xfrm>
            <a:off x="265176" y="8229600"/>
            <a:ext cx="3090672" cy="0"/>
          </a:xfrm>
          <a:prstGeom prst="line">
            <a:avLst/>
          </a:prstGeom>
          <a:noFill/>
          <a:ln w="6350">
            <a:solidFill>
              <a:srgbClr val="C8DCD7"/>
            </a:solidFill>
            <a:prstDash val="solid"/>
          </a:ln>
        </p:spPr>
      </p:sp>
      <p:sp>
        <p:nvSpPr>
          <p:cNvPr id="151" name="Text 149"/>
          <p:cNvSpPr/>
          <p:nvPr/>
        </p:nvSpPr>
        <p:spPr>
          <a:xfrm>
            <a:off x="320040" y="7991856"/>
            <a:ext cx="893737" cy="237744"/>
          </a:xfrm>
          <a:prstGeom prst="rect">
            <a:avLst/>
          </a:prstGeom>
          <a:noFill/>
          <a:ln/>
        </p:spPr>
        <p:txBody>
          <a:bodyPr wrap="square" lIns="0" tIns="0" rIns="0" bIns="0" rtlCol="0" anchor="ctr"/>
          <a:lstStyle/>
          <a:p>
            <a:pPr algn="l" indent="0" marL="0">
              <a:buNone/>
            </a:pPr>
            <a:r>
              <a:rPr lang="en-US" sz="700" b="1" dirty="0">
                <a:solidFill>
                  <a:srgbClr val="183B39"/>
                </a:solidFill>
                <a:latin typeface="Calibri" pitchFamily="34" charset="0"/>
                <a:ea typeface="Calibri" pitchFamily="34" charset="-122"/>
                <a:cs typeface="Calibri" pitchFamily="34" charset="-120"/>
              </a:rPr>
              <a:t>150 ml</a:t>
            </a:r>
            <a:endParaRPr lang="en-US" sz="700" dirty="0"/>
          </a:p>
        </p:txBody>
      </p:sp>
      <p:sp>
        <p:nvSpPr>
          <p:cNvPr id="152" name="Text 150"/>
          <p:cNvSpPr/>
          <p:nvPr/>
        </p:nvSpPr>
        <p:spPr>
          <a:xfrm>
            <a:off x="1323505" y="7991856"/>
            <a:ext cx="512420" cy="237744"/>
          </a:xfrm>
          <a:prstGeom prst="rect">
            <a:avLst/>
          </a:prstGeom>
          <a:noFill/>
          <a:ln/>
        </p:spPr>
        <p:txBody>
          <a:bodyPr wrap="square" lIns="0" tIns="0" rIns="0" bIns="0" rtlCol="0" anchor="ctr"/>
          <a:lstStyle/>
          <a:p>
            <a:pPr algn="r" indent="0" marL="0">
              <a:buNone/>
            </a:pPr>
            <a:r>
              <a:rPr lang="en-US" sz="700" b="1" dirty="0">
                <a:solidFill>
                  <a:srgbClr val="183B39"/>
                </a:solidFill>
                <a:latin typeface="Calibri" pitchFamily="34" charset="0"/>
                <a:ea typeface="Calibri" pitchFamily="34" charset="-122"/>
                <a:cs typeface="Calibri" pitchFamily="34" charset="-120"/>
              </a:rPr>
              <a:t>58%</a:t>
            </a:r>
            <a:endParaRPr lang="en-US" sz="700" dirty="0"/>
          </a:p>
        </p:txBody>
      </p:sp>
      <p:sp>
        <p:nvSpPr>
          <p:cNvPr id="153" name="Text 151"/>
          <p:cNvSpPr/>
          <p:nvPr/>
        </p:nvSpPr>
        <p:spPr>
          <a:xfrm>
            <a:off x="1945653" y="7991856"/>
            <a:ext cx="612767" cy="237744"/>
          </a:xfrm>
          <a:prstGeom prst="rect">
            <a:avLst/>
          </a:prstGeom>
          <a:noFill/>
          <a:ln/>
        </p:spPr>
        <p:txBody>
          <a:bodyPr wrap="square" lIns="0" tIns="0" rIns="0" bIns="0" rtlCol="0" anchor="ctr"/>
          <a:lstStyle/>
          <a:p>
            <a:pPr algn="r" indent="0" marL="0">
              <a:buNone/>
            </a:pPr>
            <a:r>
              <a:rPr lang="en-US" sz="700" b="1" dirty="0">
                <a:solidFill>
                  <a:srgbClr val="183B39"/>
                </a:solidFill>
                <a:latin typeface="Calibri" pitchFamily="34" charset="0"/>
                <a:ea typeface="Calibri" pitchFamily="34" charset="-122"/>
                <a:cs typeface="Calibri" pitchFamily="34" charset="-120"/>
              </a:rPr>
              <a:t>5.53</a:t>
            </a:r>
            <a:endParaRPr lang="en-US" sz="700" dirty="0"/>
          </a:p>
        </p:txBody>
      </p:sp>
      <p:sp>
        <p:nvSpPr>
          <p:cNvPr id="154" name="Text 152"/>
          <p:cNvSpPr/>
          <p:nvPr/>
        </p:nvSpPr>
        <p:spPr>
          <a:xfrm>
            <a:off x="2668148" y="7991856"/>
            <a:ext cx="632836" cy="237744"/>
          </a:xfrm>
          <a:prstGeom prst="rect">
            <a:avLst/>
          </a:prstGeom>
          <a:noFill/>
          <a:ln/>
        </p:spPr>
        <p:txBody>
          <a:bodyPr wrap="square" lIns="0" tIns="0" rIns="0" bIns="0" rtlCol="0" anchor="ctr"/>
          <a:lstStyle/>
          <a:p>
            <a:pPr algn="r" indent="0" marL="0">
              <a:buNone/>
            </a:pPr>
            <a:r>
              <a:rPr lang="en-US" sz="700" b="1" dirty="0">
                <a:solidFill>
                  <a:srgbClr val="2B9A66"/>
                </a:solidFill>
                <a:latin typeface="Calibri" pitchFamily="34" charset="0"/>
                <a:ea typeface="Calibri" pitchFamily="34" charset="-122"/>
                <a:cs typeface="Calibri" pitchFamily="34" charset="-120"/>
              </a:rPr>
              <a:t>+98%</a:t>
            </a:r>
            <a:endParaRPr lang="en-US" sz="700" dirty="0"/>
          </a:p>
        </p:txBody>
      </p:sp>
      <p:sp>
        <p:nvSpPr>
          <p:cNvPr id="155" name="Shape 153"/>
          <p:cNvSpPr/>
          <p:nvPr/>
        </p:nvSpPr>
        <p:spPr>
          <a:xfrm>
            <a:off x="265176" y="8467344"/>
            <a:ext cx="3090672" cy="0"/>
          </a:xfrm>
          <a:prstGeom prst="line">
            <a:avLst/>
          </a:prstGeom>
          <a:noFill/>
          <a:ln w="6350">
            <a:solidFill>
              <a:srgbClr val="C8DCD7"/>
            </a:solidFill>
            <a:prstDash val="solid"/>
          </a:ln>
        </p:spPr>
      </p:sp>
      <p:sp>
        <p:nvSpPr>
          <p:cNvPr id="156" name="Text 154"/>
          <p:cNvSpPr/>
          <p:nvPr/>
        </p:nvSpPr>
        <p:spPr>
          <a:xfrm>
            <a:off x="320040" y="8229600"/>
            <a:ext cx="893737" cy="237744"/>
          </a:xfrm>
          <a:prstGeom prst="rect">
            <a:avLst/>
          </a:prstGeom>
          <a:noFill/>
          <a:ln/>
        </p:spPr>
        <p:txBody>
          <a:bodyPr wrap="square" lIns="0" tIns="0" rIns="0" bIns="0" rtlCol="0" anchor="ctr"/>
          <a:lstStyle/>
          <a:p>
            <a:pPr algn="l" indent="0" marL="0">
              <a:buNone/>
            </a:pPr>
            <a:r>
              <a:rPr lang="en-US" sz="700" b="1" dirty="0">
                <a:solidFill>
                  <a:srgbClr val="183B39"/>
                </a:solidFill>
                <a:latin typeface="Calibri" pitchFamily="34" charset="0"/>
                <a:ea typeface="Calibri" pitchFamily="34" charset="-122"/>
                <a:cs typeface="Calibri" pitchFamily="34" charset="-120"/>
              </a:rPr>
              <a:t>100 ml</a:t>
            </a:r>
            <a:endParaRPr lang="en-US" sz="700" dirty="0"/>
          </a:p>
        </p:txBody>
      </p:sp>
      <p:sp>
        <p:nvSpPr>
          <p:cNvPr id="157" name="Text 155"/>
          <p:cNvSpPr/>
          <p:nvPr/>
        </p:nvSpPr>
        <p:spPr>
          <a:xfrm>
            <a:off x="1323505" y="8229600"/>
            <a:ext cx="512420" cy="237744"/>
          </a:xfrm>
          <a:prstGeom prst="rect">
            <a:avLst/>
          </a:prstGeom>
          <a:noFill/>
          <a:ln/>
        </p:spPr>
        <p:txBody>
          <a:bodyPr wrap="square" lIns="0" tIns="0" rIns="0" bIns="0" rtlCol="0" anchor="ctr"/>
          <a:lstStyle/>
          <a:p>
            <a:pPr algn="r" indent="0" marL="0">
              <a:buNone/>
            </a:pPr>
            <a:r>
              <a:rPr lang="en-US" sz="700" b="1" dirty="0">
                <a:solidFill>
                  <a:srgbClr val="183B39"/>
                </a:solidFill>
                <a:latin typeface="Calibri" pitchFamily="34" charset="0"/>
                <a:ea typeface="Calibri" pitchFamily="34" charset="-122"/>
                <a:cs typeface="Calibri" pitchFamily="34" charset="-120"/>
              </a:rPr>
              <a:t>21%</a:t>
            </a:r>
            <a:endParaRPr lang="en-US" sz="700" dirty="0"/>
          </a:p>
        </p:txBody>
      </p:sp>
      <p:sp>
        <p:nvSpPr>
          <p:cNvPr id="158" name="Text 156"/>
          <p:cNvSpPr/>
          <p:nvPr/>
        </p:nvSpPr>
        <p:spPr>
          <a:xfrm>
            <a:off x="1945653" y="8229600"/>
            <a:ext cx="612767" cy="237744"/>
          </a:xfrm>
          <a:prstGeom prst="rect">
            <a:avLst/>
          </a:prstGeom>
          <a:noFill/>
          <a:ln/>
        </p:spPr>
        <p:txBody>
          <a:bodyPr wrap="square" lIns="0" tIns="0" rIns="0" bIns="0" rtlCol="0" anchor="ctr"/>
          <a:lstStyle/>
          <a:p>
            <a:pPr algn="r" indent="0" marL="0">
              <a:buNone/>
            </a:pPr>
            <a:r>
              <a:rPr lang="en-US" sz="700" b="1" dirty="0">
                <a:solidFill>
                  <a:srgbClr val="183B39"/>
                </a:solidFill>
                <a:latin typeface="Calibri" pitchFamily="34" charset="0"/>
                <a:ea typeface="Calibri" pitchFamily="34" charset="-122"/>
                <a:cs typeface="Calibri" pitchFamily="34" charset="-120"/>
              </a:rPr>
              <a:t>1.96</a:t>
            </a:r>
            <a:endParaRPr lang="en-US" sz="700" dirty="0"/>
          </a:p>
        </p:txBody>
      </p:sp>
      <p:sp>
        <p:nvSpPr>
          <p:cNvPr id="159" name="Text 157"/>
          <p:cNvSpPr/>
          <p:nvPr/>
        </p:nvSpPr>
        <p:spPr>
          <a:xfrm>
            <a:off x="2668148" y="8229600"/>
            <a:ext cx="632836" cy="237744"/>
          </a:xfrm>
          <a:prstGeom prst="rect">
            <a:avLst/>
          </a:prstGeom>
          <a:noFill/>
          <a:ln/>
        </p:spPr>
        <p:txBody>
          <a:bodyPr wrap="square" lIns="0" tIns="0" rIns="0" bIns="0" rtlCol="0" anchor="ctr"/>
          <a:lstStyle/>
          <a:p>
            <a:pPr algn="r" indent="0" marL="0">
              <a:buNone/>
            </a:pPr>
            <a:r>
              <a:rPr lang="en-US" sz="700" b="1" dirty="0">
                <a:solidFill>
                  <a:srgbClr val="D6544D"/>
                </a:solidFill>
                <a:latin typeface="Calibri" pitchFamily="34" charset="0"/>
                <a:ea typeface="Calibri" pitchFamily="34" charset="-122"/>
                <a:cs typeface="Calibri" pitchFamily="34" charset="-120"/>
              </a:rPr>
              <a:t>−11%</a:t>
            </a:r>
            <a:endParaRPr lang="en-US" sz="700" dirty="0"/>
          </a:p>
        </p:txBody>
      </p:sp>
      <p:sp>
        <p:nvSpPr>
          <p:cNvPr id="160" name="Shape 158"/>
          <p:cNvSpPr/>
          <p:nvPr/>
        </p:nvSpPr>
        <p:spPr>
          <a:xfrm>
            <a:off x="265176" y="8467344"/>
            <a:ext cx="3090672" cy="237744"/>
          </a:xfrm>
          <a:prstGeom prst="rect">
            <a:avLst/>
          </a:prstGeom>
          <a:solidFill>
            <a:srgbClr val="F4F9F8"/>
          </a:solidFill>
          <a:ln/>
        </p:spPr>
      </p:sp>
      <p:sp>
        <p:nvSpPr>
          <p:cNvPr id="161" name="Shape 159"/>
          <p:cNvSpPr/>
          <p:nvPr/>
        </p:nvSpPr>
        <p:spPr>
          <a:xfrm>
            <a:off x="265176" y="8705088"/>
            <a:ext cx="3090672" cy="0"/>
          </a:xfrm>
          <a:prstGeom prst="line">
            <a:avLst/>
          </a:prstGeom>
          <a:noFill/>
          <a:ln w="6350">
            <a:solidFill>
              <a:srgbClr val="C8DCD7"/>
            </a:solidFill>
            <a:prstDash val="solid"/>
          </a:ln>
        </p:spPr>
      </p:sp>
      <p:sp>
        <p:nvSpPr>
          <p:cNvPr id="162" name="Text 160"/>
          <p:cNvSpPr/>
          <p:nvPr/>
        </p:nvSpPr>
        <p:spPr>
          <a:xfrm>
            <a:off x="320040" y="8467344"/>
            <a:ext cx="893737" cy="237744"/>
          </a:xfrm>
          <a:prstGeom prst="rect">
            <a:avLst/>
          </a:prstGeom>
          <a:noFill/>
          <a:ln/>
        </p:spPr>
        <p:txBody>
          <a:bodyPr wrap="square" lIns="0" tIns="0" rIns="0" bIns="0" rtlCol="0" anchor="ctr"/>
          <a:lstStyle/>
          <a:p>
            <a:pPr algn="l" indent="0" marL="0">
              <a:buNone/>
            </a:pPr>
            <a:r>
              <a:rPr lang="en-US" sz="700" dirty="0">
                <a:solidFill>
                  <a:srgbClr val="183B39"/>
                </a:solidFill>
                <a:latin typeface="Calibri" pitchFamily="34" charset="0"/>
                <a:ea typeface="Calibri" pitchFamily="34" charset="-122"/>
                <a:cs typeface="Calibri" pitchFamily="34" charset="-120"/>
              </a:rPr>
              <a:t>200 ml</a:t>
            </a:r>
            <a:endParaRPr lang="en-US" sz="700" dirty="0"/>
          </a:p>
        </p:txBody>
      </p:sp>
      <p:sp>
        <p:nvSpPr>
          <p:cNvPr id="163" name="Text 161"/>
          <p:cNvSpPr/>
          <p:nvPr/>
        </p:nvSpPr>
        <p:spPr>
          <a:xfrm>
            <a:off x="1323505" y="8467344"/>
            <a:ext cx="512420" cy="237744"/>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11%</a:t>
            </a:r>
            <a:endParaRPr lang="en-US" sz="700" dirty="0"/>
          </a:p>
        </p:txBody>
      </p:sp>
      <p:sp>
        <p:nvSpPr>
          <p:cNvPr id="164" name="Text 162"/>
          <p:cNvSpPr/>
          <p:nvPr/>
        </p:nvSpPr>
        <p:spPr>
          <a:xfrm>
            <a:off x="1945653" y="8467344"/>
            <a:ext cx="612767" cy="237744"/>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1.06</a:t>
            </a:r>
            <a:endParaRPr lang="en-US" sz="700" dirty="0"/>
          </a:p>
        </p:txBody>
      </p:sp>
      <p:sp>
        <p:nvSpPr>
          <p:cNvPr id="165" name="Text 163"/>
          <p:cNvSpPr/>
          <p:nvPr/>
        </p:nvSpPr>
        <p:spPr>
          <a:xfrm>
            <a:off x="2668148" y="8467344"/>
            <a:ext cx="632836" cy="237744"/>
          </a:xfrm>
          <a:prstGeom prst="rect">
            <a:avLst/>
          </a:prstGeom>
          <a:noFill/>
          <a:ln/>
        </p:spPr>
        <p:txBody>
          <a:bodyPr wrap="square" lIns="0" tIns="0" rIns="0" bIns="0" rtlCol="0" anchor="ctr"/>
          <a:lstStyle/>
          <a:p>
            <a:pPr algn="r" indent="0" marL="0">
              <a:buNone/>
            </a:pPr>
            <a:r>
              <a:rPr lang="en-US" sz="700" dirty="0">
                <a:solidFill>
                  <a:srgbClr val="5F716E"/>
                </a:solidFill>
                <a:latin typeface="Calibri" pitchFamily="34" charset="0"/>
                <a:ea typeface="Calibri" pitchFamily="34" charset="-122"/>
                <a:cs typeface="Calibri" pitchFamily="34" charset="-120"/>
              </a:rPr>
              <a:t>new</a:t>
            </a:r>
            <a:endParaRPr lang="en-US" sz="700" dirty="0"/>
          </a:p>
        </p:txBody>
      </p:sp>
      <p:sp>
        <p:nvSpPr>
          <p:cNvPr id="166" name="Shape 164"/>
          <p:cNvSpPr/>
          <p:nvPr/>
        </p:nvSpPr>
        <p:spPr>
          <a:xfrm>
            <a:off x="265176" y="8942832"/>
            <a:ext cx="3090672" cy="0"/>
          </a:xfrm>
          <a:prstGeom prst="line">
            <a:avLst/>
          </a:prstGeom>
          <a:noFill/>
          <a:ln w="6350">
            <a:solidFill>
              <a:srgbClr val="C8DCD7"/>
            </a:solidFill>
            <a:prstDash val="solid"/>
          </a:ln>
        </p:spPr>
      </p:sp>
      <p:sp>
        <p:nvSpPr>
          <p:cNvPr id="167" name="Text 165"/>
          <p:cNvSpPr/>
          <p:nvPr/>
        </p:nvSpPr>
        <p:spPr>
          <a:xfrm>
            <a:off x="320040" y="8705088"/>
            <a:ext cx="893737" cy="237744"/>
          </a:xfrm>
          <a:prstGeom prst="rect">
            <a:avLst/>
          </a:prstGeom>
          <a:noFill/>
          <a:ln/>
        </p:spPr>
        <p:txBody>
          <a:bodyPr wrap="square" lIns="0" tIns="0" rIns="0" bIns="0" rtlCol="0" anchor="ctr"/>
          <a:lstStyle/>
          <a:p>
            <a:pPr algn="l" indent="0" marL="0">
              <a:buNone/>
            </a:pPr>
            <a:r>
              <a:rPr lang="en-US" sz="700" dirty="0">
                <a:solidFill>
                  <a:srgbClr val="183B39"/>
                </a:solidFill>
                <a:latin typeface="Calibri" pitchFamily="34" charset="0"/>
                <a:ea typeface="Calibri" pitchFamily="34" charset="-122"/>
                <a:cs typeface="Calibri" pitchFamily="34" charset="-120"/>
              </a:rPr>
              <a:t>50 ml</a:t>
            </a:r>
            <a:endParaRPr lang="en-US" sz="700" dirty="0"/>
          </a:p>
        </p:txBody>
      </p:sp>
      <p:sp>
        <p:nvSpPr>
          <p:cNvPr id="168" name="Text 166"/>
          <p:cNvSpPr/>
          <p:nvPr/>
        </p:nvSpPr>
        <p:spPr>
          <a:xfrm>
            <a:off x="1323505" y="8705088"/>
            <a:ext cx="512420" cy="237744"/>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11%</a:t>
            </a:r>
            <a:endParaRPr lang="en-US" sz="700" dirty="0"/>
          </a:p>
        </p:txBody>
      </p:sp>
      <p:sp>
        <p:nvSpPr>
          <p:cNvPr id="169" name="Text 167"/>
          <p:cNvSpPr/>
          <p:nvPr/>
        </p:nvSpPr>
        <p:spPr>
          <a:xfrm>
            <a:off x="1945653" y="8705088"/>
            <a:ext cx="612767" cy="237744"/>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1.01</a:t>
            </a:r>
            <a:endParaRPr lang="en-US" sz="700" dirty="0"/>
          </a:p>
        </p:txBody>
      </p:sp>
      <p:sp>
        <p:nvSpPr>
          <p:cNvPr id="170" name="Text 168"/>
          <p:cNvSpPr/>
          <p:nvPr/>
        </p:nvSpPr>
        <p:spPr>
          <a:xfrm>
            <a:off x="2668148" y="8705088"/>
            <a:ext cx="632836" cy="237744"/>
          </a:xfrm>
          <a:prstGeom prst="rect">
            <a:avLst/>
          </a:prstGeom>
          <a:noFill/>
          <a:ln/>
        </p:spPr>
        <p:txBody>
          <a:bodyPr wrap="square" lIns="0" tIns="0" rIns="0" bIns="0" rtlCol="0" anchor="ctr"/>
          <a:lstStyle/>
          <a:p>
            <a:pPr algn="r" indent="0" marL="0">
              <a:buNone/>
            </a:pPr>
            <a:r>
              <a:rPr lang="en-US" sz="700" dirty="0">
                <a:solidFill>
                  <a:srgbClr val="2B9A66"/>
                </a:solidFill>
                <a:latin typeface="Calibri" pitchFamily="34" charset="0"/>
                <a:ea typeface="Calibri" pitchFamily="34" charset="-122"/>
                <a:cs typeface="Calibri" pitchFamily="34" charset="-120"/>
              </a:rPr>
              <a:t>+80%</a:t>
            </a:r>
            <a:endParaRPr lang="en-US" sz="700" dirty="0"/>
          </a:p>
        </p:txBody>
      </p:sp>
      <p:sp>
        <p:nvSpPr>
          <p:cNvPr id="171" name="Text 169"/>
          <p:cNvSpPr/>
          <p:nvPr/>
        </p:nvSpPr>
        <p:spPr>
          <a:xfrm>
            <a:off x="3502152" y="7552944"/>
            <a:ext cx="3090672"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Mamaearth Shampoo</a:t>
            </a:r>
            <a:endParaRPr lang="en-US" sz="720" dirty="0"/>
          </a:p>
        </p:txBody>
      </p:sp>
      <p:sp>
        <p:nvSpPr>
          <p:cNvPr id="172" name="Shape 170"/>
          <p:cNvSpPr/>
          <p:nvPr/>
        </p:nvSpPr>
        <p:spPr>
          <a:xfrm>
            <a:off x="3502152" y="7735824"/>
            <a:ext cx="3090672" cy="256032"/>
          </a:xfrm>
          <a:prstGeom prst="rect">
            <a:avLst/>
          </a:prstGeom>
          <a:solidFill>
            <a:srgbClr val="116F68"/>
          </a:solidFill>
          <a:ln/>
        </p:spPr>
      </p:sp>
      <p:sp>
        <p:nvSpPr>
          <p:cNvPr id="173" name="Text 171"/>
          <p:cNvSpPr/>
          <p:nvPr/>
        </p:nvSpPr>
        <p:spPr>
          <a:xfrm>
            <a:off x="3557016" y="7754112"/>
            <a:ext cx="893737" cy="219456"/>
          </a:xfrm>
          <a:prstGeom prst="rect">
            <a:avLst/>
          </a:prstGeom>
          <a:noFill/>
          <a:ln/>
        </p:spPr>
        <p:txBody>
          <a:bodyPr wrap="square" lIns="0" tIns="0" rIns="0" bIns="0" rtlCol="0" anchor="ctr"/>
          <a:lstStyle/>
          <a:p>
            <a:pPr algn="l" indent="0" marL="0">
              <a:buNone/>
            </a:pPr>
            <a:r>
              <a:rPr lang="en-US" sz="660" b="1" spc="40" kern="0" dirty="0">
                <a:solidFill>
                  <a:srgbClr val="FFFFFF"/>
                </a:solidFill>
                <a:latin typeface="Calibri" pitchFamily="34" charset="0"/>
                <a:ea typeface="Calibri" pitchFamily="34" charset="-122"/>
                <a:cs typeface="Calibri" pitchFamily="34" charset="-120"/>
              </a:rPr>
              <a:t>PACK</a:t>
            </a:r>
            <a:endParaRPr lang="en-US" sz="660" dirty="0"/>
          </a:p>
        </p:txBody>
      </p:sp>
      <p:sp>
        <p:nvSpPr>
          <p:cNvPr id="174" name="Text 172"/>
          <p:cNvSpPr/>
          <p:nvPr/>
        </p:nvSpPr>
        <p:spPr>
          <a:xfrm>
            <a:off x="4560481" y="7754112"/>
            <a:ext cx="512420"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MIX</a:t>
            </a:r>
            <a:endParaRPr lang="en-US" sz="660" dirty="0"/>
          </a:p>
        </p:txBody>
      </p:sp>
      <p:sp>
        <p:nvSpPr>
          <p:cNvPr id="175" name="Text 173"/>
          <p:cNvSpPr/>
          <p:nvPr/>
        </p:nvSpPr>
        <p:spPr>
          <a:xfrm>
            <a:off x="5182629" y="7754112"/>
            <a:ext cx="612767"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 Cr</a:t>
            </a:r>
            <a:endParaRPr lang="en-US" sz="660" dirty="0"/>
          </a:p>
        </p:txBody>
      </p:sp>
      <p:sp>
        <p:nvSpPr>
          <p:cNvPr id="176" name="Text 174"/>
          <p:cNvSpPr/>
          <p:nvPr/>
        </p:nvSpPr>
        <p:spPr>
          <a:xfrm>
            <a:off x="5905124" y="7754112"/>
            <a:ext cx="632836"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YoY</a:t>
            </a:r>
            <a:endParaRPr lang="en-US" sz="660" dirty="0"/>
          </a:p>
        </p:txBody>
      </p:sp>
      <p:sp>
        <p:nvSpPr>
          <p:cNvPr id="177" name="Shape 175"/>
          <p:cNvSpPr/>
          <p:nvPr/>
        </p:nvSpPr>
        <p:spPr>
          <a:xfrm>
            <a:off x="3502152" y="7991856"/>
            <a:ext cx="3090672" cy="237744"/>
          </a:xfrm>
          <a:prstGeom prst="rect">
            <a:avLst/>
          </a:prstGeom>
          <a:solidFill>
            <a:srgbClr val="F4F9F8"/>
          </a:solidFill>
          <a:ln/>
        </p:spPr>
      </p:sp>
      <p:sp>
        <p:nvSpPr>
          <p:cNvPr id="178" name="Shape 176"/>
          <p:cNvSpPr/>
          <p:nvPr/>
        </p:nvSpPr>
        <p:spPr>
          <a:xfrm>
            <a:off x="3502152" y="8229600"/>
            <a:ext cx="3090672" cy="0"/>
          </a:xfrm>
          <a:prstGeom prst="line">
            <a:avLst/>
          </a:prstGeom>
          <a:noFill/>
          <a:ln w="6350">
            <a:solidFill>
              <a:srgbClr val="C8DCD7"/>
            </a:solidFill>
            <a:prstDash val="solid"/>
          </a:ln>
        </p:spPr>
      </p:sp>
      <p:sp>
        <p:nvSpPr>
          <p:cNvPr id="179" name="Text 177"/>
          <p:cNvSpPr/>
          <p:nvPr/>
        </p:nvSpPr>
        <p:spPr>
          <a:xfrm>
            <a:off x="3557016" y="7991856"/>
            <a:ext cx="893737" cy="237744"/>
          </a:xfrm>
          <a:prstGeom prst="rect">
            <a:avLst/>
          </a:prstGeom>
          <a:noFill/>
          <a:ln/>
        </p:spPr>
        <p:txBody>
          <a:bodyPr wrap="square" lIns="0" tIns="0" rIns="0" bIns="0" rtlCol="0" anchor="ctr"/>
          <a:lstStyle/>
          <a:p>
            <a:pPr algn="l" indent="0" marL="0">
              <a:buNone/>
            </a:pPr>
            <a:r>
              <a:rPr lang="en-US" sz="700" b="1" dirty="0">
                <a:solidFill>
                  <a:srgbClr val="183B39"/>
                </a:solidFill>
                <a:latin typeface="Calibri" pitchFamily="34" charset="0"/>
                <a:ea typeface="Calibri" pitchFamily="34" charset="-122"/>
                <a:cs typeface="Calibri" pitchFamily="34" charset="-120"/>
              </a:rPr>
              <a:t>400 ml</a:t>
            </a:r>
            <a:endParaRPr lang="en-US" sz="700" dirty="0"/>
          </a:p>
        </p:txBody>
      </p:sp>
      <p:sp>
        <p:nvSpPr>
          <p:cNvPr id="180" name="Text 178"/>
          <p:cNvSpPr/>
          <p:nvPr/>
        </p:nvSpPr>
        <p:spPr>
          <a:xfrm>
            <a:off x="4560481" y="7991856"/>
            <a:ext cx="512420" cy="237744"/>
          </a:xfrm>
          <a:prstGeom prst="rect">
            <a:avLst/>
          </a:prstGeom>
          <a:noFill/>
          <a:ln/>
        </p:spPr>
        <p:txBody>
          <a:bodyPr wrap="square" lIns="0" tIns="0" rIns="0" bIns="0" rtlCol="0" anchor="ctr"/>
          <a:lstStyle/>
          <a:p>
            <a:pPr algn="r" indent="0" marL="0">
              <a:buNone/>
            </a:pPr>
            <a:r>
              <a:rPr lang="en-US" sz="700" b="1" dirty="0">
                <a:solidFill>
                  <a:srgbClr val="F2B84B"/>
                </a:solidFill>
                <a:latin typeface="Calibri" pitchFamily="34" charset="0"/>
                <a:ea typeface="Calibri" pitchFamily="34" charset="-122"/>
                <a:cs typeface="Calibri" pitchFamily="34" charset="-120"/>
              </a:rPr>
              <a:t>76%</a:t>
            </a:r>
            <a:endParaRPr lang="en-US" sz="700" dirty="0"/>
          </a:p>
        </p:txBody>
      </p:sp>
      <p:sp>
        <p:nvSpPr>
          <p:cNvPr id="181" name="Text 179"/>
          <p:cNvSpPr/>
          <p:nvPr/>
        </p:nvSpPr>
        <p:spPr>
          <a:xfrm>
            <a:off x="5182629" y="7991856"/>
            <a:ext cx="612767" cy="237744"/>
          </a:xfrm>
          <a:prstGeom prst="rect">
            <a:avLst/>
          </a:prstGeom>
          <a:noFill/>
          <a:ln/>
        </p:spPr>
        <p:txBody>
          <a:bodyPr wrap="square" lIns="0" tIns="0" rIns="0" bIns="0" rtlCol="0" anchor="ctr"/>
          <a:lstStyle/>
          <a:p>
            <a:pPr algn="r" indent="0" marL="0">
              <a:buNone/>
            </a:pPr>
            <a:r>
              <a:rPr lang="en-US" sz="700" b="1" dirty="0">
                <a:solidFill>
                  <a:srgbClr val="183B39"/>
                </a:solidFill>
                <a:latin typeface="Calibri" pitchFamily="34" charset="0"/>
                <a:ea typeface="Calibri" pitchFamily="34" charset="-122"/>
                <a:cs typeface="Calibri" pitchFamily="34" charset="-120"/>
              </a:rPr>
              <a:t>4.96</a:t>
            </a:r>
            <a:endParaRPr lang="en-US" sz="700" dirty="0"/>
          </a:p>
        </p:txBody>
      </p:sp>
      <p:sp>
        <p:nvSpPr>
          <p:cNvPr id="182" name="Text 180"/>
          <p:cNvSpPr/>
          <p:nvPr/>
        </p:nvSpPr>
        <p:spPr>
          <a:xfrm>
            <a:off x="5905124" y="7991856"/>
            <a:ext cx="632836" cy="237744"/>
          </a:xfrm>
          <a:prstGeom prst="rect">
            <a:avLst/>
          </a:prstGeom>
          <a:noFill/>
          <a:ln/>
        </p:spPr>
        <p:txBody>
          <a:bodyPr wrap="square" lIns="0" tIns="0" rIns="0" bIns="0" rtlCol="0" anchor="ctr"/>
          <a:lstStyle/>
          <a:p>
            <a:pPr algn="r" indent="0" marL="0">
              <a:buNone/>
            </a:pPr>
            <a:r>
              <a:rPr lang="en-US" sz="700" b="1" dirty="0">
                <a:solidFill>
                  <a:srgbClr val="2B9A66"/>
                </a:solidFill>
                <a:latin typeface="Calibri" pitchFamily="34" charset="0"/>
                <a:ea typeface="Calibri" pitchFamily="34" charset="-122"/>
                <a:cs typeface="Calibri" pitchFamily="34" charset="-120"/>
              </a:rPr>
              <a:t>+71%</a:t>
            </a:r>
            <a:endParaRPr lang="en-US" sz="700" dirty="0"/>
          </a:p>
        </p:txBody>
      </p:sp>
      <p:sp>
        <p:nvSpPr>
          <p:cNvPr id="183" name="Shape 181"/>
          <p:cNvSpPr/>
          <p:nvPr/>
        </p:nvSpPr>
        <p:spPr>
          <a:xfrm>
            <a:off x="3502152" y="8467344"/>
            <a:ext cx="3090672" cy="0"/>
          </a:xfrm>
          <a:prstGeom prst="line">
            <a:avLst/>
          </a:prstGeom>
          <a:noFill/>
          <a:ln w="6350">
            <a:solidFill>
              <a:srgbClr val="C8DCD7"/>
            </a:solidFill>
            <a:prstDash val="solid"/>
          </a:ln>
        </p:spPr>
      </p:sp>
      <p:sp>
        <p:nvSpPr>
          <p:cNvPr id="184" name="Text 182"/>
          <p:cNvSpPr/>
          <p:nvPr/>
        </p:nvSpPr>
        <p:spPr>
          <a:xfrm>
            <a:off x="3557016" y="8229600"/>
            <a:ext cx="893737" cy="237744"/>
          </a:xfrm>
          <a:prstGeom prst="rect">
            <a:avLst/>
          </a:prstGeom>
          <a:noFill/>
          <a:ln/>
        </p:spPr>
        <p:txBody>
          <a:bodyPr wrap="square" lIns="0" tIns="0" rIns="0" bIns="0" rtlCol="0" anchor="ctr"/>
          <a:lstStyle/>
          <a:p>
            <a:pPr algn="l" indent="0" marL="0">
              <a:buNone/>
            </a:pPr>
            <a:r>
              <a:rPr lang="en-US" sz="700" b="1" dirty="0">
                <a:solidFill>
                  <a:srgbClr val="183B39"/>
                </a:solidFill>
                <a:latin typeface="Calibri" pitchFamily="34" charset="0"/>
                <a:ea typeface="Calibri" pitchFamily="34" charset="-122"/>
                <a:cs typeface="Calibri" pitchFamily="34" charset="-120"/>
              </a:rPr>
              <a:t>250 ml</a:t>
            </a:r>
            <a:endParaRPr lang="en-US" sz="700" dirty="0"/>
          </a:p>
        </p:txBody>
      </p:sp>
      <p:sp>
        <p:nvSpPr>
          <p:cNvPr id="185" name="Text 183"/>
          <p:cNvSpPr/>
          <p:nvPr/>
        </p:nvSpPr>
        <p:spPr>
          <a:xfrm>
            <a:off x="4560481" y="8229600"/>
            <a:ext cx="512420" cy="237744"/>
          </a:xfrm>
          <a:prstGeom prst="rect">
            <a:avLst/>
          </a:prstGeom>
          <a:noFill/>
          <a:ln/>
        </p:spPr>
        <p:txBody>
          <a:bodyPr wrap="square" lIns="0" tIns="0" rIns="0" bIns="0" rtlCol="0" anchor="ctr"/>
          <a:lstStyle/>
          <a:p>
            <a:pPr algn="r" indent="0" marL="0">
              <a:buNone/>
            </a:pPr>
            <a:r>
              <a:rPr lang="en-US" sz="700" b="1" dirty="0">
                <a:solidFill>
                  <a:srgbClr val="183B39"/>
                </a:solidFill>
                <a:latin typeface="Calibri" pitchFamily="34" charset="0"/>
                <a:ea typeface="Calibri" pitchFamily="34" charset="-122"/>
                <a:cs typeface="Calibri" pitchFamily="34" charset="-120"/>
              </a:rPr>
              <a:t>13%</a:t>
            </a:r>
            <a:endParaRPr lang="en-US" sz="700" dirty="0"/>
          </a:p>
        </p:txBody>
      </p:sp>
      <p:sp>
        <p:nvSpPr>
          <p:cNvPr id="186" name="Text 184"/>
          <p:cNvSpPr/>
          <p:nvPr/>
        </p:nvSpPr>
        <p:spPr>
          <a:xfrm>
            <a:off x="5182629" y="8229600"/>
            <a:ext cx="612767" cy="237744"/>
          </a:xfrm>
          <a:prstGeom prst="rect">
            <a:avLst/>
          </a:prstGeom>
          <a:noFill/>
          <a:ln/>
        </p:spPr>
        <p:txBody>
          <a:bodyPr wrap="square" lIns="0" tIns="0" rIns="0" bIns="0" rtlCol="0" anchor="ctr"/>
          <a:lstStyle/>
          <a:p>
            <a:pPr algn="r" indent="0" marL="0">
              <a:buNone/>
            </a:pPr>
            <a:r>
              <a:rPr lang="en-US" sz="700" b="1" dirty="0">
                <a:solidFill>
                  <a:srgbClr val="183B39"/>
                </a:solidFill>
                <a:latin typeface="Calibri" pitchFamily="34" charset="0"/>
                <a:ea typeface="Calibri" pitchFamily="34" charset="-122"/>
                <a:cs typeface="Calibri" pitchFamily="34" charset="-120"/>
              </a:rPr>
              <a:t>0.82</a:t>
            </a:r>
            <a:endParaRPr lang="en-US" sz="700" dirty="0"/>
          </a:p>
        </p:txBody>
      </p:sp>
      <p:sp>
        <p:nvSpPr>
          <p:cNvPr id="187" name="Text 185"/>
          <p:cNvSpPr/>
          <p:nvPr/>
        </p:nvSpPr>
        <p:spPr>
          <a:xfrm>
            <a:off x="5905124" y="8229600"/>
            <a:ext cx="632836" cy="237744"/>
          </a:xfrm>
          <a:prstGeom prst="rect">
            <a:avLst/>
          </a:prstGeom>
          <a:noFill/>
          <a:ln/>
        </p:spPr>
        <p:txBody>
          <a:bodyPr wrap="square" lIns="0" tIns="0" rIns="0" bIns="0" rtlCol="0" anchor="ctr"/>
          <a:lstStyle/>
          <a:p>
            <a:pPr algn="r" indent="0" marL="0">
              <a:buNone/>
            </a:pPr>
            <a:r>
              <a:rPr lang="en-US" sz="700" b="1" dirty="0">
                <a:solidFill>
                  <a:srgbClr val="D6544D"/>
                </a:solidFill>
                <a:latin typeface="Calibri" pitchFamily="34" charset="0"/>
                <a:ea typeface="Calibri" pitchFamily="34" charset="-122"/>
                <a:cs typeface="Calibri" pitchFamily="34" charset="-120"/>
              </a:rPr>
              <a:t>−7%</a:t>
            </a:r>
            <a:endParaRPr lang="en-US" sz="700" dirty="0"/>
          </a:p>
        </p:txBody>
      </p:sp>
      <p:sp>
        <p:nvSpPr>
          <p:cNvPr id="188" name="Shape 186"/>
          <p:cNvSpPr/>
          <p:nvPr/>
        </p:nvSpPr>
        <p:spPr>
          <a:xfrm>
            <a:off x="3502152" y="8467344"/>
            <a:ext cx="3090672" cy="237744"/>
          </a:xfrm>
          <a:prstGeom prst="rect">
            <a:avLst/>
          </a:prstGeom>
          <a:solidFill>
            <a:srgbClr val="F4F9F8"/>
          </a:solidFill>
          <a:ln/>
        </p:spPr>
      </p:sp>
      <p:sp>
        <p:nvSpPr>
          <p:cNvPr id="189" name="Shape 187"/>
          <p:cNvSpPr/>
          <p:nvPr/>
        </p:nvSpPr>
        <p:spPr>
          <a:xfrm>
            <a:off x="3502152" y="8705088"/>
            <a:ext cx="3090672" cy="0"/>
          </a:xfrm>
          <a:prstGeom prst="line">
            <a:avLst/>
          </a:prstGeom>
          <a:noFill/>
          <a:ln w="6350">
            <a:solidFill>
              <a:srgbClr val="C8DCD7"/>
            </a:solidFill>
            <a:prstDash val="solid"/>
          </a:ln>
        </p:spPr>
      </p:sp>
      <p:sp>
        <p:nvSpPr>
          <p:cNvPr id="190" name="Text 188"/>
          <p:cNvSpPr/>
          <p:nvPr/>
        </p:nvSpPr>
        <p:spPr>
          <a:xfrm>
            <a:off x="3557016" y="8467344"/>
            <a:ext cx="893737" cy="237744"/>
          </a:xfrm>
          <a:prstGeom prst="rect">
            <a:avLst/>
          </a:prstGeom>
          <a:noFill/>
          <a:ln/>
        </p:spPr>
        <p:txBody>
          <a:bodyPr wrap="square" lIns="0" tIns="0" rIns="0" bIns="0" rtlCol="0" anchor="ctr"/>
          <a:lstStyle/>
          <a:p>
            <a:pPr algn="l" indent="0" marL="0">
              <a:buNone/>
            </a:pPr>
            <a:r>
              <a:rPr lang="en-US" sz="700" dirty="0">
                <a:solidFill>
                  <a:srgbClr val="183B39"/>
                </a:solidFill>
                <a:latin typeface="Calibri" pitchFamily="34" charset="0"/>
                <a:ea typeface="Calibri" pitchFamily="34" charset="-122"/>
                <a:cs typeface="Calibri" pitchFamily="34" charset="-120"/>
              </a:rPr>
              <a:t>650 ml</a:t>
            </a:r>
            <a:endParaRPr lang="en-US" sz="700" dirty="0"/>
          </a:p>
        </p:txBody>
      </p:sp>
      <p:sp>
        <p:nvSpPr>
          <p:cNvPr id="191" name="Text 189"/>
          <p:cNvSpPr/>
          <p:nvPr/>
        </p:nvSpPr>
        <p:spPr>
          <a:xfrm>
            <a:off x="4560481" y="8467344"/>
            <a:ext cx="512420" cy="237744"/>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7%</a:t>
            </a:r>
            <a:endParaRPr lang="en-US" sz="700" dirty="0"/>
          </a:p>
        </p:txBody>
      </p:sp>
      <p:sp>
        <p:nvSpPr>
          <p:cNvPr id="192" name="Text 190"/>
          <p:cNvSpPr/>
          <p:nvPr/>
        </p:nvSpPr>
        <p:spPr>
          <a:xfrm>
            <a:off x="5182629" y="8467344"/>
            <a:ext cx="612767" cy="237744"/>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0.43</a:t>
            </a:r>
            <a:endParaRPr lang="en-US" sz="700" dirty="0"/>
          </a:p>
        </p:txBody>
      </p:sp>
      <p:sp>
        <p:nvSpPr>
          <p:cNvPr id="193" name="Text 191"/>
          <p:cNvSpPr/>
          <p:nvPr/>
        </p:nvSpPr>
        <p:spPr>
          <a:xfrm>
            <a:off x="5905124" y="8467344"/>
            <a:ext cx="632836" cy="237744"/>
          </a:xfrm>
          <a:prstGeom prst="rect">
            <a:avLst/>
          </a:prstGeom>
          <a:noFill/>
          <a:ln/>
        </p:spPr>
        <p:txBody>
          <a:bodyPr wrap="square" lIns="0" tIns="0" rIns="0" bIns="0" rtlCol="0" anchor="ctr"/>
          <a:lstStyle/>
          <a:p>
            <a:pPr algn="r" indent="0" marL="0">
              <a:buNone/>
            </a:pPr>
            <a:r>
              <a:rPr lang="en-US" sz="700" dirty="0">
                <a:solidFill>
                  <a:srgbClr val="5F716E"/>
                </a:solidFill>
                <a:latin typeface="Calibri" pitchFamily="34" charset="0"/>
                <a:ea typeface="Calibri" pitchFamily="34" charset="-122"/>
                <a:cs typeface="Calibri" pitchFamily="34" charset="-120"/>
              </a:rPr>
              <a:t>new</a:t>
            </a:r>
            <a:endParaRPr lang="en-US" sz="700" dirty="0"/>
          </a:p>
        </p:txBody>
      </p:sp>
      <p:sp>
        <p:nvSpPr>
          <p:cNvPr id="194" name="Shape 192"/>
          <p:cNvSpPr/>
          <p:nvPr/>
        </p:nvSpPr>
        <p:spPr>
          <a:xfrm>
            <a:off x="3502152" y="8942832"/>
            <a:ext cx="3090672" cy="0"/>
          </a:xfrm>
          <a:prstGeom prst="line">
            <a:avLst/>
          </a:prstGeom>
          <a:noFill/>
          <a:ln w="6350">
            <a:solidFill>
              <a:srgbClr val="C8DCD7"/>
            </a:solidFill>
            <a:prstDash val="solid"/>
          </a:ln>
        </p:spPr>
      </p:sp>
      <p:sp>
        <p:nvSpPr>
          <p:cNvPr id="195" name="Text 193"/>
          <p:cNvSpPr/>
          <p:nvPr/>
        </p:nvSpPr>
        <p:spPr>
          <a:xfrm>
            <a:off x="3557016" y="8705088"/>
            <a:ext cx="893737" cy="237744"/>
          </a:xfrm>
          <a:prstGeom prst="rect">
            <a:avLst/>
          </a:prstGeom>
          <a:noFill/>
          <a:ln/>
        </p:spPr>
        <p:txBody>
          <a:bodyPr wrap="square" lIns="0" tIns="0" rIns="0" bIns="0" rtlCol="0" anchor="ctr"/>
          <a:lstStyle/>
          <a:p>
            <a:pPr algn="l" indent="0" marL="0">
              <a:buNone/>
            </a:pPr>
            <a:r>
              <a:rPr lang="en-US" sz="700" dirty="0">
                <a:solidFill>
                  <a:srgbClr val="183B39"/>
                </a:solidFill>
                <a:latin typeface="Calibri" pitchFamily="34" charset="0"/>
                <a:ea typeface="Calibri" pitchFamily="34" charset="-122"/>
                <a:cs typeface="Calibri" pitchFamily="34" charset="-120"/>
              </a:rPr>
              <a:t>600 ml</a:t>
            </a:r>
            <a:endParaRPr lang="en-US" sz="700" dirty="0"/>
          </a:p>
        </p:txBody>
      </p:sp>
      <p:sp>
        <p:nvSpPr>
          <p:cNvPr id="196" name="Text 194"/>
          <p:cNvSpPr/>
          <p:nvPr/>
        </p:nvSpPr>
        <p:spPr>
          <a:xfrm>
            <a:off x="4560481" y="8705088"/>
            <a:ext cx="512420" cy="237744"/>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2%</a:t>
            </a:r>
            <a:endParaRPr lang="en-US" sz="700" dirty="0"/>
          </a:p>
        </p:txBody>
      </p:sp>
      <p:sp>
        <p:nvSpPr>
          <p:cNvPr id="197" name="Text 195"/>
          <p:cNvSpPr/>
          <p:nvPr/>
        </p:nvSpPr>
        <p:spPr>
          <a:xfrm>
            <a:off x="5182629" y="8705088"/>
            <a:ext cx="612767" cy="237744"/>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0.12</a:t>
            </a:r>
            <a:endParaRPr lang="en-US" sz="700" dirty="0"/>
          </a:p>
        </p:txBody>
      </p:sp>
      <p:sp>
        <p:nvSpPr>
          <p:cNvPr id="198" name="Text 196"/>
          <p:cNvSpPr/>
          <p:nvPr/>
        </p:nvSpPr>
        <p:spPr>
          <a:xfrm>
            <a:off x="5905124" y="8705088"/>
            <a:ext cx="632836" cy="237744"/>
          </a:xfrm>
          <a:prstGeom prst="rect">
            <a:avLst/>
          </a:prstGeom>
          <a:noFill/>
          <a:ln/>
        </p:spPr>
        <p:txBody>
          <a:bodyPr wrap="square" lIns="0" tIns="0" rIns="0" bIns="0" rtlCol="0" anchor="ctr"/>
          <a:lstStyle/>
          <a:p>
            <a:pPr algn="r" indent="0" marL="0">
              <a:buNone/>
            </a:pPr>
            <a:r>
              <a:rPr lang="en-US" sz="700" dirty="0">
                <a:solidFill>
                  <a:srgbClr val="2B9A66"/>
                </a:solidFill>
                <a:latin typeface="Calibri" pitchFamily="34" charset="0"/>
                <a:ea typeface="Calibri" pitchFamily="34" charset="-122"/>
                <a:cs typeface="Calibri" pitchFamily="34" charset="-120"/>
              </a:rPr>
              <a:t>+151%</a:t>
            </a:r>
            <a:endParaRPr lang="en-US" sz="700" dirty="0"/>
          </a:p>
        </p:txBody>
      </p:sp>
      <p:sp>
        <p:nvSpPr>
          <p:cNvPr id="199" name="Shape 197"/>
          <p:cNvSpPr/>
          <p:nvPr/>
        </p:nvSpPr>
        <p:spPr>
          <a:xfrm>
            <a:off x="265176" y="9235440"/>
            <a:ext cx="6327648" cy="1152144"/>
          </a:xfrm>
          <a:prstGeom prst="roundRect">
            <a:avLst>
              <a:gd name="adj" fmla="val 1587"/>
            </a:avLst>
          </a:prstGeom>
          <a:solidFill>
            <a:srgbClr val="FFFFFF"/>
          </a:solidFill>
          <a:ln w="9525">
            <a:solidFill>
              <a:srgbClr val="C8DCD7"/>
            </a:solidFill>
            <a:prstDash val="solid"/>
          </a:ln>
        </p:spPr>
      </p:sp>
      <p:sp>
        <p:nvSpPr>
          <p:cNvPr id="200" name="Shape 198"/>
          <p:cNvSpPr/>
          <p:nvPr/>
        </p:nvSpPr>
        <p:spPr>
          <a:xfrm>
            <a:off x="265176" y="9235440"/>
            <a:ext cx="6327648" cy="274320"/>
          </a:xfrm>
          <a:prstGeom prst="rect">
            <a:avLst/>
          </a:prstGeom>
          <a:solidFill>
            <a:srgbClr val="116F68"/>
          </a:solidFill>
          <a:ln/>
        </p:spPr>
      </p:sp>
      <p:sp>
        <p:nvSpPr>
          <p:cNvPr id="201" name="Text 199"/>
          <p:cNvSpPr/>
          <p:nvPr/>
        </p:nvSpPr>
        <p:spPr>
          <a:xfrm>
            <a:off x="347472" y="9253728"/>
            <a:ext cx="6163056"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PACK READ — ONE HERO, TWO DECLINING PACKS, ONE CONCENTRATION RISK</a:t>
            </a:r>
            <a:endParaRPr lang="en-US" sz="700" dirty="0"/>
          </a:p>
        </p:txBody>
      </p:sp>
      <p:sp>
        <p:nvSpPr>
          <p:cNvPr id="202" name="Shape 200"/>
          <p:cNvSpPr/>
          <p:nvPr/>
        </p:nvSpPr>
        <p:spPr>
          <a:xfrm>
            <a:off x="374904" y="9669780"/>
            <a:ext cx="50292" cy="50292"/>
          </a:xfrm>
          <a:prstGeom prst="ellipse">
            <a:avLst/>
          </a:prstGeom>
          <a:solidFill>
            <a:srgbClr val="28A596"/>
          </a:solidFill>
          <a:ln/>
        </p:spPr>
      </p:sp>
      <p:sp>
        <p:nvSpPr>
          <p:cNvPr id="203" name="Text 201"/>
          <p:cNvSpPr/>
          <p:nvPr/>
        </p:nvSpPr>
        <p:spPr>
          <a:xfrm>
            <a:off x="493776" y="9619488"/>
            <a:ext cx="5989320" cy="256032"/>
          </a:xfrm>
          <a:prstGeom prst="rect">
            <a:avLst/>
          </a:prstGeom>
          <a:noFill/>
          <a:ln/>
        </p:spPr>
        <p:txBody>
          <a:bodyPr wrap="square" lIns="0" tIns="0" rIns="0" bIns="0" rtlCol="0" anchor="t"/>
          <a:lstStyle/>
          <a:p>
            <a:pPr indent="0" marL="0">
              <a:lnSpc>
                <a:spcPct val="92000"/>
              </a:lnSpc>
              <a:buNone/>
            </a:pPr>
            <a:r>
              <a:rPr lang="en-US" sz="720" b="1" dirty="0">
                <a:solidFill>
                  <a:srgbClr val="183B39"/>
                </a:solidFill>
                <a:latin typeface="Calibri" pitchFamily="34" charset="0"/>
                <a:ea typeface="Calibri" pitchFamily="34" charset="-122"/>
                <a:cs typeface="Calibri" pitchFamily="34" charset="-120"/>
              </a:rPr>
              <a:t>Protect 150 ml: 58% of Mamaearth Face Wash at +98% YoY. A chain-level delisting or stock gap on this one pack is a brand-level event, so it leads the hero-SKU OSA target.</a:t>
            </a:r>
            <a:endParaRPr lang="en-US" sz="720" dirty="0"/>
          </a:p>
        </p:txBody>
      </p:sp>
      <p:sp>
        <p:nvSpPr>
          <p:cNvPr id="204" name="Shape 202"/>
          <p:cNvSpPr/>
          <p:nvPr/>
        </p:nvSpPr>
        <p:spPr>
          <a:xfrm>
            <a:off x="374904" y="9944100"/>
            <a:ext cx="50292" cy="50292"/>
          </a:xfrm>
          <a:prstGeom prst="ellipse">
            <a:avLst/>
          </a:prstGeom>
          <a:solidFill>
            <a:srgbClr val="D6544D"/>
          </a:solidFill>
          <a:ln/>
        </p:spPr>
      </p:sp>
      <p:sp>
        <p:nvSpPr>
          <p:cNvPr id="205" name="Text 203"/>
          <p:cNvSpPr/>
          <p:nvPr/>
        </p:nvSpPr>
        <p:spPr>
          <a:xfrm>
            <a:off x="493776" y="9893808"/>
            <a:ext cx="5989320" cy="256032"/>
          </a:xfrm>
          <a:prstGeom prst="rect">
            <a:avLst/>
          </a:prstGeom>
          <a:noFill/>
          <a:ln/>
        </p:spPr>
        <p:txBody>
          <a:bodyPr wrap="square" lIns="0" tIns="0" rIns="0" bIns="0" rtlCol="0" anchor="t"/>
          <a:lstStyle/>
          <a:p>
            <a:pPr indent="0" marL="0">
              <a:lnSpc>
                <a:spcPct val="92000"/>
              </a:lnSpc>
              <a:buNone/>
            </a:pPr>
            <a:r>
              <a:rPr lang="en-US" sz="720" dirty="0">
                <a:solidFill>
                  <a:srgbClr val="183B39"/>
                </a:solidFill>
                <a:latin typeface="Calibri" pitchFamily="34" charset="0"/>
                <a:ea typeface="Calibri" pitchFamily="34" charset="-122"/>
                <a:cs typeface="Calibri" pitchFamily="34" charset="-120"/>
              </a:rPr>
              <a:t>Fix 100 ml and Shampoo 250 ml: 21% and 13% of their brands, both declining on value and share. Check availability and promo cover before reading either as demand.</a:t>
            </a:r>
            <a:endParaRPr lang="en-US" sz="720" dirty="0"/>
          </a:p>
        </p:txBody>
      </p:sp>
      <p:sp>
        <p:nvSpPr>
          <p:cNvPr id="206" name="Shape 204"/>
          <p:cNvSpPr/>
          <p:nvPr/>
        </p:nvSpPr>
        <p:spPr>
          <a:xfrm>
            <a:off x="374904" y="10218420"/>
            <a:ext cx="50292" cy="50292"/>
          </a:xfrm>
          <a:prstGeom prst="ellipse">
            <a:avLst/>
          </a:prstGeom>
          <a:solidFill>
            <a:srgbClr val="F2B84B"/>
          </a:solidFill>
          <a:ln/>
        </p:spPr>
      </p:sp>
      <p:sp>
        <p:nvSpPr>
          <p:cNvPr id="207" name="Text 205"/>
          <p:cNvSpPr/>
          <p:nvPr/>
        </p:nvSpPr>
        <p:spPr>
          <a:xfrm>
            <a:off x="493776" y="10168128"/>
            <a:ext cx="5989320" cy="256032"/>
          </a:xfrm>
          <a:prstGeom prst="rect">
            <a:avLst/>
          </a:prstGeom>
          <a:noFill/>
          <a:ln/>
        </p:spPr>
        <p:txBody>
          <a:bodyPr wrap="square" lIns="0" tIns="0" rIns="0" bIns="0" rtlCol="0" anchor="t"/>
          <a:lstStyle/>
          <a:p>
            <a:pPr indent="0" marL="0">
              <a:lnSpc>
                <a:spcPct val="92000"/>
              </a:lnSpc>
              <a:buNone/>
            </a:pPr>
            <a:r>
              <a:rPr lang="en-US" sz="720" dirty="0">
                <a:solidFill>
                  <a:srgbClr val="183B39"/>
                </a:solidFill>
                <a:latin typeface="Calibri" pitchFamily="34" charset="0"/>
                <a:ea typeface="Calibri" pitchFamily="34" charset="-122"/>
                <a:cs typeface="Calibri" pitchFamily="34" charset="-120"/>
              </a:rPr>
              <a:t>Watch the 400 ml concentration: 76% of Mamaearth Shampoo sits in a single pack. 650 ml is the only credible second pack and it is new.</a:t>
            </a:r>
            <a:endParaRPr lang="en-US" sz="720" dirty="0"/>
          </a:p>
        </p:txBody>
      </p:sp>
      <p:sp>
        <p:nvSpPr>
          <p:cNvPr id="208" name="Shape 206"/>
          <p:cNvSpPr/>
          <p:nvPr/>
        </p:nvSpPr>
        <p:spPr>
          <a:xfrm>
            <a:off x="265176" y="10497312"/>
            <a:ext cx="6327648" cy="768096"/>
          </a:xfrm>
          <a:prstGeom prst="roundRect">
            <a:avLst>
              <a:gd name="adj" fmla="val 3571"/>
            </a:avLst>
          </a:prstGeom>
          <a:solidFill>
            <a:srgbClr val="DFF2ED"/>
          </a:solidFill>
          <a:ln w="12700">
            <a:solidFill>
              <a:srgbClr val="28A596"/>
            </a:solidFill>
            <a:prstDash val="solid"/>
          </a:ln>
        </p:spPr>
      </p:sp>
      <p:sp>
        <p:nvSpPr>
          <p:cNvPr id="209" name="Text 207"/>
          <p:cNvSpPr/>
          <p:nvPr/>
        </p:nvSpPr>
        <p:spPr>
          <a:xfrm>
            <a:off x="393192" y="10552176"/>
            <a:ext cx="6071616" cy="676656"/>
          </a:xfrm>
          <a:prstGeom prst="rect">
            <a:avLst/>
          </a:prstGeom>
          <a:noFill/>
          <a:ln/>
        </p:spPr>
        <p:txBody>
          <a:bodyPr wrap="square" lIns="0" tIns="0" rIns="0" bIns="0" rtlCol="0" anchor="t"/>
          <a:lstStyle/>
          <a:p>
            <a:pPr indent="0" marL="0">
              <a:lnSpc>
                <a:spcPct val="94000"/>
              </a:lnSpc>
              <a:buNone/>
            </a:pPr>
            <a:r>
              <a:rPr lang="en-US" sz="700" b="1" dirty="0">
                <a:solidFill>
                  <a:srgbClr val="116F68"/>
                </a:solidFill>
                <a:latin typeface="Calibri" pitchFamily="34" charset="0"/>
                <a:ea typeface="Calibri" pitchFamily="34" charset="-122"/>
                <a:cs typeface="Calibri" pitchFamily="34" charset="-120"/>
              </a:rPr>
              <a:t>DECISION — RATE BEFORE REACH   </a:t>
            </a:r>
            <a:pPr indent="0" marL="0">
              <a:lnSpc>
                <a:spcPct val="94000"/>
              </a:lnSpc>
              <a:buNone/>
            </a:pPr>
            <a:r>
              <a:rPr lang="en-US" sz="700" dirty="0">
                <a:solidFill>
                  <a:srgbClr val="183B39"/>
                </a:solidFill>
                <a:latin typeface="Calibri" pitchFamily="34" charset="0"/>
                <a:ea typeface="Calibri" pitchFamily="34" charset="-122"/>
                <a:cs typeface="Calibri" pitchFamily="34" charset="-120"/>
              </a:rPr>
              <a:t>Fix the two declining packs first, then run the shampoo velocity pilot in South-1 — the only zone where shampoo out-sells cleanser. Expand The Derma Co. Face Wash, where 27.3% WD is the one genuine width gap in the portfolio. Hold the large-format entry: 340 ml (₹261 Cr), 1000 ml (₹216 Cr) and 580 ml (₹64 Cr) are ₹541 Cr of pool we do not touch, but Dove covers 250/340/400/1000 ml and Head &amp; Shoulders 180/250/400/580 ml — these pools are contested, not empty. Entering them is a slow share-steal against an entrenched leader, and adding formats while under-earning per point spends listing fees to dilute a thin rate further.</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A"/>
        </a:solidFill>
      </p:bgPr>
    </p:bg>
    <p:spTree>
      <p:nvGrpSpPr>
        <p:cNvPr id="1" name=""/>
        <p:cNvGrpSpPr/>
        <p:nvPr/>
      </p:nvGrpSpPr>
      <p:grpSpPr>
        <a:xfrm>
          <a:off x="0" y="0"/>
          <a:ext cx="0" cy="0"/>
          <a:chOff x="0" y="0"/>
          <a:chExt cx="0" cy="0"/>
        </a:xfrm>
      </p:grpSpPr>
      <p:sp>
        <p:nvSpPr>
          <p:cNvPr id="2" name="Shape 0"/>
          <p:cNvSpPr/>
          <p:nvPr/>
        </p:nvSpPr>
        <p:spPr>
          <a:xfrm>
            <a:off x="0" y="0"/>
            <a:ext cx="6858000" cy="1133856"/>
          </a:xfrm>
          <a:prstGeom prst="rect">
            <a:avLst/>
          </a:prstGeom>
          <a:solidFill>
            <a:srgbClr val="116F68"/>
          </a:solidFill>
          <a:ln/>
        </p:spPr>
      </p:sp>
      <p:sp>
        <p:nvSpPr>
          <p:cNvPr id="3" name="Text 1"/>
          <p:cNvSpPr/>
          <p:nvPr/>
        </p:nvSpPr>
        <p:spPr>
          <a:xfrm>
            <a:off x="365760" y="182880"/>
            <a:ext cx="5641848" cy="548640"/>
          </a:xfrm>
          <a:prstGeom prst="rect">
            <a:avLst/>
          </a:prstGeom>
          <a:noFill/>
          <a:ln/>
        </p:spPr>
        <p:txBody>
          <a:bodyPr wrap="square" lIns="0" tIns="0" rIns="0" bIns="0" rtlCol="0" anchor="ctr"/>
          <a:lstStyle/>
          <a:p>
            <a:pPr indent="0" marL="0">
              <a:lnSpc>
                <a:spcPct val="92000"/>
              </a:lnSpc>
              <a:buNone/>
            </a:pPr>
            <a:r>
              <a:rPr lang="en-US" sz="1300" b="1" dirty="0">
                <a:solidFill>
                  <a:srgbClr val="FFFFFF"/>
                </a:solidFill>
                <a:latin typeface="Calibri Light" pitchFamily="34" charset="0"/>
                <a:ea typeface="Calibri Light" pitchFamily="34" charset="-122"/>
                <a:cs typeface="Calibri Light" pitchFamily="34" charset="-120"/>
              </a:rPr>
              <a:t>Two zones convert at 86% — that rate is worth ₹6.22 Cr applied to the other three</a:t>
            </a:r>
            <a:endParaRPr lang="en-US" sz="1300" dirty="0"/>
          </a:p>
        </p:txBody>
      </p:sp>
      <p:sp>
        <p:nvSpPr>
          <p:cNvPr id="4" name="Text 2"/>
          <p:cNvSpPr/>
          <p:nvPr/>
        </p:nvSpPr>
        <p:spPr>
          <a:xfrm>
            <a:off x="384048" y="786384"/>
            <a:ext cx="5641848" cy="237744"/>
          </a:xfrm>
          <a:prstGeom prst="rect">
            <a:avLst/>
          </a:prstGeom>
          <a:noFill/>
          <a:ln/>
        </p:spPr>
        <p:txBody>
          <a:bodyPr wrap="square" lIns="0" tIns="0" rIns="0" bIns="0" rtlCol="0" anchor="ctr"/>
          <a:lstStyle/>
          <a:p>
            <a:pPr indent="0" marL="0">
              <a:buNone/>
            </a:pPr>
            <a:r>
              <a:rPr lang="en-US" sz="850" dirty="0">
                <a:solidFill>
                  <a:srgbClr val="BFDCD7"/>
                </a:solidFill>
                <a:latin typeface="Calibri" pitchFamily="34" charset="0"/>
                <a:ea typeface="Calibri" pitchFamily="34" charset="-122"/>
                <a:cs typeface="Calibri" pitchFamily="34" charset="-120"/>
              </a:rPr>
              <a:t>Zone portfolio | contribution, conversion and recoverable value at the internal benchmark</a:t>
            </a:r>
            <a:endParaRPr lang="en-US" sz="850" dirty="0"/>
          </a:p>
        </p:txBody>
      </p:sp>
      <p:sp>
        <p:nvSpPr>
          <p:cNvPr id="5" name="Text 3"/>
          <p:cNvSpPr/>
          <p:nvPr/>
        </p:nvSpPr>
        <p:spPr>
          <a:xfrm>
            <a:off x="6117336" y="365760"/>
            <a:ext cx="402336" cy="237744"/>
          </a:xfrm>
          <a:prstGeom prst="rect">
            <a:avLst/>
          </a:prstGeom>
          <a:noFill/>
          <a:ln/>
        </p:spPr>
        <p:txBody>
          <a:bodyPr wrap="square" lIns="0" tIns="0" rIns="0" bIns="0" rtlCol="0" anchor="t"/>
          <a:lstStyle/>
          <a:p>
            <a:pPr algn="r" indent="0" marL="0">
              <a:buNone/>
            </a:pPr>
            <a:r>
              <a:rPr lang="en-US" sz="950" b="1" dirty="0">
                <a:solidFill>
                  <a:srgbClr val="8FC4BD"/>
                </a:solidFill>
                <a:latin typeface="Calibri" pitchFamily="34" charset="0"/>
                <a:ea typeface="Calibri" pitchFamily="34" charset="-122"/>
                <a:cs typeface="Calibri" pitchFamily="34" charset="-120"/>
              </a:rPr>
              <a:t>06</a:t>
            </a:r>
            <a:endParaRPr lang="en-US" sz="950" dirty="0"/>
          </a:p>
        </p:txBody>
      </p:sp>
      <p:sp>
        <p:nvSpPr>
          <p:cNvPr id="6" name="Shape 4"/>
          <p:cNvSpPr/>
          <p:nvPr/>
        </p:nvSpPr>
        <p:spPr>
          <a:xfrm>
            <a:off x="265176" y="11375136"/>
            <a:ext cx="6327648" cy="420624"/>
          </a:xfrm>
          <a:prstGeom prst="roundRect">
            <a:avLst>
              <a:gd name="adj" fmla="val 6522"/>
            </a:avLst>
          </a:prstGeom>
          <a:solidFill>
            <a:srgbClr val="DFF2ED"/>
          </a:solidFill>
          <a:ln w="9525">
            <a:solidFill>
              <a:srgbClr val="C8DCD7"/>
            </a:solidFill>
            <a:prstDash val="solid"/>
          </a:ln>
        </p:spPr>
      </p:sp>
      <p:sp>
        <p:nvSpPr>
          <p:cNvPr id="7" name="Text 5"/>
          <p:cNvSpPr/>
          <p:nvPr/>
        </p:nvSpPr>
        <p:spPr>
          <a:xfrm>
            <a:off x="374904"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EVIDENCE</a:t>
            </a:r>
            <a:endParaRPr lang="en-US" sz="650" dirty="0"/>
          </a:p>
        </p:txBody>
      </p:sp>
      <p:sp>
        <p:nvSpPr>
          <p:cNvPr id="8" name="Text 6"/>
          <p:cNvSpPr/>
          <p:nvPr/>
        </p:nvSpPr>
        <p:spPr>
          <a:xfrm>
            <a:off x="374904"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moved</a:t>
            </a:r>
            <a:endParaRPr lang="en-US" sz="700" dirty="0"/>
          </a:p>
        </p:txBody>
      </p:sp>
      <p:sp>
        <p:nvSpPr>
          <p:cNvPr id="9" name="Text 7"/>
          <p:cNvSpPr/>
          <p:nvPr/>
        </p:nvSpPr>
        <p:spPr>
          <a:xfrm>
            <a:off x="1901952"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IMPLICATION</a:t>
            </a:r>
            <a:endParaRPr lang="en-US" sz="650" dirty="0"/>
          </a:p>
        </p:txBody>
      </p:sp>
      <p:sp>
        <p:nvSpPr>
          <p:cNvPr id="10" name="Text 8"/>
          <p:cNvSpPr/>
          <p:nvPr/>
        </p:nvSpPr>
        <p:spPr>
          <a:xfrm>
            <a:off x="1901952"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Why it matters</a:t>
            </a:r>
            <a:endParaRPr lang="en-US" sz="700" dirty="0"/>
          </a:p>
        </p:txBody>
      </p:sp>
      <p:sp>
        <p:nvSpPr>
          <p:cNvPr id="11" name="Shape 9"/>
          <p:cNvSpPr/>
          <p:nvPr/>
        </p:nvSpPr>
        <p:spPr>
          <a:xfrm>
            <a:off x="1819656" y="11457432"/>
            <a:ext cx="0" cy="265176"/>
          </a:xfrm>
          <a:prstGeom prst="line">
            <a:avLst/>
          </a:prstGeom>
          <a:noFill/>
          <a:ln w="9525">
            <a:solidFill>
              <a:srgbClr val="C8DCD7"/>
            </a:solidFill>
            <a:prstDash val="solid"/>
          </a:ln>
        </p:spPr>
      </p:sp>
      <p:sp>
        <p:nvSpPr>
          <p:cNvPr id="12" name="Text 10"/>
          <p:cNvSpPr/>
          <p:nvPr/>
        </p:nvSpPr>
        <p:spPr>
          <a:xfrm>
            <a:off x="3429000"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ACTION</a:t>
            </a:r>
            <a:endParaRPr lang="en-US" sz="650" dirty="0"/>
          </a:p>
        </p:txBody>
      </p:sp>
      <p:sp>
        <p:nvSpPr>
          <p:cNvPr id="13" name="Text 11"/>
          <p:cNvSpPr/>
          <p:nvPr/>
        </p:nvSpPr>
        <p:spPr>
          <a:xfrm>
            <a:off x="3429000"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changes now</a:t>
            </a:r>
            <a:endParaRPr lang="en-US" sz="700" dirty="0"/>
          </a:p>
        </p:txBody>
      </p:sp>
      <p:sp>
        <p:nvSpPr>
          <p:cNvPr id="14" name="Shape 12"/>
          <p:cNvSpPr/>
          <p:nvPr/>
        </p:nvSpPr>
        <p:spPr>
          <a:xfrm>
            <a:off x="3346704" y="11457432"/>
            <a:ext cx="0" cy="265176"/>
          </a:xfrm>
          <a:prstGeom prst="line">
            <a:avLst/>
          </a:prstGeom>
          <a:noFill/>
          <a:ln w="9525">
            <a:solidFill>
              <a:srgbClr val="C8DCD7"/>
            </a:solidFill>
            <a:prstDash val="solid"/>
          </a:ln>
        </p:spPr>
      </p:sp>
      <p:sp>
        <p:nvSpPr>
          <p:cNvPr id="15" name="Text 13"/>
          <p:cNvSpPr/>
          <p:nvPr/>
        </p:nvSpPr>
        <p:spPr>
          <a:xfrm>
            <a:off x="4956048"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OWNER</a:t>
            </a:r>
            <a:endParaRPr lang="en-US" sz="650" dirty="0"/>
          </a:p>
        </p:txBody>
      </p:sp>
      <p:sp>
        <p:nvSpPr>
          <p:cNvPr id="16" name="Text 14"/>
          <p:cNvSpPr/>
          <p:nvPr/>
        </p:nvSpPr>
        <p:spPr>
          <a:xfrm>
            <a:off x="4956048"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Who closes it</a:t>
            </a:r>
            <a:endParaRPr lang="en-US" sz="700" dirty="0"/>
          </a:p>
        </p:txBody>
      </p:sp>
      <p:sp>
        <p:nvSpPr>
          <p:cNvPr id="17" name="Shape 15"/>
          <p:cNvSpPr/>
          <p:nvPr/>
        </p:nvSpPr>
        <p:spPr>
          <a:xfrm>
            <a:off x="4873752" y="11457432"/>
            <a:ext cx="0" cy="265176"/>
          </a:xfrm>
          <a:prstGeom prst="line">
            <a:avLst/>
          </a:prstGeom>
          <a:noFill/>
          <a:ln w="9525">
            <a:solidFill>
              <a:srgbClr val="C8DCD7"/>
            </a:solidFill>
            <a:prstDash val="solid"/>
          </a:ln>
        </p:spPr>
      </p:sp>
      <p:sp>
        <p:nvSpPr>
          <p:cNvPr id="18" name="Text 16"/>
          <p:cNvSpPr/>
          <p:nvPr/>
        </p:nvSpPr>
        <p:spPr>
          <a:xfrm>
            <a:off x="301752" y="11887200"/>
            <a:ext cx="6254496" cy="201168"/>
          </a:xfrm>
          <a:prstGeom prst="rect">
            <a:avLst/>
          </a:prstGeom>
          <a:noFill/>
          <a:ln/>
        </p:spPr>
        <p:txBody>
          <a:bodyPr wrap="square" lIns="0" tIns="0" rIns="0" bIns="0" rtlCol="0" anchor="t"/>
          <a:lstStyle/>
          <a:p>
            <a:pPr algn="ctr" indent="0" marL="0">
              <a:buNone/>
            </a:pPr>
            <a:r>
              <a:rPr lang="en-US" sz="650" dirty="0">
                <a:solidFill>
                  <a:srgbClr val="5F716E"/>
                </a:solidFill>
                <a:latin typeface="Calibri" pitchFamily="34" charset="0"/>
                <a:ea typeface="Calibri" pitchFamily="34" charset="-122"/>
                <a:cs typeface="Calibri" pitchFamily="34" charset="-120"/>
              </a:rPr>
              <a:t>July Compiled Offtake (Sheet1) · July'26 primary and distributor secondary · values in ₹ Cr · Zone performance represents Modern Trade accounts only. eB2B and SIS channels are excluded from MT zone sales and reported separately.</a:t>
            </a:r>
            <a:endParaRPr lang="en-US" sz="650" dirty="0"/>
          </a:p>
        </p:txBody>
      </p:sp>
      <p:sp>
        <p:nvSpPr>
          <p:cNvPr id="19" name="Shape 17"/>
          <p:cNvSpPr/>
          <p:nvPr/>
        </p:nvSpPr>
        <p:spPr>
          <a:xfrm>
            <a:off x="265176" y="1261872"/>
            <a:ext cx="6327648" cy="256032"/>
          </a:xfrm>
          <a:prstGeom prst="rect">
            <a:avLst/>
          </a:prstGeom>
          <a:solidFill>
            <a:srgbClr val="116F68"/>
          </a:solidFill>
          <a:ln/>
        </p:spPr>
      </p:sp>
      <p:sp>
        <p:nvSpPr>
          <p:cNvPr id="20" name="Text 18"/>
          <p:cNvSpPr/>
          <p:nvPr/>
        </p:nvSpPr>
        <p:spPr>
          <a:xfrm>
            <a:off x="374904" y="1280160"/>
            <a:ext cx="6108192" cy="219456"/>
          </a:xfrm>
          <a:prstGeom prst="rect">
            <a:avLst/>
          </a:prstGeom>
          <a:noFill/>
          <a:ln/>
        </p:spPr>
        <p:txBody>
          <a:bodyPr wrap="square" lIns="0" tIns="0" rIns="0" bIns="0" rtlCol="0" anchor="ctr"/>
          <a:lstStyle/>
          <a:p>
            <a:pPr indent="0" marL="0">
              <a:buNone/>
            </a:pPr>
            <a:r>
              <a:rPr lang="en-US" sz="720" b="1" spc="60" kern="0" dirty="0">
                <a:solidFill>
                  <a:srgbClr val="FFFFFF"/>
                </a:solidFill>
                <a:latin typeface="Calibri" pitchFamily="34" charset="0"/>
                <a:ea typeface="Calibri" pitchFamily="34" charset="-122"/>
                <a:cs typeface="Calibri" pitchFamily="34" charset="-120"/>
              </a:rPr>
              <a:t>ZONE SCORECARD — RANKED BY RECOVERABLE VALUE, NOT BY SIZE</a:t>
            </a:r>
            <a:endParaRPr lang="en-US" sz="720" dirty="0"/>
          </a:p>
        </p:txBody>
      </p:sp>
      <p:sp>
        <p:nvSpPr>
          <p:cNvPr id="21" name="Shape 19"/>
          <p:cNvSpPr/>
          <p:nvPr/>
        </p:nvSpPr>
        <p:spPr>
          <a:xfrm>
            <a:off x="265176" y="1609344"/>
            <a:ext cx="6327648" cy="256032"/>
          </a:xfrm>
          <a:prstGeom prst="rect">
            <a:avLst/>
          </a:prstGeom>
          <a:solidFill>
            <a:srgbClr val="116F68"/>
          </a:solidFill>
          <a:ln/>
        </p:spPr>
      </p:sp>
      <p:sp>
        <p:nvSpPr>
          <p:cNvPr id="22" name="Text 20"/>
          <p:cNvSpPr/>
          <p:nvPr/>
        </p:nvSpPr>
        <p:spPr>
          <a:xfrm>
            <a:off x="320040" y="1627632"/>
            <a:ext cx="895354" cy="219456"/>
          </a:xfrm>
          <a:prstGeom prst="rect">
            <a:avLst/>
          </a:prstGeom>
          <a:noFill/>
          <a:ln/>
        </p:spPr>
        <p:txBody>
          <a:bodyPr wrap="square" lIns="0" tIns="0" rIns="0" bIns="0" rtlCol="0" anchor="ctr"/>
          <a:lstStyle/>
          <a:p>
            <a:pPr algn="l" indent="0" marL="0">
              <a:buNone/>
            </a:pPr>
            <a:r>
              <a:rPr lang="en-US" sz="660" b="1" spc="40" kern="0" dirty="0">
                <a:solidFill>
                  <a:srgbClr val="FFFFFF"/>
                </a:solidFill>
                <a:latin typeface="Calibri" pitchFamily="34" charset="0"/>
                <a:ea typeface="Calibri" pitchFamily="34" charset="-122"/>
                <a:cs typeface="Calibri" pitchFamily="34" charset="-120"/>
              </a:rPr>
              <a:t>ZONE</a:t>
            </a:r>
            <a:endParaRPr lang="en-US" sz="660" dirty="0"/>
          </a:p>
        </p:txBody>
      </p:sp>
      <p:sp>
        <p:nvSpPr>
          <p:cNvPr id="23" name="Text 21"/>
          <p:cNvSpPr/>
          <p:nvPr/>
        </p:nvSpPr>
        <p:spPr>
          <a:xfrm>
            <a:off x="1325122" y="1627632"/>
            <a:ext cx="676858"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PRIMARY</a:t>
            </a:r>
            <a:endParaRPr lang="en-US" sz="660" dirty="0"/>
          </a:p>
        </p:txBody>
      </p:sp>
      <p:sp>
        <p:nvSpPr>
          <p:cNvPr id="24" name="Text 22"/>
          <p:cNvSpPr/>
          <p:nvPr/>
        </p:nvSpPr>
        <p:spPr>
          <a:xfrm>
            <a:off x="2111708" y="1627632"/>
            <a:ext cx="676858"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OFFTAKE</a:t>
            </a:r>
            <a:endParaRPr lang="en-US" sz="660" dirty="0"/>
          </a:p>
        </p:txBody>
      </p:sp>
      <p:sp>
        <p:nvSpPr>
          <p:cNvPr id="25" name="Text 23"/>
          <p:cNvSpPr/>
          <p:nvPr/>
        </p:nvSpPr>
        <p:spPr>
          <a:xfrm>
            <a:off x="2898294" y="1627632"/>
            <a:ext cx="519541"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MIX</a:t>
            </a:r>
            <a:endParaRPr lang="en-US" sz="660" dirty="0"/>
          </a:p>
        </p:txBody>
      </p:sp>
      <p:sp>
        <p:nvSpPr>
          <p:cNvPr id="26" name="Text 24"/>
          <p:cNvSpPr/>
          <p:nvPr/>
        </p:nvSpPr>
        <p:spPr>
          <a:xfrm>
            <a:off x="3527563" y="1627632"/>
            <a:ext cx="571980"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CONV.</a:t>
            </a:r>
            <a:endParaRPr lang="en-US" sz="660" dirty="0"/>
          </a:p>
        </p:txBody>
      </p:sp>
      <p:sp>
        <p:nvSpPr>
          <p:cNvPr id="27" name="Text 25"/>
          <p:cNvSpPr/>
          <p:nvPr/>
        </p:nvSpPr>
        <p:spPr>
          <a:xfrm>
            <a:off x="4209271" y="1627632"/>
            <a:ext cx="571980"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GAP</a:t>
            </a:r>
            <a:endParaRPr lang="en-US" sz="660" dirty="0"/>
          </a:p>
        </p:txBody>
      </p:sp>
      <p:sp>
        <p:nvSpPr>
          <p:cNvPr id="28" name="Text 26"/>
          <p:cNvSpPr/>
          <p:nvPr/>
        </p:nvSpPr>
        <p:spPr>
          <a:xfrm>
            <a:off x="4890979" y="1627632"/>
            <a:ext cx="895354"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AT BENCHMARK</a:t>
            </a:r>
            <a:endParaRPr lang="en-US" sz="660" dirty="0"/>
          </a:p>
        </p:txBody>
      </p:sp>
      <p:sp>
        <p:nvSpPr>
          <p:cNvPr id="29" name="Text 27"/>
          <p:cNvSpPr/>
          <p:nvPr/>
        </p:nvSpPr>
        <p:spPr>
          <a:xfrm>
            <a:off x="5896061" y="1627632"/>
            <a:ext cx="641899" cy="219456"/>
          </a:xfrm>
          <a:prstGeom prst="rect">
            <a:avLst/>
          </a:prstGeom>
          <a:noFill/>
          <a:ln/>
        </p:spPr>
        <p:txBody>
          <a:bodyPr wrap="square" lIns="0" tIns="0" rIns="0" bIns="0" rtlCol="0" anchor="ctr"/>
          <a:lstStyle/>
          <a:p>
            <a:pPr algn="l" indent="0" marL="0">
              <a:buNone/>
            </a:pPr>
            <a:r>
              <a:rPr lang="en-US" sz="660" b="1" spc="40" kern="0" dirty="0">
                <a:solidFill>
                  <a:srgbClr val="FFFFFF"/>
                </a:solidFill>
                <a:latin typeface="Calibri" pitchFamily="34" charset="0"/>
                <a:ea typeface="Calibri" pitchFamily="34" charset="-122"/>
                <a:cs typeface="Calibri" pitchFamily="34" charset="-120"/>
              </a:rPr>
              <a:t>CALL</a:t>
            </a:r>
            <a:endParaRPr lang="en-US" sz="660" dirty="0"/>
          </a:p>
        </p:txBody>
      </p:sp>
      <p:sp>
        <p:nvSpPr>
          <p:cNvPr id="30" name="Shape 28"/>
          <p:cNvSpPr/>
          <p:nvPr/>
        </p:nvSpPr>
        <p:spPr>
          <a:xfrm>
            <a:off x="265176" y="1865376"/>
            <a:ext cx="6327648" cy="347472"/>
          </a:xfrm>
          <a:prstGeom prst="rect">
            <a:avLst/>
          </a:prstGeom>
          <a:solidFill>
            <a:srgbClr val="F4F9F8"/>
          </a:solidFill>
          <a:ln/>
        </p:spPr>
      </p:sp>
      <p:sp>
        <p:nvSpPr>
          <p:cNvPr id="31" name="Shape 29"/>
          <p:cNvSpPr/>
          <p:nvPr/>
        </p:nvSpPr>
        <p:spPr>
          <a:xfrm>
            <a:off x="265176" y="2212848"/>
            <a:ext cx="6327648" cy="0"/>
          </a:xfrm>
          <a:prstGeom prst="line">
            <a:avLst/>
          </a:prstGeom>
          <a:noFill/>
          <a:ln w="6350">
            <a:solidFill>
              <a:srgbClr val="C8DCD7"/>
            </a:solidFill>
            <a:prstDash val="solid"/>
          </a:ln>
        </p:spPr>
      </p:sp>
      <p:sp>
        <p:nvSpPr>
          <p:cNvPr id="32" name="Text 30"/>
          <p:cNvSpPr/>
          <p:nvPr/>
        </p:nvSpPr>
        <p:spPr>
          <a:xfrm>
            <a:off x="320040" y="1865376"/>
            <a:ext cx="895354" cy="347472"/>
          </a:xfrm>
          <a:prstGeom prst="rect">
            <a:avLst/>
          </a:prstGeom>
          <a:noFill/>
          <a:ln/>
        </p:spPr>
        <p:txBody>
          <a:bodyPr wrap="square" lIns="0" tIns="0" rIns="0" bIns="0" rtlCol="0" anchor="ctr"/>
          <a:lstStyle/>
          <a:p>
            <a:pPr algn="l" indent="0" marL="0">
              <a:buNone/>
            </a:pPr>
            <a:r>
              <a:rPr lang="en-US" sz="740" b="1" dirty="0">
                <a:solidFill>
                  <a:srgbClr val="183B39"/>
                </a:solidFill>
                <a:latin typeface="Calibri" pitchFamily="34" charset="0"/>
                <a:ea typeface="Calibri" pitchFamily="34" charset="-122"/>
                <a:cs typeface="Calibri" pitchFamily="34" charset="-120"/>
              </a:rPr>
              <a:t>North</a:t>
            </a:r>
            <a:endParaRPr lang="en-US" sz="740" dirty="0"/>
          </a:p>
        </p:txBody>
      </p:sp>
      <p:sp>
        <p:nvSpPr>
          <p:cNvPr id="33" name="Text 31"/>
          <p:cNvSpPr/>
          <p:nvPr/>
        </p:nvSpPr>
        <p:spPr>
          <a:xfrm>
            <a:off x="1325122" y="1865376"/>
            <a:ext cx="676858" cy="347472"/>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11.38</a:t>
            </a:r>
            <a:endParaRPr lang="en-US" sz="740" dirty="0"/>
          </a:p>
        </p:txBody>
      </p:sp>
      <p:sp>
        <p:nvSpPr>
          <p:cNvPr id="34" name="Text 32"/>
          <p:cNvSpPr/>
          <p:nvPr/>
        </p:nvSpPr>
        <p:spPr>
          <a:xfrm>
            <a:off x="2111708" y="1865376"/>
            <a:ext cx="676858" cy="347472"/>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6.97</a:t>
            </a:r>
            <a:endParaRPr lang="en-US" sz="740" dirty="0"/>
          </a:p>
        </p:txBody>
      </p:sp>
      <p:sp>
        <p:nvSpPr>
          <p:cNvPr id="35" name="Text 33"/>
          <p:cNvSpPr/>
          <p:nvPr/>
        </p:nvSpPr>
        <p:spPr>
          <a:xfrm>
            <a:off x="2898294" y="1865376"/>
            <a:ext cx="519541" cy="347472"/>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20.5%</a:t>
            </a:r>
            <a:endParaRPr lang="en-US" sz="740" dirty="0"/>
          </a:p>
        </p:txBody>
      </p:sp>
      <p:sp>
        <p:nvSpPr>
          <p:cNvPr id="36" name="Text 34"/>
          <p:cNvSpPr/>
          <p:nvPr/>
        </p:nvSpPr>
        <p:spPr>
          <a:xfrm>
            <a:off x="3527563" y="1865376"/>
            <a:ext cx="571980" cy="347472"/>
          </a:xfrm>
          <a:prstGeom prst="rect">
            <a:avLst/>
          </a:prstGeom>
          <a:noFill/>
          <a:ln/>
        </p:spPr>
        <p:txBody>
          <a:bodyPr wrap="square" lIns="0" tIns="0" rIns="0" bIns="0" rtlCol="0" anchor="ctr"/>
          <a:lstStyle/>
          <a:p>
            <a:pPr algn="r" indent="0" marL="0">
              <a:buNone/>
            </a:pPr>
            <a:r>
              <a:rPr lang="en-US" sz="740" b="1" dirty="0">
                <a:solidFill>
                  <a:srgbClr val="D6544D"/>
                </a:solidFill>
                <a:latin typeface="Calibri" pitchFamily="34" charset="0"/>
                <a:ea typeface="Calibri" pitchFamily="34" charset="-122"/>
                <a:cs typeface="Calibri" pitchFamily="34" charset="-120"/>
              </a:rPr>
              <a:t>61.3%</a:t>
            </a:r>
            <a:endParaRPr lang="en-US" sz="740" dirty="0"/>
          </a:p>
        </p:txBody>
      </p:sp>
      <p:sp>
        <p:nvSpPr>
          <p:cNvPr id="37" name="Text 35"/>
          <p:cNvSpPr/>
          <p:nvPr/>
        </p:nvSpPr>
        <p:spPr>
          <a:xfrm>
            <a:off x="4209271" y="1865376"/>
            <a:ext cx="571980" cy="347472"/>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4.41</a:t>
            </a:r>
            <a:endParaRPr lang="en-US" sz="740" dirty="0"/>
          </a:p>
        </p:txBody>
      </p:sp>
      <p:sp>
        <p:nvSpPr>
          <p:cNvPr id="38" name="Text 36"/>
          <p:cNvSpPr/>
          <p:nvPr/>
        </p:nvSpPr>
        <p:spPr>
          <a:xfrm>
            <a:off x="4890979" y="1865376"/>
            <a:ext cx="895354" cy="347472"/>
          </a:xfrm>
          <a:prstGeom prst="rect">
            <a:avLst/>
          </a:prstGeom>
          <a:noFill/>
          <a:ln/>
        </p:spPr>
        <p:txBody>
          <a:bodyPr wrap="square" lIns="0" tIns="0" rIns="0" bIns="0" rtlCol="0" anchor="ctr"/>
          <a:lstStyle/>
          <a:p>
            <a:pPr algn="r" indent="0" marL="0">
              <a:buNone/>
            </a:pPr>
            <a:r>
              <a:rPr lang="en-US" sz="740" b="1" dirty="0">
                <a:solidFill>
                  <a:srgbClr val="2B9A66"/>
                </a:solidFill>
                <a:latin typeface="Calibri" pitchFamily="34" charset="0"/>
                <a:ea typeface="Calibri" pitchFamily="34" charset="-122"/>
                <a:cs typeface="Calibri" pitchFamily="34" charset="-120"/>
              </a:rPr>
              <a:t>+2.79 Cr</a:t>
            </a:r>
            <a:endParaRPr lang="en-US" sz="740" dirty="0"/>
          </a:p>
        </p:txBody>
      </p:sp>
      <p:sp>
        <p:nvSpPr>
          <p:cNvPr id="39" name="Text 37"/>
          <p:cNvSpPr/>
          <p:nvPr/>
        </p:nvSpPr>
        <p:spPr>
          <a:xfrm>
            <a:off x="5896061" y="1865376"/>
            <a:ext cx="641899" cy="347472"/>
          </a:xfrm>
          <a:prstGeom prst="rect">
            <a:avLst/>
          </a:prstGeom>
          <a:noFill/>
          <a:ln/>
        </p:spPr>
        <p:txBody>
          <a:bodyPr wrap="square" lIns="0" tIns="0" rIns="0" bIns="0" rtlCol="0" anchor="ctr"/>
          <a:lstStyle/>
          <a:p>
            <a:pPr algn="l" indent="0" marL="0">
              <a:buNone/>
            </a:pPr>
            <a:r>
              <a:rPr lang="en-US" sz="740" b="1" dirty="0">
                <a:solidFill>
                  <a:srgbClr val="D6544D"/>
                </a:solidFill>
                <a:latin typeface="Calibri" pitchFamily="34" charset="0"/>
                <a:ea typeface="Calibri" pitchFamily="34" charset="-122"/>
                <a:cs typeface="Calibri" pitchFamily="34" charset="-120"/>
              </a:rPr>
              <a:t>FIX</a:t>
            </a:r>
            <a:endParaRPr lang="en-US" sz="740" dirty="0"/>
          </a:p>
        </p:txBody>
      </p:sp>
      <p:sp>
        <p:nvSpPr>
          <p:cNvPr id="40" name="Shape 38"/>
          <p:cNvSpPr/>
          <p:nvPr/>
        </p:nvSpPr>
        <p:spPr>
          <a:xfrm>
            <a:off x="265176" y="2560320"/>
            <a:ext cx="6327648" cy="0"/>
          </a:xfrm>
          <a:prstGeom prst="line">
            <a:avLst/>
          </a:prstGeom>
          <a:noFill/>
          <a:ln w="6350">
            <a:solidFill>
              <a:srgbClr val="C8DCD7"/>
            </a:solidFill>
            <a:prstDash val="solid"/>
          </a:ln>
        </p:spPr>
      </p:sp>
      <p:sp>
        <p:nvSpPr>
          <p:cNvPr id="41" name="Text 39"/>
          <p:cNvSpPr/>
          <p:nvPr/>
        </p:nvSpPr>
        <p:spPr>
          <a:xfrm>
            <a:off x="320040" y="2212848"/>
            <a:ext cx="895354" cy="347472"/>
          </a:xfrm>
          <a:prstGeom prst="rect">
            <a:avLst/>
          </a:prstGeom>
          <a:noFill/>
          <a:ln/>
        </p:spPr>
        <p:txBody>
          <a:bodyPr wrap="square" lIns="0" tIns="0" rIns="0" bIns="0" rtlCol="0" anchor="ctr"/>
          <a:lstStyle/>
          <a:p>
            <a:pPr algn="l" indent="0" marL="0">
              <a:buNone/>
            </a:pPr>
            <a:r>
              <a:rPr lang="en-US" sz="740" b="1" dirty="0">
                <a:solidFill>
                  <a:srgbClr val="183B39"/>
                </a:solidFill>
                <a:latin typeface="Calibri" pitchFamily="34" charset="0"/>
                <a:ea typeface="Calibri" pitchFamily="34" charset="-122"/>
                <a:cs typeface="Calibri" pitchFamily="34" charset="-120"/>
              </a:rPr>
              <a:t>East</a:t>
            </a:r>
            <a:endParaRPr lang="en-US" sz="740" dirty="0"/>
          </a:p>
        </p:txBody>
      </p:sp>
      <p:sp>
        <p:nvSpPr>
          <p:cNvPr id="42" name="Text 40"/>
          <p:cNvSpPr/>
          <p:nvPr/>
        </p:nvSpPr>
        <p:spPr>
          <a:xfrm>
            <a:off x="1325122" y="2212848"/>
            <a:ext cx="676858" cy="347472"/>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7.10</a:t>
            </a:r>
            <a:endParaRPr lang="en-US" sz="740" dirty="0"/>
          </a:p>
        </p:txBody>
      </p:sp>
      <p:sp>
        <p:nvSpPr>
          <p:cNvPr id="43" name="Text 41"/>
          <p:cNvSpPr/>
          <p:nvPr/>
        </p:nvSpPr>
        <p:spPr>
          <a:xfrm>
            <a:off x="2111708" y="2212848"/>
            <a:ext cx="676858" cy="347472"/>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3.54</a:t>
            </a:r>
            <a:endParaRPr lang="en-US" sz="740" dirty="0"/>
          </a:p>
        </p:txBody>
      </p:sp>
      <p:sp>
        <p:nvSpPr>
          <p:cNvPr id="44" name="Text 42"/>
          <p:cNvSpPr/>
          <p:nvPr/>
        </p:nvSpPr>
        <p:spPr>
          <a:xfrm>
            <a:off x="2898294" y="2212848"/>
            <a:ext cx="519541" cy="347472"/>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10.4%</a:t>
            </a:r>
            <a:endParaRPr lang="en-US" sz="740" dirty="0"/>
          </a:p>
        </p:txBody>
      </p:sp>
      <p:sp>
        <p:nvSpPr>
          <p:cNvPr id="45" name="Text 43"/>
          <p:cNvSpPr/>
          <p:nvPr/>
        </p:nvSpPr>
        <p:spPr>
          <a:xfrm>
            <a:off x="3527563" y="2212848"/>
            <a:ext cx="571980" cy="347472"/>
          </a:xfrm>
          <a:prstGeom prst="rect">
            <a:avLst/>
          </a:prstGeom>
          <a:noFill/>
          <a:ln/>
        </p:spPr>
        <p:txBody>
          <a:bodyPr wrap="square" lIns="0" tIns="0" rIns="0" bIns="0" rtlCol="0" anchor="ctr"/>
          <a:lstStyle/>
          <a:p>
            <a:pPr algn="r" indent="0" marL="0">
              <a:buNone/>
            </a:pPr>
            <a:r>
              <a:rPr lang="en-US" sz="740" b="1" dirty="0">
                <a:solidFill>
                  <a:srgbClr val="D6544D"/>
                </a:solidFill>
                <a:latin typeface="Calibri" pitchFamily="34" charset="0"/>
                <a:ea typeface="Calibri" pitchFamily="34" charset="-122"/>
                <a:cs typeface="Calibri" pitchFamily="34" charset="-120"/>
              </a:rPr>
              <a:t>49.9%</a:t>
            </a:r>
            <a:endParaRPr lang="en-US" sz="740" dirty="0"/>
          </a:p>
        </p:txBody>
      </p:sp>
      <p:sp>
        <p:nvSpPr>
          <p:cNvPr id="46" name="Text 44"/>
          <p:cNvSpPr/>
          <p:nvPr/>
        </p:nvSpPr>
        <p:spPr>
          <a:xfrm>
            <a:off x="4209271" y="2212848"/>
            <a:ext cx="571980" cy="347472"/>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3.56</a:t>
            </a:r>
            <a:endParaRPr lang="en-US" sz="740" dirty="0"/>
          </a:p>
        </p:txBody>
      </p:sp>
      <p:sp>
        <p:nvSpPr>
          <p:cNvPr id="47" name="Text 45"/>
          <p:cNvSpPr/>
          <p:nvPr/>
        </p:nvSpPr>
        <p:spPr>
          <a:xfrm>
            <a:off x="4890979" y="2212848"/>
            <a:ext cx="895354" cy="347472"/>
          </a:xfrm>
          <a:prstGeom prst="rect">
            <a:avLst/>
          </a:prstGeom>
          <a:noFill/>
          <a:ln/>
        </p:spPr>
        <p:txBody>
          <a:bodyPr wrap="square" lIns="0" tIns="0" rIns="0" bIns="0" rtlCol="0" anchor="ctr"/>
          <a:lstStyle/>
          <a:p>
            <a:pPr algn="r" indent="0" marL="0">
              <a:buNone/>
            </a:pPr>
            <a:r>
              <a:rPr lang="en-US" sz="740" b="1" dirty="0">
                <a:solidFill>
                  <a:srgbClr val="2B9A66"/>
                </a:solidFill>
                <a:latin typeface="Calibri" pitchFamily="34" charset="0"/>
                <a:ea typeface="Calibri" pitchFamily="34" charset="-122"/>
                <a:cs typeface="Calibri" pitchFamily="34" charset="-120"/>
              </a:rPr>
              <a:t>+2.55 Cr</a:t>
            </a:r>
            <a:endParaRPr lang="en-US" sz="740" dirty="0"/>
          </a:p>
        </p:txBody>
      </p:sp>
      <p:sp>
        <p:nvSpPr>
          <p:cNvPr id="48" name="Text 46"/>
          <p:cNvSpPr/>
          <p:nvPr/>
        </p:nvSpPr>
        <p:spPr>
          <a:xfrm>
            <a:off x="5896061" y="2212848"/>
            <a:ext cx="641899" cy="347472"/>
          </a:xfrm>
          <a:prstGeom prst="rect">
            <a:avLst/>
          </a:prstGeom>
          <a:noFill/>
          <a:ln/>
        </p:spPr>
        <p:txBody>
          <a:bodyPr wrap="square" lIns="0" tIns="0" rIns="0" bIns="0" rtlCol="0" anchor="ctr"/>
          <a:lstStyle/>
          <a:p>
            <a:pPr algn="l" indent="0" marL="0">
              <a:buNone/>
            </a:pPr>
            <a:r>
              <a:rPr lang="en-US" sz="740" b="1" dirty="0">
                <a:solidFill>
                  <a:srgbClr val="D6544D"/>
                </a:solidFill>
                <a:latin typeface="Calibri" pitchFamily="34" charset="0"/>
                <a:ea typeface="Calibri" pitchFamily="34" charset="-122"/>
                <a:cs typeface="Calibri" pitchFamily="34" charset="-120"/>
              </a:rPr>
              <a:t>FIX</a:t>
            </a:r>
            <a:endParaRPr lang="en-US" sz="740" dirty="0"/>
          </a:p>
        </p:txBody>
      </p:sp>
      <p:sp>
        <p:nvSpPr>
          <p:cNvPr id="49" name="Shape 47"/>
          <p:cNvSpPr/>
          <p:nvPr/>
        </p:nvSpPr>
        <p:spPr>
          <a:xfrm>
            <a:off x="265176" y="2560320"/>
            <a:ext cx="6327648" cy="347472"/>
          </a:xfrm>
          <a:prstGeom prst="rect">
            <a:avLst/>
          </a:prstGeom>
          <a:solidFill>
            <a:srgbClr val="F4F9F8"/>
          </a:solidFill>
          <a:ln/>
        </p:spPr>
      </p:sp>
      <p:sp>
        <p:nvSpPr>
          <p:cNvPr id="50" name="Shape 48"/>
          <p:cNvSpPr/>
          <p:nvPr/>
        </p:nvSpPr>
        <p:spPr>
          <a:xfrm>
            <a:off x="265176" y="2907792"/>
            <a:ext cx="6327648" cy="0"/>
          </a:xfrm>
          <a:prstGeom prst="line">
            <a:avLst/>
          </a:prstGeom>
          <a:noFill/>
          <a:ln w="6350">
            <a:solidFill>
              <a:srgbClr val="C8DCD7"/>
            </a:solidFill>
            <a:prstDash val="solid"/>
          </a:ln>
        </p:spPr>
      </p:sp>
      <p:sp>
        <p:nvSpPr>
          <p:cNvPr id="51" name="Text 49"/>
          <p:cNvSpPr/>
          <p:nvPr/>
        </p:nvSpPr>
        <p:spPr>
          <a:xfrm>
            <a:off x="320040" y="2560320"/>
            <a:ext cx="895354" cy="347472"/>
          </a:xfrm>
          <a:prstGeom prst="rect">
            <a:avLst/>
          </a:prstGeom>
          <a:noFill/>
          <a:ln/>
        </p:spPr>
        <p:txBody>
          <a:bodyPr wrap="square" lIns="0" tIns="0" rIns="0" bIns="0" rtlCol="0" anchor="ctr"/>
          <a:lstStyle/>
          <a:p>
            <a:pPr algn="l" indent="0" marL="0">
              <a:buNone/>
            </a:pPr>
            <a:r>
              <a:rPr lang="en-US" sz="740" b="1" dirty="0">
                <a:solidFill>
                  <a:srgbClr val="183B39"/>
                </a:solidFill>
                <a:latin typeface="Calibri" pitchFamily="34" charset="0"/>
                <a:ea typeface="Calibri" pitchFamily="34" charset="-122"/>
                <a:cs typeface="Calibri" pitchFamily="34" charset="-120"/>
              </a:rPr>
              <a:t>South-2</a:t>
            </a:r>
            <a:endParaRPr lang="en-US" sz="740" dirty="0"/>
          </a:p>
        </p:txBody>
      </p:sp>
      <p:sp>
        <p:nvSpPr>
          <p:cNvPr id="52" name="Text 50"/>
          <p:cNvSpPr/>
          <p:nvPr/>
        </p:nvSpPr>
        <p:spPr>
          <a:xfrm>
            <a:off x="1325122" y="2560320"/>
            <a:ext cx="676858" cy="347472"/>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6.73</a:t>
            </a:r>
            <a:endParaRPr lang="en-US" sz="740" dirty="0"/>
          </a:p>
        </p:txBody>
      </p:sp>
      <p:sp>
        <p:nvSpPr>
          <p:cNvPr id="53" name="Text 51"/>
          <p:cNvSpPr/>
          <p:nvPr/>
        </p:nvSpPr>
        <p:spPr>
          <a:xfrm>
            <a:off x="2111708" y="2560320"/>
            <a:ext cx="676858" cy="347472"/>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4.87</a:t>
            </a:r>
            <a:endParaRPr lang="en-US" sz="740" dirty="0"/>
          </a:p>
        </p:txBody>
      </p:sp>
      <p:sp>
        <p:nvSpPr>
          <p:cNvPr id="54" name="Text 52"/>
          <p:cNvSpPr/>
          <p:nvPr/>
        </p:nvSpPr>
        <p:spPr>
          <a:xfrm>
            <a:off x="2898294" y="2560320"/>
            <a:ext cx="519541" cy="347472"/>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14.4%</a:t>
            </a:r>
            <a:endParaRPr lang="en-US" sz="740" dirty="0"/>
          </a:p>
        </p:txBody>
      </p:sp>
      <p:sp>
        <p:nvSpPr>
          <p:cNvPr id="55" name="Text 53"/>
          <p:cNvSpPr/>
          <p:nvPr/>
        </p:nvSpPr>
        <p:spPr>
          <a:xfrm>
            <a:off x="3527563" y="2560320"/>
            <a:ext cx="571980" cy="347472"/>
          </a:xfrm>
          <a:prstGeom prst="rect">
            <a:avLst/>
          </a:prstGeom>
          <a:noFill/>
          <a:ln/>
        </p:spPr>
        <p:txBody>
          <a:bodyPr wrap="square" lIns="0" tIns="0" rIns="0" bIns="0" rtlCol="0" anchor="ctr"/>
          <a:lstStyle/>
          <a:p>
            <a:pPr algn="r" indent="0" marL="0">
              <a:buNone/>
            </a:pPr>
            <a:r>
              <a:rPr lang="en-US" sz="740" b="1" dirty="0">
                <a:solidFill>
                  <a:srgbClr val="F2B84B"/>
                </a:solidFill>
                <a:latin typeface="Calibri" pitchFamily="34" charset="0"/>
                <a:ea typeface="Calibri" pitchFamily="34" charset="-122"/>
                <a:cs typeface="Calibri" pitchFamily="34" charset="-120"/>
              </a:rPr>
              <a:t>72.4%</a:t>
            </a:r>
            <a:endParaRPr lang="en-US" sz="740" dirty="0"/>
          </a:p>
        </p:txBody>
      </p:sp>
      <p:sp>
        <p:nvSpPr>
          <p:cNvPr id="56" name="Text 54"/>
          <p:cNvSpPr/>
          <p:nvPr/>
        </p:nvSpPr>
        <p:spPr>
          <a:xfrm>
            <a:off x="4209271" y="2560320"/>
            <a:ext cx="571980" cy="347472"/>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1.85</a:t>
            </a:r>
            <a:endParaRPr lang="en-US" sz="740" dirty="0"/>
          </a:p>
        </p:txBody>
      </p:sp>
      <p:sp>
        <p:nvSpPr>
          <p:cNvPr id="57" name="Text 55"/>
          <p:cNvSpPr/>
          <p:nvPr/>
        </p:nvSpPr>
        <p:spPr>
          <a:xfrm>
            <a:off x="4890979" y="2560320"/>
            <a:ext cx="895354" cy="347472"/>
          </a:xfrm>
          <a:prstGeom prst="rect">
            <a:avLst/>
          </a:prstGeom>
          <a:noFill/>
          <a:ln/>
        </p:spPr>
        <p:txBody>
          <a:bodyPr wrap="square" lIns="0" tIns="0" rIns="0" bIns="0" rtlCol="0" anchor="ctr"/>
          <a:lstStyle/>
          <a:p>
            <a:pPr algn="r" indent="0" marL="0">
              <a:buNone/>
            </a:pPr>
            <a:r>
              <a:rPr lang="en-US" sz="740" b="1" dirty="0">
                <a:solidFill>
                  <a:srgbClr val="2B9A66"/>
                </a:solidFill>
                <a:latin typeface="Calibri" pitchFamily="34" charset="0"/>
                <a:ea typeface="Calibri" pitchFamily="34" charset="-122"/>
                <a:cs typeface="Calibri" pitchFamily="34" charset="-120"/>
              </a:rPr>
              <a:t>+0.90 Cr</a:t>
            </a:r>
            <a:endParaRPr lang="en-US" sz="740" dirty="0"/>
          </a:p>
        </p:txBody>
      </p:sp>
      <p:sp>
        <p:nvSpPr>
          <p:cNvPr id="58" name="Text 56"/>
          <p:cNvSpPr/>
          <p:nvPr/>
        </p:nvSpPr>
        <p:spPr>
          <a:xfrm>
            <a:off x="5896061" y="2560320"/>
            <a:ext cx="641899" cy="347472"/>
          </a:xfrm>
          <a:prstGeom prst="rect">
            <a:avLst/>
          </a:prstGeom>
          <a:noFill/>
          <a:ln/>
        </p:spPr>
        <p:txBody>
          <a:bodyPr wrap="square" lIns="0" tIns="0" rIns="0" bIns="0" rtlCol="0" anchor="ctr"/>
          <a:lstStyle/>
          <a:p>
            <a:pPr algn="l" indent="0" marL="0">
              <a:buNone/>
            </a:pPr>
            <a:r>
              <a:rPr lang="en-US" sz="740" b="1" dirty="0">
                <a:solidFill>
                  <a:srgbClr val="D6544D"/>
                </a:solidFill>
                <a:latin typeface="Calibri" pitchFamily="34" charset="0"/>
                <a:ea typeface="Calibri" pitchFamily="34" charset="-122"/>
                <a:cs typeface="Calibri" pitchFamily="34" charset="-120"/>
              </a:rPr>
              <a:t>FIX</a:t>
            </a:r>
            <a:endParaRPr lang="en-US" sz="740" dirty="0"/>
          </a:p>
        </p:txBody>
      </p:sp>
      <p:sp>
        <p:nvSpPr>
          <p:cNvPr id="59" name="Shape 57"/>
          <p:cNvSpPr/>
          <p:nvPr/>
        </p:nvSpPr>
        <p:spPr>
          <a:xfrm>
            <a:off x="265176" y="3255264"/>
            <a:ext cx="6327648" cy="0"/>
          </a:xfrm>
          <a:prstGeom prst="line">
            <a:avLst/>
          </a:prstGeom>
          <a:noFill/>
          <a:ln w="6350">
            <a:solidFill>
              <a:srgbClr val="C8DCD7"/>
            </a:solidFill>
            <a:prstDash val="solid"/>
          </a:ln>
        </p:spPr>
      </p:sp>
      <p:sp>
        <p:nvSpPr>
          <p:cNvPr id="60" name="Text 58"/>
          <p:cNvSpPr/>
          <p:nvPr/>
        </p:nvSpPr>
        <p:spPr>
          <a:xfrm>
            <a:off x="320040" y="2907792"/>
            <a:ext cx="895354" cy="347472"/>
          </a:xfrm>
          <a:prstGeom prst="rect">
            <a:avLst/>
          </a:prstGeom>
          <a:noFill/>
          <a:ln/>
        </p:spPr>
        <p:txBody>
          <a:bodyPr wrap="square" lIns="0" tIns="0" rIns="0" bIns="0" rtlCol="0" anchor="ctr"/>
          <a:lstStyle/>
          <a:p>
            <a:pPr algn="l" indent="0" marL="0">
              <a:buNone/>
            </a:pPr>
            <a:r>
              <a:rPr lang="en-US" sz="740" b="1" dirty="0">
                <a:solidFill>
                  <a:srgbClr val="183B39"/>
                </a:solidFill>
                <a:latin typeface="Calibri" pitchFamily="34" charset="0"/>
                <a:ea typeface="Calibri" pitchFamily="34" charset="-122"/>
                <a:cs typeface="Calibri" pitchFamily="34" charset="-120"/>
              </a:rPr>
              <a:t>Central</a:t>
            </a:r>
            <a:endParaRPr lang="en-US" sz="740" dirty="0"/>
          </a:p>
        </p:txBody>
      </p:sp>
      <p:sp>
        <p:nvSpPr>
          <p:cNvPr id="61" name="Text 59"/>
          <p:cNvSpPr/>
          <p:nvPr/>
        </p:nvSpPr>
        <p:spPr>
          <a:xfrm>
            <a:off x="1325122" y="2907792"/>
            <a:ext cx="676858" cy="347472"/>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2.62</a:t>
            </a:r>
            <a:endParaRPr lang="en-US" sz="740" dirty="0"/>
          </a:p>
        </p:txBody>
      </p:sp>
      <p:sp>
        <p:nvSpPr>
          <p:cNvPr id="62" name="Text 60"/>
          <p:cNvSpPr/>
          <p:nvPr/>
        </p:nvSpPr>
        <p:spPr>
          <a:xfrm>
            <a:off x="2111708" y="2907792"/>
            <a:ext cx="676858" cy="347472"/>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2.12</a:t>
            </a:r>
            <a:endParaRPr lang="en-US" sz="740" dirty="0"/>
          </a:p>
        </p:txBody>
      </p:sp>
      <p:sp>
        <p:nvSpPr>
          <p:cNvPr id="63" name="Text 61"/>
          <p:cNvSpPr/>
          <p:nvPr/>
        </p:nvSpPr>
        <p:spPr>
          <a:xfrm>
            <a:off x="2898294" y="2907792"/>
            <a:ext cx="519541" cy="347472"/>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6.2%</a:t>
            </a:r>
            <a:endParaRPr lang="en-US" sz="740" dirty="0"/>
          </a:p>
        </p:txBody>
      </p:sp>
      <p:sp>
        <p:nvSpPr>
          <p:cNvPr id="64" name="Text 62"/>
          <p:cNvSpPr/>
          <p:nvPr/>
        </p:nvSpPr>
        <p:spPr>
          <a:xfrm>
            <a:off x="3527563" y="2907792"/>
            <a:ext cx="571980" cy="347472"/>
          </a:xfrm>
          <a:prstGeom prst="rect">
            <a:avLst/>
          </a:prstGeom>
          <a:noFill/>
          <a:ln/>
        </p:spPr>
        <p:txBody>
          <a:bodyPr wrap="square" lIns="0" tIns="0" rIns="0" bIns="0" rtlCol="0" anchor="ctr"/>
          <a:lstStyle/>
          <a:p>
            <a:pPr algn="r" indent="0" marL="0">
              <a:buNone/>
            </a:pPr>
            <a:r>
              <a:rPr lang="en-US" sz="740" b="1" dirty="0">
                <a:solidFill>
                  <a:srgbClr val="F2B84B"/>
                </a:solidFill>
                <a:latin typeface="Calibri" pitchFamily="34" charset="0"/>
                <a:ea typeface="Calibri" pitchFamily="34" charset="-122"/>
                <a:cs typeface="Calibri" pitchFamily="34" charset="-120"/>
              </a:rPr>
              <a:t>80.9%</a:t>
            </a:r>
            <a:endParaRPr lang="en-US" sz="740" dirty="0"/>
          </a:p>
        </p:txBody>
      </p:sp>
      <p:sp>
        <p:nvSpPr>
          <p:cNvPr id="65" name="Text 63"/>
          <p:cNvSpPr/>
          <p:nvPr/>
        </p:nvSpPr>
        <p:spPr>
          <a:xfrm>
            <a:off x="4209271" y="2907792"/>
            <a:ext cx="571980" cy="347472"/>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0.50</a:t>
            </a:r>
            <a:endParaRPr lang="en-US" sz="740" dirty="0"/>
          </a:p>
        </p:txBody>
      </p:sp>
      <p:sp>
        <p:nvSpPr>
          <p:cNvPr id="66" name="Text 64"/>
          <p:cNvSpPr/>
          <p:nvPr/>
        </p:nvSpPr>
        <p:spPr>
          <a:xfrm>
            <a:off x="4890979" y="2907792"/>
            <a:ext cx="895354" cy="347472"/>
          </a:xfrm>
          <a:prstGeom prst="rect">
            <a:avLst/>
          </a:prstGeom>
          <a:noFill/>
          <a:ln/>
        </p:spPr>
        <p:txBody>
          <a:bodyPr wrap="square" lIns="0" tIns="0" rIns="0" bIns="0" rtlCol="0" anchor="ctr"/>
          <a:lstStyle/>
          <a:p>
            <a:pPr algn="r" indent="0" marL="0">
              <a:buNone/>
            </a:pPr>
            <a:r>
              <a:rPr lang="en-US" sz="740" dirty="0">
                <a:solidFill>
                  <a:srgbClr val="5F716E"/>
                </a:solidFill>
                <a:latin typeface="Calibri" pitchFamily="34" charset="0"/>
                <a:ea typeface="Calibri" pitchFamily="34" charset="-122"/>
                <a:cs typeface="Calibri" pitchFamily="34" charset="-120"/>
              </a:rPr>
              <a:t>below floor</a:t>
            </a:r>
            <a:endParaRPr lang="en-US" sz="740" dirty="0"/>
          </a:p>
        </p:txBody>
      </p:sp>
      <p:sp>
        <p:nvSpPr>
          <p:cNvPr id="67" name="Text 65"/>
          <p:cNvSpPr/>
          <p:nvPr/>
        </p:nvSpPr>
        <p:spPr>
          <a:xfrm>
            <a:off x="5896061" y="2907792"/>
            <a:ext cx="641899" cy="347472"/>
          </a:xfrm>
          <a:prstGeom prst="rect">
            <a:avLst/>
          </a:prstGeom>
          <a:noFill/>
          <a:ln/>
        </p:spPr>
        <p:txBody>
          <a:bodyPr wrap="square" lIns="0" tIns="0" rIns="0" bIns="0" rtlCol="0" anchor="ctr"/>
          <a:lstStyle/>
          <a:p>
            <a:pPr algn="l" indent="0" marL="0">
              <a:buNone/>
            </a:pPr>
            <a:r>
              <a:rPr lang="en-US" sz="740" b="1" dirty="0">
                <a:solidFill>
                  <a:srgbClr val="2B9A66"/>
                </a:solidFill>
                <a:latin typeface="Calibri" pitchFamily="34" charset="0"/>
                <a:ea typeface="Calibri" pitchFamily="34" charset="-122"/>
                <a:cs typeface="Calibri" pitchFamily="34" charset="-120"/>
              </a:rPr>
              <a:t>PROTECT</a:t>
            </a:r>
            <a:endParaRPr lang="en-US" sz="740" dirty="0"/>
          </a:p>
        </p:txBody>
      </p:sp>
      <p:sp>
        <p:nvSpPr>
          <p:cNvPr id="68" name="Shape 66"/>
          <p:cNvSpPr/>
          <p:nvPr/>
        </p:nvSpPr>
        <p:spPr>
          <a:xfrm>
            <a:off x="265176" y="3255264"/>
            <a:ext cx="6327648" cy="347472"/>
          </a:xfrm>
          <a:prstGeom prst="rect">
            <a:avLst/>
          </a:prstGeom>
          <a:solidFill>
            <a:srgbClr val="F4F9F8"/>
          </a:solidFill>
          <a:ln/>
        </p:spPr>
      </p:sp>
      <p:sp>
        <p:nvSpPr>
          <p:cNvPr id="69" name="Shape 67"/>
          <p:cNvSpPr/>
          <p:nvPr/>
        </p:nvSpPr>
        <p:spPr>
          <a:xfrm>
            <a:off x="265176" y="3602736"/>
            <a:ext cx="6327648" cy="0"/>
          </a:xfrm>
          <a:prstGeom prst="line">
            <a:avLst/>
          </a:prstGeom>
          <a:noFill/>
          <a:ln w="6350">
            <a:solidFill>
              <a:srgbClr val="C8DCD7"/>
            </a:solidFill>
            <a:prstDash val="solid"/>
          </a:ln>
        </p:spPr>
      </p:sp>
      <p:sp>
        <p:nvSpPr>
          <p:cNvPr id="70" name="Text 68"/>
          <p:cNvSpPr/>
          <p:nvPr/>
        </p:nvSpPr>
        <p:spPr>
          <a:xfrm>
            <a:off x="320040" y="3255264"/>
            <a:ext cx="895354" cy="347472"/>
          </a:xfrm>
          <a:prstGeom prst="rect">
            <a:avLst/>
          </a:prstGeom>
          <a:noFill/>
          <a:ln/>
        </p:spPr>
        <p:txBody>
          <a:bodyPr wrap="square" lIns="0" tIns="0" rIns="0" bIns="0" rtlCol="0" anchor="ctr"/>
          <a:lstStyle/>
          <a:p>
            <a:pPr algn="l" indent="0" marL="0">
              <a:buNone/>
            </a:pPr>
            <a:r>
              <a:rPr lang="en-US" sz="740" b="1" dirty="0">
                <a:solidFill>
                  <a:srgbClr val="183B39"/>
                </a:solidFill>
                <a:latin typeface="Calibri" pitchFamily="34" charset="0"/>
                <a:ea typeface="Calibri" pitchFamily="34" charset="-122"/>
                <a:cs typeface="Calibri" pitchFamily="34" charset="-120"/>
              </a:rPr>
              <a:t>West</a:t>
            </a:r>
            <a:endParaRPr lang="en-US" sz="740" dirty="0"/>
          </a:p>
        </p:txBody>
      </p:sp>
      <p:sp>
        <p:nvSpPr>
          <p:cNvPr id="71" name="Text 69"/>
          <p:cNvSpPr/>
          <p:nvPr/>
        </p:nvSpPr>
        <p:spPr>
          <a:xfrm>
            <a:off x="1325122" y="3255264"/>
            <a:ext cx="676858" cy="347472"/>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9.71</a:t>
            </a:r>
            <a:endParaRPr lang="en-US" sz="740" dirty="0"/>
          </a:p>
        </p:txBody>
      </p:sp>
      <p:sp>
        <p:nvSpPr>
          <p:cNvPr id="72" name="Text 70"/>
          <p:cNvSpPr/>
          <p:nvPr/>
        </p:nvSpPr>
        <p:spPr>
          <a:xfrm>
            <a:off x="2111708" y="3255264"/>
            <a:ext cx="676858" cy="347472"/>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8.27</a:t>
            </a:r>
            <a:endParaRPr lang="en-US" sz="740" dirty="0"/>
          </a:p>
        </p:txBody>
      </p:sp>
      <p:sp>
        <p:nvSpPr>
          <p:cNvPr id="73" name="Text 71"/>
          <p:cNvSpPr/>
          <p:nvPr/>
        </p:nvSpPr>
        <p:spPr>
          <a:xfrm>
            <a:off x="2898294" y="3255264"/>
            <a:ext cx="519541" cy="347472"/>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24.4%</a:t>
            </a:r>
            <a:endParaRPr lang="en-US" sz="740" dirty="0"/>
          </a:p>
        </p:txBody>
      </p:sp>
      <p:sp>
        <p:nvSpPr>
          <p:cNvPr id="74" name="Text 72"/>
          <p:cNvSpPr/>
          <p:nvPr/>
        </p:nvSpPr>
        <p:spPr>
          <a:xfrm>
            <a:off x="3527563" y="3255264"/>
            <a:ext cx="571980" cy="347472"/>
          </a:xfrm>
          <a:prstGeom prst="rect">
            <a:avLst/>
          </a:prstGeom>
          <a:noFill/>
          <a:ln/>
        </p:spPr>
        <p:txBody>
          <a:bodyPr wrap="square" lIns="0" tIns="0" rIns="0" bIns="0" rtlCol="0" anchor="ctr"/>
          <a:lstStyle/>
          <a:p>
            <a:pPr algn="r" indent="0" marL="0">
              <a:buNone/>
            </a:pPr>
            <a:r>
              <a:rPr lang="en-US" sz="740" b="1" dirty="0">
                <a:solidFill>
                  <a:srgbClr val="2B9A66"/>
                </a:solidFill>
                <a:latin typeface="Calibri" pitchFamily="34" charset="0"/>
                <a:ea typeface="Calibri" pitchFamily="34" charset="-122"/>
                <a:cs typeface="Calibri" pitchFamily="34" charset="-120"/>
              </a:rPr>
              <a:t>85.2%</a:t>
            </a:r>
            <a:endParaRPr lang="en-US" sz="740" dirty="0"/>
          </a:p>
        </p:txBody>
      </p:sp>
      <p:sp>
        <p:nvSpPr>
          <p:cNvPr id="75" name="Text 73"/>
          <p:cNvSpPr/>
          <p:nvPr/>
        </p:nvSpPr>
        <p:spPr>
          <a:xfrm>
            <a:off x="4209271" y="3255264"/>
            <a:ext cx="571980" cy="347472"/>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1.44</a:t>
            </a:r>
            <a:endParaRPr lang="en-US" sz="740" dirty="0"/>
          </a:p>
        </p:txBody>
      </p:sp>
      <p:sp>
        <p:nvSpPr>
          <p:cNvPr id="76" name="Text 74"/>
          <p:cNvSpPr/>
          <p:nvPr/>
        </p:nvSpPr>
        <p:spPr>
          <a:xfrm>
            <a:off x="4890979" y="3255264"/>
            <a:ext cx="895354" cy="347472"/>
          </a:xfrm>
          <a:prstGeom prst="rect">
            <a:avLst/>
          </a:prstGeom>
          <a:noFill/>
          <a:ln/>
        </p:spPr>
        <p:txBody>
          <a:bodyPr wrap="square" lIns="0" tIns="0" rIns="0" bIns="0" rtlCol="0" anchor="ctr"/>
          <a:lstStyle/>
          <a:p>
            <a:pPr algn="r" indent="0" marL="0">
              <a:buNone/>
            </a:pPr>
            <a:r>
              <a:rPr lang="en-US" sz="740" dirty="0">
                <a:solidFill>
                  <a:srgbClr val="5F716E"/>
                </a:solidFill>
                <a:latin typeface="Calibri" pitchFamily="34" charset="0"/>
                <a:ea typeface="Calibri" pitchFamily="34" charset="-122"/>
                <a:cs typeface="Calibri" pitchFamily="34" charset="-120"/>
              </a:rPr>
              <a:t>below floor</a:t>
            </a:r>
            <a:endParaRPr lang="en-US" sz="740" dirty="0"/>
          </a:p>
        </p:txBody>
      </p:sp>
      <p:sp>
        <p:nvSpPr>
          <p:cNvPr id="77" name="Text 75"/>
          <p:cNvSpPr/>
          <p:nvPr/>
        </p:nvSpPr>
        <p:spPr>
          <a:xfrm>
            <a:off x="5896061" y="3255264"/>
            <a:ext cx="641899" cy="347472"/>
          </a:xfrm>
          <a:prstGeom prst="rect">
            <a:avLst/>
          </a:prstGeom>
          <a:noFill/>
          <a:ln/>
        </p:spPr>
        <p:txBody>
          <a:bodyPr wrap="square" lIns="0" tIns="0" rIns="0" bIns="0" rtlCol="0" anchor="ctr"/>
          <a:lstStyle/>
          <a:p>
            <a:pPr algn="l" indent="0" marL="0">
              <a:buNone/>
            </a:pPr>
            <a:r>
              <a:rPr lang="en-US" sz="740" b="1" dirty="0">
                <a:solidFill>
                  <a:srgbClr val="2B9A66"/>
                </a:solidFill>
                <a:latin typeface="Calibri" pitchFamily="34" charset="0"/>
                <a:ea typeface="Calibri" pitchFamily="34" charset="-122"/>
                <a:cs typeface="Calibri" pitchFamily="34" charset="-120"/>
              </a:rPr>
              <a:t>PROTECT</a:t>
            </a:r>
            <a:endParaRPr lang="en-US" sz="740" dirty="0"/>
          </a:p>
        </p:txBody>
      </p:sp>
      <p:sp>
        <p:nvSpPr>
          <p:cNvPr id="78" name="Shape 76"/>
          <p:cNvSpPr/>
          <p:nvPr/>
        </p:nvSpPr>
        <p:spPr>
          <a:xfrm>
            <a:off x="265176" y="3950208"/>
            <a:ext cx="6327648" cy="0"/>
          </a:xfrm>
          <a:prstGeom prst="line">
            <a:avLst/>
          </a:prstGeom>
          <a:noFill/>
          <a:ln w="6350">
            <a:solidFill>
              <a:srgbClr val="C8DCD7"/>
            </a:solidFill>
            <a:prstDash val="solid"/>
          </a:ln>
        </p:spPr>
      </p:sp>
      <p:sp>
        <p:nvSpPr>
          <p:cNvPr id="79" name="Text 77"/>
          <p:cNvSpPr/>
          <p:nvPr/>
        </p:nvSpPr>
        <p:spPr>
          <a:xfrm>
            <a:off x="320040" y="3602736"/>
            <a:ext cx="895354" cy="347472"/>
          </a:xfrm>
          <a:prstGeom prst="rect">
            <a:avLst/>
          </a:prstGeom>
          <a:noFill/>
          <a:ln/>
        </p:spPr>
        <p:txBody>
          <a:bodyPr wrap="square" lIns="0" tIns="0" rIns="0" bIns="0" rtlCol="0" anchor="ctr"/>
          <a:lstStyle/>
          <a:p>
            <a:pPr algn="l" indent="0" marL="0">
              <a:buNone/>
            </a:pPr>
            <a:r>
              <a:rPr lang="en-US" sz="740" b="1" dirty="0">
                <a:solidFill>
                  <a:srgbClr val="183B39"/>
                </a:solidFill>
                <a:latin typeface="Calibri" pitchFamily="34" charset="0"/>
                <a:ea typeface="Calibri" pitchFamily="34" charset="-122"/>
                <a:cs typeface="Calibri" pitchFamily="34" charset="-120"/>
              </a:rPr>
              <a:t>South-1</a:t>
            </a:r>
            <a:endParaRPr lang="en-US" sz="740" dirty="0"/>
          </a:p>
        </p:txBody>
      </p:sp>
      <p:sp>
        <p:nvSpPr>
          <p:cNvPr id="80" name="Text 78"/>
          <p:cNvSpPr/>
          <p:nvPr/>
        </p:nvSpPr>
        <p:spPr>
          <a:xfrm>
            <a:off x="1325122" y="3602736"/>
            <a:ext cx="676858" cy="347472"/>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9.48</a:t>
            </a:r>
            <a:endParaRPr lang="en-US" sz="740" dirty="0"/>
          </a:p>
        </p:txBody>
      </p:sp>
      <p:sp>
        <p:nvSpPr>
          <p:cNvPr id="81" name="Text 79"/>
          <p:cNvSpPr/>
          <p:nvPr/>
        </p:nvSpPr>
        <p:spPr>
          <a:xfrm>
            <a:off x="2111708" y="3602736"/>
            <a:ext cx="676858" cy="347472"/>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8.18</a:t>
            </a:r>
            <a:endParaRPr lang="en-US" sz="740" dirty="0"/>
          </a:p>
        </p:txBody>
      </p:sp>
      <p:sp>
        <p:nvSpPr>
          <p:cNvPr id="82" name="Text 80"/>
          <p:cNvSpPr/>
          <p:nvPr/>
        </p:nvSpPr>
        <p:spPr>
          <a:xfrm>
            <a:off x="2898294" y="3602736"/>
            <a:ext cx="519541" cy="347472"/>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24.1%</a:t>
            </a:r>
            <a:endParaRPr lang="en-US" sz="740" dirty="0"/>
          </a:p>
        </p:txBody>
      </p:sp>
      <p:sp>
        <p:nvSpPr>
          <p:cNvPr id="83" name="Text 81"/>
          <p:cNvSpPr/>
          <p:nvPr/>
        </p:nvSpPr>
        <p:spPr>
          <a:xfrm>
            <a:off x="3527563" y="3602736"/>
            <a:ext cx="571980" cy="347472"/>
          </a:xfrm>
          <a:prstGeom prst="rect">
            <a:avLst/>
          </a:prstGeom>
          <a:noFill/>
          <a:ln/>
        </p:spPr>
        <p:txBody>
          <a:bodyPr wrap="square" lIns="0" tIns="0" rIns="0" bIns="0" rtlCol="0" anchor="ctr"/>
          <a:lstStyle/>
          <a:p>
            <a:pPr algn="r" indent="0" marL="0">
              <a:buNone/>
            </a:pPr>
            <a:r>
              <a:rPr lang="en-US" sz="740" b="1" dirty="0">
                <a:solidFill>
                  <a:srgbClr val="2B9A66"/>
                </a:solidFill>
                <a:latin typeface="Calibri" pitchFamily="34" charset="0"/>
                <a:ea typeface="Calibri" pitchFamily="34" charset="-122"/>
                <a:cs typeface="Calibri" pitchFamily="34" charset="-120"/>
              </a:rPr>
              <a:t>86.3%</a:t>
            </a:r>
            <a:endParaRPr lang="en-US" sz="740" dirty="0"/>
          </a:p>
        </p:txBody>
      </p:sp>
      <p:sp>
        <p:nvSpPr>
          <p:cNvPr id="84" name="Text 82"/>
          <p:cNvSpPr/>
          <p:nvPr/>
        </p:nvSpPr>
        <p:spPr>
          <a:xfrm>
            <a:off x="4209271" y="3602736"/>
            <a:ext cx="571980" cy="347472"/>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1.30</a:t>
            </a:r>
            <a:endParaRPr lang="en-US" sz="740" dirty="0"/>
          </a:p>
        </p:txBody>
      </p:sp>
      <p:sp>
        <p:nvSpPr>
          <p:cNvPr id="85" name="Text 83"/>
          <p:cNvSpPr/>
          <p:nvPr/>
        </p:nvSpPr>
        <p:spPr>
          <a:xfrm>
            <a:off x="4890979" y="3602736"/>
            <a:ext cx="895354" cy="347472"/>
          </a:xfrm>
          <a:prstGeom prst="rect">
            <a:avLst/>
          </a:prstGeom>
          <a:noFill/>
          <a:ln/>
        </p:spPr>
        <p:txBody>
          <a:bodyPr wrap="square" lIns="0" tIns="0" rIns="0" bIns="0" rtlCol="0" anchor="ctr"/>
          <a:lstStyle/>
          <a:p>
            <a:pPr algn="r" indent="0" marL="0">
              <a:buNone/>
            </a:pPr>
            <a:r>
              <a:rPr lang="en-US" sz="740" dirty="0">
                <a:solidFill>
                  <a:srgbClr val="5F716E"/>
                </a:solidFill>
                <a:latin typeface="Calibri" pitchFamily="34" charset="0"/>
                <a:ea typeface="Calibri" pitchFamily="34" charset="-122"/>
                <a:cs typeface="Calibri" pitchFamily="34" charset="-120"/>
              </a:rPr>
              <a:t>below floor</a:t>
            </a:r>
            <a:endParaRPr lang="en-US" sz="740" dirty="0"/>
          </a:p>
        </p:txBody>
      </p:sp>
      <p:sp>
        <p:nvSpPr>
          <p:cNvPr id="86" name="Text 84"/>
          <p:cNvSpPr/>
          <p:nvPr/>
        </p:nvSpPr>
        <p:spPr>
          <a:xfrm>
            <a:off x="5896061" y="3602736"/>
            <a:ext cx="641899" cy="347472"/>
          </a:xfrm>
          <a:prstGeom prst="rect">
            <a:avLst/>
          </a:prstGeom>
          <a:noFill/>
          <a:ln/>
        </p:spPr>
        <p:txBody>
          <a:bodyPr wrap="square" lIns="0" tIns="0" rIns="0" bIns="0" rtlCol="0" anchor="ctr"/>
          <a:lstStyle/>
          <a:p>
            <a:pPr algn="l" indent="0" marL="0">
              <a:buNone/>
            </a:pPr>
            <a:r>
              <a:rPr lang="en-US" sz="740" b="1" dirty="0">
                <a:solidFill>
                  <a:srgbClr val="2B9A66"/>
                </a:solidFill>
                <a:latin typeface="Calibri" pitchFamily="34" charset="0"/>
                <a:ea typeface="Calibri" pitchFamily="34" charset="-122"/>
                <a:cs typeface="Calibri" pitchFamily="34" charset="-120"/>
              </a:rPr>
              <a:t>PROTECT</a:t>
            </a:r>
            <a:endParaRPr lang="en-US" sz="740" dirty="0"/>
          </a:p>
        </p:txBody>
      </p:sp>
      <p:sp>
        <p:nvSpPr>
          <p:cNvPr id="87" name="Text 85"/>
          <p:cNvSpPr/>
          <p:nvPr/>
        </p:nvSpPr>
        <p:spPr>
          <a:xfrm>
            <a:off x="265176" y="4023360"/>
            <a:ext cx="6327648" cy="365760"/>
          </a:xfrm>
          <a:prstGeom prst="rect">
            <a:avLst/>
          </a:prstGeom>
          <a:noFill/>
          <a:ln/>
        </p:spPr>
        <p:txBody>
          <a:bodyPr wrap="square" lIns="0" tIns="0" rIns="0" bIns="0" rtlCol="0" anchor="t"/>
          <a:lstStyle/>
          <a:p>
            <a:pPr indent="0" marL="0">
              <a:lnSpc>
                <a:spcPct val="94000"/>
              </a:lnSpc>
              <a:buNone/>
            </a:pPr>
            <a:r>
              <a:rPr lang="en-US" sz="660" dirty="0">
                <a:solidFill>
                  <a:srgbClr val="5F716E"/>
                </a:solidFill>
                <a:latin typeface="Calibri" pitchFamily="34" charset="0"/>
                <a:ea typeface="Calibri" pitchFamily="34" charset="-122"/>
                <a:cs typeface="Calibri" pitchFamily="34" charset="-120"/>
              </a:rPr>
              <a:t>Benchmark = 85.73%, the mean MT conversion of West (85.2%) and South-1 (86.3%). Recoverable = primary × benchmark − actual offtake, holding primary flat; components are rounded to two decimals while the ₹6.22 Cr pool is computed on unrounded values. Zone gaps sum to ₹13.06 Cr. The previous pack headlined ₹13.11 Cr on a blended base that carried the Nykaa (FSN) eB2B account inside MT zone sales; that account is now reported as its own channel.</a:t>
            </a:r>
            <a:endParaRPr lang="en-US" sz="660" dirty="0"/>
          </a:p>
        </p:txBody>
      </p:sp>
      <p:sp>
        <p:nvSpPr>
          <p:cNvPr id="88" name="Shape 86"/>
          <p:cNvSpPr/>
          <p:nvPr/>
        </p:nvSpPr>
        <p:spPr>
          <a:xfrm>
            <a:off x="265176" y="4480560"/>
            <a:ext cx="2017776" cy="1920240"/>
          </a:xfrm>
          <a:prstGeom prst="roundRect">
            <a:avLst>
              <a:gd name="adj" fmla="val 952"/>
            </a:avLst>
          </a:prstGeom>
          <a:solidFill>
            <a:srgbClr val="FFFFFF"/>
          </a:solidFill>
          <a:ln w="9525">
            <a:solidFill>
              <a:srgbClr val="C8DCD7"/>
            </a:solidFill>
            <a:prstDash val="solid"/>
          </a:ln>
        </p:spPr>
      </p:sp>
      <p:sp>
        <p:nvSpPr>
          <p:cNvPr id="89" name="Shape 87"/>
          <p:cNvSpPr/>
          <p:nvPr/>
        </p:nvSpPr>
        <p:spPr>
          <a:xfrm>
            <a:off x="265176" y="4480560"/>
            <a:ext cx="2017776" cy="274320"/>
          </a:xfrm>
          <a:prstGeom prst="rect">
            <a:avLst/>
          </a:prstGeom>
          <a:solidFill>
            <a:srgbClr val="D6544D"/>
          </a:solidFill>
          <a:ln/>
        </p:spPr>
      </p:sp>
      <p:sp>
        <p:nvSpPr>
          <p:cNvPr id="90" name="Text 88"/>
          <p:cNvSpPr/>
          <p:nvPr/>
        </p:nvSpPr>
        <p:spPr>
          <a:xfrm>
            <a:off x="347472" y="4498848"/>
            <a:ext cx="1853184"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FIX — THE POOL</a:t>
            </a:r>
            <a:endParaRPr lang="en-US" sz="700" dirty="0"/>
          </a:p>
        </p:txBody>
      </p:sp>
      <p:sp>
        <p:nvSpPr>
          <p:cNvPr id="91" name="Text 89"/>
          <p:cNvSpPr/>
          <p:nvPr/>
        </p:nvSpPr>
        <p:spPr>
          <a:xfrm>
            <a:off x="356616" y="4846320"/>
            <a:ext cx="1834896" cy="329184"/>
          </a:xfrm>
          <a:prstGeom prst="rect">
            <a:avLst/>
          </a:prstGeom>
          <a:noFill/>
          <a:ln/>
        </p:spPr>
        <p:txBody>
          <a:bodyPr wrap="square" lIns="0" tIns="0" rIns="0" bIns="0" rtlCol="0" anchor="t"/>
          <a:lstStyle/>
          <a:p>
            <a:pPr algn="ctr" indent="0" marL="0">
              <a:buNone/>
            </a:pPr>
            <a:r>
              <a:rPr lang="en-US" sz="1600" b="1" dirty="0">
                <a:solidFill>
                  <a:srgbClr val="D6544D"/>
                </a:solidFill>
                <a:latin typeface="Calibri Light" pitchFamily="34" charset="0"/>
                <a:ea typeface="Calibri Light" pitchFamily="34" charset="-122"/>
                <a:cs typeface="Calibri Light" pitchFamily="34" charset="-120"/>
              </a:rPr>
              <a:t>₹6.22 Cr</a:t>
            </a:r>
            <a:endParaRPr lang="en-US" sz="1600" dirty="0"/>
          </a:p>
        </p:txBody>
      </p:sp>
      <p:sp>
        <p:nvSpPr>
          <p:cNvPr id="92" name="Text 90"/>
          <p:cNvSpPr/>
          <p:nvPr/>
        </p:nvSpPr>
        <p:spPr>
          <a:xfrm>
            <a:off x="356616" y="5193792"/>
            <a:ext cx="1834896" cy="164592"/>
          </a:xfrm>
          <a:prstGeom prst="rect">
            <a:avLst/>
          </a:prstGeom>
          <a:noFill/>
          <a:ln/>
        </p:spPr>
        <p:txBody>
          <a:bodyPr wrap="square" lIns="0" tIns="0" rIns="0" bIns="0" rtlCol="0" anchor="t"/>
          <a:lstStyle/>
          <a:p>
            <a:pPr algn="ctr" indent="0" marL="0">
              <a:buNone/>
            </a:pPr>
            <a:r>
              <a:rPr lang="en-US" sz="680" dirty="0">
                <a:solidFill>
                  <a:srgbClr val="5F716E"/>
                </a:solidFill>
                <a:latin typeface="Calibri" pitchFamily="34" charset="0"/>
                <a:ea typeface="Calibri" pitchFamily="34" charset="-122"/>
                <a:cs typeface="Calibri" pitchFamily="34" charset="-120"/>
              </a:rPr>
              <a:t>North, East and South-2 at benchmark</a:t>
            </a:r>
            <a:endParaRPr lang="en-US" sz="680" dirty="0"/>
          </a:p>
        </p:txBody>
      </p:sp>
      <p:sp>
        <p:nvSpPr>
          <p:cNvPr id="93" name="Shape 91"/>
          <p:cNvSpPr/>
          <p:nvPr/>
        </p:nvSpPr>
        <p:spPr>
          <a:xfrm>
            <a:off x="374904" y="5463540"/>
            <a:ext cx="50292" cy="50292"/>
          </a:xfrm>
          <a:prstGeom prst="ellipse">
            <a:avLst/>
          </a:prstGeom>
          <a:solidFill>
            <a:srgbClr val="D6544D"/>
          </a:solidFill>
          <a:ln/>
        </p:spPr>
      </p:sp>
      <p:sp>
        <p:nvSpPr>
          <p:cNvPr id="94" name="Text 92"/>
          <p:cNvSpPr/>
          <p:nvPr/>
        </p:nvSpPr>
        <p:spPr>
          <a:xfrm>
            <a:off x="493776" y="5413248"/>
            <a:ext cx="1679448" cy="329184"/>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North ₹2.78 Cr — highest primary, third-worst flow.</a:t>
            </a:r>
            <a:endParaRPr lang="en-US" sz="690" dirty="0"/>
          </a:p>
        </p:txBody>
      </p:sp>
      <p:sp>
        <p:nvSpPr>
          <p:cNvPr id="95" name="Shape 93"/>
          <p:cNvSpPr/>
          <p:nvPr/>
        </p:nvSpPr>
        <p:spPr>
          <a:xfrm>
            <a:off x="374904" y="5811012"/>
            <a:ext cx="50292" cy="50292"/>
          </a:xfrm>
          <a:prstGeom prst="ellipse">
            <a:avLst/>
          </a:prstGeom>
          <a:solidFill>
            <a:srgbClr val="D6544D"/>
          </a:solidFill>
          <a:ln/>
        </p:spPr>
      </p:sp>
      <p:sp>
        <p:nvSpPr>
          <p:cNvPr id="96" name="Text 94"/>
          <p:cNvSpPr/>
          <p:nvPr/>
        </p:nvSpPr>
        <p:spPr>
          <a:xfrm>
            <a:off x="493776" y="5760720"/>
            <a:ext cx="1679448" cy="329184"/>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East ₹2.54 Cr — worst flow, highest NPI mix.</a:t>
            </a:r>
            <a:endParaRPr lang="en-US" sz="690" dirty="0"/>
          </a:p>
        </p:txBody>
      </p:sp>
      <p:sp>
        <p:nvSpPr>
          <p:cNvPr id="97" name="Shape 95"/>
          <p:cNvSpPr/>
          <p:nvPr/>
        </p:nvSpPr>
        <p:spPr>
          <a:xfrm>
            <a:off x="374904" y="6158484"/>
            <a:ext cx="50292" cy="50292"/>
          </a:xfrm>
          <a:prstGeom prst="ellipse">
            <a:avLst/>
          </a:prstGeom>
          <a:solidFill>
            <a:srgbClr val="D6544D"/>
          </a:solidFill>
          <a:ln/>
        </p:spPr>
      </p:sp>
      <p:sp>
        <p:nvSpPr>
          <p:cNvPr id="98" name="Text 96"/>
          <p:cNvSpPr/>
          <p:nvPr/>
        </p:nvSpPr>
        <p:spPr>
          <a:xfrm>
            <a:off x="493776" y="6108192"/>
            <a:ext cx="1679448" cy="329184"/>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South-2 ₹0.90 Cr — newly above the floor once eB2B left its primary.</a:t>
            </a:r>
            <a:endParaRPr lang="en-US" sz="690" dirty="0"/>
          </a:p>
        </p:txBody>
      </p:sp>
      <p:sp>
        <p:nvSpPr>
          <p:cNvPr id="99" name="Shape 97"/>
          <p:cNvSpPr/>
          <p:nvPr/>
        </p:nvSpPr>
        <p:spPr>
          <a:xfrm>
            <a:off x="2420112" y="4480560"/>
            <a:ext cx="2017776" cy="1920240"/>
          </a:xfrm>
          <a:prstGeom prst="roundRect">
            <a:avLst>
              <a:gd name="adj" fmla="val 952"/>
            </a:avLst>
          </a:prstGeom>
          <a:solidFill>
            <a:srgbClr val="FFFFFF"/>
          </a:solidFill>
          <a:ln w="9525">
            <a:solidFill>
              <a:srgbClr val="C8DCD7"/>
            </a:solidFill>
            <a:prstDash val="solid"/>
          </a:ln>
        </p:spPr>
      </p:sp>
      <p:sp>
        <p:nvSpPr>
          <p:cNvPr id="100" name="Shape 98"/>
          <p:cNvSpPr/>
          <p:nvPr/>
        </p:nvSpPr>
        <p:spPr>
          <a:xfrm>
            <a:off x="2420112" y="4480560"/>
            <a:ext cx="2017776" cy="274320"/>
          </a:xfrm>
          <a:prstGeom prst="rect">
            <a:avLst/>
          </a:prstGeom>
          <a:solidFill>
            <a:srgbClr val="2B9A66"/>
          </a:solidFill>
          <a:ln/>
        </p:spPr>
      </p:sp>
      <p:sp>
        <p:nvSpPr>
          <p:cNvPr id="101" name="Text 99"/>
          <p:cNvSpPr/>
          <p:nvPr/>
        </p:nvSpPr>
        <p:spPr>
          <a:xfrm>
            <a:off x="2502408" y="4498848"/>
            <a:ext cx="1853184"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PROTECT — THE ENGINES</a:t>
            </a:r>
            <a:endParaRPr lang="en-US" sz="700" dirty="0"/>
          </a:p>
        </p:txBody>
      </p:sp>
      <p:sp>
        <p:nvSpPr>
          <p:cNvPr id="102" name="Text 100"/>
          <p:cNvSpPr/>
          <p:nvPr/>
        </p:nvSpPr>
        <p:spPr>
          <a:xfrm>
            <a:off x="2511552" y="4846320"/>
            <a:ext cx="1834896" cy="329184"/>
          </a:xfrm>
          <a:prstGeom prst="rect">
            <a:avLst/>
          </a:prstGeom>
          <a:noFill/>
          <a:ln/>
        </p:spPr>
        <p:txBody>
          <a:bodyPr wrap="square" lIns="0" tIns="0" rIns="0" bIns="0" rtlCol="0" anchor="t"/>
          <a:lstStyle/>
          <a:p>
            <a:pPr algn="ctr" indent="0" marL="0">
              <a:buNone/>
            </a:pPr>
            <a:r>
              <a:rPr lang="en-US" sz="1600" b="1" dirty="0">
                <a:solidFill>
                  <a:srgbClr val="2B9A66"/>
                </a:solidFill>
                <a:latin typeface="Calibri Light" pitchFamily="34" charset="0"/>
                <a:ea typeface="Calibri Light" pitchFamily="34" charset="-122"/>
                <a:cs typeface="Calibri Light" pitchFamily="34" charset="-120"/>
              </a:rPr>
              <a:t>₹16.45 Cr</a:t>
            </a:r>
            <a:endParaRPr lang="en-US" sz="1600" dirty="0"/>
          </a:p>
        </p:txBody>
      </p:sp>
      <p:sp>
        <p:nvSpPr>
          <p:cNvPr id="103" name="Text 101"/>
          <p:cNvSpPr/>
          <p:nvPr/>
        </p:nvSpPr>
        <p:spPr>
          <a:xfrm>
            <a:off x="2511552" y="5193792"/>
            <a:ext cx="1834896" cy="164592"/>
          </a:xfrm>
          <a:prstGeom prst="rect">
            <a:avLst/>
          </a:prstGeom>
          <a:noFill/>
          <a:ln/>
        </p:spPr>
        <p:txBody>
          <a:bodyPr wrap="square" lIns="0" tIns="0" rIns="0" bIns="0" rtlCol="0" anchor="t"/>
          <a:lstStyle/>
          <a:p>
            <a:pPr algn="ctr" indent="0" marL="0">
              <a:buNone/>
            </a:pPr>
            <a:r>
              <a:rPr lang="en-US" sz="680" dirty="0">
                <a:solidFill>
                  <a:srgbClr val="5F716E"/>
                </a:solidFill>
                <a:latin typeface="Calibri" pitchFamily="34" charset="0"/>
                <a:ea typeface="Calibri" pitchFamily="34" charset="-122"/>
                <a:cs typeface="Calibri" pitchFamily="34" charset="-120"/>
              </a:rPr>
              <a:t>West + South-1 offtake</a:t>
            </a:r>
            <a:endParaRPr lang="en-US" sz="680" dirty="0"/>
          </a:p>
        </p:txBody>
      </p:sp>
      <p:sp>
        <p:nvSpPr>
          <p:cNvPr id="104" name="Shape 102"/>
          <p:cNvSpPr/>
          <p:nvPr/>
        </p:nvSpPr>
        <p:spPr>
          <a:xfrm>
            <a:off x="2529840" y="5463540"/>
            <a:ext cx="50292" cy="50292"/>
          </a:xfrm>
          <a:prstGeom prst="ellipse">
            <a:avLst/>
          </a:prstGeom>
          <a:solidFill>
            <a:srgbClr val="2B9A66"/>
          </a:solidFill>
          <a:ln/>
        </p:spPr>
      </p:sp>
      <p:sp>
        <p:nvSpPr>
          <p:cNvPr id="105" name="Text 103"/>
          <p:cNvSpPr/>
          <p:nvPr/>
        </p:nvSpPr>
        <p:spPr>
          <a:xfrm>
            <a:off x="2648712" y="5413248"/>
            <a:ext cx="1679448" cy="329184"/>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48.4% of national MT offtake at 85–86% conversion.</a:t>
            </a:r>
            <a:endParaRPr lang="en-US" sz="690" dirty="0"/>
          </a:p>
        </p:txBody>
      </p:sp>
      <p:sp>
        <p:nvSpPr>
          <p:cNvPr id="106" name="Shape 104"/>
          <p:cNvSpPr/>
          <p:nvPr/>
        </p:nvSpPr>
        <p:spPr>
          <a:xfrm>
            <a:off x="2529840" y="5811012"/>
            <a:ext cx="50292" cy="50292"/>
          </a:xfrm>
          <a:prstGeom prst="ellipse">
            <a:avLst/>
          </a:prstGeom>
          <a:solidFill>
            <a:srgbClr val="2B9A66"/>
          </a:solidFill>
          <a:ln/>
        </p:spPr>
      </p:sp>
      <p:sp>
        <p:nvSpPr>
          <p:cNvPr id="107" name="Text 105"/>
          <p:cNvSpPr/>
          <p:nvPr/>
        </p:nvSpPr>
        <p:spPr>
          <a:xfrm>
            <a:off x="2648712" y="5760720"/>
            <a:ext cx="1679448" cy="329184"/>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No recovery pool here — the rate is already the benchmark.</a:t>
            </a:r>
            <a:endParaRPr lang="en-US" sz="690" dirty="0"/>
          </a:p>
        </p:txBody>
      </p:sp>
      <p:sp>
        <p:nvSpPr>
          <p:cNvPr id="108" name="Shape 106"/>
          <p:cNvSpPr/>
          <p:nvPr/>
        </p:nvSpPr>
        <p:spPr>
          <a:xfrm>
            <a:off x="2529840" y="6158484"/>
            <a:ext cx="50292" cy="50292"/>
          </a:xfrm>
          <a:prstGeom prst="ellipse">
            <a:avLst/>
          </a:prstGeom>
          <a:solidFill>
            <a:srgbClr val="2B9A66"/>
          </a:solidFill>
          <a:ln/>
        </p:spPr>
      </p:sp>
      <p:sp>
        <p:nvSpPr>
          <p:cNvPr id="109" name="Text 107"/>
          <p:cNvSpPr/>
          <p:nvPr/>
        </p:nvSpPr>
        <p:spPr>
          <a:xfrm>
            <a:off x="2648712" y="6108192"/>
            <a:ext cx="1679448" cy="329184"/>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Hold spend flat; redirect field capacity to North.</a:t>
            </a:r>
            <a:endParaRPr lang="en-US" sz="690" dirty="0"/>
          </a:p>
        </p:txBody>
      </p:sp>
      <p:sp>
        <p:nvSpPr>
          <p:cNvPr id="110" name="Shape 108"/>
          <p:cNvSpPr/>
          <p:nvPr/>
        </p:nvSpPr>
        <p:spPr>
          <a:xfrm>
            <a:off x="4575048" y="4480560"/>
            <a:ext cx="2017776" cy="1920240"/>
          </a:xfrm>
          <a:prstGeom prst="roundRect">
            <a:avLst>
              <a:gd name="adj" fmla="val 952"/>
            </a:avLst>
          </a:prstGeom>
          <a:solidFill>
            <a:srgbClr val="FFFFFF"/>
          </a:solidFill>
          <a:ln w="9525">
            <a:solidFill>
              <a:srgbClr val="C8DCD7"/>
            </a:solidFill>
            <a:prstDash val="solid"/>
          </a:ln>
        </p:spPr>
      </p:sp>
      <p:sp>
        <p:nvSpPr>
          <p:cNvPr id="111" name="Shape 109"/>
          <p:cNvSpPr/>
          <p:nvPr/>
        </p:nvSpPr>
        <p:spPr>
          <a:xfrm>
            <a:off x="4575048" y="4480560"/>
            <a:ext cx="2017776" cy="274320"/>
          </a:xfrm>
          <a:prstGeom prst="rect">
            <a:avLst/>
          </a:prstGeom>
          <a:solidFill>
            <a:srgbClr val="F2B84B"/>
          </a:solidFill>
          <a:ln/>
        </p:spPr>
      </p:sp>
      <p:sp>
        <p:nvSpPr>
          <p:cNvPr id="112" name="Text 110"/>
          <p:cNvSpPr/>
          <p:nvPr/>
        </p:nvSpPr>
        <p:spPr>
          <a:xfrm>
            <a:off x="4657344" y="4498848"/>
            <a:ext cx="1853184"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ISOLATE — ONE CELL</a:t>
            </a:r>
            <a:endParaRPr lang="en-US" sz="700" dirty="0"/>
          </a:p>
        </p:txBody>
      </p:sp>
      <p:sp>
        <p:nvSpPr>
          <p:cNvPr id="113" name="Text 111"/>
          <p:cNvSpPr/>
          <p:nvPr/>
        </p:nvSpPr>
        <p:spPr>
          <a:xfrm>
            <a:off x="4666488" y="4846320"/>
            <a:ext cx="1834896" cy="329184"/>
          </a:xfrm>
          <a:prstGeom prst="rect">
            <a:avLst/>
          </a:prstGeom>
          <a:noFill/>
          <a:ln/>
        </p:spPr>
        <p:txBody>
          <a:bodyPr wrap="square" lIns="0" tIns="0" rIns="0" bIns="0" rtlCol="0" anchor="t"/>
          <a:lstStyle/>
          <a:p>
            <a:pPr algn="ctr" indent="0" marL="0">
              <a:buNone/>
            </a:pPr>
            <a:r>
              <a:rPr lang="en-US" sz="1600" b="1" dirty="0">
                <a:solidFill>
                  <a:srgbClr val="F2B84B"/>
                </a:solidFill>
                <a:latin typeface="Calibri Light" pitchFamily="34" charset="0"/>
                <a:ea typeface="Calibri Light" pitchFamily="34" charset="-122"/>
                <a:cs typeface="Calibri Light" pitchFamily="34" charset="-120"/>
              </a:rPr>
              <a:t>₹0.89 Cr</a:t>
            </a:r>
            <a:endParaRPr lang="en-US" sz="1600" dirty="0"/>
          </a:p>
        </p:txBody>
      </p:sp>
      <p:sp>
        <p:nvSpPr>
          <p:cNvPr id="114" name="Text 112"/>
          <p:cNvSpPr/>
          <p:nvPr/>
        </p:nvSpPr>
        <p:spPr>
          <a:xfrm>
            <a:off x="4666488" y="5193792"/>
            <a:ext cx="1834896" cy="164592"/>
          </a:xfrm>
          <a:prstGeom prst="rect">
            <a:avLst/>
          </a:prstGeom>
          <a:noFill/>
          <a:ln/>
        </p:spPr>
        <p:txBody>
          <a:bodyPr wrap="square" lIns="0" tIns="0" rIns="0" bIns="0" rtlCol="0" anchor="t"/>
          <a:lstStyle/>
          <a:p>
            <a:pPr algn="ctr" indent="0" marL="0">
              <a:buNone/>
            </a:pPr>
            <a:r>
              <a:rPr lang="en-US" sz="680" dirty="0">
                <a:solidFill>
                  <a:srgbClr val="5F716E"/>
                </a:solidFill>
                <a:latin typeface="Calibri" pitchFamily="34" charset="0"/>
                <a:ea typeface="Calibri" pitchFamily="34" charset="-122"/>
                <a:cs typeface="Calibri" pitchFamily="34" charset="-120"/>
              </a:rPr>
              <a:t>South-2, almost all DMart</a:t>
            </a:r>
            <a:endParaRPr lang="en-US" sz="680" dirty="0"/>
          </a:p>
        </p:txBody>
      </p:sp>
      <p:sp>
        <p:nvSpPr>
          <p:cNvPr id="115" name="Shape 113"/>
          <p:cNvSpPr/>
          <p:nvPr/>
        </p:nvSpPr>
        <p:spPr>
          <a:xfrm>
            <a:off x="4684776" y="5463540"/>
            <a:ext cx="50292" cy="50292"/>
          </a:xfrm>
          <a:prstGeom prst="ellipse">
            <a:avLst/>
          </a:prstGeom>
          <a:solidFill>
            <a:srgbClr val="F2B84B"/>
          </a:solidFill>
          <a:ln/>
        </p:spPr>
      </p:sp>
      <p:sp>
        <p:nvSpPr>
          <p:cNvPr id="116" name="Text 114"/>
          <p:cNvSpPr/>
          <p:nvPr/>
        </p:nvSpPr>
        <p:spPr>
          <a:xfrm>
            <a:off x="4803648" y="5413248"/>
            <a:ext cx="1679448" cy="329184"/>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DMart South-2 converts 45.1% against 94–95% in West and Central.</a:t>
            </a:r>
            <a:endParaRPr lang="en-US" sz="690" dirty="0"/>
          </a:p>
        </p:txBody>
      </p:sp>
      <p:sp>
        <p:nvSpPr>
          <p:cNvPr id="117" name="Shape 115"/>
          <p:cNvSpPr/>
          <p:nvPr/>
        </p:nvSpPr>
        <p:spPr>
          <a:xfrm>
            <a:off x="4684776" y="5811012"/>
            <a:ext cx="50292" cy="50292"/>
          </a:xfrm>
          <a:prstGeom prst="ellipse">
            <a:avLst/>
          </a:prstGeom>
          <a:solidFill>
            <a:srgbClr val="F2B84B"/>
          </a:solidFill>
          <a:ln/>
        </p:spPr>
      </p:sp>
      <p:sp>
        <p:nvSpPr>
          <p:cNvPr id="118" name="Text 116"/>
          <p:cNvSpPr/>
          <p:nvPr/>
        </p:nvSpPr>
        <p:spPr>
          <a:xfrm>
            <a:off x="4803648" y="5760720"/>
            <a:ext cx="1679448" cy="329184"/>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A DC or fill problem, not a chain relationship problem.</a:t>
            </a:r>
            <a:endParaRPr lang="en-US" sz="690" dirty="0"/>
          </a:p>
        </p:txBody>
      </p:sp>
      <p:sp>
        <p:nvSpPr>
          <p:cNvPr id="119" name="Shape 117"/>
          <p:cNvSpPr/>
          <p:nvPr/>
        </p:nvSpPr>
        <p:spPr>
          <a:xfrm>
            <a:off x="4684776" y="6158484"/>
            <a:ext cx="50292" cy="50292"/>
          </a:xfrm>
          <a:prstGeom prst="ellipse">
            <a:avLst/>
          </a:prstGeom>
          <a:solidFill>
            <a:srgbClr val="F2B84B"/>
          </a:solidFill>
          <a:ln/>
        </p:spPr>
      </p:sp>
      <p:sp>
        <p:nvSpPr>
          <p:cNvPr id="120" name="Text 118"/>
          <p:cNvSpPr/>
          <p:nvPr/>
        </p:nvSpPr>
        <p:spPr>
          <a:xfrm>
            <a:off x="4803648" y="6108192"/>
            <a:ext cx="1679448" cy="329184"/>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Scope as a single-account audit, not a zone programme.</a:t>
            </a:r>
            <a:endParaRPr lang="en-US" sz="690" dirty="0"/>
          </a:p>
        </p:txBody>
      </p:sp>
      <p:sp>
        <p:nvSpPr>
          <p:cNvPr id="121" name="Shape 119"/>
          <p:cNvSpPr/>
          <p:nvPr/>
        </p:nvSpPr>
        <p:spPr>
          <a:xfrm>
            <a:off x="265176" y="6547104"/>
            <a:ext cx="6327648" cy="256032"/>
          </a:xfrm>
          <a:prstGeom prst="rect">
            <a:avLst/>
          </a:prstGeom>
          <a:solidFill>
            <a:srgbClr val="116F68"/>
          </a:solidFill>
          <a:ln/>
        </p:spPr>
      </p:sp>
      <p:sp>
        <p:nvSpPr>
          <p:cNvPr id="122" name="Text 120"/>
          <p:cNvSpPr/>
          <p:nvPr/>
        </p:nvSpPr>
        <p:spPr>
          <a:xfrm>
            <a:off x="374904" y="6565392"/>
            <a:ext cx="6108192" cy="219456"/>
          </a:xfrm>
          <a:prstGeom prst="rect">
            <a:avLst/>
          </a:prstGeom>
          <a:noFill/>
          <a:ln/>
        </p:spPr>
        <p:txBody>
          <a:bodyPr wrap="square" lIns="0" tIns="0" rIns="0" bIns="0" rtlCol="0" anchor="ctr"/>
          <a:lstStyle/>
          <a:p>
            <a:pPr indent="0" marL="0">
              <a:buNone/>
            </a:pPr>
            <a:r>
              <a:rPr lang="en-US" sz="720" b="1" spc="60" kern="0" dirty="0">
                <a:solidFill>
                  <a:srgbClr val="FFFFFF"/>
                </a:solidFill>
                <a:latin typeface="Calibri" pitchFamily="34" charset="0"/>
                <a:ea typeface="Calibri" pitchFamily="34" charset="-122"/>
                <a:cs typeface="Calibri" pitchFamily="34" charset="-120"/>
              </a:rPr>
              <a:t>PORTFOLIO ACTIONS</a:t>
            </a:r>
            <a:endParaRPr lang="en-US" sz="720" dirty="0"/>
          </a:p>
        </p:txBody>
      </p:sp>
      <p:sp>
        <p:nvSpPr>
          <p:cNvPr id="123" name="Shape 121"/>
          <p:cNvSpPr/>
          <p:nvPr/>
        </p:nvSpPr>
        <p:spPr>
          <a:xfrm>
            <a:off x="356616" y="6963156"/>
            <a:ext cx="50292" cy="50292"/>
          </a:xfrm>
          <a:prstGeom prst="ellipse">
            <a:avLst/>
          </a:prstGeom>
          <a:solidFill>
            <a:srgbClr val="183B39"/>
          </a:solidFill>
          <a:ln/>
        </p:spPr>
      </p:sp>
      <p:sp>
        <p:nvSpPr>
          <p:cNvPr id="124" name="Text 122"/>
          <p:cNvSpPr/>
          <p:nvPr/>
        </p:nvSpPr>
        <p:spPr>
          <a:xfrm>
            <a:off x="475488" y="6912864"/>
            <a:ext cx="6025896" cy="365760"/>
          </a:xfrm>
          <a:prstGeom prst="rect">
            <a:avLst/>
          </a:prstGeom>
          <a:noFill/>
          <a:ln/>
        </p:spPr>
        <p:txBody>
          <a:bodyPr wrap="square" lIns="0" tIns="0" rIns="0" bIns="0" rtlCol="0" anchor="t"/>
          <a:lstStyle/>
          <a:p>
            <a:pPr indent="0" marL="0">
              <a:lnSpc>
                <a:spcPct val="92000"/>
              </a:lnSpc>
              <a:buNone/>
            </a:pPr>
            <a:r>
              <a:rPr lang="en-US" sz="760" b="1" dirty="0">
                <a:solidFill>
                  <a:srgbClr val="183B39"/>
                </a:solidFill>
                <a:latin typeface="Calibri" pitchFamily="34" charset="0"/>
                <a:ea typeface="Calibri" pitchFamily="34" charset="-122"/>
                <a:cs typeface="Calibri" pitchFamily="34" charset="-120"/>
              </a:rPr>
              <a:t>Fix — North and East: weekly chain × state × hero-EAN gap closure against a ₹2.78 Cr and ₹2.54 Cr target. Owner: zone ZSMs.</a:t>
            </a:r>
            <a:endParaRPr lang="en-US" sz="760" dirty="0"/>
          </a:p>
        </p:txBody>
      </p:sp>
      <p:sp>
        <p:nvSpPr>
          <p:cNvPr id="125" name="Shape 123"/>
          <p:cNvSpPr/>
          <p:nvPr/>
        </p:nvSpPr>
        <p:spPr>
          <a:xfrm>
            <a:off x="356616" y="7347204"/>
            <a:ext cx="50292" cy="50292"/>
          </a:xfrm>
          <a:prstGeom prst="ellipse">
            <a:avLst/>
          </a:prstGeom>
          <a:solidFill>
            <a:srgbClr val="28A596"/>
          </a:solidFill>
          <a:ln/>
        </p:spPr>
      </p:sp>
      <p:sp>
        <p:nvSpPr>
          <p:cNvPr id="126" name="Text 124"/>
          <p:cNvSpPr/>
          <p:nvPr/>
        </p:nvSpPr>
        <p:spPr>
          <a:xfrm>
            <a:off x="475488" y="7296912"/>
            <a:ext cx="6025896" cy="365760"/>
          </a:xfrm>
          <a:prstGeom prst="rect">
            <a:avLst/>
          </a:prstGeom>
          <a:noFill/>
          <a:ln/>
        </p:spPr>
        <p:txBody>
          <a:bodyPr wrap="square" lIns="0" tIns="0" rIns="0" bIns="0" rtlCol="0" anchor="t"/>
          <a:lstStyle/>
          <a:p>
            <a:pPr indent="0" marL="0">
              <a:lnSpc>
                <a:spcPct val="92000"/>
              </a:lnSpc>
              <a:buNone/>
            </a:pPr>
            <a:r>
              <a:rPr lang="en-US" sz="760" dirty="0">
                <a:solidFill>
                  <a:srgbClr val="183B39"/>
                </a:solidFill>
                <a:latin typeface="Calibri" pitchFamily="34" charset="0"/>
                <a:ea typeface="Calibri" pitchFamily="34" charset="-122"/>
                <a:cs typeface="Calibri" pitchFamily="34" charset="-120"/>
              </a:rPr>
              <a:t>Fix — South-2: now clears the floor at ₹0.90 Cr. Audit DMart DC-to-store fill against the West benchmark. Owner: NKAM DMart + Supply, 22 Aug.</a:t>
            </a:r>
            <a:endParaRPr lang="en-US" sz="760" dirty="0"/>
          </a:p>
        </p:txBody>
      </p:sp>
      <p:sp>
        <p:nvSpPr>
          <p:cNvPr id="127" name="Shape 125"/>
          <p:cNvSpPr/>
          <p:nvPr/>
        </p:nvSpPr>
        <p:spPr>
          <a:xfrm>
            <a:off x="356616" y="7731252"/>
            <a:ext cx="50292" cy="50292"/>
          </a:xfrm>
          <a:prstGeom prst="ellipse">
            <a:avLst/>
          </a:prstGeom>
          <a:solidFill>
            <a:srgbClr val="28A596"/>
          </a:solidFill>
          <a:ln/>
        </p:spPr>
      </p:sp>
      <p:sp>
        <p:nvSpPr>
          <p:cNvPr id="128" name="Text 126"/>
          <p:cNvSpPr/>
          <p:nvPr/>
        </p:nvSpPr>
        <p:spPr>
          <a:xfrm>
            <a:off x="475488" y="7680960"/>
            <a:ext cx="6025896" cy="365760"/>
          </a:xfrm>
          <a:prstGeom prst="rect">
            <a:avLst/>
          </a:prstGeom>
          <a:noFill/>
          <a:ln/>
        </p:spPr>
        <p:txBody>
          <a:bodyPr wrap="square" lIns="0" tIns="0" rIns="0" bIns="0" rtlCol="0" anchor="t"/>
          <a:lstStyle/>
          <a:p>
            <a:pPr indent="0" marL="0">
              <a:lnSpc>
                <a:spcPct val="92000"/>
              </a:lnSpc>
              <a:buNone/>
            </a:pPr>
            <a:r>
              <a:rPr lang="en-US" sz="760" dirty="0">
                <a:solidFill>
                  <a:srgbClr val="183B39"/>
                </a:solidFill>
                <a:latin typeface="Calibri" pitchFamily="34" charset="0"/>
                <a:ea typeface="Calibri" pitchFamily="34" charset="-122"/>
                <a:cs typeface="Calibri" pitchFamily="34" charset="-120"/>
              </a:rPr>
              <a:t>Protect — West, South-1: hold hero-SKU OSA, avoid unnecessary loading, document DMart West cadence as the national template.</a:t>
            </a:r>
            <a:endParaRPr lang="en-US" sz="760" dirty="0"/>
          </a:p>
        </p:txBody>
      </p:sp>
      <p:sp>
        <p:nvSpPr>
          <p:cNvPr id="129" name="Shape 127"/>
          <p:cNvSpPr/>
          <p:nvPr/>
        </p:nvSpPr>
        <p:spPr>
          <a:xfrm>
            <a:off x="356616" y="8115300"/>
            <a:ext cx="50292" cy="50292"/>
          </a:xfrm>
          <a:prstGeom prst="ellipse">
            <a:avLst/>
          </a:prstGeom>
          <a:solidFill>
            <a:srgbClr val="5F716E"/>
          </a:solidFill>
          <a:ln/>
        </p:spPr>
      </p:sp>
      <p:sp>
        <p:nvSpPr>
          <p:cNvPr id="130" name="Text 128"/>
          <p:cNvSpPr/>
          <p:nvPr/>
        </p:nvSpPr>
        <p:spPr>
          <a:xfrm>
            <a:off x="475488" y="8065008"/>
            <a:ext cx="6025896" cy="365760"/>
          </a:xfrm>
          <a:prstGeom prst="rect">
            <a:avLst/>
          </a:prstGeom>
          <a:noFill/>
          <a:ln/>
        </p:spPr>
        <p:txBody>
          <a:bodyPr wrap="square" lIns="0" tIns="0" rIns="0" bIns="0" rtlCol="0" anchor="t"/>
          <a:lstStyle/>
          <a:p>
            <a:pPr indent="0" marL="0">
              <a:lnSpc>
                <a:spcPct val="92000"/>
              </a:lnSpc>
              <a:buNone/>
            </a:pPr>
            <a:r>
              <a:rPr lang="en-US" sz="760" dirty="0">
                <a:solidFill>
                  <a:srgbClr val="183B39"/>
                </a:solidFill>
                <a:latin typeface="Calibri" pitchFamily="34" charset="0"/>
                <a:ea typeface="Calibri" pitchFamily="34" charset="-122"/>
                <a:cs typeface="Calibri" pitchFamily="34" charset="-120"/>
              </a:rPr>
              <a:t>Exception-report — Central and West: ₹0.13 Cr and ₹0.05 Cr recoverable are below the ₹0.25 Cr floor; keep them out of the weekly review.</a:t>
            </a:r>
            <a:endParaRPr lang="en-US" sz="760" dirty="0"/>
          </a:p>
        </p:txBody>
      </p:sp>
      <p:sp>
        <p:nvSpPr>
          <p:cNvPr id="131" name="Shape 129"/>
          <p:cNvSpPr/>
          <p:nvPr/>
        </p:nvSpPr>
        <p:spPr>
          <a:xfrm>
            <a:off x="356616" y="8499348"/>
            <a:ext cx="50292" cy="50292"/>
          </a:xfrm>
          <a:prstGeom prst="ellipse">
            <a:avLst/>
          </a:prstGeom>
          <a:solidFill>
            <a:srgbClr val="2E7DA8"/>
          </a:solidFill>
          <a:ln/>
        </p:spPr>
      </p:sp>
      <p:sp>
        <p:nvSpPr>
          <p:cNvPr id="132" name="Text 130"/>
          <p:cNvSpPr/>
          <p:nvPr/>
        </p:nvSpPr>
        <p:spPr>
          <a:xfrm>
            <a:off x="475488" y="8449056"/>
            <a:ext cx="6025896" cy="365760"/>
          </a:xfrm>
          <a:prstGeom prst="rect">
            <a:avLst/>
          </a:prstGeom>
          <a:noFill/>
          <a:ln/>
        </p:spPr>
        <p:txBody>
          <a:bodyPr wrap="square" lIns="0" tIns="0" rIns="0" bIns="0" rtlCol="0" anchor="t"/>
          <a:lstStyle/>
          <a:p>
            <a:pPr indent="0" marL="0">
              <a:lnSpc>
                <a:spcPct val="92000"/>
              </a:lnSpc>
              <a:buNone/>
            </a:pPr>
            <a:r>
              <a:rPr lang="en-US" sz="760" dirty="0">
                <a:solidFill>
                  <a:srgbClr val="183B39"/>
                </a:solidFill>
                <a:latin typeface="Calibri" pitchFamily="34" charset="0"/>
                <a:ea typeface="Calibri" pitchFamily="34" charset="-122"/>
                <a:cs typeface="Calibri" pitchFamily="34" charset="-120"/>
              </a:rPr>
              <a:t>Separate — eB2B (₹2.20 Cr) and SIS now report as their own channels on pages 13 and 14, outside every MT zone figure.</a:t>
            </a:r>
            <a:endParaRPr lang="en-US" sz="760" dirty="0"/>
          </a:p>
        </p:txBody>
      </p:sp>
      <p:sp>
        <p:nvSpPr>
          <p:cNvPr id="133" name="Shape 131"/>
          <p:cNvSpPr/>
          <p:nvPr/>
        </p:nvSpPr>
        <p:spPr>
          <a:xfrm>
            <a:off x="265176" y="8906256"/>
            <a:ext cx="6327648" cy="256032"/>
          </a:xfrm>
          <a:prstGeom prst="rect">
            <a:avLst/>
          </a:prstGeom>
          <a:solidFill>
            <a:srgbClr val="D6544D"/>
          </a:solidFill>
          <a:ln/>
        </p:spPr>
      </p:sp>
      <p:sp>
        <p:nvSpPr>
          <p:cNvPr id="134" name="Text 132"/>
          <p:cNvSpPr/>
          <p:nvPr/>
        </p:nvSpPr>
        <p:spPr>
          <a:xfrm>
            <a:off x="374904" y="8924544"/>
            <a:ext cx="6108192" cy="219456"/>
          </a:xfrm>
          <a:prstGeom prst="rect">
            <a:avLst/>
          </a:prstGeom>
          <a:noFill/>
          <a:ln/>
        </p:spPr>
        <p:txBody>
          <a:bodyPr wrap="square" lIns="0" tIns="0" rIns="0" bIns="0" rtlCol="0" anchor="ctr"/>
          <a:lstStyle/>
          <a:p>
            <a:pPr indent="0" marL="0">
              <a:buNone/>
            </a:pPr>
            <a:r>
              <a:rPr lang="en-US" sz="720" b="1" spc="60" kern="0" dirty="0">
                <a:solidFill>
                  <a:srgbClr val="FFFFFF"/>
                </a:solidFill>
                <a:latin typeface="Calibri" pitchFamily="34" charset="0"/>
                <a:ea typeface="Calibri" pitchFamily="34" charset="-122"/>
                <a:cs typeface="Calibri" pitchFamily="34" charset="-120"/>
              </a:rPr>
              <a:t>WHY THIS IS A CONVERSION PROBLEM AND NOT A DEMAND PROBLEM</a:t>
            </a:r>
            <a:endParaRPr lang="en-US" sz="720" dirty="0"/>
          </a:p>
        </p:txBody>
      </p:sp>
      <p:sp>
        <p:nvSpPr>
          <p:cNvPr id="135" name="Shape 133"/>
          <p:cNvSpPr/>
          <p:nvPr/>
        </p:nvSpPr>
        <p:spPr>
          <a:xfrm>
            <a:off x="265176" y="9253728"/>
            <a:ext cx="3090672" cy="1517904"/>
          </a:xfrm>
          <a:prstGeom prst="roundRect">
            <a:avLst>
              <a:gd name="adj" fmla="val 1205"/>
            </a:avLst>
          </a:prstGeom>
          <a:solidFill>
            <a:srgbClr val="FFFFFF"/>
          </a:solidFill>
          <a:ln w="9525">
            <a:solidFill>
              <a:srgbClr val="C8DCD7"/>
            </a:solidFill>
            <a:prstDash val="solid"/>
          </a:ln>
        </p:spPr>
      </p:sp>
      <p:sp>
        <p:nvSpPr>
          <p:cNvPr id="136" name="Shape 134"/>
          <p:cNvSpPr/>
          <p:nvPr/>
        </p:nvSpPr>
        <p:spPr>
          <a:xfrm>
            <a:off x="265176" y="9253728"/>
            <a:ext cx="3090672" cy="274320"/>
          </a:xfrm>
          <a:prstGeom prst="rect">
            <a:avLst/>
          </a:prstGeom>
          <a:solidFill>
            <a:srgbClr val="D6544D"/>
          </a:solidFill>
          <a:ln/>
        </p:spPr>
      </p:sp>
      <p:sp>
        <p:nvSpPr>
          <p:cNvPr id="137" name="Text 135"/>
          <p:cNvSpPr/>
          <p:nvPr/>
        </p:nvSpPr>
        <p:spPr>
          <a:xfrm>
            <a:off x="347472" y="9272016"/>
            <a:ext cx="2926080"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THE SAME PORTFOLIO, SIX DIFFERENT OUTCOMES</a:t>
            </a:r>
            <a:endParaRPr lang="en-US" sz="700" dirty="0"/>
          </a:p>
        </p:txBody>
      </p:sp>
      <p:sp>
        <p:nvSpPr>
          <p:cNvPr id="138" name="Shape 136"/>
          <p:cNvSpPr/>
          <p:nvPr/>
        </p:nvSpPr>
        <p:spPr>
          <a:xfrm>
            <a:off x="374904" y="9706356"/>
            <a:ext cx="50292" cy="50292"/>
          </a:xfrm>
          <a:prstGeom prst="ellipse">
            <a:avLst/>
          </a:prstGeom>
          <a:solidFill>
            <a:srgbClr val="D6544D"/>
          </a:solidFill>
          <a:ln/>
        </p:spPr>
      </p:sp>
      <p:sp>
        <p:nvSpPr>
          <p:cNvPr id="139" name="Text 137"/>
          <p:cNvSpPr/>
          <p:nvPr/>
        </p:nvSpPr>
        <p:spPr>
          <a:xfrm>
            <a:off x="493776" y="9656064"/>
            <a:ext cx="2752344" cy="329184"/>
          </a:xfrm>
          <a:prstGeom prst="rect">
            <a:avLst/>
          </a:prstGeom>
          <a:noFill/>
          <a:ln/>
        </p:spPr>
        <p:txBody>
          <a:bodyPr wrap="square" lIns="0" tIns="0" rIns="0" bIns="0" rtlCol="0" anchor="t"/>
          <a:lstStyle/>
          <a:p>
            <a:pPr indent="0" marL="0">
              <a:lnSpc>
                <a:spcPct val="92000"/>
              </a:lnSpc>
              <a:buNone/>
            </a:pPr>
            <a:r>
              <a:rPr lang="en-US" sz="710" b="1" dirty="0">
                <a:solidFill>
                  <a:srgbClr val="183B39"/>
                </a:solidFill>
                <a:latin typeface="Calibri" pitchFamily="34" charset="0"/>
                <a:ea typeface="Calibri" pitchFamily="34" charset="-122"/>
                <a:cs typeface="Calibri" pitchFamily="34" charset="-120"/>
              </a:rPr>
              <a:t>Every zone sells the same brands, packs and price list.</a:t>
            </a:r>
            <a:endParaRPr lang="en-US" sz="710" dirty="0"/>
          </a:p>
        </p:txBody>
      </p:sp>
      <p:sp>
        <p:nvSpPr>
          <p:cNvPr id="140" name="Shape 138"/>
          <p:cNvSpPr/>
          <p:nvPr/>
        </p:nvSpPr>
        <p:spPr>
          <a:xfrm>
            <a:off x="374904" y="10053828"/>
            <a:ext cx="50292" cy="50292"/>
          </a:xfrm>
          <a:prstGeom prst="ellipse">
            <a:avLst/>
          </a:prstGeom>
          <a:solidFill>
            <a:srgbClr val="D6544D"/>
          </a:solidFill>
          <a:ln/>
        </p:spPr>
      </p:sp>
      <p:sp>
        <p:nvSpPr>
          <p:cNvPr id="141" name="Text 139"/>
          <p:cNvSpPr/>
          <p:nvPr/>
        </p:nvSpPr>
        <p:spPr>
          <a:xfrm>
            <a:off x="493776" y="10003536"/>
            <a:ext cx="2752344" cy="329184"/>
          </a:xfrm>
          <a:prstGeom prst="rect">
            <a:avLst/>
          </a:prstGeom>
          <a:noFill/>
          <a:ln/>
        </p:spPr>
        <p:txBody>
          <a:bodyPr wrap="square" lIns="0" tIns="0" rIns="0" bIns="0" rtlCol="0" anchor="t"/>
          <a:lstStyle/>
          <a:p>
            <a:pPr indent="0" marL="0">
              <a:lnSpc>
                <a:spcPct val="92000"/>
              </a:lnSpc>
              <a:buNone/>
            </a:pPr>
            <a:r>
              <a:rPr lang="en-US" sz="710" dirty="0">
                <a:solidFill>
                  <a:srgbClr val="183B39"/>
                </a:solidFill>
                <a:latin typeface="Calibri" pitchFamily="34" charset="0"/>
                <a:ea typeface="Calibri" pitchFamily="34" charset="-122"/>
                <a:cs typeface="Calibri" pitchFamily="34" charset="-120"/>
              </a:rPr>
              <a:t>Conversion still ranges from 49.9% to 86.3% — a 38-point spread.</a:t>
            </a:r>
            <a:endParaRPr lang="en-US" sz="710" dirty="0"/>
          </a:p>
        </p:txBody>
      </p:sp>
      <p:sp>
        <p:nvSpPr>
          <p:cNvPr id="142" name="Shape 140"/>
          <p:cNvSpPr/>
          <p:nvPr/>
        </p:nvSpPr>
        <p:spPr>
          <a:xfrm>
            <a:off x="374904" y="10401300"/>
            <a:ext cx="50292" cy="50292"/>
          </a:xfrm>
          <a:prstGeom prst="ellipse">
            <a:avLst/>
          </a:prstGeom>
          <a:solidFill>
            <a:srgbClr val="D6544D"/>
          </a:solidFill>
          <a:ln/>
        </p:spPr>
      </p:sp>
      <p:sp>
        <p:nvSpPr>
          <p:cNvPr id="143" name="Text 141"/>
          <p:cNvSpPr/>
          <p:nvPr/>
        </p:nvSpPr>
        <p:spPr>
          <a:xfrm>
            <a:off x="493776" y="10351008"/>
            <a:ext cx="2752344" cy="329184"/>
          </a:xfrm>
          <a:prstGeom prst="rect">
            <a:avLst/>
          </a:prstGeom>
          <a:noFill/>
          <a:ln/>
        </p:spPr>
        <p:txBody>
          <a:bodyPr wrap="square" lIns="0" tIns="0" rIns="0" bIns="0" rtlCol="0" anchor="t"/>
          <a:lstStyle/>
          <a:p>
            <a:pPr indent="0" marL="0">
              <a:lnSpc>
                <a:spcPct val="92000"/>
              </a:lnSpc>
              <a:buNone/>
            </a:pPr>
            <a:r>
              <a:rPr lang="en-US" sz="710" dirty="0">
                <a:solidFill>
                  <a:srgbClr val="183B39"/>
                </a:solidFill>
                <a:latin typeface="Calibri" pitchFamily="34" charset="0"/>
                <a:ea typeface="Calibri" pitchFamily="34" charset="-122"/>
                <a:cs typeface="Calibri" pitchFamily="34" charset="-120"/>
              </a:rPr>
              <a:t>That rules out product, pricing and proposition, and leaves execution.</a:t>
            </a:r>
            <a:endParaRPr lang="en-US" sz="710" dirty="0"/>
          </a:p>
        </p:txBody>
      </p:sp>
      <p:sp>
        <p:nvSpPr>
          <p:cNvPr id="144" name="Shape 142"/>
          <p:cNvSpPr/>
          <p:nvPr/>
        </p:nvSpPr>
        <p:spPr>
          <a:xfrm>
            <a:off x="3502152" y="9253728"/>
            <a:ext cx="3090672" cy="1517904"/>
          </a:xfrm>
          <a:prstGeom prst="roundRect">
            <a:avLst>
              <a:gd name="adj" fmla="val 1205"/>
            </a:avLst>
          </a:prstGeom>
          <a:solidFill>
            <a:srgbClr val="FFFFFF"/>
          </a:solidFill>
          <a:ln w="9525">
            <a:solidFill>
              <a:srgbClr val="C8DCD7"/>
            </a:solidFill>
            <a:prstDash val="solid"/>
          </a:ln>
        </p:spPr>
      </p:sp>
      <p:sp>
        <p:nvSpPr>
          <p:cNvPr id="145" name="Shape 143"/>
          <p:cNvSpPr/>
          <p:nvPr/>
        </p:nvSpPr>
        <p:spPr>
          <a:xfrm>
            <a:off x="3502152" y="9253728"/>
            <a:ext cx="3090672" cy="274320"/>
          </a:xfrm>
          <a:prstGeom prst="rect">
            <a:avLst/>
          </a:prstGeom>
          <a:solidFill>
            <a:srgbClr val="5F716E"/>
          </a:solidFill>
          <a:ln/>
        </p:spPr>
      </p:sp>
      <p:sp>
        <p:nvSpPr>
          <p:cNvPr id="146" name="Text 144"/>
          <p:cNvSpPr/>
          <p:nvPr/>
        </p:nvSpPr>
        <p:spPr>
          <a:xfrm>
            <a:off x="3584448" y="9272016"/>
            <a:ext cx="2926080"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WHAT WOULD CHANGE THIS READ</a:t>
            </a:r>
            <a:endParaRPr lang="en-US" sz="700" dirty="0"/>
          </a:p>
        </p:txBody>
      </p:sp>
      <p:sp>
        <p:nvSpPr>
          <p:cNvPr id="147" name="Shape 145"/>
          <p:cNvSpPr/>
          <p:nvPr/>
        </p:nvSpPr>
        <p:spPr>
          <a:xfrm>
            <a:off x="3611880" y="9706356"/>
            <a:ext cx="50292" cy="50292"/>
          </a:xfrm>
          <a:prstGeom prst="ellipse">
            <a:avLst/>
          </a:prstGeom>
          <a:solidFill>
            <a:srgbClr val="5F716E"/>
          </a:solidFill>
          <a:ln/>
        </p:spPr>
      </p:sp>
      <p:sp>
        <p:nvSpPr>
          <p:cNvPr id="148" name="Text 146"/>
          <p:cNvSpPr/>
          <p:nvPr/>
        </p:nvSpPr>
        <p:spPr>
          <a:xfrm>
            <a:off x="3730752" y="9656064"/>
            <a:ext cx="2752344" cy="329184"/>
          </a:xfrm>
          <a:prstGeom prst="rect">
            <a:avLst/>
          </a:prstGeom>
          <a:noFill/>
          <a:ln/>
        </p:spPr>
        <p:txBody>
          <a:bodyPr wrap="square" lIns="0" tIns="0" rIns="0" bIns="0" rtlCol="0" anchor="t"/>
          <a:lstStyle/>
          <a:p>
            <a:pPr indent="0" marL="0">
              <a:lnSpc>
                <a:spcPct val="92000"/>
              </a:lnSpc>
              <a:buNone/>
            </a:pPr>
            <a:r>
              <a:rPr lang="en-US" sz="710" b="1" dirty="0">
                <a:solidFill>
                  <a:srgbClr val="183B39"/>
                </a:solidFill>
                <a:latin typeface="Calibri" pitchFamily="34" charset="0"/>
                <a:ea typeface="Calibri" pitchFamily="34" charset="-122"/>
                <a:cs typeface="Calibri" pitchFamily="34" charset="-120"/>
              </a:rPr>
              <a:t>Closing stock by chain — a gap can also be trade inventory in transit.</a:t>
            </a:r>
            <a:endParaRPr lang="en-US" sz="710" dirty="0"/>
          </a:p>
        </p:txBody>
      </p:sp>
      <p:sp>
        <p:nvSpPr>
          <p:cNvPr id="149" name="Shape 147"/>
          <p:cNvSpPr/>
          <p:nvPr/>
        </p:nvSpPr>
        <p:spPr>
          <a:xfrm>
            <a:off x="3611880" y="10053828"/>
            <a:ext cx="50292" cy="50292"/>
          </a:xfrm>
          <a:prstGeom prst="ellipse">
            <a:avLst/>
          </a:prstGeom>
          <a:solidFill>
            <a:srgbClr val="5F716E"/>
          </a:solidFill>
          <a:ln/>
        </p:spPr>
      </p:sp>
      <p:sp>
        <p:nvSpPr>
          <p:cNvPr id="150" name="Text 148"/>
          <p:cNvSpPr/>
          <p:nvPr/>
        </p:nvSpPr>
        <p:spPr>
          <a:xfrm>
            <a:off x="3730752" y="10003536"/>
            <a:ext cx="2752344" cy="329184"/>
          </a:xfrm>
          <a:prstGeom prst="rect">
            <a:avLst/>
          </a:prstGeom>
          <a:noFill/>
          <a:ln/>
        </p:spPr>
        <p:txBody>
          <a:bodyPr wrap="square" lIns="0" tIns="0" rIns="0" bIns="0" rtlCol="0" anchor="t"/>
          <a:lstStyle/>
          <a:p>
            <a:pPr indent="0" marL="0">
              <a:lnSpc>
                <a:spcPct val="92000"/>
              </a:lnSpc>
              <a:buNone/>
            </a:pPr>
            <a:r>
              <a:rPr lang="en-US" sz="710" dirty="0">
                <a:solidFill>
                  <a:srgbClr val="183B39"/>
                </a:solidFill>
                <a:latin typeface="Calibri" pitchFamily="34" charset="0"/>
                <a:ea typeface="Calibri" pitchFamily="34" charset="-122"/>
                <a:cs typeface="Calibri" pitchFamily="34" charset="-120"/>
              </a:rPr>
              <a:t>OOS and OSA by store — the direct test of the execution hypothesis.</a:t>
            </a:r>
            <a:endParaRPr lang="en-US" sz="710" dirty="0"/>
          </a:p>
        </p:txBody>
      </p:sp>
      <p:sp>
        <p:nvSpPr>
          <p:cNvPr id="151" name="Shape 149"/>
          <p:cNvSpPr/>
          <p:nvPr/>
        </p:nvSpPr>
        <p:spPr>
          <a:xfrm>
            <a:off x="3611880" y="10401300"/>
            <a:ext cx="50292" cy="50292"/>
          </a:xfrm>
          <a:prstGeom prst="ellipse">
            <a:avLst/>
          </a:prstGeom>
          <a:solidFill>
            <a:srgbClr val="5F716E"/>
          </a:solidFill>
          <a:ln/>
        </p:spPr>
      </p:sp>
      <p:sp>
        <p:nvSpPr>
          <p:cNvPr id="152" name="Text 150"/>
          <p:cNvSpPr/>
          <p:nvPr/>
        </p:nvSpPr>
        <p:spPr>
          <a:xfrm>
            <a:off x="3730752" y="10351008"/>
            <a:ext cx="2752344" cy="329184"/>
          </a:xfrm>
          <a:prstGeom prst="rect">
            <a:avLst/>
          </a:prstGeom>
          <a:noFill/>
          <a:ln/>
        </p:spPr>
        <p:txBody>
          <a:bodyPr wrap="square" lIns="0" tIns="0" rIns="0" bIns="0" rtlCol="0" anchor="t"/>
          <a:lstStyle/>
          <a:p>
            <a:pPr indent="0" marL="0">
              <a:lnSpc>
                <a:spcPct val="92000"/>
              </a:lnSpc>
              <a:buNone/>
            </a:pPr>
            <a:r>
              <a:rPr lang="en-US" sz="710" dirty="0">
                <a:solidFill>
                  <a:srgbClr val="183B39"/>
                </a:solidFill>
                <a:latin typeface="Calibri" pitchFamily="34" charset="0"/>
                <a:ea typeface="Calibri" pitchFamily="34" charset="-122"/>
                <a:cs typeface="Calibri" pitchFamily="34" charset="-120"/>
              </a:rPr>
              <a:t>Until both reconcile, this page sizes an opportunity; it does not prove a cause.</a:t>
            </a:r>
            <a:endParaRPr lang="en-US" sz="71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A"/>
        </a:solidFill>
      </p:bgPr>
    </p:bg>
    <p:spTree>
      <p:nvGrpSpPr>
        <p:cNvPr id="1" name=""/>
        <p:cNvGrpSpPr/>
        <p:nvPr/>
      </p:nvGrpSpPr>
      <p:grpSpPr>
        <a:xfrm>
          <a:off x="0" y="0"/>
          <a:ext cx="0" cy="0"/>
          <a:chOff x="0" y="0"/>
          <a:chExt cx="0" cy="0"/>
        </a:xfrm>
      </p:grpSpPr>
      <p:sp>
        <p:nvSpPr>
          <p:cNvPr id="2" name="Shape 0"/>
          <p:cNvSpPr/>
          <p:nvPr/>
        </p:nvSpPr>
        <p:spPr>
          <a:xfrm>
            <a:off x="0" y="0"/>
            <a:ext cx="6858000" cy="1133856"/>
          </a:xfrm>
          <a:prstGeom prst="rect">
            <a:avLst/>
          </a:prstGeom>
          <a:solidFill>
            <a:srgbClr val="116F68"/>
          </a:solidFill>
          <a:ln/>
        </p:spPr>
      </p:sp>
      <p:sp>
        <p:nvSpPr>
          <p:cNvPr id="3" name="Text 1"/>
          <p:cNvSpPr/>
          <p:nvPr/>
        </p:nvSpPr>
        <p:spPr>
          <a:xfrm>
            <a:off x="365760" y="182880"/>
            <a:ext cx="5641848" cy="548640"/>
          </a:xfrm>
          <a:prstGeom prst="rect">
            <a:avLst/>
          </a:prstGeom>
          <a:noFill/>
          <a:ln/>
        </p:spPr>
        <p:txBody>
          <a:bodyPr wrap="square" lIns="0" tIns="0" rIns="0" bIns="0" rtlCol="0" anchor="ctr"/>
          <a:lstStyle/>
          <a:p>
            <a:pPr indent="0" marL="0">
              <a:lnSpc>
                <a:spcPct val="92000"/>
              </a:lnSpc>
              <a:buNone/>
            </a:pPr>
            <a:r>
              <a:rPr lang="en-US" sz="1850" b="1" dirty="0">
                <a:solidFill>
                  <a:srgbClr val="FFFFFF"/>
                </a:solidFill>
                <a:latin typeface="Calibri Light" pitchFamily="34" charset="0"/>
                <a:ea typeface="Calibri Light" pitchFamily="34" charset="-122"/>
                <a:cs typeface="Calibri Light" pitchFamily="34" charset="-120"/>
              </a:rPr>
              <a:t>West: Protect and convert</a:t>
            </a:r>
            <a:endParaRPr lang="en-US" sz="1850" dirty="0"/>
          </a:p>
        </p:txBody>
      </p:sp>
      <p:sp>
        <p:nvSpPr>
          <p:cNvPr id="4" name="Text 2"/>
          <p:cNvSpPr/>
          <p:nvPr/>
        </p:nvSpPr>
        <p:spPr>
          <a:xfrm>
            <a:off x="384048" y="786384"/>
            <a:ext cx="5641848" cy="237744"/>
          </a:xfrm>
          <a:prstGeom prst="rect">
            <a:avLst/>
          </a:prstGeom>
          <a:noFill/>
          <a:ln/>
        </p:spPr>
        <p:txBody>
          <a:bodyPr wrap="square" lIns="0" tIns="0" rIns="0" bIns="0" rtlCol="0" anchor="ctr"/>
          <a:lstStyle/>
          <a:p>
            <a:pPr indent="0" marL="0">
              <a:buNone/>
            </a:pPr>
            <a:r>
              <a:rPr lang="en-US" sz="850" dirty="0">
                <a:solidFill>
                  <a:srgbClr val="BFDCD7"/>
                </a:solidFill>
                <a:latin typeface="Calibri" pitchFamily="34" charset="0"/>
                <a:ea typeface="Calibri" pitchFamily="34" charset="-122"/>
                <a:cs typeface="Calibri" pitchFamily="34" charset="-120"/>
              </a:rPr>
              <a:t>MT zone deep dive | July 2026 | ₹ Cr | Modern Trade accounts only</a:t>
            </a:r>
            <a:endParaRPr lang="en-US" sz="850" dirty="0"/>
          </a:p>
        </p:txBody>
      </p:sp>
      <p:sp>
        <p:nvSpPr>
          <p:cNvPr id="5" name="Text 3"/>
          <p:cNvSpPr/>
          <p:nvPr/>
        </p:nvSpPr>
        <p:spPr>
          <a:xfrm>
            <a:off x="6117336" y="365760"/>
            <a:ext cx="402336" cy="237744"/>
          </a:xfrm>
          <a:prstGeom prst="rect">
            <a:avLst/>
          </a:prstGeom>
          <a:noFill/>
          <a:ln/>
        </p:spPr>
        <p:txBody>
          <a:bodyPr wrap="square" lIns="0" tIns="0" rIns="0" bIns="0" rtlCol="0" anchor="t"/>
          <a:lstStyle/>
          <a:p>
            <a:pPr algn="r" indent="0" marL="0">
              <a:buNone/>
            </a:pPr>
            <a:r>
              <a:rPr lang="en-US" sz="950" b="1" dirty="0">
                <a:solidFill>
                  <a:srgbClr val="8FC4BD"/>
                </a:solidFill>
                <a:latin typeface="Calibri" pitchFamily="34" charset="0"/>
                <a:ea typeface="Calibri" pitchFamily="34" charset="-122"/>
                <a:cs typeface="Calibri" pitchFamily="34" charset="-120"/>
              </a:rPr>
              <a:t>07</a:t>
            </a:r>
            <a:endParaRPr lang="en-US" sz="950" dirty="0"/>
          </a:p>
        </p:txBody>
      </p:sp>
      <p:sp>
        <p:nvSpPr>
          <p:cNvPr id="6" name="Shape 4"/>
          <p:cNvSpPr/>
          <p:nvPr/>
        </p:nvSpPr>
        <p:spPr>
          <a:xfrm>
            <a:off x="265176" y="11375136"/>
            <a:ext cx="6327648" cy="420624"/>
          </a:xfrm>
          <a:prstGeom prst="roundRect">
            <a:avLst>
              <a:gd name="adj" fmla="val 6522"/>
            </a:avLst>
          </a:prstGeom>
          <a:solidFill>
            <a:srgbClr val="DFF2ED"/>
          </a:solidFill>
          <a:ln w="9525">
            <a:solidFill>
              <a:srgbClr val="C8DCD7"/>
            </a:solidFill>
            <a:prstDash val="solid"/>
          </a:ln>
        </p:spPr>
      </p:sp>
      <p:sp>
        <p:nvSpPr>
          <p:cNvPr id="7" name="Text 5"/>
          <p:cNvSpPr/>
          <p:nvPr/>
        </p:nvSpPr>
        <p:spPr>
          <a:xfrm>
            <a:off x="374904"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EVIDENCE</a:t>
            </a:r>
            <a:endParaRPr lang="en-US" sz="650" dirty="0"/>
          </a:p>
        </p:txBody>
      </p:sp>
      <p:sp>
        <p:nvSpPr>
          <p:cNvPr id="8" name="Text 6"/>
          <p:cNvSpPr/>
          <p:nvPr/>
        </p:nvSpPr>
        <p:spPr>
          <a:xfrm>
            <a:off x="374904"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moved</a:t>
            </a:r>
            <a:endParaRPr lang="en-US" sz="700" dirty="0"/>
          </a:p>
        </p:txBody>
      </p:sp>
      <p:sp>
        <p:nvSpPr>
          <p:cNvPr id="9" name="Text 7"/>
          <p:cNvSpPr/>
          <p:nvPr/>
        </p:nvSpPr>
        <p:spPr>
          <a:xfrm>
            <a:off x="1901952"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IMPLICATION</a:t>
            </a:r>
            <a:endParaRPr lang="en-US" sz="650" dirty="0"/>
          </a:p>
        </p:txBody>
      </p:sp>
      <p:sp>
        <p:nvSpPr>
          <p:cNvPr id="10" name="Text 8"/>
          <p:cNvSpPr/>
          <p:nvPr/>
        </p:nvSpPr>
        <p:spPr>
          <a:xfrm>
            <a:off x="1901952"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Why it matters</a:t>
            </a:r>
            <a:endParaRPr lang="en-US" sz="700" dirty="0"/>
          </a:p>
        </p:txBody>
      </p:sp>
      <p:sp>
        <p:nvSpPr>
          <p:cNvPr id="11" name="Shape 9"/>
          <p:cNvSpPr/>
          <p:nvPr/>
        </p:nvSpPr>
        <p:spPr>
          <a:xfrm>
            <a:off x="1819656" y="11457432"/>
            <a:ext cx="0" cy="265176"/>
          </a:xfrm>
          <a:prstGeom prst="line">
            <a:avLst/>
          </a:prstGeom>
          <a:noFill/>
          <a:ln w="9525">
            <a:solidFill>
              <a:srgbClr val="C8DCD7"/>
            </a:solidFill>
            <a:prstDash val="solid"/>
          </a:ln>
        </p:spPr>
      </p:sp>
      <p:sp>
        <p:nvSpPr>
          <p:cNvPr id="12" name="Text 10"/>
          <p:cNvSpPr/>
          <p:nvPr/>
        </p:nvSpPr>
        <p:spPr>
          <a:xfrm>
            <a:off x="3429000"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ACTION</a:t>
            </a:r>
            <a:endParaRPr lang="en-US" sz="650" dirty="0"/>
          </a:p>
        </p:txBody>
      </p:sp>
      <p:sp>
        <p:nvSpPr>
          <p:cNvPr id="13" name="Text 11"/>
          <p:cNvSpPr/>
          <p:nvPr/>
        </p:nvSpPr>
        <p:spPr>
          <a:xfrm>
            <a:off x="3429000"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changes now</a:t>
            </a:r>
            <a:endParaRPr lang="en-US" sz="700" dirty="0"/>
          </a:p>
        </p:txBody>
      </p:sp>
      <p:sp>
        <p:nvSpPr>
          <p:cNvPr id="14" name="Shape 12"/>
          <p:cNvSpPr/>
          <p:nvPr/>
        </p:nvSpPr>
        <p:spPr>
          <a:xfrm>
            <a:off x="3346704" y="11457432"/>
            <a:ext cx="0" cy="265176"/>
          </a:xfrm>
          <a:prstGeom prst="line">
            <a:avLst/>
          </a:prstGeom>
          <a:noFill/>
          <a:ln w="9525">
            <a:solidFill>
              <a:srgbClr val="C8DCD7"/>
            </a:solidFill>
            <a:prstDash val="solid"/>
          </a:ln>
        </p:spPr>
      </p:sp>
      <p:sp>
        <p:nvSpPr>
          <p:cNvPr id="15" name="Text 13"/>
          <p:cNvSpPr/>
          <p:nvPr/>
        </p:nvSpPr>
        <p:spPr>
          <a:xfrm>
            <a:off x="4956048"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OWNER</a:t>
            </a:r>
            <a:endParaRPr lang="en-US" sz="650" dirty="0"/>
          </a:p>
        </p:txBody>
      </p:sp>
      <p:sp>
        <p:nvSpPr>
          <p:cNvPr id="16" name="Text 14"/>
          <p:cNvSpPr/>
          <p:nvPr/>
        </p:nvSpPr>
        <p:spPr>
          <a:xfrm>
            <a:off x="4956048"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Who closes it</a:t>
            </a:r>
            <a:endParaRPr lang="en-US" sz="700" dirty="0"/>
          </a:p>
        </p:txBody>
      </p:sp>
      <p:sp>
        <p:nvSpPr>
          <p:cNvPr id="17" name="Shape 15"/>
          <p:cNvSpPr/>
          <p:nvPr/>
        </p:nvSpPr>
        <p:spPr>
          <a:xfrm>
            <a:off x="4873752" y="11457432"/>
            <a:ext cx="0" cy="265176"/>
          </a:xfrm>
          <a:prstGeom prst="line">
            <a:avLst/>
          </a:prstGeom>
          <a:noFill/>
          <a:ln w="9525">
            <a:solidFill>
              <a:srgbClr val="C8DCD7"/>
            </a:solidFill>
            <a:prstDash val="solid"/>
          </a:ln>
        </p:spPr>
      </p:sp>
      <p:sp>
        <p:nvSpPr>
          <p:cNvPr id="18" name="Text 16"/>
          <p:cNvSpPr/>
          <p:nvPr/>
        </p:nvSpPr>
        <p:spPr>
          <a:xfrm>
            <a:off x="301752" y="11887200"/>
            <a:ext cx="6254496" cy="201168"/>
          </a:xfrm>
          <a:prstGeom prst="rect">
            <a:avLst/>
          </a:prstGeom>
          <a:noFill/>
          <a:ln/>
        </p:spPr>
        <p:txBody>
          <a:bodyPr wrap="square" lIns="0" tIns="0" rIns="0" bIns="0" rtlCol="0" anchor="t"/>
          <a:lstStyle/>
          <a:p>
            <a:pPr algn="ctr" indent="0" marL="0">
              <a:buNone/>
            </a:pPr>
            <a:r>
              <a:rPr lang="en-US" sz="650" dirty="0">
                <a:solidFill>
                  <a:srgbClr val="5F716E"/>
                </a:solidFill>
                <a:latin typeface="Calibri" pitchFamily="34" charset="0"/>
                <a:ea typeface="Calibri" pitchFamily="34" charset="-122"/>
                <a:cs typeface="Calibri" pitchFamily="34" charset="-120"/>
              </a:rPr>
              <a:t>July Compiled Offtake (Sheet1) · July'26 primary and distributor secondary · values in ₹ Cr · Zone performance represents Modern Trade accounts only. eB2B and SIS channels are excluded from MT zone sales and reported separately.</a:t>
            </a:r>
            <a:endParaRPr lang="en-US" sz="650" dirty="0"/>
          </a:p>
        </p:txBody>
      </p:sp>
      <p:sp>
        <p:nvSpPr>
          <p:cNvPr id="19" name="Shape 17"/>
          <p:cNvSpPr/>
          <p:nvPr/>
        </p:nvSpPr>
        <p:spPr>
          <a:xfrm>
            <a:off x="265176" y="1261872"/>
            <a:ext cx="1499616" cy="859536"/>
          </a:xfrm>
          <a:prstGeom prst="rect">
            <a:avLst/>
          </a:prstGeom>
          <a:solidFill>
            <a:srgbClr val="FFFFFF"/>
          </a:solidFill>
          <a:ln w="9525">
            <a:solidFill>
              <a:srgbClr val="C8DCD7"/>
            </a:solidFill>
            <a:prstDash val="solid"/>
          </a:ln>
        </p:spPr>
      </p:sp>
      <p:sp>
        <p:nvSpPr>
          <p:cNvPr id="20" name="Shape 18"/>
          <p:cNvSpPr/>
          <p:nvPr/>
        </p:nvSpPr>
        <p:spPr>
          <a:xfrm>
            <a:off x="265176" y="1261872"/>
            <a:ext cx="64008" cy="859536"/>
          </a:xfrm>
          <a:prstGeom prst="rect">
            <a:avLst/>
          </a:prstGeom>
          <a:solidFill>
            <a:srgbClr val="2E7DA8"/>
          </a:solidFill>
          <a:ln/>
        </p:spPr>
      </p:sp>
      <p:sp>
        <p:nvSpPr>
          <p:cNvPr id="21" name="Text 19"/>
          <p:cNvSpPr/>
          <p:nvPr/>
        </p:nvSpPr>
        <p:spPr>
          <a:xfrm>
            <a:off x="420624"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PRIMARY</a:t>
            </a:r>
            <a:endParaRPr lang="en-US" sz="680" dirty="0"/>
          </a:p>
        </p:txBody>
      </p:sp>
      <p:sp>
        <p:nvSpPr>
          <p:cNvPr id="22" name="Text 20"/>
          <p:cNvSpPr/>
          <p:nvPr/>
        </p:nvSpPr>
        <p:spPr>
          <a:xfrm>
            <a:off x="420624" y="1536192"/>
            <a:ext cx="1261872" cy="310896"/>
          </a:xfrm>
          <a:prstGeom prst="rect">
            <a:avLst/>
          </a:prstGeom>
          <a:noFill/>
          <a:ln/>
        </p:spPr>
        <p:txBody>
          <a:bodyPr wrap="square" lIns="0" tIns="0" rIns="0" bIns="0" rtlCol="0" anchor="ctr"/>
          <a:lstStyle/>
          <a:p>
            <a:pPr indent="0" marL="0">
              <a:buNone/>
            </a:pPr>
            <a:r>
              <a:rPr lang="en-US" sz="1550" b="1" dirty="0">
                <a:solidFill>
                  <a:srgbClr val="2E7DA8"/>
                </a:solidFill>
                <a:latin typeface="Calibri Light" pitchFamily="34" charset="0"/>
                <a:ea typeface="Calibri Light" pitchFamily="34" charset="-122"/>
                <a:cs typeface="Calibri Light" pitchFamily="34" charset="-120"/>
              </a:rPr>
              <a:t>₹9.71 Cr</a:t>
            </a:r>
            <a:endParaRPr lang="en-US" sz="1550" dirty="0"/>
          </a:p>
        </p:txBody>
      </p:sp>
      <p:sp>
        <p:nvSpPr>
          <p:cNvPr id="23" name="Text 21"/>
          <p:cNvSpPr/>
          <p:nvPr/>
        </p:nvSpPr>
        <p:spPr>
          <a:xfrm>
            <a:off x="420624"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July billing</a:t>
            </a:r>
            <a:endParaRPr lang="en-US" sz="680" dirty="0"/>
          </a:p>
        </p:txBody>
      </p:sp>
      <p:sp>
        <p:nvSpPr>
          <p:cNvPr id="24" name="Shape 22"/>
          <p:cNvSpPr/>
          <p:nvPr/>
        </p:nvSpPr>
        <p:spPr>
          <a:xfrm>
            <a:off x="1874520" y="1261872"/>
            <a:ext cx="1499616" cy="859536"/>
          </a:xfrm>
          <a:prstGeom prst="rect">
            <a:avLst/>
          </a:prstGeom>
          <a:solidFill>
            <a:srgbClr val="FFFFFF"/>
          </a:solidFill>
          <a:ln w="9525">
            <a:solidFill>
              <a:srgbClr val="C8DCD7"/>
            </a:solidFill>
            <a:prstDash val="solid"/>
          </a:ln>
        </p:spPr>
      </p:sp>
      <p:sp>
        <p:nvSpPr>
          <p:cNvPr id="25" name="Shape 23"/>
          <p:cNvSpPr/>
          <p:nvPr/>
        </p:nvSpPr>
        <p:spPr>
          <a:xfrm>
            <a:off x="1874520" y="1261872"/>
            <a:ext cx="64008" cy="859536"/>
          </a:xfrm>
          <a:prstGeom prst="rect">
            <a:avLst/>
          </a:prstGeom>
          <a:solidFill>
            <a:srgbClr val="28A596"/>
          </a:solidFill>
          <a:ln/>
        </p:spPr>
      </p:sp>
      <p:sp>
        <p:nvSpPr>
          <p:cNvPr id="26" name="Text 24"/>
          <p:cNvSpPr/>
          <p:nvPr/>
        </p:nvSpPr>
        <p:spPr>
          <a:xfrm>
            <a:off x="2029968"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OFFTAKE</a:t>
            </a:r>
            <a:endParaRPr lang="en-US" sz="680" dirty="0"/>
          </a:p>
        </p:txBody>
      </p:sp>
      <p:sp>
        <p:nvSpPr>
          <p:cNvPr id="27" name="Text 25"/>
          <p:cNvSpPr/>
          <p:nvPr/>
        </p:nvSpPr>
        <p:spPr>
          <a:xfrm>
            <a:off x="2029968" y="1536192"/>
            <a:ext cx="1261872" cy="310896"/>
          </a:xfrm>
          <a:prstGeom prst="rect">
            <a:avLst/>
          </a:prstGeom>
          <a:noFill/>
          <a:ln/>
        </p:spPr>
        <p:txBody>
          <a:bodyPr wrap="square" lIns="0" tIns="0" rIns="0" bIns="0" rtlCol="0" anchor="ctr"/>
          <a:lstStyle/>
          <a:p>
            <a:pPr indent="0" marL="0">
              <a:buNone/>
            </a:pPr>
            <a:r>
              <a:rPr lang="en-US" sz="1550" b="1" dirty="0">
                <a:solidFill>
                  <a:srgbClr val="28A596"/>
                </a:solidFill>
                <a:latin typeface="Calibri Light" pitchFamily="34" charset="0"/>
                <a:ea typeface="Calibri Light" pitchFamily="34" charset="-122"/>
                <a:cs typeface="Calibri Light" pitchFamily="34" charset="-120"/>
              </a:rPr>
              <a:t>₹8.27 Cr</a:t>
            </a:r>
            <a:endParaRPr lang="en-US" sz="1550" dirty="0"/>
          </a:p>
        </p:txBody>
      </p:sp>
      <p:sp>
        <p:nvSpPr>
          <p:cNvPr id="28" name="Text 26"/>
          <p:cNvSpPr/>
          <p:nvPr/>
        </p:nvSpPr>
        <p:spPr>
          <a:xfrm>
            <a:off x="2029968"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24.4% mix</a:t>
            </a:r>
            <a:endParaRPr lang="en-US" sz="680" dirty="0"/>
          </a:p>
        </p:txBody>
      </p:sp>
      <p:sp>
        <p:nvSpPr>
          <p:cNvPr id="29" name="Shape 27"/>
          <p:cNvSpPr/>
          <p:nvPr/>
        </p:nvSpPr>
        <p:spPr>
          <a:xfrm>
            <a:off x="3483864" y="1261872"/>
            <a:ext cx="1499616" cy="859536"/>
          </a:xfrm>
          <a:prstGeom prst="rect">
            <a:avLst/>
          </a:prstGeom>
          <a:solidFill>
            <a:srgbClr val="FFFFFF"/>
          </a:solidFill>
          <a:ln w="9525">
            <a:solidFill>
              <a:srgbClr val="C8DCD7"/>
            </a:solidFill>
            <a:prstDash val="solid"/>
          </a:ln>
        </p:spPr>
      </p:sp>
      <p:sp>
        <p:nvSpPr>
          <p:cNvPr id="30" name="Shape 28"/>
          <p:cNvSpPr/>
          <p:nvPr/>
        </p:nvSpPr>
        <p:spPr>
          <a:xfrm>
            <a:off x="3483864" y="1261872"/>
            <a:ext cx="64008" cy="859536"/>
          </a:xfrm>
          <a:prstGeom prst="rect">
            <a:avLst/>
          </a:prstGeom>
          <a:solidFill>
            <a:srgbClr val="2B9A66"/>
          </a:solidFill>
          <a:ln/>
        </p:spPr>
      </p:sp>
      <p:sp>
        <p:nvSpPr>
          <p:cNvPr id="31" name="Text 29"/>
          <p:cNvSpPr/>
          <p:nvPr/>
        </p:nvSpPr>
        <p:spPr>
          <a:xfrm>
            <a:off x="3639312"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CONVERSION</a:t>
            </a:r>
            <a:endParaRPr lang="en-US" sz="680" dirty="0"/>
          </a:p>
        </p:txBody>
      </p:sp>
      <p:sp>
        <p:nvSpPr>
          <p:cNvPr id="32" name="Text 30"/>
          <p:cNvSpPr/>
          <p:nvPr/>
        </p:nvSpPr>
        <p:spPr>
          <a:xfrm>
            <a:off x="3639312" y="1536192"/>
            <a:ext cx="1261872" cy="310896"/>
          </a:xfrm>
          <a:prstGeom prst="rect">
            <a:avLst/>
          </a:prstGeom>
          <a:noFill/>
          <a:ln/>
        </p:spPr>
        <p:txBody>
          <a:bodyPr wrap="square" lIns="0" tIns="0" rIns="0" bIns="0" rtlCol="0" anchor="ctr"/>
          <a:lstStyle/>
          <a:p>
            <a:pPr indent="0" marL="0">
              <a:buNone/>
            </a:pPr>
            <a:r>
              <a:rPr lang="en-US" sz="1750" b="1" dirty="0">
                <a:solidFill>
                  <a:srgbClr val="2B9A66"/>
                </a:solidFill>
                <a:latin typeface="Calibri Light" pitchFamily="34" charset="0"/>
                <a:ea typeface="Calibri Light" pitchFamily="34" charset="-122"/>
                <a:cs typeface="Calibri Light" pitchFamily="34" charset="-120"/>
              </a:rPr>
              <a:t>85.2%</a:t>
            </a:r>
            <a:endParaRPr lang="en-US" sz="1750" dirty="0"/>
          </a:p>
        </p:txBody>
      </p:sp>
      <p:sp>
        <p:nvSpPr>
          <p:cNvPr id="33" name="Text 31"/>
          <p:cNvSpPr/>
          <p:nvPr/>
        </p:nvSpPr>
        <p:spPr>
          <a:xfrm>
            <a:off x="3639312"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flow</a:t>
            </a:r>
            <a:endParaRPr lang="en-US" sz="680" dirty="0"/>
          </a:p>
        </p:txBody>
      </p:sp>
      <p:sp>
        <p:nvSpPr>
          <p:cNvPr id="34" name="Shape 32"/>
          <p:cNvSpPr/>
          <p:nvPr/>
        </p:nvSpPr>
        <p:spPr>
          <a:xfrm>
            <a:off x="5093208" y="1261872"/>
            <a:ext cx="1499616" cy="859536"/>
          </a:xfrm>
          <a:prstGeom prst="rect">
            <a:avLst/>
          </a:prstGeom>
          <a:solidFill>
            <a:srgbClr val="FFFFFF"/>
          </a:solidFill>
          <a:ln w="9525">
            <a:solidFill>
              <a:srgbClr val="C8DCD7"/>
            </a:solidFill>
            <a:prstDash val="solid"/>
          </a:ln>
        </p:spPr>
      </p:sp>
      <p:sp>
        <p:nvSpPr>
          <p:cNvPr id="35" name="Shape 33"/>
          <p:cNvSpPr/>
          <p:nvPr/>
        </p:nvSpPr>
        <p:spPr>
          <a:xfrm>
            <a:off x="5093208" y="1261872"/>
            <a:ext cx="64008" cy="859536"/>
          </a:xfrm>
          <a:prstGeom prst="rect">
            <a:avLst/>
          </a:prstGeom>
          <a:solidFill>
            <a:srgbClr val="2B9A66"/>
          </a:solidFill>
          <a:ln/>
        </p:spPr>
      </p:sp>
      <p:sp>
        <p:nvSpPr>
          <p:cNvPr id="36" name="Text 34"/>
          <p:cNvSpPr/>
          <p:nvPr/>
        </p:nvSpPr>
        <p:spPr>
          <a:xfrm>
            <a:off x="5248656"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GAP</a:t>
            </a:r>
            <a:endParaRPr lang="en-US" sz="680" dirty="0"/>
          </a:p>
        </p:txBody>
      </p:sp>
      <p:sp>
        <p:nvSpPr>
          <p:cNvPr id="37" name="Text 35"/>
          <p:cNvSpPr/>
          <p:nvPr/>
        </p:nvSpPr>
        <p:spPr>
          <a:xfrm>
            <a:off x="5248656" y="1536192"/>
            <a:ext cx="1261872" cy="310896"/>
          </a:xfrm>
          <a:prstGeom prst="rect">
            <a:avLst/>
          </a:prstGeom>
          <a:noFill/>
          <a:ln/>
        </p:spPr>
        <p:txBody>
          <a:bodyPr wrap="square" lIns="0" tIns="0" rIns="0" bIns="0" rtlCol="0" anchor="ctr"/>
          <a:lstStyle/>
          <a:p>
            <a:pPr indent="0" marL="0">
              <a:buNone/>
            </a:pPr>
            <a:r>
              <a:rPr lang="en-US" sz="1550" b="1" dirty="0">
                <a:solidFill>
                  <a:srgbClr val="2B9A66"/>
                </a:solidFill>
                <a:latin typeface="Calibri Light" pitchFamily="34" charset="0"/>
                <a:ea typeface="Calibri Light" pitchFamily="34" charset="-122"/>
                <a:cs typeface="Calibri Light" pitchFamily="34" charset="-120"/>
              </a:rPr>
              <a:t>₹1.44 Cr</a:t>
            </a:r>
            <a:endParaRPr lang="en-US" sz="1550" dirty="0"/>
          </a:p>
        </p:txBody>
      </p:sp>
      <p:sp>
        <p:nvSpPr>
          <p:cNvPr id="38" name="Text 36"/>
          <p:cNvSpPr/>
          <p:nvPr/>
        </p:nvSpPr>
        <p:spPr>
          <a:xfrm>
            <a:off x="5248656"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primary − offtake</a:t>
            </a:r>
            <a:endParaRPr lang="en-US" sz="680" dirty="0"/>
          </a:p>
        </p:txBody>
      </p:sp>
      <p:sp>
        <p:nvSpPr>
          <p:cNvPr id="39" name="Shape 37"/>
          <p:cNvSpPr/>
          <p:nvPr/>
        </p:nvSpPr>
        <p:spPr>
          <a:xfrm>
            <a:off x="265176" y="2231136"/>
            <a:ext cx="6327648" cy="384048"/>
          </a:xfrm>
          <a:prstGeom prst="roundRect">
            <a:avLst>
              <a:gd name="adj" fmla="val 4762"/>
            </a:avLst>
          </a:prstGeom>
          <a:solidFill>
            <a:srgbClr val="DFF2ED"/>
          </a:solidFill>
          <a:ln w="9525">
            <a:solidFill>
              <a:srgbClr val="C8DCD7"/>
            </a:solidFill>
            <a:prstDash val="solid"/>
          </a:ln>
        </p:spPr>
      </p:sp>
      <p:sp>
        <p:nvSpPr>
          <p:cNvPr id="40" name="Text 38"/>
          <p:cNvSpPr/>
          <p:nvPr/>
        </p:nvSpPr>
        <p:spPr>
          <a:xfrm>
            <a:off x="374904" y="2286000"/>
            <a:ext cx="658368" cy="274320"/>
          </a:xfrm>
          <a:prstGeom prst="rect">
            <a:avLst/>
          </a:prstGeom>
          <a:noFill/>
          <a:ln/>
        </p:spPr>
        <p:txBody>
          <a:bodyPr wrap="square" lIns="0" tIns="0" rIns="0" bIns="0" rtlCol="0" anchor="ctr"/>
          <a:lstStyle/>
          <a:p>
            <a:pPr indent="0" marL="0">
              <a:buNone/>
            </a:pPr>
            <a:r>
              <a:rPr lang="en-US" sz="660" b="1" spc="40" kern="0" dirty="0">
                <a:solidFill>
                  <a:srgbClr val="116F68"/>
                </a:solidFill>
                <a:latin typeface="Calibri" pitchFamily="34" charset="0"/>
                <a:ea typeface="Calibri" pitchFamily="34" charset="-122"/>
                <a:cs typeface="Calibri" pitchFamily="34" charset="-120"/>
              </a:rPr>
              <a:t>PRIORITY</a:t>
            </a:r>
            <a:endParaRPr lang="en-US" sz="660" dirty="0"/>
          </a:p>
        </p:txBody>
      </p:sp>
      <p:sp>
        <p:nvSpPr>
          <p:cNvPr id="41" name="Text 39"/>
          <p:cNvSpPr/>
          <p:nvPr/>
        </p:nvSpPr>
        <p:spPr>
          <a:xfrm>
            <a:off x="1088136" y="2286000"/>
            <a:ext cx="5394960" cy="274320"/>
          </a:xfrm>
          <a:prstGeom prst="rect">
            <a:avLst/>
          </a:prstGeom>
          <a:noFill/>
          <a:ln/>
        </p:spPr>
        <p:txBody>
          <a:bodyPr wrap="square" lIns="0" tIns="0" rIns="0" bIns="0" rtlCol="0" anchor="ctr"/>
          <a:lstStyle/>
          <a:p>
            <a:pPr indent="0" marL="0">
              <a:buNone/>
            </a:pPr>
            <a:r>
              <a:rPr lang="en-US" sz="740" b="1" dirty="0">
                <a:solidFill>
                  <a:srgbClr val="183B39"/>
                </a:solidFill>
                <a:latin typeface="Calibri" pitchFamily="34" charset="0"/>
                <a:ea typeface="Calibri" pitchFamily="34" charset="-122"/>
                <a:cs typeface="Calibri" pitchFamily="34" charset="-120"/>
              </a:rPr>
              <a:t>Hold DMart execution as the national template • Reliance is the only weak cell</a:t>
            </a:r>
            <a:endParaRPr lang="en-US" sz="740" dirty="0"/>
          </a:p>
        </p:txBody>
      </p:sp>
      <p:sp>
        <p:nvSpPr>
          <p:cNvPr id="42" name="Text 40"/>
          <p:cNvSpPr/>
          <p:nvPr/>
        </p:nvSpPr>
        <p:spPr>
          <a:xfrm>
            <a:off x="265176" y="2743200"/>
            <a:ext cx="3090672"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Mamaearth — top 3 sub-categories (₹ Cr, Feb–Jul)</a:t>
            </a:r>
            <a:endParaRPr lang="en-US" sz="720" dirty="0"/>
          </a:p>
        </p:txBody>
      </p:sp>
      <p:graphicFrame>
        <p:nvGraphicFramePr>
          <p:cNvPr id="43" name="Chart 0" descr=""/>
          <p:cNvGraphicFramePr/>
          <p:nvPr/>
        </p:nvGraphicFramePr>
        <p:xfrm>
          <a:off x="246888" y="2944368"/>
          <a:ext cx="3090672" cy="1499616"/>
        </p:xfrm>
        <a:graphic xmlns:a="http://schemas.openxmlformats.org/drawingml/2006/main">
          <a:graphicData uri="http://schemas.openxmlformats.org/drawingml/2006/chart">
            <c:chart xmlns:c="http://schemas.openxmlformats.org/drawingml/2006/chart" r:id="rId1"/>
          </a:graphicData>
        </a:graphic>
      </p:graphicFrame>
      <p:sp>
        <p:nvSpPr>
          <p:cNvPr id="44" name="Text 41"/>
          <p:cNvSpPr/>
          <p:nvPr/>
        </p:nvSpPr>
        <p:spPr>
          <a:xfrm>
            <a:off x="3502152" y="2743200"/>
            <a:ext cx="3090672"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The Derma Co. — top 3 sub-categories (₹ Cr, Feb–Jul)</a:t>
            </a:r>
            <a:endParaRPr lang="en-US" sz="720" dirty="0"/>
          </a:p>
        </p:txBody>
      </p:sp>
      <p:graphicFrame>
        <p:nvGraphicFramePr>
          <p:cNvPr id="45" name="Chart 1" descr=""/>
          <p:cNvGraphicFramePr/>
          <p:nvPr/>
        </p:nvGraphicFramePr>
        <p:xfrm>
          <a:off x="3483864" y="2944368"/>
          <a:ext cx="3090672" cy="1499616"/>
        </p:xfrm>
        <a:graphic xmlns:a="http://schemas.openxmlformats.org/drawingml/2006/main">
          <a:graphicData uri="http://schemas.openxmlformats.org/drawingml/2006/chart">
            <c:chart xmlns:c="http://schemas.openxmlformats.org/drawingml/2006/chart" r:id="rId2"/>
          </a:graphicData>
        </a:graphic>
      </p:graphicFrame>
      <p:sp>
        <p:nvSpPr>
          <p:cNvPr id="46" name="Shape 42"/>
          <p:cNvSpPr/>
          <p:nvPr/>
        </p:nvSpPr>
        <p:spPr>
          <a:xfrm>
            <a:off x="265176" y="4553712"/>
            <a:ext cx="2036064" cy="1773936"/>
          </a:xfrm>
          <a:prstGeom prst="roundRect">
            <a:avLst>
              <a:gd name="adj" fmla="val 1031"/>
            </a:avLst>
          </a:prstGeom>
          <a:solidFill>
            <a:srgbClr val="FFFFFF"/>
          </a:solidFill>
          <a:ln w="9525">
            <a:solidFill>
              <a:srgbClr val="C8DCD7"/>
            </a:solidFill>
            <a:prstDash val="solid"/>
          </a:ln>
        </p:spPr>
      </p:sp>
      <p:sp>
        <p:nvSpPr>
          <p:cNvPr id="47" name="Shape 43"/>
          <p:cNvSpPr/>
          <p:nvPr/>
        </p:nvSpPr>
        <p:spPr>
          <a:xfrm>
            <a:off x="265176" y="4553712"/>
            <a:ext cx="2036064" cy="274320"/>
          </a:xfrm>
          <a:prstGeom prst="rect">
            <a:avLst/>
          </a:prstGeom>
          <a:solidFill>
            <a:srgbClr val="116F68"/>
          </a:solidFill>
          <a:ln/>
        </p:spPr>
      </p:sp>
      <p:sp>
        <p:nvSpPr>
          <p:cNvPr id="48" name="Text 44"/>
          <p:cNvSpPr/>
          <p:nvPr/>
        </p:nvSpPr>
        <p:spPr>
          <a:xfrm>
            <a:off x="347472" y="457200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TOP CHAINS</a:t>
            </a:r>
            <a:endParaRPr lang="en-US" sz="700" dirty="0"/>
          </a:p>
        </p:txBody>
      </p:sp>
      <p:sp>
        <p:nvSpPr>
          <p:cNvPr id="49" name="Text 45"/>
          <p:cNvSpPr/>
          <p:nvPr/>
        </p:nvSpPr>
        <p:spPr>
          <a:xfrm>
            <a:off x="356616" y="4919472"/>
            <a:ext cx="1258824" cy="310896"/>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1. DMart</a:t>
            </a:r>
            <a:endParaRPr lang="en-US" sz="700" dirty="0"/>
          </a:p>
        </p:txBody>
      </p:sp>
      <p:sp>
        <p:nvSpPr>
          <p:cNvPr id="50" name="Text 46"/>
          <p:cNvSpPr/>
          <p:nvPr/>
        </p:nvSpPr>
        <p:spPr>
          <a:xfrm>
            <a:off x="1588008" y="4919472"/>
            <a:ext cx="621792" cy="155448"/>
          </a:xfrm>
          <a:prstGeom prst="rect">
            <a:avLst/>
          </a:prstGeom>
          <a:noFill/>
          <a:ln/>
        </p:spPr>
        <p:txBody>
          <a:bodyPr wrap="square" lIns="0" tIns="0" rIns="0" bIns="0" rtlCol="0" anchor="t"/>
          <a:lstStyle/>
          <a:p>
            <a:pPr algn="r" indent="0" marL="0">
              <a:buNone/>
            </a:pPr>
            <a:r>
              <a:rPr lang="en-US" sz="700" b="1" dirty="0">
                <a:solidFill>
                  <a:srgbClr val="116F68"/>
                </a:solidFill>
                <a:latin typeface="Calibri" pitchFamily="34" charset="0"/>
                <a:ea typeface="Calibri" pitchFamily="34" charset="-122"/>
                <a:cs typeface="Calibri" pitchFamily="34" charset="-120"/>
              </a:rPr>
              <a:t>₹5.76 Cr</a:t>
            </a:r>
            <a:endParaRPr lang="en-US" sz="700" dirty="0"/>
          </a:p>
        </p:txBody>
      </p:sp>
      <p:sp>
        <p:nvSpPr>
          <p:cNvPr id="51" name="Text 47"/>
          <p:cNvSpPr/>
          <p:nvPr/>
        </p:nvSpPr>
        <p:spPr>
          <a:xfrm>
            <a:off x="1588008" y="5074920"/>
            <a:ext cx="621792" cy="146304"/>
          </a:xfrm>
          <a:prstGeom prst="rect">
            <a:avLst/>
          </a:prstGeom>
          <a:noFill/>
          <a:ln/>
        </p:spPr>
        <p:txBody>
          <a:bodyPr wrap="square" lIns="0" tIns="0" rIns="0" bIns="0" rtlCol="0" anchor="t"/>
          <a:lstStyle/>
          <a:p>
            <a:pPr algn="r" indent="0" marL="0">
              <a:buNone/>
            </a:pPr>
            <a:r>
              <a:rPr lang="en-US" sz="620" dirty="0">
                <a:solidFill>
                  <a:srgbClr val="5F716E"/>
                </a:solidFill>
                <a:latin typeface="Calibri" pitchFamily="34" charset="0"/>
                <a:ea typeface="Calibri" pitchFamily="34" charset="-122"/>
                <a:cs typeface="Calibri" pitchFamily="34" charset="-120"/>
              </a:rPr>
              <a:t>94.2%</a:t>
            </a:r>
            <a:endParaRPr lang="en-US" sz="620" dirty="0"/>
          </a:p>
        </p:txBody>
      </p:sp>
      <p:sp>
        <p:nvSpPr>
          <p:cNvPr id="52" name="Text 48"/>
          <p:cNvSpPr/>
          <p:nvPr/>
        </p:nvSpPr>
        <p:spPr>
          <a:xfrm>
            <a:off x="356616" y="5266944"/>
            <a:ext cx="1258824" cy="310896"/>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2. Reliance</a:t>
            </a:r>
            <a:endParaRPr lang="en-US" sz="700" dirty="0"/>
          </a:p>
        </p:txBody>
      </p:sp>
      <p:sp>
        <p:nvSpPr>
          <p:cNvPr id="53" name="Text 49"/>
          <p:cNvSpPr/>
          <p:nvPr/>
        </p:nvSpPr>
        <p:spPr>
          <a:xfrm>
            <a:off x="1588008" y="5266944"/>
            <a:ext cx="621792" cy="155448"/>
          </a:xfrm>
          <a:prstGeom prst="rect">
            <a:avLst/>
          </a:prstGeom>
          <a:noFill/>
          <a:ln/>
        </p:spPr>
        <p:txBody>
          <a:bodyPr wrap="square" lIns="0" tIns="0" rIns="0" bIns="0" rtlCol="0" anchor="t"/>
          <a:lstStyle/>
          <a:p>
            <a:pPr algn="r" indent="0" marL="0">
              <a:buNone/>
            </a:pPr>
            <a:r>
              <a:rPr lang="en-US" sz="700" b="1" dirty="0">
                <a:solidFill>
                  <a:srgbClr val="116F68"/>
                </a:solidFill>
                <a:latin typeface="Calibri" pitchFamily="34" charset="0"/>
                <a:ea typeface="Calibri" pitchFamily="34" charset="-122"/>
                <a:cs typeface="Calibri" pitchFamily="34" charset="-120"/>
              </a:rPr>
              <a:t>₹1.23 Cr</a:t>
            </a:r>
            <a:endParaRPr lang="en-US" sz="700" dirty="0"/>
          </a:p>
        </p:txBody>
      </p:sp>
      <p:sp>
        <p:nvSpPr>
          <p:cNvPr id="54" name="Text 50"/>
          <p:cNvSpPr/>
          <p:nvPr/>
        </p:nvSpPr>
        <p:spPr>
          <a:xfrm>
            <a:off x="1588008" y="5422392"/>
            <a:ext cx="621792" cy="146304"/>
          </a:xfrm>
          <a:prstGeom prst="rect">
            <a:avLst/>
          </a:prstGeom>
          <a:noFill/>
          <a:ln/>
        </p:spPr>
        <p:txBody>
          <a:bodyPr wrap="square" lIns="0" tIns="0" rIns="0" bIns="0" rtlCol="0" anchor="t"/>
          <a:lstStyle/>
          <a:p>
            <a:pPr algn="r" indent="0" marL="0">
              <a:buNone/>
            </a:pPr>
            <a:r>
              <a:rPr lang="en-US" sz="620" dirty="0">
                <a:solidFill>
                  <a:srgbClr val="5F716E"/>
                </a:solidFill>
                <a:latin typeface="Calibri" pitchFamily="34" charset="0"/>
                <a:ea typeface="Calibri" pitchFamily="34" charset="-122"/>
                <a:cs typeface="Calibri" pitchFamily="34" charset="-120"/>
              </a:rPr>
              <a:t>54.5%</a:t>
            </a:r>
            <a:endParaRPr lang="en-US" sz="620" dirty="0"/>
          </a:p>
        </p:txBody>
      </p:sp>
      <p:sp>
        <p:nvSpPr>
          <p:cNvPr id="55" name="Text 51"/>
          <p:cNvSpPr/>
          <p:nvPr/>
        </p:nvSpPr>
        <p:spPr>
          <a:xfrm>
            <a:off x="356616" y="5614416"/>
            <a:ext cx="1258824" cy="310896"/>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3. Wellness Forever</a:t>
            </a:r>
            <a:endParaRPr lang="en-US" sz="700" dirty="0"/>
          </a:p>
        </p:txBody>
      </p:sp>
      <p:sp>
        <p:nvSpPr>
          <p:cNvPr id="56" name="Text 52"/>
          <p:cNvSpPr/>
          <p:nvPr/>
        </p:nvSpPr>
        <p:spPr>
          <a:xfrm>
            <a:off x="1588008" y="5614416"/>
            <a:ext cx="621792" cy="155448"/>
          </a:xfrm>
          <a:prstGeom prst="rect">
            <a:avLst/>
          </a:prstGeom>
          <a:noFill/>
          <a:ln/>
        </p:spPr>
        <p:txBody>
          <a:bodyPr wrap="square" lIns="0" tIns="0" rIns="0" bIns="0" rtlCol="0" anchor="t"/>
          <a:lstStyle/>
          <a:p>
            <a:pPr algn="r" indent="0" marL="0">
              <a:buNone/>
            </a:pPr>
            <a:r>
              <a:rPr lang="en-US" sz="700" b="1" dirty="0">
                <a:solidFill>
                  <a:srgbClr val="116F68"/>
                </a:solidFill>
                <a:latin typeface="Calibri" pitchFamily="34" charset="0"/>
                <a:ea typeface="Calibri" pitchFamily="34" charset="-122"/>
                <a:cs typeface="Calibri" pitchFamily="34" charset="-120"/>
              </a:rPr>
              <a:t>₹0.65 Cr</a:t>
            </a:r>
            <a:endParaRPr lang="en-US" sz="700" dirty="0"/>
          </a:p>
        </p:txBody>
      </p:sp>
      <p:sp>
        <p:nvSpPr>
          <p:cNvPr id="57" name="Text 53"/>
          <p:cNvSpPr/>
          <p:nvPr/>
        </p:nvSpPr>
        <p:spPr>
          <a:xfrm>
            <a:off x="1588008" y="5769864"/>
            <a:ext cx="621792" cy="146304"/>
          </a:xfrm>
          <a:prstGeom prst="rect">
            <a:avLst/>
          </a:prstGeom>
          <a:noFill/>
          <a:ln/>
        </p:spPr>
        <p:txBody>
          <a:bodyPr wrap="square" lIns="0" tIns="0" rIns="0" bIns="0" rtlCol="0" anchor="t"/>
          <a:lstStyle/>
          <a:p>
            <a:pPr algn="r" indent="0" marL="0">
              <a:buNone/>
            </a:pPr>
            <a:r>
              <a:rPr lang="en-US" sz="620" dirty="0">
                <a:solidFill>
                  <a:srgbClr val="F2B84B"/>
                </a:solidFill>
                <a:latin typeface="Calibri" pitchFamily="34" charset="0"/>
                <a:ea typeface="Calibri" pitchFamily="34" charset="-122"/>
                <a:cs typeface="Calibri" pitchFamily="34" charset="-120"/>
              </a:rPr>
              <a:t>no primary</a:t>
            </a:r>
            <a:endParaRPr lang="en-US" sz="620" dirty="0"/>
          </a:p>
        </p:txBody>
      </p:sp>
      <p:sp>
        <p:nvSpPr>
          <p:cNvPr id="58" name="Shape 54"/>
          <p:cNvSpPr/>
          <p:nvPr/>
        </p:nvSpPr>
        <p:spPr>
          <a:xfrm>
            <a:off x="2410968" y="4553712"/>
            <a:ext cx="2036064" cy="1773936"/>
          </a:xfrm>
          <a:prstGeom prst="roundRect">
            <a:avLst>
              <a:gd name="adj" fmla="val 1031"/>
            </a:avLst>
          </a:prstGeom>
          <a:solidFill>
            <a:srgbClr val="FFFFFF"/>
          </a:solidFill>
          <a:ln w="9525">
            <a:solidFill>
              <a:srgbClr val="C8DCD7"/>
            </a:solidFill>
            <a:prstDash val="solid"/>
          </a:ln>
        </p:spPr>
      </p:sp>
      <p:sp>
        <p:nvSpPr>
          <p:cNvPr id="59" name="Shape 55"/>
          <p:cNvSpPr/>
          <p:nvPr/>
        </p:nvSpPr>
        <p:spPr>
          <a:xfrm>
            <a:off x="2410968" y="4553712"/>
            <a:ext cx="2036064" cy="274320"/>
          </a:xfrm>
          <a:prstGeom prst="rect">
            <a:avLst/>
          </a:prstGeom>
          <a:solidFill>
            <a:srgbClr val="2E7DA8"/>
          </a:solidFill>
          <a:ln/>
        </p:spPr>
      </p:sp>
      <p:sp>
        <p:nvSpPr>
          <p:cNvPr id="60" name="Text 56"/>
          <p:cNvSpPr/>
          <p:nvPr/>
        </p:nvSpPr>
        <p:spPr>
          <a:xfrm>
            <a:off x="2493264" y="457200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TOP STATES</a:t>
            </a:r>
            <a:endParaRPr lang="en-US" sz="700" dirty="0"/>
          </a:p>
        </p:txBody>
      </p:sp>
      <p:sp>
        <p:nvSpPr>
          <p:cNvPr id="61" name="Text 57"/>
          <p:cNvSpPr/>
          <p:nvPr/>
        </p:nvSpPr>
        <p:spPr>
          <a:xfrm>
            <a:off x="2502408" y="4919472"/>
            <a:ext cx="1304544" cy="292608"/>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1. Maharashtra</a:t>
            </a:r>
            <a:endParaRPr lang="en-US" sz="700" dirty="0"/>
          </a:p>
        </p:txBody>
      </p:sp>
      <p:sp>
        <p:nvSpPr>
          <p:cNvPr id="62" name="Text 58"/>
          <p:cNvSpPr/>
          <p:nvPr/>
        </p:nvSpPr>
        <p:spPr>
          <a:xfrm>
            <a:off x="3770376" y="4919472"/>
            <a:ext cx="585216" cy="182880"/>
          </a:xfrm>
          <a:prstGeom prst="rect">
            <a:avLst/>
          </a:prstGeom>
          <a:noFill/>
          <a:ln/>
        </p:spPr>
        <p:txBody>
          <a:bodyPr wrap="square" lIns="0" tIns="0" rIns="0" bIns="0" rtlCol="0" anchor="t"/>
          <a:lstStyle/>
          <a:p>
            <a:pPr algn="r" indent="0" marL="0">
              <a:buNone/>
            </a:pPr>
            <a:r>
              <a:rPr lang="en-US" sz="700" b="1" dirty="0">
                <a:solidFill>
                  <a:srgbClr val="2E7DA8"/>
                </a:solidFill>
                <a:latin typeface="Calibri" pitchFamily="34" charset="0"/>
                <a:ea typeface="Calibri" pitchFamily="34" charset="-122"/>
                <a:cs typeface="Calibri" pitchFamily="34" charset="-120"/>
              </a:rPr>
              <a:t>₹3.43 Cr</a:t>
            </a:r>
            <a:endParaRPr lang="en-US" sz="700" dirty="0"/>
          </a:p>
        </p:txBody>
      </p:sp>
      <p:sp>
        <p:nvSpPr>
          <p:cNvPr id="63" name="Text 59"/>
          <p:cNvSpPr/>
          <p:nvPr/>
        </p:nvSpPr>
        <p:spPr>
          <a:xfrm>
            <a:off x="2502408" y="5248656"/>
            <a:ext cx="1304544" cy="292608"/>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2. Gujarat</a:t>
            </a:r>
            <a:endParaRPr lang="en-US" sz="700" dirty="0"/>
          </a:p>
        </p:txBody>
      </p:sp>
      <p:sp>
        <p:nvSpPr>
          <p:cNvPr id="64" name="Text 60"/>
          <p:cNvSpPr/>
          <p:nvPr/>
        </p:nvSpPr>
        <p:spPr>
          <a:xfrm>
            <a:off x="3770376" y="5248656"/>
            <a:ext cx="585216" cy="182880"/>
          </a:xfrm>
          <a:prstGeom prst="rect">
            <a:avLst/>
          </a:prstGeom>
          <a:noFill/>
          <a:ln/>
        </p:spPr>
        <p:txBody>
          <a:bodyPr wrap="square" lIns="0" tIns="0" rIns="0" bIns="0" rtlCol="0" anchor="t"/>
          <a:lstStyle/>
          <a:p>
            <a:pPr algn="r" indent="0" marL="0">
              <a:buNone/>
            </a:pPr>
            <a:r>
              <a:rPr lang="en-US" sz="700" b="1" dirty="0">
                <a:solidFill>
                  <a:srgbClr val="2E7DA8"/>
                </a:solidFill>
                <a:latin typeface="Calibri" pitchFamily="34" charset="0"/>
                <a:ea typeface="Calibri" pitchFamily="34" charset="-122"/>
                <a:cs typeface="Calibri" pitchFamily="34" charset="-120"/>
              </a:rPr>
              <a:t>₹2.57 Cr</a:t>
            </a:r>
            <a:endParaRPr lang="en-US" sz="700" dirty="0"/>
          </a:p>
        </p:txBody>
      </p:sp>
      <p:sp>
        <p:nvSpPr>
          <p:cNvPr id="65" name="Text 61"/>
          <p:cNvSpPr/>
          <p:nvPr/>
        </p:nvSpPr>
        <p:spPr>
          <a:xfrm>
            <a:off x="2502408" y="5577840"/>
            <a:ext cx="1304544" cy="292608"/>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3. Mumbai</a:t>
            </a:r>
            <a:endParaRPr lang="en-US" sz="700" dirty="0"/>
          </a:p>
        </p:txBody>
      </p:sp>
      <p:sp>
        <p:nvSpPr>
          <p:cNvPr id="66" name="Text 62"/>
          <p:cNvSpPr/>
          <p:nvPr/>
        </p:nvSpPr>
        <p:spPr>
          <a:xfrm>
            <a:off x="3770376" y="5577840"/>
            <a:ext cx="585216" cy="182880"/>
          </a:xfrm>
          <a:prstGeom prst="rect">
            <a:avLst/>
          </a:prstGeom>
          <a:noFill/>
          <a:ln/>
        </p:spPr>
        <p:txBody>
          <a:bodyPr wrap="square" lIns="0" tIns="0" rIns="0" bIns="0" rtlCol="0" anchor="t"/>
          <a:lstStyle/>
          <a:p>
            <a:pPr algn="r" indent="0" marL="0">
              <a:buNone/>
            </a:pPr>
            <a:r>
              <a:rPr lang="en-US" sz="700" b="1" dirty="0">
                <a:solidFill>
                  <a:srgbClr val="2E7DA8"/>
                </a:solidFill>
                <a:latin typeface="Calibri" pitchFamily="34" charset="0"/>
                <a:ea typeface="Calibri" pitchFamily="34" charset="-122"/>
                <a:cs typeface="Calibri" pitchFamily="34" charset="-120"/>
              </a:rPr>
              <a:t>₹2.28 Cr</a:t>
            </a:r>
            <a:endParaRPr lang="en-US" sz="700" dirty="0"/>
          </a:p>
        </p:txBody>
      </p:sp>
      <p:sp>
        <p:nvSpPr>
          <p:cNvPr id="67" name="Shape 63"/>
          <p:cNvSpPr/>
          <p:nvPr/>
        </p:nvSpPr>
        <p:spPr>
          <a:xfrm>
            <a:off x="4556760" y="4553712"/>
            <a:ext cx="2036064" cy="1773936"/>
          </a:xfrm>
          <a:prstGeom prst="roundRect">
            <a:avLst>
              <a:gd name="adj" fmla="val 1031"/>
            </a:avLst>
          </a:prstGeom>
          <a:solidFill>
            <a:srgbClr val="FFFFFF"/>
          </a:solidFill>
          <a:ln w="9525">
            <a:solidFill>
              <a:srgbClr val="C8DCD7"/>
            </a:solidFill>
            <a:prstDash val="solid"/>
          </a:ln>
        </p:spPr>
      </p:sp>
      <p:sp>
        <p:nvSpPr>
          <p:cNvPr id="68" name="Shape 64"/>
          <p:cNvSpPr/>
          <p:nvPr/>
        </p:nvSpPr>
        <p:spPr>
          <a:xfrm>
            <a:off x="4556760" y="4553712"/>
            <a:ext cx="2036064" cy="274320"/>
          </a:xfrm>
          <a:prstGeom prst="rect">
            <a:avLst/>
          </a:prstGeom>
          <a:solidFill>
            <a:srgbClr val="28A596"/>
          </a:solidFill>
          <a:ln/>
        </p:spPr>
      </p:sp>
      <p:sp>
        <p:nvSpPr>
          <p:cNvPr id="69" name="Text 65"/>
          <p:cNvSpPr/>
          <p:nvPr/>
        </p:nvSpPr>
        <p:spPr>
          <a:xfrm>
            <a:off x="4639056" y="457200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BRAND × SUB-CATEGORY</a:t>
            </a:r>
            <a:endParaRPr lang="en-US" sz="700" dirty="0"/>
          </a:p>
        </p:txBody>
      </p:sp>
      <p:sp>
        <p:nvSpPr>
          <p:cNvPr id="70" name="Text 66"/>
          <p:cNvSpPr/>
          <p:nvPr/>
        </p:nvSpPr>
        <p:spPr>
          <a:xfrm>
            <a:off x="4648200" y="4919472"/>
            <a:ext cx="1853184" cy="155448"/>
          </a:xfrm>
          <a:prstGeom prst="rect">
            <a:avLst/>
          </a:prstGeom>
          <a:noFill/>
          <a:ln/>
        </p:spPr>
        <p:txBody>
          <a:bodyPr wrap="square" lIns="0" tIns="0" rIns="0" bIns="0" rtlCol="0" anchor="t"/>
          <a:lstStyle/>
          <a:p>
            <a:pPr indent="0" marL="0">
              <a:buNone/>
            </a:pPr>
            <a:r>
              <a:rPr lang="en-US" sz="680" b="1" dirty="0">
                <a:solidFill>
                  <a:srgbClr val="28A596"/>
                </a:solidFill>
                <a:latin typeface="Calibri" pitchFamily="34" charset="0"/>
                <a:ea typeface="Calibri" pitchFamily="34" charset="-122"/>
                <a:cs typeface="Calibri" pitchFamily="34" charset="-120"/>
              </a:rPr>
              <a:t>Mamaearth ₹4.97 Cr</a:t>
            </a:r>
            <a:endParaRPr lang="en-US" sz="680" dirty="0"/>
          </a:p>
        </p:txBody>
      </p:sp>
      <p:sp>
        <p:nvSpPr>
          <p:cNvPr id="71" name="Text 67"/>
          <p:cNvSpPr/>
          <p:nvPr/>
        </p:nvSpPr>
        <p:spPr>
          <a:xfrm>
            <a:off x="4684776" y="5093208"/>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Face Cleanser</a:t>
            </a:r>
            <a:endParaRPr lang="en-US" sz="630" dirty="0"/>
          </a:p>
        </p:txBody>
      </p:sp>
      <p:sp>
        <p:nvSpPr>
          <p:cNvPr id="72" name="Text 68"/>
          <p:cNvSpPr/>
          <p:nvPr/>
        </p:nvSpPr>
        <p:spPr>
          <a:xfrm>
            <a:off x="6007608" y="5093208"/>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₹2.39</a:t>
            </a:r>
            <a:endParaRPr lang="en-US" sz="630" dirty="0"/>
          </a:p>
        </p:txBody>
      </p:sp>
      <p:sp>
        <p:nvSpPr>
          <p:cNvPr id="73" name="Text 69"/>
          <p:cNvSpPr/>
          <p:nvPr/>
        </p:nvSpPr>
        <p:spPr>
          <a:xfrm>
            <a:off x="4684776" y="5248656"/>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Shampoo</a:t>
            </a:r>
            <a:endParaRPr lang="en-US" sz="630" dirty="0"/>
          </a:p>
        </p:txBody>
      </p:sp>
      <p:sp>
        <p:nvSpPr>
          <p:cNvPr id="74" name="Text 70"/>
          <p:cNvSpPr/>
          <p:nvPr/>
        </p:nvSpPr>
        <p:spPr>
          <a:xfrm>
            <a:off x="6007608" y="5248656"/>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₹1.53</a:t>
            </a:r>
            <a:endParaRPr lang="en-US" sz="630" dirty="0"/>
          </a:p>
        </p:txBody>
      </p:sp>
      <p:sp>
        <p:nvSpPr>
          <p:cNvPr id="75" name="Text 71"/>
          <p:cNvSpPr/>
          <p:nvPr/>
        </p:nvSpPr>
        <p:spPr>
          <a:xfrm>
            <a:off x="4684776" y="5404104"/>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Sun Care</a:t>
            </a:r>
            <a:endParaRPr lang="en-US" sz="630" dirty="0"/>
          </a:p>
        </p:txBody>
      </p:sp>
      <p:sp>
        <p:nvSpPr>
          <p:cNvPr id="76" name="Text 72"/>
          <p:cNvSpPr/>
          <p:nvPr/>
        </p:nvSpPr>
        <p:spPr>
          <a:xfrm>
            <a:off x="6007608" y="5404104"/>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₹0.22</a:t>
            </a:r>
            <a:endParaRPr lang="en-US" sz="630" dirty="0"/>
          </a:p>
        </p:txBody>
      </p:sp>
      <p:sp>
        <p:nvSpPr>
          <p:cNvPr id="77" name="Text 73"/>
          <p:cNvSpPr/>
          <p:nvPr/>
        </p:nvSpPr>
        <p:spPr>
          <a:xfrm>
            <a:off x="4648200" y="5605272"/>
            <a:ext cx="1853184" cy="155448"/>
          </a:xfrm>
          <a:prstGeom prst="rect">
            <a:avLst/>
          </a:prstGeom>
          <a:noFill/>
          <a:ln/>
        </p:spPr>
        <p:txBody>
          <a:bodyPr wrap="square" lIns="0" tIns="0" rIns="0" bIns="0" rtlCol="0" anchor="t"/>
          <a:lstStyle/>
          <a:p>
            <a:pPr indent="0" marL="0">
              <a:buNone/>
            </a:pPr>
            <a:r>
              <a:rPr lang="en-US" sz="680" b="1" dirty="0">
                <a:solidFill>
                  <a:srgbClr val="2E7DA8"/>
                </a:solidFill>
                <a:latin typeface="Calibri" pitchFamily="34" charset="0"/>
                <a:ea typeface="Calibri" pitchFamily="34" charset="-122"/>
                <a:cs typeface="Calibri" pitchFamily="34" charset="-120"/>
              </a:rPr>
              <a:t>The Derma Co. ₹3.24 Cr</a:t>
            </a:r>
            <a:endParaRPr lang="en-US" sz="680" dirty="0"/>
          </a:p>
        </p:txBody>
      </p:sp>
      <p:sp>
        <p:nvSpPr>
          <p:cNvPr id="78" name="Text 74"/>
          <p:cNvSpPr/>
          <p:nvPr/>
        </p:nvSpPr>
        <p:spPr>
          <a:xfrm>
            <a:off x="4684776" y="5779008"/>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Face Cleanser</a:t>
            </a:r>
            <a:endParaRPr lang="en-US" sz="630" dirty="0"/>
          </a:p>
        </p:txBody>
      </p:sp>
      <p:sp>
        <p:nvSpPr>
          <p:cNvPr id="79" name="Text 75"/>
          <p:cNvSpPr/>
          <p:nvPr/>
        </p:nvSpPr>
        <p:spPr>
          <a:xfrm>
            <a:off x="6007608" y="5779008"/>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₹2.84</a:t>
            </a:r>
            <a:endParaRPr lang="en-US" sz="630" dirty="0"/>
          </a:p>
        </p:txBody>
      </p:sp>
      <p:sp>
        <p:nvSpPr>
          <p:cNvPr id="80" name="Text 76"/>
          <p:cNvSpPr/>
          <p:nvPr/>
        </p:nvSpPr>
        <p:spPr>
          <a:xfrm>
            <a:off x="4684776" y="5934456"/>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Sun Care</a:t>
            </a:r>
            <a:endParaRPr lang="en-US" sz="630" dirty="0"/>
          </a:p>
        </p:txBody>
      </p:sp>
      <p:sp>
        <p:nvSpPr>
          <p:cNvPr id="81" name="Text 77"/>
          <p:cNvSpPr/>
          <p:nvPr/>
        </p:nvSpPr>
        <p:spPr>
          <a:xfrm>
            <a:off x="6007608" y="5934456"/>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₹0.55</a:t>
            </a:r>
            <a:endParaRPr lang="en-US" sz="630" dirty="0"/>
          </a:p>
        </p:txBody>
      </p:sp>
      <p:sp>
        <p:nvSpPr>
          <p:cNvPr id="82" name="Text 78"/>
          <p:cNvSpPr/>
          <p:nvPr/>
        </p:nvSpPr>
        <p:spPr>
          <a:xfrm>
            <a:off x="4684776" y="6089904"/>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Face Serum</a:t>
            </a:r>
            <a:endParaRPr lang="en-US" sz="630" dirty="0"/>
          </a:p>
        </p:txBody>
      </p:sp>
      <p:sp>
        <p:nvSpPr>
          <p:cNvPr id="83" name="Text 79"/>
          <p:cNvSpPr/>
          <p:nvPr/>
        </p:nvSpPr>
        <p:spPr>
          <a:xfrm>
            <a:off x="6007608" y="6089904"/>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₹0.22</a:t>
            </a:r>
            <a:endParaRPr lang="en-US" sz="630" dirty="0"/>
          </a:p>
        </p:txBody>
      </p:sp>
      <p:sp>
        <p:nvSpPr>
          <p:cNvPr id="84" name="Shape 80"/>
          <p:cNvSpPr/>
          <p:nvPr/>
        </p:nvSpPr>
        <p:spPr>
          <a:xfrm>
            <a:off x="265176" y="6437376"/>
            <a:ext cx="6327648" cy="274320"/>
          </a:xfrm>
          <a:prstGeom prst="roundRect">
            <a:avLst>
              <a:gd name="adj" fmla="val 6667"/>
            </a:avLst>
          </a:prstGeom>
          <a:solidFill>
            <a:srgbClr val="FDF6E6"/>
          </a:solidFill>
          <a:ln w="9525">
            <a:solidFill>
              <a:srgbClr val="F2B84B"/>
            </a:solidFill>
            <a:prstDash val="solid"/>
          </a:ln>
        </p:spPr>
      </p:sp>
      <p:sp>
        <p:nvSpPr>
          <p:cNvPr id="85" name="Text 81"/>
          <p:cNvSpPr/>
          <p:nvPr/>
        </p:nvSpPr>
        <p:spPr>
          <a:xfrm>
            <a:off x="374904" y="6473952"/>
            <a:ext cx="6108192" cy="219456"/>
          </a:xfrm>
          <a:prstGeom prst="rect">
            <a:avLst/>
          </a:prstGeom>
          <a:noFill/>
          <a:ln/>
        </p:spPr>
        <p:txBody>
          <a:bodyPr wrap="square" lIns="0" tIns="0" rIns="0" bIns="0" rtlCol="0" anchor="ctr"/>
          <a:lstStyle/>
          <a:p>
            <a:pPr indent="0" marL="0">
              <a:buNone/>
            </a:pPr>
            <a:r>
              <a:rPr lang="en-US" sz="660" b="1" dirty="0">
                <a:solidFill>
                  <a:srgbClr val="F2B84B"/>
                </a:solidFill>
                <a:latin typeface="Calibri" pitchFamily="34" charset="0"/>
                <a:ea typeface="Calibri" pitchFamily="34" charset="-122"/>
                <a:cs typeface="Calibri" pitchFamily="34" charset="-120"/>
              </a:rPr>
              <a:t>NPI   </a:t>
            </a:r>
            <a:pPr indent="0" marL="0">
              <a:buNone/>
            </a:pPr>
            <a:r>
              <a:rPr lang="en-US" sz="700" dirty="0">
                <a:solidFill>
                  <a:srgbClr val="183B39"/>
                </a:solidFill>
                <a:latin typeface="Calibri" pitchFamily="34" charset="0"/>
                <a:ea typeface="Calibri" pitchFamily="34" charset="-122"/>
                <a:cs typeface="Calibri" pitchFamily="34" charset="-120"/>
              </a:rPr>
              <a:t>₹0.54 Cr · 6.6% of zone — lowest NPI mix of any zone</a:t>
            </a:r>
            <a:endParaRPr lang="en-US" sz="660" dirty="0"/>
          </a:p>
        </p:txBody>
      </p:sp>
      <p:sp>
        <p:nvSpPr>
          <p:cNvPr id="86" name="Shape 82"/>
          <p:cNvSpPr/>
          <p:nvPr/>
        </p:nvSpPr>
        <p:spPr>
          <a:xfrm>
            <a:off x="265176" y="6821424"/>
            <a:ext cx="6327648" cy="256032"/>
          </a:xfrm>
          <a:prstGeom prst="rect">
            <a:avLst/>
          </a:prstGeom>
          <a:solidFill>
            <a:srgbClr val="2B9A66"/>
          </a:solidFill>
          <a:ln/>
        </p:spPr>
      </p:sp>
      <p:sp>
        <p:nvSpPr>
          <p:cNvPr id="87" name="Text 83"/>
          <p:cNvSpPr/>
          <p:nvPr/>
        </p:nvSpPr>
        <p:spPr>
          <a:xfrm>
            <a:off x="374904" y="6839712"/>
            <a:ext cx="6108192" cy="219456"/>
          </a:xfrm>
          <a:prstGeom prst="rect">
            <a:avLst/>
          </a:prstGeom>
          <a:noFill/>
          <a:ln/>
        </p:spPr>
        <p:txBody>
          <a:bodyPr wrap="square" lIns="0" tIns="0" rIns="0" bIns="0" rtlCol="0" anchor="ctr"/>
          <a:lstStyle/>
          <a:p>
            <a:pPr indent="0" marL="0">
              <a:buNone/>
            </a:pPr>
            <a:r>
              <a:rPr lang="en-US" sz="720" b="1" spc="60" kern="0" dirty="0">
                <a:solidFill>
                  <a:srgbClr val="FFFFFF"/>
                </a:solidFill>
                <a:latin typeface="Calibri" pitchFamily="34" charset="0"/>
                <a:ea typeface="Calibri" pitchFamily="34" charset="-122"/>
                <a:cs typeface="Calibri" pitchFamily="34" charset="-120"/>
              </a:rPr>
              <a:t>SIX DIAGNOSED EXCEPTIONS — CAUSE, ACTION AND OWNER</a:t>
            </a:r>
            <a:endParaRPr lang="en-US" sz="720" dirty="0"/>
          </a:p>
        </p:txBody>
      </p:sp>
      <p:sp>
        <p:nvSpPr>
          <p:cNvPr id="88" name="Shape 84"/>
          <p:cNvSpPr/>
          <p:nvPr/>
        </p:nvSpPr>
        <p:spPr>
          <a:xfrm>
            <a:off x="265176" y="7168896"/>
            <a:ext cx="2036064" cy="1700784"/>
          </a:xfrm>
          <a:prstGeom prst="roundRect">
            <a:avLst>
              <a:gd name="adj" fmla="val 1075"/>
            </a:avLst>
          </a:prstGeom>
          <a:solidFill>
            <a:srgbClr val="FFFFFF"/>
          </a:solidFill>
          <a:ln w="9525">
            <a:solidFill>
              <a:srgbClr val="C8DCD7"/>
            </a:solidFill>
            <a:prstDash val="solid"/>
          </a:ln>
        </p:spPr>
      </p:sp>
      <p:sp>
        <p:nvSpPr>
          <p:cNvPr id="89" name="Shape 85"/>
          <p:cNvSpPr/>
          <p:nvPr/>
        </p:nvSpPr>
        <p:spPr>
          <a:xfrm>
            <a:off x="265176" y="7168896"/>
            <a:ext cx="2036064" cy="41148"/>
          </a:xfrm>
          <a:prstGeom prst="rect">
            <a:avLst/>
          </a:prstGeom>
          <a:solidFill>
            <a:srgbClr val="2B9A66"/>
          </a:solidFill>
          <a:ln/>
        </p:spPr>
      </p:sp>
      <p:sp>
        <p:nvSpPr>
          <p:cNvPr id="90" name="Text 86"/>
          <p:cNvSpPr/>
          <p:nvPr/>
        </p:nvSpPr>
        <p:spPr>
          <a:xfrm>
            <a:off x="356616" y="7251192"/>
            <a:ext cx="1853184" cy="137160"/>
          </a:xfrm>
          <a:prstGeom prst="rect">
            <a:avLst/>
          </a:prstGeom>
          <a:noFill/>
          <a:ln/>
        </p:spPr>
        <p:txBody>
          <a:bodyPr wrap="square" lIns="0" tIns="0" rIns="0" bIns="0" rtlCol="0" anchor="t"/>
          <a:lstStyle/>
          <a:p>
            <a:pPr indent="0" marL="0">
              <a:buNone/>
            </a:pPr>
            <a:r>
              <a:rPr lang="en-US" sz="620" b="1" spc="50" kern="0" dirty="0">
                <a:solidFill>
                  <a:srgbClr val="2B9A66"/>
                </a:solidFill>
                <a:latin typeface="Calibri" pitchFamily="34" charset="0"/>
                <a:ea typeface="Calibri" pitchFamily="34" charset="-122"/>
                <a:cs typeface="Calibri" pitchFamily="34" charset="-120"/>
              </a:rPr>
              <a:t>BENCHMARK</a:t>
            </a:r>
            <a:endParaRPr lang="en-US" sz="620" dirty="0"/>
          </a:p>
        </p:txBody>
      </p:sp>
      <p:sp>
        <p:nvSpPr>
          <p:cNvPr id="91" name="Text 87"/>
          <p:cNvSpPr/>
          <p:nvPr/>
        </p:nvSpPr>
        <p:spPr>
          <a:xfrm>
            <a:off x="356616" y="7397496"/>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DMart West converts at 94.2% on ₹5.76 Cr</a:t>
            </a:r>
            <a:endParaRPr lang="en-US" sz="740" dirty="0"/>
          </a:p>
        </p:txBody>
      </p:sp>
      <p:sp>
        <p:nvSpPr>
          <p:cNvPr id="92" name="Text 88"/>
          <p:cNvSpPr/>
          <p:nvPr/>
        </p:nvSpPr>
        <p:spPr>
          <a:xfrm>
            <a:off x="356616" y="7735824"/>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Highest chain-zone conversion at material scale anywhere in the pack. This is the cadence North and East are being asked to reach.</a:t>
            </a:r>
            <a:endParaRPr lang="en-US" sz="650" dirty="0"/>
          </a:p>
        </p:txBody>
      </p:sp>
      <p:sp>
        <p:nvSpPr>
          <p:cNvPr id="93" name="Shape 89"/>
          <p:cNvSpPr/>
          <p:nvPr/>
        </p:nvSpPr>
        <p:spPr>
          <a:xfrm>
            <a:off x="356616" y="8330184"/>
            <a:ext cx="1853184" cy="0"/>
          </a:xfrm>
          <a:prstGeom prst="line">
            <a:avLst/>
          </a:prstGeom>
          <a:noFill/>
          <a:ln w="6350">
            <a:solidFill>
              <a:srgbClr val="C8DCD7"/>
            </a:solidFill>
            <a:prstDash val="solid"/>
          </a:ln>
        </p:spPr>
      </p:sp>
      <p:sp>
        <p:nvSpPr>
          <p:cNvPr id="94" name="Text 90"/>
          <p:cNvSpPr/>
          <p:nvPr/>
        </p:nvSpPr>
        <p:spPr>
          <a:xfrm>
            <a:off x="356616" y="8375904"/>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Document the DMart West order and replenishment rhythm as the national standard.</a:t>
            </a:r>
            <a:endParaRPr lang="en-US" sz="600" dirty="0"/>
          </a:p>
        </p:txBody>
      </p:sp>
      <p:sp>
        <p:nvSpPr>
          <p:cNvPr id="95" name="Text 91"/>
          <p:cNvSpPr/>
          <p:nvPr/>
        </p:nvSpPr>
        <p:spPr>
          <a:xfrm>
            <a:off x="356616" y="8705088"/>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NKAM DMart · with West RKAM · 20 Aug</a:t>
            </a:r>
            <a:endParaRPr lang="en-US" sz="620" dirty="0"/>
          </a:p>
        </p:txBody>
      </p:sp>
      <p:sp>
        <p:nvSpPr>
          <p:cNvPr id="96" name="Shape 92"/>
          <p:cNvSpPr/>
          <p:nvPr/>
        </p:nvSpPr>
        <p:spPr>
          <a:xfrm>
            <a:off x="2410968" y="7168896"/>
            <a:ext cx="2036064" cy="1700784"/>
          </a:xfrm>
          <a:prstGeom prst="roundRect">
            <a:avLst>
              <a:gd name="adj" fmla="val 1075"/>
            </a:avLst>
          </a:prstGeom>
          <a:solidFill>
            <a:srgbClr val="FFFFFF"/>
          </a:solidFill>
          <a:ln w="9525">
            <a:solidFill>
              <a:srgbClr val="C8DCD7"/>
            </a:solidFill>
            <a:prstDash val="solid"/>
          </a:ln>
        </p:spPr>
      </p:sp>
      <p:sp>
        <p:nvSpPr>
          <p:cNvPr id="97" name="Shape 93"/>
          <p:cNvSpPr/>
          <p:nvPr/>
        </p:nvSpPr>
        <p:spPr>
          <a:xfrm>
            <a:off x="2410968" y="7168896"/>
            <a:ext cx="2036064" cy="41148"/>
          </a:xfrm>
          <a:prstGeom prst="rect">
            <a:avLst/>
          </a:prstGeom>
          <a:solidFill>
            <a:srgbClr val="D6544D"/>
          </a:solidFill>
          <a:ln/>
        </p:spPr>
      </p:sp>
      <p:sp>
        <p:nvSpPr>
          <p:cNvPr id="98" name="Text 94"/>
          <p:cNvSpPr/>
          <p:nvPr/>
        </p:nvSpPr>
        <p:spPr>
          <a:xfrm>
            <a:off x="2502408" y="7251192"/>
            <a:ext cx="1853184" cy="137160"/>
          </a:xfrm>
          <a:prstGeom prst="rect">
            <a:avLst/>
          </a:prstGeom>
          <a:noFill/>
          <a:ln/>
        </p:spPr>
        <p:txBody>
          <a:bodyPr wrap="square" lIns="0" tIns="0" rIns="0" bIns="0" rtlCol="0" anchor="t"/>
          <a:lstStyle/>
          <a:p>
            <a:pPr indent="0" marL="0">
              <a:buNone/>
            </a:pPr>
            <a:r>
              <a:rPr lang="en-US" sz="620" b="1" spc="50" kern="0" dirty="0">
                <a:solidFill>
                  <a:srgbClr val="D6544D"/>
                </a:solidFill>
                <a:latin typeface="Calibri" pitchFamily="34" charset="0"/>
                <a:ea typeface="Calibri" pitchFamily="34" charset="-122"/>
                <a:cs typeface="Calibri" pitchFamily="34" charset="-120"/>
              </a:rPr>
              <a:t>EXCEPTION</a:t>
            </a:r>
            <a:endParaRPr lang="en-US" sz="620" dirty="0"/>
          </a:p>
        </p:txBody>
      </p:sp>
      <p:sp>
        <p:nvSpPr>
          <p:cNvPr id="99" name="Text 95"/>
          <p:cNvSpPr/>
          <p:nvPr/>
        </p:nvSpPr>
        <p:spPr>
          <a:xfrm>
            <a:off x="2502408" y="7397496"/>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Reliance West converts at 54.5% on ₹1.23 Cr</a:t>
            </a:r>
            <a:endParaRPr lang="en-US" sz="740" dirty="0"/>
          </a:p>
        </p:txBody>
      </p:sp>
      <p:sp>
        <p:nvSpPr>
          <p:cNvPr id="100" name="Text 96"/>
          <p:cNvSpPr/>
          <p:nvPr/>
        </p:nvSpPr>
        <p:spPr>
          <a:xfrm>
            <a:off x="2502408" y="7735824"/>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The only weak cell in an otherwise healthy zone, and it matches Reliance behaviour in North, East and Central — the pattern is the account, not the geography.</a:t>
            </a:r>
            <a:endParaRPr lang="en-US" sz="650" dirty="0"/>
          </a:p>
        </p:txBody>
      </p:sp>
      <p:sp>
        <p:nvSpPr>
          <p:cNvPr id="101" name="Shape 97"/>
          <p:cNvSpPr/>
          <p:nvPr/>
        </p:nvSpPr>
        <p:spPr>
          <a:xfrm>
            <a:off x="2502408" y="8330184"/>
            <a:ext cx="1853184" cy="0"/>
          </a:xfrm>
          <a:prstGeom prst="line">
            <a:avLst/>
          </a:prstGeom>
          <a:noFill/>
          <a:ln w="6350">
            <a:solidFill>
              <a:srgbClr val="C8DCD7"/>
            </a:solidFill>
            <a:prstDash val="solid"/>
          </a:ln>
        </p:spPr>
      </p:sp>
      <p:sp>
        <p:nvSpPr>
          <p:cNvPr id="102" name="Text 98"/>
          <p:cNvSpPr/>
          <p:nvPr/>
        </p:nvSpPr>
        <p:spPr>
          <a:xfrm>
            <a:off x="2502408" y="8375904"/>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Fold into the national Reliance recovery loop rather than running a West-specific fix.</a:t>
            </a:r>
            <a:endParaRPr lang="en-US" sz="600" dirty="0"/>
          </a:p>
        </p:txBody>
      </p:sp>
      <p:sp>
        <p:nvSpPr>
          <p:cNvPr id="103" name="Text 99"/>
          <p:cNvSpPr/>
          <p:nvPr/>
        </p:nvSpPr>
        <p:spPr>
          <a:xfrm>
            <a:off x="2502408" y="8705088"/>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NKAM Reliance · 25 Aug</a:t>
            </a:r>
            <a:endParaRPr lang="en-US" sz="620" dirty="0"/>
          </a:p>
        </p:txBody>
      </p:sp>
      <p:sp>
        <p:nvSpPr>
          <p:cNvPr id="104" name="Shape 100"/>
          <p:cNvSpPr/>
          <p:nvPr/>
        </p:nvSpPr>
        <p:spPr>
          <a:xfrm>
            <a:off x="4556760" y="7168896"/>
            <a:ext cx="2036064" cy="1700784"/>
          </a:xfrm>
          <a:prstGeom prst="roundRect">
            <a:avLst>
              <a:gd name="adj" fmla="val 1075"/>
            </a:avLst>
          </a:prstGeom>
          <a:solidFill>
            <a:srgbClr val="FFFFFF"/>
          </a:solidFill>
          <a:ln w="9525">
            <a:solidFill>
              <a:srgbClr val="C8DCD7"/>
            </a:solidFill>
            <a:prstDash val="solid"/>
          </a:ln>
        </p:spPr>
      </p:sp>
      <p:sp>
        <p:nvSpPr>
          <p:cNvPr id="105" name="Shape 101"/>
          <p:cNvSpPr/>
          <p:nvPr/>
        </p:nvSpPr>
        <p:spPr>
          <a:xfrm>
            <a:off x="4556760" y="7168896"/>
            <a:ext cx="2036064" cy="41148"/>
          </a:xfrm>
          <a:prstGeom prst="rect">
            <a:avLst/>
          </a:prstGeom>
          <a:solidFill>
            <a:srgbClr val="F2B84B"/>
          </a:solidFill>
          <a:ln/>
        </p:spPr>
      </p:sp>
      <p:sp>
        <p:nvSpPr>
          <p:cNvPr id="106" name="Text 102"/>
          <p:cNvSpPr/>
          <p:nvPr/>
        </p:nvSpPr>
        <p:spPr>
          <a:xfrm>
            <a:off x="4648200" y="7251192"/>
            <a:ext cx="1853184" cy="137160"/>
          </a:xfrm>
          <a:prstGeom prst="rect">
            <a:avLst/>
          </a:prstGeom>
          <a:noFill/>
          <a:ln/>
        </p:spPr>
        <p:txBody>
          <a:bodyPr wrap="square" lIns="0" tIns="0" rIns="0" bIns="0" rtlCol="0" anchor="t"/>
          <a:lstStyle/>
          <a:p>
            <a:pPr indent="0" marL="0">
              <a:buNone/>
            </a:pPr>
            <a:r>
              <a:rPr lang="en-US" sz="620" b="1" spc="50" kern="0" dirty="0">
                <a:solidFill>
                  <a:srgbClr val="F2B84B"/>
                </a:solidFill>
                <a:latin typeface="Calibri" pitchFamily="34" charset="0"/>
                <a:ea typeface="Calibri" pitchFamily="34" charset="-122"/>
                <a:cs typeface="Calibri" pitchFamily="34" charset="-120"/>
              </a:rPr>
              <a:t>DATA</a:t>
            </a:r>
            <a:endParaRPr lang="en-US" sz="620" dirty="0"/>
          </a:p>
        </p:txBody>
      </p:sp>
      <p:sp>
        <p:nvSpPr>
          <p:cNvPr id="107" name="Text 103"/>
          <p:cNvSpPr/>
          <p:nvPr/>
        </p:nvSpPr>
        <p:spPr>
          <a:xfrm>
            <a:off x="4648200" y="7397496"/>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Wellness Forever shows ₹0.65 Cr offtake, no mapped primary</a:t>
            </a:r>
            <a:endParaRPr lang="en-US" sz="740" dirty="0"/>
          </a:p>
        </p:txBody>
      </p:sp>
      <p:sp>
        <p:nvSpPr>
          <p:cNvPr id="108" name="Text 104"/>
          <p:cNvSpPr/>
          <p:nvPr/>
        </p:nvSpPr>
        <p:spPr>
          <a:xfrm>
            <a:off x="4648200" y="7735824"/>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Source deck reported this as 134.9% conversion. A ratio above 100% here is an unmapped billing route, not throughput.</a:t>
            </a:r>
            <a:endParaRPr lang="en-US" sz="650" dirty="0"/>
          </a:p>
        </p:txBody>
      </p:sp>
      <p:sp>
        <p:nvSpPr>
          <p:cNvPr id="109" name="Shape 105"/>
          <p:cNvSpPr/>
          <p:nvPr/>
        </p:nvSpPr>
        <p:spPr>
          <a:xfrm>
            <a:off x="4648200" y="8330184"/>
            <a:ext cx="1853184" cy="0"/>
          </a:xfrm>
          <a:prstGeom prst="line">
            <a:avLst/>
          </a:prstGeom>
          <a:noFill/>
          <a:ln w="6350">
            <a:solidFill>
              <a:srgbClr val="C8DCD7"/>
            </a:solidFill>
            <a:prstDash val="solid"/>
          </a:ln>
        </p:spPr>
      </p:sp>
      <p:sp>
        <p:nvSpPr>
          <p:cNvPr id="110" name="Text 106"/>
          <p:cNvSpPr/>
          <p:nvPr/>
        </p:nvSpPr>
        <p:spPr>
          <a:xfrm>
            <a:off x="4648200" y="8375904"/>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Map the Wellness Forever billing route before the August pack is built.</a:t>
            </a:r>
            <a:endParaRPr lang="en-US" sz="600" dirty="0"/>
          </a:p>
        </p:txBody>
      </p:sp>
      <p:sp>
        <p:nvSpPr>
          <p:cNvPr id="111" name="Text 107"/>
          <p:cNvSpPr/>
          <p:nvPr/>
        </p:nvSpPr>
        <p:spPr>
          <a:xfrm>
            <a:off x="4648200" y="8705088"/>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Analyst · 18 Aug</a:t>
            </a:r>
            <a:endParaRPr lang="en-US" sz="620" dirty="0"/>
          </a:p>
        </p:txBody>
      </p:sp>
      <p:sp>
        <p:nvSpPr>
          <p:cNvPr id="112" name="Shape 108"/>
          <p:cNvSpPr/>
          <p:nvPr/>
        </p:nvSpPr>
        <p:spPr>
          <a:xfrm>
            <a:off x="265176" y="8979408"/>
            <a:ext cx="2036064" cy="1700784"/>
          </a:xfrm>
          <a:prstGeom prst="roundRect">
            <a:avLst>
              <a:gd name="adj" fmla="val 1075"/>
            </a:avLst>
          </a:prstGeom>
          <a:solidFill>
            <a:srgbClr val="FFFFFF"/>
          </a:solidFill>
          <a:ln w="9525">
            <a:solidFill>
              <a:srgbClr val="C8DCD7"/>
            </a:solidFill>
            <a:prstDash val="solid"/>
          </a:ln>
        </p:spPr>
      </p:sp>
      <p:sp>
        <p:nvSpPr>
          <p:cNvPr id="113" name="Shape 109"/>
          <p:cNvSpPr/>
          <p:nvPr/>
        </p:nvSpPr>
        <p:spPr>
          <a:xfrm>
            <a:off x="265176" y="8979408"/>
            <a:ext cx="2036064" cy="41148"/>
          </a:xfrm>
          <a:prstGeom prst="rect">
            <a:avLst/>
          </a:prstGeom>
          <a:solidFill>
            <a:srgbClr val="116F68"/>
          </a:solidFill>
          <a:ln/>
        </p:spPr>
      </p:sp>
      <p:sp>
        <p:nvSpPr>
          <p:cNvPr id="114" name="Text 110"/>
          <p:cNvSpPr/>
          <p:nvPr/>
        </p:nvSpPr>
        <p:spPr>
          <a:xfrm>
            <a:off x="356616" y="9061704"/>
            <a:ext cx="1853184" cy="137160"/>
          </a:xfrm>
          <a:prstGeom prst="rect">
            <a:avLst/>
          </a:prstGeom>
          <a:noFill/>
          <a:ln/>
        </p:spPr>
        <p:txBody>
          <a:bodyPr wrap="square" lIns="0" tIns="0" rIns="0" bIns="0" rtlCol="0" anchor="t"/>
          <a:lstStyle/>
          <a:p>
            <a:pPr indent="0" marL="0">
              <a:buNone/>
            </a:pPr>
            <a:r>
              <a:rPr lang="en-US" sz="620" b="1" spc="50" kern="0" dirty="0">
                <a:solidFill>
                  <a:srgbClr val="116F68"/>
                </a:solidFill>
                <a:latin typeface="Calibri" pitchFamily="34" charset="0"/>
                <a:ea typeface="Calibri" pitchFamily="34" charset="-122"/>
                <a:cs typeface="Calibri" pitchFamily="34" charset="-120"/>
              </a:rPr>
              <a:t>CONCENTRATION</a:t>
            </a:r>
            <a:endParaRPr lang="en-US" sz="620" dirty="0"/>
          </a:p>
        </p:txBody>
      </p:sp>
      <p:sp>
        <p:nvSpPr>
          <p:cNvPr id="115" name="Text 111"/>
          <p:cNvSpPr/>
          <p:nvPr/>
        </p:nvSpPr>
        <p:spPr>
          <a:xfrm>
            <a:off x="356616" y="9208008"/>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Top three chains carry 92.5% of zone offtake</a:t>
            </a:r>
            <a:endParaRPr lang="en-US" sz="740" dirty="0"/>
          </a:p>
        </p:txBody>
      </p:sp>
      <p:sp>
        <p:nvSpPr>
          <p:cNvPr id="116" name="Text 112"/>
          <p:cNvSpPr/>
          <p:nvPr/>
        </p:nvSpPr>
        <p:spPr>
          <a:xfrm>
            <a:off x="356616" y="9546336"/>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Concentration is high but conversion is healthy, so this reads as focus rather than fragility. It becomes a risk only if DMart execution slips.</a:t>
            </a:r>
            <a:endParaRPr lang="en-US" sz="650" dirty="0"/>
          </a:p>
        </p:txBody>
      </p:sp>
      <p:sp>
        <p:nvSpPr>
          <p:cNvPr id="117" name="Shape 113"/>
          <p:cNvSpPr/>
          <p:nvPr/>
        </p:nvSpPr>
        <p:spPr>
          <a:xfrm>
            <a:off x="356616" y="10140696"/>
            <a:ext cx="1853184" cy="0"/>
          </a:xfrm>
          <a:prstGeom prst="line">
            <a:avLst/>
          </a:prstGeom>
          <a:noFill/>
          <a:ln w="6350">
            <a:solidFill>
              <a:srgbClr val="C8DCD7"/>
            </a:solidFill>
            <a:prstDash val="solid"/>
          </a:ln>
        </p:spPr>
      </p:sp>
      <p:sp>
        <p:nvSpPr>
          <p:cNvPr id="118" name="Text 114"/>
          <p:cNvSpPr/>
          <p:nvPr/>
        </p:nvSpPr>
        <p:spPr>
          <a:xfrm>
            <a:off x="356616" y="10186416"/>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Track DMart West weekly as a single-point-of-failure watch item.</a:t>
            </a:r>
            <a:endParaRPr lang="en-US" sz="600" dirty="0"/>
          </a:p>
        </p:txBody>
      </p:sp>
      <p:sp>
        <p:nvSpPr>
          <p:cNvPr id="119" name="Text 115"/>
          <p:cNvSpPr/>
          <p:nvPr/>
        </p:nvSpPr>
        <p:spPr>
          <a:xfrm>
            <a:off x="356616" y="10515600"/>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West RKAM · weekly</a:t>
            </a:r>
            <a:endParaRPr lang="en-US" sz="620" dirty="0"/>
          </a:p>
        </p:txBody>
      </p:sp>
      <p:sp>
        <p:nvSpPr>
          <p:cNvPr id="120" name="Shape 116"/>
          <p:cNvSpPr/>
          <p:nvPr/>
        </p:nvSpPr>
        <p:spPr>
          <a:xfrm>
            <a:off x="2410968" y="8979408"/>
            <a:ext cx="2036064" cy="1700784"/>
          </a:xfrm>
          <a:prstGeom prst="roundRect">
            <a:avLst>
              <a:gd name="adj" fmla="val 1075"/>
            </a:avLst>
          </a:prstGeom>
          <a:solidFill>
            <a:srgbClr val="FFFFFF"/>
          </a:solidFill>
          <a:ln w="9525">
            <a:solidFill>
              <a:srgbClr val="C8DCD7"/>
            </a:solidFill>
            <a:prstDash val="solid"/>
          </a:ln>
        </p:spPr>
      </p:sp>
      <p:sp>
        <p:nvSpPr>
          <p:cNvPr id="121" name="Shape 117"/>
          <p:cNvSpPr/>
          <p:nvPr/>
        </p:nvSpPr>
        <p:spPr>
          <a:xfrm>
            <a:off x="2410968" y="8979408"/>
            <a:ext cx="2036064" cy="41148"/>
          </a:xfrm>
          <a:prstGeom prst="rect">
            <a:avLst/>
          </a:prstGeom>
          <a:solidFill>
            <a:srgbClr val="116F68"/>
          </a:solidFill>
          <a:ln/>
        </p:spPr>
      </p:sp>
      <p:sp>
        <p:nvSpPr>
          <p:cNvPr id="122" name="Text 118"/>
          <p:cNvSpPr/>
          <p:nvPr/>
        </p:nvSpPr>
        <p:spPr>
          <a:xfrm>
            <a:off x="2502408" y="9061704"/>
            <a:ext cx="1853184" cy="137160"/>
          </a:xfrm>
          <a:prstGeom prst="rect">
            <a:avLst/>
          </a:prstGeom>
          <a:noFill/>
          <a:ln/>
        </p:spPr>
        <p:txBody>
          <a:bodyPr wrap="square" lIns="0" tIns="0" rIns="0" bIns="0" rtlCol="0" anchor="t"/>
          <a:lstStyle/>
          <a:p>
            <a:pPr indent="0" marL="0">
              <a:buNone/>
            </a:pPr>
            <a:r>
              <a:rPr lang="en-US" sz="620" b="1" spc="50" kern="0" dirty="0">
                <a:solidFill>
                  <a:srgbClr val="116F68"/>
                </a:solidFill>
                <a:latin typeface="Calibri" pitchFamily="34" charset="0"/>
                <a:ea typeface="Calibri" pitchFamily="34" charset="-122"/>
                <a:cs typeface="Calibri" pitchFamily="34" charset="-120"/>
              </a:rPr>
              <a:t>PORTFOLIO</a:t>
            </a:r>
            <a:endParaRPr lang="en-US" sz="620" dirty="0"/>
          </a:p>
        </p:txBody>
      </p:sp>
      <p:sp>
        <p:nvSpPr>
          <p:cNvPr id="123" name="Text 119"/>
          <p:cNvSpPr/>
          <p:nvPr/>
        </p:nvSpPr>
        <p:spPr>
          <a:xfrm>
            <a:off x="2502408" y="9208008"/>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The Derma Co. Face Cleanser at ₹2.84 Cr rivals Mamaearth</a:t>
            </a:r>
            <a:endParaRPr lang="en-US" sz="740" dirty="0"/>
          </a:p>
        </p:txBody>
      </p:sp>
      <p:sp>
        <p:nvSpPr>
          <p:cNvPr id="124" name="Text 120"/>
          <p:cNvSpPr/>
          <p:nvPr/>
        </p:nvSpPr>
        <p:spPr>
          <a:xfrm>
            <a:off x="2502408" y="9546336"/>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TDC earns ₹3.24 Cr against Mamaearth's ₹4.97 Cr in this zone — the closest brand parity anywhere, driven almost entirely by one sub-category.</a:t>
            </a:r>
            <a:endParaRPr lang="en-US" sz="650" dirty="0"/>
          </a:p>
        </p:txBody>
      </p:sp>
      <p:sp>
        <p:nvSpPr>
          <p:cNvPr id="125" name="Shape 121"/>
          <p:cNvSpPr/>
          <p:nvPr/>
        </p:nvSpPr>
        <p:spPr>
          <a:xfrm>
            <a:off x="2502408" y="10140696"/>
            <a:ext cx="1853184" cy="0"/>
          </a:xfrm>
          <a:prstGeom prst="line">
            <a:avLst/>
          </a:prstGeom>
          <a:noFill/>
          <a:ln w="6350">
            <a:solidFill>
              <a:srgbClr val="C8DCD7"/>
            </a:solidFill>
            <a:prstDash val="solid"/>
          </a:ln>
        </p:spPr>
      </p:sp>
      <p:sp>
        <p:nvSpPr>
          <p:cNvPr id="126" name="Text 122"/>
          <p:cNvSpPr/>
          <p:nvPr/>
        </p:nvSpPr>
        <p:spPr>
          <a:xfrm>
            <a:off x="2502408" y="10186416"/>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Protect TDC Face Cleanser shelf space in the DMart West planogram reset.</a:t>
            </a:r>
            <a:endParaRPr lang="en-US" sz="600" dirty="0"/>
          </a:p>
        </p:txBody>
      </p:sp>
      <p:sp>
        <p:nvSpPr>
          <p:cNvPr id="127" name="Text 123"/>
          <p:cNvSpPr/>
          <p:nvPr/>
        </p:nvSpPr>
        <p:spPr>
          <a:xfrm>
            <a:off x="2502408" y="10515600"/>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Category + NKAM DMart · Sep cycle</a:t>
            </a:r>
            <a:endParaRPr lang="en-US" sz="620" dirty="0"/>
          </a:p>
        </p:txBody>
      </p:sp>
      <p:sp>
        <p:nvSpPr>
          <p:cNvPr id="128" name="Shape 124"/>
          <p:cNvSpPr/>
          <p:nvPr/>
        </p:nvSpPr>
        <p:spPr>
          <a:xfrm>
            <a:off x="4556760" y="8979408"/>
            <a:ext cx="2036064" cy="1700784"/>
          </a:xfrm>
          <a:prstGeom prst="roundRect">
            <a:avLst>
              <a:gd name="adj" fmla="val 1075"/>
            </a:avLst>
          </a:prstGeom>
          <a:solidFill>
            <a:srgbClr val="FFFFFF"/>
          </a:solidFill>
          <a:ln w="9525">
            <a:solidFill>
              <a:srgbClr val="C8DCD7"/>
            </a:solidFill>
            <a:prstDash val="solid"/>
          </a:ln>
        </p:spPr>
      </p:sp>
      <p:sp>
        <p:nvSpPr>
          <p:cNvPr id="129" name="Shape 125"/>
          <p:cNvSpPr/>
          <p:nvPr/>
        </p:nvSpPr>
        <p:spPr>
          <a:xfrm>
            <a:off x="4556760" y="8979408"/>
            <a:ext cx="2036064" cy="41148"/>
          </a:xfrm>
          <a:prstGeom prst="rect">
            <a:avLst/>
          </a:prstGeom>
          <a:solidFill>
            <a:srgbClr val="5F716E"/>
          </a:solidFill>
          <a:ln/>
        </p:spPr>
      </p:sp>
      <p:sp>
        <p:nvSpPr>
          <p:cNvPr id="130" name="Text 126"/>
          <p:cNvSpPr/>
          <p:nvPr/>
        </p:nvSpPr>
        <p:spPr>
          <a:xfrm>
            <a:off x="4648200" y="9061704"/>
            <a:ext cx="1853184" cy="137160"/>
          </a:xfrm>
          <a:prstGeom prst="rect">
            <a:avLst/>
          </a:prstGeom>
          <a:noFill/>
          <a:ln/>
        </p:spPr>
        <p:txBody>
          <a:bodyPr wrap="square" lIns="0" tIns="0" rIns="0" bIns="0" rtlCol="0" anchor="t"/>
          <a:lstStyle/>
          <a:p>
            <a:pPr indent="0" marL="0">
              <a:buNone/>
            </a:pPr>
            <a:r>
              <a:rPr lang="en-US" sz="620" b="1" spc="50" kern="0" dirty="0">
                <a:solidFill>
                  <a:srgbClr val="5F716E"/>
                </a:solidFill>
                <a:latin typeface="Calibri" pitchFamily="34" charset="0"/>
                <a:ea typeface="Calibri" pitchFamily="34" charset="-122"/>
                <a:cs typeface="Calibri" pitchFamily="34" charset="-120"/>
              </a:rPr>
              <a:t>SIZING</a:t>
            </a:r>
            <a:endParaRPr lang="en-US" sz="620" dirty="0"/>
          </a:p>
        </p:txBody>
      </p:sp>
      <p:sp>
        <p:nvSpPr>
          <p:cNvPr id="131" name="Text 127"/>
          <p:cNvSpPr/>
          <p:nvPr/>
        </p:nvSpPr>
        <p:spPr>
          <a:xfrm>
            <a:off x="4648200" y="9208008"/>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Zone is already above benchmark — no recovery pool here</a:t>
            </a:r>
            <a:endParaRPr lang="en-US" sz="740" dirty="0"/>
          </a:p>
        </p:txBody>
      </p:sp>
      <p:sp>
        <p:nvSpPr>
          <p:cNvPr id="132" name="Text 128"/>
          <p:cNvSpPr/>
          <p:nvPr/>
        </p:nvSpPr>
        <p:spPr>
          <a:xfrm>
            <a:off x="4648200" y="9546336"/>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85.2% conversion sits at the internal benchmark. Effort spent here returns less than the same effort in North or East.</a:t>
            </a:r>
            <a:endParaRPr lang="en-US" sz="650" dirty="0"/>
          </a:p>
        </p:txBody>
      </p:sp>
      <p:sp>
        <p:nvSpPr>
          <p:cNvPr id="133" name="Shape 129"/>
          <p:cNvSpPr/>
          <p:nvPr/>
        </p:nvSpPr>
        <p:spPr>
          <a:xfrm>
            <a:off x="4648200" y="10140696"/>
            <a:ext cx="1853184" cy="0"/>
          </a:xfrm>
          <a:prstGeom prst="line">
            <a:avLst/>
          </a:prstGeom>
          <a:noFill/>
          <a:ln w="6350">
            <a:solidFill>
              <a:srgbClr val="C8DCD7"/>
            </a:solidFill>
            <a:prstDash val="solid"/>
          </a:ln>
        </p:spPr>
      </p:sp>
      <p:sp>
        <p:nvSpPr>
          <p:cNvPr id="134" name="Text 130"/>
          <p:cNvSpPr/>
          <p:nvPr/>
        </p:nvSpPr>
        <p:spPr>
          <a:xfrm>
            <a:off x="4648200" y="10186416"/>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Hold headcount and trade spend flat; redirect incremental field capacity to North.</a:t>
            </a:r>
            <a:endParaRPr lang="en-US" sz="600" dirty="0"/>
          </a:p>
        </p:txBody>
      </p:sp>
      <p:sp>
        <p:nvSpPr>
          <p:cNvPr id="135" name="Text 131"/>
          <p:cNvSpPr/>
          <p:nvPr/>
        </p:nvSpPr>
        <p:spPr>
          <a:xfrm>
            <a:off x="4648200" y="10515600"/>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Sales lead · Sep planning</a:t>
            </a:r>
            <a:endParaRPr lang="en-US" sz="620" dirty="0"/>
          </a:p>
        </p:txBody>
      </p:sp>
      <p:sp>
        <p:nvSpPr>
          <p:cNvPr id="136" name="Text 132"/>
          <p:cNvSpPr/>
          <p:nvPr/>
        </p:nvSpPr>
        <p:spPr>
          <a:xfrm>
            <a:off x="265176" y="10844784"/>
            <a:ext cx="6327648" cy="182880"/>
          </a:xfrm>
          <a:prstGeom prst="rect">
            <a:avLst/>
          </a:prstGeom>
          <a:noFill/>
          <a:ln/>
        </p:spPr>
        <p:txBody>
          <a:bodyPr wrap="square" lIns="0" tIns="0" rIns="0" bIns="0" rtlCol="0" anchor="t"/>
          <a:lstStyle/>
          <a:p>
            <a:pPr algn="ctr" indent="0" marL="0">
              <a:buNone/>
            </a:pPr>
            <a:r>
              <a:rPr lang="en-US" sz="680" i="1" dirty="0">
                <a:solidFill>
                  <a:srgbClr val="5F716E"/>
                </a:solidFill>
                <a:latin typeface="Calibri" pitchFamily="34" charset="0"/>
                <a:ea typeface="Calibri" pitchFamily="34" charset="-122"/>
                <a:cs typeface="Calibri" pitchFamily="34" charset="-120"/>
              </a:rPr>
              <a:t>West NPI mix 6.6% | Benchmark zone — study DMart execution before copying it elsewhere</a:t>
            </a:r>
            <a:endParaRPr lang="en-US" sz="6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A"/>
        </a:solidFill>
      </p:bgPr>
    </p:bg>
    <p:spTree>
      <p:nvGrpSpPr>
        <p:cNvPr id="1" name=""/>
        <p:cNvGrpSpPr/>
        <p:nvPr/>
      </p:nvGrpSpPr>
      <p:grpSpPr>
        <a:xfrm>
          <a:off x="0" y="0"/>
          <a:ext cx="0" cy="0"/>
          <a:chOff x="0" y="0"/>
          <a:chExt cx="0" cy="0"/>
        </a:xfrm>
      </p:grpSpPr>
      <p:sp>
        <p:nvSpPr>
          <p:cNvPr id="2" name="Shape 0"/>
          <p:cNvSpPr/>
          <p:nvPr/>
        </p:nvSpPr>
        <p:spPr>
          <a:xfrm>
            <a:off x="0" y="0"/>
            <a:ext cx="6858000" cy="1133856"/>
          </a:xfrm>
          <a:prstGeom prst="rect">
            <a:avLst/>
          </a:prstGeom>
          <a:solidFill>
            <a:srgbClr val="116F68"/>
          </a:solidFill>
          <a:ln/>
        </p:spPr>
      </p:sp>
      <p:sp>
        <p:nvSpPr>
          <p:cNvPr id="3" name="Text 1"/>
          <p:cNvSpPr/>
          <p:nvPr/>
        </p:nvSpPr>
        <p:spPr>
          <a:xfrm>
            <a:off x="365760" y="182880"/>
            <a:ext cx="5641848" cy="548640"/>
          </a:xfrm>
          <a:prstGeom prst="rect">
            <a:avLst/>
          </a:prstGeom>
          <a:noFill/>
          <a:ln/>
        </p:spPr>
        <p:txBody>
          <a:bodyPr wrap="square" lIns="0" tIns="0" rIns="0" bIns="0" rtlCol="0" anchor="ctr"/>
          <a:lstStyle/>
          <a:p>
            <a:pPr indent="0" marL="0">
              <a:lnSpc>
                <a:spcPct val="92000"/>
              </a:lnSpc>
              <a:buNone/>
            </a:pPr>
            <a:r>
              <a:rPr lang="en-US" sz="1850" b="1" dirty="0">
                <a:solidFill>
                  <a:srgbClr val="FFFFFF"/>
                </a:solidFill>
                <a:latin typeface="Calibri Light" pitchFamily="34" charset="0"/>
                <a:ea typeface="Calibri Light" pitchFamily="34" charset="-122"/>
                <a:cs typeface="Calibri Light" pitchFamily="34" charset="-120"/>
              </a:rPr>
              <a:t>South-1: Protect and convert</a:t>
            </a:r>
            <a:endParaRPr lang="en-US" sz="1850" dirty="0"/>
          </a:p>
        </p:txBody>
      </p:sp>
      <p:sp>
        <p:nvSpPr>
          <p:cNvPr id="4" name="Text 2"/>
          <p:cNvSpPr/>
          <p:nvPr/>
        </p:nvSpPr>
        <p:spPr>
          <a:xfrm>
            <a:off x="384048" y="786384"/>
            <a:ext cx="5641848" cy="237744"/>
          </a:xfrm>
          <a:prstGeom prst="rect">
            <a:avLst/>
          </a:prstGeom>
          <a:noFill/>
          <a:ln/>
        </p:spPr>
        <p:txBody>
          <a:bodyPr wrap="square" lIns="0" tIns="0" rIns="0" bIns="0" rtlCol="0" anchor="ctr"/>
          <a:lstStyle/>
          <a:p>
            <a:pPr indent="0" marL="0">
              <a:buNone/>
            </a:pPr>
            <a:r>
              <a:rPr lang="en-US" sz="850" dirty="0">
                <a:solidFill>
                  <a:srgbClr val="BFDCD7"/>
                </a:solidFill>
                <a:latin typeface="Calibri" pitchFamily="34" charset="0"/>
                <a:ea typeface="Calibri" pitchFamily="34" charset="-122"/>
                <a:cs typeface="Calibri" pitchFamily="34" charset="-120"/>
              </a:rPr>
              <a:t>MT zone deep dive | July 2026 | ₹ Cr | Modern Trade accounts only</a:t>
            </a:r>
            <a:endParaRPr lang="en-US" sz="850" dirty="0"/>
          </a:p>
        </p:txBody>
      </p:sp>
      <p:sp>
        <p:nvSpPr>
          <p:cNvPr id="5" name="Text 3"/>
          <p:cNvSpPr/>
          <p:nvPr/>
        </p:nvSpPr>
        <p:spPr>
          <a:xfrm>
            <a:off x="6117336" y="365760"/>
            <a:ext cx="402336" cy="237744"/>
          </a:xfrm>
          <a:prstGeom prst="rect">
            <a:avLst/>
          </a:prstGeom>
          <a:noFill/>
          <a:ln/>
        </p:spPr>
        <p:txBody>
          <a:bodyPr wrap="square" lIns="0" tIns="0" rIns="0" bIns="0" rtlCol="0" anchor="t"/>
          <a:lstStyle/>
          <a:p>
            <a:pPr algn="r" indent="0" marL="0">
              <a:buNone/>
            </a:pPr>
            <a:r>
              <a:rPr lang="en-US" sz="950" b="1" dirty="0">
                <a:solidFill>
                  <a:srgbClr val="8FC4BD"/>
                </a:solidFill>
                <a:latin typeface="Calibri" pitchFamily="34" charset="0"/>
                <a:ea typeface="Calibri" pitchFamily="34" charset="-122"/>
                <a:cs typeface="Calibri" pitchFamily="34" charset="-120"/>
              </a:rPr>
              <a:t>08</a:t>
            </a:r>
            <a:endParaRPr lang="en-US" sz="950" dirty="0"/>
          </a:p>
        </p:txBody>
      </p:sp>
      <p:sp>
        <p:nvSpPr>
          <p:cNvPr id="6" name="Shape 4"/>
          <p:cNvSpPr/>
          <p:nvPr/>
        </p:nvSpPr>
        <p:spPr>
          <a:xfrm>
            <a:off x="265176" y="11375136"/>
            <a:ext cx="6327648" cy="420624"/>
          </a:xfrm>
          <a:prstGeom prst="roundRect">
            <a:avLst>
              <a:gd name="adj" fmla="val 6522"/>
            </a:avLst>
          </a:prstGeom>
          <a:solidFill>
            <a:srgbClr val="DFF2ED"/>
          </a:solidFill>
          <a:ln w="9525">
            <a:solidFill>
              <a:srgbClr val="C8DCD7"/>
            </a:solidFill>
            <a:prstDash val="solid"/>
          </a:ln>
        </p:spPr>
      </p:sp>
      <p:sp>
        <p:nvSpPr>
          <p:cNvPr id="7" name="Text 5"/>
          <p:cNvSpPr/>
          <p:nvPr/>
        </p:nvSpPr>
        <p:spPr>
          <a:xfrm>
            <a:off x="374904"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EVIDENCE</a:t>
            </a:r>
            <a:endParaRPr lang="en-US" sz="650" dirty="0"/>
          </a:p>
        </p:txBody>
      </p:sp>
      <p:sp>
        <p:nvSpPr>
          <p:cNvPr id="8" name="Text 6"/>
          <p:cNvSpPr/>
          <p:nvPr/>
        </p:nvSpPr>
        <p:spPr>
          <a:xfrm>
            <a:off x="374904"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moved</a:t>
            </a:r>
            <a:endParaRPr lang="en-US" sz="700" dirty="0"/>
          </a:p>
        </p:txBody>
      </p:sp>
      <p:sp>
        <p:nvSpPr>
          <p:cNvPr id="9" name="Text 7"/>
          <p:cNvSpPr/>
          <p:nvPr/>
        </p:nvSpPr>
        <p:spPr>
          <a:xfrm>
            <a:off x="1901952"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IMPLICATION</a:t>
            </a:r>
            <a:endParaRPr lang="en-US" sz="650" dirty="0"/>
          </a:p>
        </p:txBody>
      </p:sp>
      <p:sp>
        <p:nvSpPr>
          <p:cNvPr id="10" name="Text 8"/>
          <p:cNvSpPr/>
          <p:nvPr/>
        </p:nvSpPr>
        <p:spPr>
          <a:xfrm>
            <a:off x="1901952"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Why it matters</a:t>
            </a:r>
            <a:endParaRPr lang="en-US" sz="700" dirty="0"/>
          </a:p>
        </p:txBody>
      </p:sp>
      <p:sp>
        <p:nvSpPr>
          <p:cNvPr id="11" name="Shape 9"/>
          <p:cNvSpPr/>
          <p:nvPr/>
        </p:nvSpPr>
        <p:spPr>
          <a:xfrm>
            <a:off x="1819656" y="11457432"/>
            <a:ext cx="0" cy="265176"/>
          </a:xfrm>
          <a:prstGeom prst="line">
            <a:avLst/>
          </a:prstGeom>
          <a:noFill/>
          <a:ln w="9525">
            <a:solidFill>
              <a:srgbClr val="C8DCD7"/>
            </a:solidFill>
            <a:prstDash val="solid"/>
          </a:ln>
        </p:spPr>
      </p:sp>
      <p:sp>
        <p:nvSpPr>
          <p:cNvPr id="12" name="Text 10"/>
          <p:cNvSpPr/>
          <p:nvPr/>
        </p:nvSpPr>
        <p:spPr>
          <a:xfrm>
            <a:off x="3429000"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ACTION</a:t>
            </a:r>
            <a:endParaRPr lang="en-US" sz="650" dirty="0"/>
          </a:p>
        </p:txBody>
      </p:sp>
      <p:sp>
        <p:nvSpPr>
          <p:cNvPr id="13" name="Text 11"/>
          <p:cNvSpPr/>
          <p:nvPr/>
        </p:nvSpPr>
        <p:spPr>
          <a:xfrm>
            <a:off x="3429000"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changes now</a:t>
            </a:r>
            <a:endParaRPr lang="en-US" sz="700" dirty="0"/>
          </a:p>
        </p:txBody>
      </p:sp>
      <p:sp>
        <p:nvSpPr>
          <p:cNvPr id="14" name="Shape 12"/>
          <p:cNvSpPr/>
          <p:nvPr/>
        </p:nvSpPr>
        <p:spPr>
          <a:xfrm>
            <a:off x="3346704" y="11457432"/>
            <a:ext cx="0" cy="265176"/>
          </a:xfrm>
          <a:prstGeom prst="line">
            <a:avLst/>
          </a:prstGeom>
          <a:noFill/>
          <a:ln w="9525">
            <a:solidFill>
              <a:srgbClr val="C8DCD7"/>
            </a:solidFill>
            <a:prstDash val="solid"/>
          </a:ln>
        </p:spPr>
      </p:sp>
      <p:sp>
        <p:nvSpPr>
          <p:cNvPr id="15" name="Text 13"/>
          <p:cNvSpPr/>
          <p:nvPr/>
        </p:nvSpPr>
        <p:spPr>
          <a:xfrm>
            <a:off x="4956048"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OWNER</a:t>
            </a:r>
            <a:endParaRPr lang="en-US" sz="650" dirty="0"/>
          </a:p>
        </p:txBody>
      </p:sp>
      <p:sp>
        <p:nvSpPr>
          <p:cNvPr id="16" name="Text 14"/>
          <p:cNvSpPr/>
          <p:nvPr/>
        </p:nvSpPr>
        <p:spPr>
          <a:xfrm>
            <a:off x="4956048"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Who closes it</a:t>
            </a:r>
            <a:endParaRPr lang="en-US" sz="700" dirty="0"/>
          </a:p>
        </p:txBody>
      </p:sp>
      <p:sp>
        <p:nvSpPr>
          <p:cNvPr id="17" name="Shape 15"/>
          <p:cNvSpPr/>
          <p:nvPr/>
        </p:nvSpPr>
        <p:spPr>
          <a:xfrm>
            <a:off x="4873752" y="11457432"/>
            <a:ext cx="0" cy="265176"/>
          </a:xfrm>
          <a:prstGeom prst="line">
            <a:avLst/>
          </a:prstGeom>
          <a:noFill/>
          <a:ln w="9525">
            <a:solidFill>
              <a:srgbClr val="C8DCD7"/>
            </a:solidFill>
            <a:prstDash val="solid"/>
          </a:ln>
        </p:spPr>
      </p:sp>
      <p:sp>
        <p:nvSpPr>
          <p:cNvPr id="18" name="Text 16"/>
          <p:cNvSpPr/>
          <p:nvPr/>
        </p:nvSpPr>
        <p:spPr>
          <a:xfrm>
            <a:off x="301752" y="11887200"/>
            <a:ext cx="6254496" cy="201168"/>
          </a:xfrm>
          <a:prstGeom prst="rect">
            <a:avLst/>
          </a:prstGeom>
          <a:noFill/>
          <a:ln/>
        </p:spPr>
        <p:txBody>
          <a:bodyPr wrap="square" lIns="0" tIns="0" rIns="0" bIns="0" rtlCol="0" anchor="t"/>
          <a:lstStyle/>
          <a:p>
            <a:pPr algn="ctr" indent="0" marL="0">
              <a:buNone/>
            </a:pPr>
            <a:r>
              <a:rPr lang="en-US" sz="650" dirty="0">
                <a:solidFill>
                  <a:srgbClr val="5F716E"/>
                </a:solidFill>
                <a:latin typeface="Calibri" pitchFamily="34" charset="0"/>
                <a:ea typeface="Calibri" pitchFamily="34" charset="-122"/>
                <a:cs typeface="Calibri" pitchFamily="34" charset="-120"/>
              </a:rPr>
              <a:t>July Compiled Offtake (Sheet1) · July'26 primary and distributor secondary · values in ₹ Cr · Zone performance represents Modern Trade accounts only. eB2B and SIS channels are excluded from MT zone sales and reported separately.</a:t>
            </a:r>
            <a:endParaRPr lang="en-US" sz="650" dirty="0"/>
          </a:p>
        </p:txBody>
      </p:sp>
      <p:sp>
        <p:nvSpPr>
          <p:cNvPr id="19" name="Shape 17"/>
          <p:cNvSpPr/>
          <p:nvPr/>
        </p:nvSpPr>
        <p:spPr>
          <a:xfrm>
            <a:off x="265176" y="1261872"/>
            <a:ext cx="1499616" cy="859536"/>
          </a:xfrm>
          <a:prstGeom prst="rect">
            <a:avLst/>
          </a:prstGeom>
          <a:solidFill>
            <a:srgbClr val="FFFFFF"/>
          </a:solidFill>
          <a:ln w="9525">
            <a:solidFill>
              <a:srgbClr val="C8DCD7"/>
            </a:solidFill>
            <a:prstDash val="solid"/>
          </a:ln>
        </p:spPr>
      </p:sp>
      <p:sp>
        <p:nvSpPr>
          <p:cNvPr id="20" name="Shape 18"/>
          <p:cNvSpPr/>
          <p:nvPr/>
        </p:nvSpPr>
        <p:spPr>
          <a:xfrm>
            <a:off x="265176" y="1261872"/>
            <a:ext cx="64008" cy="859536"/>
          </a:xfrm>
          <a:prstGeom prst="rect">
            <a:avLst/>
          </a:prstGeom>
          <a:solidFill>
            <a:srgbClr val="2E7DA8"/>
          </a:solidFill>
          <a:ln/>
        </p:spPr>
      </p:sp>
      <p:sp>
        <p:nvSpPr>
          <p:cNvPr id="21" name="Text 19"/>
          <p:cNvSpPr/>
          <p:nvPr/>
        </p:nvSpPr>
        <p:spPr>
          <a:xfrm>
            <a:off x="420624"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PRIMARY</a:t>
            </a:r>
            <a:endParaRPr lang="en-US" sz="680" dirty="0"/>
          </a:p>
        </p:txBody>
      </p:sp>
      <p:sp>
        <p:nvSpPr>
          <p:cNvPr id="22" name="Text 20"/>
          <p:cNvSpPr/>
          <p:nvPr/>
        </p:nvSpPr>
        <p:spPr>
          <a:xfrm>
            <a:off x="420624" y="1536192"/>
            <a:ext cx="1261872" cy="310896"/>
          </a:xfrm>
          <a:prstGeom prst="rect">
            <a:avLst/>
          </a:prstGeom>
          <a:noFill/>
          <a:ln/>
        </p:spPr>
        <p:txBody>
          <a:bodyPr wrap="square" lIns="0" tIns="0" rIns="0" bIns="0" rtlCol="0" anchor="ctr"/>
          <a:lstStyle/>
          <a:p>
            <a:pPr indent="0" marL="0">
              <a:buNone/>
            </a:pPr>
            <a:r>
              <a:rPr lang="en-US" sz="1550" b="1" dirty="0">
                <a:solidFill>
                  <a:srgbClr val="2E7DA8"/>
                </a:solidFill>
                <a:latin typeface="Calibri Light" pitchFamily="34" charset="0"/>
                <a:ea typeface="Calibri Light" pitchFamily="34" charset="-122"/>
                <a:cs typeface="Calibri Light" pitchFamily="34" charset="-120"/>
              </a:rPr>
              <a:t>₹9.48 Cr</a:t>
            </a:r>
            <a:endParaRPr lang="en-US" sz="1550" dirty="0"/>
          </a:p>
        </p:txBody>
      </p:sp>
      <p:sp>
        <p:nvSpPr>
          <p:cNvPr id="23" name="Text 21"/>
          <p:cNvSpPr/>
          <p:nvPr/>
        </p:nvSpPr>
        <p:spPr>
          <a:xfrm>
            <a:off x="420624"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July billing</a:t>
            </a:r>
            <a:endParaRPr lang="en-US" sz="680" dirty="0"/>
          </a:p>
        </p:txBody>
      </p:sp>
      <p:sp>
        <p:nvSpPr>
          <p:cNvPr id="24" name="Shape 22"/>
          <p:cNvSpPr/>
          <p:nvPr/>
        </p:nvSpPr>
        <p:spPr>
          <a:xfrm>
            <a:off x="1874520" y="1261872"/>
            <a:ext cx="1499616" cy="859536"/>
          </a:xfrm>
          <a:prstGeom prst="rect">
            <a:avLst/>
          </a:prstGeom>
          <a:solidFill>
            <a:srgbClr val="FFFFFF"/>
          </a:solidFill>
          <a:ln w="9525">
            <a:solidFill>
              <a:srgbClr val="C8DCD7"/>
            </a:solidFill>
            <a:prstDash val="solid"/>
          </a:ln>
        </p:spPr>
      </p:sp>
      <p:sp>
        <p:nvSpPr>
          <p:cNvPr id="25" name="Shape 23"/>
          <p:cNvSpPr/>
          <p:nvPr/>
        </p:nvSpPr>
        <p:spPr>
          <a:xfrm>
            <a:off x="1874520" y="1261872"/>
            <a:ext cx="64008" cy="859536"/>
          </a:xfrm>
          <a:prstGeom prst="rect">
            <a:avLst/>
          </a:prstGeom>
          <a:solidFill>
            <a:srgbClr val="28A596"/>
          </a:solidFill>
          <a:ln/>
        </p:spPr>
      </p:sp>
      <p:sp>
        <p:nvSpPr>
          <p:cNvPr id="26" name="Text 24"/>
          <p:cNvSpPr/>
          <p:nvPr/>
        </p:nvSpPr>
        <p:spPr>
          <a:xfrm>
            <a:off x="2029968"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OFFTAKE</a:t>
            </a:r>
            <a:endParaRPr lang="en-US" sz="680" dirty="0"/>
          </a:p>
        </p:txBody>
      </p:sp>
      <p:sp>
        <p:nvSpPr>
          <p:cNvPr id="27" name="Text 25"/>
          <p:cNvSpPr/>
          <p:nvPr/>
        </p:nvSpPr>
        <p:spPr>
          <a:xfrm>
            <a:off x="2029968" y="1536192"/>
            <a:ext cx="1261872" cy="310896"/>
          </a:xfrm>
          <a:prstGeom prst="rect">
            <a:avLst/>
          </a:prstGeom>
          <a:noFill/>
          <a:ln/>
        </p:spPr>
        <p:txBody>
          <a:bodyPr wrap="square" lIns="0" tIns="0" rIns="0" bIns="0" rtlCol="0" anchor="ctr"/>
          <a:lstStyle/>
          <a:p>
            <a:pPr indent="0" marL="0">
              <a:buNone/>
            </a:pPr>
            <a:r>
              <a:rPr lang="en-US" sz="1550" b="1" dirty="0">
                <a:solidFill>
                  <a:srgbClr val="28A596"/>
                </a:solidFill>
                <a:latin typeface="Calibri Light" pitchFamily="34" charset="0"/>
                <a:ea typeface="Calibri Light" pitchFamily="34" charset="-122"/>
                <a:cs typeface="Calibri Light" pitchFamily="34" charset="-120"/>
              </a:rPr>
              <a:t>₹8.18 Cr</a:t>
            </a:r>
            <a:endParaRPr lang="en-US" sz="1550" dirty="0"/>
          </a:p>
        </p:txBody>
      </p:sp>
      <p:sp>
        <p:nvSpPr>
          <p:cNvPr id="28" name="Text 26"/>
          <p:cNvSpPr/>
          <p:nvPr/>
        </p:nvSpPr>
        <p:spPr>
          <a:xfrm>
            <a:off x="2029968"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24.1% mix</a:t>
            </a:r>
            <a:endParaRPr lang="en-US" sz="680" dirty="0"/>
          </a:p>
        </p:txBody>
      </p:sp>
      <p:sp>
        <p:nvSpPr>
          <p:cNvPr id="29" name="Shape 27"/>
          <p:cNvSpPr/>
          <p:nvPr/>
        </p:nvSpPr>
        <p:spPr>
          <a:xfrm>
            <a:off x="3483864" y="1261872"/>
            <a:ext cx="1499616" cy="859536"/>
          </a:xfrm>
          <a:prstGeom prst="rect">
            <a:avLst/>
          </a:prstGeom>
          <a:solidFill>
            <a:srgbClr val="FFFFFF"/>
          </a:solidFill>
          <a:ln w="9525">
            <a:solidFill>
              <a:srgbClr val="C8DCD7"/>
            </a:solidFill>
            <a:prstDash val="solid"/>
          </a:ln>
        </p:spPr>
      </p:sp>
      <p:sp>
        <p:nvSpPr>
          <p:cNvPr id="30" name="Shape 28"/>
          <p:cNvSpPr/>
          <p:nvPr/>
        </p:nvSpPr>
        <p:spPr>
          <a:xfrm>
            <a:off x="3483864" y="1261872"/>
            <a:ext cx="64008" cy="859536"/>
          </a:xfrm>
          <a:prstGeom prst="rect">
            <a:avLst/>
          </a:prstGeom>
          <a:solidFill>
            <a:srgbClr val="2B9A66"/>
          </a:solidFill>
          <a:ln/>
        </p:spPr>
      </p:sp>
      <p:sp>
        <p:nvSpPr>
          <p:cNvPr id="31" name="Text 29"/>
          <p:cNvSpPr/>
          <p:nvPr/>
        </p:nvSpPr>
        <p:spPr>
          <a:xfrm>
            <a:off x="3639312"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CONVERSION</a:t>
            </a:r>
            <a:endParaRPr lang="en-US" sz="680" dirty="0"/>
          </a:p>
        </p:txBody>
      </p:sp>
      <p:sp>
        <p:nvSpPr>
          <p:cNvPr id="32" name="Text 30"/>
          <p:cNvSpPr/>
          <p:nvPr/>
        </p:nvSpPr>
        <p:spPr>
          <a:xfrm>
            <a:off x="3639312" y="1536192"/>
            <a:ext cx="1261872" cy="310896"/>
          </a:xfrm>
          <a:prstGeom prst="rect">
            <a:avLst/>
          </a:prstGeom>
          <a:noFill/>
          <a:ln/>
        </p:spPr>
        <p:txBody>
          <a:bodyPr wrap="square" lIns="0" tIns="0" rIns="0" bIns="0" rtlCol="0" anchor="ctr"/>
          <a:lstStyle/>
          <a:p>
            <a:pPr indent="0" marL="0">
              <a:buNone/>
            </a:pPr>
            <a:r>
              <a:rPr lang="en-US" sz="1750" b="1" dirty="0">
                <a:solidFill>
                  <a:srgbClr val="2B9A66"/>
                </a:solidFill>
                <a:latin typeface="Calibri Light" pitchFamily="34" charset="0"/>
                <a:ea typeface="Calibri Light" pitchFamily="34" charset="-122"/>
                <a:cs typeface="Calibri Light" pitchFamily="34" charset="-120"/>
              </a:rPr>
              <a:t>86.3%</a:t>
            </a:r>
            <a:endParaRPr lang="en-US" sz="1750" dirty="0"/>
          </a:p>
        </p:txBody>
      </p:sp>
      <p:sp>
        <p:nvSpPr>
          <p:cNvPr id="33" name="Text 31"/>
          <p:cNvSpPr/>
          <p:nvPr/>
        </p:nvSpPr>
        <p:spPr>
          <a:xfrm>
            <a:off x="3639312"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flow</a:t>
            </a:r>
            <a:endParaRPr lang="en-US" sz="680" dirty="0"/>
          </a:p>
        </p:txBody>
      </p:sp>
      <p:sp>
        <p:nvSpPr>
          <p:cNvPr id="34" name="Shape 32"/>
          <p:cNvSpPr/>
          <p:nvPr/>
        </p:nvSpPr>
        <p:spPr>
          <a:xfrm>
            <a:off x="5093208" y="1261872"/>
            <a:ext cx="1499616" cy="859536"/>
          </a:xfrm>
          <a:prstGeom prst="rect">
            <a:avLst/>
          </a:prstGeom>
          <a:solidFill>
            <a:srgbClr val="FFFFFF"/>
          </a:solidFill>
          <a:ln w="9525">
            <a:solidFill>
              <a:srgbClr val="C8DCD7"/>
            </a:solidFill>
            <a:prstDash val="solid"/>
          </a:ln>
        </p:spPr>
      </p:sp>
      <p:sp>
        <p:nvSpPr>
          <p:cNvPr id="35" name="Shape 33"/>
          <p:cNvSpPr/>
          <p:nvPr/>
        </p:nvSpPr>
        <p:spPr>
          <a:xfrm>
            <a:off x="5093208" y="1261872"/>
            <a:ext cx="64008" cy="859536"/>
          </a:xfrm>
          <a:prstGeom prst="rect">
            <a:avLst/>
          </a:prstGeom>
          <a:solidFill>
            <a:srgbClr val="2B9A66"/>
          </a:solidFill>
          <a:ln/>
        </p:spPr>
      </p:sp>
      <p:sp>
        <p:nvSpPr>
          <p:cNvPr id="36" name="Text 34"/>
          <p:cNvSpPr/>
          <p:nvPr/>
        </p:nvSpPr>
        <p:spPr>
          <a:xfrm>
            <a:off x="5248656"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GAP</a:t>
            </a:r>
            <a:endParaRPr lang="en-US" sz="680" dirty="0"/>
          </a:p>
        </p:txBody>
      </p:sp>
      <p:sp>
        <p:nvSpPr>
          <p:cNvPr id="37" name="Text 35"/>
          <p:cNvSpPr/>
          <p:nvPr/>
        </p:nvSpPr>
        <p:spPr>
          <a:xfrm>
            <a:off x="5248656" y="1536192"/>
            <a:ext cx="1261872" cy="310896"/>
          </a:xfrm>
          <a:prstGeom prst="rect">
            <a:avLst/>
          </a:prstGeom>
          <a:noFill/>
          <a:ln/>
        </p:spPr>
        <p:txBody>
          <a:bodyPr wrap="square" lIns="0" tIns="0" rIns="0" bIns="0" rtlCol="0" anchor="ctr"/>
          <a:lstStyle/>
          <a:p>
            <a:pPr indent="0" marL="0">
              <a:buNone/>
            </a:pPr>
            <a:r>
              <a:rPr lang="en-US" sz="1550" b="1" dirty="0">
                <a:solidFill>
                  <a:srgbClr val="2B9A66"/>
                </a:solidFill>
                <a:latin typeface="Calibri Light" pitchFamily="34" charset="0"/>
                <a:ea typeface="Calibri Light" pitchFamily="34" charset="-122"/>
                <a:cs typeface="Calibri Light" pitchFamily="34" charset="-120"/>
              </a:rPr>
              <a:t>₹1.30 Cr</a:t>
            </a:r>
            <a:endParaRPr lang="en-US" sz="1550" dirty="0"/>
          </a:p>
        </p:txBody>
      </p:sp>
      <p:sp>
        <p:nvSpPr>
          <p:cNvPr id="38" name="Text 36"/>
          <p:cNvSpPr/>
          <p:nvPr/>
        </p:nvSpPr>
        <p:spPr>
          <a:xfrm>
            <a:off x="5248656"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primary − offtake</a:t>
            </a:r>
            <a:endParaRPr lang="en-US" sz="680" dirty="0"/>
          </a:p>
        </p:txBody>
      </p:sp>
      <p:sp>
        <p:nvSpPr>
          <p:cNvPr id="39" name="Shape 37"/>
          <p:cNvSpPr/>
          <p:nvPr/>
        </p:nvSpPr>
        <p:spPr>
          <a:xfrm>
            <a:off x="265176" y="2231136"/>
            <a:ext cx="6327648" cy="384048"/>
          </a:xfrm>
          <a:prstGeom prst="roundRect">
            <a:avLst>
              <a:gd name="adj" fmla="val 4762"/>
            </a:avLst>
          </a:prstGeom>
          <a:solidFill>
            <a:srgbClr val="DFF2ED"/>
          </a:solidFill>
          <a:ln w="9525">
            <a:solidFill>
              <a:srgbClr val="C8DCD7"/>
            </a:solidFill>
            <a:prstDash val="solid"/>
          </a:ln>
        </p:spPr>
      </p:sp>
      <p:sp>
        <p:nvSpPr>
          <p:cNvPr id="40" name="Text 38"/>
          <p:cNvSpPr/>
          <p:nvPr/>
        </p:nvSpPr>
        <p:spPr>
          <a:xfrm>
            <a:off x="374904" y="2286000"/>
            <a:ext cx="658368" cy="274320"/>
          </a:xfrm>
          <a:prstGeom prst="rect">
            <a:avLst/>
          </a:prstGeom>
          <a:noFill/>
          <a:ln/>
        </p:spPr>
        <p:txBody>
          <a:bodyPr wrap="square" lIns="0" tIns="0" rIns="0" bIns="0" rtlCol="0" anchor="ctr"/>
          <a:lstStyle/>
          <a:p>
            <a:pPr indent="0" marL="0">
              <a:buNone/>
            </a:pPr>
            <a:r>
              <a:rPr lang="en-US" sz="660" b="1" spc="40" kern="0" dirty="0">
                <a:solidFill>
                  <a:srgbClr val="116F68"/>
                </a:solidFill>
                <a:latin typeface="Calibri" pitchFamily="34" charset="0"/>
                <a:ea typeface="Calibri" pitchFamily="34" charset="-122"/>
                <a:cs typeface="Calibri" pitchFamily="34" charset="-120"/>
              </a:rPr>
              <a:t>PRIORITY</a:t>
            </a:r>
            <a:endParaRPr lang="en-US" sz="660" dirty="0"/>
          </a:p>
        </p:txBody>
      </p:sp>
      <p:sp>
        <p:nvSpPr>
          <p:cNvPr id="41" name="Text 39"/>
          <p:cNvSpPr/>
          <p:nvPr/>
        </p:nvSpPr>
        <p:spPr>
          <a:xfrm>
            <a:off x="1088136" y="2286000"/>
            <a:ext cx="5394960" cy="274320"/>
          </a:xfrm>
          <a:prstGeom prst="rect">
            <a:avLst/>
          </a:prstGeom>
          <a:noFill/>
          <a:ln/>
        </p:spPr>
        <p:txBody>
          <a:bodyPr wrap="square" lIns="0" tIns="0" rIns="0" bIns="0" rtlCol="0" anchor="ctr"/>
          <a:lstStyle/>
          <a:p>
            <a:pPr indent="0" marL="0">
              <a:buNone/>
            </a:pPr>
            <a:r>
              <a:rPr lang="en-US" sz="740" b="1" dirty="0">
                <a:solidFill>
                  <a:srgbClr val="183B39"/>
                </a:solidFill>
                <a:latin typeface="Calibri" pitchFamily="34" charset="0"/>
                <a:ea typeface="Calibri" pitchFamily="34" charset="-122"/>
                <a:cs typeface="Calibri" pitchFamily="34" charset="-120"/>
              </a:rPr>
              <a:t>Best conversion in the country • Apollo cadence is the transferable asset</a:t>
            </a:r>
            <a:endParaRPr lang="en-US" sz="740" dirty="0"/>
          </a:p>
        </p:txBody>
      </p:sp>
      <p:sp>
        <p:nvSpPr>
          <p:cNvPr id="42" name="Text 40"/>
          <p:cNvSpPr/>
          <p:nvPr/>
        </p:nvSpPr>
        <p:spPr>
          <a:xfrm>
            <a:off x="265176" y="2743200"/>
            <a:ext cx="3090672"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Mamaearth — top 3 sub-categories (₹ Cr, Feb–Jul)</a:t>
            </a:r>
            <a:endParaRPr lang="en-US" sz="720" dirty="0"/>
          </a:p>
        </p:txBody>
      </p:sp>
      <p:graphicFrame>
        <p:nvGraphicFramePr>
          <p:cNvPr id="43" name="Chart 0" descr=""/>
          <p:cNvGraphicFramePr/>
          <p:nvPr/>
        </p:nvGraphicFramePr>
        <p:xfrm>
          <a:off x="246888" y="2944368"/>
          <a:ext cx="3090672" cy="1499616"/>
        </p:xfrm>
        <a:graphic xmlns:a="http://schemas.openxmlformats.org/drawingml/2006/main">
          <a:graphicData uri="http://schemas.openxmlformats.org/drawingml/2006/chart">
            <c:chart xmlns:c="http://schemas.openxmlformats.org/drawingml/2006/chart" r:id="rId1"/>
          </a:graphicData>
        </a:graphic>
      </p:graphicFrame>
      <p:sp>
        <p:nvSpPr>
          <p:cNvPr id="44" name="Text 41"/>
          <p:cNvSpPr/>
          <p:nvPr/>
        </p:nvSpPr>
        <p:spPr>
          <a:xfrm>
            <a:off x="3502152" y="2743200"/>
            <a:ext cx="3090672"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The Derma Co. — top 3 sub-categories (₹ Cr, Feb–Jul)</a:t>
            </a:r>
            <a:endParaRPr lang="en-US" sz="720" dirty="0"/>
          </a:p>
        </p:txBody>
      </p:sp>
      <p:graphicFrame>
        <p:nvGraphicFramePr>
          <p:cNvPr id="45" name="Chart 1" descr=""/>
          <p:cNvGraphicFramePr/>
          <p:nvPr/>
        </p:nvGraphicFramePr>
        <p:xfrm>
          <a:off x="3483864" y="2944368"/>
          <a:ext cx="3090672" cy="1499616"/>
        </p:xfrm>
        <a:graphic xmlns:a="http://schemas.openxmlformats.org/drawingml/2006/main">
          <a:graphicData uri="http://schemas.openxmlformats.org/drawingml/2006/chart">
            <c:chart xmlns:c="http://schemas.openxmlformats.org/drawingml/2006/chart" r:id="rId2"/>
          </a:graphicData>
        </a:graphic>
      </p:graphicFrame>
      <p:sp>
        <p:nvSpPr>
          <p:cNvPr id="46" name="Shape 42"/>
          <p:cNvSpPr/>
          <p:nvPr/>
        </p:nvSpPr>
        <p:spPr>
          <a:xfrm>
            <a:off x="265176" y="4553712"/>
            <a:ext cx="2036064" cy="1773936"/>
          </a:xfrm>
          <a:prstGeom prst="roundRect">
            <a:avLst>
              <a:gd name="adj" fmla="val 1031"/>
            </a:avLst>
          </a:prstGeom>
          <a:solidFill>
            <a:srgbClr val="FFFFFF"/>
          </a:solidFill>
          <a:ln w="9525">
            <a:solidFill>
              <a:srgbClr val="C8DCD7"/>
            </a:solidFill>
            <a:prstDash val="solid"/>
          </a:ln>
        </p:spPr>
      </p:sp>
      <p:sp>
        <p:nvSpPr>
          <p:cNvPr id="47" name="Shape 43"/>
          <p:cNvSpPr/>
          <p:nvPr/>
        </p:nvSpPr>
        <p:spPr>
          <a:xfrm>
            <a:off x="265176" y="4553712"/>
            <a:ext cx="2036064" cy="274320"/>
          </a:xfrm>
          <a:prstGeom prst="rect">
            <a:avLst/>
          </a:prstGeom>
          <a:solidFill>
            <a:srgbClr val="116F68"/>
          </a:solidFill>
          <a:ln/>
        </p:spPr>
      </p:sp>
      <p:sp>
        <p:nvSpPr>
          <p:cNvPr id="48" name="Text 44"/>
          <p:cNvSpPr/>
          <p:nvPr/>
        </p:nvSpPr>
        <p:spPr>
          <a:xfrm>
            <a:off x="347472" y="457200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TOP CHAINS</a:t>
            </a:r>
            <a:endParaRPr lang="en-US" sz="700" dirty="0"/>
          </a:p>
        </p:txBody>
      </p:sp>
      <p:sp>
        <p:nvSpPr>
          <p:cNvPr id="49" name="Text 45"/>
          <p:cNvSpPr/>
          <p:nvPr/>
        </p:nvSpPr>
        <p:spPr>
          <a:xfrm>
            <a:off x="356616" y="4919472"/>
            <a:ext cx="1258824" cy="310896"/>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1. Apollo</a:t>
            </a:r>
            <a:endParaRPr lang="en-US" sz="700" dirty="0"/>
          </a:p>
        </p:txBody>
      </p:sp>
      <p:sp>
        <p:nvSpPr>
          <p:cNvPr id="50" name="Text 46"/>
          <p:cNvSpPr/>
          <p:nvPr/>
        </p:nvSpPr>
        <p:spPr>
          <a:xfrm>
            <a:off x="1588008" y="4919472"/>
            <a:ext cx="621792" cy="155448"/>
          </a:xfrm>
          <a:prstGeom prst="rect">
            <a:avLst/>
          </a:prstGeom>
          <a:noFill/>
          <a:ln/>
        </p:spPr>
        <p:txBody>
          <a:bodyPr wrap="square" lIns="0" tIns="0" rIns="0" bIns="0" rtlCol="0" anchor="t"/>
          <a:lstStyle/>
          <a:p>
            <a:pPr algn="r" indent="0" marL="0">
              <a:buNone/>
            </a:pPr>
            <a:r>
              <a:rPr lang="en-US" sz="700" b="1" dirty="0">
                <a:solidFill>
                  <a:srgbClr val="116F68"/>
                </a:solidFill>
                <a:latin typeface="Calibri" pitchFamily="34" charset="0"/>
                <a:ea typeface="Calibri" pitchFamily="34" charset="-122"/>
                <a:cs typeface="Calibri" pitchFamily="34" charset="-120"/>
              </a:rPr>
              <a:t>₹2.84 Cr</a:t>
            </a:r>
            <a:endParaRPr lang="en-US" sz="700" dirty="0"/>
          </a:p>
        </p:txBody>
      </p:sp>
      <p:sp>
        <p:nvSpPr>
          <p:cNvPr id="51" name="Text 47"/>
          <p:cNvSpPr/>
          <p:nvPr/>
        </p:nvSpPr>
        <p:spPr>
          <a:xfrm>
            <a:off x="1588008" y="5074920"/>
            <a:ext cx="621792" cy="146304"/>
          </a:xfrm>
          <a:prstGeom prst="rect">
            <a:avLst/>
          </a:prstGeom>
          <a:noFill/>
          <a:ln/>
        </p:spPr>
        <p:txBody>
          <a:bodyPr wrap="square" lIns="0" tIns="0" rIns="0" bIns="0" rtlCol="0" anchor="t"/>
          <a:lstStyle/>
          <a:p>
            <a:pPr algn="r" indent="0" marL="0">
              <a:buNone/>
            </a:pPr>
            <a:r>
              <a:rPr lang="en-US" sz="620" dirty="0">
                <a:solidFill>
                  <a:srgbClr val="5F716E"/>
                </a:solidFill>
                <a:latin typeface="Calibri" pitchFamily="34" charset="0"/>
                <a:ea typeface="Calibri" pitchFamily="34" charset="-122"/>
                <a:cs typeface="Calibri" pitchFamily="34" charset="-120"/>
              </a:rPr>
              <a:t>81.0%</a:t>
            </a:r>
            <a:endParaRPr lang="en-US" sz="620" dirty="0"/>
          </a:p>
        </p:txBody>
      </p:sp>
      <p:sp>
        <p:nvSpPr>
          <p:cNvPr id="52" name="Text 48"/>
          <p:cNvSpPr/>
          <p:nvPr/>
        </p:nvSpPr>
        <p:spPr>
          <a:xfrm>
            <a:off x="356616" y="5266944"/>
            <a:ext cx="1258824" cy="310896"/>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2. DMart</a:t>
            </a:r>
            <a:endParaRPr lang="en-US" sz="700" dirty="0"/>
          </a:p>
        </p:txBody>
      </p:sp>
      <p:sp>
        <p:nvSpPr>
          <p:cNvPr id="53" name="Text 49"/>
          <p:cNvSpPr/>
          <p:nvPr/>
        </p:nvSpPr>
        <p:spPr>
          <a:xfrm>
            <a:off x="1588008" y="5266944"/>
            <a:ext cx="621792" cy="155448"/>
          </a:xfrm>
          <a:prstGeom prst="rect">
            <a:avLst/>
          </a:prstGeom>
          <a:noFill/>
          <a:ln/>
        </p:spPr>
        <p:txBody>
          <a:bodyPr wrap="square" lIns="0" tIns="0" rIns="0" bIns="0" rtlCol="0" anchor="t"/>
          <a:lstStyle/>
          <a:p>
            <a:pPr algn="r" indent="0" marL="0">
              <a:buNone/>
            </a:pPr>
            <a:r>
              <a:rPr lang="en-US" sz="700" b="1" dirty="0">
                <a:solidFill>
                  <a:srgbClr val="116F68"/>
                </a:solidFill>
                <a:latin typeface="Calibri" pitchFamily="34" charset="0"/>
                <a:ea typeface="Calibri" pitchFamily="34" charset="-122"/>
                <a:cs typeface="Calibri" pitchFamily="34" charset="-120"/>
              </a:rPr>
              <a:t>₹2.31 Cr</a:t>
            </a:r>
            <a:endParaRPr lang="en-US" sz="700" dirty="0"/>
          </a:p>
        </p:txBody>
      </p:sp>
      <p:sp>
        <p:nvSpPr>
          <p:cNvPr id="54" name="Text 50"/>
          <p:cNvSpPr/>
          <p:nvPr/>
        </p:nvSpPr>
        <p:spPr>
          <a:xfrm>
            <a:off x="1588008" y="5422392"/>
            <a:ext cx="621792" cy="146304"/>
          </a:xfrm>
          <a:prstGeom prst="rect">
            <a:avLst/>
          </a:prstGeom>
          <a:noFill/>
          <a:ln/>
        </p:spPr>
        <p:txBody>
          <a:bodyPr wrap="square" lIns="0" tIns="0" rIns="0" bIns="0" rtlCol="0" anchor="t"/>
          <a:lstStyle/>
          <a:p>
            <a:pPr algn="r" indent="0" marL="0">
              <a:buNone/>
            </a:pPr>
            <a:r>
              <a:rPr lang="en-US" sz="620" dirty="0">
                <a:solidFill>
                  <a:srgbClr val="5F716E"/>
                </a:solidFill>
                <a:latin typeface="Calibri" pitchFamily="34" charset="0"/>
                <a:ea typeface="Calibri" pitchFamily="34" charset="-122"/>
                <a:cs typeface="Calibri" pitchFamily="34" charset="-120"/>
              </a:rPr>
              <a:t>74.8%</a:t>
            </a:r>
            <a:endParaRPr lang="en-US" sz="620" dirty="0"/>
          </a:p>
        </p:txBody>
      </p:sp>
      <p:sp>
        <p:nvSpPr>
          <p:cNvPr id="55" name="Text 51"/>
          <p:cNvSpPr/>
          <p:nvPr/>
        </p:nvSpPr>
        <p:spPr>
          <a:xfrm>
            <a:off x="356616" y="5614416"/>
            <a:ext cx="1258824" cy="310896"/>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3. Lulu</a:t>
            </a:r>
            <a:endParaRPr lang="en-US" sz="700" dirty="0"/>
          </a:p>
        </p:txBody>
      </p:sp>
      <p:sp>
        <p:nvSpPr>
          <p:cNvPr id="56" name="Text 52"/>
          <p:cNvSpPr/>
          <p:nvPr/>
        </p:nvSpPr>
        <p:spPr>
          <a:xfrm>
            <a:off x="1588008" y="5614416"/>
            <a:ext cx="621792" cy="155448"/>
          </a:xfrm>
          <a:prstGeom prst="rect">
            <a:avLst/>
          </a:prstGeom>
          <a:noFill/>
          <a:ln/>
        </p:spPr>
        <p:txBody>
          <a:bodyPr wrap="square" lIns="0" tIns="0" rIns="0" bIns="0" rtlCol="0" anchor="t"/>
          <a:lstStyle/>
          <a:p>
            <a:pPr algn="r" indent="0" marL="0">
              <a:buNone/>
            </a:pPr>
            <a:r>
              <a:rPr lang="en-US" sz="700" b="1" dirty="0">
                <a:solidFill>
                  <a:srgbClr val="116F68"/>
                </a:solidFill>
                <a:latin typeface="Calibri" pitchFamily="34" charset="0"/>
                <a:ea typeface="Calibri" pitchFamily="34" charset="-122"/>
                <a:cs typeface="Calibri" pitchFamily="34" charset="-120"/>
              </a:rPr>
              <a:t>₹1.22 Cr</a:t>
            </a:r>
            <a:endParaRPr lang="en-US" sz="700" dirty="0"/>
          </a:p>
        </p:txBody>
      </p:sp>
      <p:sp>
        <p:nvSpPr>
          <p:cNvPr id="57" name="Text 53"/>
          <p:cNvSpPr/>
          <p:nvPr/>
        </p:nvSpPr>
        <p:spPr>
          <a:xfrm>
            <a:off x="1588008" y="5769864"/>
            <a:ext cx="621792" cy="146304"/>
          </a:xfrm>
          <a:prstGeom prst="rect">
            <a:avLst/>
          </a:prstGeom>
          <a:noFill/>
          <a:ln/>
        </p:spPr>
        <p:txBody>
          <a:bodyPr wrap="square" lIns="0" tIns="0" rIns="0" bIns="0" rtlCol="0" anchor="t"/>
          <a:lstStyle/>
          <a:p>
            <a:pPr algn="r" indent="0" marL="0">
              <a:buNone/>
            </a:pPr>
            <a:r>
              <a:rPr lang="en-US" sz="620" dirty="0">
                <a:solidFill>
                  <a:srgbClr val="F2B84B"/>
                </a:solidFill>
                <a:latin typeface="Calibri" pitchFamily="34" charset="0"/>
                <a:ea typeface="Calibri" pitchFamily="34" charset="-122"/>
                <a:cs typeface="Calibri" pitchFamily="34" charset="-120"/>
              </a:rPr>
              <a:t>no primary</a:t>
            </a:r>
            <a:endParaRPr lang="en-US" sz="620" dirty="0"/>
          </a:p>
        </p:txBody>
      </p:sp>
      <p:sp>
        <p:nvSpPr>
          <p:cNvPr id="58" name="Shape 54"/>
          <p:cNvSpPr/>
          <p:nvPr/>
        </p:nvSpPr>
        <p:spPr>
          <a:xfrm>
            <a:off x="2410968" y="4553712"/>
            <a:ext cx="2036064" cy="1773936"/>
          </a:xfrm>
          <a:prstGeom prst="roundRect">
            <a:avLst>
              <a:gd name="adj" fmla="val 1031"/>
            </a:avLst>
          </a:prstGeom>
          <a:solidFill>
            <a:srgbClr val="FFFFFF"/>
          </a:solidFill>
          <a:ln w="9525">
            <a:solidFill>
              <a:srgbClr val="C8DCD7"/>
            </a:solidFill>
            <a:prstDash val="solid"/>
          </a:ln>
        </p:spPr>
      </p:sp>
      <p:sp>
        <p:nvSpPr>
          <p:cNvPr id="59" name="Shape 55"/>
          <p:cNvSpPr/>
          <p:nvPr/>
        </p:nvSpPr>
        <p:spPr>
          <a:xfrm>
            <a:off x="2410968" y="4553712"/>
            <a:ext cx="2036064" cy="274320"/>
          </a:xfrm>
          <a:prstGeom prst="rect">
            <a:avLst/>
          </a:prstGeom>
          <a:solidFill>
            <a:srgbClr val="2E7DA8"/>
          </a:solidFill>
          <a:ln/>
        </p:spPr>
      </p:sp>
      <p:sp>
        <p:nvSpPr>
          <p:cNvPr id="60" name="Text 56"/>
          <p:cNvSpPr/>
          <p:nvPr/>
        </p:nvSpPr>
        <p:spPr>
          <a:xfrm>
            <a:off x="2493264" y="457200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TOP STATES</a:t>
            </a:r>
            <a:endParaRPr lang="en-US" sz="700" dirty="0"/>
          </a:p>
        </p:txBody>
      </p:sp>
      <p:sp>
        <p:nvSpPr>
          <p:cNvPr id="61" name="Text 57"/>
          <p:cNvSpPr/>
          <p:nvPr/>
        </p:nvSpPr>
        <p:spPr>
          <a:xfrm>
            <a:off x="2502408" y="4919472"/>
            <a:ext cx="1304544" cy="292608"/>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1. Karnataka</a:t>
            </a:r>
            <a:endParaRPr lang="en-US" sz="700" dirty="0"/>
          </a:p>
        </p:txBody>
      </p:sp>
      <p:sp>
        <p:nvSpPr>
          <p:cNvPr id="62" name="Text 58"/>
          <p:cNvSpPr/>
          <p:nvPr/>
        </p:nvSpPr>
        <p:spPr>
          <a:xfrm>
            <a:off x="3770376" y="4919472"/>
            <a:ext cx="585216" cy="182880"/>
          </a:xfrm>
          <a:prstGeom prst="rect">
            <a:avLst/>
          </a:prstGeom>
          <a:noFill/>
          <a:ln/>
        </p:spPr>
        <p:txBody>
          <a:bodyPr wrap="square" lIns="0" tIns="0" rIns="0" bIns="0" rtlCol="0" anchor="t"/>
          <a:lstStyle/>
          <a:p>
            <a:pPr algn="r" indent="0" marL="0">
              <a:buNone/>
            </a:pPr>
            <a:r>
              <a:rPr lang="en-US" sz="700" b="1" dirty="0">
                <a:solidFill>
                  <a:srgbClr val="2E7DA8"/>
                </a:solidFill>
                <a:latin typeface="Calibri" pitchFamily="34" charset="0"/>
                <a:ea typeface="Calibri" pitchFamily="34" charset="-122"/>
                <a:cs typeface="Calibri" pitchFamily="34" charset="-120"/>
              </a:rPr>
              <a:t>₹4.10 Cr</a:t>
            </a:r>
            <a:endParaRPr lang="en-US" sz="700" dirty="0"/>
          </a:p>
        </p:txBody>
      </p:sp>
      <p:sp>
        <p:nvSpPr>
          <p:cNvPr id="63" name="Text 59"/>
          <p:cNvSpPr/>
          <p:nvPr/>
        </p:nvSpPr>
        <p:spPr>
          <a:xfrm>
            <a:off x="2502408" y="5248656"/>
            <a:ext cx="1304544" cy="292608"/>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2. Tamil Nadu</a:t>
            </a:r>
            <a:endParaRPr lang="en-US" sz="700" dirty="0"/>
          </a:p>
        </p:txBody>
      </p:sp>
      <p:sp>
        <p:nvSpPr>
          <p:cNvPr id="64" name="Text 60"/>
          <p:cNvSpPr/>
          <p:nvPr/>
        </p:nvSpPr>
        <p:spPr>
          <a:xfrm>
            <a:off x="3770376" y="5248656"/>
            <a:ext cx="585216" cy="182880"/>
          </a:xfrm>
          <a:prstGeom prst="rect">
            <a:avLst/>
          </a:prstGeom>
          <a:noFill/>
          <a:ln/>
        </p:spPr>
        <p:txBody>
          <a:bodyPr wrap="square" lIns="0" tIns="0" rIns="0" bIns="0" rtlCol="0" anchor="t"/>
          <a:lstStyle/>
          <a:p>
            <a:pPr algn="r" indent="0" marL="0">
              <a:buNone/>
            </a:pPr>
            <a:r>
              <a:rPr lang="en-US" sz="700" b="1" dirty="0">
                <a:solidFill>
                  <a:srgbClr val="2E7DA8"/>
                </a:solidFill>
                <a:latin typeface="Calibri" pitchFamily="34" charset="0"/>
                <a:ea typeface="Calibri" pitchFamily="34" charset="-122"/>
                <a:cs typeface="Calibri" pitchFamily="34" charset="-120"/>
              </a:rPr>
              <a:t>₹2.63 Cr</a:t>
            </a:r>
            <a:endParaRPr lang="en-US" sz="700" dirty="0"/>
          </a:p>
        </p:txBody>
      </p:sp>
      <p:sp>
        <p:nvSpPr>
          <p:cNvPr id="65" name="Text 61"/>
          <p:cNvSpPr/>
          <p:nvPr/>
        </p:nvSpPr>
        <p:spPr>
          <a:xfrm>
            <a:off x="2502408" y="5577840"/>
            <a:ext cx="1304544" cy="292608"/>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3. Kerala</a:t>
            </a:r>
            <a:endParaRPr lang="en-US" sz="700" dirty="0"/>
          </a:p>
        </p:txBody>
      </p:sp>
      <p:sp>
        <p:nvSpPr>
          <p:cNvPr id="66" name="Text 62"/>
          <p:cNvSpPr/>
          <p:nvPr/>
        </p:nvSpPr>
        <p:spPr>
          <a:xfrm>
            <a:off x="3770376" y="5577840"/>
            <a:ext cx="585216" cy="182880"/>
          </a:xfrm>
          <a:prstGeom prst="rect">
            <a:avLst/>
          </a:prstGeom>
          <a:noFill/>
          <a:ln/>
        </p:spPr>
        <p:txBody>
          <a:bodyPr wrap="square" lIns="0" tIns="0" rIns="0" bIns="0" rtlCol="0" anchor="t"/>
          <a:lstStyle/>
          <a:p>
            <a:pPr algn="r" indent="0" marL="0">
              <a:buNone/>
            </a:pPr>
            <a:r>
              <a:rPr lang="en-US" sz="700" b="1" dirty="0">
                <a:solidFill>
                  <a:srgbClr val="2E7DA8"/>
                </a:solidFill>
                <a:latin typeface="Calibri" pitchFamily="34" charset="0"/>
                <a:ea typeface="Calibri" pitchFamily="34" charset="-122"/>
                <a:cs typeface="Calibri" pitchFamily="34" charset="-120"/>
              </a:rPr>
              <a:t>₹1.17 Cr</a:t>
            </a:r>
            <a:endParaRPr lang="en-US" sz="700" dirty="0"/>
          </a:p>
        </p:txBody>
      </p:sp>
      <p:sp>
        <p:nvSpPr>
          <p:cNvPr id="67" name="Shape 63"/>
          <p:cNvSpPr/>
          <p:nvPr/>
        </p:nvSpPr>
        <p:spPr>
          <a:xfrm>
            <a:off x="4556760" y="4553712"/>
            <a:ext cx="2036064" cy="1773936"/>
          </a:xfrm>
          <a:prstGeom prst="roundRect">
            <a:avLst>
              <a:gd name="adj" fmla="val 1031"/>
            </a:avLst>
          </a:prstGeom>
          <a:solidFill>
            <a:srgbClr val="FFFFFF"/>
          </a:solidFill>
          <a:ln w="9525">
            <a:solidFill>
              <a:srgbClr val="C8DCD7"/>
            </a:solidFill>
            <a:prstDash val="solid"/>
          </a:ln>
        </p:spPr>
      </p:sp>
      <p:sp>
        <p:nvSpPr>
          <p:cNvPr id="68" name="Shape 64"/>
          <p:cNvSpPr/>
          <p:nvPr/>
        </p:nvSpPr>
        <p:spPr>
          <a:xfrm>
            <a:off x="4556760" y="4553712"/>
            <a:ext cx="2036064" cy="274320"/>
          </a:xfrm>
          <a:prstGeom prst="rect">
            <a:avLst/>
          </a:prstGeom>
          <a:solidFill>
            <a:srgbClr val="28A596"/>
          </a:solidFill>
          <a:ln/>
        </p:spPr>
      </p:sp>
      <p:sp>
        <p:nvSpPr>
          <p:cNvPr id="69" name="Text 65"/>
          <p:cNvSpPr/>
          <p:nvPr/>
        </p:nvSpPr>
        <p:spPr>
          <a:xfrm>
            <a:off x="4639056" y="457200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BRAND × SUB-CATEGORY</a:t>
            </a:r>
            <a:endParaRPr lang="en-US" sz="700" dirty="0"/>
          </a:p>
        </p:txBody>
      </p:sp>
      <p:sp>
        <p:nvSpPr>
          <p:cNvPr id="70" name="Text 66"/>
          <p:cNvSpPr/>
          <p:nvPr/>
        </p:nvSpPr>
        <p:spPr>
          <a:xfrm>
            <a:off x="4648200" y="4919472"/>
            <a:ext cx="1853184" cy="155448"/>
          </a:xfrm>
          <a:prstGeom prst="rect">
            <a:avLst/>
          </a:prstGeom>
          <a:noFill/>
          <a:ln/>
        </p:spPr>
        <p:txBody>
          <a:bodyPr wrap="square" lIns="0" tIns="0" rIns="0" bIns="0" rtlCol="0" anchor="t"/>
          <a:lstStyle/>
          <a:p>
            <a:pPr indent="0" marL="0">
              <a:buNone/>
            </a:pPr>
            <a:r>
              <a:rPr lang="en-US" sz="680" b="1" dirty="0">
                <a:solidFill>
                  <a:srgbClr val="28A596"/>
                </a:solidFill>
                <a:latin typeface="Calibri" pitchFamily="34" charset="0"/>
                <a:ea typeface="Calibri" pitchFamily="34" charset="-122"/>
                <a:cs typeface="Calibri" pitchFamily="34" charset="-120"/>
              </a:rPr>
              <a:t>Mamaearth ₹5.24 Cr</a:t>
            </a:r>
            <a:endParaRPr lang="en-US" sz="680" dirty="0"/>
          </a:p>
        </p:txBody>
      </p:sp>
      <p:sp>
        <p:nvSpPr>
          <p:cNvPr id="71" name="Text 67"/>
          <p:cNvSpPr/>
          <p:nvPr/>
        </p:nvSpPr>
        <p:spPr>
          <a:xfrm>
            <a:off x="4684776" y="5093208"/>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Shampoo</a:t>
            </a:r>
            <a:endParaRPr lang="en-US" sz="630" dirty="0"/>
          </a:p>
        </p:txBody>
      </p:sp>
      <p:sp>
        <p:nvSpPr>
          <p:cNvPr id="72" name="Text 68"/>
          <p:cNvSpPr/>
          <p:nvPr/>
        </p:nvSpPr>
        <p:spPr>
          <a:xfrm>
            <a:off x="6007608" y="5093208"/>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₹1.23</a:t>
            </a:r>
            <a:endParaRPr lang="en-US" sz="630" dirty="0"/>
          </a:p>
        </p:txBody>
      </p:sp>
      <p:sp>
        <p:nvSpPr>
          <p:cNvPr id="73" name="Text 69"/>
          <p:cNvSpPr/>
          <p:nvPr/>
        </p:nvSpPr>
        <p:spPr>
          <a:xfrm>
            <a:off x="4684776" y="5248656"/>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Face Cleanser</a:t>
            </a:r>
            <a:endParaRPr lang="en-US" sz="630" dirty="0"/>
          </a:p>
        </p:txBody>
      </p:sp>
      <p:sp>
        <p:nvSpPr>
          <p:cNvPr id="74" name="Text 70"/>
          <p:cNvSpPr/>
          <p:nvPr/>
        </p:nvSpPr>
        <p:spPr>
          <a:xfrm>
            <a:off x="6007608" y="5248656"/>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₹1.12</a:t>
            </a:r>
            <a:endParaRPr lang="en-US" sz="630" dirty="0"/>
          </a:p>
        </p:txBody>
      </p:sp>
      <p:sp>
        <p:nvSpPr>
          <p:cNvPr id="75" name="Text 71"/>
          <p:cNvSpPr/>
          <p:nvPr/>
        </p:nvSpPr>
        <p:spPr>
          <a:xfrm>
            <a:off x="4684776" y="5404104"/>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Sun Care</a:t>
            </a:r>
            <a:endParaRPr lang="en-US" sz="630" dirty="0"/>
          </a:p>
        </p:txBody>
      </p:sp>
      <p:sp>
        <p:nvSpPr>
          <p:cNvPr id="76" name="Text 72"/>
          <p:cNvSpPr/>
          <p:nvPr/>
        </p:nvSpPr>
        <p:spPr>
          <a:xfrm>
            <a:off x="6007608" y="5404104"/>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₹0.32</a:t>
            </a:r>
            <a:endParaRPr lang="en-US" sz="630" dirty="0"/>
          </a:p>
        </p:txBody>
      </p:sp>
      <p:sp>
        <p:nvSpPr>
          <p:cNvPr id="77" name="Text 73"/>
          <p:cNvSpPr/>
          <p:nvPr/>
        </p:nvSpPr>
        <p:spPr>
          <a:xfrm>
            <a:off x="4648200" y="5605272"/>
            <a:ext cx="1853184" cy="155448"/>
          </a:xfrm>
          <a:prstGeom prst="rect">
            <a:avLst/>
          </a:prstGeom>
          <a:noFill/>
          <a:ln/>
        </p:spPr>
        <p:txBody>
          <a:bodyPr wrap="square" lIns="0" tIns="0" rIns="0" bIns="0" rtlCol="0" anchor="t"/>
          <a:lstStyle/>
          <a:p>
            <a:pPr indent="0" marL="0">
              <a:buNone/>
            </a:pPr>
            <a:r>
              <a:rPr lang="en-US" sz="680" b="1" dirty="0">
                <a:solidFill>
                  <a:srgbClr val="2E7DA8"/>
                </a:solidFill>
                <a:latin typeface="Calibri" pitchFamily="34" charset="0"/>
                <a:ea typeface="Calibri" pitchFamily="34" charset="-122"/>
                <a:cs typeface="Calibri" pitchFamily="34" charset="-120"/>
              </a:rPr>
              <a:t>The Derma Co. ₹2.76 Cr</a:t>
            </a:r>
            <a:endParaRPr lang="en-US" sz="680" dirty="0"/>
          </a:p>
        </p:txBody>
      </p:sp>
      <p:sp>
        <p:nvSpPr>
          <p:cNvPr id="78" name="Text 74"/>
          <p:cNvSpPr/>
          <p:nvPr/>
        </p:nvSpPr>
        <p:spPr>
          <a:xfrm>
            <a:off x="4684776" y="5779008"/>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Face Cleanser</a:t>
            </a:r>
            <a:endParaRPr lang="en-US" sz="630" dirty="0"/>
          </a:p>
        </p:txBody>
      </p:sp>
      <p:sp>
        <p:nvSpPr>
          <p:cNvPr id="79" name="Text 75"/>
          <p:cNvSpPr/>
          <p:nvPr/>
        </p:nvSpPr>
        <p:spPr>
          <a:xfrm>
            <a:off x="6007608" y="5779008"/>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₹1.18</a:t>
            </a:r>
            <a:endParaRPr lang="en-US" sz="630" dirty="0"/>
          </a:p>
        </p:txBody>
      </p:sp>
      <p:sp>
        <p:nvSpPr>
          <p:cNvPr id="80" name="Text 76"/>
          <p:cNvSpPr/>
          <p:nvPr/>
        </p:nvSpPr>
        <p:spPr>
          <a:xfrm>
            <a:off x="4684776" y="5934456"/>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Sun Care</a:t>
            </a:r>
            <a:endParaRPr lang="en-US" sz="630" dirty="0"/>
          </a:p>
        </p:txBody>
      </p:sp>
      <p:sp>
        <p:nvSpPr>
          <p:cNvPr id="81" name="Text 77"/>
          <p:cNvSpPr/>
          <p:nvPr/>
        </p:nvSpPr>
        <p:spPr>
          <a:xfrm>
            <a:off x="6007608" y="5934456"/>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₹0.61</a:t>
            </a:r>
            <a:endParaRPr lang="en-US" sz="630" dirty="0"/>
          </a:p>
        </p:txBody>
      </p:sp>
      <p:sp>
        <p:nvSpPr>
          <p:cNvPr id="82" name="Text 78"/>
          <p:cNvSpPr/>
          <p:nvPr/>
        </p:nvSpPr>
        <p:spPr>
          <a:xfrm>
            <a:off x="4684776" y="6089904"/>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Face Serum</a:t>
            </a:r>
            <a:endParaRPr lang="en-US" sz="630" dirty="0"/>
          </a:p>
        </p:txBody>
      </p:sp>
      <p:sp>
        <p:nvSpPr>
          <p:cNvPr id="83" name="Text 79"/>
          <p:cNvSpPr/>
          <p:nvPr/>
        </p:nvSpPr>
        <p:spPr>
          <a:xfrm>
            <a:off x="6007608" y="6089904"/>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₹0.19</a:t>
            </a:r>
            <a:endParaRPr lang="en-US" sz="630" dirty="0"/>
          </a:p>
        </p:txBody>
      </p:sp>
      <p:sp>
        <p:nvSpPr>
          <p:cNvPr id="84" name="Shape 80"/>
          <p:cNvSpPr/>
          <p:nvPr/>
        </p:nvSpPr>
        <p:spPr>
          <a:xfrm>
            <a:off x="265176" y="6437376"/>
            <a:ext cx="6327648" cy="274320"/>
          </a:xfrm>
          <a:prstGeom prst="roundRect">
            <a:avLst>
              <a:gd name="adj" fmla="val 6667"/>
            </a:avLst>
          </a:prstGeom>
          <a:solidFill>
            <a:srgbClr val="FDF6E6"/>
          </a:solidFill>
          <a:ln w="9525">
            <a:solidFill>
              <a:srgbClr val="F2B84B"/>
            </a:solidFill>
            <a:prstDash val="solid"/>
          </a:ln>
        </p:spPr>
      </p:sp>
      <p:sp>
        <p:nvSpPr>
          <p:cNvPr id="85" name="Text 81"/>
          <p:cNvSpPr/>
          <p:nvPr/>
        </p:nvSpPr>
        <p:spPr>
          <a:xfrm>
            <a:off x="374904" y="6473952"/>
            <a:ext cx="6108192" cy="219456"/>
          </a:xfrm>
          <a:prstGeom prst="rect">
            <a:avLst/>
          </a:prstGeom>
          <a:noFill/>
          <a:ln/>
        </p:spPr>
        <p:txBody>
          <a:bodyPr wrap="square" lIns="0" tIns="0" rIns="0" bIns="0" rtlCol="0" anchor="ctr"/>
          <a:lstStyle/>
          <a:p>
            <a:pPr indent="0" marL="0">
              <a:buNone/>
            </a:pPr>
            <a:r>
              <a:rPr lang="en-US" sz="660" b="1" dirty="0">
                <a:solidFill>
                  <a:srgbClr val="F2B84B"/>
                </a:solidFill>
                <a:latin typeface="Calibri" pitchFamily="34" charset="0"/>
                <a:ea typeface="Calibri" pitchFamily="34" charset="-122"/>
                <a:cs typeface="Calibri" pitchFamily="34" charset="-120"/>
              </a:rPr>
              <a:t>NPI   </a:t>
            </a:r>
            <a:pPr indent="0" marL="0">
              <a:buNone/>
            </a:pPr>
            <a:r>
              <a:rPr lang="en-US" sz="700" dirty="0">
                <a:solidFill>
                  <a:srgbClr val="183B39"/>
                </a:solidFill>
                <a:latin typeface="Calibri" pitchFamily="34" charset="0"/>
                <a:ea typeface="Calibri" pitchFamily="34" charset="-122"/>
                <a:cs typeface="Calibri" pitchFamily="34" charset="-120"/>
              </a:rPr>
              <a:t>₹0.64 Cr · 7.9% of zone — highest NPI value of any zone</a:t>
            </a:r>
            <a:endParaRPr lang="en-US" sz="660" dirty="0"/>
          </a:p>
        </p:txBody>
      </p:sp>
      <p:sp>
        <p:nvSpPr>
          <p:cNvPr id="86" name="Shape 82"/>
          <p:cNvSpPr/>
          <p:nvPr/>
        </p:nvSpPr>
        <p:spPr>
          <a:xfrm>
            <a:off x="265176" y="6821424"/>
            <a:ext cx="6327648" cy="256032"/>
          </a:xfrm>
          <a:prstGeom prst="rect">
            <a:avLst/>
          </a:prstGeom>
          <a:solidFill>
            <a:srgbClr val="2B9A66"/>
          </a:solidFill>
          <a:ln/>
        </p:spPr>
      </p:sp>
      <p:sp>
        <p:nvSpPr>
          <p:cNvPr id="87" name="Text 83"/>
          <p:cNvSpPr/>
          <p:nvPr/>
        </p:nvSpPr>
        <p:spPr>
          <a:xfrm>
            <a:off x="374904" y="6839712"/>
            <a:ext cx="6108192" cy="219456"/>
          </a:xfrm>
          <a:prstGeom prst="rect">
            <a:avLst/>
          </a:prstGeom>
          <a:noFill/>
          <a:ln/>
        </p:spPr>
        <p:txBody>
          <a:bodyPr wrap="square" lIns="0" tIns="0" rIns="0" bIns="0" rtlCol="0" anchor="ctr"/>
          <a:lstStyle/>
          <a:p>
            <a:pPr indent="0" marL="0">
              <a:buNone/>
            </a:pPr>
            <a:r>
              <a:rPr lang="en-US" sz="720" b="1" spc="60" kern="0" dirty="0">
                <a:solidFill>
                  <a:srgbClr val="FFFFFF"/>
                </a:solidFill>
                <a:latin typeface="Calibri" pitchFamily="34" charset="0"/>
                <a:ea typeface="Calibri" pitchFamily="34" charset="-122"/>
                <a:cs typeface="Calibri" pitchFamily="34" charset="-120"/>
              </a:rPr>
              <a:t>SIX DIAGNOSED EXCEPTIONS — CAUSE, ACTION AND OWNER</a:t>
            </a:r>
            <a:endParaRPr lang="en-US" sz="720" dirty="0"/>
          </a:p>
        </p:txBody>
      </p:sp>
      <p:sp>
        <p:nvSpPr>
          <p:cNvPr id="88" name="Shape 84"/>
          <p:cNvSpPr/>
          <p:nvPr/>
        </p:nvSpPr>
        <p:spPr>
          <a:xfrm>
            <a:off x="265176" y="7168896"/>
            <a:ext cx="2036064" cy="1700784"/>
          </a:xfrm>
          <a:prstGeom prst="roundRect">
            <a:avLst>
              <a:gd name="adj" fmla="val 1075"/>
            </a:avLst>
          </a:prstGeom>
          <a:solidFill>
            <a:srgbClr val="FFFFFF"/>
          </a:solidFill>
          <a:ln w="9525">
            <a:solidFill>
              <a:srgbClr val="C8DCD7"/>
            </a:solidFill>
            <a:prstDash val="solid"/>
          </a:ln>
        </p:spPr>
      </p:sp>
      <p:sp>
        <p:nvSpPr>
          <p:cNvPr id="89" name="Shape 85"/>
          <p:cNvSpPr/>
          <p:nvPr/>
        </p:nvSpPr>
        <p:spPr>
          <a:xfrm>
            <a:off x="265176" y="7168896"/>
            <a:ext cx="2036064" cy="41148"/>
          </a:xfrm>
          <a:prstGeom prst="rect">
            <a:avLst/>
          </a:prstGeom>
          <a:solidFill>
            <a:srgbClr val="2B9A66"/>
          </a:solidFill>
          <a:ln/>
        </p:spPr>
      </p:sp>
      <p:sp>
        <p:nvSpPr>
          <p:cNvPr id="90" name="Text 86"/>
          <p:cNvSpPr/>
          <p:nvPr/>
        </p:nvSpPr>
        <p:spPr>
          <a:xfrm>
            <a:off x="356616" y="7251192"/>
            <a:ext cx="1853184" cy="137160"/>
          </a:xfrm>
          <a:prstGeom prst="rect">
            <a:avLst/>
          </a:prstGeom>
          <a:noFill/>
          <a:ln/>
        </p:spPr>
        <p:txBody>
          <a:bodyPr wrap="square" lIns="0" tIns="0" rIns="0" bIns="0" rtlCol="0" anchor="t"/>
          <a:lstStyle/>
          <a:p>
            <a:pPr indent="0" marL="0">
              <a:buNone/>
            </a:pPr>
            <a:r>
              <a:rPr lang="en-US" sz="620" b="1" spc="50" kern="0" dirty="0">
                <a:solidFill>
                  <a:srgbClr val="2B9A66"/>
                </a:solidFill>
                <a:latin typeface="Calibri" pitchFamily="34" charset="0"/>
                <a:ea typeface="Calibri" pitchFamily="34" charset="-122"/>
                <a:cs typeface="Calibri" pitchFamily="34" charset="-120"/>
              </a:rPr>
              <a:t>BENCHMARK</a:t>
            </a:r>
            <a:endParaRPr lang="en-US" sz="620" dirty="0"/>
          </a:p>
        </p:txBody>
      </p:sp>
      <p:sp>
        <p:nvSpPr>
          <p:cNvPr id="91" name="Text 87"/>
          <p:cNvSpPr/>
          <p:nvPr/>
        </p:nvSpPr>
        <p:spPr>
          <a:xfrm>
            <a:off x="356616" y="7397496"/>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86.3% conversion is the best zone in the country</a:t>
            </a:r>
            <a:endParaRPr lang="en-US" sz="740" dirty="0"/>
          </a:p>
        </p:txBody>
      </p:sp>
      <p:sp>
        <p:nvSpPr>
          <p:cNvPr id="92" name="Text 88"/>
          <p:cNvSpPr/>
          <p:nvPr/>
        </p:nvSpPr>
        <p:spPr>
          <a:xfrm>
            <a:off x="356616" y="7735824"/>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South-1 sets the internal benchmark used to size the national recovery pool. It is not an outlier month — chain conversion is even across all three top accounts.</a:t>
            </a:r>
            <a:endParaRPr lang="en-US" sz="650" dirty="0"/>
          </a:p>
        </p:txBody>
      </p:sp>
      <p:sp>
        <p:nvSpPr>
          <p:cNvPr id="93" name="Shape 89"/>
          <p:cNvSpPr/>
          <p:nvPr/>
        </p:nvSpPr>
        <p:spPr>
          <a:xfrm>
            <a:off x="356616" y="8330184"/>
            <a:ext cx="1853184" cy="0"/>
          </a:xfrm>
          <a:prstGeom prst="line">
            <a:avLst/>
          </a:prstGeom>
          <a:noFill/>
          <a:ln w="6350">
            <a:solidFill>
              <a:srgbClr val="C8DCD7"/>
            </a:solidFill>
            <a:prstDash val="solid"/>
          </a:ln>
        </p:spPr>
      </p:sp>
      <p:sp>
        <p:nvSpPr>
          <p:cNvPr id="94" name="Text 90"/>
          <p:cNvSpPr/>
          <p:nvPr/>
        </p:nvSpPr>
        <p:spPr>
          <a:xfrm>
            <a:off x="356616" y="8375904"/>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Use South-1 as the reference zone in every gap-closure target, not an external aspiration.</a:t>
            </a:r>
            <a:endParaRPr lang="en-US" sz="600" dirty="0"/>
          </a:p>
        </p:txBody>
      </p:sp>
      <p:sp>
        <p:nvSpPr>
          <p:cNvPr id="95" name="Text 91"/>
          <p:cNvSpPr/>
          <p:nvPr/>
        </p:nvSpPr>
        <p:spPr>
          <a:xfrm>
            <a:off x="356616" y="8705088"/>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Sales lead · standing</a:t>
            </a:r>
            <a:endParaRPr lang="en-US" sz="620" dirty="0"/>
          </a:p>
        </p:txBody>
      </p:sp>
      <p:sp>
        <p:nvSpPr>
          <p:cNvPr id="96" name="Shape 92"/>
          <p:cNvSpPr/>
          <p:nvPr/>
        </p:nvSpPr>
        <p:spPr>
          <a:xfrm>
            <a:off x="2410968" y="7168896"/>
            <a:ext cx="2036064" cy="1700784"/>
          </a:xfrm>
          <a:prstGeom prst="roundRect">
            <a:avLst>
              <a:gd name="adj" fmla="val 1075"/>
            </a:avLst>
          </a:prstGeom>
          <a:solidFill>
            <a:srgbClr val="FFFFFF"/>
          </a:solidFill>
          <a:ln w="9525">
            <a:solidFill>
              <a:srgbClr val="C8DCD7"/>
            </a:solidFill>
            <a:prstDash val="solid"/>
          </a:ln>
        </p:spPr>
      </p:sp>
      <p:sp>
        <p:nvSpPr>
          <p:cNvPr id="97" name="Shape 93"/>
          <p:cNvSpPr/>
          <p:nvPr/>
        </p:nvSpPr>
        <p:spPr>
          <a:xfrm>
            <a:off x="2410968" y="7168896"/>
            <a:ext cx="2036064" cy="41148"/>
          </a:xfrm>
          <a:prstGeom prst="rect">
            <a:avLst/>
          </a:prstGeom>
          <a:solidFill>
            <a:srgbClr val="116F68"/>
          </a:solidFill>
          <a:ln/>
        </p:spPr>
      </p:sp>
      <p:sp>
        <p:nvSpPr>
          <p:cNvPr id="98" name="Text 94"/>
          <p:cNvSpPr/>
          <p:nvPr/>
        </p:nvSpPr>
        <p:spPr>
          <a:xfrm>
            <a:off x="2502408" y="7251192"/>
            <a:ext cx="1853184" cy="137160"/>
          </a:xfrm>
          <a:prstGeom prst="rect">
            <a:avLst/>
          </a:prstGeom>
          <a:noFill/>
          <a:ln/>
        </p:spPr>
        <p:txBody>
          <a:bodyPr wrap="square" lIns="0" tIns="0" rIns="0" bIns="0" rtlCol="0" anchor="t"/>
          <a:lstStyle/>
          <a:p>
            <a:pPr indent="0" marL="0">
              <a:buNone/>
            </a:pPr>
            <a:r>
              <a:rPr lang="en-US" sz="620" b="1" spc="50" kern="0" dirty="0">
                <a:solidFill>
                  <a:srgbClr val="116F68"/>
                </a:solidFill>
                <a:latin typeface="Calibri" pitchFamily="34" charset="0"/>
                <a:ea typeface="Calibri" pitchFamily="34" charset="-122"/>
                <a:cs typeface="Calibri" pitchFamily="34" charset="-120"/>
              </a:rPr>
              <a:t>TRANSFER</a:t>
            </a:r>
            <a:endParaRPr lang="en-US" sz="620" dirty="0"/>
          </a:p>
        </p:txBody>
      </p:sp>
      <p:sp>
        <p:nvSpPr>
          <p:cNvPr id="99" name="Text 95"/>
          <p:cNvSpPr/>
          <p:nvPr/>
        </p:nvSpPr>
        <p:spPr>
          <a:xfrm>
            <a:off x="2502408" y="7397496"/>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Apollo at ₹2.84 Cr and 81.0% is the most replicable model</a:t>
            </a:r>
            <a:endParaRPr lang="en-US" sz="740" dirty="0"/>
          </a:p>
        </p:txBody>
      </p:sp>
      <p:sp>
        <p:nvSpPr>
          <p:cNvPr id="100" name="Text 96"/>
          <p:cNvSpPr/>
          <p:nvPr/>
        </p:nvSpPr>
        <p:spPr>
          <a:xfrm>
            <a:off x="2502408" y="7735824"/>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Pharmacy-format cadence — small, frequent, tightly assorted orders — is the mechanism behind Apollo's near-parity flow nationally.</a:t>
            </a:r>
            <a:endParaRPr lang="en-US" sz="650" dirty="0"/>
          </a:p>
        </p:txBody>
      </p:sp>
      <p:sp>
        <p:nvSpPr>
          <p:cNvPr id="101" name="Shape 97"/>
          <p:cNvSpPr/>
          <p:nvPr/>
        </p:nvSpPr>
        <p:spPr>
          <a:xfrm>
            <a:off x="2502408" y="8330184"/>
            <a:ext cx="1853184" cy="0"/>
          </a:xfrm>
          <a:prstGeom prst="line">
            <a:avLst/>
          </a:prstGeom>
          <a:noFill/>
          <a:ln w="6350">
            <a:solidFill>
              <a:srgbClr val="C8DCD7"/>
            </a:solidFill>
            <a:prstDash val="solid"/>
          </a:ln>
        </p:spPr>
      </p:sp>
      <p:sp>
        <p:nvSpPr>
          <p:cNvPr id="102" name="Text 98"/>
          <p:cNvSpPr/>
          <p:nvPr/>
        </p:nvSpPr>
        <p:spPr>
          <a:xfrm>
            <a:off x="2502408" y="8375904"/>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Extract the Apollo order-frequency and assortment-depth profile as a scoring template for other accounts.</a:t>
            </a:r>
            <a:endParaRPr lang="en-US" sz="600" dirty="0"/>
          </a:p>
        </p:txBody>
      </p:sp>
      <p:sp>
        <p:nvSpPr>
          <p:cNvPr id="103" name="Text 99"/>
          <p:cNvSpPr/>
          <p:nvPr/>
        </p:nvSpPr>
        <p:spPr>
          <a:xfrm>
            <a:off x="2502408" y="8705088"/>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Analyst + NKAM Apollo · 31 Aug</a:t>
            </a:r>
            <a:endParaRPr lang="en-US" sz="620" dirty="0"/>
          </a:p>
        </p:txBody>
      </p:sp>
      <p:sp>
        <p:nvSpPr>
          <p:cNvPr id="104" name="Shape 100"/>
          <p:cNvSpPr/>
          <p:nvPr/>
        </p:nvSpPr>
        <p:spPr>
          <a:xfrm>
            <a:off x="4556760" y="7168896"/>
            <a:ext cx="2036064" cy="1700784"/>
          </a:xfrm>
          <a:prstGeom prst="roundRect">
            <a:avLst>
              <a:gd name="adj" fmla="val 1075"/>
            </a:avLst>
          </a:prstGeom>
          <a:solidFill>
            <a:srgbClr val="FFFFFF"/>
          </a:solidFill>
          <a:ln w="9525">
            <a:solidFill>
              <a:srgbClr val="C8DCD7"/>
            </a:solidFill>
            <a:prstDash val="solid"/>
          </a:ln>
        </p:spPr>
      </p:sp>
      <p:sp>
        <p:nvSpPr>
          <p:cNvPr id="105" name="Shape 101"/>
          <p:cNvSpPr/>
          <p:nvPr/>
        </p:nvSpPr>
        <p:spPr>
          <a:xfrm>
            <a:off x="4556760" y="7168896"/>
            <a:ext cx="2036064" cy="41148"/>
          </a:xfrm>
          <a:prstGeom prst="rect">
            <a:avLst/>
          </a:prstGeom>
          <a:solidFill>
            <a:srgbClr val="F2B84B"/>
          </a:solidFill>
          <a:ln/>
        </p:spPr>
      </p:sp>
      <p:sp>
        <p:nvSpPr>
          <p:cNvPr id="106" name="Text 102"/>
          <p:cNvSpPr/>
          <p:nvPr/>
        </p:nvSpPr>
        <p:spPr>
          <a:xfrm>
            <a:off x="4648200" y="7251192"/>
            <a:ext cx="1853184" cy="137160"/>
          </a:xfrm>
          <a:prstGeom prst="rect">
            <a:avLst/>
          </a:prstGeom>
          <a:noFill/>
          <a:ln/>
        </p:spPr>
        <p:txBody>
          <a:bodyPr wrap="square" lIns="0" tIns="0" rIns="0" bIns="0" rtlCol="0" anchor="t"/>
          <a:lstStyle/>
          <a:p>
            <a:pPr indent="0" marL="0">
              <a:buNone/>
            </a:pPr>
            <a:r>
              <a:rPr lang="en-US" sz="620" b="1" spc="50" kern="0" dirty="0">
                <a:solidFill>
                  <a:srgbClr val="F2B84B"/>
                </a:solidFill>
                <a:latin typeface="Calibri" pitchFamily="34" charset="0"/>
                <a:ea typeface="Calibri" pitchFamily="34" charset="-122"/>
                <a:cs typeface="Calibri" pitchFamily="34" charset="-120"/>
              </a:rPr>
              <a:t>DATA</a:t>
            </a:r>
            <a:endParaRPr lang="en-US" sz="620" dirty="0"/>
          </a:p>
        </p:txBody>
      </p:sp>
      <p:sp>
        <p:nvSpPr>
          <p:cNvPr id="107" name="Text 103"/>
          <p:cNvSpPr/>
          <p:nvPr/>
        </p:nvSpPr>
        <p:spPr>
          <a:xfrm>
            <a:off x="4648200" y="7397496"/>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Lulu ₹1.22 Cr sits in the zone with no primary mapped</a:t>
            </a:r>
            <a:endParaRPr lang="en-US" sz="740" dirty="0"/>
          </a:p>
        </p:txBody>
      </p:sp>
      <p:sp>
        <p:nvSpPr>
          <p:cNvPr id="108" name="Text 104"/>
          <p:cNvSpPr/>
          <p:nvPr/>
        </p:nvSpPr>
        <p:spPr>
          <a:xfrm>
            <a:off x="4648200" y="7735824"/>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Lulu is the account the national scorecard ranks +46.5% and marks Scale. Its primary is unmapped nationally, so that growth claim cannot be verified.</a:t>
            </a:r>
            <a:endParaRPr lang="en-US" sz="650" dirty="0"/>
          </a:p>
        </p:txBody>
      </p:sp>
      <p:sp>
        <p:nvSpPr>
          <p:cNvPr id="109" name="Shape 105"/>
          <p:cNvSpPr/>
          <p:nvPr/>
        </p:nvSpPr>
        <p:spPr>
          <a:xfrm>
            <a:off x="4648200" y="8330184"/>
            <a:ext cx="1853184" cy="0"/>
          </a:xfrm>
          <a:prstGeom prst="line">
            <a:avLst/>
          </a:prstGeom>
          <a:noFill/>
          <a:ln w="6350">
            <a:solidFill>
              <a:srgbClr val="C8DCD7"/>
            </a:solidFill>
            <a:prstDash val="solid"/>
          </a:ln>
        </p:spPr>
      </p:sp>
      <p:sp>
        <p:nvSpPr>
          <p:cNvPr id="110" name="Text 106"/>
          <p:cNvSpPr/>
          <p:nvPr/>
        </p:nvSpPr>
        <p:spPr>
          <a:xfrm>
            <a:off x="4648200" y="8375904"/>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Resolve Lulu billing mapping before any Lulu-based recommendation goes to the field.</a:t>
            </a:r>
            <a:endParaRPr lang="en-US" sz="600" dirty="0"/>
          </a:p>
        </p:txBody>
      </p:sp>
      <p:sp>
        <p:nvSpPr>
          <p:cNvPr id="111" name="Text 107"/>
          <p:cNvSpPr/>
          <p:nvPr/>
        </p:nvSpPr>
        <p:spPr>
          <a:xfrm>
            <a:off x="4648200" y="8705088"/>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Analyst · 18 Aug</a:t>
            </a:r>
            <a:endParaRPr lang="en-US" sz="620" dirty="0"/>
          </a:p>
        </p:txBody>
      </p:sp>
      <p:sp>
        <p:nvSpPr>
          <p:cNvPr id="112" name="Shape 108"/>
          <p:cNvSpPr/>
          <p:nvPr/>
        </p:nvSpPr>
        <p:spPr>
          <a:xfrm>
            <a:off x="265176" y="8979408"/>
            <a:ext cx="2036064" cy="1700784"/>
          </a:xfrm>
          <a:prstGeom prst="roundRect">
            <a:avLst>
              <a:gd name="adj" fmla="val 1075"/>
            </a:avLst>
          </a:prstGeom>
          <a:solidFill>
            <a:srgbClr val="FFFFFF"/>
          </a:solidFill>
          <a:ln w="9525">
            <a:solidFill>
              <a:srgbClr val="C8DCD7"/>
            </a:solidFill>
            <a:prstDash val="solid"/>
          </a:ln>
        </p:spPr>
      </p:sp>
      <p:sp>
        <p:nvSpPr>
          <p:cNvPr id="113" name="Shape 109"/>
          <p:cNvSpPr/>
          <p:nvPr/>
        </p:nvSpPr>
        <p:spPr>
          <a:xfrm>
            <a:off x="265176" y="8979408"/>
            <a:ext cx="2036064" cy="41148"/>
          </a:xfrm>
          <a:prstGeom prst="rect">
            <a:avLst/>
          </a:prstGeom>
          <a:solidFill>
            <a:srgbClr val="116F68"/>
          </a:solidFill>
          <a:ln/>
        </p:spPr>
      </p:sp>
      <p:sp>
        <p:nvSpPr>
          <p:cNvPr id="114" name="Text 110"/>
          <p:cNvSpPr/>
          <p:nvPr/>
        </p:nvSpPr>
        <p:spPr>
          <a:xfrm>
            <a:off x="356616" y="9061704"/>
            <a:ext cx="1853184" cy="137160"/>
          </a:xfrm>
          <a:prstGeom prst="rect">
            <a:avLst/>
          </a:prstGeom>
          <a:noFill/>
          <a:ln/>
        </p:spPr>
        <p:txBody>
          <a:bodyPr wrap="square" lIns="0" tIns="0" rIns="0" bIns="0" rtlCol="0" anchor="t"/>
          <a:lstStyle/>
          <a:p>
            <a:pPr indent="0" marL="0">
              <a:buNone/>
            </a:pPr>
            <a:r>
              <a:rPr lang="en-US" sz="620" b="1" spc="50" kern="0" dirty="0">
                <a:solidFill>
                  <a:srgbClr val="116F68"/>
                </a:solidFill>
                <a:latin typeface="Calibri" pitchFamily="34" charset="0"/>
                <a:ea typeface="Calibri" pitchFamily="34" charset="-122"/>
                <a:cs typeface="Calibri" pitchFamily="34" charset="-120"/>
              </a:rPr>
              <a:t>PORTFOLIO</a:t>
            </a:r>
            <a:endParaRPr lang="en-US" sz="620" dirty="0"/>
          </a:p>
        </p:txBody>
      </p:sp>
      <p:sp>
        <p:nvSpPr>
          <p:cNvPr id="115" name="Text 111"/>
          <p:cNvSpPr/>
          <p:nvPr/>
        </p:nvSpPr>
        <p:spPr>
          <a:xfrm>
            <a:off x="356616" y="9208008"/>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The only zone where Mamaearth Shampoo out-sells Face Cleanser</a:t>
            </a:r>
            <a:endParaRPr lang="en-US" sz="740" dirty="0"/>
          </a:p>
        </p:txBody>
      </p:sp>
      <p:sp>
        <p:nvSpPr>
          <p:cNvPr id="116" name="Text 112"/>
          <p:cNvSpPr/>
          <p:nvPr/>
        </p:nvSpPr>
        <p:spPr>
          <a:xfrm>
            <a:off x="356616" y="9546336"/>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Shampoo ₹1.23 Cr against Face Cleanser ₹1.12 Cr. Every other zone is cleanser-led, so South-1 is the natural proving ground for the shampoo range.</a:t>
            </a:r>
            <a:endParaRPr lang="en-US" sz="650" dirty="0"/>
          </a:p>
        </p:txBody>
      </p:sp>
      <p:sp>
        <p:nvSpPr>
          <p:cNvPr id="117" name="Shape 113"/>
          <p:cNvSpPr/>
          <p:nvPr/>
        </p:nvSpPr>
        <p:spPr>
          <a:xfrm>
            <a:off x="356616" y="10140696"/>
            <a:ext cx="1853184" cy="0"/>
          </a:xfrm>
          <a:prstGeom prst="line">
            <a:avLst/>
          </a:prstGeom>
          <a:noFill/>
          <a:ln w="6350">
            <a:solidFill>
              <a:srgbClr val="C8DCD7"/>
            </a:solidFill>
            <a:prstDash val="solid"/>
          </a:ln>
        </p:spPr>
      </p:sp>
      <p:sp>
        <p:nvSpPr>
          <p:cNvPr id="118" name="Text 114"/>
          <p:cNvSpPr/>
          <p:nvPr/>
        </p:nvSpPr>
        <p:spPr>
          <a:xfrm>
            <a:off x="356616" y="10186416"/>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Run the shampoo pack pilot here first, measured on sales per store, not listings added.</a:t>
            </a:r>
            <a:endParaRPr lang="en-US" sz="600" dirty="0"/>
          </a:p>
        </p:txBody>
      </p:sp>
      <p:sp>
        <p:nvSpPr>
          <p:cNvPr id="119" name="Text 115"/>
          <p:cNvSpPr/>
          <p:nvPr/>
        </p:nvSpPr>
        <p:spPr>
          <a:xfrm>
            <a:off x="356616" y="10515600"/>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Category + South-1 RKAM · Sep</a:t>
            </a:r>
            <a:endParaRPr lang="en-US" sz="620" dirty="0"/>
          </a:p>
        </p:txBody>
      </p:sp>
      <p:sp>
        <p:nvSpPr>
          <p:cNvPr id="120" name="Shape 116"/>
          <p:cNvSpPr/>
          <p:nvPr/>
        </p:nvSpPr>
        <p:spPr>
          <a:xfrm>
            <a:off x="2410968" y="8979408"/>
            <a:ext cx="2036064" cy="1700784"/>
          </a:xfrm>
          <a:prstGeom prst="roundRect">
            <a:avLst>
              <a:gd name="adj" fmla="val 1075"/>
            </a:avLst>
          </a:prstGeom>
          <a:solidFill>
            <a:srgbClr val="FFFFFF"/>
          </a:solidFill>
          <a:ln w="9525">
            <a:solidFill>
              <a:srgbClr val="C8DCD7"/>
            </a:solidFill>
            <a:prstDash val="solid"/>
          </a:ln>
        </p:spPr>
      </p:sp>
      <p:sp>
        <p:nvSpPr>
          <p:cNvPr id="121" name="Shape 117"/>
          <p:cNvSpPr/>
          <p:nvPr/>
        </p:nvSpPr>
        <p:spPr>
          <a:xfrm>
            <a:off x="2410968" y="8979408"/>
            <a:ext cx="2036064" cy="41148"/>
          </a:xfrm>
          <a:prstGeom prst="rect">
            <a:avLst/>
          </a:prstGeom>
          <a:solidFill>
            <a:srgbClr val="2B9A66"/>
          </a:solidFill>
          <a:ln/>
        </p:spPr>
      </p:sp>
      <p:sp>
        <p:nvSpPr>
          <p:cNvPr id="122" name="Text 118"/>
          <p:cNvSpPr/>
          <p:nvPr/>
        </p:nvSpPr>
        <p:spPr>
          <a:xfrm>
            <a:off x="2502408" y="9061704"/>
            <a:ext cx="1853184" cy="137160"/>
          </a:xfrm>
          <a:prstGeom prst="rect">
            <a:avLst/>
          </a:prstGeom>
          <a:noFill/>
          <a:ln/>
        </p:spPr>
        <p:txBody>
          <a:bodyPr wrap="square" lIns="0" tIns="0" rIns="0" bIns="0" rtlCol="0" anchor="t"/>
          <a:lstStyle/>
          <a:p>
            <a:pPr indent="0" marL="0">
              <a:buNone/>
            </a:pPr>
            <a:r>
              <a:rPr lang="en-US" sz="620" b="1" spc="50" kern="0" dirty="0">
                <a:solidFill>
                  <a:srgbClr val="2B9A66"/>
                </a:solidFill>
                <a:latin typeface="Calibri" pitchFamily="34" charset="0"/>
                <a:ea typeface="Calibri" pitchFamily="34" charset="-122"/>
                <a:cs typeface="Calibri" pitchFamily="34" charset="-120"/>
              </a:rPr>
              <a:t>CONCENTRATION</a:t>
            </a:r>
            <a:endParaRPr lang="en-US" sz="620" dirty="0"/>
          </a:p>
        </p:txBody>
      </p:sp>
      <p:sp>
        <p:nvSpPr>
          <p:cNvPr id="123" name="Text 119"/>
          <p:cNvSpPr/>
          <p:nvPr/>
        </p:nvSpPr>
        <p:spPr>
          <a:xfrm>
            <a:off x="2502408" y="9208008"/>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Top three chains hold 77.8% — the widest base in the country</a:t>
            </a:r>
            <a:endParaRPr lang="en-US" sz="740" dirty="0"/>
          </a:p>
        </p:txBody>
      </p:sp>
      <p:sp>
        <p:nvSpPr>
          <p:cNvPr id="124" name="Text 120"/>
          <p:cNvSpPr/>
          <p:nvPr/>
        </p:nvSpPr>
        <p:spPr>
          <a:xfrm>
            <a:off x="2502408" y="9546336"/>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Lowest chain concentration of any zone. Demand is spread across formats rather than resting on one hypermarket relationship.</a:t>
            </a:r>
            <a:endParaRPr lang="en-US" sz="650" dirty="0"/>
          </a:p>
        </p:txBody>
      </p:sp>
      <p:sp>
        <p:nvSpPr>
          <p:cNvPr id="125" name="Shape 121"/>
          <p:cNvSpPr/>
          <p:nvPr/>
        </p:nvSpPr>
        <p:spPr>
          <a:xfrm>
            <a:off x="2502408" y="10140696"/>
            <a:ext cx="1853184" cy="0"/>
          </a:xfrm>
          <a:prstGeom prst="line">
            <a:avLst/>
          </a:prstGeom>
          <a:noFill/>
          <a:ln w="6350">
            <a:solidFill>
              <a:srgbClr val="C8DCD7"/>
            </a:solidFill>
            <a:prstDash val="solid"/>
          </a:ln>
        </p:spPr>
      </p:sp>
      <p:sp>
        <p:nvSpPr>
          <p:cNvPr id="126" name="Text 122"/>
          <p:cNvSpPr/>
          <p:nvPr/>
        </p:nvSpPr>
        <p:spPr>
          <a:xfrm>
            <a:off x="2502408" y="10186416"/>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Treat the South-1 account mix as the target shape for East rebuilding.</a:t>
            </a:r>
            <a:endParaRPr lang="en-US" sz="600" dirty="0"/>
          </a:p>
        </p:txBody>
      </p:sp>
      <p:sp>
        <p:nvSpPr>
          <p:cNvPr id="127" name="Text 123"/>
          <p:cNvSpPr/>
          <p:nvPr/>
        </p:nvSpPr>
        <p:spPr>
          <a:xfrm>
            <a:off x="2502408" y="10515600"/>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Sales lead · Sep planning</a:t>
            </a:r>
            <a:endParaRPr lang="en-US" sz="620" dirty="0"/>
          </a:p>
        </p:txBody>
      </p:sp>
      <p:sp>
        <p:nvSpPr>
          <p:cNvPr id="128" name="Shape 124"/>
          <p:cNvSpPr/>
          <p:nvPr/>
        </p:nvSpPr>
        <p:spPr>
          <a:xfrm>
            <a:off x="4556760" y="8979408"/>
            <a:ext cx="2036064" cy="1700784"/>
          </a:xfrm>
          <a:prstGeom prst="roundRect">
            <a:avLst>
              <a:gd name="adj" fmla="val 1075"/>
            </a:avLst>
          </a:prstGeom>
          <a:solidFill>
            <a:srgbClr val="FFFFFF"/>
          </a:solidFill>
          <a:ln w="9525">
            <a:solidFill>
              <a:srgbClr val="C8DCD7"/>
            </a:solidFill>
            <a:prstDash val="solid"/>
          </a:ln>
        </p:spPr>
      </p:sp>
      <p:sp>
        <p:nvSpPr>
          <p:cNvPr id="129" name="Shape 125"/>
          <p:cNvSpPr/>
          <p:nvPr/>
        </p:nvSpPr>
        <p:spPr>
          <a:xfrm>
            <a:off x="4556760" y="8979408"/>
            <a:ext cx="2036064" cy="41148"/>
          </a:xfrm>
          <a:prstGeom prst="rect">
            <a:avLst/>
          </a:prstGeom>
          <a:solidFill>
            <a:srgbClr val="5F716E"/>
          </a:solidFill>
          <a:ln/>
        </p:spPr>
      </p:sp>
      <p:sp>
        <p:nvSpPr>
          <p:cNvPr id="130" name="Text 126"/>
          <p:cNvSpPr/>
          <p:nvPr/>
        </p:nvSpPr>
        <p:spPr>
          <a:xfrm>
            <a:off x="4648200" y="9061704"/>
            <a:ext cx="1853184" cy="137160"/>
          </a:xfrm>
          <a:prstGeom prst="rect">
            <a:avLst/>
          </a:prstGeom>
          <a:noFill/>
          <a:ln/>
        </p:spPr>
        <p:txBody>
          <a:bodyPr wrap="square" lIns="0" tIns="0" rIns="0" bIns="0" rtlCol="0" anchor="t"/>
          <a:lstStyle/>
          <a:p>
            <a:pPr indent="0" marL="0">
              <a:buNone/>
            </a:pPr>
            <a:r>
              <a:rPr lang="en-US" sz="620" b="1" spc="50" kern="0" dirty="0">
                <a:solidFill>
                  <a:srgbClr val="5F716E"/>
                </a:solidFill>
                <a:latin typeface="Calibri" pitchFamily="34" charset="0"/>
                <a:ea typeface="Calibri" pitchFamily="34" charset="-122"/>
                <a:cs typeface="Calibri" pitchFamily="34" charset="-120"/>
              </a:rPr>
              <a:t>SIZING</a:t>
            </a:r>
            <a:endParaRPr lang="en-US" sz="620" dirty="0"/>
          </a:p>
        </p:txBody>
      </p:sp>
      <p:sp>
        <p:nvSpPr>
          <p:cNvPr id="131" name="Text 127"/>
          <p:cNvSpPr/>
          <p:nvPr/>
        </p:nvSpPr>
        <p:spPr>
          <a:xfrm>
            <a:off x="4648200" y="9208008"/>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Karnataka alone is 50.1% of zone offtake</a:t>
            </a:r>
            <a:endParaRPr lang="en-US" sz="740" dirty="0"/>
          </a:p>
        </p:txBody>
      </p:sp>
      <p:sp>
        <p:nvSpPr>
          <p:cNvPr id="132" name="Text 128"/>
          <p:cNvSpPr/>
          <p:nvPr/>
        </p:nvSpPr>
        <p:spPr>
          <a:xfrm>
            <a:off x="4648200" y="9546336"/>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Single-state dependence is the one structural risk in an otherwise strong zone; Kerala at ₹1.17 Cr is materially under-developed against its retail base.</a:t>
            </a:r>
            <a:endParaRPr lang="en-US" sz="650" dirty="0"/>
          </a:p>
        </p:txBody>
      </p:sp>
      <p:sp>
        <p:nvSpPr>
          <p:cNvPr id="133" name="Shape 129"/>
          <p:cNvSpPr/>
          <p:nvPr/>
        </p:nvSpPr>
        <p:spPr>
          <a:xfrm>
            <a:off x="4648200" y="10140696"/>
            <a:ext cx="1853184" cy="0"/>
          </a:xfrm>
          <a:prstGeom prst="line">
            <a:avLst/>
          </a:prstGeom>
          <a:noFill/>
          <a:ln w="6350">
            <a:solidFill>
              <a:srgbClr val="C8DCD7"/>
            </a:solidFill>
            <a:prstDash val="solid"/>
          </a:ln>
        </p:spPr>
      </p:sp>
      <p:sp>
        <p:nvSpPr>
          <p:cNvPr id="134" name="Text 130"/>
          <p:cNvSpPr/>
          <p:nvPr/>
        </p:nvSpPr>
        <p:spPr>
          <a:xfrm>
            <a:off x="4648200" y="10186416"/>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Size the Kerala distribution white space in ₹ before the Q3 target reset.</a:t>
            </a:r>
            <a:endParaRPr lang="en-US" sz="600" dirty="0"/>
          </a:p>
        </p:txBody>
      </p:sp>
      <p:sp>
        <p:nvSpPr>
          <p:cNvPr id="135" name="Text 131"/>
          <p:cNvSpPr/>
          <p:nvPr/>
        </p:nvSpPr>
        <p:spPr>
          <a:xfrm>
            <a:off x="4648200" y="10515600"/>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South-1 RKAM · 15 Sep</a:t>
            </a:r>
            <a:endParaRPr lang="en-US" sz="620" dirty="0"/>
          </a:p>
        </p:txBody>
      </p:sp>
      <p:sp>
        <p:nvSpPr>
          <p:cNvPr id="136" name="Text 132"/>
          <p:cNvSpPr/>
          <p:nvPr/>
        </p:nvSpPr>
        <p:spPr>
          <a:xfrm>
            <a:off x="265176" y="10844784"/>
            <a:ext cx="6327648" cy="182880"/>
          </a:xfrm>
          <a:prstGeom prst="rect">
            <a:avLst/>
          </a:prstGeom>
          <a:noFill/>
          <a:ln/>
        </p:spPr>
        <p:txBody>
          <a:bodyPr wrap="square" lIns="0" tIns="0" rIns="0" bIns="0" rtlCol="0" anchor="t"/>
          <a:lstStyle/>
          <a:p>
            <a:pPr algn="ctr" indent="0" marL="0">
              <a:buNone/>
            </a:pPr>
            <a:r>
              <a:rPr lang="en-US" sz="680" i="1" dirty="0">
                <a:solidFill>
                  <a:srgbClr val="5F716E"/>
                </a:solidFill>
                <a:latin typeface="Calibri" pitchFamily="34" charset="0"/>
                <a:ea typeface="Calibri" pitchFamily="34" charset="-122"/>
                <a:cs typeface="Calibri" pitchFamily="34" charset="-120"/>
              </a:rPr>
              <a:t>South-1 NPI mix 7.9% | Highest national conversion — the cadence to export</a:t>
            </a:r>
            <a:endParaRPr lang="en-US" sz="6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A"/>
        </a:solidFill>
      </p:bgPr>
    </p:bg>
    <p:spTree>
      <p:nvGrpSpPr>
        <p:cNvPr id="1" name=""/>
        <p:cNvGrpSpPr/>
        <p:nvPr/>
      </p:nvGrpSpPr>
      <p:grpSpPr>
        <a:xfrm>
          <a:off x="0" y="0"/>
          <a:ext cx="0" cy="0"/>
          <a:chOff x="0" y="0"/>
          <a:chExt cx="0" cy="0"/>
        </a:xfrm>
      </p:grpSpPr>
      <p:sp>
        <p:nvSpPr>
          <p:cNvPr id="2" name="Shape 0"/>
          <p:cNvSpPr/>
          <p:nvPr/>
        </p:nvSpPr>
        <p:spPr>
          <a:xfrm>
            <a:off x="0" y="0"/>
            <a:ext cx="6858000" cy="1133856"/>
          </a:xfrm>
          <a:prstGeom prst="rect">
            <a:avLst/>
          </a:prstGeom>
          <a:solidFill>
            <a:srgbClr val="116F68"/>
          </a:solidFill>
          <a:ln/>
        </p:spPr>
      </p:sp>
      <p:sp>
        <p:nvSpPr>
          <p:cNvPr id="3" name="Text 1"/>
          <p:cNvSpPr/>
          <p:nvPr/>
        </p:nvSpPr>
        <p:spPr>
          <a:xfrm>
            <a:off x="365760" y="182880"/>
            <a:ext cx="5641848" cy="548640"/>
          </a:xfrm>
          <a:prstGeom prst="rect">
            <a:avLst/>
          </a:prstGeom>
          <a:noFill/>
          <a:ln/>
        </p:spPr>
        <p:txBody>
          <a:bodyPr wrap="square" lIns="0" tIns="0" rIns="0" bIns="0" rtlCol="0" anchor="ctr"/>
          <a:lstStyle/>
          <a:p>
            <a:pPr indent="0" marL="0">
              <a:lnSpc>
                <a:spcPct val="92000"/>
              </a:lnSpc>
              <a:buNone/>
            </a:pPr>
            <a:r>
              <a:rPr lang="en-US" sz="1850" b="1" dirty="0">
                <a:solidFill>
                  <a:srgbClr val="FFFFFF"/>
                </a:solidFill>
                <a:latin typeface="Calibri Light" pitchFamily="34" charset="0"/>
                <a:ea typeface="Calibri Light" pitchFamily="34" charset="-122"/>
                <a:cs typeface="Calibri Light" pitchFamily="34" charset="-120"/>
              </a:rPr>
              <a:t>North: Q1 best converter, July loaded</a:t>
            </a:r>
            <a:endParaRPr lang="en-US" sz="1850" dirty="0"/>
          </a:p>
        </p:txBody>
      </p:sp>
      <p:sp>
        <p:nvSpPr>
          <p:cNvPr id="4" name="Text 2"/>
          <p:cNvSpPr/>
          <p:nvPr/>
        </p:nvSpPr>
        <p:spPr>
          <a:xfrm>
            <a:off x="384048" y="786384"/>
            <a:ext cx="5641848" cy="237744"/>
          </a:xfrm>
          <a:prstGeom prst="rect">
            <a:avLst/>
          </a:prstGeom>
          <a:noFill/>
          <a:ln/>
        </p:spPr>
        <p:txBody>
          <a:bodyPr wrap="square" lIns="0" tIns="0" rIns="0" bIns="0" rtlCol="0" anchor="ctr"/>
          <a:lstStyle/>
          <a:p>
            <a:pPr indent="0" marL="0">
              <a:buNone/>
            </a:pPr>
            <a:r>
              <a:rPr lang="en-US" sz="850" dirty="0">
                <a:solidFill>
                  <a:srgbClr val="BFDCD7"/>
                </a:solidFill>
                <a:latin typeface="Calibri" pitchFamily="34" charset="0"/>
                <a:ea typeface="Calibri" pitchFamily="34" charset="-122"/>
                <a:cs typeface="Calibri" pitchFamily="34" charset="-120"/>
              </a:rPr>
              <a:t>MT zone deep dive | July 2026 | ₹ Cr | Modern Trade accounts only</a:t>
            </a:r>
            <a:endParaRPr lang="en-US" sz="850" dirty="0"/>
          </a:p>
        </p:txBody>
      </p:sp>
      <p:sp>
        <p:nvSpPr>
          <p:cNvPr id="5" name="Text 3"/>
          <p:cNvSpPr/>
          <p:nvPr/>
        </p:nvSpPr>
        <p:spPr>
          <a:xfrm>
            <a:off x="6117336" y="365760"/>
            <a:ext cx="402336" cy="237744"/>
          </a:xfrm>
          <a:prstGeom prst="rect">
            <a:avLst/>
          </a:prstGeom>
          <a:noFill/>
          <a:ln/>
        </p:spPr>
        <p:txBody>
          <a:bodyPr wrap="square" lIns="0" tIns="0" rIns="0" bIns="0" rtlCol="0" anchor="t"/>
          <a:lstStyle/>
          <a:p>
            <a:pPr algn="r" indent="0" marL="0">
              <a:buNone/>
            </a:pPr>
            <a:r>
              <a:rPr lang="en-US" sz="950" b="1" dirty="0">
                <a:solidFill>
                  <a:srgbClr val="8FC4BD"/>
                </a:solidFill>
                <a:latin typeface="Calibri" pitchFamily="34" charset="0"/>
                <a:ea typeface="Calibri" pitchFamily="34" charset="-122"/>
                <a:cs typeface="Calibri" pitchFamily="34" charset="-120"/>
              </a:rPr>
              <a:t>09</a:t>
            </a:r>
            <a:endParaRPr lang="en-US" sz="950" dirty="0"/>
          </a:p>
        </p:txBody>
      </p:sp>
      <p:sp>
        <p:nvSpPr>
          <p:cNvPr id="6" name="Shape 4"/>
          <p:cNvSpPr/>
          <p:nvPr/>
        </p:nvSpPr>
        <p:spPr>
          <a:xfrm>
            <a:off x="265176" y="11375136"/>
            <a:ext cx="6327648" cy="420624"/>
          </a:xfrm>
          <a:prstGeom prst="roundRect">
            <a:avLst>
              <a:gd name="adj" fmla="val 6522"/>
            </a:avLst>
          </a:prstGeom>
          <a:solidFill>
            <a:srgbClr val="DFF2ED"/>
          </a:solidFill>
          <a:ln w="9525">
            <a:solidFill>
              <a:srgbClr val="C8DCD7"/>
            </a:solidFill>
            <a:prstDash val="solid"/>
          </a:ln>
        </p:spPr>
      </p:sp>
      <p:sp>
        <p:nvSpPr>
          <p:cNvPr id="7" name="Text 5"/>
          <p:cNvSpPr/>
          <p:nvPr/>
        </p:nvSpPr>
        <p:spPr>
          <a:xfrm>
            <a:off x="374904"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EVIDENCE</a:t>
            </a:r>
            <a:endParaRPr lang="en-US" sz="650" dirty="0"/>
          </a:p>
        </p:txBody>
      </p:sp>
      <p:sp>
        <p:nvSpPr>
          <p:cNvPr id="8" name="Text 6"/>
          <p:cNvSpPr/>
          <p:nvPr/>
        </p:nvSpPr>
        <p:spPr>
          <a:xfrm>
            <a:off x="374904"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moved</a:t>
            </a:r>
            <a:endParaRPr lang="en-US" sz="700" dirty="0"/>
          </a:p>
        </p:txBody>
      </p:sp>
      <p:sp>
        <p:nvSpPr>
          <p:cNvPr id="9" name="Text 7"/>
          <p:cNvSpPr/>
          <p:nvPr/>
        </p:nvSpPr>
        <p:spPr>
          <a:xfrm>
            <a:off x="1901952"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IMPLICATION</a:t>
            </a:r>
            <a:endParaRPr lang="en-US" sz="650" dirty="0"/>
          </a:p>
        </p:txBody>
      </p:sp>
      <p:sp>
        <p:nvSpPr>
          <p:cNvPr id="10" name="Text 8"/>
          <p:cNvSpPr/>
          <p:nvPr/>
        </p:nvSpPr>
        <p:spPr>
          <a:xfrm>
            <a:off x="1901952"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Why it matters</a:t>
            </a:r>
            <a:endParaRPr lang="en-US" sz="700" dirty="0"/>
          </a:p>
        </p:txBody>
      </p:sp>
      <p:sp>
        <p:nvSpPr>
          <p:cNvPr id="11" name="Shape 9"/>
          <p:cNvSpPr/>
          <p:nvPr/>
        </p:nvSpPr>
        <p:spPr>
          <a:xfrm>
            <a:off x="1819656" y="11457432"/>
            <a:ext cx="0" cy="265176"/>
          </a:xfrm>
          <a:prstGeom prst="line">
            <a:avLst/>
          </a:prstGeom>
          <a:noFill/>
          <a:ln w="9525">
            <a:solidFill>
              <a:srgbClr val="C8DCD7"/>
            </a:solidFill>
            <a:prstDash val="solid"/>
          </a:ln>
        </p:spPr>
      </p:sp>
      <p:sp>
        <p:nvSpPr>
          <p:cNvPr id="12" name="Text 10"/>
          <p:cNvSpPr/>
          <p:nvPr/>
        </p:nvSpPr>
        <p:spPr>
          <a:xfrm>
            <a:off x="3429000"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ACTION</a:t>
            </a:r>
            <a:endParaRPr lang="en-US" sz="650" dirty="0"/>
          </a:p>
        </p:txBody>
      </p:sp>
      <p:sp>
        <p:nvSpPr>
          <p:cNvPr id="13" name="Text 11"/>
          <p:cNvSpPr/>
          <p:nvPr/>
        </p:nvSpPr>
        <p:spPr>
          <a:xfrm>
            <a:off x="3429000"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changes now</a:t>
            </a:r>
            <a:endParaRPr lang="en-US" sz="700" dirty="0"/>
          </a:p>
        </p:txBody>
      </p:sp>
      <p:sp>
        <p:nvSpPr>
          <p:cNvPr id="14" name="Shape 12"/>
          <p:cNvSpPr/>
          <p:nvPr/>
        </p:nvSpPr>
        <p:spPr>
          <a:xfrm>
            <a:off x="3346704" y="11457432"/>
            <a:ext cx="0" cy="265176"/>
          </a:xfrm>
          <a:prstGeom prst="line">
            <a:avLst/>
          </a:prstGeom>
          <a:noFill/>
          <a:ln w="9525">
            <a:solidFill>
              <a:srgbClr val="C8DCD7"/>
            </a:solidFill>
            <a:prstDash val="solid"/>
          </a:ln>
        </p:spPr>
      </p:sp>
      <p:sp>
        <p:nvSpPr>
          <p:cNvPr id="15" name="Text 13"/>
          <p:cNvSpPr/>
          <p:nvPr/>
        </p:nvSpPr>
        <p:spPr>
          <a:xfrm>
            <a:off x="4956048"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OWNER</a:t>
            </a:r>
            <a:endParaRPr lang="en-US" sz="650" dirty="0"/>
          </a:p>
        </p:txBody>
      </p:sp>
      <p:sp>
        <p:nvSpPr>
          <p:cNvPr id="16" name="Text 14"/>
          <p:cNvSpPr/>
          <p:nvPr/>
        </p:nvSpPr>
        <p:spPr>
          <a:xfrm>
            <a:off x="4956048"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Who closes it</a:t>
            </a:r>
            <a:endParaRPr lang="en-US" sz="700" dirty="0"/>
          </a:p>
        </p:txBody>
      </p:sp>
      <p:sp>
        <p:nvSpPr>
          <p:cNvPr id="17" name="Shape 15"/>
          <p:cNvSpPr/>
          <p:nvPr/>
        </p:nvSpPr>
        <p:spPr>
          <a:xfrm>
            <a:off x="4873752" y="11457432"/>
            <a:ext cx="0" cy="265176"/>
          </a:xfrm>
          <a:prstGeom prst="line">
            <a:avLst/>
          </a:prstGeom>
          <a:noFill/>
          <a:ln w="9525">
            <a:solidFill>
              <a:srgbClr val="C8DCD7"/>
            </a:solidFill>
            <a:prstDash val="solid"/>
          </a:ln>
        </p:spPr>
      </p:sp>
      <p:sp>
        <p:nvSpPr>
          <p:cNvPr id="18" name="Text 16"/>
          <p:cNvSpPr/>
          <p:nvPr/>
        </p:nvSpPr>
        <p:spPr>
          <a:xfrm>
            <a:off x="301752" y="11887200"/>
            <a:ext cx="6254496" cy="201168"/>
          </a:xfrm>
          <a:prstGeom prst="rect">
            <a:avLst/>
          </a:prstGeom>
          <a:noFill/>
          <a:ln/>
        </p:spPr>
        <p:txBody>
          <a:bodyPr wrap="square" lIns="0" tIns="0" rIns="0" bIns="0" rtlCol="0" anchor="t"/>
          <a:lstStyle/>
          <a:p>
            <a:pPr algn="ctr" indent="0" marL="0">
              <a:buNone/>
            </a:pPr>
            <a:r>
              <a:rPr lang="en-US" sz="650" dirty="0">
                <a:solidFill>
                  <a:srgbClr val="5F716E"/>
                </a:solidFill>
                <a:latin typeface="Calibri" pitchFamily="34" charset="0"/>
                <a:ea typeface="Calibri" pitchFamily="34" charset="-122"/>
                <a:cs typeface="Calibri" pitchFamily="34" charset="-120"/>
              </a:rPr>
              <a:t>July Compiled Offtake (Sheet1) · July'26 primary and distributor secondary · values in ₹ Cr · Zone performance represents Modern Trade accounts only. eB2B and SIS channels are excluded from MT zone sales and reported separately.</a:t>
            </a:r>
            <a:endParaRPr lang="en-US" sz="650" dirty="0"/>
          </a:p>
        </p:txBody>
      </p:sp>
      <p:sp>
        <p:nvSpPr>
          <p:cNvPr id="19" name="Shape 17"/>
          <p:cNvSpPr/>
          <p:nvPr/>
        </p:nvSpPr>
        <p:spPr>
          <a:xfrm>
            <a:off x="265176" y="1261872"/>
            <a:ext cx="1499616" cy="859536"/>
          </a:xfrm>
          <a:prstGeom prst="rect">
            <a:avLst/>
          </a:prstGeom>
          <a:solidFill>
            <a:srgbClr val="FFFFFF"/>
          </a:solidFill>
          <a:ln w="9525">
            <a:solidFill>
              <a:srgbClr val="C8DCD7"/>
            </a:solidFill>
            <a:prstDash val="solid"/>
          </a:ln>
        </p:spPr>
      </p:sp>
      <p:sp>
        <p:nvSpPr>
          <p:cNvPr id="20" name="Shape 18"/>
          <p:cNvSpPr/>
          <p:nvPr/>
        </p:nvSpPr>
        <p:spPr>
          <a:xfrm>
            <a:off x="265176" y="1261872"/>
            <a:ext cx="64008" cy="859536"/>
          </a:xfrm>
          <a:prstGeom prst="rect">
            <a:avLst/>
          </a:prstGeom>
          <a:solidFill>
            <a:srgbClr val="2E7DA8"/>
          </a:solidFill>
          <a:ln/>
        </p:spPr>
      </p:sp>
      <p:sp>
        <p:nvSpPr>
          <p:cNvPr id="21" name="Text 19"/>
          <p:cNvSpPr/>
          <p:nvPr/>
        </p:nvSpPr>
        <p:spPr>
          <a:xfrm>
            <a:off x="420624"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PRIMARY</a:t>
            </a:r>
            <a:endParaRPr lang="en-US" sz="680" dirty="0"/>
          </a:p>
        </p:txBody>
      </p:sp>
      <p:sp>
        <p:nvSpPr>
          <p:cNvPr id="22" name="Text 20"/>
          <p:cNvSpPr/>
          <p:nvPr/>
        </p:nvSpPr>
        <p:spPr>
          <a:xfrm>
            <a:off x="420624" y="1536192"/>
            <a:ext cx="1261872" cy="310896"/>
          </a:xfrm>
          <a:prstGeom prst="rect">
            <a:avLst/>
          </a:prstGeom>
          <a:noFill/>
          <a:ln/>
        </p:spPr>
        <p:txBody>
          <a:bodyPr wrap="square" lIns="0" tIns="0" rIns="0" bIns="0" rtlCol="0" anchor="ctr"/>
          <a:lstStyle/>
          <a:p>
            <a:pPr indent="0" marL="0">
              <a:buNone/>
            </a:pPr>
            <a:r>
              <a:rPr lang="en-US" sz="1550" b="1" dirty="0">
                <a:solidFill>
                  <a:srgbClr val="2E7DA8"/>
                </a:solidFill>
                <a:latin typeface="Calibri Light" pitchFamily="34" charset="0"/>
                <a:ea typeface="Calibri Light" pitchFamily="34" charset="-122"/>
                <a:cs typeface="Calibri Light" pitchFamily="34" charset="-120"/>
              </a:rPr>
              <a:t>₹11.38 Cr</a:t>
            </a:r>
            <a:endParaRPr lang="en-US" sz="1550" dirty="0"/>
          </a:p>
        </p:txBody>
      </p:sp>
      <p:sp>
        <p:nvSpPr>
          <p:cNvPr id="23" name="Text 21"/>
          <p:cNvSpPr/>
          <p:nvPr/>
        </p:nvSpPr>
        <p:spPr>
          <a:xfrm>
            <a:off x="420624"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July billing</a:t>
            </a:r>
            <a:endParaRPr lang="en-US" sz="680" dirty="0"/>
          </a:p>
        </p:txBody>
      </p:sp>
      <p:sp>
        <p:nvSpPr>
          <p:cNvPr id="24" name="Shape 22"/>
          <p:cNvSpPr/>
          <p:nvPr/>
        </p:nvSpPr>
        <p:spPr>
          <a:xfrm>
            <a:off x="1874520" y="1261872"/>
            <a:ext cx="1499616" cy="859536"/>
          </a:xfrm>
          <a:prstGeom prst="rect">
            <a:avLst/>
          </a:prstGeom>
          <a:solidFill>
            <a:srgbClr val="FFFFFF"/>
          </a:solidFill>
          <a:ln w="9525">
            <a:solidFill>
              <a:srgbClr val="C8DCD7"/>
            </a:solidFill>
            <a:prstDash val="solid"/>
          </a:ln>
        </p:spPr>
      </p:sp>
      <p:sp>
        <p:nvSpPr>
          <p:cNvPr id="25" name="Shape 23"/>
          <p:cNvSpPr/>
          <p:nvPr/>
        </p:nvSpPr>
        <p:spPr>
          <a:xfrm>
            <a:off x="1874520" y="1261872"/>
            <a:ext cx="64008" cy="859536"/>
          </a:xfrm>
          <a:prstGeom prst="rect">
            <a:avLst/>
          </a:prstGeom>
          <a:solidFill>
            <a:srgbClr val="28A596"/>
          </a:solidFill>
          <a:ln/>
        </p:spPr>
      </p:sp>
      <p:sp>
        <p:nvSpPr>
          <p:cNvPr id="26" name="Text 24"/>
          <p:cNvSpPr/>
          <p:nvPr/>
        </p:nvSpPr>
        <p:spPr>
          <a:xfrm>
            <a:off x="2029968"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OFFTAKE</a:t>
            </a:r>
            <a:endParaRPr lang="en-US" sz="680" dirty="0"/>
          </a:p>
        </p:txBody>
      </p:sp>
      <p:sp>
        <p:nvSpPr>
          <p:cNvPr id="27" name="Text 25"/>
          <p:cNvSpPr/>
          <p:nvPr/>
        </p:nvSpPr>
        <p:spPr>
          <a:xfrm>
            <a:off x="2029968" y="1536192"/>
            <a:ext cx="1261872" cy="310896"/>
          </a:xfrm>
          <a:prstGeom prst="rect">
            <a:avLst/>
          </a:prstGeom>
          <a:noFill/>
          <a:ln/>
        </p:spPr>
        <p:txBody>
          <a:bodyPr wrap="square" lIns="0" tIns="0" rIns="0" bIns="0" rtlCol="0" anchor="ctr"/>
          <a:lstStyle/>
          <a:p>
            <a:pPr indent="0" marL="0">
              <a:buNone/>
            </a:pPr>
            <a:r>
              <a:rPr lang="en-US" sz="1550" b="1" dirty="0">
                <a:solidFill>
                  <a:srgbClr val="28A596"/>
                </a:solidFill>
                <a:latin typeface="Calibri Light" pitchFamily="34" charset="0"/>
                <a:ea typeface="Calibri Light" pitchFamily="34" charset="-122"/>
                <a:cs typeface="Calibri Light" pitchFamily="34" charset="-120"/>
              </a:rPr>
              <a:t>₹6.97 Cr</a:t>
            </a:r>
            <a:endParaRPr lang="en-US" sz="1550" dirty="0"/>
          </a:p>
        </p:txBody>
      </p:sp>
      <p:sp>
        <p:nvSpPr>
          <p:cNvPr id="28" name="Text 26"/>
          <p:cNvSpPr/>
          <p:nvPr/>
        </p:nvSpPr>
        <p:spPr>
          <a:xfrm>
            <a:off x="2029968"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20.5% mix</a:t>
            </a:r>
            <a:endParaRPr lang="en-US" sz="680" dirty="0"/>
          </a:p>
        </p:txBody>
      </p:sp>
      <p:sp>
        <p:nvSpPr>
          <p:cNvPr id="29" name="Shape 27"/>
          <p:cNvSpPr/>
          <p:nvPr/>
        </p:nvSpPr>
        <p:spPr>
          <a:xfrm>
            <a:off x="3483864" y="1261872"/>
            <a:ext cx="1499616" cy="859536"/>
          </a:xfrm>
          <a:prstGeom prst="rect">
            <a:avLst/>
          </a:prstGeom>
          <a:solidFill>
            <a:srgbClr val="FFFFFF"/>
          </a:solidFill>
          <a:ln w="9525">
            <a:solidFill>
              <a:srgbClr val="C8DCD7"/>
            </a:solidFill>
            <a:prstDash val="solid"/>
          </a:ln>
        </p:spPr>
      </p:sp>
      <p:sp>
        <p:nvSpPr>
          <p:cNvPr id="30" name="Shape 28"/>
          <p:cNvSpPr/>
          <p:nvPr/>
        </p:nvSpPr>
        <p:spPr>
          <a:xfrm>
            <a:off x="3483864" y="1261872"/>
            <a:ext cx="64008" cy="859536"/>
          </a:xfrm>
          <a:prstGeom prst="rect">
            <a:avLst/>
          </a:prstGeom>
          <a:solidFill>
            <a:srgbClr val="D6544D"/>
          </a:solidFill>
          <a:ln/>
        </p:spPr>
      </p:sp>
      <p:sp>
        <p:nvSpPr>
          <p:cNvPr id="31" name="Text 29"/>
          <p:cNvSpPr/>
          <p:nvPr/>
        </p:nvSpPr>
        <p:spPr>
          <a:xfrm>
            <a:off x="3639312"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CONVERSION</a:t>
            </a:r>
            <a:endParaRPr lang="en-US" sz="680" dirty="0"/>
          </a:p>
        </p:txBody>
      </p:sp>
      <p:sp>
        <p:nvSpPr>
          <p:cNvPr id="32" name="Text 30"/>
          <p:cNvSpPr/>
          <p:nvPr/>
        </p:nvSpPr>
        <p:spPr>
          <a:xfrm>
            <a:off x="3639312" y="1536192"/>
            <a:ext cx="1261872" cy="310896"/>
          </a:xfrm>
          <a:prstGeom prst="rect">
            <a:avLst/>
          </a:prstGeom>
          <a:noFill/>
          <a:ln/>
        </p:spPr>
        <p:txBody>
          <a:bodyPr wrap="square" lIns="0" tIns="0" rIns="0" bIns="0" rtlCol="0" anchor="ctr"/>
          <a:lstStyle/>
          <a:p>
            <a:pPr indent="0" marL="0">
              <a:buNone/>
            </a:pPr>
            <a:r>
              <a:rPr lang="en-US" sz="1750" b="1" dirty="0">
                <a:solidFill>
                  <a:srgbClr val="D6544D"/>
                </a:solidFill>
                <a:latin typeface="Calibri Light" pitchFamily="34" charset="0"/>
                <a:ea typeface="Calibri Light" pitchFamily="34" charset="-122"/>
                <a:cs typeface="Calibri Light" pitchFamily="34" charset="-120"/>
              </a:rPr>
              <a:t>61.3%</a:t>
            </a:r>
            <a:endParaRPr lang="en-US" sz="1750" dirty="0"/>
          </a:p>
        </p:txBody>
      </p:sp>
      <p:sp>
        <p:nvSpPr>
          <p:cNvPr id="33" name="Text 31"/>
          <p:cNvSpPr/>
          <p:nvPr/>
        </p:nvSpPr>
        <p:spPr>
          <a:xfrm>
            <a:off x="3639312"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flow</a:t>
            </a:r>
            <a:endParaRPr lang="en-US" sz="680" dirty="0"/>
          </a:p>
        </p:txBody>
      </p:sp>
      <p:sp>
        <p:nvSpPr>
          <p:cNvPr id="34" name="Shape 32"/>
          <p:cNvSpPr/>
          <p:nvPr/>
        </p:nvSpPr>
        <p:spPr>
          <a:xfrm>
            <a:off x="5093208" y="1261872"/>
            <a:ext cx="1499616" cy="859536"/>
          </a:xfrm>
          <a:prstGeom prst="rect">
            <a:avLst/>
          </a:prstGeom>
          <a:solidFill>
            <a:srgbClr val="FFFFFF"/>
          </a:solidFill>
          <a:ln w="9525">
            <a:solidFill>
              <a:srgbClr val="C8DCD7"/>
            </a:solidFill>
            <a:prstDash val="solid"/>
          </a:ln>
        </p:spPr>
      </p:sp>
      <p:sp>
        <p:nvSpPr>
          <p:cNvPr id="35" name="Shape 33"/>
          <p:cNvSpPr/>
          <p:nvPr/>
        </p:nvSpPr>
        <p:spPr>
          <a:xfrm>
            <a:off x="5093208" y="1261872"/>
            <a:ext cx="64008" cy="859536"/>
          </a:xfrm>
          <a:prstGeom prst="rect">
            <a:avLst/>
          </a:prstGeom>
          <a:solidFill>
            <a:srgbClr val="D6544D"/>
          </a:solidFill>
          <a:ln/>
        </p:spPr>
      </p:sp>
      <p:sp>
        <p:nvSpPr>
          <p:cNvPr id="36" name="Text 34"/>
          <p:cNvSpPr/>
          <p:nvPr/>
        </p:nvSpPr>
        <p:spPr>
          <a:xfrm>
            <a:off x="5248656"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GAP</a:t>
            </a:r>
            <a:endParaRPr lang="en-US" sz="680" dirty="0"/>
          </a:p>
        </p:txBody>
      </p:sp>
      <p:sp>
        <p:nvSpPr>
          <p:cNvPr id="37" name="Text 35"/>
          <p:cNvSpPr/>
          <p:nvPr/>
        </p:nvSpPr>
        <p:spPr>
          <a:xfrm>
            <a:off x="5248656" y="1536192"/>
            <a:ext cx="1261872" cy="310896"/>
          </a:xfrm>
          <a:prstGeom prst="rect">
            <a:avLst/>
          </a:prstGeom>
          <a:noFill/>
          <a:ln/>
        </p:spPr>
        <p:txBody>
          <a:bodyPr wrap="square" lIns="0" tIns="0" rIns="0" bIns="0" rtlCol="0" anchor="ctr"/>
          <a:lstStyle/>
          <a:p>
            <a:pPr indent="0" marL="0">
              <a:buNone/>
            </a:pPr>
            <a:r>
              <a:rPr lang="en-US" sz="1550" b="1" dirty="0">
                <a:solidFill>
                  <a:srgbClr val="D6544D"/>
                </a:solidFill>
                <a:latin typeface="Calibri Light" pitchFamily="34" charset="0"/>
                <a:ea typeface="Calibri Light" pitchFamily="34" charset="-122"/>
                <a:cs typeface="Calibri Light" pitchFamily="34" charset="-120"/>
              </a:rPr>
              <a:t>₹4.41 Cr</a:t>
            </a:r>
            <a:endParaRPr lang="en-US" sz="1550" dirty="0"/>
          </a:p>
        </p:txBody>
      </p:sp>
      <p:sp>
        <p:nvSpPr>
          <p:cNvPr id="38" name="Text 36"/>
          <p:cNvSpPr/>
          <p:nvPr/>
        </p:nvSpPr>
        <p:spPr>
          <a:xfrm>
            <a:off x="5248656"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primary − offtake</a:t>
            </a:r>
            <a:endParaRPr lang="en-US" sz="680" dirty="0"/>
          </a:p>
        </p:txBody>
      </p:sp>
      <p:sp>
        <p:nvSpPr>
          <p:cNvPr id="39" name="Shape 37"/>
          <p:cNvSpPr/>
          <p:nvPr/>
        </p:nvSpPr>
        <p:spPr>
          <a:xfrm>
            <a:off x="265176" y="2231136"/>
            <a:ext cx="6327648" cy="384048"/>
          </a:xfrm>
          <a:prstGeom prst="roundRect">
            <a:avLst>
              <a:gd name="adj" fmla="val 4762"/>
            </a:avLst>
          </a:prstGeom>
          <a:solidFill>
            <a:srgbClr val="DFF2ED"/>
          </a:solidFill>
          <a:ln w="9525">
            <a:solidFill>
              <a:srgbClr val="C8DCD7"/>
            </a:solidFill>
            <a:prstDash val="solid"/>
          </a:ln>
        </p:spPr>
      </p:sp>
      <p:sp>
        <p:nvSpPr>
          <p:cNvPr id="40" name="Text 38"/>
          <p:cNvSpPr/>
          <p:nvPr/>
        </p:nvSpPr>
        <p:spPr>
          <a:xfrm>
            <a:off x="374904" y="2286000"/>
            <a:ext cx="658368" cy="274320"/>
          </a:xfrm>
          <a:prstGeom prst="rect">
            <a:avLst/>
          </a:prstGeom>
          <a:noFill/>
          <a:ln/>
        </p:spPr>
        <p:txBody>
          <a:bodyPr wrap="square" lIns="0" tIns="0" rIns="0" bIns="0" rtlCol="0" anchor="ctr"/>
          <a:lstStyle/>
          <a:p>
            <a:pPr indent="0" marL="0">
              <a:buNone/>
            </a:pPr>
            <a:r>
              <a:rPr lang="en-US" sz="660" b="1" spc="40" kern="0" dirty="0">
                <a:solidFill>
                  <a:srgbClr val="116F68"/>
                </a:solidFill>
                <a:latin typeface="Calibri" pitchFamily="34" charset="0"/>
                <a:ea typeface="Calibri" pitchFamily="34" charset="-122"/>
                <a:cs typeface="Calibri" pitchFamily="34" charset="-120"/>
              </a:rPr>
              <a:t>PRIORITY</a:t>
            </a:r>
            <a:endParaRPr lang="en-US" sz="660" dirty="0"/>
          </a:p>
        </p:txBody>
      </p:sp>
      <p:sp>
        <p:nvSpPr>
          <p:cNvPr id="41" name="Text 39"/>
          <p:cNvSpPr/>
          <p:nvPr/>
        </p:nvSpPr>
        <p:spPr>
          <a:xfrm>
            <a:off x="1088136" y="2286000"/>
            <a:ext cx="5394960" cy="274320"/>
          </a:xfrm>
          <a:prstGeom prst="rect">
            <a:avLst/>
          </a:prstGeom>
          <a:noFill/>
          <a:ln/>
        </p:spPr>
        <p:txBody>
          <a:bodyPr wrap="square" lIns="0" tIns="0" rIns="0" bIns="0" rtlCol="0" anchor="ctr"/>
          <a:lstStyle/>
          <a:p>
            <a:pPr indent="0" marL="0">
              <a:buNone/>
            </a:pPr>
            <a:r>
              <a:rPr lang="en-US" sz="740" b="1" dirty="0">
                <a:solidFill>
                  <a:srgbClr val="183B39"/>
                </a:solidFill>
                <a:latin typeface="Calibri" pitchFamily="34" charset="0"/>
                <a:ea typeface="Calibri" pitchFamily="34" charset="-122"/>
                <a:cs typeface="Calibri" pitchFamily="34" charset="-120"/>
              </a:rPr>
              <a:t>Converted 90.0% across Q1 — the best zone • July primary 16.4% above Q1 run-rate</a:t>
            </a:r>
            <a:endParaRPr lang="en-US" sz="740" dirty="0"/>
          </a:p>
        </p:txBody>
      </p:sp>
      <p:sp>
        <p:nvSpPr>
          <p:cNvPr id="42" name="Text 40"/>
          <p:cNvSpPr/>
          <p:nvPr/>
        </p:nvSpPr>
        <p:spPr>
          <a:xfrm>
            <a:off x="265176" y="2743200"/>
            <a:ext cx="3090672"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Mamaearth — top 3 sub-categories (₹ Cr, Feb–Jul)</a:t>
            </a:r>
            <a:endParaRPr lang="en-US" sz="720" dirty="0"/>
          </a:p>
        </p:txBody>
      </p:sp>
      <p:graphicFrame>
        <p:nvGraphicFramePr>
          <p:cNvPr id="43" name="Chart 0" descr=""/>
          <p:cNvGraphicFramePr/>
          <p:nvPr/>
        </p:nvGraphicFramePr>
        <p:xfrm>
          <a:off x="246888" y="2944368"/>
          <a:ext cx="3090672" cy="1499616"/>
        </p:xfrm>
        <a:graphic xmlns:a="http://schemas.openxmlformats.org/drawingml/2006/main">
          <a:graphicData uri="http://schemas.openxmlformats.org/drawingml/2006/chart">
            <c:chart xmlns:c="http://schemas.openxmlformats.org/drawingml/2006/chart" r:id="rId1"/>
          </a:graphicData>
        </a:graphic>
      </p:graphicFrame>
      <p:sp>
        <p:nvSpPr>
          <p:cNvPr id="44" name="Text 41"/>
          <p:cNvSpPr/>
          <p:nvPr/>
        </p:nvSpPr>
        <p:spPr>
          <a:xfrm>
            <a:off x="3502152" y="2743200"/>
            <a:ext cx="3090672"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The Derma Co. — top 3 sub-categories (₹ Cr, Feb–Jul)</a:t>
            </a:r>
            <a:endParaRPr lang="en-US" sz="720" dirty="0"/>
          </a:p>
        </p:txBody>
      </p:sp>
      <p:graphicFrame>
        <p:nvGraphicFramePr>
          <p:cNvPr id="45" name="Chart 1" descr=""/>
          <p:cNvGraphicFramePr/>
          <p:nvPr/>
        </p:nvGraphicFramePr>
        <p:xfrm>
          <a:off x="3483864" y="2944368"/>
          <a:ext cx="3090672" cy="1499616"/>
        </p:xfrm>
        <a:graphic xmlns:a="http://schemas.openxmlformats.org/drawingml/2006/main">
          <a:graphicData uri="http://schemas.openxmlformats.org/drawingml/2006/chart">
            <c:chart xmlns:c="http://schemas.openxmlformats.org/drawingml/2006/chart" r:id="rId2"/>
          </a:graphicData>
        </a:graphic>
      </p:graphicFrame>
      <p:sp>
        <p:nvSpPr>
          <p:cNvPr id="46" name="Shape 42"/>
          <p:cNvSpPr/>
          <p:nvPr/>
        </p:nvSpPr>
        <p:spPr>
          <a:xfrm>
            <a:off x="265176" y="4553712"/>
            <a:ext cx="2036064" cy="1773936"/>
          </a:xfrm>
          <a:prstGeom prst="roundRect">
            <a:avLst>
              <a:gd name="adj" fmla="val 1031"/>
            </a:avLst>
          </a:prstGeom>
          <a:solidFill>
            <a:srgbClr val="FFFFFF"/>
          </a:solidFill>
          <a:ln w="9525">
            <a:solidFill>
              <a:srgbClr val="C8DCD7"/>
            </a:solidFill>
            <a:prstDash val="solid"/>
          </a:ln>
        </p:spPr>
      </p:sp>
      <p:sp>
        <p:nvSpPr>
          <p:cNvPr id="47" name="Shape 43"/>
          <p:cNvSpPr/>
          <p:nvPr/>
        </p:nvSpPr>
        <p:spPr>
          <a:xfrm>
            <a:off x="265176" y="4553712"/>
            <a:ext cx="2036064" cy="274320"/>
          </a:xfrm>
          <a:prstGeom prst="rect">
            <a:avLst/>
          </a:prstGeom>
          <a:solidFill>
            <a:srgbClr val="116F68"/>
          </a:solidFill>
          <a:ln/>
        </p:spPr>
      </p:sp>
      <p:sp>
        <p:nvSpPr>
          <p:cNvPr id="48" name="Text 44"/>
          <p:cNvSpPr/>
          <p:nvPr/>
        </p:nvSpPr>
        <p:spPr>
          <a:xfrm>
            <a:off x="347472" y="457200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TOP CHAINS</a:t>
            </a:r>
            <a:endParaRPr lang="en-US" sz="700" dirty="0"/>
          </a:p>
        </p:txBody>
      </p:sp>
      <p:sp>
        <p:nvSpPr>
          <p:cNvPr id="49" name="Text 45"/>
          <p:cNvSpPr/>
          <p:nvPr/>
        </p:nvSpPr>
        <p:spPr>
          <a:xfrm>
            <a:off x="356616" y="4919472"/>
            <a:ext cx="1258824" cy="310896"/>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1. DMart</a:t>
            </a:r>
            <a:endParaRPr lang="en-US" sz="700" dirty="0"/>
          </a:p>
        </p:txBody>
      </p:sp>
      <p:sp>
        <p:nvSpPr>
          <p:cNvPr id="50" name="Text 46"/>
          <p:cNvSpPr/>
          <p:nvPr/>
        </p:nvSpPr>
        <p:spPr>
          <a:xfrm>
            <a:off x="1588008" y="4919472"/>
            <a:ext cx="621792" cy="155448"/>
          </a:xfrm>
          <a:prstGeom prst="rect">
            <a:avLst/>
          </a:prstGeom>
          <a:noFill/>
          <a:ln/>
        </p:spPr>
        <p:txBody>
          <a:bodyPr wrap="square" lIns="0" tIns="0" rIns="0" bIns="0" rtlCol="0" anchor="t"/>
          <a:lstStyle/>
          <a:p>
            <a:pPr algn="r" indent="0" marL="0">
              <a:buNone/>
            </a:pPr>
            <a:r>
              <a:rPr lang="en-US" sz="700" b="1" dirty="0">
                <a:solidFill>
                  <a:srgbClr val="116F68"/>
                </a:solidFill>
                <a:latin typeface="Calibri" pitchFamily="34" charset="0"/>
                <a:ea typeface="Calibri" pitchFamily="34" charset="-122"/>
                <a:cs typeface="Calibri" pitchFamily="34" charset="-120"/>
              </a:rPr>
              <a:t>₹2.53 Cr</a:t>
            </a:r>
            <a:endParaRPr lang="en-US" sz="700" dirty="0"/>
          </a:p>
        </p:txBody>
      </p:sp>
      <p:sp>
        <p:nvSpPr>
          <p:cNvPr id="51" name="Text 47"/>
          <p:cNvSpPr/>
          <p:nvPr/>
        </p:nvSpPr>
        <p:spPr>
          <a:xfrm>
            <a:off x="1588008" y="5074920"/>
            <a:ext cx="621792" cy="146304"/>
          </a:xfrm>
          <a:prstGeom prst="rect">
            <a:avLst/>
          </a:prstGeom>
          <a:noFill/>
          <a:ln/>
        </p:spPr>
        <p:txBody>
          <a:bodyPr wrap="square" lIns="0" tIns="0" rIns="0" bIns="0" rtlCol="0" anchor="t"/>
          <a:lstStyle/>
          <a:p>
            <a:pPr algn="r" indent="0" marL="0">
              <a:buNone/>
            </a:pPr>
            <a:r>
              <a:rPr lang="en-US" sz="620" dirty="0">
                <a:solidFill>
                  <a:srgbClr val="5F716E"/>
                </a:solidFill>
                <a:latin typeface="Calibri" pitchFamily="34" charset="0"/>
                <a:ea typeface="Calibri" pitchFamily="34" charset="-122"/>
                <a:cs typeface="Calibri" pitchFamily="34" charset="-120"/>
              </a:rPr>
              <a:t>77.9%</a:t>
            </a:r>
            <a:endParaRPr lang="en-US" sz="620" dirty="0"/>
          </a:p>
        </p:txBody>
      </p:sp>
      <p:sp>
        <p:nvSpPr>
          <p:cNvPr id="52" name="Text 48"/>
          <p:cNvSpPr/>
          <p:nvPr/>
        </p:nvSpPr>
        <p:spPr>
          <a:xfrm>
            <a:off x="356616" y="5266944"/>
            <a:ext cx="1258824" cy="310896"/>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2. Reliance</a:t>
            </a:r>
            <a:endParaRPr lang="en-US" sz="700" dirty="0"/>
          </a:p>
        </p:txBody>
      </p:sp>
      <p:sp>
        <p:nvSpPr>
          <p:cNvPr id="53" name="Text 49"/>
          <p:cNvSpPr/>
          <p:nvPr/>
        </p:nvSpPr>
        <p:spPr>
          <a:xfrm>
            <a:off x="1588008" y="5266944"/>
            <a:ext cx="621792" cy="155448"/>
          </a:xfrm>
          <a:prstGeom prst="rect">
            <a:avLst/>
          </a:prstGeom>
          <a:noFill/>
          <a:ln/>
        </p:spPr>
        <p:txBody>
          <a:bodyPr wrap="square" lIns="0" tIns="0" rIns="0" bIns="0" rtlCol="0" anchor="t"/>
          <a:lstStyle/>
          <a:p>
            <a:pPr algn="r" indent="0" marL="0">
              <a:buNone/>
            </a:pPr>
            <a:r>
              <a:rPr lang="en-US" sz="700" b="1" dirty="0">
                <a:solidFill>
                  <a:srgbClr val="116F68"/>
                </a:solidFill>
                <a:latin typeface="Calibri" pitchFamily="34" charset="0"/>
                <a:ea typeface="Calibri" pitchFamily="34" charset="-122"/>
                <a:cs typeface="Calibri" pitchFamily="34" charset="-120"/>
              </a:rPr>
              <a:t>₹2.40 Cr</a:t>
            </a:r>
            <a:endParaRPr lang="en-US" sz="700" dirty="0"/>
          </a:p>
        </p:txBody>
      </p:sp>
      <p:sp>
        <p:nvSpPr>
          <p:cNvPr id="54" name="Text 50"/>
          <p:cNvSpPr/>
          <p:nvPr/>
        </p:nvSpPr>
        <p:spPr>
          <a:xfrm>
            <a:off x="1588008" y="5422392"/>
            <a:ext cx="621792" cy="146304"/>
          </a:xfrm>
          <a:prstGeom prst="rect">
            <a:avLst/>
          </a:prstGeom>
          <a:noFill/>
          <a:ln/>
        </p:spPr>
        <p:txBody>
          <a:bodyPr wrap="square" lIns="0" tIns="0" rIns="0" bIns="0" rtlCol="0" anchor="t"/>
          <a:lstStyle/>
          <a:p>
            <a:pPr algn="r" indent="0" marL="0">
              <a:buNone/>
            </a:pPr>
            <a:r>
              <a:rPr lang="en-US" sz="620" dirty="0">
                <a:solidFill>
                  <a:srgbClr val="5F716E"/>
                </a:solidFill>
                <a:latin typeface="Calibri" pitchFamily="34" charset="0"/>
                <a:ea typeface="Calibri" pitchFamily="34" charset="-122"/>
                <a:cs typeface="Calibri" pitchFamily="34" charset="-120"/>
              </a:rPr>
              <a:t>44.9%</a:t>
            </a:r>
            <a:endParaRPr lang="en-US" sz="620" dirty="0"/>
          </a:p>
        </p:txBody>
      </p:sp>
      <p:sp>
        <p:nvSpPr>
          <p:cNvPr id="55" name="Text 51"/>
          <p:cNvSpPr/>
          <p:nvPr/>
        </p:nvSpPr>
        <p:spPr>
          <a:xfrm>
            <a:off x="356616" y="5614416"/>
            <a:ext cx="1258824" cy="310896"/>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3. Apollo</a:t>
            </a:r>
            <a:endParaRPr lang="en-US" sz="700" dirty="0"/>
          </a:p>
        </p:txBody>
      </p:sp>
      <p:sp>
        <p:nvSpPr>
          <p:cNvPr id="56" name="Text 52"/>
          <p:cNvSpPr/>
          <p:nvPr/>
        </p:nvSpPr>
        <p:spPr>
          <a:xfrm>
            <a:off x="1588008" y="5614416"/>
            <a:ext cx="621792" cy="155448"/>
          </a:xfrm>
          <a:prstGeom prst="rect">
            <a:avLst/>
          </a:prstGeom>
          <a:noFill/>
          <a:ln/>
        </p:spPr>
        <p:txBody>
          <a:bodyPr wrap="square" lIns="0" tIns="0" rIns="0" bIns="0" rtlCol="0" anchor="t"/>
          <a:lstStyle/>
          <a:p>
            <a:pPr algn="r" indent="0" marL="0">
              <a:buNone/>
            </a:pPr>
            <a:r>
              <a:rPr lang="en-US" sz="700" b="1" dirty="0">
                <a:solidFill>
                  <a:srgbClr val="116F68"/>
                </a:solidFill>
                <a:latin typeface="Calibri" pitchFamily="34" charset="0"/>
                <a:ea typeface="Calibri" pitchFamily="34" charset="-122"/>
                <a:cs typeface="Calibri" pitchFamily="34" charset="-120"/>
              </a:rPr>
              <a:t>₹1.16 Cr</a:t>
            </a:r>
            <a:endParaRPr lang="en-US" sz="700" dirty="0"/>
          </a:p>
        </p:txBody>
      </p:sp>
      <p:sp>
        <p:nvSpPr>
          <p:cNvPr id="57" name="Text 53"/>
          <p:cNvSpPr/>
          <p:nvPr/>
        </p:nvSpPr>
        <p:spPr>
          <a:xfrm>
            <a:off x="1588008" y="5769864"/>
            <a:ext cx="621792" cy="146304"/>
          </a:xfrm>
          <a:prstGeom prst="rect">
            <a:avLst/>
          </a:prstGeom>
          <a:noFill/>
          <a:ln/>
        </p:spPr>
        <p:txBody>
          <a:bodyPr wrap="square" lIns="0" tIns="0" rIns="0" bIns="0" rtlCol="0" anchor="t"/>
          <a:lstStyle/>
          <a:p>
            <a:pPr algn="r" indent="0" marL="0">
              <a:buNone/>
            </a:pPr>
            <a:r>
              <a:rPr lang="en-US" sz="620" dirty="0">
                <a:solidFill>
                  <a:srgbClr val="5F716E"/>
                </a:solidFill>
                <a:latin typeface="Calibri" pitchFamily="34" charset="0"/>
                <a:ea typeface="Calibri" pitchFamily="34" charset="-122"/>
                <a:cs typeface="Calibri" pitchFamily="34" charset="-120"/>
              </a:rPr>
              <a:t>98.3%</a:t>
            </a:r>
            <a:endParaRPr lang="en-US" sz="620" dirty="0"/>
          </a:p>
        </p:txBody>
      </p:sp>
      <p:sp>
        <p:nvSpPr>
          <p:cNvPr id="58" name="Shape 54"/>
          <p:cNvSpPr/>
          <p:nvPr/>
        </p:nvSpPr>
        <p:spPr>
          <a:xfrm>
            <a:off x="2410968" y="4553712"/>
            <a:ext cx="2036064" cy="1773936"/>
          </a:xfrm>
          <a:prstGeom prst="roundRect">
            <a:avLst>
              <a:gd name="adj" fmla="val 1031"/>
            </a:avLst>
          </a:prstGeom>
          <a:solidFill>
            <a:srgbClr val="FFFFFF"/>
          </a:solidFill>
          <a:ln w="9525">
            <a:solidFill>
              <a:srgbClr val="C8DCD7"/>
            </a:solidFill>
            <a:prstDash val="solid"/>
          </a:ln>
        </p:spPr>
      </p:sp>
      <p:sp>
        <p:nvSpPr>
          <p:cNvPr id="59" name="Shape 55"/>
          <p:cNvSpPr/>
          <p:nvPr/>
        </p:nvSpPr>
        <p:spPr>
          <a:xfrm>
            <a:off x="2410968" y="4553712"/>
            <a:ext cx="2036064" cy="274320"/>
          </a:xfrm>
          <a:prstGeom prst="rect">
            <a:avLst/>
          </a:prstGeom>
          <a:solidFill>
            <a:srgbClr val="2E7DA8"/>
          </a:solidFill>
          <a:ln/>
        </p:spPr>
      </p:sp>
      <p:sp>
        <p:nvSpPr>
          <p:cNvPr id="60" name="Text 56"/>
          <p:cNvSpPr/>
          <p:nvPr/>
        </p:nvSpPr>
        <p:spPr>
          <a:xfrm>
            <a:off x="2493264" y="457200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TOP STATES</a:t>
            </a:r>
            <a:endParaRPr lang="en-US" sz="700" dirty="0"/>
          </a:p>
        </p:txBody>
      </p:sp>
      <p:sp>
        <p:nvSpPr>
          <p:cNvPr id="61" name="Text 57"/>
          <p:cNvSpPr/>
          <p:nvPr/>
        </p:nvSpPr>
        <p:spPr>
          <a:xfrm>
            <a:off x="2502408" y="4919472"/>
            <a:ext cx="1304544" cy="292608"/>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1. Delhi NCR</a:t>
            </a:r>
            <a:endParaRPr lang="en-US" sz="700" dirty="0"/>
          </a:p>
        </p:txBody>
      </p:sp>
      <p:sp>
        <p:nvSpPr>
          <p:cNvPr id="62" name="Text 58"/>
          <p:cNvSpPr/>
          <p:nvPr/>
        </p:nvSpPr>
        <p:spPr>
          <a:xfrm>
            <a:off x="3770376" y="4919472"/>
            <a:ext cx="585216" cy="182880"/>
          </a:xfrm>
          <a:prstGeom prst="rect">
            <a:avLst/>
          </a:prstGeom>
          <a:noFill/>
          <a:ln/>
        </p:spPr>
        <p:txBody>
          <a:bodyPr wrap="square" lIns="0" tIns="0" rIns="0" bIns="0" rtlCol="0" anchor="t"/>
          <a:lstStyle/>
          <a:p>
            <a:pPr algn="r" indent="0" marL="0">
              <a:buNone/>
            </a:pPr>
            <a:r>
              <a:rPr lang="en-US" sz="700" b="1" dirty="0">
                <a:solidFill>
                  <a:srgbClr val="2E7DA8"/>
                </a:solidFill>
                <a:latin typeface="Calibri" pitchFamily="34" charset="0"/>
                <a:ea typeface="Calibri" pitchFamily="34" charset="-122"/>
                <a:cs typeface="Calibri" pitchFamily="34" charset="-120"/>
              </a:rPr>
              <a:t>₹1.97 Cr</a:t>
            </a:r>
            <a:endParaRPr lang="en-US" sz="700" dirty="0"/>
          </a:p>
        </p:txBody>
      </p:sp>
      <p:sp>
        <p:nvSpPr>
          <p:cNvPr id="63" name="Text 59"/>
          <p:cNvSpPr/>
          <p:nvPr/>
        </p:nvSpPr>
        <p:spPr>
          <a:xfrm>
            <a:off x="2502408" y="5248656"/>
            <a:ext cx="1304544" cy="292608"/>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2. Rajasthan</a:t>
            </a:r>
            <a:endParaRPr lang="en-US" sz="700" dirty="0"/>
          </a:p>
        </p:txBody>
      </p:sp>
      <p:sp>
        <p:nvSpPr>
          <p:cNvPr id="64" name="Text 60"/>
          <p:cNvSpPr/>
          <p:nvPr/>
        </p:nvSpPr>
        <p:spPr>
          <a:xfrm>
            <a:off x="3770376" y="5248656"/>
            <a:ext cx="585216" cy="182880"/>
          </a:xfrm>
          <a:prstGeom prst="rect">
            <a:avLst/>
          </a:prstGeom>
          <a:noFill/>
          <a:ln/>
        </p:spPr>
        <p:txBody>
          <a:bodyPr wrap="square" lIns="0" tIns="0" rIns="0" bIns="0" rtlCol="0" anchor="t"/>
          <a:lstStyle/>
          <a:p>
            <a:pPr algn="r" indent="0" marL="0">
              <a:buNone/>
            </a:pPr>
            <a:r>
              <a:rPr lang="en-US" sz="700" b="1" dirty="0">
                <a:solidFill>
                  <a:srgbClr val="2E7DA8"/>
                </a:solidFill>
                <a:latin typeface="Calibri" pitchFamily="34" charset="0"/>
                <a:ea typeface="Calibri" pitchFamily="34" charset="-122"/>
                <a:cs typeface="Calibri" pitchFamily="34" charset="-120"/>
              </a:rPr>
              <a:t>₹1.67 Cr</a:t>
            </a:r>
            <a:endParaRPr lang="en-US" sz="700" dirty="0"/>
          </a:p>
        </p:txBody>
      </p:sp>
      <p:sp>
        <p:nvSpPr>
          <p:cNvPr id="65" name="Text 61"/>
          <p:cNvSpPr/>
          <p:nvPr/>
        </p:nvSpPr>
        <p:spPr>
          <a:xfrm>
            <a:off x="2502408" y="5577840"/>
            <a:ext cx="1304544" cy="292608"/>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3. Punjab</a:t>
            </a:r>
            <a:endParaRPr lang="en-US" sz="700" dirty="0"/>
          </a:p>
        </p:txBody>
      </p:sp>
      <p:sp>
        <p:nvSpPr>
          <p:cNvPr id="66" name="Text 62"/>
          <p:cNvSpPr/>
          <p:nvPr/>
        </p:nvSpPr>
        <p:spPr>
          <a:xfrm>
            <a:off x="3770376" y="5577840"/>
            <a:ext cx="585216" cy="182880"/>
          </a:xfrm>
          <a:prstGeom prst="rect">
            <a:avLst/>
          </a:prstGeom>
          <a:noFill/>
          <a:ln/>
        </p:spPr>
        <p:txBody>
          <a:bodyPr wrap="square" lIns="0" tIns="0" rIns="0" bIns="0" rtlCol="0" anchor="t"/>
          <a:lstStyle/>
          <a:p>
            <a:pPr algn="r" indent="0" marL="0">
              <a:buNone/>
            </a:pPr>
            <a:r>
              <a:rPr lang="en-US" sz="700" b="1" dirty="0">
                <a:solidFill>
                  <a:srgbClr val="2E7DA8"/>
                </a:solidFill>
                <a:latin typeface="Calibri" pitchFamily="34" charset="0"/>
                <a:ea typeface="Calibri" pitchFamily="34" charset="-122"/>
                <a:cs typeface="Calibri" pitchFamily="34" charset="-120"/>
              </a:rPr>
              <a:t>₹1.55 Cr</a:t>
            </a:r>
            <a:endParaRPr lang="en-US" sz="700" dirty="0"/>
          </a:p>
        </p:txBody>
      </p:sp>
      <p:sp>
        <p:nvSpPr>
          <p:cNvPr id="67" name="Shape 63"/>
          <p:cNvSpPr/>
          <p:nvPr/>
        </p:nvSpPr>
        <p:spPr>
          <a:xfrm>
            <a:off x="4556760" y="4553712"/>
            <a:ext cx="2036064" cy="1773936"/>
          </a:xfrm>
          <a:prstGeom prst="roundRect">
            <a:avLst>
              <a:gd name="adj" fmla="val 1031"/>
            </a:avLst>
          </a:prstGeom>
          <a:solidFill>
            <a:srgbClr val="FFFFFF"/>
          </a:solidFill>
          <a:ln w="9525">
            <a:solidFill>
              <a:srgbClr val="C8DCD7"/>
            </a:solidFill>
            <a:prstDash val="solid"/>
          </a:ln>
        </p:spPr>
      </p:sp>
      <p:sp>
        <p:nvSpPr>
          <p:cNvPr id="68" name="Shape 64"/>
          <p:cNvSpPr/>
          <p:nvPr/>
        </p:nvSpPr>
        <p:spPr>
          <a:xfrm>
            <a:off x="4556760" y="4553712"/>
            <a:ext cx="2036064" cy="274320"/>
          </a:xfrm>
          <a:prstGeom prst="rect">
            <a:avLst/>
          </a:prstGeom>
          <a:solidFill>
            <a:srgbClr val="28A596"/>
          </a:solidFill>
          <a:ln/>
        </p:spPr>
      </p:sp>
      <p:sp>
        <p:nvSpPr>
          <p:cNvPr id="69" name="Text 65"/>
          <p:cNvSpPr/>
          <p:nvPr/>
        </p:nvSpPr>
        <p:spPr>
          <a:xfrm>
            <a:off x="4639056" y="457200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BRAND × SUB-CATEGORY</a:t>
            </a:r>
            <a:endParaRPr lang="en-US" sz="700" dirty="0"/>
          </a:p>
        </p:txBody>
      </p:sp>
      <p:sp>
        <p:nvSpPr>
          <p:cNvPr id="70" name="Text 66"/>
          <p:cNvSpPr/>
          <p:nvPr/>
        </p:nvSpPr>
        <p:spPr>
          <a:xfrm>
            <a:off x="4648200" y="4919472"/>
            <a:ext cx="1853184" cy="155448"/>
          </a:xfrm>
          <a:prstGeom prst="rect">
            <a:avLst/>
          </a:prstGeom>
          <a:noFill/>
          <a:ln/>
        </p:spPr>
        <p:txBody>
          <a:bodyPr wrap="square" lIns="0" tIns="0" rIns="0" bIns="0" rtlCol="0" anchor="t"/>
          <a:lstStyle/>
          <a:p>
            <a:pPr indent="0" marL="0">
              <a:buNone/>
            </a:pPr>
            <a:r>
              <a:rPr lang="en-US" sz="680" b="1" dirty="0">
                <a:solidFill>
                  <a:srgbClr val="28A596"/>
                </a:solidFill>
                <a:latin typeface="Calibri" pitchFamily="34" charset="0"/>
                <a:ea typeface="Calibri" pitchFamily="34" charset="-122"/>
                <a:cs typeface="Calibri" pitchFamily="34" charset="-120"/>
              </a:rPr>
              <a:t>Mamaearth ₹4.74 Cr</a:t>
            </a:r>
            <a:endParaRPr lang="en-US" sz="680" dirty="0"/>
          </a:p>
        </p:txBody>
      </p:sp>
      <p:sp>
        <p:nvSpPr>
          <p:cNvPr id="71" name="Text 67"/>
          <p:cNvSpPr/>
          <p:nvPr/>
        </p:nvSpPr>
        <p:spPr>
          <a:xfrm>
            <a:off x="4684776" y="5093208"/>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Face Cleanser</a:t>
            </a:r>
            <a:endParaRPr lang="en-US" sz="630" dirty="0"/>
          </a:p>
        </p:txBody>
      </p:sp>
      <p:sp>
        <p:nvSpPr>
          <p:cNvPr id="72" name="Text 68"/>
          <p:cNvSpPr/>
          <p:nvPr/>
        </p:nvSpPr>
        <p:spPr>
          <a:xfrm>
            <a:off x="6007608" y="5093208"/>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₹2.09</a:t>
            </a:r>
            <a:endParaRPr lang="en-US" sz="630" dirty="0"/>
          </a:p>
        </p:txBody>
      </p:sp>
      <p:sp>
        <p:nvSpPr>
          <p:cNvPr id="73" name="Text 69"/>
          <p:cNvSpPr/>
          <p:nvPr/>
        </p:nvSpPr>
        <p:spPr>
          <a:xfrm>
            <a:off x="4684776" y="5248656"/>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Shampoo</a:t>
            </a:r>
            <a:endParaRPr lang="en-US" sz="630" dirty="0"/>
          </a:p>
        </p:txBody>
      </p:sp>
      <p:sp>
        <p:nvSpPr>
          <p:cNvPr id="74" name="Text 70"/>
          <p:cNvSpPr/>
          <p:nvPr/>
        </p:nvSpPr>
        <p:spPr>
          <a:xfrm>
            <a:off x="6007608" y="5248656"/>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₹1.68</a:t>
            </a:r>
            <a:endParaRPr lang="en-US" sz="630" dirty="0"/>
          </a:p>
        </p:txBody>
      </p:sp>
      <p:sp>
        <p:nvSpPr>
          <p:cNvPr id="75" name="Text 71"/>
          <p:cNvSpPr/>
          <p:nvPr/>
        </p:nvSpPr>
        <p:spPr>
          <a:xfrm>
            <a:off x="4684776" y="5404104"/>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Sun Care</a:t>
            </a:r>
            <a:endParaRPr lang="en-US" sz="630" dirty="0"/>
          </a:p>
        </p:txBody>
      </p:sp>
      <p:sp>
        <p:nvSpPr>
          <p:cNvPr id="76" name="Text 72"/>
          <p:cNvSpPr/>
          <p:nvPr/>
        </p:nvSpPr>
        <p:spPr>
          <a:xfrm>
            <a:off x="6007608" y="5404104"/>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₹0.35</a:t>
            </a:r>
            <a:endParaRPr lang="en-US" sz="630" dirty="0"/>
          </a:p>
        </p:txBody>
      </p:sp>
      <p:sp>
        <p:nvSpPr>
          <p:cNvPr id="77" name="Text 73"/>
          <p:cNvSpPr/>
          <p:nvPr/>
        </p:nvSpPr>
        <p:spPr>
          <a:xfrm>
            <a:off x="4648200" y="5605272"/>
            <a:ext cx="1853184" cy="155448"/>
          </a:xfrm>
          <a:prstGeom prst="rect">
            <a:avLst/>
          </a:prstGeom>
          <a:noFill/>
          <a:ln/>
        </p:spPr>
        <p:txBody>
          <a:bodyPr wrap="square" lIns="0" tIns="0" rIns="0" bIns="0" rtlCol="0" anchor="t"/>
          <a:lstStyle/>
          <a:p>
            <a:pPr indent="0" marL="0">
              <a:buNone/>
            </a:pPr>
            <a:r>
              <a:rPr lang="en-US" sz="680" b="1" dirty="0">
                <a:solidFill>
                  <a:srgbClr val="2E7DA8"/>
                </a:solidFill>
                <a:latin typeface="Calibri" pitchFamily="34" charset="0"/>
                <a:ea typeface="Calibri" pitchFamily="34" charset="-122"/>
                <a:cs typeface="Calibri" pitchFamily="34" charset="-120"/>
              </a:rPr>
              <a:t>The Derma Co. ₹2.12 Cr</a:t>
            </a:r>
            <a:endParaRPr lang="en-US" sz="680" dirty="0"/>
          </a:p>
        </p:txBody>
      </p:sp>
      <p:sp>
        <p:nvSpPr>
          <p:cNvPr id="78" name="Text 74"/>
          <p:cNvSpPr/>
          <p:nvPr/>
        </p:nvSpPr>
        <p:spPr>
          <a:xfrm>
            <a:off x="4684776" y="5779008"/>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Face Cleanser</a:t>
            </a:r>
            <a:endParaRPr lang="en-US" sz="630" dirty="0"/>
          </a:p>
        </p:txBody>
      </p:sp>
      <p:sp>
        <p:nvSpPr>
          <p:cNvPr id="79" name="Text 75"/>
          <p:cNvSpPr/>
          <p:nvPr/>
        </p:nvSpPr>
        <p:spPr>
          <a:xfrm>
            <a:off x="6007608" y="5779008"/>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₹1.41</a:t>
            </a:r>
            <a:endParaRPr lang="en-US" sz="630" dirty="0"/>
          </a:p>
        </p:txBody>
      </p:sp>
      <p:sp>
        <p:nvSpPr>
          <p:cNvPr id="80" name="Text 76"/>
          <p:cNvSpPr/>
          <p:nvPr/>
        </p:nvSpPr>
        <p:spPr>
          <a:xfrm>
            <a:off x="4684776" y="5934456"/>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Sun Care</a:t>
            </a:r>
            <a:endParaRPr lang="en-US" sz="630" dirty="0"/>
          </a:p>
        </p:txBody>
      </p:sp>
      <p:sp>
        <p:nvSpPr>
          <p:cNvPr id="81" name="Text 77"/>
          <p:cNvSpPr/>
          <p:nvPr/>
        </p:nvSpPr>
        <p:spPr>
          <a:xfrm>
            <a:off x="6007608" y="5934456"/>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₹0.36</a:t>
            </a:r>
            <a:endParaRPr lang="en-US" sz="630" dirty="0"/>
          </a:p>
        </p:txBody>
      </p:sp>
      <p:sp>
        <p:nvSpPr>
          <p:cNvPr id="82" name="Text 78"/>
          <p:cNvSpPr/>
          <p:nvPr/>
        </p:nvSpPr>
        <p:spPr>
          <a:xfrm>
            <a:off x="4684776" y="6089904"/>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Face Serum</a:t>
            </a:r>
            <a:endParaRPr lang="en-US" sz="630" dirty="0"/>
          </a:p>
        </p:txBody>
      </p:sp>
      <p:sp>
        <p:nvSpPr>
          <p:cNvPr id="83" name="Text 79"/>
          <p:cNvSpPr/>
          <p:nvPr/>
        </p:nvSpPr>
        <p:spPr>
          <a:xfrm>
            <a:off x="6007608" y="6089904"/>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₹0.10</a:t>
            </a:r>
            <a:endParaRPr lang="en-US" sz="630" dirty="0"/>
          </a:p>
        </p:txBody>
      </p:sp>
      <p:sp>
        <p:nvSpPr>
          <p:cNvPr id="84" name="Shape 80"/>
          <p:cNvSpPr/>
          <p:nvPr/>
        </p:nvSpPr>
        <p:spPr>
          <a:xfrm>
            <a:off x="265176" y="6437376"/>
            <a:ext cx="6327648" cy="274320"/>
          </a:xfrm>
          <a:prstGeom prst="roundRect">
            <a:avLst>
              <a:gd name="adj" fmla="val 6667"/>
            </a:avLst>
          </a:prstGeom>
          <a:solidFill>
            <a:srgbClr val="FDF6E6"/>
          </a:solidFill>
          <a:ln w="9525">
            <a:solidFill>
              <a:srgbClr val="F2B84B"/>
            </a:solidFill>
            <a:prstDash val="solid"/>
          </a:ln>
        </p:spPr>
      </p:sp>
      <p:sp>
        <p:nvSpPr>
          <p:cNvPr id="85" name="Text 81"/>
          <p:cNvSpPr/>
          <p:nvPr/>
        </p:nvSpPr>
        <p:spPr>
          <a:xfrm>
            <a:off x="374904" y="6473952"/>
            <a:ext cx="6108192" cy="219456"/>
          </a:xfrm>
          <a:prstGeom prst="rect">
            <a:avLst/>
          </a:prstGeom>
          <a:noFill/>
          <a:ln/>
        </p:spPr>
        <p:txBody>
          <a:bodyPr wrap="square" lIns="0" tIns="0" rIns="0" bIns="0" rtlCol="0" anchor="ctr"/>
          <a:lstStyle/>
          <a:p>
            <a:pPr indent="0" marL="0">
              <a:buNone/>
            </a:pPr>
            <a:r>
              <a:rPr lang="en-US" sz="660" b="1" dirty="0">
                <a:solidFill>
                  <a:srgbClr val="F2B84B"/>
                </a:solidFill>
                <a:latin typeface="Calibri" pitchFamily="34" charset="0"/>
                <a:ea typeface="Calibri" pitchFamily="34" charset="-122"/>
                <a:cs typeface="Calibri" pitchFamily="34" charset="-120"/>
              </a:rPr>
              <a:t>NPI   </a:t>
            </a:r>
            <a:pPr indent="0" marL="0">
              <a:buNone/>
            </a:pPr>
            <a:r>
              <a:rPr lang="en-US" sz="700" dirty="0">
                <a:solidFill>
                  <a:srgbClr val="183B39"/>
                </a:solidFill>
                <a:latin typeface="Calibri" pitchFamily="34" charset="0"/>
                <a:ea typeface="Calibri" pitchFamily="34" charset="-122"/>
                <a:cs typeface="Calibri" pitchFamily="34" charset="-120"/>
              </a:rPr>
              <a:t>₹0.65 Cr · 9.2% of zone — second-highest NPI mix on the second-worst conversion</a:t>
            </a:r>
            <a:endParaRPr lang="en-US" sz="660" dirty="0"/>
          </a:p>
        </p:txBody>
      </p:sp>
      <p:sp>
        <p:nvSpPr>
          <p:cNvPr id="86" name="Shape 82"/>
          <p:cNvSpPr/>
          <p:nvPr/>
        </p:nvSpPr>
        <p:spPr>
          <a:xfrm>
            <a:off x="265176" y="6821424"/>
            <a:ext cx="6327648" cy="256032"/>
          </a:xfrm>
          <a:prstGeom prst="rect">
            <a:avLst/>
          </a:prstGeom>
          <a:solidFill>
            <a:srgbClr val="D6544D"/>
          </a:solidFill>
          <a:ln/>
        </p:spPr>
      </p:sp>
      <p:sp>
        <p:nvSpPr>
          <p:cNvPr id="87" name="Text 83"/>
          <p:cNvSpPr/>
          <p:nvPr/>
        </p:nvSpPr>
        <p:spPr>
          <a:xfrm>
            <a:off x="374904" y="6839712"/>
            <a:ext cx="6108192" cy="219456"/>
          </a:xfrm>
          <a:prstGeom prst="rect">
            <a:avLst/>
          </a:prstGeom>
          <a:noFill/>
          <a:ln/>
        </p:spPr>
        <p:txBody>
          <a:bodyPr wrap="square" lIns="0" tIns="0" rIns="0" bIns="0" rtlCol="0" anchor="ctr"/>
          <a:lstStyle/>
          <a:p>
            <a:pPr indent="0" marL="0">
              <a:buNone/>
            </a:pPr>
            <a:r>
              <a:rPr lang="en-US" sz="720" b="1" spc="60" kern="0" dirty="0">
                <a:solidFill>
                  <a:srgbClr val="FFFFFF"/>
                </a:solidFill>
                <a:latin typeface="Calibri" pitchFamily="34" charset="0"/>
                <a:ea typeface="Calibri" pitchFamily="34" charset="-122"/>
                <a:cs typeface="Calibri" pitchFamily="34" charset="-120"/>
              </a:rPr>
              <a:t>SIX DIAGNOSED EXCEPTIONS — CAUSE, ACTION AND OWNER</a:t>
            </a:r>
            <a:endParaRPr lang="en-US" sz="720" dirty="0"/>
          </a:p>
        </p:txBody>
      </p:sp>
      <p:sp>
        <p:nvSpPr>
          <p:cNvPr id="88" name="Shape 84"/>
          <p:cNvSpPr/>
          <p:nvPr/>
        </p:nvSpPr>
        <p:spPr>
          <a:xfrm>
            <a:off x="265176" y="7168896"/>
            <a:ext cx="2036064" cy="1700784"/>
          </a:xfrm>
          <a:prstGeom prst="roundRect">
            <a:avLst>
              <a:gd name="adj" fmla="val 1075"/>
            </a:avLst>
          </a:prstGeom>
          <a:solidFill>
            <a:srgbClr val="FFFFFF"/>
          </a:solidFill>
          <a:ln w="9525">
            <a:solidFill>
              <a:srgbClr val="C8DCD7"/>
            </a:solidFill>
            <a:prstDash val="solid"/>
          </a:ln>
        </p:spPr>
      </p:sp>
      <p:sp>
        <p:nvSpPr>
          <p:cNvPr id="89" name="Shape 85"/>
          <p:cNvSpPr/>
          <p:nvPr/>
        </p:nvSpPr>
        <p:spPr>
          <a:xfrm>
            <a:off x="265176" y="7168896"/>
            <a:ext cx="2036064" cy="41148"/>
          </a:xfrm>
          <a:prstGeom prst="rect">
            <a:avLst/>
          </a:prstGeom>
          <a:solidFill>
            <a:srgbClr val="D6544D"/>
          </a:solidFill>
          <a:ln/>
        </p:spPr>
      </p:sp>
      <p:sp>
        <p:nvSpPr>
          <p:cNvPr id="90" name="Text 86"/>
          <p:cNvSpPr/>
          <p:nvPr/>
        </p:nvSpPr>
        <p:spPr>
          <a:xfrm>
            <a:off x="356616" y="7251192"/>
            <a:ext cx="1853184" cy="137160"/>
          </a:xfrm>
          <a:prstGeom prst="rect">
            <a:avLst/>
          </a:prstGeom>
          <a:noFill/>
          <a:ln/>
        </p:spPr>
        <p:txBody>
          <a:bodyPr wrap="square" lIns="0" tIns="0" rIns="0" bIns="0" rtlCol="0" anchor="t"/>
          <a:lstStyle/>
          <a:p>
            <a:pPr indent="0" marL="0">
              <a:buNone/>
            </a:pPr>
            <a:r>
              <a:rPr lang="en-US" sz="620" b="1" spc="50" kern="0" dirty="0">
                <a:solidFill>
                  <a:srgbClr val="D6544D"/>
                </a:solidFill>
                <a:latin typeface="Calibri" pitchFamily="34" charset="0"/>
                <a:ea typeface="Calibri" pitchFamily="34" charset="-122"/>
                <a:cs typeface="Calibri" pitchFamily="34" charset="-120"/>
              </a:rPr>
              <a:t>PRIZE</a:t>
            </a:r>
            <a:endParaRPr lang="en-US" sz="620" dirty="0"/>
          </a:p>
        </p:txBody>
      </p:sp>
      <p:sp>
        <p:nvSpPr>
          <p:cNvPr id="91" name="Text 87"/>
          <p:cNvSpPr/>
          <p:nvPr/>
        </p:nvSpPr>
        <p:spPr>
          <a:xfrm>
            <a:off x="356616" y="7397496"/>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₹2.78 Cr is recoverable at the internal benchmark</a:t>
            </a:r>
            <a:endParaRPr lang="en-US" sz="740" dirty="0"/>
          </a:p>
        </p:txBody>
      </p:sp>
      <p:sp>
        <p:nvSpPr>
          <p:cNvPr id="92" name="Text 88"/>
          <p:cNvSpPr/>
          <p:nvPr/>
        </p:nvSpPr>
        <p:spPr>
          <a:xfrm>
            <a:off x="356616" y="7735824"/>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North bills the most primary in the country (₹11.95 Cr) and converts it worst but one. At the West / South-1 rate of 82.95% the zone would deliver ₹9.91 Cr instead of ₹6.99 Cr.</a:t>
            </a:r>
            <a:endParaRPr lang="en-US" sz="650" dirty="0"/>
          </a:p>
        </p:txBody>
      </p:sp>
      <p:sp>
        <p:nvSpPr>
          <p:cNvPr id="93" name="Shape 89"/>
          <p:cNvSpPr/>
          <p:nvPr/>
        </p:nvSpPr>
        <p:spPr>
          <a:xfrm>
            <a:off x="356616" y="8330184"/>
            <a:ext cx="1853184" cy="0"/>
          </a:xfrm>
          <a:prstGeom prst="line">
            <a:avLst/>
          </a:prstGeom>
          <a:noFill/>
          <a:ln w="6350">
            <a:solidFill>
              <a:srgbClr val="C8DCD7"/>
            </a:solidFill>
            <a:prstDash val="solid"/>
          </a:ln>
        </p:spPr>
      </p:sp>
      <p:sp>
        <p:nvSpPr>
          <p:cNvPr id="94" name="Text 90"/>
          <p:cNvSpPr/>
          <p:nvPr/>
        </p:nvSpPr>
        <p:spPr>
          <a:xfrm>
            <a:off x="356616" y="8375904"/>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Set ₹2.78 Cr as the North recovery target and review it weekly against actuals.</a:t>
            </a:r>
            <a:endParaRPr lang="en-US" sz="600" dirty="0"/>
          </a:p>
        </p:txBody>
      </p:sp>
      <p:sp>
        <p:nvSpPr>
          <p:cNvPr id="95" name="Text 91"/>
          <p:cNvSpPr/>
          <p:nvPr/>
        </p:nvSpPr>
        <p:spPr>
          <a:xfrm>
            <a:off x="356616" y="8705088"/>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North ZSM · weekly from 18 Aug</a:t>
            </a:r>
            <a:endParaRPr lang="en-US" sz="620" dirty="0"/>
          </a:p>
        </p:txBody>
      </p:sp>
      <p:sp>
        <p:nvSpPr>
          <p:cNvPr id="96" name="Shape 92"/>
          <p:cNvSpPr/>
          <p:nvPr/>
        </p:nvSpPr>
        <p:spPr>
          <a:xfrm>
            <a:off x="2410968" y="7168896"/>
            <a:ext cx="2036064" cy="1700784"/>
          </a:xfrm>
          <a:prstGeom prst="roundRect">
            <a:avLst>
              <a:gd name="adj" fmla="val 1075"/>
            </a:avLst>
          </a:prstGeom>
          <a:solidFill>
            <a:srgbClr val="FFFFFF"/>
          </a:solidFill>
          <a:ln w="9525">
            <a:solidFill>
              <a:srgbClr val="C8DCD7"/>
            </a:solidFill>
            <a:prstDash val="solid"/>
          </a:ln>
        </p:spPr>
      </p:sp>
      <p:sp>
        <p:nvSpPr>
          <p:cNvPr id="97" name="Shape 93"/>
          <p:cNvSpPr/>
          <p:nvPr/>
        </p:nvSpPr>
        <p:spPr>
          <a:xfrm>
            <a:off x="2410968" y="7168896"/>
            <a:ext cx="2036064" cy="41148"/>
          </a:xfrm>
          <a:prstGeom prst="rect">
            <a:avLst/>
          </a:prstGeom>
          <a:solidFill>
            <a:srgbClr val="D6544D"/>
          </a:solidFill>
          <a:ln/>
        </p:spPr>
      </p:sp>
      <p:sp>
        <p:nvSpPr>
          <p:cNvPr id="98" name="Text 94"/>
          <p:cNvSpPr/>
          <p:nvPr/>
        </p:nvSpPr>
        <p:spPr>
          <a:xfrm>
            <a:off x="2502408" y="7251192"/>
            <a:ext cx="1853184" cy="137160"/>
          </a:xfrm>
          <a:prstGeom prst="rect">
            <a:avLst/>
          </a:prstGeom>
          <a:noFill/>
          <a:ln/>
        </p:spPr>
        <p:txBody>
          <a:bodyPr wrap="square" lIns="0" tIns="0" rIns="0" bIns="0" rtlCol="0" anchor="t"/>
          <a:lstStyle/>
          <a:p>
            <a:pPr indent="0" marL="0">
              <a:buNone/>
            </a:pPr>
            <a:r>
              <a:rPr lang="en-US" sz="620" b="1" spc="50" kern="0" dirty="0">
                <a:solidFill>
                  <a:srgbClr val="D6544D"/>
                </a:solidFill>
                <a:latin typeface="Calibri" pitchFamily="34" charset="0"/>
                <a:ea typeface="Calibri" pitchFamily="34" charset="-122"/>
                <a:cs typeface="Calibri" pitchFamily="34" charset="-120"/>
              </a:rPr>
              <a:t>ROOT CAUSE</a:t>
            </a:r>
            <a:endParaRPr lang="en-US" sz="620" dirty="0"/>
          </a:p>
        </p:txBody>
      </p:sp>
      <p:sp>
        <p:nvSpPr>
          <p:cNvPr id="99" name="Text 95"/>
          <p:cNvSpPr/>
          <p:nvPr/>
        </p:nvSpPr>
        <p:spPr>
          <a:xfrm>
            <a:off x="2502408" y="7397496"/>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Reliance North converts at 44.9% — the worst material cell</a:t>
            </a:r>
            <a:endParaRPr lang="en-US" sz="740" dirty="0"/>
          </a:p>
        </p:txBody>
      </p:sp>
      <p:sp>
        <p:nvSpPr>
          <p:cNvPr id="100" name="Text 96"/>
          <p:cNvSpPr/>
          <p:nvPr/>
        </p:nvSpPr>
        <p:spPr>
          <a:xfrm>
            <a:off x="2502408" y="7735824"/>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On ₹2.40 Cr of offtake this single chain-zone cell explains the bulk of the zone shortfall. DMart North at 77.9% and Apollo at 98.3% show the geography is not the constraint.</a:t>
            </a:r>
            <a:endParaRPr lang="en-US" sz="650" dirty="0"/>
          </a:p>
        </p:txBody>
      </p:sp>
      <p:sp>
        <p:nvSpPr>
          <p:cNvPr id="101" name="Shape 97"/>
          <p:cNvSpPr/>
          <p:nvPr/>
        </p:nvSpPr>
        <p:spPr>
          <a:xfrm>
            <a:off x="2502408" y="8330184"/>
            <a:ext cx="1853184" cy="0"/>
          </a:xfrm>
          <a:prstGeom prst="line">
            <a:avLst/>
          </a:prstGeom>
          <a:noFill/>
          <a:ln w="6350">
            <a:solidFill>
              <a:srgbClr val="C8DCD7"/>
            </a:solidFill>
            <a:prstDash val="solid"/>
          </a:ln>
        </p:spPr>
      </p:sp>
      <p:sp>
        <p:nvSpPr>
          <p:cNvPr id="102" name="Text 98"/>
          <p:cNvSpPr/>
          <p:nvPr/>
        </p:nvSpPr>
        <p:spPr>
          <a:xfrm>
            <a:off x="2502408" y="8375904"/>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Stop incremental loading into Reliance North until conversion clears 65% for two consecutive weeks.</a:t>
            </a:r>
            <a:endParaRPr lang="en-US" sz="600" dirty="0"/>
          </a:p>
        </p:txBody>
      </p:sp>
      <p:sp>
        <p:nvSpPr>
          <p:cNvPr id="103" name="Text 99"/>
          <p:cNvSpPr/>
          <p:nvPr/>
        </p:nvSpPr>
        <p:spPr>
          <a:xfrm>
            <a:off x="2502408" y="8705088"/>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NKAM Reliance + Supply · immediate</a:t>
            </a:r>
            <a:endParaRPr lang="en-US" sz="620" dirty="0"/>
          </a:p>
        </p:txBody>
      </p:sp>
      <p:sp>
        <p:nvSpPr>
          <p:cNvPr id="104" name="Shape 100"/>
          <p:cNvSpPr/>
          <p:nvPr/>
        </p:nvSpPr>
        <p:spPr>
          <a:xfrm>
            <a:off x="4556760" y="7168896"/>
            <a:ext cx="2036064" cy="1700784"/>
          </a:xfrm>
          <a:prstGeom prst="roundRect">
            <a:avLst>
              <a:gd name="adj" fmla="val 1075"/>
            </a:avLst>
          </a:prstGeom>
          <a:solidFill>
            <a:srgbClr val="FFFFFF"/>
          </a:solidFill>
          <a:ln w="9525">
            <a:solidFill>
              <a:srgbClr val="C8DCD7"/>
            </a:solidFill>
            <a:prstDash val="solid"/>
          </a:ln>
        </p:spPr>
      </p:sp>
      <p:sp>
        <p:nvSpPr>
          <p:cNvPr id="105" name="Shape 101"/>
          <p:cNvSpPr/>
          <p:nvPr/>
        </p:nvSpPr>
        <p:spPr>
          <a:xfrm>
            <a:off x="4556760" y="7168896"/>
            <a:ext cx="2036064" cy="41148"/>
          </a:xfrm>
          <a:prstGeom prst="rect">
            <a:avLst/>
          </a:prstGeom>
          <a:solidFill>
            <a:srgbClr val="F2B84B"/>
          </a:solidFill>
          <a:ln/>
        </p:spPr>
      </p:sp>
      <p:sp>
        <p:nvSpPr>
          <p:cNvPr id="106" name="Text 102"/>
          <p:cNvSpPr/>
          <p:nvPr/>
        </p:nvSpPr>
        <p:spPr>
          <a:xfrm>
            <a:off x="4648200" y="7251192"/>
            <a:ext cx="1853184" cy="137160"/>
          </a:xfrm>
          <a:prstGeom prst="rect">
            <a:avLst/>
          </a:prstGeom>
          <a:noFill/>
          <a:ln/>
        </p:spPr>
        <p:txBody>
          <a:bodyPr wrap="square" lIns="0" tIns="0" rIns="0" bIns="0" rtlCol="0" anchor="t"/>
          <a:lstStyle/>
          <a:p>
            <a:pPr indent="0" marL="0">
              <a:buNone/>
            </a:pPr>
            <a:r>
              <a:rPr lang="en-US" sz="620" b="1" spc="50" kern="0" dirty="0">
                <a:solidFill>
                  <a:srgbClr val="F2B84B"/>
                </a:solidFill>
                <a:latin typeface="Calibri" pitchFamily="34" charset="0"/>
                <a:ea typeface="Calibri" pitchFamily="34" charset="-122"/>
                <a:cs typeface="Calibri" pitchFamily="34" charset="-120"/>
              </a:rPr>
              <a:t>DIAGNOSIS</a:t>
            </a:r>
            <a:endParaRPr lang="en-US" sz="620" dirty="0"/>
          </a:p>
        </p:txBody>
      </p:sp>
      <p:sp>
        <p:nvSpPr>
          <p:cNvPr id="107" name="Text 103"/>
          <p:cNvSpPr/>
          <p:nvPr/>
        </p:nvSpPr>
        <p:spPr>
          <a:xfrm>
            <a:off x="4648200" y="7397496"/>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Same portfolio, three different conversion outcomes</a:t>
            </a:r>
            <a:endParaRPr lang="en-US" sz="740" dirty="0"/>
          </a:p>
        </p:txBody>
      </p:sp>
      <p:sp>
        <p:nvSpPr>
          <p:cNvPr id="108" name="Text 104"/>
          <p:cNvSpPr/>
          <p:nvPr/>
        </p:nvSpPr>
        <p:spPr>
          <a:xfrm>
            <a:off x="4648200" y="7735824"/>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Apollo 98.3%, DMart 77.9%, Reliance 44.9% — identical range in one geography. That rules out demand, pricing and assortment, and points at account-level replenishment.</a:t>
            </a:r>
            <a:endParaRPr lang="en-US" sz="650" dirty="0"/>
          </a:p>
        </p:txBody>
      </p:sp>
      <p:sp>
        <p:nvSpPr>
          <p:cNvPr id="109" name="Shape 105"/>
          <p:cNvSpPr/>
          <p:nvPr/>
        </p:nvSpPr>
        <p:spPr>
          <a:xfrm>
            <a:off x="4648200" y="8330184"/>
            <a:ext cx="1853184" cy="0"/>
          </a:xfrm>
          <a:prstGeom prst="line">
            <a:avLst/>
          </a:prstGeom>
          <a:noFill/>
          <a:ln w="6350">
            <a:solidFill>
              <a:srgbClr val="C8DCD7"/>
            </a:solidFill>
            <a:prstDash val="solid"/>
          </a:ln>
        </p:spPr>
      </p:sp>
      <p:sp>
        <p:nvSpPr>
          <p:cNvPr id="110" name="Text 106"/>
          <p:cNvSpPr/>
          <p:nvPr/>
        </p:nvSpPr>
        <p:spPr>
          <a:xfrm>
            <a:off x="4648200" y="8375904"/>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Run store-level OSA audit on Reliance North hero EANs; compare against Apollo North cadence.</a:t>
            </a:r>
            <a:endParaRPr lang="en-US" sz="600" dirty="0"/>
          </a:p>
        </p:txBody>
      </p:sp>
      <p:sp>
        <p:nvSpPr>
          <p:cNvPr id="111" name="Text 107"/>
          <p:cNvSpPr/>
          <p:nvPr/>
        </p:nvSpPr>
        <p:spPr>
          <a:xfrm>
            <a:off x="4648200" y="8705088"/>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North RKAM + Trade Marketing · 25 Aug</a:t>
            </a:r>
            <a:endParaRPr lang="en-US" sz="620" dirty="0"/>
          </a:p>
        </p:txBody>
      </p:sp>
      <p:sp>
        <p:nvSpPr>
          <p:cNvPr id="112" name="Shape 108"/>
          <p:cNvSpPr/>
          <p:nvPr/>
        </p:nvSpPr>
        <p:spPr>
          <a:xfrm>
            <a:off x="265176" y="8979408"/>
            <a:ext cx="2036064" cy="1700784"/>
          </a:xfrm>
          <a:prstGeom prst="roundRect">
            <a:avLst>
              <a:gd name="adj" fmla="val 1075"/>
            </a:avLst>
          </a:prstGeom>
          <a:solidFill>
            <a:srgbClr val="FFFFFF"/>
          </a:solidFill>
          <a:ln w="9525">
            <a:solidFill>
              <a:srgbClr val="C8DCD7"/>
            </a:solidFill>
            <a:prstDash val="solid"/>
          </a:ln>
        </p:spPr>
      </p:sp>
      <p:sp>
        <p:nvSpPr>
          <p:cNvPr id="113" name="Shape 109"/>
          <p:cNvSpPr/>
          <p:nvPr/>
        </p:nvSpPr>
        <p:spPr>
          <a:xfrm>
            <a:off x="265176" y="8979408"/>
            <a:ext cx="2036064" cy="41148"/>
          </a:xfrm>
          <a:prstGeom prst="rect">
            <a:avLst/>
          </a:prstGeom>
          <a:solidFill>
            <a:srgbClr val="D6544D"/>
          </a:solidFill>
          <a:ln/>
        </p:spPr>
      </p:sp>
      <p:sp>
        <p:nvSpPr>
          <p:cNvPr id="114" name="Text 110"/>
          <p:cNvSpPr/>
          <p:nvPr/>
        </p:nvSpPr>
        <p:spPr>
          <a:xfrm>
            <a:off x="356616" y="9061704"/>
            <a:ext cx="1853184" cy="137160"/>
          </a:xfrm>
          <a:prstGeom prst="rect">
            <a:avLst/>
          </a:prstGeom>
          <a:noFill/>
          <a:ln/>
        </p:spPr>
        <p:txBody>
          <a:bodyPr wrap="square" lIns="0" tIns="0" rIns="0" bIns="0" rtlCol="0" anchor="t"/>
          <a:lstStyle/>
          <a:p>
            <a:pPr indent="0" marL="0">
              <a:buNone/>
            </a:pPr>
            <a:r>
              <a:rPr lang="en-US" sz="620" b="1" spc="50" kern="0" dirty="0">
                <a:solidFill>
                  <a:srgbClr val="D6544D"/>
                </a:solidFill>
                <a:latin typeface="Calibri" pitchFamily="34" charset="0"/>
                <a:ea typeface="Calibri" pitchFamily="34" charset="-122"/>
                <a:cs typeface="Calibri" pitchFamily="34" charset="-120"/>
              </a:rPr>
              <a:t>NPI RISK</a:t>
            </a:r>
            <a:endParaRPr lang="en-US" sz="620" dirty="0"/>
          </a:p>
        </p:txBody>
      </p:sp>
      <p:sp>
        <p:nvSpPr>
          <p:cNvPr id="115" name="Text 111"/>
          <p:cNvSpPr/>
          <p:nvPr/>
        </p:nvSpPr>
        <p:spPr>
          <a:xfrm>
            <a:off x="356616" y="9208008"/>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NPI mix is 9.2% into a 61.3%-converting zone</a:t>
            </a:r>
            <a:endParaRPr lang="en-US" sz="740" dirty="0"/>
          </a:p>
        </p:txBody>
      </p:sp>
      <p:sp>
        <p:nvSpPr>
          <p:cNvPr id="116" name="Text 112"/>
          <p:cNvSpPr/>
          <p:nvPr/>
        </p:nvSpPr>
        <p:spPr>
          <a:xfrm>
            <a:off x="356616" y="9546336"/>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New products are being placed where sell-through is weakest. NPI carries the least shelf history and the highest liquidation risk, so it is the worst payload for a weak pipe.</a:t>
            </a:r>
            <a:endParaRPr lang="en-US" sz="650" dirty="0"/>
          </a:p>
        </p:txBody>
      </p:sp>
      <p:sp>
        <p:nvSpPr>
          <p:cNvPr id="117" name="Shape 113"/>
          <p:cNvSpPr/>
          <p:nvPr/>
        </p:nvSpPr>
        <p:spPr>
          <a:xfrm>
            <a:off x="356616" y="10140696"/>
            <a:ext cx="1853184" cy="0"/>
          </a:xfrm>
          <a:prstGeom prst="line">
            <a:avLst/>
          </a:prstGeom>
          <a:noFill/>
          <a:ln w="6350">
            <a:solidFill>
              <a:srgbClr val="C8DCD7"/>
            </a:solidFill>
            <a:prstDash val="solid"/>
          </a:ln>
        </p:spPr>
      </p:sp>
      <p:sp>
        <p:nvSpPr>
          <p:cNvPr id="118" name="Text 114"/>
          <p:cNvSpPr/>
          <p:nvPr/>
        </p:nvSpPr>
        <p:spPr>
          <a:xfrm>
            <a:off x="356616" y="10186416"/>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Hold further NPI allocation to North until zone conversion clears 70%.</a:t>
            </a:r>
            <a:endParaRPr lang="en-US" sz="600" dirty="0"/>
          </a:p>
        </p:txBody>
      </p:sp>
      <p:sp>
        <p:nvSpPr>
          <p:cNvPr id="119" name="Text 115"/>
          <p:cNvSpPr/>
          <p:nvPr/>
        </p:nvSpPr>
        <p:spPr>
          <a:xfrm>
            <a:off x="356616" y="10515600"/>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Category + Supply · immediate</a:t>
            </a:r>
            <a:endParaRPr lang="en-US" sz="620" dirty="0"/>
          </a:p>
        </p:txBody>
      </p:sp>
      <p:sp>
        <p:nvSpPr>
          <p:cNvPr id="120" name="Shape 116"/>
          <p:cNvSpPr/>
          <p:nvPr/>
        </p:nvSpPr>
        <p:spPr>
          <a:xfrm>
            <a:off x="2410968" y="8979408"/>
            <a:ext cx="2036064" cy="1700784"/>
          </a:xfrm>
          <a:prstGeom prst="roundRect">
            <a:avLst>
              <a:gd name="adj" fmla="val 1075"/>
            </a:avLst>
          </a:prstGeom>
          <a:solidFill>
            <a:srgbClr val="FFFFFF"/>
          </a:solidFill>
          <a:ln w="9525">
            <a:solidFill>
              <a:srgbClr val="C8DCD7"/>
            </a:solidFill>
            <a:prstDash val="solid"/>
          </a:ln>
        </p:spPr>
      </p:sp>
      <p:sp>
        <p:nvSpPr>
          <p:cNvPr id="121" name="Shape 117"/>
          <p:cNvSpPr/>
          <p:nvPr/>
        </p:nvSpPr>
        <p:spPr>
          <a:xfrm>
            <a:off x="2410968" y="8979408"/>
            <a:ext cx="2036064" cy="41148"/>
          </a:xfrm>
          <a:prstGeom prst="rect">
            <a:avLst/>
          </a:prstGeom>
          <a:solidFill>
            <a:srgbClr val="116F68"/>
          </a:solidFill>
          <a:ln/>
        </p:spPr>
      </p:sp>
      <p:sp>
        <p:nvSpPr>
          <p:cNvPr id="122" name="Text 118"/>
          <p:cNvSpPr/>
          <p:nvPr/>
        </p:nvSpPr>
        <p:spPr>
          <a:xfrm>
            <a:off x="2502408" y="9061704"/>
            <a:ext cx="1853184" cy="137160"/>
          </a:xfrm>
          <a:prstGeom prst="rect">
            <a:avLst/>
          </a:prstGeom>
          <a:noFill/>
          <a:ln/>
        </p:spPr>
        <p:txBody>
          <a:bodyPr wrap="square" lIns="0" tIns="0" rIns="0" bIns="0" rtlCol="0" anchor="t"/>
          <a:lstStyle/>
          <a:p>
            <a:pPr indent="0" marL="0">
              <a:buNone/>
            </a:pPr>
            <a:r>
              <a:rPr lang="en-US" sz="620" b="1" spc="50" kern="0" dirty="0">
                <a:solidFill>
                  <a:srgbClr val="116F68"/>
                </a:solidFill>
                <a:latin typeface="Calibri" pitchFamily="34" charset="0"/>
                <a:ea typeface="Calibri" pitchFamily="34" charset="-122"/>
                <a:cs typeface="Calibri" pitchFamily="34" charset="-120"/>
              </a:rPr>
              <a:t>CONCENTRATION</a:t>
            </a:r>
            <a:endParaRPr lang="en-US" sz="620" dirty="0"/>
          </a:p>
        </p:txBody>
      </p:sp>
      <p:sp>
        <p:nvSpPr>
          <p:cNvPr id="123" name="Text 119"/>
          <p:cNvSpPr/>
          <p:nvPr/>
        </p:nvSpPr>
        <p:spPr>
          <a:xfrm>
            <a:off x="2502408" y="9208008"/>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Delhi NCR, Rajasthan and Punjab are evenly matched</a:t>
            </a:r>
            <a:endParaRPr lang="en-US" sz="740" dirty="0"/>
          </a:p>
        </p:txBody>
      </p:sp>
      <p:sp>
        <p:nvSpPr>
          <p:cNvPr id="124" name="Text 120"/>
          <p:cNvSpPr/>
          <p:nvPr/>
        </p:nvSpPr>
        <p:spPr>
          <a:xfrm>
            <a:off x="2502408" y="9546336"/>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At ₹1.97 / ₹1.67 / ₹1.55 Cr no single state carries the zone, so recovery has to be run per chain, not per state.</a:t>
            </a:r>
            <a:endParaRPr lang="en-US" sz="650" dirty="0"/>
          </a:p>
        </p:txBody>
      </p:sp>
      <p:sp>
        <p:nvSpPr>
          <p:cNvPr id="125" name="Shape 121"/>
          <p:cNvSpPr/>
          <p:nvPr/>
        </p:nvSpPr>
        <p:spPr>
          <a:xfrm>
            <a:off x="2502408" y="10140696"/>
            <a:ext cx="1853184" cy="0"/>
          </a:xfrm>
          <a:prstGeom prst="line">
            <a:avLst/>
          </a:prstGeom>
          <a:noFill/>
          <a:ln w="6350">
            <a:solidFill>
              <a:srgbClr val="C8DCD7"/>
            </a:solidFill>
            <a:prstDash val="solid"/>
          </a:ln>
        </p:spPr>
      </p:sp>
      <p:sp>
        <p:nvSpPr>
          <p:cNvPr id="126" name="Text 122"/>
          <p:cNvSpPr/>
          <p:nvPr/>
        </p:nvSpPr>
        <p:spPr>
          <a:xfrm>
            <a:off x="2502408" y="10186416"/>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Build the exception list at chain × state × hero-EAN, not state level.</a:t>
            </a:r>
            <a:endParaRPr lang="en-US" sz="600" dirty="0"/>
          </a:p>
        </p:txBody>
      </p:sp>
      <p:sp>
        <p:nvSpPr>
          <p:cNvPr id="127" name="Text 123"/>
          <p:cNvSpPr/>
          <p:nvPr/>
        </p:nvSpPr>
        <p:spPr>
          <a:xfrm>
            <a:off x="2502408" y="10515600"/>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Analyst · 20 Aug</a:t>
            </a:r>
            <a:endParaRPr lang="en-US" sz="620" dirty="0"/>
          </a:p>
        </p:txBody>
      </p:sp>
      <p:sp>
        <p:nvSpPr>
          <p:cNvPr id="128" name="Shape 124"/>
          <p:cNvSpPr/>
          <p:nvPr/>
        </p:nvSpPr>
        <p:spPr>
          <a:xfrm>
            <a:off x="4556760" y="8979408"/>
            <a:ext cx="2036064" cy="1700784"/>
          </a:xfrm>
          <a:prstGeom prst="roundRect">
            <a:avLst>
              <a:gd name="adj" fmla="val 1075"/>
            </a:avLst>
          </a:prstGeom>
          <a:solidFill>
            <a:srgbClr val="FFFFFF"/>
          </a:solidFill>
          <a:ln w="9525">
            <a:solidFill>
              <a:srgbClr val="C8DCD7"/>
            </a:solidFill>
            <a:prstDash val="solid"/>
          </a:ln>
        </p:spPr>
      </p:sp>
      <p:sp>
        <p:nvSpPr>
          <p:cNvPr id="129" name="Shape 125"/>
          <p:cNvSpPr/>
          <p:nvPr/>
        </p:nvSpPr>
        <p:spPr>
          <a:xfrm>
            <a:off x="4556760" y="8979408"/>
            <a:ext cx="2036064" cy="41148"/>
          </a:xfrm>
          <a:prstGeom prst="rect">
            <a:avLst/>
          </a:prstGeom>
          <a:solidFill>
            <a:srgbClr val="116F68"/>
          </a:solidFill>
          <a:ln/>
        </p:spPr>
      </p:sp>
      <p:sp>
        <p:nvSpPr>
          <p:cNvPr id="130" name="Text 126"/>
          <p:cNvSpPr/>
          <p:nvPr/>
        </p:nvSpPr>
        <p:spPr>
          <a:xfrm>
            <a:off x="4648200" y="9061704"/>
            <a:ext cx="1853184" cy="137160"/>
          </a:xfrm>
          <a:prstGeom prst="rect">
            <a:avLst/>
          </a:prstGeom>
          <a:noFill/>
          <a:ln/>
        </p:spPr>
        <p:txBody>
          <a:bodyPr wrap="square" lIns="0" tIns="0" rIns="0" bIns="0" rtlCol="0" anchor="t"/>
          <a:lstStyle/>
          <a:p>
            <a:pPr indent="0" marL="0">
              <a:buNone/>
            </a:pPr>
            <a:r>
              <a:rPr lang="en-US" sz="620" b="1" spc="50" kern="0" dirty="0">
                <a:solidFill>
                  <a:srgbClr val="116F68"/>
                </a:solidFill>
                <a:latin typeface="Calibri" pitchFamily="34" charset="0"/>
                <a:ea typeface="Calibri" pitchFamily="34" charset="-122"/>
                <a:cs typeface="Calibri" pitchFamily="34" charset="-120"/>
              </a:rPr>
              <a:t>PORTFOLIO</a:t>
            </a:r>
            <a:endParaRPr lang="en-US" sz="620" dirty="0"/>
          </a:p>
        </p:txBody>
      </p:sp>
      <p:sp>
        <p:nvSpPr>
          <p:cNvPr id="131" name="Text 127"/>
          <p:cNvSpPr/>
          <p:nvPr/>
        </p:nvSpPr>
        <p:spPr>
          <a:xfrm>
            <a:off x="4648200" y="9208008"/>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Mamaearth Shampoo at ₹1.68 Cr is strongest in the country</a:t>
            </a:r>
            <a:endParaRPr lang="en-US" sz="740" dirty="0"/>
          </a:p>
        </p:txBody>
      </p:sp>
      <p:sp>
        <p:nvSpPr>
          <p:cNvPr id="132" name="Text 128"/>
          <p:cNvSpPr/>
          <p:nvPr/>
        </p:nvSpPr>
        <p:spPr>
          <a:xfrm>
            <a:off x="4648200" y="9546336"/>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North is the largest shampoo zone by value despite the conversion problem, so the demand signal is real and the loss is downstream of it.</a:t>
            </a:r>
            <a:endParaRPr lang="en-US" sz="650" dirty="0"/>
          </a:p>
        </p:txBody>
      </p:sp>
      <p:sp>
        <p:nvSpPr>
          <p:cNvPr id="133" name="Shape 129"/>
          <p:cNvSpPr/>
          <p:nvPr/>
        </p:nvSpPr>
        <p:spPr>
          <a:xfrm>
            <a:off x="4648200" y="10140696"/>
            <a:ext cx="1853184" cy="0"/>
          </a:xfrm>
          <a:prstGeom prst="line">
            <a:avLst/>
          </a:prstGeom>
          <a:noFill/>
          <a:ln w="6350">
            <a:solidFill>
              <a:srgbClr val="C8DCD7"/>
            </a:solidFill>
            <a:prstDash val="solid"/>
          </a:ln>
        </p:spPr>
      </p:sp>
      <p:sp>
        <p:nvSpPr>
          <p:cNvPr id="134" name="Text 130"/>
          <p:cNvSpPr/>
          <p:nvPr/>
        </p:nvSpPr>
        <p:spPr>
          <a:xfrm>
            <a:off x="4648200" y="10186416"/>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Protect shampoo hero-EAN availability first when OSA effort is prioritised.</a:t>
            </a:r>
            <a:endParaRPr lang="en-US" sz="600" dirty="0"/>
          </a:p>
        </p:txBody>
      </p:sp>
      <p:sp>
        <p:nvSpPr>
          <p:cNvPr id="135" name="Text 131"/>
          <p:cNvSpPr/>
          <p:nvPr/>
        </p:nvSpPr>
        <p:spPr>
          <a:xfrm>
            <a:off x="4648200" y="10515600"/>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NKAM + Supply · from 18 Aug</a:t>
            </a:r>
            <a:endParaRPr lang="en-US" sz="620" dirty="0"/>
          </a:p>
        </p:txBody>
      </p:sp>
      <p:sp>
        <p:nvSpPr>
          <p:cNvPr id="136" name="Text 132"/>
          <p:cNvSpPr/>
          <p:nvPr/>
        </p:nvSpPr>
        <p:spPr>
          <a:xfrm>
            <a:off x="265176" y="10844784"/>
            <a:ext cx="6327648" cy="182880"/>
          </a:xfrm>
          <a:prstGeom prst="rect">
            <a:avLst/>
          </a:prstGeom>
          <a:noFill/>
          <a:ln/>
        </p:spPr>
        <p:txBody>
          <a:bodyPr wrap="square" lIns="0" tIns="0" rIns="0" bIns="0" rtlCol="0" anchor="t"/>
          <a:lstStyle/>
          <a:p>
            <a:pPr algn="ctr" indent="0" marL="0">
              <a:buNone/>
            </a:pPr>
            <a:r>
              <a:rPr lang="en-US" sz="680" i="1" dirty="0">
                <a:solidFill>
                  <a:srgbClr val="5F716E"/>
                </a:solidFill>
                <a:latin typeface="Calibri" pitchFamily="34" charset="0"/>
                <a:ea typeface="Calibri" pitchFamily="34" charset="-122"/>
                <a:cs typeface="Calibri" pitchFamily="34" charset="-120"/>
              </a:rPr>
              <a:t>North NPI mix 9.2% | ₹2.78 Cr recoverable at the West / South-1 benchmark</a:t>
            </a:r>
            <a:endParaRPr lang="en-US" sz="6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A"/>
        </a:solidFill>
      </p:bgPr>
    </p:bg>
    <p:spTree>
      <p:nvGrpSpPr>
        <p:cNvPr id="1" name=""/>
        <p:cNvGrpSpPr/>
        <p:nvPr/>
      </p:nvGrpSpPr>
      <p:grpSpPr>
        <a:xfrm>
          <a:off x="0" y="0"/>
          <a:ext cx="0" cy="0"/>
          <a:chOff x="0" y="0"/>
          <a:chExt cx="0" cy="0"/>
        </a:xfrm>
      </p:grpSpPr>
      <p:sp>
        <p:nvSpPr>
          <p:cNvPr id="2" name="Shape 0"/>
          <p:cNvSpPr/>
          <p:nvPr/>
        </p:nvSpPr>
        <p:spPr>
          <a:xfrm>
            <a:off x="0" y="0"/>
            <a:ext cx="6858000" cy="1133856"/>
          </a:xfrm>
          <a:prstGeom prst="rect">
            <a:avLst/>
          </a:prstGeom>
          <a:solidFill>
            <a:srgbClr val="116F68"/>
          </a:solidFill>
          <a:ln/>
        </p:spPr>
      </p:sp>
      <p:sp>
        <p:nvSpPr>
          <p:cNvPr id="3" name="Text 1"/>
          <p:cNvSpPr/>
          <p:nvPr/>
        </p:nvSpPr>
        <p:spPr>
          <a:xfrm>
            <a:off x="365760" y="182880"/>
            <a:ext cx="5641848" cy="548640"/>
          </a:xfrm>
          <a:prstGeom prst="rect">
            <a:avLst/>
          </a:prstGeom>
          <a:noFill/>
          <a:ln/>
        </p:spPr>
        <p:txBody>
          <a:bodyPr wrap="square" lIns="0" tIns="0" rIns="0" bIns="0" rtlCol="0" anchor="ctr"/>
          <a:lstStyle/>
          <a:p>
            <a:pPr indent="0" marL="0">
              <a:lnSpc>
                <a:spcPct val="92000"/>
              </a:lnSpc>
              <a:buNone/>
            </a:pPr>
            <a:r>
              <a:rPr lang="en-US" sz="1850" b="1" dirty="0">
                <a:solidFill>
                  <a:srgbClr val="FFFFFF"/>
                </a:solidFill>
                <a:latin typeface="Calibri Light" pitchFamily="34" charset="0"/>
                <a:ea typeface="Calibri Light" pitchFamily="34" charset="-122"/>
                <a:cs typeface="Calibri Light" pitchFamily="34" charset="-120"/>
              </a:rPr>
              <a:t>South-2: Isolated chain problem</a:t>
            </a:r>
            <a:endParaRPr lang="en-US" sz="1850" dirty="0"/>
          </a:p>
        </p:txBody>
      </p:sp>
      <p:sp>
        <p:nvSpPr>
          <p:cNvPr id="4" name="Text 2"/>
          <p:cNvSpPr/>
          <p:nvPr/>
        </p:nvSpPr>
        <p:spPr>
          <a:xfrm>
            <a:off x="384048" y="786384"/>
            <a:ext cx="5641848" cy="237744"/>
          </a:xfrm>
          <a:prstGeom prst="rect">
            <a:avLst/>
          </a:prstGeom>
          <a:noFill/>
          <a:ln/>
        </p:spPr>
        <p:txBody>
          <a:bodyPr wrap="square" lIns="0" tIns="0" rIns="0" bIns="0" rtlCol="0" anchor="ctr"/>
          <a:lstStyle/>
          <a:p>
            <a:pPr indent="0" marL="0">
              <a:buNone/>
            </a:pPr>
            <a:r>
              <a:rPr lang="en-US" sz="850" dirty="0">
                <a:solidFill>
                  <a:srgbClr val="BFDCD7"/>
                </a:solidFill>
                <a:latin typeface="Calibri" pitchFamily="34" charset="0"/>
                <a:ea typeface="Calibri" pitchFamily="34" charset="-122"/>
                <a:cs typeface="Calibri" pitchFamily="34" charset="-120"/>
              </a:rPr>
              <a:t>MT zone deep dive | July 2026 | ₹ Cr | Modern Trade accounts only</a:t>
            </a:r>
            <a:endParaRPr lang="en-US" sz="850" dirty="0"/>
          </a:p>
        </p:txBody>
      </p:sp>
      <p:sp>
        <p:nvSpPr>
          <p:cNvPr id="5" name="Text 3"/>
          <p:cNvSpPr/>
          <p:nvPr/>
        </p:nvSpPr>
        <p:spPr>
          <a:xfrm>
            <a:off x="6117336" y="365760"/>
            <a:ext cx="402336" cy="237744"/>
          </a:xfrm>
          <a:prstGeom prst="rect">
            <a:avLst/>
          </a:prstGeom>
          <a:noFill/>
          <a:ln/>
        </p:spPr>
        <p:txBody>
          <a:bodyPr wrap="square" lIns="0" tIns="0" rIns="0" bIns="0" rtlCol="0" anchor="t"/>
          <a:lstStyle/>
          <a:p>
            <a:pPr algn="r" indent="0" marL="0">
              <a:buNone/>
            </a:pPr>
            <a:r>
              <a:rPr lang="en-US" sz="950" b="1" dirty="0">
                <a:solidFill>
                  <a:srgbClr val="8FC4BD"/>
                </a:solidFill>
                <a:latin typeface="Calibri" pitchFamily="34" charset="0"/>
                <a:ea typeface="Calibri" pitchFamily="34" charset="-122"/>
                <a:cs typeface="Calibri" pitchFamily="34" charset="-120"/>
              </a:rPr>
              <a:t>10</a:t>
            </a:r>
            <a:endParaRPr lang="en-US" sz="950" dirty="0"/>
          </a:p>
        </p:txBody>
      </p:sp>
      <p:sp>
        <p:nvSpPr>
          <p:cNvPr id="6" name="Shape 4"/>
          <p:cNvSpPr/>
          <p:nvPr/>
        </p:nvSpPr>
        <p:spPr>
          <a:xfrm>
            <a:off x="265176" y="11375136"/>
            <a:ext cx="6327648" cy="420624"/>
          </a:xfrm>
          <a:prstGeom prst="roundRect">
            <a:avLst>
              <a:gd name="adj" fmla="val 6522"/>
            </a:avLst>
          </a:prstGeom>
          <a:solidFill>
            <a:srgbClr val="DFF2ED"/>
          </a:solidFill>
          <a:ln w="9525">
            <a:solidFill>
              <a:srgbClr val="C8DCD7"/>
            </a:solidFill>
            <a:prstDash val="solid"/>
          </a:ln>
        </p:spPr>
      </p:sp>
      <p:sp>
        <p:nvSpPr>
          <p:cNvPr id="7" name="Text 5"/>
          <p:cNvSpPr/>
          <p:nvPr/>
        </p:nvSpPr>
        <p:spPr>
          <a:xfrm>
            <a:off x="374904"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EVIDENCE</a:t>
            </a:r>
            <a:endParaRPr lang="en-US" sz="650" dirty="0"/>
          </a:p>
        </p:txBody>
      </p:sp>
      <p:sp>
        <p:nvSpPr>
          <p:cNvPr id="8" name="Text 6"/>
          <p:cNvSpPr/>
          <p:nvPr/>
        </p:nvSpPr>
        <p:spPr>
          <a:xfrm>
            <a:off x="374904"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moved</a:t>
            </a:r>
            <a:endParaRPr lang="en-US" sz="700" dirty="0"/>
          </a:p>
        </p:txBody>
      </p:sp>
      <p:sp>
        <p:nvSpPr>
          <p:cNvPr id="9" name="Text 7"/>
          <p:cNvSpPr/>
          <p:nvPr/>
        </p:nvSpPr>
        <p:spPr>
          <a:xfrm>
            <a:off x="1901952"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IMPLICATION</a:t>
            </a:r>
            <a:endParaRPr lang="en-US" sz="650" dirty="0"/>
          </a:p>
        </p:txBody>
      </p:sp>
      <p:sp>
        <p:nvSpPr>
          <p:cNvPr id="10" name="Text 8"/>
          <p:cNvSpPr/>
          <p:nvPr/>
        </p:nvSpPr>
        <p:spPr>
          <a:xfrm>
            <a:off x="1901952"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Why it matters</a:t>
            </a:r>
            <a:endParaRPr lang="en-US" sz="700" dirty="0"/>
          </a:p>
        </p:txBody>
      </p:sp>
      <p:sp>
        <p:nvSpPr>
          <p:cNvPr id="11" name="Shape 9"/>
          <p:cNvSpPr/>
          <p:nvPr/>
        </p:nvSpPr>
        <p:spPr>
          <a:xfrm>
            <a:off x="1819656" y="11457432"/>
            <a:ext cx="0" cy="265176"/>
          </a:xfrm>
          <a:prstGeom prst="line">
            <a:avLst/>
          </a:prstGeom>
          <a:noFill/>
          <a:ln w="9525">
            <a:solidFill>
              <a:srgbClr val="C8DCD7"/>
            </a:solidFill>
            <a:prstDash val="solid"/>
          </a:ln>
        </p:spPr>
      </p:sp>
      <p:sp>
        <p:nvSpPr>
          <p:cNvPr id="12" name="Text 10"/>
          <p:cNvSpPr/>
          <p:nvPr/>
        </p:nvSpPr>
        <p:spPr>
          <a:xfrm>
            <a:off x="3429000"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ACTION</a:t>
            </a:r>
            <a:endParaRPr lang="en-US" sz="650" dirty="0"/>
          </a:p>
        </p:txBody>
      </p:sp>
      <p:sp>
        <p:nvSpPr>
          <p:cNvPr id="13" name="Text 11"/>
          <p:cNvSpPr/>
          <p:nvPr/>
        </p:nvSpPr>
        <p:spPr>
          <a:xfrm>
            <a:off x="3429000"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changes now</a:t>
            </a:r>
            <a:endParaRPr lang="en-US" sz="700" dirty="0"/>
          </a:p>
        </p:txBody>
      </p:sp>
      <p:sp>
        <p:nvSpPr>
          <p:cNvPr id="14" name="Shape 12"/>
          <p:cNvSpPr/>
          <p:nvPr/>
        </p:nvSpPr>
        <p:spPr>
          <a:xfrm>
            <a:off x="3346704" y="11457432"/>
            <a:ext cx="0" cy="265176"/>
          </a:xfrm>
          <a:prstGeom prst="line">
            <a:avLst/>
          </a:prstGeom>
          <a:noFill/>
          <a:ln w="9525">
            <a:solidFill>
              <a:srgbClr val="C8DCD7"/>
            </a:solidFill>
            <a:prstDash val="solid"/>
          </a:ln>
        </p:spPr>
      </p:sp>
      <p:sp>
        <p:nvSpPr>
          <p:cNvPr id="15" name="Text 13"/>
          <p:cNvSpPr/>
          <p:nvPr/>
        </p:nvSpPr>
        <p:spPr>
          <a:xfrm>
            <a:off x="4956048"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OWNER</a:t>
            </a:r>
            <a:endParaRPr lang="en-US" sz="650" dirty="0"/>
          </a:p>
        </p:txBody>
      </p:sp>
      <p:sp>
        <p:nvSpPr>
          <p:cNvPr id="16" name="Text 14"/>
          <p:cNvSpPr/>
          <p:nvPr/>
        </p:nvSpPr>
        <p:spPr>
          <a:xfrm>
            <a:off x="4956048"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Who closes it</a:t>
            </a:r>
            <a:endParaRPr lang="en-US" sz="700" dirty="0"/>
          </a:p>
        </p:txBody>
      </p:sp>
      <p:sp>
        <p:nvSpPr>
          <p:cNvPr id="17" name="Shape 15"/>
          <p:cNvSpPr/>
          <p:nvPr/>
        </p:nvSpPr>
        <p:spPr>
          <a:xfrm>
            <a:off x="4873752" y="11457432"/>
            <a:ext cx="0" cy="265176"/>
          </a:xfrm>
          <a:prstGeom prst="line">
            <a:avLst/>
          </a:prstGeom>
          <a:noFill/>
          <a:ln w="9525">
            <a:solidFill>
              <a:srgbClr val="C8DCD7"/>
            </a:solidFill>
            <a:prstDash val="solid"/>
          </a:ln>
        </p:spPr>
      </p:sp>
      <p:sp>
        <p:nvSpPr>
          <p:cNvPr id="18" name="Text 16"/>
          <p:cNvSpPr/>
          <p:nvPr/>
        </p:nvSpPr>
        <p:spPr>
          <a:xfrm>
            <a:off x="301752" y="11887200"/>
            <a:ext cx="6254496" cy="201168"/>
          </a:xfrm>
          <a:prstGeom prst="rect">
            <a:avLst/>
          </a:prstGeom>
          <a:noFill/>
          <a:ln/>
        </p:spPr>
        <p:txBody>
          <a:bodyPr wrap="square" lIns="0" tIns="0" rIns="0" bIns="0" rtlCol="0" anchor="t"/>
          <a:lstStyle/>
          <a:p>
            <a:pPr algn="ctr" indent="0" marL="0">
              <a:buNone/>
            </a:pPr>
            <a:r>
              <a:rPr lang="en-US" sz="650" dirty="0">
                <a:solidFill>
                  <a:srgbClr val="5F716E"/>
                </a:solidFill>
                <a:latin typeface="Calibri" pitchFamily="34" charset="0"/>
                <a:ea typeface="Calibri" pitchFamily="34" charset="-122"/>
                <a:cs typeface="Calibri" pitchFamily="34" charset="-120"/>
              </a:rPr>
              <a:t>July Compiled Offtake (Sheet1) · July'26 primary and distributor secondary · values in ₹ Cr · Zone performance represents Modern Trade accounts only. eB2B and SIS channels are excluded from MT zone sales and reported separately.</a:t>
            </a:r>
            <a:endParaRPr lang="en-US" sz="650" dirty="0"/>
          </a:p>
        </p:txBody>
      </p:sp>
      <p:sp>
        <p:nvSpPr>
          <p:cNvPr id="19" name="Shape 17"/>
          <p:cNvSpPr/>
          <p:nvPr/>
        </p:nvSpPr>
        <p:spPr>
          <a:xfrm>
            <a:off x="265176" y="1261872"/>
            <a:ext cx="1499616" cy="859536"/>
          </a:xfrm>
          <a:prstGeom prst="rect">
            <a:avLst/>
          </a:prstGeom>
          <a:solidFill>
            <a:srgbClr val="FFFFFF"/>
          </a:solidFill>
          <a:ln w="9525">
            <a:solidFill>
              <a:srgbClr val="C8DCD7"/>
            </a:solidFill>
            <a:prstDash val="solid"/>
          </a:ln>
        </p:spPr>
      </p:sp>
      <p:sp>
        <p:nvSpPr>
          <p:cNvPr id="20" name="Shape 18"/>
          <p:cNvSpPr/>
          <p:nvPr/>
        </p:nvSpPr>
        <p:spPr>
          <a:xfrm>
            <a:off x="265176" y="1261872"/>
            <a:ext cx="64008" cy="859536"/>
          </a:xfrm>
          <a:prstGeom prst="rect">
            <a:avLst/>
          </a:prstGeom>
          <a:solidFill>
            <a:srgbClr val="2E7DA8"/>
          </a:solidFill>
          <a:ln/>
        </p:spPr>
      </p:sp>
      <p:sp>
        <p:nvSpPr>
          <p:cNvPr id="21" name="Text 19"/>
          <p:cNvSpPr/>
          <p:nvPr/>
        </p:nvSpPr>
        <p:spPr>
          <a:xfrm>
            <a:off x="420624"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PRIMARY</a:t>
            </a:r>
            <a:endParaRPr lang="en-US" sz="680" dirty="0"/>
          </a:p>
        </p:txBody>
      </p:sp>
      <p:sp>
        <p:nvSpPr>
          <p:cNvPr id="22" name="Text 20"/>
          <p:cNvSpPr/>
          <p:nvPr/>
        </p:nvSpPr>
        <p:spPr>
          <a:xfrm>
            <a:off x="420624" y="1536192"/>
            <a:ext cx="1261872" cy="310896"/>
          </a:xfrm>
          <a:prstGeom prst="rect">
            <a:avLst/>
          </a:prstGeom>
          <a:noFill/>
          <a:ln/>
        </p:spPr>
        <p:txBody>
          <a:bodyPr wrap="square" lIns="0" tIns="0" rIns="0" bIns="0" rtlCol="0" anchor="ctr"/>
          <a:lstStyle/>
          <a:p>
            <a:pPr indent="0" marL="0">
              <a:buNone/>
            </a:pPr>
            <a:r>
              <a:rPr lang="en-US" sz="1550" b="1" dirty="0">
                <a:solidFill>
                  <a:srgbClr val="2E7DA8"/>
                </a:solidFill>
                <a:latin typeface="Calibri Light" pitchFamily="34" charset="0"/>
                <a:ea typeface="Calibri Light" pitchFamily="34" charset="-122"/>
                <a:cs typeface="Calibri Light" pitchFamily="34" charset="-120"/>
              </a:rPr>
              <a:t>₹6.73 Cr</a:t>
            </a:r>
            <a:endParaRPr lang="en-US" sz="1550" dirty="0"/>
          </a:p>
        </p:txBody>
      </p:sp>
      <p:sp>
        <p:nvSpPr>
          <p:cNvPr id="23" name="Text 21"/>
          <p:cNvSpPr/>
          <p:nvPr/>
        </p:nvSpPr>
        <p:spPr>
          <a:xfrm>
            <a:off x="420624"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July billing</a:t>
            </a:r>
            <a:endParaRPr lang="en-US" sz="680" dirty="0"/>
          </a:p>
        </p:txBody>
      </p:sp>
      <p:sp>
        <p:nvSpPr>
          <p:cNvPr id="24" name="Shape 22"/>
          <p:cNvSpPr/>
          <p:nvPr/>
        </p:nvSpPr>
        <p:spPr>
          <a:xfrm>
            <a:off x="1874520" y="1261872"/>
            <a:ext cx="1499616" cy="859536"/>
          </a:xfrm>
          <a:prstGeom prst="rect">
            <a:avLst/>
          </a:prstGeom>
          <a:solidFill>
            <a:srgbClr val="FFFFFF"/>
          </a:solidFill>
          <a:ln w="9525">
            <a:solidFill>
              <a:srgbClr val="C8DCD7"/>
            </a:solidFill>
            <a:prstDash val="solid"/>
          </a:ln>
        </p:spPr>
      </p:sp>
      <p:sp>
        <p:nvSpPr>
          <p:cNvPr id="25" name="Shape 23"/>
          <p:cNvSpPr/>
          <p:nvPr/>
        </p:nvSpPr>
        <p:spPr>
          <a:xfrm>
            <a:off x="1874520" y="1261872"/>
            <a:ext cx="64008" cy="859536"/>
          </a:xfrm>
          <a:prstGeom prst="rect">
            <a:avLst/>
          </a:prstGeom>
          <a:solidFill>
            <a:srgbClr val="28A596"/>
          </a:solidFill>
          <a:ln/>
        </p:spPr>
      </p:sp>
      <p:sp>
        <p:nvSpPr>
          <p:cNvPr id="26" name="Text 24"/>
          <p:cNvSpPr/>
          <p:nvPr/>
        </p:nvSpPr>
        <p:spPr>
          <a:xfrm>
            <a:off x="2029968"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OFFTAKE</a:t>
            </a:r>
            <a:endParaRPr lang="en-US" sz="680" dirty="0"/>
          </a:p>
        </p:txBody>
      </p:sp>
      <p:sp>
        <p:nvSpPr>
          <p:cNvPr id="27" name="Text 25"/>
          <p:cNvSpPr/>
          <p:nvPr/>
        </p:nvSpPr>
        <p:spPr>
          <a:xfrm>
            <a:off x="2029968" y="1536192"/>
            <a:ext cx="1261872" cy="310896"/>
          </a:xfrm>
          <a:prstGeom prst="rect">
            <a:avLst/>
          </a:prstGeom>
          <a:noFill/>
          <a:ln/>
        </p:spPr>
        <p:txBody>
          <a:bodyPr wrap="square" lIns="0" tIns="0" rIns="0" bIns="0" rtlCol="0" anchor="ctr"/>
          <a:lstStyle/>
          <a:p>
            <a:pPr indent="0" marL="0">
              <a:buNone/>
            </a:pPr>
            <a:r>
              <a:rPr lang="en-US" sz="1550" b="1" dirty="0">
                <a:solidFill>
                  <a:srgbClr val="28A596"/>
                </a:solidFill>
                <a:latin typeface="Calibri Light" pitchFamily="34" charset="0"/>
                <a:ea typeface="Calibri Light" pitchFamily="34" charset="-122"/>
                <a:cs typeface="Calibri Light" pitchFamily="34" charset="-120"/>
              </a:rPr>
              <a:t>₹4.87 Cr</a:t>
            </a:r>
            <a:endParaRPr lang="en-US" sz="1550" dirty="0"/>
          </a:p>
        </p:txBody>
      </p:sp>
      <p:sp>
        <p:nvSpPr>
          <p:cNvPr id="28" name="Text 26"/>
          <p:cNvSpPr/>
          <p:nvPr/>
        </p:nvSpPr>
        <p:spPr>
          <a:xfrm>
            <a:off x="2029968"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14.4% mix</a:t>
            </a:r>
            <a:endParaRPr lang="en-US" sz="680" dirty="0"/>
          </a:p>
        </p:txBody>
      </p:sp>
      <p:sp>
        <p:nvSpPr>
          <p:cNvPr id="29" name="Shape 27"/>
          <p:cNvSpPr/>
          <p:nvPr/>
        </p:nvSpPr>
        <p:spPr>
          <a:xfrm>
            <a:off x="3483864" y="1261872"/>
            <a:ext cx="1499616" cy="859536"/>
          </a:xfrm>
          <a:prstGeom prst="rect">
            <a:avLst/>
          </a:prstGeom>
          <a:solidFill>
            <a:srgbClr val="FFFFFF"/>
          </a:solidFill>
          <a:ln w="9525">
            <a:solidFill>
              <a:srgbClr val="C8DCD7"/>
            </a:solidFill>
            <a:prstDash val="solid"/>
          </a:ln>
        </p:spPr>
      </p:sp>
      <p:sp>
        <p:nvSpPr>
          <p:cNvPr id="30" name="Shape 28"/>
          <p:cNvSpPr/>
          <p:nvPr/>
        </p:nvSpPr>
        <p:spPr>
          <a:xfrm>
            <a:off x="3483864" y="1261872"/>
            <a:ext cx="64008" cy="859536"/>
          </a:xfrm>
          <a:prstGeom prst="rect">
            <a:avLst/>
          </a:prstGeom>
          <a:solidFill>
            <a:srgbClr val="F2B84B"/>
          </a:solidFill>
          <a:ln/>
        </p:spPr>
      </p:sp>
      <p:sp>
        <p:nvSpPr>
          <p:cNvPr id="31" name="Text 29"/>
          <p:cNvSpPr/>
          <p:nvPr/>
        </p:nvSpPr>
        <p:spPr>
          <a:xfrm>
            <a:off x="3639312"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CONVERSION</a:t>
            </a:r>
            <a:endParaRPr lang="en-US" sz="680" dirty="0"/>
          </a:p>
        </p:txBody>
      </p:sp>
      <p:sp>
        <p:nvSpPr>
          <p:cNvPr id="32" name="Text 30"/>
          <p:cNvSpPr/>
          <p:nvPr/>
        </p:nvSpPr>
        <p:spPr>
          <a:xfrm>
            <a:off x="3639312" y="1536192"/>
            <a:ext cx="1261872" cy="310896"/>
          </a:xfrm>
          <a:prstGeom prst="rect">
            <a:avLst/>
          </a:prstGeom>
          <a:noFill/>
          <a:ln/>
        </p:spPr>
        <p:txBody>
          <a:bodyPr wrap="square" lIns="0" tIns="0" rIns="0" bIns="0" rtlCol="0" anchor="ctr"/>
          <a:lstStyle/>
          <a:p>
            <a:pPr indent="0" marL="0">
              <a:buNone/>
            </a:pPr>
            <a:r>
              <a:rPr lang="en-US" sz="1750" b="1" dirty="0">
                <a:solidFill>
                  <a:srgbClr val="F2B84B"/>
                </a:solidFill>
                <a:latin typeface="Calibri Light" pitchFamily="34" charset="0"/>
                <a:ea typeface="Calibri Light" pitchFamily="34" charset="-122"/>
                <a:cs typeface="Calibri Light" pitchFamily="34" charset="-120"/>
              </a:rPr>
              <a:t>72.4%</a:t>
            </a:r>
            <a:endParaRPr lang="en-US" sz="1750" dirty="0"/>
          </a:p>
        </p:txBody>
      </p:sp>
      <p:sp>
        <p:nvSpPr>
          <p:cNvPr id="33" name="Text 31"/>
          <p:cNvSpPr/>
          <p:nvPr/>
        </p:nvSpPr>
        <p:spPr>
          <a:xfrm>
            <a:off x="3639312"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flow</a:t>
            </a:r>
            <a:endParaRPr lang="en-US" sz="680" dirty="0"/>
          </a:p>
        </p:txBody>
      </p:sp>
      <p:sp>
        <p:nvSpPr>
          <p:cNvPr id="34" name="Shape 32"/>
          <p:cNvSpPr/>
          <p:nvPr/>
        </p:nvSpPr>
        <p:spPr>
          <a:xfrm>
            <a:off x="5093208" y="1261872"/>
            <a:ext cx="1499616" cy="859536"/>
          </a:xfrm>
          <a:prstGeom prst="rect">
            <a:avLst/>
          </a:prstGeom>
          <a:solidFill>
            <a:srgbClr val="FFFFFF"/>
          </a:solidFill>
          <a:ln w="9525">
            <a:solidFill>
              <a:srgbClr val="C8DCD7"/>
            </a:solidFill>
            <a:prstDash val="solid"/>
          </a:ln>
        </p:spPr>
      </p:sp>
      <p:sp>
        <p:nvSpPr>
          <p:cNvPr id="35" name="Shape 33"/>
          <p:cNvSpPr/>
          <p:nvPr/>
        </p:nvSpPr>
        <p:spPr>
          <a:xfrm>
            <a:off x="5093208" y="1261872"/>
            <a:ext cx="64008" cy="859536"/>
          </a:xfrm>
          <a:prstGeom prst="rect">
            <a:avLst/>
          </a:prstGeom>
          <a:solidFill>
            <a:srgbClr val="F2B84B"/>
          </a:solidFill>
          <a:ln/>
        </p:spPr>
      </p:sp>
      <p:sp>
        <p:nvSpPr>
          <p:cNvPr id="36" name="Text 34"/>
          <p:cNvSpPr/>
          <p:nvPr/>
        </p:nvSpPr>
        <p:spPr>
          <a:xfrm>
            <a:off x="5248656"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GAP</a:t>
            </a:r>
            <a:endParaRPr lang="en-US" sz="680" dirty="0"/>
          </a:p>
        </p:txBody>
      </p:sp>
      <p:sp>
        <p:nvSpPr>
          <p:cNvPr id="37" name="Text 35"/>
          <p:cNvSpPr/>
          <p:nvPr/>
        </p:nvSpPr>
        <p:spPr>
          <a:xfrm>
            <a:off x="5248656" y="1536192"/>
            <a:ext cx="1261872" cy="310896"/>
          </a:xfrm>
          <a:prstGeom prst="rect">
            <a:avLst/>
          </a:prstGeom>
          <a:noFill/>
          <a:ln/>
        </p:spPr>
        <p:txBody>
          <a:bodyPr wrap="square" lIns="0" tIns="0" rIns="0" bIns="0" rtlCol="0" anchor="ctr"/>
          <a:lstStyle/>
          <a:p>
            <a:pPr indent="0" marL="0">
              <a:buNone/>
            </a:pPr>
            <a:r>
              <a:rPr lang="en-US" sz="1550" b="1" dirty="0">
                <a:solidFill>
                  <a:srgbClr val="F2B84B"/>
                </a:solidFill>
                <a:latin typeface="Calibri Light" pitchFamily="34" charset="0"/>
                <a:ea typeface="Calibri Light" pitchFamily="34" charset="-122"/>
                <a:cs typeface="Calibri Light" pitchFamily="34" charset="-120"/>
              </a:rPr>
              <a:t>₹1.85 Cr</a:t>
            </a:r>
            <a:endParaRPr lang="en-US" sz="1550" dirty="0"/>
          </a:p>
        </p:txBody>
      </p:sp>
      <p:sp>
        <p:nvSpPr>
          <p:cNvPr id="38" name="Text 36"/>
          <p:cNvSpPr/>
          <p:nvPr/>
        </p:nvSpPr>
        <p:spPr>
          <a:xfrm>
            <a:off x="5248656"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primary − offtake</a:t>
            </a:r>
            <a:endParaRPr lang="en-US" sz="680" dirty="0"/>
          </a:p>
        </p:txBody>
      </p:sp>
      <p:sp>
        <p:nvSpPr>
          <p:cNvPr id="39" name="Shape 37"/>
          <p:cNvSpPr/>
          <p:nvPr/>
        </p:nvSpPr>
        <p:spPr>
          <a:xfrm>
            <a:off x="265176" y="2231136"/>
            <a:ext cx="6327648" cy="384048"/>
          </a:xfrm>
          <a:prstGeom prst="roundRect">
            <a:avLst>
              <a:gd name="adj" fmla="val 4762"/>
            </a:avLst>
          </a:prstGeom>
          <a:solidFill>
            <a:srgbClr val="DFF2ED"/>
          </a:solidFill>
          <a:ln w="9525">
            <a:solidFill>
              <a:srgbClr val="C8DCD7"/>
            </a:solidFill>
            <a:prstDash val="solid"/>
          </a:ln>
        </p:spPr>
      </p:sp>
      <p:sp>
        <p:nvSpPr>
          <p:cNvPr id="40" name="Text 38"/>
          <p:cNvSpPr/>
          <p:nvPr/>
        </p:nvSpPr>
        <p:spPr>
          <a:xfrm>
            <a:off x="374904" y="2286000"/>
            <a:ext cx="658368" cy="274320"/>
          </a:xfrm>
          <a:prstGeom prst="rect">
            <a:avLst/>
          </a:prstGeom>
          <a:noFill/>
          <a:ln/>
        </p:spPr>
        <p:txBody>
          <a:bodyPr wrap="square" lIns="0" tIns="0" rIns="0" bIns="0" rtlCol="0" anchor="ctr"/>
          <a:lstStyle/>
          <a:p>
            <a:pPr indent="0" marL="0">
              <a:buNone/>
            </a:pPr>
            <a:r>
              <a:rPr lang="en-US" sz="660" b="1" spc="40" kern="0" dirty="0">
                <a:solidFill>
                  <a:srgbClr val="116F68"/>
                </a:solidFill>
                <a:latin typeface="Calibri" pitchFamily="34" charset="0"/>
                <a:ea typeface="Calibri" pitchFamily="34" charset="-122"/>
                <a:cs typeface="Calibri" pitchFamily="34" charset="-120"/>
              </a:rPr>
              <a:t>PRIORITY</a:t>
            </a:r>
            <a:endParaRPr lang="en-US" sz="660" dirty="0"/>
          </a:p>
        </p:txBody>
      </p:sp>
      <p:sp>
        <p:nvSpPr>
          <p:cNvPr id="41" name="Text 39"/>
          <p:cNvSpPr/>
          <p:nvPr/>
        </p:nvSpPr>
        <p:spPr>
          <a:xfrm>
            <a:off x="1088136" y="2286000"/>
            <a:ext cx="5394960" cy="274320"/>
          </a:xfrm>
          <a:prstGeom prst="rect">
            <a:avLst/>
          </a:prstGeom>
          <a:noFill/>
          <a:ln/>
        </p:spPr>
        <p:txBody>
          <a:bodyPr wrap="square" lIns="0" tIns="0" rIns="0" bIns="0" rtlCol="0" anchor="ctr"/>
          <a:lstStyle/>
          <a:p>
            <a:pPr indent="0" marL="0">
              <a:buNone/>
            </a:pPr>
            <a:r>
              <a:rPr lang="en-US" sz="740" b="1" dirty="0">
                <a:solidFill>
                  <a:srgbClr val="183B39"/>
                </a:solidFill>
                <a:latin typeface="Calibri" pitchFamily="34" charset="0"/>
                <a:ea typeface="Calibri" pitchFamily="34" charset="-122"/>
                <a:cs typeface="Calibri" pitchFamily="34" charset="-120"/>
              </a:rPr>
              <a:t>One weak cell (DMart) inside an otherwise functioning zone</a:t>
            </a:r>
            <a:endParaRPr lang="en-US" sz="740" dirty="0"/>
          </a:p>
        </p:txBody>
      </p:sp>
      <p:sp>
        <p:nvSpPr>
          <p:cNvPr id="42" name="Text 40"/>
          <p:cNvSpPr/>
          <p:nvPr/>
        </p:nvSpPr>
        <p:spPr>
          <a:xfrm>
            <a:off x="265176" y="2743200"/>
            <a:ext cx="3090672"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Mamaearth — top 3 sub-categories (₹ Cr, Feb–Jul)</a:t>
            </a:r>
            <a:endParaRPr lang="en-US" sz="720" dirty="0"/>
          </a:p>
        </p:txBody>
      </p:sp>
      <p:graphicFrame>
        <p:nvGraphicFramePr>
          <p:cNvPr id="43" name="Chart 0" descr=""/>
          <p:cNvGraphicFramePr/>
          <p:nvPr/>
        </p:nvGraphicFramePr>
        <p:xfrm>
          <a:off x="246888" y="2944368"/>
          <a:ext cx="3090672" cy="1499616"/>
        </p:xfrm>
        <a:graphic xmlns:a="http://schemas.openxmlformats.org/drawingml/2006/main">
          <a:graphicData uri="http://schemas.openxmlformats.org/drawingml/2006/chart">
            <c:chart xmlns:c="http://schemas.openxmlformats.org/drawingml/2006/chart" r:id="rId1"/>
          </a:graphicData>
        </a:graphic>
      </p:graphicFrame>
      <p:sp>
        <p:nvSpPr>
          <p:cNvPr id="44" name="Text 41"/>
          <p:cNvSpPr/>
          <p:nvPr/>
        </p:nvSpPr>
        <p:spPr>
          <a:xfrm>
            <a:off x="3502152" y="2743200"/>
            <a:ext cx="3090672"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The Derma Co. — top 3 sub-categories (₹ Cr, Feb–Jul)</a:t>
            </a:r>
            <a:endParaRPr lang="en-US" sz="720" dirty="0"/>
          </a:p>
        </p:txBody>
      </p:sp>
      <p:graphicFrame>
        <p:nvGraphicFramePr>
          <p:cNvPr id="45" name="Chart 1" descr=""/>
          <p:cNvGraphicFramePr/>
          <p:nvPr/>
        </p:nvGraphicFramePr>
        <p:xfrm>
          <a:off x="3483864" y="2944368"/>
          <a:ext cx="3090672" cy="1499616"/>
        </p:xfrm>
        <a:graphic xmlns:a="http://schemas.openxmlformats.org/drawingml/2006/main">
          <a:graphicData uri="http://schemas.openxmlformats.org/drawingml/2006/chart">
            <c:chart xmlns:c="http://schemas.openxmlformats.org/drawingml/2006/chart" r:id="rId2"/>
          </a:graphicData>
        </a:graphic>
      </p:graphicFrame>
      <p:sp>
        <p:nvSpPr>
          <p:cNvPr id="46" name="Shape 42"/>
          <p:cNvSpPr/>
          <p:nvPr/>
        </p:nvSpPr>
        <p:spPr>
          <a:xfrm>
            <a:off x="265176" y="4553712"/>
            <a:ext cx="2036064" cy="1773936"/>
          </a:xfrm>
          <a:prstGeom prst="roundRect">
            <a:avLst>
              <a:gd name="adj" fmla="val 1031"/>
            </a:avLst>
          </a:prstGeom>
          <a:solidFill>
            <a:srgbClr val="FFFFFF"/>
          </a:solidFill>
          <a:ln w="9525">
            <a:solidFill>
              <a:srgbClr val="C8DCD7"/>
            </a:solidFill>
            <a:prstDash val="solid"/>
          </a:ln>
        </p:spPr>
      </p:sp>
      <p:sp>
        <p:nvSpPr>
          <p:cNvPr id="47" name="Shape 43"/>
          <p:cNvSpPr/>
          <p:nvPr/>
        </p:nvSpPr>
        <p:spPr>
          <a:xfrm>
            <a:off x="265176" y="4553712"/>
            <a:ext cx="2036064" cy="274320"/>
          </a:xfrm>
          <a:prstGeom prst="rect">
            <a:avLst/>
          </a:prstGeom>
          <a:solidFill>
            <a:srgbClr val="116F68"/>
          </a:solidFill>
          <a:ln/>
        </p:spPr>
      </p:sp>
      <p:sp>
        <p:nvSpPr>
          <p:cNvPr id="48" name="Text 44"/>
          <p:cNvSpPr/>
          <p:nvPr/>
        </p:nvSpPr>
        <p:spPr>
          <a:xfrm>
            <a:off x="347472" y="457200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TOP CHAINS</a:t>
            </a:r>
            <a:endParaRPr lang="en-US" sz="700" dirty="0"/>
          </a:p>
        </p:txBody>
      </p:sp>
      <p:sp>
        <p:nvSpPr>
          <p:cNvPr id="49" name="Text 45"/>
          <p:cNvSpPr/>
          <p:nvPr/>
        </p:nvSpPr>
        <p:spPr>
          <a:xfrm>
            <a:off x="356616" y="4919472"/>
            <a:ext cx="1258824" cy="310896"/>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1. DMart</a:t>
            </a:r>
            <a:endParaRPr lang="en-US" sz="700" dirty="0"/>
          </a:p>
        </p:txBody>
      </p:sp>
      <p:sp>
        <p:nvSpPr>
          <p:cNvPr id="50" name="Text 46"/>
          <p:cNvSpPr/>
          <p:nvPr/>
        </p:nvSpPr>
        <p:spPr>
          <a:xfrm>
            <a:off x="1588008" y="4919472"/>
            <a:ext cx="621792" cy="155448"/>
          </a:xfrm>
          <a:prstGeom prst="rect">
            <a:avLst/>
          </a:prstGeom>
          <a:noFill/>
          <a:ln/>
        </p:spPr>
        <p:txBody>
          <a:bodyPr wrap="square" lIns="0" tIns="0" rIns="0" bIns="0" rtlCol="0" anchor="t"/>
          <a:lstStyle/>
          <a:p>
            <a:pPr algn="r" indent="0" marL="0">
              <a:buNone/>
            </a:pPr>
            <a:r>
              <a:rPr lang="en-US" sz="700" b="1" dirty="0">
                <a:solidFill>
                  <a:srgbClr val="116F68"/>
                </a:solidFill>
                <a:latin typeface="Calibri" pitchFamily="34" charset="0"/>
                <a:ea typeface="Calibri" pitchFamily="34" charset="-122"/>
                <a:cs typeface="Calibri" pitchFamily="34" charset="-120"/>
              </a:rPr>
              <a:t>₹1.95 Cr</a:t>
            </a:r>
            <a:endParaRPr lang="en-US" sz="700" dirty="0"/>
          </a:p>
        </p:txBody>
      </p:sp>
      <p:sp>
        <p:nvSpPr>
          <p:cNvPr id="51" name="Text 47"/>
          <p:cNvSpPr/>
          <p:nvPr/>
        </p:nvSpPr>
        <p:spPr>
          <a:xfrm>
            <a:off x="1588008" y="5074920"/>
            <a:ext cx="621792" cy="146304"/>
          </a:xfrm>
          <a:prstGeom prst="rect">
            <a:avLst/>
          </a:prstGeom>
          <a:noFill/>
          <a:ln/>
        </p:spPr>
        <p:txBody>
          <a:bodyPr wrap="square" lIns="0" tIns="0" rIns="0" bIns="0" rtlCol="0" anchor="t"/>
          <a:lstStyle/>
          <a:p>
            <a:pPr algn="r" indent="0" marL="0">
              <a:buNone/>
            </a:pPr>
            <a:r>
              <a:rPr lang="en-US" sz="620" dirty="0">
                <a:solidFill>
                  <a:srgbClr val="5F716E"/>
                </a:solidFill>
                <a:latin typeface="Calibri" pitchFamily="34" charset="0"/>
                <a:ea typeface="Calibri" pitchFamily="34" charset="-122"/>
                <a:cs typeface="Calibri" pitchFamily="34" charset="-120"/>
              </a:rPr>
              <a:t>45.1%</a:t>
            </a:r>
            <a:endParaRPr lang="en-US" sz="620" dirty="0"/>
          </a:p>
        </p:txBody>
      </p:sp>
      <p:sp>
        <p:nvSpPr>
          <p:cNvPr id="52" name="Text 48"/>
          <p:cNvSpPr/>
          <p:nvPr/>
        </p:nvSpPr>
        <p:spPr>
          <a:xfrm>
            <a:off x="356616" y="5266944"/>
            <a:ext cx="1258824" cy="310896"/>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2. Apollo</a:t>
            </a:r>
            <a:endParaRPr lang="en-US" sz="700" dirty="0"/>
          </a:p>
        </p:txBody>
      </p:sp>
      <p:sp>
        <p:nvSpPr>
          <p:cNvPr id="53" name="Text 49"/>
          <p:cNvSpPr/>
          <p:nvPr/>
        </p:nvSpPr>
        <p:spPr>
          <a:xfrm>
            <a:off x="1588008" y="5266944"/>
            <a:ext cx="621792" cy="155448"/>
          </a:xfrm>
          <a:prstGeom prst="rect">
            <a:avLst/>
          </a:prstGeom>
          <a:noFill/>
          <a:ln/>
        </p:spPr>
        <p:txBody>
          <a:bodyPr wrap="square" lIns="0" tIns="0" rIns="0" bIns="0" rtlCol="0" anchor="t"/>
          <a:lstStyle/>
          <a:p>
            <a:pPr algn="r" indent="0" marL="0">
              <a:buNone/>
            </a:pPr>
            <a:r>
              <a:rPr lang="en-US" sz="700" b="1" dirty="0">
                <a:solidFill>
                  <a:srgbClr val="116F68"/>
                </a:solidFill>
                <a:latin typeface="Calibri" pitchFamily="34" charset="0"/>
                <a:ea typeface="Calibri" pitchFamily="34" charset="-122"/>
                <a:cs typeface="Calibri" pitchFamily="34" charset="-120"/>
              </a:rPr>
              <a:t>₹1.64 Cr</a:t>
            </a:r>
            <a:endParaRPr lang="en-US" sz="700" dirty="0"/>
          </a:p>
        </p:txBody>
      </p:sp>
      <p:sp>
        <p:nvSpPr>
          <p:cNvPr id="54" name="Text 50"/>
          <p:cNvSpPr/>
          <p:nvPr/>
        </p:nvSpPr>
        <p:spPr>
          <a:xfrm>
            <a:off x="1588008" y="5422392"/>
            <a:ext cx="621792" cy="146304"/>
          </a:xfrm>
          <a:prstGeom prst="rect">
            <a:avLst/>
          </a:prstGeom>
          <a:noFill/>
          <a:ln/>
        </p:spPr>
        <p:txBody>
          <a:bodyPr wrap="square" lIns="0" tIns="0" rIns="0" bIns="0" rtlCol="0" anchor="t"/>
          <a:lstStyle/>
          <a:p>
            <a:pPr algn="r" indent="0" marL="0">
              <a:buNone/>
            </a:pPr>
            <a:r>
              <a:rPr lang="en-US" sz="620" dirty="0">
                <a:solidFill>
                  <a:srgbClr val="F2B84B"/>
                </a:solidFill>
                <a:latin typeface="Calibri" pitchFamily="34" charset="0"/>
                <a:ea typeface="Calibri" pitchFamily="34" charset="-122"/>
                <a:cs typeface="Calibri" pitchFamily="34" charset="-120"/>
              </a:rPr>
              <a:t>over 100%</a:t>
            </a:r>
            <a:endParaRPr lang="en-US" sz="620" dirty="0"/>
          </a:p>
        </p:txBody>
      </p:sp>
      <p:sp>
        <p:nvSpPr>
          <p:cNvPr id="55" name="Text 51"/>
          <p:cNvSpPr/>
          <p:nvPr/>
        </p:nvSpPr>
        <p:spPr>
          <a:xfrm>
            <a:off x="356616" y="5614416"/>
            <a:ext cx="1258824" cy="310896"/>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3. Reliance</a:t>
            </a:r>
            <a:endParaRPr lang="en-US" sz="700" dirty="0"/>
          </a:p>
        </p:txBody>
      </p:sp>
      <p:sp>
        <p:nvSpPr>
          <p:cNvPr id="56" name="Text 52"/>
          <p:cNvSpPr/>
          <p:nvPr/>
        </p:nvSpPr>
        <p:spPr>
          <a:xfrm>
            <a:off x="1588008" y="5614416"/>
            <a:ext cx="621792" cy="155448"/>
          </a:xfrm>
          <a:prstGeom prst="rect">
            <a:avLst/>
          </a:prstGeom>
          <a:noFill/>
          <a:ln/>
        </p:spPr>
        <p:txBody>
          <a:bodyPr wrap="square" lIns="0" tIns="0" rIns="0" bIns="0" rtlCol="0" anchor="t"/>
          <a:lstStyle/>
          <a:p>
            <a:pPr algn="r" indent="0" marL="0">
              <a:buNone/>
            </a:pPr>
            <a:r>
              <a:rPr lang="en-US" sz="700" b="1" dirty="0">
                <a:solidFill>
                  <a:srgbClr val="116F68"/>
                </a:solidFill>
                <a:latin typeface="Calibri" pitchFamily="34" charset="0"/>
                <a:ea typeface="Calibri" pitchFamily="34" charset="-122"/>
                <a:cs typeface="Calibri" pitchFamily="34" charset="-120"/>
              </a:rPr>
              <a:t>₹0.67 Cr</a:t>
            </a:r>
            <a:endParaRPr lang="en-US" sz="700" dirty="0"/>
          </a:p>
        </p:txBody>
      </p:sp>
      <p:sp>
        <p:nvSpPr>
          <p:cNvPr id="57" name="Text 53"/>
          <p:cNvSpPr/>
          <p:nvPr/>
        </p:nvSpPr>
        <p:spPr>
          <a:xfrm>
            <a:off x="1588008" y="5769864"/>
            <a:ext cx="621792" cy="146304"/>
          </a:xfrm>
          <a:prstGeom prst="rect">
            <a:avLst/>
          </a:prstGeom>
          <a:noFill/>
          <a:ln/>
        </p:spPr>
        <p:txBody>
          <a:bodyPr wrap="square" lIns="0" tIns="0" rIns="0" bIns="0" rtlCol="0" anchor="t"/>
          <a:lstStyle/>
          <a:p>
            <a:pPr algn="r" indent="0" marL="0">
              <a:buNone/>
            </a:pPr>
            <a:r>
              <a:rPr lang="en-US" sz="620" dirty="0">
                <a:solidFill>
                  <a:srgbClr val="5F716E"/>
                </a:solidFill>
                <a:latin typeface="Calibri" pitchFamily="34" charset="0"/>
                <a:ea typeface="Calibri" pitchFamily="34" charset="-122"/>
                <a:cs typeface="Calibri" pitchFamily="34" charset="-120"/>
              </a:rPr>
              <a:t>82.5%</a:t>
            </a:r>
            <a:endParaRPr lang="en-US" sz="620" dirty="0"/>
          </a:p>
        </p:txBody>
      </p:sp>
      <p:sp>
        <p:nvSpPr>
          <p:cNvPr id="58" name="Shape 54"/>
          <p:cNvSpPr/>
          <p:nvPr/>
        </p:nvSpPr>
        <p:spPr>
          <a:xfrm>
            <a:off x="2410968" y="4553712"/>
            <a:ext cx="2036064" cy="1773936"/>
          </a:xfrm>
          <a:prstGeom prst="roundRect">
            <a:avLst>
              <a:gd name="adj" fmla="val 1031"/>
            </a:avLst>
          </a:prstGeom>
          <a:solidFill>
            <a:srgbClr val="FFFFFF"/>
          </a:solidFill>
          <a:ln w="9525">
            <a:solidFill>
              <a:srgbClr val="C8DCD7"/>
            </a:solidFill>
            <a:prstDash val="solid"/>
          </a:ln>
        </p:spPr>
      </p:sp>
      <p:sp>
        <p:nvSpPr>
          <p:cNvPr id="59" name="Shape 55"/>
          <p:cNvSpPr/>
          <p:nvPr/>
        </p:nvSpPr>
        <p:spPr>
          <a:xfrm>
            <a:off x="2410968" y="4553712"/>
            <a:ext cx="2036064" cy="274320"/>
          </a:xfrm>
          <a:prstGeom prst="rect">
            <a:avLst/>
          </a:prstGeom>
          <a:solidFill>
            <a:srgbClr val="2E7DA8"/>
          </a:solidFill>
          <a:ln/>
        </p:spPr>
      </p:sp>
      <p:sp>
        <p:nvSpPr>
          <p:cNvPr id="60" name="Text 56"/>
          <p:cNvSpPr/>
          <p:nvPr/>
        </p:nvSpPr>
        <p:spPr>
          <a:xfrm>
            <a:off x="2493264" y="457200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TOP STATES</a:t>
            </a:r>
            <a:endParaRPr lang="en-US" sz="700" dirty="0"/>
          </a:p>
        </p:txBody>
      </p:sp>
      <p:sp>
        <p:nvSpPr>
          <p:cNvPr id="61" name="Text 57"/>
          <p:cNvSpPr/>
          <p:nvPr/>
        </p:nvSpPr>
        <p:spPr>
          <a:xfrm>
            <a:off x="2502408" y="4919472"/>
            <a:ext cx="1304544" cy="292608"/>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1. Telangana</a:t>
            </a:r>
            <a:endParaRPr lang="en-US" sz="700" dirty="0"/>
          </a:p>
        </p:txBody>
      </p:sp>
      <p:sp>
        <p:nvSpPr>
          <p:cNvPr id="62" name="Text 58"/>
          <p:cNvSpPr/>
          <p:nvPr/>
        </p:nvSpPr>
        <p:spPr>
          <a:xfrm>
            <a:off x="3770376" y="4919472"/>
            <a:ext cx="585216" cy="182880"/>
          </a:xfrm>
          <a:prstGeom prst="rect">
            <a:avLst/>
          </a:prstGeom>
          <a:noFill/>
          <a:ln/>
        </p:spPr>
        <p:txBody>
          <a:bodyPr wrap="square" lIns="0" tIns="0" rIns="0" bIns="0" rtlCol="0" anchor="t"/>
          <a:lstStyle/>
          <a:p>
            <a:pPr algn="r" indent="0" marL="0">
              <a:buNone/>
            </a:pPr>
            <a:r>
              <a:rPr lang="en-US" sz="700" b="1" dirty="0">
                <a:solidFill>
                  <a:srgbClr val="2E7DA8"/>
                </a:solidFill>
                <a:latin typeface="Calibri" pitchFamily="34" charset="0"/>
                <a:ea typeface="Calibri" pitchFamily="34" charset="-122"/>
                <a:cs typeface="Calibri" pitchFamily="34" charset="-120"/>
              </a:rPr>
              <a:t>₹2.56 Cr</a:t>
            </a:r>
            <a:endParaRPr lang="en-US" sz="700" dirty="0"/>
          </a:p>
        </p:txBody>
      </p:sp>
      <p:sp>
        <p:nvSpPr>
          <p:cNvPr id="63" name="Text 59"/>
          <p:cNvSpPr/>
          <p:nvPr/>
        </p:nvSpPr>
        <p:spPr>
          <a:xfrm>
            <a:off x="2502408" y="5248656"/>
            <a:ext cx="1304544" cy="292608"/>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2. Andhra Pradesh</a:t>
            </a:r>
            <a:endParaRPr lang="en-US" sz="700" dirty="0"/>
          </a:p>
        </p:txBody>
      </p:sp>
      <p:sp>
        <p:nvSpPr>
          <p:cNvPr id="64" name="Text 60"/>
          <p:cNvSpPr/>
          <p:nvPr/>
        </p:nvSpPr>
        <p:spPr>
          <a:xfrm>
            <a:off x="3770376" y="5248656"/>
            <a:ext cx="585216" cy="182880"/>
          </a:xfrm>
          <a:prstGeom prst="rect">
            <a:avLst/>
          </a:prstGeom>
          <a:noFill/>
          <a:ln/>
        </p:spPr>
        <p:txBody>
          <a:bodyPr wrap="square" lIns="0" tIns="0" rIns="0" bIns="0" rtlCol="0" anchor="t"/>
          <a:lstStyle/>
          <a:p>
            <a:pPr algn="r" indent="0" marL="0">
              <a:buNone/>
            </a:pPr>
            <a:r>
              <a:rPr lang="en-US" sz="700" b="1" dirty="0">
                <a:solidFill>
                  <a:srgbClr val="2E7DA8"/>
                </a:solidFill>
                <a:latin typeface="Calibri" pitchFamily="34" charset="0"/>
                <a:ea typeface="Calibri" pitchFamily="34" charset="-122"/>
                <a:cs typeface="Calibri" pitchFamily="34" charset="-120"/>
              </a:rPr>
              <a:t>₹2.35 Cr</a:t>
            </a:r>
            <a:endParaRPr lang="en-US" sz="700" dirty="0"/>
          </a:p>
        </p:txBody>
      </p:sp>
      <p:sp>
        <p:nvSpPr>
          <p:cNvPr id="65" name="Shape 61"/>
          <p:cNvSpPr/>
          <p:nvPr/>
        </p:nvSpPr>
        <p:spPr>
          <a:xfrm>
            <a:off x="4556760" y="4553712"/>
            <a:ext cx="2036064" cy="1773936"/>
          </a:xfrm>
          <a:prstGeom prst="roundRect">
            <a:avLst>
              <a:gd name="adj" fmla="val 1031"/>
            </a:avLst>
          </a:prstGeom>
          <a:solidFill>
            <a:srgbClr val="FFFFFF"/>
          </a:solidFill>
          <a:ln w="9525">
            <a:solidFill>
              <a:srgbClr val="C8DCD7"/>
            </a:solidFill>
            <a:prstDash val="solid"/>
          </a:ln>
        </p:spPr>
      </p:sp>
      <p:sp>
        <p:nvSpPr>
          <p:cNvPr id="66" name="Shape 62"/>
          <p:cNvSpPr/>
          <p:nvPr/>
        </p:nvSpPr>
        <p:spPr>
          <a:xfrm>
            <a:off x="4556760" y="4553712"/>
            <a:ext cx="2036064" cy="274320"/>
          </a:xfrm>
          <a:prstGeom prst="rect">
            <a:avLst/>
          </a:prstGeom>
          <a:solidFill>
            <a:srgbClr val="28A596"/>
          </a:solidFill>
          <a:ln/>
        </p:spPr>
      </p:sp>
      <p:sp>
        <p:nvSpPr>
          <p:cNvPr id="67" name="Text 63"/>
          <p:cNvSpPr/>
          <p:nvPr/>
        </p:nvSpPr>
        <p:spPr>
          <a:xfrm>
            <a:off x="4639056" y="457200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BRAND × SUB-CATEGORY</a:t>
            </a:r>
            <a:endParaRPr lang="en-US" sz="700" dirty="0"/>
          </a:p>
        </p:txBody>
      </p:sp>
      <p:sp>
        <p:nvSpPr>
          <p:cNvPr id="68" name="Text 64"/>
          <p:cNvSpPr/>
          <p:nvPr/>
        </p:nvSpPr>
        <p:spPr>
          <a:xfrm>
            <a:off x="4648200" y="4919472"/>
            <a:ext cx="1853184" cy="155448"/>
          </a:xfrm>
          <a:prstGeom prst="rect">
            <a:avLst/>
          </a:prstGeom>
          <a:noFill/>
          <a:ln/>
        </p:spPr>
        <p:txBody>
          <a:bodyPr wrap="square" lIns="0" tIns="0" rIns="0" bIns="0" rtlCol="0" anchor="t"/>
          <a:lstStyle/>
          <a:p>
            <a:pPr indent="0" marL="0">
              <a:buNone/>
            </a:pPr>
            <a:r>
              <a:rPr lang="en-US" sz="680" b="1" dirty="0">
                <a:solidFill>
                  <a:srgbClr val="28A596"/>
                </a:solidFill>
                <a:latin typeface="Calibri" pitchFamily="34" charset="0"/>
                <a:ea typeface="Calibri" pitchFamily="34" charset="-122"/>
                <a:cs typeface="Calibri" pitchFamily="34" charset="-120"/>
              </a:rPr>
              <a:t>Mamaearth ₹3.74 Cr</a:t>
            </a:r>
            <a:endParaRPr lang="en-US" sz="680" dirty="0"/>
          </a:p>
        </p:txBody>
      </p:sp>
      <p:sp>
        <p:nvSpPr>
          <p:cNvPr id="69" name="Text 65"/>
          <p:cNvSpPr/>
          <p:nvPr/>
        </p:nvSpPr>
        <p:spPr>
          <a:xfrm>
            <a:off x="4684776" y="5093208"/>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Face Cleanser</a:t>
            </a:r>
            <a:endParaRPr lang="en-US" sz="630" dirty="0"/>
          </a:p>
        </p:txBody>
      </p:sp>
      <p:sp>
        <p:nvSpPr>
          <p:cNvPr id="70" name="Text 66"/>
          <p:cNvSpPr/>
          <p:nvPr/>
        </p:nvSpPr>
        <p:spPr>
          <a:xfrm>
            <a:off x="6007608" y="5093208"/>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₹1.04</a:t>
            </a:r>
            <a:endParaRPr lang="en-US" sz="630" dirty="0"/>
          </a:p>
        </p:txBody>
      </p:sp>
      <p:sp>
        <p:nvSpPr>
          <p:cNvPr id="71" name="Text 67"/>
          <p:cNvSpPr/>
          <p:nvPr/>
        </p:nvSpPr>
        <p:spPr>
          <a:xfrm>
            <a:off x="4684776" y="5248656"/>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Shampoo</a:t>
            </a:r>
            <a:endParaRPr lang="en-US" sz="630" dirty="0"/>
          </a:p>
        </p:txBody>
      </p:sp>
      <p:sp>
        <p:nvSpPr>
          <p:cNvPr id="72" name="Text 68"/>
          <p:cNvSpPr/>
          <p:nvPr/>
        </p:nvSpPr>
        <p:spPr>
          <a:xfrm>
            <a:off x="6007608" y="5248656"/>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₹0.94</a:t>
            </a:r>
            <a:endParaRPr lang="en-US" sz="630" dirty="0"/>
          </a:p>
        </p:txBody>
      </p:sp>
      <p:sp>
        <p:nvSpPr>
          <p:cNvPr id="73" name="Text 69"/>
          <p:cNvSpPr/>
          <p:nvPr/>
        </p:nvSpPr>
        <p:spPr>
          <a:xfrm>
            <a:off x="4684776" y="5404104"/>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Sun Care</a:t>
            </a:r>
            <a:endParaRPr lang="en-US" sz="630" dirty="0"/>
          </a:p>
        </p:txBody>
      </p:sp>
      <p:sp>
        <p:nvSpPr>
          <p:cNvPr id="74" name="Text 70"/>
          <p:cNvSpPr/>
          <p:nvPr/>
        </p:nvSpPr>
        <p:spPr>
          <a:xfrm>
            <a:off x="6007608" y="5404104"/>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₹0.14</a:t>
            </a:r>
            <a:endParaRPr lang="en-US" sz="630" dirty="0"/>
          </a:p>
        </p:txBody>
      </p:sp>
      <p:sp>
        <p:nvSpPr>
          <p:cNvPr id="75" name="Text 71"/>
          <p:cNvSpPr/>
          <p:nvPr/>
        </p:nvSpPr>
        <p:spPr>
          <a:xfrm>
            <a:off x="4648200" y="5605272"/>
            <a:ext cx="1853184" cy="155448"/>
          </a:xfrm>
          <a:prstGeom prst="rect">
            <a:avLst/>
          </a:prstGeom>
          <a:noFill/>
          <a:ln/>
        </p:spPr>
        <p:txBody>
          <a:bodyPr wrap="square" lIns="0" tIns="0" rIns="0" bIns="0" rtlCol="0" anchor="t"/>
          <a:lstStyle/>
          <a:p>
            <a:pPr indent="0" marL="0">
              <a:buNone/>
            </a:pPr>
            <a:r>
              <a:rPr lang="en-US" sz="680" b="1" dirty="0">
                <a:solidFill>
                  <a:srgbClr val="2E7DA8"/>
                </a:solidFill>
                <a:latin typeface="Calibri" pitchFamily="34" charset="0"/>
                <a:ea typeface="Calibri" pitchFamily="34" charset="-122"/>
                <a:cs typeface="Calibri" pitchFamily="34" charset="-120"/>
              </a:rPr>
              <a:t>The Derma Co. ₹1.11 Cr</a:t>
            </a:r>
            <a:endParaRPr lang="en-US" sz="680" dirty="0"/>
          </a:p>
        </p:txBody>
      </p:sp>
      <p:sp>
        <p:nvSpPr>
          <p:cNvPr id="76" name="Text 72"/>
          <p:cNvSpPr/>
          <p:nvPr/>
        </p:nvSpPr>
        <p:spPr>
          <a:xfrm>
            <a:off x="4684776" y="5779008"/>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Face Cleanser</a:t>
            </a:r>
            <a:endParaRPr lang="en-US" sz="630" dirty="0"/>
          </a:p>
        </p:txBody>
      </p:sp>
      <p:sp>
        <p:nvSpPr>
          <p:cNvPr id="77" name="Text 73"/>
          <p:cNvSpPr/>
          <p:nvPr/>
        </p:nvSpPr>
        <p:spPr>
          <a:xfrm>
            <a:off x="6007608" y="5779008"/>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₹0.56</a:t>
            </a:r>
            <a:endParaRPr lang="en-US" sz="630" dirty="0"/>
          </a:p>
        </p:txBody>
      </p:sp>
      <p:sp>
        <p:nvSpPr>
          <p:cNvPr id="78" name="Text 74"/>
          <p:cNvSpPr/>
          <p:nvPr/>
        </p:nvSpPr>
        <p:spPr>
          <a:xfrm>
            <a:off x="4684776" y="5934456"/>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Sun Care</a:t>
            </a:r>
            <a:endParaRPr lang="en-US" sz="630" dirty="0"/>
          </a:p>
        </p:txBody>
      </p:sp>
      <p:sp>
        <p:nvSpPr>
          <p:cNvPr id="79" name="Text 75"/>
          <p:cNvSpPr/>
          <p:nvPr/>
        </p:nvSpPr>
        <p:spPr>
          <a:xfrm>
            <a:off x="6007608" y="5934456"/>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₹0.20</a:t>
            </a:r>
            <a:endParaRPr lang="en-US" sz="630" dirty="0"/>
          </a:p>
        </p:txBody>
      </p:sp>
      <p:sp>
        <p:nvSpPr>
          <p:cNvPr id="80" name="Text 76"/>
          <p:cNvSpPr/>
          <p:nvPr/>
        </p:nvSpPr>
        <p:spPr>
          <a:xfrm>
            <a:off x="4684776" y="6089904"/>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Face Serum</a:t>
            </a:r>
            <a:endParaRPr lang="en-US" sz="630" dirty="0"/>
          </a:p>
        </p:txBody>
      </p:sp>
      <p:sp>
        <p:nvSpPr>
          <p:cNvPr id="81" name="Text 77"/>
          <p:cNvSpPr/>
          <p:nvPr/>
        </p:nvSpPr>
        <p:spPr>
          <a:xfrm>
            <a:off x="6007608" y="6089904"/>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₹0.05</a:t>
            </a:r>
            <a:endParaRPr lang="en-US" sz="630" dirty="0"/>
          </a:p>
        </p:txBody>
      </p:sp>
      <p:sp>
        <p:nvSpPr>
          <p:cNvPr id="82" name="Shape 78"/>
          <p:cNvSpPr/>
          <p:nvPr/>
        </p:nvSpPr>
        <p:spPr>
          <a:xfrm>
            <a:off x="265176" y="6437376"/>
            <a:ext cx="6327648" cy="274320"/>
          </a:xfrm>
          <a:prstGeom prst="roundRect">
            <a:avLst>
              <a:gd name="adj" fmla="val 6667"/>
            </a:avLst>
          </a:prstGeom>
          <a:solidFill>
            <a:srgbClr val="FDF6E6"/>
          </a:solidFill>
          <a:ln w="9525">
            <a:solidFill>
              <a:srgbClr val="F2B84B"/>
            </a:solidFill>
            <a:prstDash val="solid"/>
          </a:ln>
        </p:spPr>
      </p:sp>
      <p:sp>
        <p:nvSpPr>
          <p:cNvPr id="83" name="Text 79"/>
          <p:cNvSpPr/>
          <p:nvPr/>
        </p:nvSpPr>
        <p:spPr>
          <a:xfrm>
            <a:off x="374904" y="6473952"/>
            <a:ext cx="6108192" cy="219456"/>
          </a:xfrm>
          <a:prstGeom prst="rect">
            <a:avLst/>
          </a:prstGeom>
          <a:noFill/>
          <a:ln/>
        </p:spPr>
        <p:txBody>
          <a:bodyPr wrap="square" lIns="0" tIns="0" rIns="0" bIns="0" rtlCol="0" anchor="ctr"/>
          <a:lstStyle/>
          <a:p>
            <a:pPr indent="0" marL="0">
              <a:buNone/>
            </a:pPr>
            <a:r>
              <a:rPr lang="en-US" sz="660" b="1" dirty="0">
                <a:solidFill>
                  <a:srgbClr val="F2B84B"/>
                </a:solidFill>
                <a:latin typeface="Calibri" pitchFamily="34" charset="0"/>
                <a:ea typeface="Calibri" pitchFamily="34" charset="-122"/>
                <a:cs typeface="Calibri" pitchFamily="34" charset="-120"/>
              </a:rPr>
              <a:t>NPI   </a:t>
            </a:r>
            <a:pPr indent="0" marL="0">
              <a:buNone/>
            </a:pPr>
            <a:r>
              <a:rPr lang="en-US" sz="700" dirty="0">
                <a:solidFill>
                  <a:srgbClr val="183B39"/>
                </a:solidFill>
                <a:latin typeface="Calibri" pitchFamily="34" charset="0"/>
                <a:ea typeface="Calibri" pitchFamily="34" charset="-122"/>
                <a:cs typeface="Calibri" pitchFamily="34" charset="-120"/>
              </a:rPr>
              <a:t>₹0.31 Cr · 6.4% of zone — lowest NPI value nationally</a:t>
            </a:r>
            <a:endParaRPr lang="en-US" sz="660" dirty="0"/>
          </a:p>
        </p:txBody>
      </p:sp>
      <p:sp>
        <p:nvSpPr>
          <p:cNvPr id="84" name="Shape 80"/>
          <p:cNvSpPr/>
          <p:nvPr/>
        </p:nvSpPr>
        <p:spPr>
          <a:xfrm>
            <a:off x="265176" y="6821424"/>
            <a:ext cx="6327648" cy="256032"/>
          </a:xfrm>
          <a:prstGeom prst="rect">
            <a:avLst/>
          </a:prstGeom>
          <a:solidFill>
            <a:srgbClr val="F2B84B"/>
          </a:solidFill>
          <a:ln/>
        </p:spPr>
      </p:sp>
      <p:sp>
        <p:nvSpPr>
          <p:cNvPr id="85" name="Text 81"/>
          <p:cNvSpPr/>
          <p:nvPr/>
        </p:nvSpPr>
        <p:spPr>
          <a:xfrm>
            <a:off x="374904" y="6839712"/>
            <a:ext cx="6108192" cy="219456"/>
          </a:xfrm>
          <a:prstGeom prst="rect">
            <a:avLst/>
          </a:prstGeom>
          <a:noFill/>
          <a:ln/>
        </p:spPr>
        <p:txBody>
          <a:bodyPr wrap="square" lIns="0" tIns="0" rIns="0" bIns="0" rtlCol="0" anchor="ctr"/>
          <a:lstStyle/>
          <a:p>
            <a:pPr indent="0" marL="0">
              <a:buNone/>
            </a:pPr>
            <a:r>
              <a:rPr lang="en-US" sz="720" b="1" spc="60" kern="0" dirty="0">
                <a:solidFill>
                  <a:srgbClr val="FFFFFF"/>
                </a:solidFill>
                <a:latin typeface="Calibri" pitchFamily="34" charset="0"/>
                <a:ea typeface="Calibri" pitchFamily="34" charset="-122"/>
                <a:cs typeface="Calibri" pitchFamily="34" charset="-120"/>
              </a:rPr>
              <a:t>SIX DIAGNOSED EXCEPTIONS — CAUSE, ACTION AND OWNER</a:t>
            </a:r>
            <a:endParaRPr lang="en-US" sz="720" dirty="0"/>
          </a:p>
        </p:txBody>
      </p:sp>
      <p:sp>
        <p:nvSpPr>
          <p:cNvPr id="86" name="Shape 82"/>
          <p:cNvSpPr/>
          <p:nvPr/>
        </p:nvSpPr>
        <p:spPr>
          <a:xfrm>
            <a:off x="265176" y="7168896"/>
            <a:ext cx="2036064" cy="1700784"/>
          </a:xfrm>
          <a:prstGeom prst="roundRect">
            <a:avLst>
              <a:gd name="adj" fmla="val 1075"/>
            </a:avLst>
          </a:prstGeom>
          <a:solidFill>
            <a:srgbClr val="FFFFFF"/>
          </a:solidFill>
          <a:ln w="9525">
            <a:solidFill>
              <a:srgbClr val="C8DCD7"/>
            </a:solidFill>
            <a:prstDash val="solid"/>
          </a:ln>
        </p:spPr>
      </p:sp>
      <p:sp>
        <p:nvSpPr>
          <p:cNvPr id="87" name="Shape 83"/>
          <p:cNvSpPr/>
          <p:nvPr/>
        </p:nvSpPr>
        <p:spPr>
          <a:xfrm>
            <a:off x="265176" y="7168896"/>
            <a:ext cx="2036064" cy="41148"/>
          </a:xfrm>
          <a:prstGeom prst="rect">
            <a:avLst/>
          </a:prstGeom>
          <a:solidFill>
            <a:srgbClr val="D6544D"/>
          </a:solidFill>
          <a:ln/>
        </p:spPr>
      </p:sp>
      <p:sp>
        <p:nvSpPr>
          <p:cNvPr id="88" name="Text 84"/>
          <p:cNvSpPr/>
          <p:nvPr/>
        </p:nvSpPr>
        <p:spPr>
          <a:xfrm>
            <a:off x="356616" y="7251192"/>
            <a:ext cx="1853184" cy="137160"/>
          </a:xfrm>
          <a:prstGeom prst="rect">
            <a:avLst/>
          </a:prstGeom>
          <a:noFill/>
          <a:ln/>
        </p:spPr>
        <p:txBody>
          <a:bodyPr wrap="square" lIns="0" tIns="0" rIns="0" bIns="0" rtlCol="0" anchor="t"/>
          <a:lstStyle/>
          <a:p>
            <a:pPr indent="0" marL="0">
              <a:buNone/>
            </a:pPr>
            <a:r>
              <a:rPr lang="en-US" sz="620" b="1" spc="50" kern="0" dirty="0">
                <a:solidFill>
                  <a:srgbClr val="D6544D"/>
                </a:solidFill>
                <a:latin typeface="Calibri" pitchFamily="34" charset="0"/>
                <a:ea typeface="Calibri" pitchFamily="34" charset="-122"/>
                <a:cs typeface="Calibri" pitchFamily="34" charset="-120"/>
              </a:rPr>
              <a:t>ROOT CAUSE</a:t>
            </a:r>
            <a:endParaRPr lang="en-US" sz="620" dirty="0"/>
          </a:p>
        </p:txBody>
      </p:sp>
      <p:sp>
        <p:nvSpPr>
          <p:cNvPr id="89" name="Text 85"/>
          <p:cNvSpPr/>
          <p:nvPr/>
        </p:nvSpPr>
        <p:spPr>
          <a:xfrm>
            <a:off x="356616" y="7397496"/>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DMart South-2 converts at 45.1% — half its national rate</a:t>
            </a:r>
            <a:endParaRPr lang="en-US" sz="740" dirty="0"/>
          </a:p>
        </p:txBody>
      </p:sp>
      <p:sp>
        <p:nvSpPr>
          <p:cNvPr id="90" name="Text 86"/>
          <p:cNvSpPr/>
          <p:nvPr/>
        </p:nvSpPr>
        <p:spPr>
          <a:xfrm>
            <a:off x="356616" y="7735824"/>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DMart runs 94.2% in West and 77.9% in North. At 45.1% here the account is behaving unlike itself, which points at a regional DC or fill problem rather than the chain relationship.</a:t>
            </a:r>
            <a:endParaRPr lang="en-US" sz="650" dirty="0"/>
          </a:p>
        </p:txBody>
      </p:sp>
      <p:sp>
        <p:nvSpPr>
          <p:cNvPr id="91" name="Shape 87"/>
          <p:cNvSpPr/>
          <p:nvPr/>
        </p:nvSpPr>
        <p:spPr>
          <a:xfrm>
            <a:off x="356616" y="8330184"/>
            <a:ext cx="1853184" cy="0"/>
          </a:xfrm>
          <a:prstGeom prst="line">
            <a:avLst/>
          </a:prstGeom>
          <a:noFill/>
          <a:ln w="6350">
            <a:solidFill>
              <a:srgbClr val="C8DCD7"/>
            </a:solidFill>
            <a:prstDash val="solid"/>
          </a:ln>
        </p:spPr>
      </p:sp>
      <p:sp>
        <p:nvSpPr>
          <p:cNvPr id="92" name="Text 88"/>
          <p:cNvSpPr/>
          <p:nvPr/>
        </p:nvSpPr>
        <p:spPr>
          <a:xfrm>
            <a:off x="356616" y="8375904"/>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Audit DMart South-2 DC-to-store fill rate against the West benchmark.</a:t>
            </a:r>
            <a:endParaRPr lang="en-US" sz="600" dirty="0"/>
          </a:p>
        </p:txBody>
      </p:sp>
      <p:sp>
        <p:nvSpPr>
          <p:cNvPr id="93" name="Text 89"/>
          <p:cNvSpPr/>
          <p:nvPr/>
        </p:nvSpPr>
        <p:spPr>
          <a:xfrm>
            <a:off x="356616" y="8705088"/>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NKAM DMart + Supply · 22 Aug</a:t>
            </a:r>
            <a:endParaRPr lang="en-US" sz="620" dirty="0"/>
          </a:p>
        </p:txBody>
      </p:sp>
      <p:sp>
        <p:nvSpPr>
          <p:cNvPr id="94" name="Shape 90"/>
          <p:cNvSpPr/>
          <p:nvPr/>
        </p:nvSpPr>
        <p:spPr>
          <a:xfrm>
            <a:off x="2410968" y="7168896"/>
            <a:ext cx="2036064" cy="1700784"/>
          </a:xfrm>
          <a:prstGeom prst="roundRect">
            <a:avLst>
              <a:gd name="adj" fmla="val 1075"/>
            </a:avLst>
          </a:prstGeom>
          <a:solidFill>
            <a:srgbClr val="FFFFFF"/>
          </a:solidFill>
          <a:ln w="9525">
            <a:solidFill>
              <a:srgbClr val="C8DCD7"/>
            </a:solidFill>
            <a:prstDash val="solid"/>
          </a:ln>
        </p:spPr>
      </p:sp>
      <p:sp>
        <p:nvSpPr>
          <p:cNvPr id="95" name="Shape 91"/>
          <p:cNvSpPr/>
          <p:nvPr/>
        </p:nvSpPr>
        <p:spPr>
          <a:xfrm>
            <a:off x="2410968" y="7168896"/>
            <a:ext cx="2036064" cy="41148"/>
          </a:xfrm>
          <a:prstGeom prst="rect">
            <a:avLst/>
          </a:prstGeom>
          <a:solidFill>
            <a:srgbClr val="F2B84B"/>
          </a:solidFill>
          <a:ln/>
        </p:spPr>
      </p:sp>
      <p:sp>
        <p:nvSpPr>
          <p:cNvPr id="96" name="Text 92"/>
          <p:cNvSpPr/>
          <p:nvPr/>
        </p:nvSpPr>
        <p:spPr>
          <a:xfrm>
            <a:off x="2502408" y="7251192"/>
            <a:ext cx="1853184" cy="137160"/>
          </a:xfrm>
          <a:prstGeom prst="rect">
            <a:avLst/>
          </a:prstGeom>
          <a:noFill/>
          <a:ln/>
        </p:spPr>
        <p:txBody>
          <a:bodyPr wrap="square" lIns="0" tIns="0" rIns="0" bIns="0" rtlCol="0" anchor="t"/>
          <a:lstStyle/>
          <a:p>
            <a:pPr indent="0" marL="0">
              <a:buNone/>
            </a:pPr>
            <a:r>
              <a:rPr lang="en-US" sz="620" b="1" spc="50" kern="0" dirty="0">
                <a:solidFill>
                  <a:srgbClr val="F2B84B"/>
                </a:solidFill>
                <a:latin typeface="Calibri" pitchFamily="34" charset="0"/>
                <a:ea typeface="Calibri" pitchFamily="34" charset="-122"/>
                <a:cs typeface="Calibri" pitchFamily="34" charset="-120"/>
              </a:rPr>
              <a:t>DATA</a:t>
            </a:r>
            <a:endParaRPr lang="en-US" sz="620" dirty="0"/>
          </a:p>
        </p:txBody>
      </p:sp>
      <p:sp>
        <p:nvSpPr>
          <p:cNvPr id="97" name="Text 93"/>
          <p:cNvSpPr/>
          <p:nvPr/>
        </p:nvSpPr>
        <p:spPr>
          <a:xfrm>
            <a:off x="2502408" y="7397496"/>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Apollo South-2 reported at 148.5% conversion</a:t>
            </a:r>
            <a:endParaRPr lang="en-US" sz="740" dirty="0"/>
          </a:p>
        </p:txBody>
      </p:sp>
      <p:sp>
        <p:nvSpPr>
          <p:cNvPr id="98" name="Text 94"/>
          <p:cNvSpPr/>
          <p:nvPr/>
        </p:nvSpPr>
        <p:spPr>
          <a:xfrm>
            <a:off x="2502408" y="7735824"/>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The highest ratio in the pack. Offtake exceeding primary by half means opening stock or a billing-period mismatch, not performance — and it inflates the zone average.</a:t>
            </a:r>
            <a:endParaRPr lang="en-US" sz="650" dirty="0"/>
          </a:p>
        </p:txBody>
      </p:sp>
      <p:sp>
        <p:nvSpPr>
          <p:cNvPr id="99" name="Shape 95"/>
          <p:cNvSpPr/>
          <p:nvPr/>
        </p:nvSpPr>
        <p:spPr>
          <a:xfrm>
            <a:off x="2502408" y="8330184"/>
            <a:ext cx="1853184" cy="0"/>
          </a:xfrm>
          <a:prstGeom prst="line">
            <a:avLst/>
          </a:prstGeom>
          <a:noFill/>
          <a:ln w="6350">
            <a:solidFill>
              <a:srgbClr val="C8DCD7"/>
            </a:solidFill>
            <a:prstDash val="solid"/>
          </a:ln>
        </p:spPr>
      </p:sp>
      <p:sp>
        <p:nvSpPr>
          <p:cNvPr id="100" name="Text 96"/>
          <p:cNvSpPr/>
          <p:nvPr/>
        </p:nvSpPr>
        <p:spPr>
          <a:xfrm>
            <a:off x="2502408" y="8375904"/>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Reconcile Apollo South-2 opening stock and billing cut-off before quoting zone conversion.</a:t>
            </a:r>
            <a:endParaRPr lang="en-US" sz="600" dirty="0"/>
          </a:p>
        </p:txBody>
      </p:sp>
      <p:sp>
        <p:nvSpPr>
          <p:cNvPr id="101" name="Text 97"/>
          <p:cNvSpPr/>
          <p:nvPr/>
        </p:nvSpPr>
        <p:spPr>
          <a:xfrm>
            <a:off x="2502408" y="8705088"/>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Analyst · 18 Aug</a:t>
            </a:r>
            <a:endParaRPr lang="en-US" sz="620" dirty="0"/>
          </a:p>
        </p:txBody>
      </p:sp>
      <p:sp>
        <p:nvSpPr>
          <p:cNvPr id="102" name="Shape 98"/>
          <p:cNvSpPr/>
          <p:nvPr/>
        </p:nvSpPr>
        <p:spPr>
          <a:xfrm>
            <a:off x="4556760" y="7168896"/>
            <a:ext cx="2036064" cy="1700784"/>
          </a:xfrm>
          <a:prstGeom prst="roundRect">
            <a:avLst>
              <a:gd name="adj" fmla="val 1075"/>
            </a:avLst>
          </a:prstGeom>
          <a:solidFill>
            <a:srgbClr val="FFFFFF"/>
          </a:solidFill>
          <a:ln w="9525">
            <a:solidFill>
              <a:srgbClr val="C8DCD7"/>
            </a:solidFill>
            <a:prstDash val="solid"/>
          </a:ln>
        </p:spPr>
      </p:sp>
      <p:sp>
        <p:nvSpPr>
          <p:cNvPr id="103" name="Shape 99"/>
          <p:cNvSpPr/>
          <p:nvPr/>
        </p:nvSpPr>
        <p:spPr>
          <a:xfrm>
            <a:off x="4556760" y="7168896"/>
            <a:ext cx="2036064" cy="41148"/>
          </a:xfrm>
          <a:prstGeom prst="rect">
            <a:avLst/>
          </a:prstGeom>
          <a:solidFill>
            <a:srgbClr val="116F68"/>
          </a:solidFill>
          <a:ln/>
        </p:spPr>
      </p:sp>
      <p:sp>
        <p:nvSpPr>
          <p:cNvPr id="104" name="Text 100"/>
          <p:cNvSpPr/>
          <p:nvPr/>
        </p:nvSpPr>
        <p:spPr>
          <a:xfrm>
            <a:off x="4648200" y="7251192"/>
            <a:ext cx="1853184" cy="137160"/>
          </a:xfrm>
          <a:prstGeom prst="rect">
            <a:avLst/>
          </a:prstGeom>
          <a:noFill/>
          <a:ln/>
        </p:spPr>
        <p:txBody>
          <a:bodyPr wrap="square" lIns="0" tIns="0" rIns="0" bIns="0" rtlCol="0" anchor="t"/>
          <a:lstStyle/>
          <a:p>
            <a:pPr indent="0" marL="0">
              <a:buNone/>
            </a:pPr>
            <a:r>
              <a:rPr lang="en-US" sz="620" b="1" spc="50" kern="0" dirty="0">
                <a:solidFill>
                  <a:srgbClr val="116F68"/>
                </a:solidFill>
                <a:latin typeface="Calibri" pitchFamily="34" charset="0"/>
                <a:ea typeface="Calibri" pitchFamily="34" charset="-122"/>
                <a:cs typeface="Calibri" pitchFamily="34" charset="-120"/>
              </a:rPr>
              <a:t>SIZING</a:t>
            </a:r>
            <a:endParaRPr lang="en-US" sz="620" dirty="0"/>
          </a:p>
        </p:txBody>
      </p:sp>
      <p:sp>
        <p:nvSpPr>
          <p:cNvPr id="105" name="Text 101"/>
          <p:cNvSpPr/>
          <p:nvPr/>
        </p:nvSpPr>
        <p:spPr>
          <a:xfrm>
            <a:off x="4648200" y="7397496"/>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₹0.89 Cr recoverable, almost all of it inside DMart</a:t>
            </a:r>
            <a:endParaRPr lang="en-US" sz="740" dirty="0"/>
          </a:p>
        </p:txBody>
      </p:sp>
      <p:sp>
        <p:nvSpPr>
          <p:cNvPr id="106" name="Text 102"/>
          <p:cNvSpPr/>
          <p:nvPr/>
        </p:nvSpPr>
        <p:spPr>
          <a:xfrm>
            <a:off x="4648200" y="7735824"/>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At benchmark conversion the zone delivers ₹5.72 Cr against ₹4.91 Cr actual. The DMart cell alone accounts for the majority of the shortfall.</a:t>
            </a:r>
            <a:endParaRPr lang="en-US" sz="650" dirty="0"/>
          </a:p>
        </p:txBody>
      </p:sp>
      <p:sp>
        <p:nvSpPr>
          <p:cNvPr id="107" name="Shape 103"/>
          <p:cNvSpPr/>
          <p:nvPr/>
        </p:nvSpPr>
        <p:spPr>
          <a:xfrm>
            <a:off x="4648200" y="8330184"/>
            <a:ext cx="1853184" cy="0"/>
          </a:xfrm>
          <a:prstGeom prst="line">
            <a:avLst/>
          </a:prstGeom>
          <a:noFill/>
          <a:ln w="6350">
            <a:solidFill>
              <a:srgbClr val="C8DCD7"/>
            </a:solidFill>
            <a:prstDash val="solid"/>
          </a:ln>
        </p:spPr>
      </p:sp>
      <p:sp>
        <p:nvSpPr>
          <p:cNvPr id="108" name="Text 104"/>
          <p:cNvSpPr/>
          <p:nvPr/>
        </p:nvSpPr>
        <p:spPr>
          <a:xfrm>
            <a:off x="4648200" y="8375904"/>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Scope the South-2 recovery as a single-account project, not a zone programme.</a:t>
            </a:r>
            <a:endParaRPr lang="en-US" sz="600" dirty="0"/>
          </a:p>
        </p:txBody>
      </p:sp>
      <p:sp>
        <p:nvSpPr>
          <p:cNvPr id="109" name="Text 105"/>
          <p:cNvSpPr/>
          <p:nvPr/>
        </p:nvSpPr>
        <p:spPr>
          <a:xfrm>
            <a:off x="4648200" y="8705088"/>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South-2 RKAM · 25 Aug</a:t>
            </a:r>
            <a:endParaRPr lang="en-US" sz="620" dirty="0"/>
          </a:p>
        </p:txBody>
      </p:sp>
      <p:sp>
        <p:nvSpPr>
          <p:cNvPr id="110" name="Shape 106"/>
          <p:cNvSpPr/>
          <p:nvPr/>
        </p:nvSpPr>
        <p:spPr>
          <a:xfrm>
            <a:off x="265176" y="8979408"/>
            <a:ext cx="2036064" cy="1700784"/>
          </a:xfrm>
          <a:prstGeom prst="roundRect">
            <a:avLst>
              <a:gd name="adj" fmla="val 1075"/>
            </a:avLst>
          </a:prstGeom>
          <a:solidFill>
            <a:srgbClr val="FFFFFF"/>
          </a:solidFill>
          <a:ln w="9525">
            <a:solidFill>
              <a:srgbClr val="C8DCD7"/>
            </a:solidFill>
            <a:prstDash val="solid"/>
          </a:ln>
        </p:spPr>
      </p:sp>
      <p:sp>
        <p:nvSpPr>
          <p:cNvPr id="111" name="Shape 107"/>
          <p:cNvSpPr/>
          <p:nvPr/>
        </p:nvSpPr>
        <p:spPr>
          <a:xfrm>
            <a:off x="265176" y="8979408"/>
            <a:ext cx="2036064" cy="41148"/>
          </a:xfrm>
          <a:prstGeom prst="rect">
            <a:avLst/>
          </a:prstGeom>
          <a:solidFill>
            <a:srgbClr val="F2B84B"/>
          </a:solidFill>
          <a:ln/>
        </p:spPr>
      </p:sp>
      <p:sp>
        <p:nvSpPr>
          <p:cNvPr id="112" name="Text 108"/>
          <p:cNvSpPr/>
          <p:nvPr/>
        </p:nvSpPr>
        <p:spPr>
          <a:xfrm>
            <a:off x="356616" y="9061704"/>
            <a:ext cx="1853184" cy="137160"/>
          </a:xfrm>
          <a:prstGeom prst="rect">
            <a:avLst/>
          </a:prstGeom>
          <a:noFill/>
          <a:ln/>
        </p:spPr>
        <p:txBody>
          <a:bodyPr wrap="square" lIns="0" tIns="0" rIns="0" bIns="0" rtlCol="0" anchor="t"/>
          <a:lstStyle/>
          <a:p>
            <a:pPr indent="0" marL="0">
              <a:buNone/>
            </a:pPr>
            <a:r>
              <a:rPr lang="en-US" sz="620" b="1" spc="50" kern="0" dirty="0">
                <a:solidFill>
                  <a:srgbClr val="F2B84B"/>
                </a:solidFill>
                <a:latin typeface="Calibri" pitchFamily="34" charset="0"/>
                <a:ea typeface="Calibri" pitchFamily="34" charset="-122"/>
                <a:cs typeface="Calibri" pitchFamily="34" charset="-120"/>
              </a:rPr>
              <a:t>CONCENTRATION</a:t>
            </a:r>
            <a:endParaRPr lang="en-US" sz="620" dirty="0"/>
          </a:p>
        </p:txBody>
      </p:sp>
      <p:sp>
        <p:nvSpPr>
          <p:cNvPr id="113" name="Text 109"/>
          <p:cNvSpPr/>
          <p:nvPr/>
        </p:nvSpPr>
        <p:spPr>
          <a:xfrm>
            <a:off x="356616" y="9208008"/>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Only two material states in the zone cut</a:t>
            </a:r>
            <a:endParaRPr lang="en-US" sz="740" dirty="0"/>
          </a:p>
        </p:txBody>
      </p:sp>
      <p:sp>
        <p:nvSpPr>
          <p:cNvPr id="114" name="Text 110"/>
          <p:cNvSpPr/>
          <p:nvPr/>
        </p:nvSpPr>
        <p:spPr>
          <a:xfrm>
            <a:off x="356616" y="9546336"/>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Telangana ₹2.56 Cr and Andhra Pradesh ₹2.35 Cr are the whole zone. The source pack described "top three states at 100%" while listing two — a reporting artefact worth correcting.</a:t>
            </a:r>
            <a:endParaRPr lang="en-US" sz="650" dirty="0"/>
          </a:p>
        </p:txBody>
      </p:sp>
      <p:sp>
        <p:nvSpPr>
          <p:cNvPr id="115" name="Shape 111"/>
          <p:cNvSpPr/>
          <p:nvPr/>
        </p:nvSpPr>
        <p:spPr>
          <a:xfrm>
            <a:off x="356616" y="10140696"/>
            <a:ext cx="1853184" cy="0"/>
          </a:xfrm>
          <a:prstGeom prst="line">
            <a:avLst/>
          </a:prstGeom>
          <a:noFill/>
          <a:ln w="6350">
            <a:solidFill>
              <a:srgbClr val="C8DCD7"/>
            </a:solidFill>
            <a:prstDash val="solid"/>
          </a:ln>
        </p:spPr>
      </p:sp>
      <p:sp>
        <p:nvSpPr>
          <p:cNvPr id="116" name="Text 112"/>
          <p:cNvSpPr/>
          <p:nvPr/>
        </p:nvSpPr>
        <p:spPr>
          <a:xfrm>
            <a:off x="356616" y="10186416"/>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Correct the state-count logic in the build script.</a:t>
            </a:r>
            <a:endParaRPr lang="en-US" sz="600" dirty="0"/>
          </a:p>
        </p:txBody>
      </p:sp>
      <p:sp>
        <p:nvSpPr>
          <p:cNvPr id="117" name="Text 113"/>
          <p:cNvSpPr/>
          <p:nvPr/>
        </p:nvSpPr>
        <p:spPr>
          <a:xfrm>
            <a:off x="356616" y="10515600"/>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Analyst · 18 Aug</a:t>
            </a:r>
            <a:endParaRPr lang="en-US" sz="620" dirty="0"/>
          </a:p>
        </p:txBody>
      </p:sp>
      <p:sp>
        <p:nvSpPr>
          <p:cNvPr id="118" name="Shape 114"/>
          <p:cNvSpPr/>
          <p:nvPr/>
        </p:nvSpPr>
        <p:spPr>
          <a:xfrm>
            <a:off x="2410968" y="8979408"/>
            <a:ext cx="2036064" cy="1700784"/>
          </a:xfrm>
          <a:prstGeom prst="roundRect">
            <a:avLst>
              <a:gd name="adj" fmla="val 1075"/>
            </a:avLst>
          </a:prstGeom>
          <a:solidFill>
            <a:srgbClr val="FFFFFF"/>
          </a:solidFill>
          <a:ln w="9525">
            <a:solidFill>
              <a:srgbClr val="C8DCD7"/>
            </a:solidFill>
            <a:prstDash val="solid"/>
          </a:ln>
        </p:spPr>
      </p:sp>
      <p:sp>
        <p:nvSpPr>
          <p:cNvPr id="119" name="Shape 115"/>
          <p:cNvSpPr/>
          <p:nvPr/>
        </p:nvSpPr>
        <p:spPr>
          <a:xfrm>
            <a:off x="2410968" y="8979408"/>
            <a:ext cx="2036064" cy="41148"/>
          </a:xfrm>
          <a:prstGeom prst="rect">
            <a:avLst/>
          </a:prstGeom>
          <a:solidFill>
            <a:srgbClr val="116F68"/>
          </a:solidFill>
          <a:ln/>
        </p:spPr>
      </p:sp>
      <p:sp>
        <p:nvSpPr>
          <p:cNvPr id="120" name="Text 116"/>
          <p:cNvSpPr/>
          <p:nvPr/>
        </p:nvSpPr>
        <p:spPr>
          <a:xfrm>
            <a:off x="2502408" y="9061704"/>
            <a:ext cx="1853184" cy="137160"/>
          </a:xfrm>
          <a:prstGeom prst="rect">
            <a:avLst/>
          </a:prstGeom>
          <a:noFill/>
          <a:ln/>
        </p:spPr>
        <p:txBody>
          <a:bodyPr wrap="square" lIns="0" tIns="0" rIns="0" bIns="0" rtlCol="0" anchor="t"/>
          <a:lstStyle/>
          <a:p>
            <a:pPr indent="0" marL="0">
              <a:buNone/>
            </a:pPr>
            <a:r>
              <a:rPr lang="en-US" sz="620" b="1" spc="50" kern="0" dirty="0">
                <a:solidFill>
                  <a:srgbClr val="116F68"/>
                </a:solidFill>
                <a:latin typeface="Calibri" pitchFamily="34" charset="0"/>
                <a:ea typeface="Calibri" pitchFamily="34" charset="-122"/>
                <a:cs typeface="Calibri" pitchFamily="34" charset="-120"/>
              </a:rPr>
              <a:t>PORTFOLIO</a:t>
            </a:r>
            <a:endParaRPr lang="en-US" sz="620" dirty="0"/>
          </a:p>
        </p:txBody>
      </p:sp>
      <p:sp>
        <p:nvSpPr>
          <p:cNvPr id="121" name="Text 117"/>
          <p:cNvSpPr/>
          <p:nvPr/>
        </p:nvSpPr>
        <p:spPr>
          <a:xfrm>
            <a:off x="2502408" y="9208008"/>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The Derma Co. is under-developed at ₹1.11 Cr</a:t>
            </a:r>
            <a:endParaRPr lang="en-US" sz="740" dirty="0"/>
          </a:p>
        </p:txBody>
      </p:sp>
      <p:sp>
        <p:nvSpPr>
          <p:cNvPr id="122" name="Text 118"/>
          <p:cNvSpPr/>
          <p:nvPr/>
        </p:nvSpPr>
        <p:spPr>
          <a:xfrm>
            <a:off x="2502408" y="9546336"/>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TDC earns 22.6% of zone offtake against 39.4% in West. The gap is distribution-led rather than demand-led given TDC strength in neighbouring South-1.</a:t>
            </a:r>
            <a:endParaRPr lang="en-US" sz="650" dirty="0"/>
          </a:p>
        </p:txBody>
      </p:sp>
      <p:sp>
        <p:nvSpPr>
          <p:cNvPr id="123" name="Shape 119"/>
          <p:cNvSpPr/>
          <p:nvPr/>
        </p:nvSpPr>
        <p:spPr>
          <a:xfrm>
            <a:off x="2502408" y="10140696"/>
            <a:ext cx="1853184" cy="0"/>
          </a:xfrm>
          <a:prstGeom prst="line">
            <a:avLst/>
          </a:prstGeom>
          <a:noFill/>
          <a:ln w="6350">
            <a:solidFill>
              <a:srgbClr val="C8DCD7"/>
            </a:solidFill>
            <a:prstDash val="solid"/>
          </a:ln>
        </p:spPr>
      </p:sp>
      <p:sp>
        <p:nvSpPr>
          <p:cNvPr id="124" name="Text 120"/>
          <p:cNvSpPr/>
          <p:nvPr/>
        </p:nvSpPr>
        <p:spPr>
          <a:xfrm>
            <a:off x="2502408" y="10186416"/>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Size the TDC listing white space in South-2 Apollo and Reliance doors.</a:t>
            </a:r>
            <a:endParaRPr lang="en-US" sz="600" dirty="0"/>
          </a:p>
        </p:txBody>
      </p:sp>
      <p:sp>
        <p:nvSpPr>
          <p:cNvPr id="125" name="Text 121"/>
          <p:cNvSpPr/>
          <p:nvPr/>
        </p:nvSpPr>
        <p:spPr>
          <a:xfrm>
            <a:off x="2502408" y="10515600"/>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Category + RKAM · 15 Sep</a:t>
            </a:r>
            <a:endParaRPr lang="en-US" sz="620" dirty="0"/>
          </a:p>
        </p:txBody>
      </p:sp>
      <p:sp>
        <p:nvSpPr>
          <p:cNvPr id="126" name="Shape 122"/>
          <p:cNvSpPr/>
          <p:nvPr/>
        </p:nvSpPr>
        <p:spPr>
          <a:xfrm>
            <a:off x="4556760" y="8979408"/>
            <a:ext cx="2036064" cy="1700784"/>
          </a:xfrm>
          <a:prstGeom prst="roundRect">
            <a:avLst>
              <a:gd name="adj" fmla="val 1075"/>
            </a:avLst>
          </a:prstGeom>
          <a:solidFill>
            <a:srgbClr val="FFFFFF"/>
          </a:solidFill>
          <a:ln w="9525">
            <a:solidFill>
              <a:srgbClr val="C8DCD7"/>
            </a:solidFill>
            <a:prstDash val="solid"/>
          </a:ln>
        </p:spPr>
      </p:sp>
      <p:sp>
        <p:nvSpPr>
          <p:cNvPr id="127" name="Shape 123"/>
          <p:cNvSpPr/>
          <p:nvPr/>
        </p:nvSpPr>
        <p:spPr>
          <a:xfrm>
            <a:off x="4556760" y="8979408"/>
            <a:ext cx="2036064" cy="41148"/>
          </a:xfrm>
          <a:prstGeom prst="rect">
            <a:avLst/>
          </a:prstGeom>
          <a:solidFill>
            <a:srgbClr val="2B9A66"/>
          </a:solidFill>
          <a:ln/>
        </p:spPr>
      </p:sp>
      <p:sp>
        <p:nvSpPr>
          <p:cNvPr id="128" name="Text 124"/>
          <p:cNvSpPr/>
          <p:nvPr/>
        </p:nvSpPr>
        <p:spPr>
          <a:xfrm>
            <a:off x="4648200" y="9061704"/>
            <a:ext cx="1853184" cy="137160"/>
          </a:xfrm>
          <a:prstGeom prst="rect">
            <a:avLst/>
          </a:prstGeom>
          <a:noFill/>
          <a:ln/>
        </p:spPr>
        <p:txBody>
          <a:bodyPr wrap="square" lIns="0" tIns="0" rIns="0" bIns="0" rtlCol="0" anchor="t"/>
          <a:lstStyle/>
          <a:p>
            <a:pPr indent="0" marL="0">
              <a:buNone/>
            </a:pPr>
            <a:r>
              <a:rPr lang="en-US" sz="620" b="1" spc="50" kern="0" dirty="0">
                <a:solidFill>
                  <a:srgbClr val="2B9A66"/>
                </a:solidFill>
                <a:latin typeface="Calibri" pitchFamily="34" charset="0"/>
                <a:ea typeface="Calibri" pitchFamily="34" charset="-122"/>
                <a:cs typeface="Calibri" pitchFamily="34" charset="-120"/>
              </a:rPr>
              <a:t>NPI</a:t>
            </a:r>
            <a:endParaRPr lang="en-US" sz="620" dirty="0"/>
          </a:p>
        </p:txBody>
      </p:sp>
      <p:sp>
        <p:nvSpPr>
          <p:cNvPr id="129" name="Text 125"/>
          <p:cNvSpPr/>
          <p:nvPr/>
        </p:nvSpPr>
        <p:spPr>
          <a:xfrm>
            <a:off x="4648200" y="9208008"/>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Lowest NPI exposure nationally at 6.4%</a:t>
            </a:r>
            <a:endParaRPr lang="en-US" sz="740" dirty="0"/>
          </a:p>
        </p:txBody>
      </p:sp>
      <p:sp>
        <p:nvSpPr>
          <p:cNvPr id="130" name="Text 126"/>
          <p:cNvSpPr/>
          <p:nvPr/>
        </p:nvSpPr>
        <p:spPr>
          <a:xfrm>
            <a:off x="4648200" y="9546336"/>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With conversion unresolved, low new-product exposure is the correct posture — this zone is not carrying launch risk on top of a fill problem.</a:t>
            </a:r>
            <a:endParaRPr lang="en-US" sz="650" dirty="0"/>
          </a:p>
        </p:txBody>
      </p:sp>
      <p:sp>
        <p:nvSpPr>
          <p:cNvPr id="131" name="Shape 127"/>
          <p:cNvSpPr/>
          <p:nvPr/>
        </p:nvSpPr>
        <p:spPr>
          <a:xfrm>
            <a:off x="4648200" y="10140696"/>
            <a:ext cx="1853184" cy="0"/>
          </a:xfrm>
          <a:prstGeom prst="line">
            <a:avLst/>
          </a:prstGeom>
          <a:noFill/>
          <a:ln w="6350">
            <a:solidFill>
              <a:srgbClr val="C8DCD7"/>
            </a:solidFill>
            <a:prstDash val="solid"/>
          </a:ln>
        </p:spPr>
      </p:sp>
      <p:sp>
        <p:nvSpPr>
          <p:cNvPr id="132" name="Text 128"/>
          <p:cNvSpPr/>
          <p:nvPr/>
        </p:nvSpPr>
        <p:spPr>
          <a:xfrm>
            <a:off x="4648200" y="10186416"/>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Hold NPI allocation flat until DMart fill is fixed.</a:t>
            </a:r>
            <a:endParaRPr lang="en-US" sz="600" dirty="0"/>
          </a:p>
        </p:txBody>
      </p:sp>
      <p:sp>
        <p:nvSpPr>
          <p:cNvPr id="133" name="Text 129"/>
          <p:cNvSpPr/>
          <p:nvPr/>
        </p:nvSpPr>
        <p:spPr>
          <a:xfrm>
            <a:off x="4648200" y="10515600"/>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Category · Sep review</a:t>
            </a:r>
            <a:endParaRPr lang="en-US" sz="620" dirty="0"/>
          </a:p>
        </p:txBody>
      </p:sp>
      <p:sp>
        <p:nvSpPr>
          <p:cNvPr id="134" name="Text 130"/>
          <p:cNvSpPr/>
          <p:nvPr/>
        </p:nvSpPr>
        <p:spPr>
          <a:xfrm>
            <a:off x="265176" y="10844784"/>
            <a:ext cx="6327648" cy="182880"/>
          </a:xfrm>
          <a:prstGeom prst="rect">
            <a:avLst/>
          </a:prstGeom>
          <a:noFill/>
          <a:ln/>
        </p:spPr>
        <p:txBody>
          <a:bodyPr wrap="square" lIns="0" tIns="0" rIns="0" bIns="0" rtlCol="0" anchor="t"/>
          <a:lstStyle/>
          <a:p>
            <a:pPr algn="ctr" indent="0" marL="0">
              <a:buNone/>
            </a:pPr>
            <a:r>
              <a:rPr lang="en-US" sz="680" i="1" dirty="0">
                <a:solidFill>
                  <a:srgbClr val="5F716E"/>
                </a:solidFill>
                <a:latin typeface="Calibri" pitchFamily="34" charset="0"/>
                <a:ea typeface="Calibri" pitchFamily="34" charset="-122"/>
                <a:cs typeface="Calibri" pitchFamily="34" charset="-120"/>
              </a:rPr>
              <a:t>South-2 NPI mix 6.4% | ₹0.89 Cr recoverable at the West / South-1 benchmark</a:t>
            </a:r>
            <a:endParaRPr lang="en-US" sz="6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A"/>
        </a:solidFill>
      </p:bgPr>
    </p:bg>
    <p:spTree>
      <p:nvGrpSpPr>
        <p:cNvPr id="1" name=""/>
        <p:cNvGrpSpPr/>
        <p:nvPr/>
      </p:nvGrpSpPr>
      <p:grpSpPr>
        <a:xfrm>
          <a:off x="0" y="0"/>
          <a:ext cx="0" cy="0"/>
          <a:chOff x="0" y="0"/>
          <a:chExt cx="0" cy="0"/>
        </a:xfrm>
      </p:grpSpPr>
      <p:sp>
        <p:nvSpPr>
          <p:cNvPr id="2" name="Shape 0"/>
          <p:cNvSpPr/>
          <p:nvPr/>
        </p:nvSpPr>
        <p:spPr>
          <a:xfrm>
            <a:off x="0" y="0"/>
            <a:ext cx="6858000" cy="1133856"/>
          </a:xfrm>
          <a:prstGeom prst="rect">
            <a:avLst/>
          </a:prstGeom>
          <a:solidFill>
            <a:srgbClr val="116F68"/>
          </a:solidFill>
          <a:ln/>
        </p:spPr>
      </p:sp>
      <p:sp>
        <p:nvSpPr>
          <p:cNvPr id="3" name="Text 1"/>
          <p:cNvSpPr/>
          <p:nvPr/>
        </p:nvSpPr>
        <p:spPr>
          <a:xfrm>
            <a:off x="365760" y="182880"/>
            <a:ext cx="5641848" cy="548640"/>
          </a:xfrm>
          <a:prstGeom prst="rect">
            <a:avLst/>
          </a:prstGeom>
          <a:noFill/>
          <a:ln/>
        </p:spPr>
        <p:txBody>
          <a:bodyPr wrap="square" lIns="0" tIns="0" rIns="0" bIns="0" rtlCol="0" anchor="ctr"/>
          <a:lstStyle/>
          <a:p>
            <a:pPr indent="0" marL="0">
              <a:lnSpc>
                <a:spcPct val="92000"/>
              </a:lnSpc>
              <a:buNone/>
            </a:pPr>
            <a:r>
              <a:rPr lang="en-US" sz="1850" b="1" dirty="0">
                <a:solidFill>
                  <a:srgbClr val="FFFFFF"/>
                </a:solidFill>
                <a:latin typeface="Calibri Light" pitchFamily="34" charset="0"/>
                <a:ea typeface="Calibri Light" pitchFamily="34" charset="-122"/>
                <a:cs typeface="Calibri Light" pitchFamily="34" charset="-120"/>
              </a:rPr>
              <a:t>East: Q1 star, July load spike</a:t>
            </a:r>
            <a:endParaRPr lang="en-US" sz="1850" dirty="0"/>
          </a:p>
        </p:txBody>
      </p:sp>
      <p:sp>
        <p:nvSpPr>
          <p:cNvPr id="4" name="Text 2"/>
          <p:cNvSpPr/>
          <p:nvPr/>
        </p:nvSpPr>
        <p:spPr>
          <a:xfrm>
            <a:off x="384048" y="786384"/>
            <a:ext cx="5641848" cy="237744"/>
          </a:xfrm>
          <a:prstGeom prst="rect">
            <a:avLst/>
          </a:prstGeom>
          <a:noFill/>
          <a:ln/>
        </p:spPr>
        <p:txBody>
          <a:bodyPr wrap="square" lIns="0" tIns="0" rIns="0" bIns="0" rtlCol="0" anchor="ctr"/>
          <a:lstStyle/>
          <a:p>
            <a:pPr indent="0" marL="0">
              <a:buNone/>
            </a:pPr>
            <a:r>
              <a:rPr lang="en-US" sz="850" dirty="0">
                <a:solidFill>
                  <a:srgbClr val="BFDCD7"/>
                </a:solidFill>
                <a:latin typeface="Calibri" pitchFamily="34" charset="0"/>
                <a:ea typeface="Calibri" pitchFamily="34" charset="-122"/>
                <a:cs typeface="Calibri" pitchFamily="34" charset="-120"/>
              </a:rPr>
              <a:t>MT zone deep dive | July 2026 | ₹ Cr | Modern Trade accounts only</a:t>
            </a:r>
            <a:endParaRPr lang="en-US" sz="850" dirty="0"/>
          </a:p>
        </p:txBody>
      </p:sp>
      <p:sp>
        <p:nvSpPr>
          <p:cNvPr id="5" name="Text 3"/>
          <p:cNvSpPr/>
          <p:nvPr/>
        </p:nvSpPr>
        <p:spPr>
          <a:xfrm>
            <a:off x="6117336" y="365760"/>
            <a:ext cx="402336" cy="237744"/>
          </a:xfrm>
          <a:prstGeom prst="rect">
            <a:avLst/>
          </a:prstGeom>
          <a:noFill/>
          <a:ln/>
        </p:spPr>
        <p:txBody>
          <a:bodyPr wrap="square" lIns="0" tIns="0" rIns="0" bIns="0" rtlCol="0" anchor="t"/>
          <a:lstStyle/>
          <a:p>
            <a:pPr algn="r" indent="0" marL="0">
              <a:buNone/>
            </a:pPr>
            <a:r>
              <a:rPr lang="en-US" sz="950" b="1" dirty="0">
                <a:solidFill>
                  <a:srgbClr val="8FC4BD"/>
                </a:solidFill>
                <a:latin typeface="Calibri" pitchFamily="34" charset="0"/>
                <a:ea typeface="Calibri" pitchFamily="34" charset="-122"/>
                <a:cs typeface="Calibri" pitchFamily="34" charset="-120"/>
              </a:rPr>
              <a:t>11</a:t>
            </a:r>
            <a:endParaRPr lang="en-US" sz="950" dirty="0"/>
          </a:p>
        </p:txBody>
      </p:sp>
      <p:sp>
        <p:nvSpPr>
          <p:cNvPr id="6" name="Shape 4"/>
          <p:cNvSpPr/>
          <p:nvPr/>
        </p:nvSpPr>
        <p:spPr>
          <a:xfrm>
            <a:off x="265176" y="11375136"/>
            <a:ext cx="6327648" cy="420624"/>
          </a:xfrm>
          <a:prstGeom prst="roundRect">
            <a:avLst>
              <a:gd name="adj" fmla="val 6522"/>
            </a:avLst>
          </a:prstGeom>
          <a:solidFill>
            <a:srgbClr val="DFF2ED"/>
          </a:solidFill>
          <a:ln w="9525">
            <a:solidFill>
              <a:srgbClr val="C8DCD7"/>
            </a:solidFill>
            <a:prstDash val="solid"/>
          </a:ln>
        </p:spPr>
      </p:sp>
      <p:sp>
        <p:nvSpPr>
          <p:cNvPr id="7" name="Text 5"/>
          <p:cNvSpPr/>
          <p:nvPr/>
        </p:nvSpPr>
        <p:spPr>
          <a:xfrm>
            <a:off x="374904"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EVIDENCE</a:t>
            </a:r>
            <a:endParaRPr lang="en-US" sz="650" dirty="0"/>
          </a:p>
        </p:txBody>
      </p:sp>
      <p:sp>
        <p:nvSpPr>
          <p:cNvPr id="8" name="Text 6"/>
          <p:cNvSpPr/>
          <p:nvPr/>
        </p:nvSpPr>
        <p:spPr>
          <a:xfrm>
            <a:off x="374904"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moved</a:t>
            </a:r>
            <a:endParaRPr lang="en-US" sz="700" dirty="0"/>
          </a:p>
        </p:txBody>
      </p:sp>
      <p:sp>
        <p:nvSpPr>
          <p:cNvPr id="9" name="Text 7"/>
          <p:cNvSpPr/>
          <p:nvPr/>
        </p:nvSpPr>
        <p:spPr>
          <a:xfrm>
            <a:off x="1901952"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IMPLICATION</a:t>
            </a:r>
            <a:endParaRPr lang="en-US" sz="650" dirty="0"/>
          </a:p>
        </p:txBody>
      </p:sp>
      <p:sp>
        <p:nvSpPr>
          <p:cNvPr id="10" name="Text 8"/>
          <p:cNvSpPr/>
          <p:nvPr/>
        </p:nvSpPr>
        <p:spPr>
          <a:xfrm>
            <a:off x="1901952"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Why it matters</a:t>
            </a:r>
            <a:endParaRPr lang="en-US" sz="700" dirty="0"/>
          </a:p>
        </p:txBody>
      </p:sp>
      <p:sp>
        <p:nvSpPr>
          <p:cNvPr id="11" name="Shape 9"/>
          <p:cNvSpPr/>
          <p:nvPr/>
        </p:nvSpPr>
        <p:spPr>
          <a:xfrm>
            <a:off x="1819656" y="11457432"/>
            <a:ext cx="0" cy="265176"/>
          </a:xfrm>
          <a:prstGeom prst="line">
            <a:avLst/>
          </a:prstGeom>
          <a:noFill/>
          <a:ln w="9525">
            <a:solidFill>
              <a:srgbClr val="C8DCD7"/>
            </a:solidFill>
            <a:prstDash val="solid"/>
          </a:ln>
        </p:spPr>
      </p:sp>
      <p:sp>
        <p:nvSpPr>
          <p:cNvPr id="12" name="Text 10"/>
          <p:cNvSpPr/>
          <p:nvPr/>
        </p:nvSpPr>
        <p:spPr>
          <a:xfrm>
            <a:off x="3429000"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ACTION</a:t>
            </a:r>
            <a:endParaRPr lang="en-US" sz="650" dirty="0"/>
          </a:p>
        </p:txBody>
      </p:sp>
      <p:sp>
        <p:nvSpPr>
          <p:cNvPr id="13" name="Text 11"/>
          <p:cNvSpPr/>
          <p:nvPr/>
        </p:nvSpPr>
        <p:spPr>
          <a:xfrm>
            <a:off x="3429000"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changes now</a:t>
            </a:r>
            <a:endParaRPr lang="en-US" sz="700" dirty="0"/>
          </a:p>
        </p:txBody>
      </p:sp>
      <p:sp>
        <p:nvSpPr>
          <p:cNvPr id="14" name="Shape 12"/>
          <p:cNvSpPr/>
          <p:nvPr/>
        </p:nvSpPr>
        <p:spPr>
          <a:xfrm>
            <a:off x="3346704" y="11457432"/>
            <a:ext cx="0" cy="265176"/>
          </a:xfrm>
          <a:prstGeom prst="line">
            <a:avLst/>
          </a:prstGeom>
          <a:noFill/>
          <a:ln w="9525">
            <a:solidFill>
              <a:srgbClr val="C8DCD7"/>
            </a:solidFill>
            <a:prstDash val="solid"/>
          </a:ln>
        </p:spPr>
      </p:sp>
      <p:sp>
        <p:nvSpPr>
          <p:cNvPr id="15" name="Text 13"/>
          <p:cNvSpPr/>
          <p:nvPr/>
        </p:nvSpPr>
        <p:spPr>
          <a:xfrm>
            <a:off x="4956048"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OWNER</a:t>
            </a:r>
            <a:endParaRPr lang="en-US" sz="650" dirty="0"/>
          </a:p>
        </p:txBody>
      </p:sp>
      <p:sp>
        <p:nvSpPr>
          <p:cNvPr id="16" name="Text 14"/>
          <p:cNvSpPr/>
          <p:nvPr/>
        </p:nvSpPr>
        <p:spPr>
          <a:xfrm>
            <a:off x="4956048"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Who closes it</a:t>
            </a:r>
            <a:endParaRPr lang="en-US" sz="700" dirty="0"/>
          </a:p>
        </p:txBody>
      </p:sp>
      <p:sp>
        <p:nvSpPr>
          <p:cNvPr id="17" name="Shape 15"/>
          <p:cNvSpPr/>
          <p:nvPr/>
        </p:nvSpPr>
        <p:spPr>
          <a:xfrm>
            <a:off x="4873752" y="11457432"/>
            <a:ext cx="0" cy="265176"/>
          </a:xfrm>
          <a:prstGeom prst="line">
            <a:avLst/>
          </a:prstGeom>
          <a:noFill/>
          <a:ln w="9525">
            <a:solidFill>
              <a:srgbClr val="C8DCD7"/>
            </a:solidFill>
            <a:prstDash val="solid"/>
          </a:ln>
        </p:spPr>
      </p:sp>
      <p:sp>
        <p:nvSpPr>
          <p:cNvPr id="18" name="Text 16"/>
          <p:cNvSpPr/>
          <p:nvPr/>
        </p:nvSpPr>
        <p:spPr>
          <a:xfrm>
            <a:off x="301752" y="11887200"/>
            <a:ext cx="6254496" cy="201168"/>
          </a:xfrm>
          <a:prstGeom prst="rect">
            <a:avLst/>
          </a:prstGeom>
          <a:noFill/>
          <a:ln/>
        </p:spPr>
        <p:txBody>
          <a:bodyPr wrap="square" lIns="0" tIns="0" rIns="0" bIns="0" rtlCol="0" anchor="t"/>
          <a:lstStyle/>
          <a:p>
            <a:pPr algn="ctr" indent="0" marL="0">
              <a:buNone/>
            </a:pPr>
            <a:r>
              <a:rPr lang="en-US" sz="650" dirty="0">
                <a:solidFill>
                  <a:srgbClr val="5F716E"/>
                </a:solidFill>
                <a:latin typeface="Calibri" pitchFamily="34" charset="0"/>
                <a:ea typeface="Calibri" pitchFamily="34" charset="-122"/>
                <a:cs typeface="Calibri" pitchFamily="34" charset="-120"/>
              </a:rPr>
              <a:t>July Compiled Offtake (Sheet1) · July'26 primary and distributor secondary · values in ₹ Cr · Zone performance represents Modern Trade accounts only. eB2B and SIS channels are excluded from MT zone sales and reported separately.</a:t>
            </a:r>
            <a:endParaRPr lang="en-US" sz="650" dirty="0"/>
          </a:p>
        </p:txBody>
      </p:sp>
      <p:sp>
        <p:nvSpPr>
          <p:cNvPr id="19" name="Shape 17"/>
          <p:cNvSpPr/>
          <p:nvPr/>
        </p:nvSpPr>
        <p:spPr>
          <a:xfrm>
            <a:off x="265176" y="1261872"/>
            <a:ext cx="1499616" cy="859536"/>
          </a:xfrm>
          <a:prstGeom prst="rect">
            <a:avLst/>
          </a:prstGeom>
          <a:solidFill>
            <a:srgbClr val="FFFFFF"/>
          </a:solidFill>
          <a:ln w="9525">
            <a:solidFill>
              <a:srgbClr val="C8DCD7"/>
            </a:solidFill>
            <a:prstDash val="solid"/>
          </a:ln>
        </p:spPr>
      </p:sp>
      <p:sp>
        <p:nvSpPr>
          <p:cNvPr id="20" name="Shape 18"/>
          <p:cNvSpPr/>
          <p:nvPr/>
        </p:nvSpPr>
        <p:spPr>
          <a:xfrm>
            <a:off x="265176" y="1261872"/>
            <a:ext cx="64008" cy="859536"/>
          </a:xfrm>
          <a:prstGeom prst="rect">
            <a:avLst/>
          </a:prstGeom>
          <a:solidFill>
            <a:srgbClr val="2E7DA8"/>
          </a:solidFill>
          <a:ln/>
        </p:spPr>
      </p:sp>
      <p:sp>
        <p:nvSpPr>
          <p:cNvPr id="21" name="Text 19"/>
          <p:cNvSpPr/>
          <p:nvPr/>
        </p:nvSpPr>
        <p:spPr>
          <a:xfrm>
            <a:off x="420624"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PRIMARY</a:t>
            </a:r>
            <a:endParaRPr lang="en-US" sz="680" dirty="0"/>
          </a:p>
        </p:txBody>
      </p:sp>
      <p:sp>
        <p:nvSpPr>
          <p:cNvPr id="22" name="Text 20"/>
          <p:cNvSpPr/>
          <p:nvPr/>
        </p:nvSpPr>
        <p:spPr>
          <a:xfrm>
            <a:off x="420624" y="1536192"/>
            <a:ext cx="1261872" cy="310896"/>
          </a:xfrm>
          <a:prstGeom prst="rect">
            <a:avLst/>
          </a:prstGeom>
          <a:noFill/>
          <a:ln/>
        </p:spPr>
        <p:txBody>
          <a:bodyPr wrap="square" lIns="0" tIns="0" rIns="0" bIns="0" rtlCol="0" anchor="ctr"/>
          <a:lstStyle/>
          <a:p>
            <a:pPr indent="0" marL="0">
              <a:buNone/>
            </a:pPr>
            <a:r>
              <a:rPr lang="en-US" sz="1550" b="1" dirty="0">
                <a:solidFill>
                  <a:srgbClr val="2E7DA8"/>
                </a:solidFill>
                <a:latin typeface="Calibri Light" pitchFamily="34" charset="0"/>
                <a:ea typeface="Calibri Light" pitchFamily="34" charset="-122"/>
                <a:cs typeface="Calibri Light" pitchFamily="34" charset="-120"/>
              </a:rPr>
              <a:t>₹7.10 Cr</a:t>
            </a:r>
            <a:endParaRPr lang="en-US" sz="1550" dirty="0"/>
          </a:p>
        </p:txBody>
      </p:sp>
      <p:sp>
        <p:nvSpPr>
          <p:cNvPr id="23" name="Text 21"/>
          <p:cNvSpPr/>
          <p:nvPr/>
        </p:nvSpPr>
        <p:spPr>
          <a:xfrm>
            <a:off x="420624"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July billing</a:t>
            </a:r>
            <a:endParaRPr lang="en-US" sz="680" dirty="0"/>
          </a:p>
        </p:txBody>
      </p:sp>
      <p:sp>
        <p:nvSpPr>
          <p:cNvPr id="24" name="Shape 22"/>
          <p:cNvSpPr/>
          <p:nvPr/>
        </p:nvSpPr>
        <p:spPr>
          <a:xfrm>
            <a:off x="1874520" y="1261872"/>
            <a:ext cx="1499616" cy="859536"/>
          </a:xfrm>
          <a:prstGeom prst="rect">
            <a:avLst/>
          </a:prstGeom>
          <a:solidFill>
            <a:srgbClr val="FFFFFF"/>
          </a:solidFill>
          <a:ln w="9525">
            <a:solidFill>
              <a:srgbClr val="C8DCD7"/>
            </a:solidFill>
            <a:prstDash val="solid"/>
          </a:ln>
        </p:spPr>
      </p:sp>
      <p:sp>
        <p:nvSpPr>
          <p:cNvPr id="25" name="Shape 23"/>
          <p:cNvSpPr/>
          <p:nvPr/>
        </p:nvSpPr>
        <p:spPr>
          <a:xfrm>
            <a:off x="1874520" y="1261872"/>
            <a:ext cx="64008" cy="859536"/>
          </a:xfrm>
          <a:prstGeom prst="rect">
            <a:avLst/>
          </a:prstGeom>
          <a:solidFill>
            <a:srgbClr val="28A596"/>
          </a:solidFill>
          <a:ln/>
        </p:spPr>
      </p:sp>
      <p:sp>
        <p:nvSpPr>
          <p:cNvPr id="26" name="Text 24"/>
          <p:cNvSpPr/>
          <p:nvPr/>
        </p:nvSpPr>
        <p:spPr>
          <a:xfrm>
            <a:off x="2029968"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OFFTAKE</a:t>
            </a:r>
            <a:endParaRPr lang="en-US" sz="680" dirty="0"/>
          </a:p>
        </p:txBody>
      </p:sp>
      <p:sp>
        <p:nvSpPr>
          <p:cNvPr id="27" name="Text 25"/>
          <p:cNvSpPr/>
          <p:nvPr/>
        </p:nvSpPr>
        <p:spPr>
          <a:xfrm>
            <a:off x="2029968" y="1536192"/>
            <a:ext cx="1261872" cy="310896"/>
          </a:xfrm>
          <a:prstGeom prst="rect">
            <a:avLst/>
          </a:prstGeom>
          <a:noFill/>
          <a:ln/>
        </p:spPr>
        <p:txBody>
          <a:bodyPr wrap="square" lIns="0" tIns="0" rIns="0" bIns="0" rtlCol="0" anchor="ctr"/>
          <a:lstStyle/>
          <a:p>
            <a:pPr indent="0" marL="0">
              <a:buNone/>
            </a:pPr>
            <a:r>
              <a:rPr lang="en-US" sz="1550" b="1" dirty="0">
                <a:solidFill>
                  <a:srgbClr val="28A596"/>
                </a:solidFill>
                <a:latin typeface="Calibri Light" pitchFamily="34" charset="0"/>
                <a:ea typeface="Calibri Light" pitchFamily="34" charset="-122"/>
                <a:cs typeface="Calibri Light" pitchFamily="34" charset="-120"/>
              </a:rPr>
              <a:t>₹3.54 Cr</a:t>
            </a:r>
            <a:endParaRPr lang="en-US" sz="1550" dirty="0"/>
          </a:p>
        </p:txBody>
      </p:sp>
      <p:sp>
        <p:nvSpPr>
          <p:cNvPr id="28" name="Text 26"/>
          <p:cNvSpPr/>
          <p:nvPr/>
        </p:nvSpPr>
        <p:spPr>
          <a:xfrm>
            <a:off x="2029968"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10.4% mix</a:t>
            </a:r>
            <a:endParaRPr lang="en-US" sz="680" dirty="0"/>
          </a:p>
        </p:txBody>
      </p:sp>
      <p:sp>
        <p:nvSpPr>
          <p:cNvPr id="29" name="Shape 27"/>
          <p:cNvSpPr/>
          <p:nvPr/>
        </p:nvSpPr>
        <p:spPr>
          <a:xfrm>
            <a:off x="3483864" y="1261872"/>
            <a:ext cx="1499616" cy="859536"/>
          </a:xfrm>
          <a:prstGeom prst="rect">
            <a:avLst/>
          </a:prstGeom>
          <a:solidFill>
            <a:srgbClr val="FFFFFF"/>
          </a:solidFill>
          <a:ln w="9525">
            <a:solidFill>
              <a:srgbClr val="C8DCD7"/>
            </a:solidFill>
            <a:prstDash val="solid"/>
          </a:ln>
        </p:spPr>
      </p:sp>
      <p:sp>
        <p:nvSpPr>
          <p:cNvPr id="30" name="Shape 28"/>
          <p:cNvSpPr/>
          <p:nvPr/>
        </p:nvSpPr>
        <p:spPr>
          <a:xfrm>
            <a:off x="3483864" y="1261872"/>
            <a:ext cx="64008" cy="859536"/>
          </a:xfrm>
          <a:prstGeom prst="rect">
            <a:avLst/>
          </a:prstGeom>
          <a:solidFill>
            <a:srgbClr val="D6544D"/>
          </a:solidFill>
          <a:ln/>
        </p:spPr>
      </p:sp>
      <p:sp>
        <p:nvSpPr>
          <p:cNvPr id="31" name="Text 29"/>
          <p:cNvSpPr/>
          <p:nvPr/>
        </p:nvSpPr>
        <p:spPr>
          <a:xfrm>
            <a:off x="3639312"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CONVERSION</a:t>
            </a:r>
            <a:endParaRPr lang="en-US" sz="680" dirty="0"/>
          </a:p>
        </p:txBody>
      </p:sp>
      <p:sp>
        <p:nvSpPr>
          <p:cNvPr id="32" name="Text 30"/>
          <p:cNvSpPr/>
          <p:nvPr/>
        </p:nvSpPr>
        <p:spPr>
          <a:xfrm>
            <a:off x="3639312" y="1536192"/>
            <a:ext cx="1261872" cy="310896"/>
          </a:xfrm>
          <a:prstGeom prst="rect">
            <a:avLst/>
          </a:prstGeom>
          <a:noFill/>
          <a:ln/>
        </p:spPr>
        <p:txBody>
          <a:bodyPr wrap="square" lIns="0" tIns="0" rIns="0" bIns="0" rtlCol="0" anchor="ctr"/>
          <a:lstStyle/>
          <a:p>
            <a:pPr indent="0" marL="0">
              <a:buNone/>
            </a:pPr>
            <a:r>
              <a:rPr lang="en-US" sz="1750" b="1" dirty="0">
                <a:solidFill>
                  <a:srgbClr val="D6544D"/>
                </a:solidFill>
                <a:latin typeface="Calibri Light" pitchFamily="34" charset="0"/>
                <a:ea typeface="Calibri Light" pitchFamily="34" charset="-122"/>
                <a:cs typeface="Calibri Light" pitchFamily="34" charset="-120"/>
              </a:rPr>
              <a:t>49.9%</a:t>
            </a:r>
            <a:endParaRPr lang="en-US" sz="1750" dirty="0"/>
          </a:p>
        </p:txBody>
      </p:sp>
      <p:sp>
        <p:nvSpPr>
          <p:cNvPr id="33" name="Text 31"/>
          <p:cNvSpPr/>
          <p:nvPr/>
        </p:nvSpPr>
        <p:spPr>
          <a:xfrm>
            <a:off x="3639312"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flow</a:t>
            </a:r>
            <a:endParaRPr lang="en-US" sz="680" dirty="0"/>
          </a:p>
        </p:txBody>
      </p:sp>
      <p:sp>
        <p:nvSpPr>
          <p:cNvPr id="34" name="Shape 32"/>
          <p:cNvSpPr/>
          <p:nvPr/>
        </p:nvSpPr>
        <p:spPr>
          <a:xfrm>
            <a:off x="5093208" y="1261872"/>
            <a:ext cx="1499616" cy="859536"/>
          </a:xfrm>
          <a:prstGeom prst="rect">
            <a:avLst/>
          </a:prstGeom>
          <a:solidFill>
            <a:srgbClr val="FFFFFF"/>
          </a:solidFill>
          <a:ln w="9525">
            <a:solidFill>
              <a:srgbClr val="C8DCD7"/>
            </a:solidFill>
            <a:prstDash val="solid"/>
          </a:ln>
        </p:spPr>
      </p:sp>
      <p:sp>
        <p:nvSpPr>
          <p:cNvPr id="35" name="Shape 33"/>
          <p:cNvSpPr/>
          <p:nvPr/>
        </p:nvSpPr>
        <p:spPr>
          <a:xfrm>
            <a:off x="5093208" y="1261872"/>
            <a:ext cx="64008" cy="859536"/>
          </a:xfrm>
          <a:prstGeom prst="rect">
            <a:avLst/>
          </a:prstGeom>
          <a:solidFill>
            <a:srgbClr val="D6544D"/>
          </a:solidFill>
          <a:ln/>
        </p:spPr>
      </p:sp>
      <p:sp>
        <p:nvSpPr>
          <p:cNvPr id="36" name="Text 34"/>
          <p:cNvSpPr/>
          <p:nvPr/>
        </p:nvSpPr>
        <p:spPr>
          <a:xfrm>
            <a:off x="5248656"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GAP</a:t>
            </a:r>
            <a:endParaRPr lang="en-US" sz="680" dirty="0"/>
          </a:p>
        </p:txBody>
      </p:sp>
      <p:sp>
        <p:nvSpPr>
          <p:cNvPr id="37" name="Text 35"/>
          <p:cNvSpPr/>
          <p:nvPr/>
        </p:nvSpPr>
        <p:spPr>
          <a:xfrm>
            <a:off x="5248656" y="1536192"/>
            <a:ext cx="1261872" cy="310896"/>
          </a:xfrm>
          <a:prstGeom prst="rect">
            <a:avLst/>
          </a:prstGeom>
          <a:noFill/>
          <a:ln/>
        </p:spPr>
        <p:txBody>
          <a:bodyPr wrap="square" lIns="0" tIns="0" rIns="0" bIns="0" rtlCol="0" anchor="ctr"/>
          <a:lstStyle/>
          <a:p>
            <a:pPr indent="0" marL="0">
              <a:buNone/>
            </a:pPr>
            <a:r>
              <a:rPr lang="en-US" sz="1550" b="1" dirty="0">
                <a:solidFill>
                  <a:srgbClr val="D6544D"/>
                </a:solidFill>
                <a:latin typeface="Calibri Light" pitchFamily="34" charset="0"/>
                <a:ea typeface="Calibri Light" pitchFamily="34" charset="-122"/>
                <a:cs typeface="Calibri Light" pitchFamily="34" charset="-120"/>
              </a:rPr>
              <a:t>₹3.56 Cr</a:t>
            </a:r>
            <a:endParaRPr lang="en-US" sz="1550" dirty="0"/>
          </a:p>
        </p:txBody>
      </p:sp>
      <p:sp>
        <p:nvSpPr>
          <p:cNvPr id="38" name="Text 36"/>
          <p:cNvSpPr/>
          <p:nvPr/>
        </p:nvSpPr>
        <p:spPr>
          <a:xfrm>
            <a:off x="5248656"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primary − offtake</a:t>
            </a:r>
            <a:endParaRPr lang="en-US" sz="680" dirty="0"/>
          </a:p>
        </p:txBody>
      </p:sp>
      <p:sp>
        <p:nvSpPr>
          <p:cNvPr id="39" name="Shape 37"/>
          <p:cNvSpPr/>
          <p:nvPr/>
        </p:nvSpPr>
        <p:spPr>
          <a:xfrm>
            <a:off x="265176" y="2231136"/>
            <a:ext cx="6327648" cy="384048"/>
          </a:xfrm>
          <a:prstGeom prst="roundRect">
            <a:avLst>
              <a:gd name="adj" fmla="val 4762"/>
            </a:avLst>
          </a:prstGeom>
          <a:solidFill>
            <a:srgbClr val="DFF2ED"/>
          </a:solidFill>
          <a:ln w="9525">
            <a:solidFill>
              <a:srgbClr val="C8DCD7"/>
            </a:solidFill>
            <a:prstDash val="solid"/>
          </a:ln>
        </p:spPr>
      </p:sp>
      <p:sp>
        <p:nvSpPr>
          <p:cNvPr id="40" name="Text 38"/>
          <p:cNvSpPr/>
          <p:nvPr/>
        </p:nvSpPr>
        <p:spPr>
          <a:xfrm>
            <a:off x="374904" y="2286000"/>
            <a:ext cx="658368" cy="274320"/>
          </a:xfrm>
          <a:prstGeom prst="rect">
            <a:avLst/>
          </a:prstGeom>
          <a:noFill/>
          <a:ln/>
        </p:spPr>
        <p:txBody>
          <a:bodyPr wrap="square" lIns="0" tIns="0" rIns="0" bIns="0" rtlCol="0" anchor="ctr"/>
          <a:lstStyle/>
          <a:p>
            <a:pPr indent="0" marL="0">
              <a:buNone/>
            </a:pPr>
            <a:r>
              <a:rPr lang="en-US" sz="660" b="1" spc="40" kern="0" dirty="0">
                <a:solidFill>
                  <a:srgbClr val="116F68"/>
                </a:solidFill>
                <a:latin typeface="Calibri" pitchFamily="34" charset="0"/>
                <a:ea typeface="Calibri" pitchFamily="34" charset="-122"/>
                <a:cs typeface="Calibri" pitchFamily="34" charset="-120"/>
              </a:rPr>
              <a:t>PRIORITY</a:t>
            </a:r>
            <a:endParaRPr lang="en-US" sz="660" dirty="0"/>
          </a:p>
        </p:txBody>
      </p:sp>
      <p:sp>
        <p:nvSpPr>
          <p:cNvPr id="41" name="Text 39"/>
          <p:cNvSpPr/>
          <p:nvPr/>
        </p:nvSpPr>
        <p:spPr>
          <a:xfrm>
            <a:off x="1088136" y="2286000"/>
            <a:ext cx="5394960" cy="274320"/>
          </a:xfrm>
          <a:prstGeom prst="rect">
            <a:avLst/>
          </a:prstGeom>
          <a:noFill/>
          <a:ln/>
        </p:spPr>
        <p:txBody>
          <a:bodyPr wrap="square" lIns="0" tIns="0" rIns="0" bIns="0" rtlCol="0" anchor="ctr"/>
          <a:lstStyle/>
          <a:p>
            <a:pPr indent="0" marL="0">
              <a:buNone/>
            </a:pPr>
            <a:r>
              <a:rPr lang="en-US" sz="740" b="1" dirty="0">
                <a:solidFill>
                  <a:srgbClr val="183B39"/>
                </a:solidFill>
                <a:latin typeface="Calibri" pitchFamily="34" charset="0"/>
                <a:ea typeface="Calibri" pitchFamily="34" charset="-122"/>
                <a:cs typeface="Calibri" pitchFamily="34" charset="-120"/>
              </a:rPr>
              <a:t>Converted 89.7% across Q1 • July primary is 62.8% above its own Q1 run-rate</a:t>
            </a:r>
            <a:endParaRPr lang="en-US" sz="740" dirty="0"/>
          </a:p>
        </p:txBody>
      </p:sp>
      <p:sp>
        <p:nvSpPr>
          <p:cNvPr id="42" name="Text 40"/>
          <p:cNvSpPr/>
          <p:nvPr/>
        </p:nvSpPr>
        <p:spPr>
          <a:xfrm>
            <a:off x="265176" y="2743200"/>
            <a:ext cx="3090672"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FSN/Nykaa offtake, Jan–Jul 2026 (₹ Cr)</a:t>
            </a:r>
            <a:endParaRPr lang="en-US" sz="720" dirty="0"/>
          </a:p>
        </p:txBody>
      </p:sp>
      <p:graphicFrame>
        <p:nvGraphicFramePr>
          <p:cNvPr id="43" name="Chart 0" descr=""/>
          <p:cNvGraphicFramePr/>
          <p:nvPr/>
        </p:nvGraphicFramePr>
        <p:xfrm>
          <a:off x="246888" y="2944368"/>
          <a:ext cx="3090672" cy="1499616"/>
        </p:xfrm>
        <a:graphic xmlns:a="http://schemas.openxmlformats.org/drawingml/2006/main">
          <a:graphicData uri="http://schemas.openxmlformats.org/drawingml/2006/chart">
            <c:chart xmlns:c="http://schemas.openxmlformats.org/drawingml/2006/chart" r:id="rId1"/>
          </a:graphicData>
        </a:graphic>
      </p:graphicFrame>
      <p:sp>
        <p:nvSpPr>
          <p:cNvPr id="44" name="Text 41"/>
          <p:cNvSpPr/>
          <p:nvPr/>
        </p:nvSpPr>
        <p:spPr>
          <a:xfrm>
            <a:off x="3502152" y="2743200"/>
            <a:ext cx="3090672"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Active FSN/Nykaa EANs — range is contracting</a:t>
            </a:r>
            <a:endParaRPr lang="en-US" sz="720" dirty="0"/>
          </a:p>
        </p:txBody>
      </p:sp>
      <p:graphicFrame>
        <p:nvGraphicFramePr>
          <p:cNvPr id="45" name="Chart 1" descr=""/>
          <p:cNvGraphicFramePr/>
          <p:nvPr/>
        </p:nvGraphicFramePr>
        <p:xfrm>
          <a:off x="3483864" y="2944368"/>
          <a:ext cx="3090672" cy="1499616"/>
        </p:xfrm>
        <a:graphic xmlns:a="http://schemas.openxmlformats.org/drawingml/2006/main">
          <a:graphicData uri="http://schemas.openxmlformats.org/drawingml/2006/chart">
            <c:chart xmlns:c="http://schemas.openxmlformats.org/drawingml/2006/chart" r:id="rId2"/>
          </a:graphicData>
        </a:graphic>
      </p:graphicFrame>
      <p:sp>
        <p:nvSpPr>
          <p:cNvPr id="46" name="Shape 42"/>
          <p:cNvSpPr/>
          <p:nvPr/>
        </p:nvSpPr>
        <p:spPr>
          <a:xfrm>
            <a:off x="265176" y="4553712"/>
            <a:ext cx="2036064" cy="1773936"/>
          </a:xfrm>
          <a:prstGeom prst="roundRect">
            <a:avLst>
              <a:gd name="adj" fmla="val 1031"/>
            </a:avLst>
          </a:prstGeom>
          <a:solidFill>
            <a:srgbClr val="FFFFFF"/>
          </a:solidFill>
          <a:ln w="9525">
            <a:solidFill>
              <a:srgbClr val="C8DCD7"/>
            </a:solidFill>
            <a:prstDash val="solid"/>
          </a:ln>
        </p:spPr>
      </p:sp>
      <p:sp>
        <p:nvSpPr>
          <p:cNvPr id="47" name="Shape 43"/>
          <p:cNvSpPr/>
          <p:nvPr/>
        </p:nvSpPr>
        <p:spPr>
          <a:xfrm>
            <a:off x="265176" y="4553712"/>
            <a:ext cx="2036064" cy="274320"/>
          </a:xfrm>
          <a:prstGeom prst="rect">
            <a:avLst/>
          </a:prstGeom>
          <a:solidFill>
            <a:srgbClr val="116F68"/>
          </a:solidFill>
          <a:ln/>
        </p:spPr>
      </p:sp>
      <p:sp>
        <p:nvSpPr>
          <p:cNvPr id="48" name="Text 44"/>
          <p:cNvSpPr/>
          <p:nvPr/>
        </p:nvSpPr>
        <p:spPr>
          <a:xfrm>
            <a:off x="347472" y="457200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TOP CHAINS</a:t>
            </a:r>
            <a:endParaRPr lang="en-US" sz="700" dirty="0"/>
          </a:p>
        </p:txBody>
      </p:sp>
      <p:sp>
        <p:nvSpPr>
          <p:cNvPr id="49" name="Text 45"/>
          <p:cNvSpPr/>
          <p:nvPr/>
        </p:nvSpPr>
        <p:spPr>
          <a:xfrm>
            <a:off x="356616" y="4919472"/>
            <a:ext cx="1258824" cy="310896"/>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1. Reliance</a:t>
            </a:r>
            <a:endParaRPr lang="en-US" sz="700" dirty="0"/>
          </a:p>
        </p:txBody>
      </p:sp>
      <p:sp>
        <p:nvSpPr>
          <p:cNvPr id="50" name="Text 46"/>
          <p:cNvSpPr/>
          <p:nvPr/>
        </p:nvSpPr>
        <p:spPr>
          <a:xfrm>
            <a:off x="1588008" y="4919472"/>
            <a:ext cx="621792" cy="155448"/>
          </a:xfrm>
          <a:prstGeom prst="rect">
            <a:avLst/>
          </a:prstGeom>
          <a:noFill/>
          <a:ln/>
        </p:spPr>
        <p:txBody>
          <a:bodyPr wrap="square" lIns="0" tIns="0" rIns="0" bIns="0" rtlCol="0" anchor="t"/>
          <a:lstStyle/>
          <a:p>
            <a:pPr algn="r" indent="0" marL="0">
              <a:buNone/>
            </a:pPr>
            <a:r>
              <a:rPr lang="en-US" sz="700" b="1" dirty="0">
                <a:solidFill>
                  <a:srgbClr val="116F68"/>
                </a:solidFill>
                <a:latin typeface="Calibri" pitchFamily="34" charset="0"/>
                <a:ea typeface="Calibri" pitchFamily="34" charset="-122"/>
                <a:cs typeface="Calibri" pitchFamily="34" charset="-120"/>
              </a:rPr>
              <a:t>₹2.16 Cr</a:t>
            </a:r>
            <a:endParaRPr lang="en-US" sz="700" dirty="0"/>
          </a:p>
        </p:txBody>
      </p:sp>
      <p:sp>
        <p:nvSpPr>
          <p:cNvPr id="51" name="Text 47"/>
          <p:cNvSpPr/>
          <p:nvPr/>
        </p:nvSpPr>
        <p:spPr>
          <a:xfrm>
            <a:off x="1588008" y="5074920"/>
            <a:ext cx="621792" cy="146304"/>
          </a:xfrm>
          <a:prstGeom prst="rect">
            <a:avLst/>
          </a:prstGeom>
          <a:noFill/>
          <a:ln/>
        </p:spPr>
        <p:txBody>
          <a:bodyPr wrap="square" lIns="0" tIns="0" rIns="0" bIns="0" rtlCol="0" anchor="t"/>
          <a:lstStyle/>
          <a:p>
            <a:pPr algn="r" indent="0" marL="0">
              <a:buNone/>
            </a:pPr>
            <a:r>
              <a:rPr lang="en-US" sz="620" dirty="0">
                <a:solidFill>
                  <a:srgbClr val="5F716E"/>
                </a:solidFill>
                <a:latin typeface="Calibri" pitchFamily="34" charset="0"/>
                <a:ea typeface="Calibri" pitchFamily="34" charset="-122"/>
                <a:cs typeface="Calibri" pitchFamily="34" charset="-120"/>
              </a:rPr>
              <a:t>52.9%</a:t>
            </a:r>
            <a:endParaRPr lang="en-US" sz="620" dirty="0"/>
          </a:p>
        </p:txBody>
      </p:sp>
      <p:sp>
        <p:nvSpPr>
          <p:cNvPr id="52" name="Text 48"/>
          <p:cNvSpPr/>
          <p:nvPr/>
        </p:nvSpPr>
        <p:spPr>
          <a:xfrm>
            <a:off x="356616" y="5266944"/>
            <a:ext cx="1258824" cy="310896"/>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2. Apollo</a:t>
            </a:r>
            <a:endParaRPr lang="en-US" sz="700" dirty="0"/>
          </a:p>
        </p:txBody>
      </p:sp>
      <p:sp>
        <p:nvSpPr>
          <p:cNvPr id="53" name="Text 49"/>
          <p:cNvSpPr/>
          <p:nvPr/>
        </p:nvSpPr>
        <p:spPr>
          <a:xfrm>
            <a:off x="1588008" y="5266944"/>
            <a:ext cx="621792" cy="155448"/>
          </a:xfrm>
          <a:prstGeom prst="rect">
            <a:avLst/>
          </a:prstGeom>
          <a:noFill/>
          <a:ln/>
        </p:spPr>
        <p:txBody>
          <a:bodyPr wrap="square" lIns="0" tIns="0" rIns="0" bIns="0" rtlCol="0" anchor="t"/>
          <a:lstStyle/>
          <a:p>
            <a:pPr algn="r" indent="0" marL="0">
              <a:buNone/>
            </a:pPr>
            <a:r>
              <a:rPr lang="en-US" sz="700" b="1" dirty="0">
                <a:solidFill>
                  <a:srgbClr val="116F68"/>
                </a:solidFill>
                <a:latin typeface="Calibri" pitchFamily="34" charset="0"/>
                <a:ea typeface="Calibri" pitchFamily="34" charset="-122"/>
                <a:cs typeface="Calibri" pitchFamily="34" charset="-120"/>
              </a:rPr>
              <a:t>₹0.80 Cr</a:t>
            </a:r>
            <a:endParaRPr lang="en-US" sz="700" dirty="0"/>
          </a:p>
        </p:txBody>
      </p:sp>
      <p:sp>
        <p:nvSpPr>
          <p:cNvPr id="54" name="Text 50"/>
          <p:cNvSpPr/>
          <p:nvPr/>
        </p:nvSpPr>
        <p:spPr>
          <a:xfrm>
            <a:off x="1588008" y="5422392"/>
            <a:ext cx="621792" cy="146304"/>
          </a:xfrm>
          <a:prstGeom prst="rect">
            <a:avLst/>
          </a:prstGeom>
          <a:noFill/>
          <a:ln/>
        </p:spPr>
        <p:txBody>
          <a:bodyPr wrap="square" lIns="0" tIns="0" rIns="0" bIns="0" rtlCol="0" anchor="t"/>
          <a:lstStyle/>
          <a:p>
            <a:pPr algn="r" indent="0" marL="0">
              <a:buNone/>
            </a:pPr>
            <a:r>
              <a:rPr lang="en-US" sz="620" dirty="0">
                <a:solidFill>
                  <a:srgbClr val="F2B84B"/>
                </a:solidFill>
                <a:latin typeface="Calibri" pitchFamily="34" charset="0"/>
                <a:ea typeface="Calibri" pitchFamily="34" charset="-122"/>
                <a:cs typeface="Calibri" pitchFamily="34" charset="-120"/>
              </a:rPr>
              <a:t>over 100%</a:t>
            </a:r>
            <a:endParaRPr lang="en-US" sz="620" dirty="0"/>
          </a:p>
        </p:txBody>
      </p:sp>
      <p:sp>
        <p:nvSpPr>
          <p:cNvPr id="55" name="Text 51"/>
          <p:cNvSpPr/>
          <p:nvPr/>
        </p:nvSpPr>
        <p:spPr>
          <a:xfrm>
            <a:off x="356616" y="5614416"/>
            <a:ext cx="1258824" cy="310896"/>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3. Vishal Mega Mart</a:t>
            </a:r>
            <a:endParaRPr lang="en-US" sz="700" dirty="0"/>
          </a:p>
        </p:txBody>
      </p:sp>
      <p:sp>
        <p:nvSpPr>
          <p:cNvPr id="56" name="Text 52"/>
          <p:cNvSpPr/>
          <p:nvPr/>
        </p:nvSpPr>
        <p:spPr>
          <a:xfrm>
            <a:off x="1588008" y="5614416"/>
            <a:ext cx="621792" cy="155448"/>
          </a:xfrm>
          <a:prstGeom prst="rect">
            <a:avLst/>
          </a:prstGeom>
          <a:noFill/>
          <a:ln/>
        </p:spPr>
        <p:txBody>
          <a:bodyPr wrap="square" lIns="0" tIns="0" rIns="0" bIns="0" rtlCol="0" anchor="t"/>
          <a:lstStyle/>
          <a:p>
            <a:pPr algn="r" indent="0" marL="0">
              <a:buNone/>
            </a:pPr>
            <a:r>
              <a:rPr lang="en-US" sz="700" b="1" dirty="0">
                <a:solidFill>
                  <a:srgbClr val="116F68"/>
                </a:solidFill>
                <a:latin typeface="Calibri" pitchFamily="34" charset="0"/>
                <a:ea typeface="Calibri" pitchFamily="34" charset="-122"/>
                <a:cs typeface="Calibri" pitchFamily="34" charset="-120"/>
              </a:rPr>
              <a:t>₹0.17 Cr</a:t>
            </a:r>
            <a:endParaRPr lang="en-US" sz="700" dirty="0"/>
          </a:p>
        </p:txBody>
      </p:sp>
      <p:sp>
        <p:nvSpPr>
          <p:cNvPr id="57" name="Text 53"/>
          <p:cNvSpPr/>
          <p:nvPr/>
        </p:nvSpPr>
        <p:spPr>
          <a:xfrm>
            <a:off x="1588008" y="5769864"/>
            <a:ext cx="621792" cy="146304"/>
          </a:xfrm>
          <a:prstGeom prst="rect">
            <a:avLst/>
          </a:prstGeom>
          <a:noFill/>
          <a:ln/>
        </p:spPr>
        <p:txBody>
          <a:bodyPr wrap="square" lIns="0" tIns="0" rIns="0" bIns="0" rtlCol="0" anchor="t"/>
          <a:lstStyle/>
          <a:p>
            <a:pPr algn="r" indent="0" marL="0">
              <a:buNone/>
            </a:pPr>
            <a:r>
              <a:rPr lang="en-US" sz="620" dirty="0">
                <a:solidFill>
                  <a:srgbClr val="F2B84B"/>
                </a:solidFill>
                <a:latin typeface="Calibri" pitchFamily="34" charset="0"/>
                <a:ea typeface="Calibri" pitchFamily="34" charset="-122"/>
                <a:cs typeface="Calibri" pitchFamily="34" charset="-120"/>
              </a:rPr>
              <a:t>no primary</a:t>
            </a:r>
            <a:endParaRPr lang="en-US" sz="620" dirty="0"/>
          </a:p>
        </p:txBody>
      </p:sp>
      <p:sp>
        <p:nvSpPr>
          <p:cNvPr id="58" name="Shape 54"/>
          <p:cNvSpPr/>
          <p:nvPr/>
        </p:nvSpPr>
        <p:spPr>
          <a:xfrm>
            <a:off x="2410968" y="4553712"/>
            <a:ext cx="2036064" cy="1773936"/>
          </a:xfrm>
          <a:prstGeom prst="roundRect">
            <a:avLst>
              <a:gd name="adj" fmla="val 1031"/>
            </a:avLst>
          </a:prstGeom>
          <a:solidFill>
            <a:srgbClr val="FFFFFF"/>
          </a:solidFill>
          <a:ln w="9525">
            <a:solidFill>
              <a:srgbClr val="C8DCD7"/>
            </a:solidFill>
            <a:prstDash val="solid"/>
          </a:ln>
        </p:spPr>
      </p:sp>
      <p:sp>
        <p:nvSpPr>
          <p:cNvPr id="59" name="Shape 55"/>
          <p:cNvSpPr/>
          <p:nvPr/>
        </p:nvSpPr>
        <p:spPr>
          <a:xfrm>
            <a:off x="2410968" y="4553712"/>
            <a:ext cx="2036064" cy="274320"/>
          </a:xfrm>
          <a:prstGeom prst="rect">
            <a:avLst/>
          </a:prstGeom>
          <a:solidFill>
            <a:srgbClr val="2E7DA8"/>
          </a:solidFill>
          <a:ln/>
        </p:spPr>
      </p:sp>
      <p:sp>
        <p:nvSpPr>
          <p:cNvPr id="60" name="Text 56"/>
          <p:cNvSpPr/>
          <p:nvPr/>
        </p:nvSpPr>
        <p:spPr>
          <a:xfrm>
            <a:off x="2493264" y="457200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TOP STATES</a:t>
            </a:r>
            <a:endParaRPr lang="en-US" sz="700" dirty="0"/>
          </a:p>
        </p:txBody>
      </p:sp>
      <p:sp>
        <p:nvSpPr>
          <p:cNvPr id="61" name="Text 57"/>
          <p:cNvSpPr/>
          <p:nvPr/>
        </p:nvSpPr>
        <p:spPr>
          <a:xfrm>
            <a:off x="2502408" y="4919472"/>
            <a:ext cx="1304544" cy="292608"/>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1. West Bengal</a:t>
            </a:r>
            <a:endParaRPr lang="en-US" sz="700" dirty="0"/>
          </a:p>
        </p:txBody>
      </p:sp>
      <p:sp>
        <p:nvSpPr>
          <p:cNvPr id="62" name="Text 58"/>
          <p:cNvSpPr/>
          <p:nvPr/>
        </p:nvSpPr>
        <p:spPr>
          <a:xfrm>
            <a:off x="3770376" y="4919472"/>
            <a:ext cx="585216" cy="182880"/>
          </a:xfrm>
          <a:prstGeom prst="rect">
            <a:avLst/>
          </a:prstGeom>
          <a:noFill/>
          <a:ln/>
        </p:spPr>
        <p:txBody>
          <a:bodyPr wrap="square" lIns="0" tIns="0" rIns="0" bIns="0" rtlCol="0" anchor="t"/>
          <a:lstStyle/>
          <a:p>
            <a:pPr algn="r" indent="0" marL="0">
              <a:buNone/>
            </a:pPr>
            <a:r>
              <a:rPr lang="en-US" sz="700" b="1" dirty="0">
                <a:solidFill>
                  <a:srgbClr val="2E7DA8"/>
                </a:solidFill>
                <a:latin typeface="Calibri" pitchFamily="34" charset="0"/>
                <a:ea typeface="Calibri" pitchFamily="34" charset="-122"/>
                <a:cs typeface="Calibri" pitchFamily="34" charset="-120"/>
              </a:rPr>
              <a:t>₹1.56 Cr</a:t>
            </a:r>
            <a:endParaRPr lang="en-US" sz="700" dirty="0"/>
          </a:p>
        </p:txBody>
      </p:sp>
      <p:sp>
        <p:nvSpPr>
          <p:cNvPr id="63" name="Text 59"/>
          <p:cNvSpPr/>
          <p:nvPr/>
        </p:nvSpPr>
        <p:spPr>
          <a:xfrm>
            <a:off x="2502408" y="5248656"/>
            <a:ext cx="1304544" cy="292608"/>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2. Odisha</a:t>
            </a:r>
            <a:endParaRPr lang="en-US" sz="700" dirty="0"/>
          </a:p>
        </p:txBody>
      </p:sp>
      <p:sp>
        <p:nvSpPr>
          <p:cNvPr id="64" name="Text 60"/>
          <p:cNvSpPr/>
          <p:nvPr/>
        </p:nvSpPr>
        <p:spPr>
          <a:xfrm>
            <a:off x="3770376" y="5248656"/>
            <a:ext cx="585216" cy="182880"/>
          </a:xfrm>
          <a:prstGeom prst="rect">
            <a:avLst/>
          </a:prstGeom>
          <a:noFill/>
          <a:ln/>
        </p:spPr>
        <p:txBody>
          <a:bodyPr wrap="square" lIns="0" tIns="0" rIns="0" bIns="0" rtlCol="0" anchor="t"/>
          <a:lstStyle/>
          <a:p>
            <a:pPr algn="r" indent="0" marL="0">
              <a:buNone/>
            </a:pPr>
            <a:r>
              <a:rPr lang="en-US" sz="700" b="1" dirty="0">
                <a:solidFill>
                  <a:srgbClr val="2E7DA8"/>
                </a:solidFill>
                <a:latin typeface="Calibri" pitchFamily="34" charset="0"/>
                <a:ea typeface="Calibri" pitchFamily="34" charset="-122"/>
                <a:cs typeface="Calibri" pitchFamily="34" charset="-120"/>
              </a:rPr>
              <a:t>₹0.60 Cr</a:t>
            </a:r>
            <a:endParaRPr lang="en-US" sz="700" dirty="0"/>
          </a:p>
        </p:txBody>
      </p:sp>
      <p:sp>
        <p:nvSpPr>
          <p:cNvPr id="65" name="Text 61"/>
          <p:cNvSpPr/>
          <p:nvPr/>
        </p:nvSpPr>
        <p:spPr>
          <a:xfrm>
            <a:off x="2502408" y="5577840"/>
            <a:ext cx="1304544" cy="292608"/>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3. Bihar</a:t>
            </a:r>
            <a:endParaRPr lang="en-US" sz="700" dirty="0"/>
          </a:p>
        </p:txBody>
      </p:sp>
      <p:sp>
        <p:nvSpPr>
          <p:cNvPr id="66" name="Text 62"/>
          <p:cNvSpPr/>
          <p:nvPr/>
        </p:nvSpPr>
        <p:spPr>
          <a:xfrm>
            <a:off x="3770376" y="5577840"/>
            <a:ext cx="585216" cy="182880"/>
          </a:xfrm>
          <a:prstGeom prst="rect">
            <a:avLst/>
          </a:prstGeom>
          <a:noFill/>
          <a:ln/>
        </p:spPr>
        <p:txBody>
          <a:bodyPr wrap="square" lIns="0" tIns="0" rIns="0" bIns="0" rtlCol="0" anchor="t"/>
          <a:lstStyle/>
          <a:p>
            <a:pPr algn="r" indent="0" marL="0">
              <a:buNone/>
            </a:pPr>
            <a:r>
              <a:rPr lang="en-US" sz="700" b="1" dirty="0">
                <a:solidFill>
                  <a:srgbClr val="2E7DA8"/>
                </a:solidFill>
                <a:latin typeface="Calibri" pitchFamily="34" charset="0"/>
                <a:ea typeface="Calibri" pitchFamily="34" charset="-122"/>
                <a:cs typeface="Calibri" pitchFamily="34" charset="-120"/>
              </a:rPr>
              <a:t>₹0.49 Cr</a:t>
            </a:r>
            <a:endParaRPr lang="en-US" sz="700" dirty="0"/>
          </a:p>
        </p:txBody>
      </p:sp>
      <p:sp>
        <p:nvSpPr>
          <p:cNvPr id="67" name="Shape 63"/>
          <p:cNvSpPr/>
          <p:nvPr/>
        </p:nvSpPr>
        <p:spPr>
          <a:xfrm>
            <a:off x="4556760" y="4553712"/>
            <a:ext cx="2036064" cy="1773936"/>
          </a:xfrm>
          <a:prstGeom prst="roundRect">
            <a:avLst>
              <a:gd name="adj" fmla="val 1031"/>
            </a:avLst>
          </a:prstGeom>
          <a:solidFill>
            <a:srgbClr val="FFFFFF"/>
          </a:solidFill>
          <a:ln w="9525">
            <a:solidFill>
              <a:srgbClr val="C8DCD7"/>
            </a:solidFill>
            <a:prstDash val="solid"/>
          </a:ln>
        </p:spPr>
      </p:sp>
      <p:sp>
        <p:nvSpPr>
          <p:cNvPr id="68" name="Shape 64"/>
          <p:cNvSpPr/>
          <p:nvPr/>
        </p:nvSpPr>
        <p:spPr>
          <a:xfrm>
            <a:off x="4556760" y="4553712"/>
            <a:ext cx="2036064" cy="274320"/>
          </a:xfrm>
          <a:prstGeom prst="rect">
            <a:avLst/>
          </a:prstGeom>
          <a:solidFill>
            <a:srgbClr val="28A596"/>
          </a:solidFill>
          <a:ln/>
        </p:spPr>
      </p:sp>
      <p:sp>
        <p:nvSpPr>
          <p:cNvPr id="69" name="Text 65"/>
          <p:cNvSpPr/>
          <p:nvPr/>
        </p:nvSpPr>
        <p:spPr>
          <a:xfrm>
            <a:off x="4639056" y="457200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BRAND × SUB-CATEGORY</a:t>
            </a:r>
            <a:endParaRPr lang="en-US" sz="700" dirty="0"/>
          </a:p>
        </p:txBody>
      </p:sp>
      <p:sp>
        <p:nvSpPr>
          <p:cNvPr id="70" name="Text 66"/>
          <p:cNvSpPr/>
          <p:nvPr/>
        </p:nvSpPr>
        <p:spPr>
          <a:xfrm>
            <a:off x="4648200" y="4919472"/>
            <a:ext cx="1853184" cy="155448"/>
          </a:xfrm>
          <a:prstGeom prst="rect">
            <a:avLst/>
          </a:prstGeom>
          <a:noFill/>
          <a:ln/>
        </p:spPr>
        <p:txBody>
          <a:bodyPr wrap="square" lIns="0" tIns="0" rIns="0" bIns="0" rtlCol="0" anchor="t"/>
          <a:lstStyle/>
          <a:p>
            <a:pPr indent="0" marL="0">
              <a:buNone/>
            </a:pPr>
            <a:r>
              <a:rPr lang="en-US" sz="680" b="1" dirty="0">
                <a:solidFill>
                  <a:srgbClr val="28A596"/>
                </a:solidFill>
                <a:latin typeface="Calibri" pitchFamily="34" charset="0"/>
                <a:ea typeface="Calibri" pitchFamily="34" charset="-122"/>
                <a:cs typeface="Calibri" pitchFamily="34" charset="-120"/>
              </a:rPr>
              <a:t>Mamaearth ₹2.91 Cr</a:t>
            </a:r>
            <a:endParaRPr lang="en-US" sz="680" dirty="0"/>
          </a:p>
        </p:txBody>
      </p:sp>
      <p:sp>
        <p:nvSpPr>
          <p:cNvPr id="71" name="Text 67"/>
          <p:cNvSpPr/>
          <p:nvPr/>
        </p:nvSpPr>
        <p:spPr>
          <a:xfrm>
            <a:off x="4684776" y="5093208"/>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Face Cleanser</a:t>
            </a:r>
            <a:endParaRPr lang="en-US" sz="630" dirty="0"/>
          </a:p>
        </p:txBody>
      </p:sp>
      <p:sp>
        <p:nvSpPr>
          <p:cNvPr id="72" name="Text 68"/>
          <p:cNvSpPr/>
          <p:nvPr/>
        </p:nvSpPr>
        <p:spPr>
          <a:xfrm>
            <a:off x="6007608" y="5093208"/>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₹1.34</a:t>
            </a:r>
            <a:endParaRPr lang="en-US" sz="630" dirty="0"/>
          </a:p>
        </p:txBody>
      </p:sp>
      <p:sp>
        <p:nvSpPr>
          <p:cNvPr id="73" name="Text 69"/>
          <p:cNvSpPr/>
          <p:nvPr/>
        </p:nvSpPr>
        <p:spPr>
          <a:xfrm>
            <a:off x="4684776" y="5248656"/>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Shampoo</a:t>
            </a:r>
            <a:endParaRPr lang="en-US" sz="630" dirty="0"/>
          </a:p>
        </p:txBody>
      </p:sp>
      <p:sp>
        <p:nvSpPr>
          <p:cNvPr id="74" name="Text 70"/>
          <p:cNvSpPr/>
          <p:nvPr/>
        </p:nvSpPr>
        <p:spPr>
          <a:xfrm>
            <a:off x="6007608" y="5248656"/>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₹1.18</a:t>
            </a:r>
            <a:endParaRPr lang="en-US" sz="630" dirty="0"/>
          </a:p>
        </p:txBody>
      </p:sp>
      <p:sp>
        <p:nvSpPr>
          <p:cNvPr id="75" name="Text 71"/>
          <p:cNvSpPr/>
          <p:nvPr/>
        </p:nvSpPr>
        <p:spPr>
          <a:xfrm>
            <a:off x="4684776" y="5404104"/>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Sun Care</a:t>
            </a:r>
            <a:endParaRPr lang="en-US" sz="630" dirty="0"/>
          </a:p>
        </p:txBody>
      </p:sp>
      <p:sp>
        <p:nvSpPr>
          <p:cNvPr id="76" name="Text 72"/>
          <p:cNvSpPr/>
          <p:nvPr/>
        </p:nvSpPr>
        <p:spPr>
          <a:xfrm>
            <a:off x="6007608" y="5404104"/>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₹0.19</a:t>
            </a:r>
            <a:endParaRPr lang="en-US" sz="630" dirty="0"/>
          </a:p>
        </p:txBody>
      </p:sp>
      <p:sp>
        <p:nvSpPr>
          <p:cNvPr id="77" name="Text 73"/>
          <p:cNvSpPr/>
          <p:nvPr/>
        </p:nvSpPr>
        <p:spPr>
          <a:xfrm>
            <a:off x="4648200" y="5605272"/>
            <a:ext cx="1853184" cy="155448"/>
          </a:xfrm>
          <a:prstGeom prst="rect">
            <a:avLst/>
          </a:prstGeom>
          <a:noFill/>
          <a:ln/>
        </p:spPr>
        <p:txBody>
          <a:bodyPr wrap="square" lIns="0" tIns="0" rIns="0" bIns="0" rtlCol="0" anchor="t"/>
          <a:lstStyle/>
          <a:p>
            <a:pPr indent="0" marL="0">
              <a:buNone/>
            </a:pPr>
            <a:r>
              <a:rPr lang="en-US" sz="680" b="1" dirty="0">
                <a:solidFill>
                  <a:srgbClr val="2E7DA8"/>
                </a:solidFill>
                <a:latin typeface="Calibri" pitchFamily="34" charset="0"/>
                <a:ea typeface="Calibri" pitchFamily="34" charset="-122"/>
                <a:cs typeface="Calibri" pitchFamily="34" charset="-120"/>
              </a:rPr>
              <a:t>The Derma Co. ₹0.60 Cr</a:t>
            </a:r>
            <a:endParaRPr lang="en-US" sz="680" dirty="0"/>
          </a:p>
        </p:txBody>
      </p:sp>
      <p:sp>
        <p:nvSpPr>
          <p:cNvPr id="78" name="Text 74"/>
          <p:cNvSpPr/>
          <p:nvPr/>
        </p:nvSpPr>
        <p:spPr>
          <a:xfrm>
            <a:off x="4684776" y="5779008"/>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Face Cleanser</a:t>
            </a:r>
            <a:endParaRPr lang="en-US" sz="630" dirty="0"/>
          </a:p>
        </p:txBody>
      </p:sp>
      <p:sp>
        <p:nvSpPr>
          <p:cNvPr id="79" name="Text 75"/>
          <p:cNvSpPr/>
          <p:nvPr/>
        </p:nvSpPr>
        <p:spPr>
          <a:xfrm>
            <a:off x="6007608" y="5779008"/>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₹0.47</a:t>
            </a:r>
            <a:endParaRPr lang="en-US" sz="630" dirty="0"/>
          </a:p>
        </p:txBody>
      </p:sp>
      <p:sp>
        <p:nvSpPr>
          <p:cNvPr id="80" name="Text 76"/>
          <p:cNvSpPr/>
          <p:nvPr/>
        </p:nvSpPr>
        <p:spPr>
          <a:xfrm>
            <a:off x="4684776" y="5934456"/>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Sun Care</a:t>
            </a:r>
            <a:endParaRPr lang="en-US" sz="630" dirty="0"/>
          </a:p>
        </p:txBody>
      </p:sp>
      <p:sp>
        <p:nvSpPr>
          <p:cNvPr id="81" name="Text 77"/>
          <p:cNvSpPr/>
          <p:nvPr/>
        </p:nvSpPr>
        <p:spPr>
          <a:xfrm>
            <a:off x="6007608" y="5934456"/>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₹0.09</a:t>
            </a:r>
            <a:endParaRPr lang="en-US" sz="630" dirty="0"/>
          </a:p>
        </p:txBody>
      </p:sp>
      <p:sp>
        <p:nvSpPr>
          <p:cNvPr id="82" name="Text 78"/>
          <p:cNvSpPr/>
          <p:nvPr/>
        </p:nvSpPr>
        <p:spPr>
          <a:xfrm>
            <a:off x="4684776" y="6089904"/>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Face Serum</a:t>
            </a:r>
            <a:endParaRPr lang="en-US" sz="630" dirty="0"/>
          </a:p>
        </p:txBody>
      </p:sp>
      <p:sp>
        <p:nvSpPr>
          <p:cNvPr id="83" name="Text 79"/>
          <p:cNvSpPr/>
          <p:nvPr/>
        </p:nvSpPr>
        <p:spPr>
          <a:xfrm>
            <a:off x="6007608" y="6089904"/>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₹0.05</a:t>
            </a:r>
            <a:endParaRPr lang="en-US" sz="630" dirty="0"/>
          </a:p>
        </p:txBody>
      </p:sp>
      <p:sp>
        <p:nvSpPr>
          <p:cNvPr id="84" name="Shape 80"/>
          <p:cNvSpPr/>
          <p:nvPr/>
        </p:nvSpPr>
        <p:spPr>
          <a:xfrm>
            <a:off x="265176" y="6437376"/>
            <a:ext cx="6327648" cy="274320"/>
          </a:xfrm>
          <a:prstGeom prst="roundRect">
            <a:avLst>
              <a:gd name="adj" fmla="val 6667"/>
            </a:avLst>
          </a:prstGeom>
          <a:solidFill>
            <a:srgbClr val="FDF6E6"/>
          </a:solidFill>
          <a:ln w="9525">
            <a:solidFill>
              <a:srgbClr val="F2B84B"/>
            </a:solidFill>
            <a:prstDash val="solid"/>
          </a:ln>
        </p:spPr>
      </p:sp>
      <p:sp>
        <p:nvSpPr>
          <p:cNvPr id="85" name="Text 81"/>
          <p:cNvSpPr/>
          <p:nvPr/>
        </p:nvSpPr>
        <p:spPr>
          <a:xfrm>
            <a:off x="374904" y="6473952"/>
            <a:ext cx="6108192" cy="219456"/>
          </a:xfrm>
          <a:prstGeom prst="rect">
            <a:avLst/>
          </a:prstGeom>
          <a:noFill/>
          <a:ln/>
        </p:spPr>
        <p:txBody>
          <a:bodyPr wrap="square" lIns="0" tIns="0" rIns="0" bIns="0" rtlCol="0" anchor="ctr"/>
          <a:lstStyle/>
          <a:p>
            <a:pPr indent="0" marL="0">
              <a:buNone/>
            </a:pPr>
            <a:r>
              <a:rPr lang="en-US" sz="660" b="1" dirty="0">
                <a:solidFill>
                  <a:srgbClr val="F2B84B"/>
                </a:solidFill>
                <a:latin typeface="Calibri" pitchFamily="34" charset="0"/>
                <a:ea typeface="Calibri" pitchFamily="34" charset="-122"/>
                <a:cs typeface="Calibri" pitchFamily="34" charset="-120"/>
              </a:rPr>
              <a:t>NPI   </a:t>
            </a:r>
            <a:pPr indent="0" marL="0">
              <a:buNone/>
            </a:pPr>
            <a:r>
              <a:rPr lang="en-US" sz="700" dirty="0">
                <a:solidFill>
                  <a:srgbClr val="183B39"/>
                </a:solidFill>
                <a:latin typeface="Calibri" pitchFamily="34" charset="0"/>
                <a:ea typeface="Calibri" pitchFamily="34" charset="-122"/>
                <a:cs typeface="Calibri" pitchFamily="34" charset="-120"/>
              </a:rPr>
              <a:t>₹0.36 Cr · 10.2% of zone — the highest NPI mix on the worst conversion</a:t>
            </a:r>
            <a:endParaRPr lang="en-US" sz="660" dirty="0"/>
          </a:p>
        </p:txBody>
      </p:sp>
      <p:sp>
        <p:nvSpPr>
          <p:cNvPr id="86" name="Shape 82"/>
          <p:cNvSpPr/>
          <p:nvPr/>
        </p:nvSpPr>
        <p:spPr>
          <a:xfrm>
            <a:off x="265176" y="6821424"/>
            <a:ext cx="6327648" cy="256032"/>
          </a:xfrm>
          <a:prstGeom prst="rect">
            <a:avLst/>
          </a:prstGeom>
          <a:solidFill>
            <a:srgbClr val="D6544D"/>
          </a:solidFill>
          <a:ln/>
        </p:spPr>
      </p:sp>
      <p:sp>
        <p:nvSpPr>
          <p:cNvPr id="87" name="Text 83"/>
          <p:cNvSpPr/>
          <p:nvPr/>
        </p:nvSpPr>
        <p:spPr>
          <a:xfrm>
            <a:off x="374904" y="6839712"/>
            <a:ext cx="6108192" cy="219456"/>
          </a:xfrm>
          <a:prstGeom prst="rect">
            <a:avLst/>
          </a:prstGeom>
          <a:noFill/>
          <a:ln/>
        </p:spPr>
        <p:txBody>
          <a:bodyPr wrap="square" lIns="0" tIns="0" rIns="0" bIns="0" rtlCol="0" anchor="ctr"/>
          <a:lstStyle/>
          <a:p>
            <a:pPr indent="0" marL="0">
              <a:buNone/>
            </a:pPr>
            <a:r>
              <a:rPr lang="en-US" sz="720" b="1" spc="60" kern="0" dirty="0">
                <a:solidFill>
                  <a:srgbClr val="FFFFFF"/>
                </a:solidFill>
                <a:latin typeface="Calibri" pitchFamily="34" charset="0"/>
                <a:ea typeface="Calibri" pitchFamily="34" charset="-122"/>
                <a:cs typeface="Calibri" pitchFamily="34" charset="-120"/>
              </a:rPr>
              <a:t>SIX DIAGNOSED EXCEPTIONS — CAUSE, ACTION AND OWNER</a:t>
            </a:r>
            <a:endParaRPr lang="en-US" sz="720" dirty="0"/>
          </a:p>
        </p:txBody>
      </p:sp>
      <p:sp>
        <p:nvSpPr>
          <p:cNvPr id="88" name="Shape 84"/>
          <p:cNvSpPr/>
          <p:nvPr/>
        </p:nvSpPr>
        <p:spPr>
          <a:xfrm>
            <a:off x="265176" y="7168896"/>
            <a:ext cx="2036064" cy="1700784"/>
          </a:xfrm>
          <a:prstGeom prst="roundRect">
            <a:avLst>
              <a:gd name="adj" fmla="val 1075"/>
            </a:avLst>
          </a:prstGeom>
          <a:solidFill>
            <a:srgbClr val="FFFFFF"/>
          </a:solidFill>
          <a:ln w="9525">
            <a:solidFill>
              <a:srgbClr val="C8DCD7"/>
            </a:solidFill>
            <a:prstDash val="solid"/>
          </a:ln>
        </p:spPr>
      </p:sp>
      <p:sp>
        <p:nvSpPr>
          <p:cNvPr id="89" name="Shape 85"/>
          <p:cNvSpPr/>
          <p:nvPr/>
        </p:nvSpPr>
        <p:spPr>
          <a:xfrm>
            <a:off x="265176" y="7168896"/>
            <a:ext cx="2036064" cy="41148"/>
          </a:xfrm>
          <a:prstGeom prst="rect">
            <a:avLst/>
          </a:prstGeom>
          <a:solidFill>
            <a:srgbClr val="D6544D"/>
          </a:solidFill>
          <a:ln/>
        </p:spPr>
      </p:sp>
      <p:sp>
        <p:nvSpPr>
          <p:cNvPr id="90" name="Text 86"/>
          <p:cNvSpPr/>
          <p:nvPr/>
        </p:nvSpPr>
        <p:spPr>
          <a:xfrm>
            <a:off x="356616" y="7251192"/>
            <a:ext cx="1853184" cy="137160"/>
          </a:xfrm>
          <a:prstGeom prst="rect">
            <a:avLst/>
          </a:prstGeom>
          <a:noFill/>
          <a:ln/>
        </p:spPr>
        <p:txBody>
          <a:bodyPr wrap="square" lIns="0" tIns="0" rIns="0" bIns="0" rtlCol="0" anchor="t"/>
          <a:lstStyle/>
          <a:p>
            <a:pPr indent="0" marL="0">
              <a:buNone/>
            </a:pPr>
            <a:r>
              <a:rPr lang="en-US" sz="620" b="1" spc="50" kern="0" dirty="0">
                <a:solidFill>
                  <a:srgbClr val="D6544D"/>
                </a:solidFill>
                <a:latin typeface="Calibri" pitchFamily="34" charset="0"/>
                <a:ea typeface="Calibri" pitchFamily="34" charset="-122"/>
                <a:cs typeface="Calibri" pitchFamily="34" charset="-120"/>
              </a:rPr>
              <a:t>PRIZE</a:t>
            </a:r>
            <a:endParaRPr lang="en-US" sz="620" dirty="0"/>
          </a:p>
        </p:txBody>
      </p:sp>
      <p:sp>
        <p:nvSpPr>
          <p:cNvPr id="91" name="Text 87"/>
          <p:cNvSpPr/>
          <p:nvPr/>
        </p:nvSpPr>
        <p:spPr>
          <a:xfrm>
            <a:off x="356616" y="7397496"/>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₹2.54 Cr recoverable — the largest pool in the pack</a:t>
            </a:r>
            <a:endParaRPr lang="en-US" sz="740" dirty="0"/>
          </a:p>
        </p:txBody>
      </p:sp>
      <p:sp>
        <p:nvSpPr>
          <p:cNvPr id="92" name="Text 88"/>
          <p:cNvSpPr/>
          <p:nvPr/>
        </p:nvSpPr>
        <p:spPr>
          <a:xfrm>
            <a:off x="356616" y="7735824"/>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East bills ₹7.83 Cr and sells ₹3.55 Cr. At the West / South-1 benchmark the same billing delivers ₹6.50 Cr. This single zone is half the national opportunity.</a:t>
            </a:r>
            <a:endParaRPr lang="en-US" sz="650" dirty="0"/>
          </a:p>
        </p:txBody>
      </p:sp>
      <p:sp>
        <p:nvSpPr>
          <p:cNvPr id="93" name="Shape 89"/>
          <p:cNvSpPr/>
          <p:nvPr/>
        </p:nvSpPr>
        <p:spPr>
          <a:xfrm>
            <a:off x="356616" y="8330184"/>
            <a:ext cx="1853184" cy="0"/>
          </a:xfrm>
          <a:prstGeom prst="line">
            <a:avLst/>
          </a:prstGeom>
          <a:noFill/>
          <a:ln w="6350">
            <a:solidFill>
              <a:srgbClr val="C8DCD7"/>
            </a:solidFill>
            <a:prstDash val="solid"/>
          </a:ln>
        </p:spPr>
      </p:sp>
      <p:sp>
        <p:nvSpPr>
          <p:cNvPr id="94" name="Text 90"/>
          <p:cNvSpPr/>
          <p:nvPr/>
        </p:nvSpPr>
        <p:spPr>
          <a:xfrm>
            <a:off x="356616" y="8375904"/>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Set ₹2.54 Cr as the East recovery target with weekly owner review.</a:t>
            </a:r>
            <a:endParaRPr lang="en-US" sz="600" dirty="0"/>
          </a:p>
        </p:txBody>
      </p:sp>
      <p:sp>
        <p:nvSpPr>
          <p:cNvPr id="95" name="Text 91"/>
          <p:cNvSpPr/>
          <p:nvPr/>
        </p:nvSpPr>
        <p:spPr>
          <a:xfrm>
            <a:off x="356616" y="8705088"/>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East ZSM · weekly from 18 Aug</a:t>
            </a:r>
            <a:endParaRPr lang="en-US" sz="620" dirty="0"/>
          </a:p>
        </p:txBody>
      </p:sp>
      <p:sp>
        <p:nvSpPr>
          <p:cNvPr id="96" name="Shape 92"/>
          <p:cNvSpPr/>
          <p:nvPr/>
        </p:nvSpPr>
        <p:spPr>
          <a:xfrm>
            <a:off x="2410968" y="7168896"/>
            <a:ext cx="2036064" cy="1700784"/>
          </a:xfrm>
          <a:prstGeom prst="roundRect">
            <a:avLst>
              <a:gd name="adj" fmla="val 1075"/>
            </a:avLst>
          </a:prstGeom>
          <a:solidFill>
            <a:srgbClr val="FFFFFF"/>
          </a:solidFill>
          <a:ln w="9525">
            <a:solidFill>
              <a:srgbClr val="C8DCD7"/>
            </a:solidFill>
            <a:prstDash val="solid"/>
          </a:ln>
        </p:spPr>
      </p:sp>
      <p:sp>
        <p:nvSpPr>
          <p:cNvPr id="97" name="Shape 93"/>
          <p:cNvSpPr/>
          <p:nvPr/>
        </p:nvSpPr>
        <p:spPr>
          <a:xfrm>
            <a:off x="2410968" y="7168896"/>
            <a:ext cx="2036064" cy="41148"/>
          </a:xfrm>
          <a:prstGeom prst="rect">
            <a:avLst/>
          </a:prstGeom>
          <a:solidFill>
            <a:srgbClr val="D6544D"/>
          </a:solidFill>
          <a:ln/>
        </p:spPr>
      </p:sp>
      <p:sp>
        <p:nvSpPr>
          <p:cNvPr id="98" name="Text 94"/>
          <p:cNvSpPr/>
          <p:nvPr/>
        </p:nvSpPr>
        <p:spPr>
          <a:xfrm>
            <a:off x="2502408" y="7251192"/>
            <a:ext cx="1853184" cy="137160"/>
          </a:xfrm>
          <a:prstGeom prst="rect">
            <a:avLst/>
          </a:prstGeom>
          <a:noFill/>
          <a:ln/>
        </p:spPr>
        <p:txBody>
          <a:bodyPr wrap="square" lIns="0" tIns="0" rIns="0" bIns="0" rtlCol="0" anchor="t"/>
          <a:lstStyle/>
          <a:p>
            <a:pPr indent="0" marL="0">
              <a:buNone/>
            </a:pPr>
            <a:r>
              <a:rPr lang="en-US" sz="620" b="1" spc="50" kern="0" dirty="0">
                <a:solidFill>
                  <a:srgbClr val="D6544D"/>
                </a:solidFill>
                <a:latin typeface="Calibri" pitchFamily="34" charset="0"/>
                <a:ea typeface="Calibri" pitchFamily="34" charset="-122"/>
                <a:cs typeface="Calibri" pitchFamily="34" charset="-120"/>
              </a:rPr>
              <a:t>ROOT CAUSE</a:t>
            </a:r>
            <a:endParaRPr lang="en-US" sz="620" dirty="0"/>
          </a:p>
        </p:txBody>
      </p:sp>
      <p:sp>
        <p:nvSpPr>
          <p:cNvPr id="99" name="Text 95"/>
          <p:cNvSpPr/>
          <p:nvPr/>
        </p:nvSpPr>
        <p:spPr>
          <a:xfrm>
            <a:off x="2502408" y="7397496"/>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Reliance East at 52.9% carries 60.9% of the zone</a:t>
            </a:r>
            <a:endParaRPr lang="en-US" sz="740" dirty="0"/>
          </a:p>
        </p:txBody>
      </p:sp>
      <p:sp>
        <p:nvSpPr>
          <p:cNvPr id="100" name="Text 96"/>
          <p:cNvSpPr/>
          <p:nvPr/>
        </p:nvSpPr>
        <p:spPr>
          <a:xfrm>
            <a:off x="2502408" y="7735824"/>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One account dominates a zone that does not convert. Reliance runs 44.9% in North and 51.2% in Central too — this is a national account pattern surfacing hardest where it has most share.</a:t>
            </a:r>
            <a:endParaRPr lang="en-US" sz="650" dirty="0"/>
          </a:p>
        </p:txBody>
      </p:sp>
      <p:sp>
        <p:nvSpPr>
          <p:cNvPr id="101" name="Shape 97"/>
          <p:cNvSpPr/>
          <p:nvPr/>
        </p:nvSpPr>
        <p:spPr>
          <a:xfrm>
            <a:off x="2502408" y="8330184"/>
            <a:ext cx="1853184" cy="0"/>
          </a:xfrm>
          <a:prstGeom prst="line">
            <a:avLst/>
          </a:prstGeom>
          <a:noFill/>
          <a:ln w="6350">
            <a:solidFill>
              <a:srgbClr val="C8DCD7"/>
            </a:solidFill>
            <a:prstDash val="solid"/>
          </a:ln>
        </p:spPr>
      </p:sp>
      <p:sp>
        <p:nvSpPr>
          <p:cNvPr id="102" name="Text 98"/>
          <p:cNvSpPr/>
          <p:nvPr/>
        </p:nvSpPr>
        <p:spPr>
          <a:xfrm>
            <a:off x="2502408" y="8375904"/>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Make East the lead case in the national Reliance recovery loop.</a:t>
            </a:r>
            <a:endParaRPr lang="en-US" sz="600" dirty="0"/>
          </a:p>
        </p:txBody>
      </p:sp>
      <p:sp>
        <p:nvSpPr>
          <p:cNvPr id="103" name="Text 99"/>
          <p:cNvSpPr/>
          <p:nvPr/>
        </p:nvSpPr>
        <p:spPr>
          <a:xfrm>
            <a:off x="2502408" y="8705088"/>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NKAM Reliance · 25 Aug</a:t>
            </a:r>
            <a:endParaRPr lang="en-US" sz="620" dirty="0"/>
          </a:p>
        </p:txBody>
      </p:sp>
      <p:sp>
        <p:nvSpPr>
          <p:cNvPr id="104" name="Shape 100"/>
          <p:cNvSpPr/>
          <p:nvPr/>
        </p:nvSpPr>
        <p:spPr>
          <a:xfrm>
            <a:off x="4556760" y="7168896"/>
            <a:ext cx="2036064" cy="1700784"/>
          </a:xfrm>
          <a:prstGeom prst="roundRect">
            <a:avLst>
              <a:gd name="adj" fmla="val 1075"/>
            </a:avLst>
          </a:prstGeom>
          <a:solidFill>
            <a:srgbClr val="FFFFFF"/>
          </a:solidFill>
          <a:ln w="9525">
            <a:solidFill>
              <a:srgbClr val="C8DCD7"/>
            </a:solidFill>
            <a:prstDash val="solid"/>
          </a:ln>
        </p:spPr>
      </p:sp>
      <p:sp>
        <p:nvSpPr>
          <p:cNvPr id="105" name="Shape 101"/>
          <p:cNvSpPr/>
          <p:nvPr/>
        </p:nvSpPr>
        <p:spPr>
          <a:xfrm>
            <a:off x="4556760" y="7168896"/>
            <a:ext cx="2036064" cy="41148"/>
          </a:xfrm>
          <a:prstGeom prst="rect">
            <a:avLst/>
          </a:prstGeom>
          <a:solidFill>
            <a:srgbClr val="D6544D"/>
          </a:solidFill>
          <a:ln/>
        </p:spPr>
      </p:sp>
      <p:sp>
        <p:nvSpPr>
          <p:cNvPr id="106" name="Text 102"/>
          <p:cNvSpPr/>
          <p:nvPr/>
        </p:nvSpPr>
        <p:spPr>
          <a:xfrm>
            <a:off x="4648200" y="7251192"/>
            <a:ext cx="1853184" cy="137160"/>
          </a:xfrm>
          <a:prstGeom prst="rect">
            <a:avLst/>
          </a:prstGeom>
          <a:noFill/>
          <a:ln/>
        </p:spPr>
        <p:txBody>
          <a:bodyPr wrap="square" lIns="0" tIns="0" rIns="0" bIns="0" rtlCol="0" anchor="t"/>
          <a:lstStyle/>
          <a:p>
            <a:pPr indent="0" marL="0">
              <a:buNone/>
            </a:pPr>
            <a:r>
              <a:rPr lang="en-US" sz="620" b="1" spc="50" kern="0" dirty="0">
                <a:solidFill>
                  <a:srgbClr val="D6544D"/>
                </a:solidFill>
                <a:latin typeface="Calibri" pitchFamily="34" charset="0"/>
                <a:ea typeface="Calibri" pitchFamily="34" charset="-122"/>
                <a:cs typeface="Calibri" pitchFamily="34" charset="-120"/>
              </a:rPr>
              <a:t>NPI RISK</a:t>
            </a:r>
            <a:endParaRPr lang="en-US" sz="620" dirty="0"/>
          </a:p>
        </p:txBody>
      </p:sp>
      <p:sp>
        <p:nvSpPr>
          <p:cNvPr id="107" name="Text 103"/>
          <p:cNvSpPr/>
          <p:nvPr/>
        </p:nvSpPr>
        <p:spPr>
          <a:xfrm>
            <a:off x="4648200" y="7397496"/>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Highest NPI mix nationally into the worst-converting zone</a:t>
            </a:r>
            <a:endParaRPr lang="en-US" sz="740" dirty="0"/>
          </a:p>
        </p:txBody>
      </p:sp>
      <p:sp>
        <p:nvSpPr>
          <p:cNvPr id="108" name="Text 104"/>
          <p:cNvSpPr/>
          <p:nvPr/>
        </p:nvSpPr>
        <p:spPr>
          <a:xfrm>
            <a:off x="4648200" y="7735824"/>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10.2% of East offtake is new product, against 6.4% in South-2. New products are being launched hardest where sell-through is weakest — the launch will read as a product failure when it is a flow failure.</a:t>
            </a:r>
            <a:endParaRPr lang="en-US" sz="650" dirty="0"/>
          </a:p>
        </p:txBody>
      </p:sp>
      <p:sp>
        <p:nvSpPr>
          <p:cNvPr id="109" name="Shape 105"/>
          <p:cNvSpPr/>
          <p:nvPr/>
        </p:nvSpPr>
        <p:spPr>
          <a:xfrm>
            <a:off x="4648200" y="8330184"/>
            <a:ext cx="1853184" cy="0"/>
          </a:xfrm>
          <a:prstGeom prst="line">
            <a:avLst/>
          </a:prstGeom>
          <a:noFill/>
          <a:ln w="6350">
            <a:solidFill>
              <a:srgbClr val="C8DCD7"/>
            </a:solidFill>
            <a:prstDash val="solid"/>
          </a:ln>
        </p:spPr>
      </p:sp>
      <p:sp>
        <p:nvSpPr>
          <p:cNvPr id="110" name="Text 106"/>
          <p:cNvSpPr/>
          <p:nvPr/>
        </p:nvSpPr>
        <p:spPr>
          <a:xfrm>
            <a:off x="4648200" y="8375904"/>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Freeze incremental NPI into East until conversion clears 60%; protect only listed hero EANs.</a:t>
            </a:r>
            <a:endParaRPr lang="en-US" sz="600" dirty="0"/>
          </a:p>
        </p:txBody>
      </p:sp>
      <p:sp>
        <p:nvSpPr>
          <p:cNvPr id="111" name="Text 107"/>
          <p:cNvSpPr/>
          <p:nvPr/>
        </p:nvSpPr>
        <p:spPr>
          <a:xfrm>
            <a:off x="4648200" y="8705088"/>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Category + Supply · immediate</a:t>
            </a:r>
            <a:endParaRPr lang="en-US" sz="620" dirty="0"/>
          </a:p>
        </p:txBody>
      </p:sp>
      <p:sp>
        <p:nvSpPr>
          <p:cNvPr id="112" name="Shape 108"/>
          <p:cNvSpPr/>
          <p:nvPr/>
        </p:nvSpPr>
        <p:spPr>
          <a:xfrm>
            <a:off x="265176" y="8979408"/>
            <a:ext cx="2036064" cy="1700784"/>
          </a:xfrm>
          <a:prstGeom prst="roundRect">
            <a:avLst>
              <a:gd name="adj" fmla="val 1075"/>
            </a:avLst>
          </a:prstGeom>
          <a:solidFill>
            <a:srgbClr val="FFFFFF"/>
          </a:solidFill>
          <a:ln w="9525">
            <a:solidFill>
              <a:srgbClr val="C8DCD7"/>
            </a:solidFill>
            <a:prstDash val="solid"/>
          </a:ln>
        </p:spPr>
      </p:sp>
      <p:sp>
        <p:nvSpPr>
          <p:cNvPr id="113" name="Shape 109"/>
          <p:cNvSpPr/>
          <p:nvPr/>
        </p:nvSpPr>
        <p:spPr>
          <a:xfrm>
            <a:off x="265176" y="8979408"/>
            <a:ext cx="2036064" cy="41148"/>
          </a:xfrm>
          <a:prstGeom prst="rect">
            <a:avLst/>
          </a:prstGeom>
          <a:solidFill>
            <a:srgbClr val="F2B84B"/>
          </a:solidFill>
          <a:ln/>
        </p:spPr>
      </p:sp>
      <p:sp>
        <p:nvSpPr>
          <p:cNvPr id="114" name="Text 110"/>
          <p:cNvSpPr/>
          <p:nvPr/>
        </p:nvSpPr>
        <p:spPr>
          <a:xfrm>
            <a:off x="356616" y="9061704"/>
            <a:ext cx="1853184" cy="137160"/>
          </a:xfrm>
          <a:prstGeom prst="rect">
            <a:avLst/>
          </a:prstGeom>
          <a:noFill/>
          <a:ln/>
        </p:spPr>
        <p:txBody>
          <a:bodyPr wrap="square" lIns="0" tIns="0" rIns="0" bIns="0" rtlCol="0" anchor="t"/>
          <a:lstStyle/>
          <a:p>
            <a:pPr indent="0" marL="0">
              <a:buNone/>
            </a:pPr>
            <a:r>
              <a:rPr lang="en-US" sz="620" b="1" spc="50" kern="0" dirty="0">
                <a:solidFill>
                  <a:srgbClr val="F2B84B"/>
                </a:solidFill>
                <a:latin typeface="Calibri" pitchFamily="34" charset="0"/>
                <a:ea typeface="Calibri" pitchFamily="34" charset="-122"/>
                <a:cs typeface="Calibri" pitchFamily="34" charset="-120"/>
              </a:rPr>
              <a:t>DIAGNOSIS</a:t>
            </a:r>
            <a:endParaRPr lang="en-US" sz="620" dirty="0"/>
          </a:p>
        </p:txBody>
      </p:sp>
      <p:sp>
        <p:nvSpPr>
          <p:cNvPr id="115" name="Text 111"/>
          <p:cNvSpPr/>
          <p:nvPr/>
        </p:nvSpPr>
        <p:spPr>
          <a:xfrm>
            <a:off x="356616" y="9208008"/>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Billing outruns selling by more than 2:1</a:t>
            </a:r>
            <a:endParaRPr lang="en-US" sz="740" dirty="0"/>
          </a:p>
        </p:txBody>
      </p:sp>
      <p:sp>
        <p:nvSpPr>
          <p:cNvPr id="116" name="Text 112"/>
          <p:cNvSpPr/>
          <p:nvPr/>
        </p:nvSpPr>
        <p:spPr>
          <a:xfrm>
            <a:off x="356616" y="9546336"/>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A gap this size over one month is a loading pattern, not an availability gap. Continued primary at this rate builds trade stock that will suppress future orders.</a:t>
            </a:r>
            <a:endParaRPr lang="en-US" sz="650" dirty="0"/>
          </a:p>
        </p:txBody>
      </p:sp>
      <p:sp>
        <p:nvSpPr>
          <p:cNvPr id="117" name="Shape 113"/>
          <p:cNvSpPr/>
          <p:nvPr/>
        </p:nvSpPr>
        <p:spPr>
          <a:xfrm>
            <a:off x="356616" y="10140696"/>
            <a:ext cx="1853184" cy="0"/>
          </a:xfrm>
          <a:prstGeom prst="line">
            <a:avLst/>
          </a:prstGeom>
          <a:noFill/>
          <a:ln w="6350">
            <a:solidFill>
              <a:srgbClr val="C8DCD7"/>
            </a:solidFill>
            <a:prstDash val="solid"/>
          </a:ln>
        </p:spPr>
      </p:sp>
      <p:sp>
        <p:nvSpPr>
          <p:cNvPr id="118" name="Text 114"/>
          <p:cNvSpPr/>
          <p:nvPr/>
        </p:nvSpPr>
        <p:spPr>
          <a:xfrm>
            <a:off x="356616" y="10186416"/>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Cap East primary at trailing three-month offtake until the gap closes.</a:t>
            </a:r>
            <a:endParaRPr lang="en-US" sz="600" dirty="0"/>
          </a:p>
        </p:txBody>
      </p:sp>
      <p:sp>
        <p:nvSpPr>
          <p:cNvPr id="119" name="Text 115"/>
          <p:cNvSpPr/>
          <p:nvPr/>
        </p:nvSpPr>
        <p:spPr>
          <a:xfrm>
            <a:off x="356616" y="10515600"/>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Supply + Sales lead · immediate</a:t>
            </a:r>
            <a:endParaRPr lang="en-US" sz="620" dirty="0"/>
          </a:p>
        </p:txBody>
      </p:sp>
      <p:sp>
        <p:nvSpPr>
          <p:cNvPr id="120" name="Shape 116"/>
          <p:cNvSpPr/>
          <p:nvPr/>
        </p:nvSpPr>
        <p:spPr>
          <a:xfrm>
            <a:off x="2410968" y="8979408"/>
            <a:ext cx="2036064" cy="1700784"/>
          </a:xfrm>
          <a:prstGeom prst="roundRect">
            <a:avLst>
              <a:gd name="adj" fmla="val 1075"/>
            </a:avLst>
          </a:prstGeom>
          <a:solidFill>
            <a:srgbClr val="FFFFFF"/>
          </a:solidFill>
          <a:ln w="9525">
            <a:solidFill>
              <a:srgbClr val="C8DCD7"/>
            </a:solidFill>
            <a:prstDash val="solid"/>
          </a:ln>
        </p:spPr>
      </p:sp>
      <p:sp>
        <p:nvSpPr>
          <p:cNvPr id="121" name="Shape 117"/>
          <p:cNvSpPr/>
          <p:nvPr/>
        </p:nvSpPr>
        <p:spPr>
          <a:xfrm>
            <a:off x="2410968" y="8979408"/>
            <a:ext cx="2036064" cy="41148"/>
          </a:xfrm>
          <a:prstGeom prst="rect">
            <a:avLst/>
          </a:prstGeom>
          <a:solidFill>
            <a:srgbClr val="F2B84B"/>
          </a:solidFill>
          <a:ln/>
        </p:spPr>
      </p:sp>
      <p:sp>
        <p:nvSpPr>
          <p:cNvPr id="122" name="Text 118"/>
          <p:cNvSpPr/>
          <p:nvPr/>
        </p:nvSpPr>
        <p:spPr>
          <a:xfrm>
            <a:off x="2502408" y="9061704"/>
            <a:ext cx="1853184" cy="137160"/>
          </a:xfrm>
          <a:prstGeom prst="rect">
            <a:avLst/>
          </a:prstGeom>
          <a:noFill/>
          <a:ln/>
        </p:spPr>
        <p:txBody>
          <a:bodyPr wrap="square" lIns="0" tIns="0" rIns="0" bIns="0" rtlCol="0" anchor="t"/>
          <a:lstStyle/>
          <a:p>
            <a:pPr indent="0" marL="0">
              <a:buNone/>
            </a:pPr>
            <a:r>
              <a:rPr lang="en-US" sz="620" b="1" spc="50" kern="0" dirty="0">
                <a:solidFill>
                  <a:srgbClr val="F2B84B"/>
                </a:solidFill>
                <a:latin typeface="Calibri" pitchFamily="34" charset="0"/>
                <a:ea typeface="Calibri" pitchFamily="34" charset="-122"/>
                <a:cs typeface="Calibri" pitchFamily="34" charset="-120"/>
              </a:rPr>
              <a:t>DATA</a:t>
            </a:r>
            <a:endParaRPr lang="en-US" sz="620" dirty="0"/>
          </a:p>
        </p:txBody>
      </p:sp>
      <p:sp>
        <p:nvSpPr>
          <p:cNvPr id="123" name="Text 119"/>
          <p:cNvSpPr/>
          <p:nvPr/>
        </p:nvSpPr>
        <p:spPr>
          <a:xfrm>
            <a:off x="2502408" y="9208008"/>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Two of three top chains cannot be flow-tested</a:t>
            </a:r>
            <a:endParaRPr lang="en-US" sz="740" dirty="0"/>
          </a:p>
        </p:txBody>
      </p:sp>
      <p:sp>
        <p:nvSpPr>
          <p:cNvPr id="124" name="Text 120"/>
          <p:cNvSpPr/>
          <p:nvPr/>
        </p:nvSpPr>
        <p:spPr>
          <a:xfrm>
            <a:off x="2502408" y="9546336"/>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Apollo reports above 100% and Vishal Mega Mart has no mapped primary, so only Reliance in this zone has a verifiable conversion figure.</a:t>
            </a:r>
            <a:endParaRPr lang="en-US" sz="650" dirty="0"/>
          </a:p>
        </p:txBody>
      </p:sp>
      <p:sp>
        <p:nvSpPr>
          <p:cNvPr id="125" name="Shape 121"/>
          <p:cNvSpPr/>
          <p:nvPr/>
        </p:nvSpPr>
        <p:spPr>
          <a:xfrm>
            <a:off x="2502408" y="10140696"/>
            <a:ext cx="1853184" cy="0"/>
          </a:xfrm>
          <a:prstGeom prst="line">
            <a:avLst/>
          </a:prstGeom>
          <a:noFill/>
          <a:ln w="6350">
            <a:solidFill>
              <a:srgbClr val="C8DCD7"/>
            </a:solidFill>
            <a:prstDash val="solid"/>
          </a:ln>
        </p:spPr>
      </p:sp>
      <p:sp>
        <p:nvSpPr>
          <p:cNvPr id="126" name="Text 122"/>
          <p:cNvSpPr/>
          <p:nvPr/>
        </p:nvSpPr>
        <p:spPr>
          <a:xfrm>
            <a:off x="2502408" y="10186416"/>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Map Vishal Mega Mart billing and reconcile Apollo East opening stock.</a:t>
            </a:r>
            <a:endParaRPr lang="en-US" sz="600" dirty="0"/>
          </a:p>
        </p:txBody>
      </p:sp>
      <p:sp>
        <p:nvSpPr>
          <p:cNvPr id="127" name="Text 123"/>
          <p:cNvSpPr/>
          <p:nvPr/>
        </p:nvSpPr>
        <p:spPr>
          <a:xfrm>
            <a:off x="2502408" y="10515600"/>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Analyst · 18 Aug</a:t>
            </a:r>
            <a:endParaRPr lang="en-US" sz="620" dirty="0"/>
          </a:p>
        </p:txBody>
      </p:sp>
      <p:sp>
        <p:nvSpPr>
          <p:cNvPr id="128" name="Shape 124"/>
          <p:cNvSpPr/>
          <p:nvPr/>
        </p:nvSpPr>
        <p:spPr>
          <a:xfrm>
            <a:off x="4556760" y="8979408"/>
            <a:ext cx="2036064" cy="1700784"/>
          </a:xfrm>
          <a:prstGeom prst="roundRect">
            <a:avLst>
              <a:gd name="adj" fmla="val 1075"/>
            </a:avLst>
          </a:prstGeom>
          <a:solidFill>
            <a:srgbClr val="FFFFFF"/>
          </a:solidFill>
          <a:ln w="9525">
            <a:solidFill>
              <a:srgbClr val="C8DCD7"/>
            </a:solidFill>
            <a:prstDash val="solid"/>
          </a:ln>
        </p:spPr>
      </p:sp>
      <p:sp>
        <p:nvSpPr>
          <p:cNvPr id="129" name="Shape 125"/>
          <p:cNvSpPr/>
          <p:nvPr/>
        </p:nvSpPr>
        <p:spPr>
          <a:xfrm>
            <a:off x="4556760" y="8979408"/>
            <a:ext cx="2036064" cy="41148"/>
          </a:xfrm>
          <a:prstGeom prst="rect">
            <a:avLst/>
          </a:prstGeom>
          <a:solidFill>
            <a:srgbClr val="116F68"/>
          </a:solidFill>
          <a:ln/>
        </p:spPr>
      </p:sp>
      <p:sp>
        <p:nvSpPr>
          <p:cNvPr id="130" name="Text 126"/>
          <p:cNvSpPr/>
          <p:nvPr/>
        </p:nvSpPr>
        <p:spPr>
          <a:xfrm>
            <a:off x="4648200" y="9061704"/>
            <a:ext cx="1853184" cy="137160"/>
          </a:xfrm>
          <a:prstGeom prst="rect">
            <a:avLst/>
          </a:prstGeom>
          <a:noFill/>
          <a:ln/>
        </p:spPr>
        <p:txBody>
          <a:bodyPr wrap="square" lIns="0" tIns="0" rIns="0" bIns="0" rtlCol="0" anchor="t"/>
          <a:lstStyle/>
          <a:p>
            <a:pPr indent="0" marL="0">
              <a:buNone/>
            </a:pPr>
            <a:r>
              <a:rPr lang="en-US" sz="620" b="1" spc="50" kern="0" dirty="0">
                <a:solidFill>
                  <a:srgbClr val="116F68"/>
                </a:solidFill>
                <a:latin typeface="Calibri" pitchFamily="34" charset="0"/>
                <a:ea typeface="Calibri" pitchFamily="34" charset="-122"/>
                <a:cs typeface="Calibri" pitchFamily="34" charset="-120"/>
              </a:rPr>
              <a:t>PORTFOLIO</a:t>
            </a:r>
            <a:endParaRPr lang="en-US" sz="620" dirty="0"/>
          </a:p>
        </p:txBody>
      </p:sp>
      <p:sp>
        <p:nvSpPr>
          <p:cNvPr id="131" name="Text 127"/>
          <p:cNvSpPr/>
          <p:nvPr/>
        </p:nvSpPr>
        <p:spPr>
          <a:xfrm>
            <a:off x="4648200" y="9208008"/>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The Derma Co. is barely present at ₹0.60 Cr</a:t>
            </a:r>
            <a:endParaRPr lang="en-US" sz="740" dirty="0"/>
          </a:p>
        </p:txBody>
      </p:sp>
      <p:sp>
        <p:nvSpPr>
          <p:cNvPr id="132" name="Text 128"/>
          <p:cNvSpPr/>
          <p:nvPr/>
        </p:nvSpPr>
        <p:spPr>
          <a:xfrm>
            <a:off x="4648200" y="9546336"/>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TDC is 16.9% of East offtake against 39.4% in West. Fixing flow before adding TDC distribution avoids compounding the problem.</a:t>
            </a:r>
            <a:endParaRPr lang="en-US" sz="650" dirty="0"/>
          </a:p>
        </p:txBody>
      </p:sp>
      <p:sp>
        <p:nvSpPr>
          <p:cNvPr id="133" name="Shape 129"/>
          <p:cNvSpPr/>
          <p:nvPr/>
        </p:nvSpPr>
        <p:spPr>
          <a:xfrm>
            <a:off x="4648200" y="10140696"/>
            <a:ext cx="1853184" cy="0"/>
          </a:xfrm>
          <a:prstGeom prst="line">
            <a:avLst/>
          </a:prstGeom>
          <a:noFill/>
          <a:ln w="6350">
            <a:solidFill>
              <a:srgbClr val="C8DCD7"/>
            </a:solidFill>
            <a:prstDash val="solid"/>
          </a:ln>
        </p:spPr>
      </p:sp>
      <p:sp>
        <p:nvSpPr>
          <p:cNvPr id="134" name="Text 130"/>
          <p:cNvSpPr/>
          <p:nvPr/>
        </p:nvSpPr>
        <p:spPr>
          <a:xfrm>
            <a:off x="4648200" y="10186416"/>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Defer TDC expansion in East until zone conversion clears 60%.</a:t>
            </a:r>
            <a:endParaRPr lang="en-US" sz="600" dirty="0"/>
          </a:p>
        </p:txBody>
      </p:sp>
      <p:sp>
        <p:nvSpPr>
          <p:cNvPr id="135" name="Text 131"/>
          <p:cNvSpPr/>
          <p:nvPr/>
        </p:nvSpPr>
        <p:spPr>
          <a:xfrm>
            <a:off x="4648200" y="10515600"/>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Category · Sep review</a:t>
            </a:r>
            <a:endParaRPr lang="en-US" sz="620" dirty="0"/>
          </a:p>
        </p:txBody>
      </p:sp>
      <p:sp>
        <p:nvSpPr>
          <p:cNvPr id="136" name="Text 132"/>
          <p:cNvSpPr/>
          <p:nvPr/>
        </p:nvSpPr>
        <p:spPr>
          <a:xfrm>
            <a:off x="265176" y="10844784"/>
            <a:ext cx="6327648" cy="182880"/>
          </a:xfrm>
          <a:prstGeom prst="rect">
            <a:avLst/>
          </a:prstGeom>
          <a:noFill/>
          <a:ln/>
        </p:spPr>
        <p:txBody>
          <a:bodyPr wrap="square" lIns="0" tIns="0" rIns="0" bIns="0" rtlCol="0" anchor="t"/>
          <a:lstStyle/>
          <a:p>
            <a:pPr algn="ctr" indent="0" marL="0">
              <a:buNone/>
            </a:pPr>
            <a:r>
              <a:rPr lang="en-US" sz="680" i="1" dirty="0">
                <a:solidFill>
                  <a:srgbClr val="5F716E"/>
                </a:solidFill>
                <a:latin typeface="Calibri" pitchFamily="34" charset="0"/>
                <a:ea typeface="Calibri" pitchFamily="34" charset="-122"/>
                <a:cs typeface="Calibri" pitchFamily="34" charset="-120"/>
              </a:rPr>
              <a:t>East NPI mix 10.2% | ₹2.54 Cr recoverable at the West / South-1 benchmark</a:t>
            </a:r>
            <a:endParaRPr lang="en-US" sz="6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A"/>
        </a:solidFill>
      </p:bgPr>
    </p:bg>
    <p:spTree>
      <p:nvGrpSpPr>
        <p:cNvPr id="1" name=""/>
        <p:cNvGrpSpPr/>
        <p:nvPr/>
      </p:nvGrpSpPr>
      <p:grpSpPr>
        <a:xfrm>
          <a:off x="0" y="0"/>
          <a:ext cx="0" cy="0"/>
          <a:chOff x="0" y="0"/>
          <a:chExt cx="0" cy="0"/>
        </a:xfrm>
      </p:grpSpPr>
      <p:sp>
        <p:nvSpPr>
          <p:cNvPr id="2" name="Shape 0"/>
          <p:cNvSpPr/>
          <p:nvPr/>
        </p:nvSpPr>
        <p:spPr>
          <a:xfrm>
            <a:off x="0" y="0"/>
            <a:ext cx="6858000" cy="1133856"/>
          </a:xfrm>
          <a:prstGeom prst="rect">
            <a:avLst/>
          </a:prstGeom>
          <a:solidFill>
            <a:srgbClr val="116F68"/>
          </a:solidFill>
          <a:ln/>
        </p:spPr>
      </p:sp>
      <p:sp>
        <p:nvSpPr>
          <p:cNvPr id="3" name="Text 1"/>
          <p:cNvSpPr/>
          <p:nvPr/>
        </p:nvSpPr>
        <p:spPr>
          <a:xfrm>
            <a:off x="365760" y="182880"/>
            <a:ext cx="5641848" cy="548640"/>
          </a:xfrm>
          <a:prstGeom prst="rect">
            <a:avLst/>
          </a:prstGeom>
          <a:noFill/>
          <a:ln/>
        </p:spPr>
        <p:txBody>
          <a:bodyPr wrap="square" lIns="0" tIns="0" rIns="0" bIns="0" rtlCol="0" anchor="ctr"/>
          <a:lstStyle/>
          <a:p>
            <a:pPr indent="0" marL="0">
              <a:lnSpc>
                <a:spcPct val="92000"/>
              </a:lnSpc>
              <a:buNone/>
            </a:pPr>
            <a:r>
              <a:rPr lang="en-US" sz="1850" b="1" dirty="0">
                <a:solidFill>
                  <a:srgbClr val="FFFFFF"/>
                </a:solidFill>
                <a:latin typeface="Calibri Light" pitchFamily="34" charset="0"/>
                <a:ea typeface="Calibri Light" pitchFamily="34" charset="-122"/>
                <a:cs typeface="Calibri Light" pitchFamily="34" charset="-120"/>
              </a:rPr>
              <a:t>Central: Small and healthy</a:t>
            </a:r>
            <a:endParaRPr lang="en-US" sz="1850" dirty="0"/>
          </a:p>
        </p:txBody>
      </p:sp>
      <p:sp>
        <p:nvSpPr>
          <p:cNvPr id="4" name="Text 2"/>
          <p:cNvSpPr/>
          <p:nvPr/>
        </p:nvSpPr>
        <p:spPr>
          <a:xfrm>
            <a:off x="384048" y="786384"/>
            <a:ext cx="5641848" cy="237744"/>
          </a:xfrm>
          <a:prstGeom prst="rect">
            <a:avLst/>
          </a:prstGeom>
          <a:noFill/>
          <a:ln/>
        </p:spPr>
        <p:txBody>
          <a:bodyPr wrap="square" lIns="0" tIns="0" rIns="0" bIns="0" rtlCol="0" anchor="ctr"/>
          <a:lstStyle/>
          <a:p>
            <a:pPr indent="0" marL="0">
              <a:buNone/>
            </a:pPr>
            <a:r>
              <a:rPr lang="en-US" sz="850" dirty="0">
                <a:solidFill>
                  <a:srgbClr val="BFDCD7"/>
                </a:solidFill>
                <a:latin typeface="Calibri" pitchFamily="34" charset="0"/>
                <a:ea typeface="Calibri" pitchFamily="34" charset="-122"/>
                <a:cs typeface="Calibri" pitchFamily="34" charset="-120"/>
              </a:rPr>
              <a:t>MT zone deep dive | July 2026 | ₹ Cr | Modern Trade accounts only</a:t>
            </a:r>
            <a:endParaRPr lang="en-US" sz="850" dirty="0"/>
          </a:p>
        </p:txBody>
      </p:sp>
      <p:sp>
        <p:nvSpPr>
          <p:cNvPr id="5" name="Text 3"/>
          <p:cNvSpPr/>
          <p:nvPr/>
        </p:nvSpPr>
        <p:spPr>
          <a:xfrm>
            <a:off x="6117336" y="365760"/>
            <a:ext cx="402336" cy="237744"/>
          </a:xfrm>
          <a:prstGeom prst="rect">
            <a:avLst/>
          </a:prstGeom>
          <a:noFill/>
          <a:ln/>
        </p:spPr>
        <p:txBody>
          <a:bodyPr wrap="square" lIns="0" tIns="0" rIns="0" bIns="0" rtlCol="0" anchor="t"/>
          <a:lstStyle/>
          <a:p>
            <a:pPr algn="r" indent="0" marL="0">
              <a:buNone/>
            </a:pPr>
            <a:r>
              <a:rPr lang="en-US" sz="950" b="1" dirty="0">
                <a:solidFill>
                  <a:srgbClr val="8FC4BD"/>
                </a:solidFill>
                <a:latin typeface="Calibri" pitchFamily="34" charset="0"/>
                <a:ea typeface="Calibri" pitchFamily="34" charset="-122"/>
                <a:cs typeface="Calibri" pitchFamily="34" charset="-120"/>
              </a:rPr>
              <a:t>12</a:t>
            </a:r>
            <a:endParaRPr lang="en-US" sz="950" dirty="0"/>
          </a:p>
        </p:txBody>
      </p:sp>
      <p:sp>
        <p:nvSpPr>
          <p:cNvPr id="6" name="Shape 4"/>
          <p:cNvSpPr/>
          <p:nvPr/>
        </p:nvSpPr>
        <p:spPr>
          <a:xfrm>
            <a:off x="265176" y="11375136"/>
            <a:ext cx="6327648" cy="420624"/>
          </a:xfrm>
          <a:prstGeom prst="roundRect">
            <a:avLst>
              <a:gd name="adj" fmla="val 6522"/>
            </a:avLst>
          </a:prstGeom>
          <a:solidFill>
            <a:srgbClr val="DFF2ED"/>
          </a:solidFill>
          <a:ln w="9525">
            <a:solidFill>
              <a:srgbClr val="C8DCD7"/>
            </a:solidFill>
            <a:prstDash val="solid"/>
          </a:ln>
        </p:spPr>
      </p:sp>
      <p:sp>
        <p:nvSpPr>
          <p:cNvPr id="7" name="Text 5"/>
          <p:cNvSpPr/>
          <p:nvPr/>
        </p:nvSpPr>
        <p:spPr>
          <a:xfrm>
            <a:off x="374904"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EVIDENCE</a:t>
            </a:r>
            <a:endParaRPr lang="en-US" sz="650" dirty="0"/>
          </a:p>
        </p:txBody>
      </p:sp>
      <p:sp>
        <p:nvSpPr>
          <p:cNvPr id="8" name="Text 6"/>
          <p:cNvSpPr/>
          <p:nvPr/>
        </p:nvSpPr>
        <p:spPr>
          <a:xfrm>
            <a:off x="374904"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moved</a:t>
            </a:r>
            <a:endParaRPr lang="en-US" sz="700" dirty="0"/>
          </a:p>
        </p:txBody>
      </p:sp>
      <p:sp>
        <p:nvSpPr>
          <p:cNvPr id="9" name="Text 7"/>
          <p:cNvSpPr/>
          <p:nvPr/>
        </p:nvSpPr>
        <p:spPr>
          <a:xfrm>
            <a:off x="1901952"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IMPLICATION</a:t>
            </a:r>
            <a:endParaRPr lang="en-US" sz="650" dirty="0"/>
          </a:p>
        </p:txBody>
      </p:sp>
      <p:sp>
        <p:nvSpPr>
          <p:cNvPr id="10" name="Text 8"/>
          <p:cNvSpPr/>
          <p:nvPr/>
        </p:nvSpPr>
        <p:spPr>
          <a:xfrm>
            <a:off x="1901952"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Why it matters</a:t>
            </a:r>
            <a:endParaRPr lang="en-US" sz="700" dirty="0"/>
          </a:p>
        </p:txBody>
      </p:sp>
      <p:sp>
        <p:nvSpPr>
          <p:cNvPr id="11" name="Shape 9"/>
          <p:cNvSpPr/>
          <p:nvPr/>
        </p:nvSpPr>
        <p:spPr>
          <a:xfrm>
            <a:off x="1819656" y="11457432"/>
            <a:ext cx="0" cy="265176"/>
          </a:xfrm>
          <a:prstGeom prst="line">
            <a:avLst/>
          </a:prstGeom>
          <a:noFill/>
          <a:ln w="9525">
            <a:solidFill>
              <a:srgbClr val="C8DCD7"/>
            </a:solidFill>
            <a:prstDash val="solid"/>
          </a:ln>
        </p:spPr>
      </p:sp>
      <p:sp>
        <p:nvSpPr>
          <p:cNvPr id="12" name="Text 10"/>
          <p:cNvSpPr/>
          <p:nvPr/>
        </p:nvSpPr>
        <p:spPr>
          <a:xfrm>
            <a:off x="3429000"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ACTION</a:t>
            </a:r>
            <a:endParaRPr lang="en-US" sz="650" dirty="0"/>
          </a:p>
        </p:txBody>
      </p:sp>
      <p:sp>
        <p:nvSpPr>
          <p:cNvPr id="13" name="Text 11"/>
          <p:cNvSpPr/>
          <p:nvPr/>
        </p:nvSpPr>
        <p:spPr>
          <a:xfrm>
            <a:off x="3429000"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changes now</a:t>
            </a:r>
            <a:endParaRPr lang="en-US" sz="700" dirty="0"/>
          </a:p>
        </p:txBody>
      </p:sp>
      <p:sp>
        <p:nvSpPr>
          <p:cNvPr id="14" name="Shape 12"/>
          <p:cNvSpPr/>
          <p:nvPr/>
        </p:nvSpPr>
        <p:spPr>
          <a:xfrm>
            <a:off x="3346704" y="11457432"/>
            <a:ext cx="0" cy="265176"/>
          </a:xfrm>
          <a:prstGeom prst="line">
            <a:avLst/>
          </a:prstGeom>
          <a:noFill/>
          <a:ln w="9525">
            <a:solidFill>
              <a:srgbClr val="C8DCD7"/>
            </a:solidFill>
            <a:prstDash val="solid"/>
          </a:ln>
        </p:spPr>
      </p:sp>
      <p:sp>
        <p:nvSpPr>
          <p:cNvPr id="15" name="Text 13"/>
          <p:cNvSpPr/>
          <p:nvPr/>
        </p:nvSpPr>
        <p:spPr>
          <a:xfrm>
            <a:off x="4956048"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OWNER</a:t>
            </a:r>
            <a:endParaRPr lang="en-US" sz="650" dirty="0"/>
          </a:p>
        </p:txBody>
      </p:sp>
      <p:sp>
        <p:nvSpPr>
          <p:cNvPr id="16" name="Text 14"/>
          <p:cNvSpPr/>
          <p:nvPr/>
        </p:nvSpPr>
        <p:spPr>
          <a:xfrm>
            <a:off x="4956048"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Who closes it</a:t>
            </a:r>
            <a:endParaRPr lang="en-US" sz="700" dirty="0"/>
          </a:p>
        </p:txBody>
      </p:sp>
      <p:sp>
        <p:nvSpPr>
          <p:cNvPr id="17" name="Shape 15"/>
          <p:cNvSpPr/>
          <p:nvPr/>
        </p:nvSpPr>
        <p:spPr>
          <a:xfrm>
            <a:off x="4873752" y="11457432"/>
            <a:ext cx="0" cy="265176"/>
          </a:xfrm>
          <a:prstGeom prst="line">
            <a:avLst/>
          </a:prstGeom>
          <a:noFill/>
          <a:ln w="9525">
            <a:solidFill>
              <a:srgbClr val="C8DCD7"/>
            </a:solidFill>
            <a:prstDash val="solid"/>
          </a:ln>
        </p:spPr>
      </p:sp>
      <p:sp>
        <p:nvSpPr>
          <p:cNvPr id="18" name="Text 16"/>
          <p:cNvSpPr/>
          <p:nvPr/>
        </p:nvSpPr>
        <p:spPr>
          <a:xfrm>
            <a:off x="301752" y="11887200"/>
            <a:ext cx="6254496" cy="201168"/>
          </a:xfrm>
          <a:prstGeom prst="rect">
            <a:avLst/>
          </a:prstGeom>
          <a:noFill/>
          <a:ln/>
        </p:spPr>
        <p:txBody>
          <a:bodyPr wrap="square" lIns="0" tIns="0" rIns="0" bIns="0" rtlCol="0" anchor="t"/>
          <a:lstStyle/>
          <a:p>
            <a:pPr algn="ctr" indent="0" marL="0">
              <a:buNone/>
            </a:pPr>
            <a:r>
              <a:rPr lang="en-US" sz="650" dirty="0">
                <a:solidFill>
                  <a:srgbClr val="5F716E"/>
                </a:solidFill>
                <a:latin typeface="Calibri" pitchFamily="34" charset="0"/>
                <a:ea typeface="Calibri" pitchFamily="34" charset="-122"/>
                <a:cs typeface="Calibri" pitchFamily="34" charset="-120"/>
              </a:rPr>
              <a:t>July Compiled Offtake (Sheet1) · July'26 primary and distributor secondary · values in ₹ Cr · Zone performance represents Modern Trade accounts only. eB2B and SIS channels are excluded from MT zone sales and reported separately.</a:t>
            </a:r>
            <a:endParaRPr lang="en-US" sz="650" dirty="0"/>
          </a:p>
        </p:txBody>
      </p:sp>
      <p:sp>
        <p:nvSpPr>
          <p:cNvPr id="19" name="Shape 17"/>
          <p:cNvSpPr/>
          <p:nvPr/>
        </p:nvSpPr>
        <p:spPr>
          <a:xfrm>
            <a:off x="265176" y="1261872"/>
            <a:ext cx="1499616" cy="859536"/>
          </a:xfrm>
          <a:prstGeom prst="rect">
            <a:avLst/>
          </a:prstGeom>
          <a:solidFill>
            <a:srgbClr val="FFFFFF"/>
          </a:solidFill>
          <a:ln w="9525">
            <a:solidFill>
              <a:srgbClr val="C8DCD7"/>
            </a:solidFill>
            <a:prstDash val="solid"/>
          </a:ln>
        </p:spPr>
      </p:sp>
      <p:sp>
        <p:nvSpPr>
          <p:cNvPr id="20" name="Shape 18"/>
          <p:cNvSpPr/>
          <p:nvPr/>
        </p:nvSpPr>
        <p:spPr>
          <a:xfrm>
            <a:off x="265176" y="1261872"/>
            <a:ext cx="64008" cy="859536"/>
          </a:xfrm>
          <a:prstGeom prst="rect">
            <a:avLst/>
          </a:prstGeom>
          <a:solidFill>
            <a:srgbClr val="2E7DA8"/>
          </a:solidFill>
          <a:ln/>
        </p:spPr>
      </p:sp>
      <p:sp>
        <p:nvSpPr>
          <p:cNvPr id="21" name="Text 19"/>
          <p:cNvSpPr/>
          <p:nvPr/>
        </p:nvSpPr>
        <p:spPr>
          <a:xfrm>
            <a:off x="420624"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PRIMARY</a:t>
            </a:r>
            <a:endParaRPr lang="en-US" sz="680" dirty="0"/>
          </a:p>
        </p:txBody>
      </p:sp>
      <p:sp>
        <p:nvSpPr>
          <p:cNvPr id="22" name="Text 20"/>
          <p:cNvSpPr/>
          <p:nvPr/>
        </p:nvSpPr>
        <p:spPr>
          <a:xfrm>
            <a:off x="420624" y="1536192"/>
            <a:ext cx="1261872" cy="310896"/>
          </a:xfrm>
          <a:prstGeom prst="rect">
            <a:avLst/>
          </a:prstGeom>
          <a:noFill/>
          <a:ln/>
        </p:spPr>
        <p:txBody>
          <a:bodyPr wrap="square" lIns="0" tIns="0" rIns="0" bIns="0" rtlCol="0" anchor="ctr"/>
          <a:lstStyle/>
          <a:p>
            <a:pPr indent="0" marL="0">
              <a:buNone/>
            </a:pPr>
            <a:r>
              <a:rPr lang="en-US" sz="1550" b="1" dirty="0">
                <a:solidFill>
                  <a:srgbClr val="2E7DA8"/>
                </a:solidFill>
                <a:latin typeface="Calibri Light" pitchFamily="34" charset="0"/>
                <a:ea typeface="Calibri Light" pitchFamily="34" charset="-122"/>
                <a:cs typeface="Calibri Light" pitchFamily="34" charset="-120"/>
              </a:rPr>
              <a:t>₹2.62 Cr</a:t>
            </a:r>
            <a:endParaRPr lang="en-US" sz="1550" dirty="0"/>
          </a:p>
        </p:txBody>
      </p:sp>
      <p:sp>
        <p:nvSpPr>
          <p:cNvPr id="23" name="Text 21"/>
          <p:cNvSpPr/>
          <p:nvPr/>
        </p:nvSpPr>
        <p:spPr>
          <a:xfrm>
            <a:off x="420624"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July billing</a:t>
            </a:r>
            <a:endParaRPr lang="en-US" sz="680" dirty="0"/>
          </a:p>
        </p:txBody>
      </p:sp>
      <p:sp>
        <p:nvSpPr>
          <p:cNvPr id="24" name="Shape 22"/>
          <p:cNvSpPr/>
          <p:nvPr/>
        </p:nvSpPr>
        <p:spPr>
          <a:xfrm>
            <a:off x="1874520" y="1261872"/>
            <a:ext cx="1499616" cy="859536"/>
          </a:xfrm>
          <a:prstGeom prst="rect">
            <a:avLst/>
          </a:prstGeom>
          <a:solidFill>
            <a:srgbClr val="FFFFFF"/>
          </a:solidFill>
          <a:ln w="9525">
            <a:solidFill>
              <a:srgbClr val="C8DCD7"/>
            </a:solidFill>
            <a:prstDash val="solid"/>
          </a:ln>
        </p:spPr>
      </p:sp>
      <p:sp>
        <p:nvSpPr>
          <p:cNvPr id="25" name="Shape 23"/>
          <p:cNvSpPr/>
          <p:nvPr/>
        </p:nvSpPr>
        <p:spPr>
          <a:xfrm>
            <a:off x="1874520" y="1261872"/>
            <a:ext cx="64008" cy="859536"/>
          </a:xfrm>
          <a:prstGeom prst="rect">
            <a:avLst/>
          </a:prstGeom>
          <a:solidFill>
            <a:srgbClr val="28A596"/>
          </a:solidFill>
          <a:ln/>
        </p:spPr>
      </p:sp>
      <p:sp>
        <p:nvSpPr>
          <p:cNvPr id="26" name="Text 24"/>
          <p:cNvSpPr/>
          <p:nvPr/>
        </p:nvSpPr>
        <p:spPr>
          <a:xfrm>
            <a:off x="2029968"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OFFTAKE</a:t>
            </a:r>
            <a:endParaRPr lang="en-US" sz="680" dirty="0"/>
          </a:p>
        </p:txBody>
      </p:sp>
      <p:sp>
        <p:nvSpPr>
          <p:cNvPr id="27" name="Text 25"/>
          <p:cNvSpPr/>
          <p:nvPr/>
        </p:nvSpPr>
        <p:spPr>
          <a:xfrm>
            <a:off x="2029968" y="1536192"/>
            <a:ext cx="1261872" cy="310896"/>
          </a:xfrm>
          <a:prstGeom prst="rect">
            <a:avLst/>
          </a:prstGeom>
          <a:noFill/>
          <a:ln/>
        </p:spPr>
        <p:txBody>
          <a:bodyPr wrap="square" lIns="0" tIns="0" rIns="0" bIns="0" rtlCol="0" anchor="ctr"/>
          <a:lstStyle/>
          <a:p>
            <a:pPr indent="0" marL="0">
              <a:buNone/>
            </a:pPr>
            <a:r>
              <a:rPr lang="en-US" sz="1550" b="1" dirty="0">
                <a:solidFill>
                  <a:srgbClr val="28A596"/>
                </a:solidFill>
                <a:latin typeface="Calibri Light" pitchFamily="34" charset="0"/>
                <a:ea typeface="Calibri Light" pitchFamily="34" charset="-122"/>
                <a:cs typeface="Calibri Light" pitchFamily="34" charset="-120"/>
              </a:rPr>
              <a:t>₹2.12 Cr</a:t>
            </a:r>
            <a:endParaRPr lang="en-US" sz="1550" dirty="0"/>
          </a:p>
        </p:txBody>
      </p:sp>
      <p:sp>
        <p:nvSpPr>
          <p:cNvPr id="28" name="Text 26"/>
          <p:cNvSpPr/>
          <p:nvPr/>
        </p:nvSpPr>
        <p:spPr>
          <a:xfrm>
            <a:off x="2029968"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6.2% mix</a:t>
            </a:r>
            <a:endParaRPr lang="en-US" sz="680" dirty="0"/>
          </a:p>
        </p:txBody>
      </p:sp>
      <p:sp>
        <p:nvSpPr>
          <p:cNvPr id="29" name="Shape 27"/>
          <p:cNvSpPr/>
          <p:nvPr/>
        </p:nvSpPr>
        <p:spPr>
          <a:xfrm>
            <a:off x="3483864" y="1261872"/>
            <a:ext cx="1499616" cy="859536"/>
          </a:xfrm>
          <a:prstGeom prst="rect">
            <a:avLst/>
          </a:prstGeom>
          <a:solidFill>
            <a:srgbClr val="FFFFFF"/>
          </a:solidFill>
          <a:ln w="9525">
            <a:solidFill>
              <a:srgbClr val="C8DCD7"/>
            </a:solidFill>
            <a:prstDash val="solid"/>
          </a:ln>
        </p:spPr>
      </p:sp>
      <p:sp>
        <p:nvSpPr>
          <p:cNvPr id="30" name="Shape 28"/>
          <p:cNvSpPr/>
          <p:nvPr/>
        </p:nvSpPr>
        <p:spPr>
          <a:xfrm>
            <a:off x="3483864" y="1261872"/>
            <a:ext cx="64008" cy="859536"/>
          </a:xfrm>
          <a:prstGeom prst="rect">
            <a:avLst/>
          </a:prstGeom>
          <a:solidFill>
            <a:srgbClr val="2B9A66"/>
          </a:solidFill>
          <a:ln/>
        </p:spPr>
      </p:sp>
      <p:sp>
        <p:nvSpPr>
          <p:cNvPr id="31" name="Text 29"/>
          <p:cNvSpPr/>
          <p:nvPr/>
        </p:nvSpPr>
        <p:spPr>
          <a:xfrm>
            <a:off x="3639312"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CONVERSION</a:t>
            </a:r>
            <a:endParaRPr lang="en-US" sz="680" dirty="0"/>
          </a:p>
        </p:txBody>
      </p:sp>
      <p:sp>
        <p:nvSpPr>
          <p:cNvPr id="32" name="Text 30"/>
          <p:cNvSpPr/>
          <p:nvPr/>
        </p:nvSpPr>
        <p:spPr>
          <a:xfrm>
            <a:off x="3639312" y="1536192"/>
            <a:ext cx="1261872" cy="310896"/>
          </a:xfrm>
          <a:prstGeom prst="rect">
            <a:avLst/>
          </a:prstGeom>
          <a:noFill/>
          <a:ln/>
        </p:spPr>
        <p:txBody>
          <a:bodyPr wrap="square" lIns="0" tIns="0" rIns="0" bIns="0" rtlCol="0" anchor="ctr"/>
          <a:lstStyle/>
          <a:p>
            <a:pPr indent="0" marL="0">
              <a:buNone/>
            </a:pPr>
            <a:r>
              <a:rPr lang="en-US" sz="1750" b="1" dirty="0">
                <a:solidFill>
                  <a:srgbClr val="2B9A66"/>
                </a:solidFill>
                <a:latin typeface="Calibri Light" pitchFamily="34" charset="0"/>
                <a:ea typeface="Calibri Light" pitchFamily="34" charset="-122"/>
                <a:cs typeface="Calibri Light" pitchFamily="34" charset="-120"/>
              </a:rPr>
              <a:t>80.9%</a:t>
            </a:r>
            <a:endParaRPr lang="en-US" sz="1750" dirty="0"/>
          </a:p>
        </p:txBody>
      </p:sp>
      <p:sp>
        <p:nvSpPr>
          <p:cNvPr id="33" name="Text 31"/>
          <p:cNvSpPr/>
          <p:nvPr/>
        </p:nvSpPr>
        <p:spPr>
          <a:xfrm>
            <a:off x="3639312"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flow</a:t>
            </a:r>
            <a:endParaRPr lang="en-US" sz="680" dirty="0"/>
          </a:p>
        </p:txBody>
      </p:sp>
      <p:sp>
        <p:nvSpPr>
          <p:cNvPr id="34" name="Shape 32"/>
          <p:cNvSpPr/>
          <p:nvPr/>
        </p:nvSpPr>
        <p:spPr>
          <a:xfrm>
            <a:off x="5093208" y="1261872"/>
            <a:ext cx="1499616" cy="859536"/>
          </a:xfrm>
          <a:prstGeom prst="rect">
            <a:avLst/>
          </a:prstGeom>
          <a:solidFill>
            <a:srgbClr val="FFFFFF"/>
          </a:solidFill>
          <a:ln w="9525">
            <a:solidFill>
              <a:srgbClr val="C8DCD7"/>
            </a:solidFill>
            <a:prstDash val="solid"/>
          </a:ln>
        </p:spPr>
      </p:sp>
      <p:sp>
        <p:nvSpPr>
          <p:cNvPr id="35" name="Shape 33"/>
          <p:cNvSpPr/>
          <p:nvPr/>
        </p:nvSpPr>
        <p:spPr>
          <a:xfrm>
            <a:off x="5093208" y="1261872"/>
            <a:ext cx="64008" cy="859536"/>
          </a:xfrm>
          <a:prstGeom prst="rect">
            <a:avLst/>
          </a:prstGeom>
          <a:solidFill>
            <a:srgbClr val="2B9A66"/>
          </a:solidFill>
          <a:ln/>
        </p:spPr>
      </p:sp>
      <p:sp>
        <p:nvSpPr>
          <p:cNvPr id="36" name="Text 34"/>
          <p:cNvSpPr/>
          <p:nvPr/>
        </p:nvSpPr>
        <p:spPr>
          <a:xfrm>
            <a:off x="5248656"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GAP</a:t>
            </a:r>
            <a:endParaRPr lang="en-US" sz="680" dirty="0"/>
          </a:p>
        </p:txBody>
      </p:sp>
      <p:sp>
        <p:nvSpPr>
          <p:cNvPr id="37" name="Text 35"/>
          <p:cNvSpPr/>
          <p:nvPr/>
        </p:nvSpPr>
        <p:spPr>
          <a:xfrm>
            <a:off x="5248656" y="1536192"/>
            <a:ext cx="1261872" cy="310896"/>
          </a:xfrm>
          <a:prstGeom prst="rect">
            <a:avLst/>
          </a:prstGeom>
          <a:noFill/>
          <a:ln/>
        </p:spPr>
        <p:txBody>
          <a:bodyPr wrap="square" lIns="0" tIns="0" rIns="0" bIns="0" rtlCol="0" anchor="ctr"/>
          <a:lstStyle/>
          <a:p>
            <a:pPr indent="0" marL="0">
              <a:buNone/>
            </a:pPr>
            <a:r>
              <a:rPr lang="en-US" sz="1550" b="1" dirty="0">
                <a:solidFill>
                  <a:srgbClr val="2B9A66"/>
                </a:solidFill>
                <a:latin typeface="Calibri Light" pitchFamily="34" charset="0"/>
                <a:ea typeface="Calibri Light" pitchFamily="34" charset="-122"/>
                <a:cs typeface="Calibri Light" pitchFamily="34" charset="-120"/>
              </a:rPr>
              <a:t>₹0.50 Cr</a:t>
            </a:r>
            <a:endParaRPr lang="en-US" sz="1550" dirty="0"/>
          </a:p>
        </p:txBody>
      </p:sp>
      <p:sp>
        <p:nvSpPr>
          <p:cNvPr id="38" name="Text 36"/>
          <p:cNvSpPr/>
          <p:nvPr/>
        </p:nvSpPr>
        <p:spPr>
          <a:xfrm>
            <a:off x="5248656"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primary − offtake</a:t>
            </a:r>
            <a:endParaRPr lang="en-US" sz="680" dirty="0"/>
          </a:p>
        </p:txBody>
      </p:sp>
      <p:sp>
        <p:nvSpPr>
          <p:cNvPr id="39" name="Shape 37"/>
          <p:cNvSpPr/>
          <p:nvPr/>
        </p:nvSpPr>
        <p:spPr>
          <a:xfrm>
            <a:off x="265176" y="2231136"/>
            <a:ext cx="6327648" cy="384048"/>
          </a:xfrm>
          <a:prstGeom prst="roundRect">
            <a:avLst>
              <a:gd name="adj" fmla="val 4762"/>
            </a:avLst>
          </a:prstGeom>
          <a:solidFill>
            <a:srgbClr val="DFF2ED"/>
          </a:solidFill>
          <a:ln w="9525">
            <a:solidFill>
              <a:srgbClr val="C8DCD7"/>
            </a:solidFill>
            <a:prstDash val="solid"/>
          </a:ln>
        </p:spPr>
      </p:sp>
      <p:sp>
        <p:nvSpPr>
          <p:cNvPr id="40" name="Text 38"/>
          <p:cNvSpPr/>
          <p:nvPr/>
        </p:nvSpPr>
        <p:spPr>
          <a:xfrm>
            <a:off x="374904" y="2286000"/>
            <a:ext cx="658368" cy="274320"/>
          </a:xfrm>
          <a:prstGeom prst="rect">
            <a:avLst/>
          </a:prstGeom>
          <a:noFill/>
          <a:ln/>
        </p:spPr>
        <p:txBody>
          <a:bodyPr wrap="square" lIns="0" tIns="0" rIns="0" bIns="0" rtlCol="0" anchor="ctr"/>
          <a:lstStyle/>
          <a:p>
            <a:pPr indent="0" marL="0">
              <a:buNone/>
            </a:pPr>
            <a:r>
              <a:rPr lang="en-US" sz="660" b="1" spc="40" kern="0" dirty="0">
                <a:solidFill>
                  <a:srgbClr val="116F68"/>
                </a:solidFill>
                <a:latin typeface="Calibri" pitchFamily="34" charset="0"/>
                <a:ea typeface="Calibri" pitchFamily="34" charset="-122"/>
                <a:cs typeface="Calibri" pitchFamily="34" charset="-120"/>
              </a:rPr>
              <a:t>PRIORITY</a:t>
            </a:r>
            <a:endParaRPr lang="en-US" sz="660" dirty="0"/>
          </a:p>
        </p:txBody>
      </p:sp>
      <p:sp>
        <p:nvSpPr>
          <p:cNvPr id="41" name="Text 39"/>
          <p:cNvSpPr/>
          <p:nvPr/>
        </p:nvSpPr>
        <p:spPr>
          <a:xfrm>
            <a:off x="1088136" y="2286000"/>
            <a:ext cx="5394960" cy="274320"/>
          </a:xfrm>
          <a:prstGeom prst="rect">
            <a:avLst/>
          </a:prstGeom>
          <a:noFill/>
          <a:ln/>
        </p:spPr>
        <p:txBody>
          <a:bodyPr wrap="square" lIns="0" tIns="0" rIns="0" bIns="0" rtlCol="0" anchor="ctr"/>
          <a:lstStyle/>
          <a:p>
            <a:pPr indent="0" marL="0">
              <a:buNone/>
            </a:pPr>
            <a:r>
              <a:rPr lang="en-US" sz="740" b="1" dirty="0">
                <a:solidFill>
                  <a:srgbClr val="183B39"/>
                </a:solidFill>
                <a:latin typeface="Calibri" pitchFamily="34" charset="0"/>
                <a:ea typeface="Calibri" pitchFamily="34" charset="-122"/>
                <a:cs typeface="Calibri" pitchFamily="34" charset="-120"/>
              </a:rPr>
              <a:t>Smallest zone, sound flow — manage for cost, not intervention</a:t>
            </a:r>
            <a:endParaRPr lang="en-US" sz="740" dirty="0"/>
          </a:p>
        </p:txBody>
      </p:sp>
      <p:sp>
        <p:nvSpPr>
          <p:cNvPr id="42" name="Text 40"/>
          <p:cNvSpPr/>
          <p:nvPr/>
        </p:nvSpPr>
        <p:spPr>
          <a:xfrm>
            <a:off x="265176" y="2743200"/>
            <a:ext cx="3090672"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Mamaearth — top 3 sub-categories (₹ Cr, Feb–Jul)</a:t>
            </a:r>
            <a:endParaRPr lang="en-US" sz="720" dirty="0"/>
          </a:p>
        </p:txBody>
      </p:sp>
      <p:graphicFrame>
        <p:nvGraphicFramePr>
          <p:cNvPr id="43" name="Chart 0" descr=""/>
          <p:cNvGraphicFramePr/>
          <p:nvPr/>
        </p:nvGraphicFramePr>
        <p:xfrm>
          <a:off x="246888" y="2944368"/>
          <a:ext cx="3090672" cy="1499616"/>
        </p:xfrm>
        <a:graphic xmlns:a="http://schemas.openxmlformats.org/drawingml/2006/main">
          <a:graphicData uri="http://schemas.openxmlformats.org/drawingml/2006/chart">
            <c:chart xmlns:c="http://schemas.openxmlformats.org/drawingml/2006/chart" r:id="rId1"/>
          </a:graphicData>
        </a:graphic>
      </p:graphicFrame>
      <p:sp>
        <p:nvSpPr>
          <p:cNvPr id="44" name="Text 41"/>
          <p:cNvSpPr/>
          <p:nvPr/>
        </p:nvSpPr>
        <p:spPr>
          <a:xfrm>
            <a:off x="3502152" y="2743200"/>
            <a:ext cx="3090672"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The Derma Co. — top 3 sub-categories (₹ Cr, Feb–Jul)</a:t>
            </a:r>
            <a:endParaRPr lang="en-US" sz="720" dirty="0"/>
          </a:p>
        </p:txBody>
      </p:sp>
      <p:graphicFrame>
        <p:nvGraphicFramePr>
          <p:cNvPr id="45" name="Chart 1" descr=""/>
          <p:cNvGraphicFramePr/>
          <p:nvPr/>
        </p:nvGraphicFramePr>
        <p:xfrm>
          <a:off x="3483864" y="2944368"/>
          <a:ext cx="3090672" cy="1499616"/>
        </p:xfrm>
        <a:graphic xmlns:a="http://schemas.openxmlformats.org/drawingml/2006/main">
          <a:graphicData uri="http://schemas.openxmlformats.org/drawingml/2006/chart">
            <c:chart xmlns:c="http://schemas.openxmlformats.org/drawingml/2006/chart" r:id="rId2"/>
          </a:graphicData>
        </a:graphic>
      </p:graphicFrame>
      <p:sp>
        <p:nvSpPr>
          <p:cNvPr id="46" name="Shape 42"/>
          <p:cNvSpPr/>
          <p:nvPr/>
        </p:nvSpPr>
        <p:spPr>
          <a:xfrm>
            <a:off x="265176" y="4553712"/>
            <a:ext cx="2036064" cy="1773936"/>
          </a:xfrm>
          <a:prstGeom prst="roundRect">
            <a:avLst>
              <a:gd name="adj" fmla="val 1031"/>
            </a:avLst>
          </a:prstGeom>
          <a:solidFill>
            <a:srgbClr val="FFFFFF"/>
          </a:solidFill>
          <a:ln w="9525">
            <a:solidFill>
              <a:srgbClr val="C8DCD7"/>
            </a:solidFill>
            <a:prstDash val="solid"/>
          </a:ln>
        </p:spPr>
      </p:sp>
      <p:sp>
        <p:nvSpPr>
          <p:cNvPr id="47" name="Shape 43"/>
          <p:cNvSpPr/>
          <p:nvPr/>
        </p:nvSpPr>
        <p:spPr>
          <a:xfrm>
            <a:off x="265176" y="4553712"/>
            <a:ext cx="2036064" cy="274320"/>
          </a:xfrm>
          <a:prstGeom prst="rect">
            <a:avLst/>
          </a:prstGeom>
          <a:solidFill>
            <a:srgbClr val="116F68"/>
          </a:solidFill>
          <a:ln/>
        </p:spPr>
      </p:sp>
      <p:sp>
        <p:nvSpPr>
          <p:cNvPr id="48" name="Text 44"/>
          <p:cNvSpPr/>
          <p:nvPr/>
        </p:nvSpPr>
        <p:spPr>
          <a:xfrm>
            <a:off x="347472" y="457200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TOP CHAINS</a:t>
            </a:r>
            <a:endParaRPr lang="en-US" sz="700" dirty="0"/>
          </a:p>
        </p:txBody>
      </p:sp>
      <p:sp>
        <p:nvSpPr>
          <p:cNvPr id="49" name="Text 45"/>
          <p:cNvSpPr/>
          <p:nvPr/>
        </p:nvSpPr>
        <p:spPr>
          <a:xfrm>
            <a:off x="356616" y="4919472"/>
            <a:ext cx="1258824" cy="310896"/>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1. DMart</a:t>
            </a:r>
            <a:endParaRPr lang="en-US" sz="700" dirty="0"/>
          </a:p>
        </p:txBody>
      </p:sp>
      <p:sp>
        <p:nvSpPr>
          <p:cNvPr id="50" name="Text 46"/>
          <p:cNvSpPr/>
          <p:nvPr/>
        </p:nvSpPr>
        <p:spPr>
          <a:xfrm>
            <a:off x="1588008" y="4919472"/>
            <a:ext cx="621792" cy="155448"/>
          </a:xfrm>
          <a:prstGeom prst="rect">
            <a:avLst/>
          </a:prstGeom>
          <a:noFill/>
          <a:ln/>
        </p:spPr>
        <p:txBody>
          <a:bodyPr wrap="square" lIns="0" tIns="0" rIns="0" bIns="0" rtlCol="0" anchor="t"/>
          <a:lstStyle/>
          <a:p>
            <a:pPr algn="r" indent="0" marL="0">
              <a:buNone/>
            </a:pPr>
            <a:r>
              <a:rPr lang="en-US" sz="700" b="1" dirty="0">
                <a:solidFill>
                  <a:srgbClr val="116F68"/>
                </a:solidFill>
                <a:latin typeface="Calibri" pitchFamily="34" charset="0"/>
                <a:ea typeface="Calibri" pitchFamily="34" charset="-122"/>
                <a:cs typeface="Calibri" pitchFamily="34" charset="-120"/>
              </a:rPr>
              <a:t>₹1.41 Cr</a:t>
            </a:r>
            <a:endParaRPr lang="en-US" sz="700" dirty="0"/>
          </a:p>
        </p:txBody>
      </p:sp>
      <p:sp>
        <p:nvSpPr>
          <p:cNvPr id="51" name="Text 47"/>
          <p:cNvSpPr/>
          <p:nvPr/>
        </p:nvSpPr>
        <p:spPr>
          <a:xfrm>
            <a:off x="1588008" y="5074920"/>
            <a:ext cx="621792" cy="146304"/>
          </a:xfrm>
          <a:prstGeom prst="rect">
            <a:avLst/>
          </a:prstGeom>
          <a:noFill/>
          <a:ln/>
        </p:spPr>
        <p:txBody>
          <a:bodyPr wrap="square" lIns="0" tIns="0" rIns="0" bIns="0" rtlCol="0" anchor="t"/>
          <a:lstStyle/>
          <a:p>
            <a:pPr algn="r" indent="0" marL="0">
              <a:buNone/>
            </a:pPr>
            <a:r>
              <a:rPr lang="en-US" sz="620" dirty="0">
                <a:solidFill>
                  <a:srgbClr val="5F716E"/>
                </a:solidFill>
                <a:latin typeface="Calibri" pitchFamily="34" charset="0"/>
                <a:ea typeface="Calibri" pitchFamily="34" charset="-122"/>
                <a:cs typeface="Calibri" pitchFamily="34" charset="-120"/>
              </a:rPr>
              <a:t>95.3%</a:t>
            </a:r>
            <a:endParaRPr lang="en-US" sz="620" dirty="0"/>
          </a:p>
        </p:txBody>
      </p:sp>
      <p:sp>
        <p:nvSpPr>
          <p:cNvPr id="52" name="Text 48"/>
          <p:cNvSpPr/>
          <p:nvPr/>
        </p:nvSpPr>
        <p:spPr>
          <a:xfrm>
            <a:off x="356616" y="5266944"/>
            <a:ext cx="1258824" cy="310896"/>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2. Reliance</a:t>
            </a:r>
            <a:endParaRPr lang="en-US" sz="700" dirty="0"/>
          </a:p>
        </p:txBody>
      </p:sp>
      <p:sp>
        <p:nvSpPr>
          <p:cNvPr id="53" name="Text 49"/>
          <p:cNvSpPr/>
          <p:nvPr/>
        </p:nvSpPr>
        <p:spPr>
          <a:xfrm>
            <a:off x="1588008" y="5266944"/>
            <a:ext cx="621792" cy="155448"/>
          </a:xfrm>
          <a:prstGeom prst="rect">
            <a:avLst/>
          </a:prstGeom>
          <a:noFill/>
          <a:ln/>
        </p:spPr>
        <p:txBody>
          <a:bodyPr wrap="square" lIns="0" tIns="0" rIns="0" bIns="0" rtlCol="0" anchor="t"/>
          <a:lstStyle/>
          <a:p>
            <a:pPr algn="r" indent="0" marL="0">
              <a:buNone/>
            </a:pPr>
            <a:r>
              <a:rPr lang="en-US" sz="700" b="1" dirty="0">
                <a:solidFill>
                  <a:srgbClr val="116F68"/>
                </a:solidFill>
                <a:latin typeface="Calibri" pitchFamily="34" charset="0"/>
                <a:ea typeface="Calibri" pitchFamily="34" charset="-122"/>
                <a:cs typeface="Calibri" pitchFamily="34" charset="-120"/>
              </a:rPr>
              <a:t>₹0.46 Cr</a:t>
            </a:r>
            <a:endParaRPr lang="en-US" sz="700" dirty="0"/>
          </a:p>
        </p:txBody>
      </p:sp>
      <p:sp>
        <p:nvSpPr>
          <p:cNvPr id="54" name="Text 50"/>
          <p:cNvSpPr/>
          <p:nvPr/>
        </p:nvSpPr>
        <p:spPr>
          <a:xfrm>
            <a:off x="1588008" y="5422392"/>
            <a:ext cx="621792" cy="146304"/>
          </a:xfrm>
          <a:prstGeom prst="rect">
            <a:avLst/>
          </a:prstGeom>
          <a:noFill/>
          <a:ln/>
        </p:spPr>
        <p:txBody>
          <a:bodyPr wrap="square" lIns="0" tIns="0" rIns="0" bIns="0" rtlCol="0" anchor="t"/>
          <a:lstStyle/>
          <a:p>
            <a:pPr algn="r" indent="0" marL="0">
              <a:buNone/>
            </a:pPr>
            <a:r>
              <a:rPr lang="en-US" sz="620" dirty="0">
                <a:solidFill>
                  <a:srgbClr val="5F716E"/>
                </a:solidFill>
                <a:latin typeface="Calibri" pitchFamily="34" charset="0"/>
                <a:ea typeface="Calibri" pitchFamily="34" charset="-122"/>
                <a:cs typeface="Calibri" pitchFamily="34" charset="-120"/>
              </a:rPr>
              <a:t>51.2%</a:t>
            </a:r>
            <a:endParaRPr lang="en-US" sz="620" dirty="0"/>
          </a:p>
        </p:txBody>
      </p:sp>
      <p:sp>
        <p:nvSpPr>
          <p:cNvPr id="55" name="Text 51"/>
          <p:cNvSpPr/>
          <p:nvPr/>
        </p:nvSpPr>
        <p:spPr>
          <a:xfrm>
            <a:off x="356616" y="5614416"/>
            <a:ext cx="1258824" cy="310896"/>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3. Apollo</a:t>
            </a:r>
            <a:endParaRPr lang="en-US" sz="700" dirty="0"/>
          </a:p>
        </p:txBody>
      </p:sp>
      <p:sp>
        <p:nvSpPr>
          <p:cNvPr id="56" name="Text 52"/>
          <p:cNvSpPr/>
          <p:nvPr/>
        </p:nvSpPr>
        <p:spPr>
          <a:xfrm>
            <a:off x="1588008" y="5614416"/>
            <a:ext cx="621792" cy="155448"/>
          </a:xfrm>
          <a:prstGeom prst="rect">
            <a:avLst/>
          </a:prstGeom>
          <a:noFill/>
          <a:ln/>
        </p:spPr>
        <p:txBody>
          <a:bodyPr wrap="square" lIns="0" tIns="0" rIns="0" bIns="0" rtlCol="0" anchor="t"/>
          <a:lstStyle/>
          <a:p>
            <a:pPr algn="r" indent="0" marL="0">
              <a:buNone/>
            </a:pPr>
            <a:r>
              <a:rPr lang="en-US" sz="700" b="1" dirty="0">
                <a:solidFill>
                  <a:srgbClr val="116F68"/>
                </a:solidFill>
                <a:latin typeface="Calibri" pitchFamily="34" charset="0"/>
                <a:ea typeface="Calibri" pitchFamily="34" charset="-122"/>
                <a:cs typeface="Calibri" pitchFamily="34" charset="-120"/>
              </a:rPr>
              <a:t>₹0.19 Cr</a:t>
            </a:r>
            <a:endParaRPr lang="en-US" sz="700" dirty="0"/>
          </a:p>
        </p:txBody>
      </p:sp>
      <p:sp>
        <p:nvSpPr>
          <p:cNvPr id="57" name="Text 53"/>
          <p:cNvSpPr/>
          <p:nvPr/>
        </p:nvSpPr>
        <p:spPr>
          <a:xfrm>
            <a:off x="1588008" y="5769864"/>
            <a:ext cx="621792" cy="146304"/>
          </a:xfrm>
          <a:prstGeom prst="rect">
            <a:avLst/>
          </a:prstGeom>
          <a:noFill/>
          <a:ln/>
        </p:spPr>
        <p:txBody>
          <a:bodyPr wrap="square" lIns="0" tIns="0" rIns="0" bIns="0" rtlCol="0" anchor="t"/>
          <a:lstStyle/>
          <a:p>
            <a:pPr algn="r" indent="0" marL="0">
              <a:buNone/>
            </a:pPr>
            <a:r>
              <a:rPr lang="en-US" sz="620" dirty="0">
                <a:solidFill>
                  <a:srgbClr val="F2B84B"/>
                </a:solidFill>
                <a:latin typeface="Calibri" pitchFamily="34" charset="0"/>
                <a:ea typeface="Calibri" pitchFamily="34" charset="-122"/>
                <a:cs typeface="Calibri" pitchFamily="34" charset="-120"/>
              </a:rPr>
              <a:t>over 100%</a:t>
            </a:r>
            <a:endParaRPr lang="en-US" sz="620" dirty="0"/>
          </a:p>
        </p:txBody>
      </p:sp>
      <p:sp>
        <p:nvSpPr>
          <p:cNvPr id="58" name="Shape 54"/>
          <p:cNvSpPr/>
          <p:nvPr/>
        </p:nvSpPr>
        <p:spPr>
          <a:xfrm>
            <a:off x="2410968" y="4553712"/>
            <a:ext cx="2036064" cy="1773936"/>
          </a:xfrm>
          <a:prstGeom prst="roundRect">
            <a:avLst>
              <a:gd name="adj" fmla="val 1031"/>
            </a:avLst>
          </a:prstGeom>
          <a:solidFill>
            <a:srgbClr val="FFFFFF"/>
          </a:solidFill>
          <a:ln w="9525">
            <a:solidFill>
              <a:srgbClr val="C8DCD7"/>
            </a:solidFill>
            <a:prstDash val="solid"/>
          </a:ln>
        </p:spPr>
      </p:sp>
      <p:sp>
        <p:nvSpPr>
          <p:cNvPr id="59" name="Shape 55"/>
          <p:cNvSpPr/>
          <p:nvPr/>
        </p:nvSpPr>
        <p:spPr>
          <a:xfrm>
            <a:off x="2410968" y="4553712"/>
            <a:ext cx="2036064" cy="274320"/>
          </a:xfrm>
          <a:prstGeom prst="rect">
            <a:avLst/>
          </a:prstGeom>
          <a:solidFill>
            <a:srgbClr val="2E7DA8"/>
          </a:solidFill>
          <a:ln/>
        </p:spPr>
      </p:sp>
      <p:sp>
        <p:nvSpPr>
          <p:cNvPr id="60" name="Text 56"/>
          <p:cNvSpPr/>
          <p:nvPr/>
        </p:nvSpPr>
        <p:spPr>
          <a:xfrm>
            <a:off x="2493264" y="457200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TOP STATES</a:t>
            </a:r>
            <a:endParaRPr lang="en-US" sz="700" dirty="0"/>
          </a:p>
        </p:txBody>
      </p:sp>
      <p:sp>
        <p:nvSpPr>
          <p:cNvPr id="61" name="Text 57"/>
          <p:cNvSpPr/>
          <p:nvPr/>
        </p:nvSpPr>
        <p:spPr>
          <a:xfrm>
            <a:off x="2502408" y="4919472"/>
            <a:ext cx="1304544" cy="292608"/>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1. Madhya Pradesh</a:t>
            </a:r>
            <a:endParaRPr lang="en-US" sz="700" dirty="0"/>
          </a:p>
        </p:txBody>
      </p:sp>
      <p:sp>
        <p:nvSpPr>
          <p:cNvPr id="62" name="Text 58"/>
          <p:cNvSpPr/>
          <p:nvPr/>
        </p:nvSpPr>
        <p:spPr>
          <a:xfrm>
            <a:off x="3770376" y="4919472"/>
            <a:ext cx="585216" cy="182880"/>
          </a:xfrm>
          <a:prstGeom prst="rect">
            <a:avLst/>
          </a:prstGeom>
          <a:noFill/>
          <a:ln/>
        </p:spPr>
        <p:txBody>
          <a:bodyPr wrap="square" lIns="0" tIns="0" rIns="0" bIns="0" rtlCol="0" anchor="t"/>
          <a:lstStyle/>
          <a:p>
            <a:pPr algn="r" indent="0" marL="0">
              <a:buNone/>
            </a:pPr>
            <a:r>
              <a:rPr lang="en-US" sz="700" b="1" dirty="0">
                <a:solidFill>
                  <a:srgbClr val="2E7DA8"/>
                </a:solidFill>
                <a:latin typeface="Calibri" pitchFamily="34" charset="0"/>
                <a:ea typeface="Calibri" pitchFamily="34" charset="-122"/>
                <a:cs typeface="Calibri" pitchFamily="34" charset="-120"/>
              </a:rPr>
              <a:t>₹1.68 Cr</a:t>
            </a:r>
            <a:endParaRPr lang="en-US" sz="700" dirty="0"/>
          </a:p>
        </p:txBody>
      </p:sp>
      <p:sp>
        <p:nvSpPr>
          <p:cNvPr id="63" name="Text 59"/>
          <p:cNvSpPr/>
          <p:nvPr/>
        </p:nvSpPr>
        <p:spPr>
          <a:xfrm>
            <a:off x="2502408" y="5248656"/>
            <a:ext cx="1304544" cy="292608"/>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2. Chhattisgarh</a:t>
            </a:r>
            <a:endParaRPr lang="en-US" sz="700" dirty="0"/>
          </a:p>
        </p:txBody>
      </p:sp>
      <p:sp>
        <p:nvSpPr>
          <p:cNvPr id="64" name="Text 60"/>
          <p:cNvSpPr/>
          <p:nvPr/>
        </p:nvSpPr>
        <p:spPr>
          <a:xfrm>
            <a:off x="3770376" y="5248656"/>
            <a:ext cx="585216" cy="182880"/>
          </a:xfrm>
          <a:prstGeom prst="rect">
            <a:avLst/>
          </a:prstGeom>
          <a:noFill/>
          <a:ln/>
        </p:spPr>
        <p:txBody>
          <a:bodyPr wrap="square" lIns="0" tIns="0" rIns="0" bIns="0" rtlCol="0" anchor="t"/>
          <a:lstStyle/>
          <a:p>
            <a:pPr algn="r" indent="0" marL="0">
              <a:buNone/>
            </a:pPr>
            <a:r>
              <a:rPr lang="en-US" sz="700" b="1" dirty="0">
                <a:solidFill>
                  <a:srgbClr val="2E7DA8"/>
                </a:solidFill>
                <a:latin typeface="Calibri" pitchFamily="34" charset="0"/>
                <a:ea typeface="Calibri" pitchFamily="34" charset="-122"/>
                <a:cs typeface="Calibri" pitchFamily="34" charset="-120"/>
              </a:rPr>
              <a:t>₹0.44 Cr</a:t>
            </a:r>
            <a:endParaRPr lang="en-US" sz="700" dirty="0"/>
          </a:p>
        </p:txBody>
      </p:sp>
      <p:sp>
        <p:nvSpPr>
          <p:cNvPr id="65" name="Shape 61"/>
          <p:cNvSpPr/>
          <p:nvPr/>
        </p:nvSpPr>
        <p:spPr>
          <a:xfrm>
            <a:off x="4556760" y="4553712"/>
            <a:ext cx="2036064" cy="1773936"/>
          </a:xfrm>
          <a:prstGeom prst="roundRect">
            <a:avLst>
              <a:gd name="adj" fmla="val 1031"/>
            </a:avLst>
          </a:prstGeom>
          <a:solidFill>
            <a:srgbClr val="FFFFFF"/>
          </a:solidFill>
          <a:ln w="9525">
            <a:solidFill>
              <a:srgbClr val="C8DCD7"/>
            </a:solidFill>
            <a:prstDash val="solid"/>
          </a:ln>
        </p:spPr>
      </p:sp>
      <p:sp>
        <p:nvSpPr>
          <p:cNvPr id="66" name="Shape 62"/>
          <p:cNvSpPr/>
          <p:nvPr/>
        </p:nvSpPr>
        <p:spPr>
          <a:xfrm>
            <a:off x="4556760" y="4553712"/>
            <a:ext cx="2036064" cy="274320"/>
          </a:xfrm>
          <a:prstGeom prst="rect">
            <a:avLst/>
          </a:prstGeom>
          <a:solidFill>
            <a:srgbClr val="28A596"/>
          </a:solidFill>
          <a:ln/>
        </p:spPr>
      </p:sp>
      <p:sp>
        <p:nvSpPr>
          <p:cNvPr id="67" name="Text 63"/>
          <p:cNvSpPr/>
          <p:nvPr/>
        </p:nvSpPr>
        <p:spPr>
          <a:xfrm>
            <a:off x="4639056" y="457200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BRAND × SUB-CATEGORY</a:t>
            </a:r>
            <a:endParaRPr lang="en-US" sz="700" dirty="0"/>
          </a:p>
        </p:txBody>
      </p:sp>
      <p:sp>
        <p:nvSpPr>
          <p:cNvPr id="68" name="Text 64"/>
          <p:cNvSpPr/>
          <p:nvPr/>
        </p:nvSpPr>
        <p:spPr>
          <a:xfrm>
            <a:off x="4648200" y="4919472"/>
            <a:ext cx="1853184" cy="155448"/>
          </a:xfrm>
          <a:prstGeom prst="rect">
            <a:avLst/>
          </a:prstGeom>
          <a:noFill/>
          <a:ln/>
        </p:spPr>
        <p:txBody>
          <a:bodyPr wrap="square" lIns="0" tIns="0" rIns="0" bIns="0" rtlCol="0" anchor="t"/>
          <a:lstStyle/>
          <a:p>
            <a:pPr indent="0" marL="0">
              <a:buNone/>
            </a:pPr>
            <a:r>
              <a:rPr lang="en-US" sz="680" b="1" dirty="0">
                <a:solidFill>
                  <a:srgbClr val="28A596"/>
                </a:solidFill>
                <a:latin typeface="Calibri" pitchFamily="34" charset="0"/>
                <a:ea typeface="Calibri" pitchFamily="34" charset="-122"/>
                <a:cs typeface="Calibri" pitchFamily="34" charset="-120"/>
              </a:rPr>
              <a:t>Mamaearth ₹1.25 Cr</a:t>
            </a:r>
            <a:endParaRPr lang="en-US" sz="680" dirty="0"/>
          </a:p>
        </p:txBody>
      </p:sp>
      <p:sp>
        <p:nvSpPr>
          <p:cNvPr id="69" name="Text 65"/>
          <p:cNvSpPr/>
          <p:nvPr/>
        </p:nvSpPr>
        <p:spPr>
          <a:xfrm>
            <a:off x="4684776" y="5093208"/>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Face Cleanser</a:t>
            </a:r>
            <a:endParaRPr lang="en-US" sz="630" dirty="0"/>
          </a:p>
        </p:txBody>
      </p:sp>
      <p:sp>
        <p:nvSpPr>
          <p:cNvPr id="70" name="Text 66"/>
          <p:cNvSpPr/>
          <p:nvPr/>
        </p:nvSpPr>
        <p:spPr>
          <a:xfrm>
            <a:off x="6007608" y="5093208"/>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₹0.54</a:t>
            </a:r>
            <a:endParaRPr lang="en-US" sz="630" dirty="0"/>
          </a:p>
        </p:txBody>
      </p:sp>
      <p:sp>
        <p:nvSpPr>
          <p:cNvPr id="71" name="Text 67"/>
          <p:cNvSpPr/>
          <p:nvPr/>
        </p:nvSpPr>
        <p:spPr>
          <a:xfrm>
            <a:off x="4684776" y="5248656"/>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Shampoo</a:t>
            </a:r>
            <a:endParaRPr lang="en-US" sz="630" dirty="0"/>
          </a:p>
        </p:txBody>
      </p:sp>
      <p:sp>
        <p:nvSpPr>
          <p:cNvPr id="72" name="Text 68"/>
          <p:cNvSpPr/>
          <p:nvPr/>
        </p:nvSpPr>
        <p:spPr>
          <a:xfrm>
            <a:off x="6007608" y="5248656"/>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₹0.40</a:t>
            </a:r>
            <a:endParaRPr lang="en-US" sz="630" dirty="0"/>
          </a:p>
        </p:txBody>
      </p:sp>
      <p:sp>
        <p:nvSpPr>
          <p:cNvPr id="73" name="Text 69"/>
          <p:cNvSpPr/>
          <p:nvPr/>
        </p:nvSpPr>
        <p:spPr>
          <a:xfrm>
            <a:off x="4684776" y="5404104"/>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Sun Care</a:t>
            </a:r>
            <a:endParaRPr lang="en-US" sz="630" dirty="0"/>
          </a:p>
        </p:txBody>
      </p:sp>
      <p:sp>
        <p:nvSpPr>
          <p:cNvPr id="74" name="Text 70"/>
          <p:cNvSpPr/>
          <p:nvPr/>
        </p:nvSpPr>
        <p:spPr>
          <a:xfrm>
            <a:off x="6007608" y="5404104"/>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₹0.09</a:t>
            </a:r>
            <a:endParaRPr lang="en-US" sz="630" dirty="0"/>
          </a:p>
        </p:txBody>
      </p:sp>
      <p:sp>
        <p:nvSpPr>
          <p:cNvPr id="75" name="Text 71"/>
          <p:cNvSpPr/>
          <p:nvPr/>
        </p:nvSpPr>
        <p:spPr>
          <a:xfrm>
            <a:off x="4648200" y="5605272"/>
            <a:ext cx="1853184" cy="155448"/>
          </a:xfrm>
          <a:prstGeom prst="rect">
            <a:avLst/>
          </a:prstGeom>
          <a:noFill/>
          <a:ln/>
        </p:spPr>
        <p:txBody>
          <a:bodyPr wrap="square" lIns="0" tIns="0" rIns="0" bIns="0" rtlCol="0" anchor="t"/>
          <a:lstStyle/>
          <a:p>
            <a:pPr indent="0" marL="0">
              <a:buNone/>
            </a:pPr>
            <a:r>
              <a:rPr lang="en-US" sz="680" b="1" dirty="0">
                <a:solidFill>
                  <a:srgbClr val="2E7DA8"/>
                </a:solidFill>
                <a:latin typeface="Calibri" pitchFamily="34" charset="0"/>
                <a:ea typeface="Calibri" pitchFamily="34" charset="-122"/>
                <a:cs typeface="Calibri" pitchFamily="34" charset="-120"/>
              </a:rPr>
              <a:t>The Derma Co. ₹0.82 Cr</a:t>
            </a:r>
            <a:endParaRPr lang="en-US" sz="680" dirty="0"/>
          </a:p>
        </p:txBody>
      </p:sp>
      <p:sp>
        <p:nvSpPr>
          <p:cNvPr id="76" name="Text 72"/>
          <p:cNvSpPr/>
          <p:nvPr/>
        </p:nvSpPr>
        <p:spPr>
          <a:xfrm>
            <a:off x="4684776" y="5779008"/>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Face Cleanser</a:t>
            </a:r>
            <a:endParaRPr lang="en-US" sz="630" dirty="0"/>
          </a:p>
        </p:txBody>
      </p:sp>
      <p:sp>
        <p:nvSpPr>
          <p:cNvPr id="77" name="Text 73"/>
          <p:cNvSpPr/>
          <p:nvPr/>
        </p:nvSpPr>
        <p:spPr>
          <a:xfrm>
            <a:off x="6007608" y="5779008"/>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₹0.66</a:t>
            </a:r>
            <a:endParaRPr lang="en-US" sz="630" dirty="0"/>
          </a:p>
        </p:txBody>
      </p:sp>
      <p:sp>
        <p:nvSpPr>
          <p:cNvPr id="78" name="Text 74"/>
          <p:cNvSpPr/>
          <p:nvPr/>
        </p:nvSpPr>
        <p:spPr>
          <a:xfrm>
            <a:off x="4684776" y="5934456"/>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Sun Care</a:t>
            </a:r>
            <a:endParaRPr lang="en-US" sz="630" dirty="0"/>
          </a:p>
        </p:txBody>
      </p:sp>
      <p:sp>
        <p:nvSpPr>
          <p:cNvPr id="79" name="Text 75"/>
          <p:cNvSpPr/>
          <p:nvPr/>
        </p:nvSpPr>
        <p:spPr>
          <a:xfrm>
            <a:off x="6007608" y="5934456"/>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₹0.18</a:t>
            </a:r>
            <a:endParaRPr lang="en-US" sz="630" dirty="0"/>
          </a:p>
        </p:txBody>
      </p:sp>
      <p:sp>
        <p:nvSpPr>
          <p:cNvPr id="80" name="Text 76"/>
          <p:cNvSpPr/>
          <p:nvPr/>
        </p:nvSpPr>
        <p:spPr>
          <a:xfrm>
            <a:off x="4684776" y="6089904"/>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Face Serum</a:t>
            </a:r>
            <a:endParaRPr lang="en-US" sz="630" dirty="0"/>
          </a:p>
        </p:txBody>
      </p:sp>
      <p:sp>
        <p:nvSpPr>
          <p:cNvPr id="81" name="Text 77"/>
          <p:cNvSpPr/>
          <p:nvPr/>
        </p:nvSpPr>
        <p:spPr>
          <a:xfrm>
            <a:off x="6007608" y="6089904"/>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₹0.02</a:t>
            </a:r>
            <a:endParaRPr lang="en-US" sz="630" dirty="0"/>
          </a:p>
        </p:txBody>
      </p:sp>
      <p:sp>
        <p:nvSpPr>
          <p:cNvPr id="82" name="Shape 78"/>
          <p:cNvSpPr/>
          <p:nvPr/>
        </p:nvSpPr>
        <p:spPr>
          <a:xfrm>
            <a:off x="265176" y="6437376"/>
            <a:ext cx="6327648" cy="274320"/>
          </a:xfrm>
          <a:prstGeom prst="roundRect">
            <a:avLst>
              <a:gd name="adj" fmla="val 6667"/>
            </a:avLst>
          </a:prstGeom>
          <a:solidFill>
            <a:srgbClr val="FDF6E6"/>
          </a:solidFill>
          <a:ln w="9525">
            <a:solidFill>
              <a:srgbClr val="F2B84B"/>
            </a:solidFill>
            <a:prstDash val="solid"/>
          </a:ln>
        </p:spPr>
      </p:sp>
      <p:sp>
        <p:nvSpPr>
          <p:cNvPr id="83" name="Text 79"/>
          <p:cNvSpPr/>
          <p:nvPr/>
        </p:nvSpPr>
        <p:spPr>
          <a:xfrm>
            <a:off x="374904" y="6473952"/>
            <a:ext cx="6108192" cy="219456"/>
          </a:xfrm>
          <a:prstGeom prst="rect">
            <a:avLst/>
          </a:prstGeom>
          <a:noFill/>
          <a:ln/>
        </p:spPr>
        <p:txBody>
          <a:bodyPr wrap="square" lIns="0" tIns="0" rIns="0" bIns="0" rtlCol="0" anchor="ctr"/>
          <a:lstStyle/>
          <a:p>
            <a:pPr indent="0" marL="0">
              <a:buNone/>
            </a:pPr>
            <a:r>
              <a:rPr lang="en-US" sz="660" b="1" dirty="0">
                <a:solidFill>
                  <a:srgbClr val="F2B84B"/>
                </a:solidFill>
                <a:latin typeface="Calibri" pitchFamily="34" charset="0"/>
                <a:ea typeface="Calibri" pitchFamily="34" charset="-122"/>
                <a:cs typeface="Calibri" pitchFamily="34" charset="-120"/>
              </a:rPr>
              <a:t>NPI   </a:t>
            </a:r>
            <a:pPr indent="0" marL="0">
              <a:buNone/>
            </a:pPr>
            <a:r>
              <a:rPr lang="en-US" sz="700" dirty="0">
                <a:solidFill>
                  <a:srgbClr val="183B39"/>
                </a:solidFill>
                <a:latin typeface="Calibri" pitchFamily="34" charset="0"/>
                <a:ea typeface="Calibri" pitchFamily="34" charset="-122"/>
                <a:cs typeface="Calibri" pitchFamily="34" charset="-120"/>
              </a:rPr>
              <a:t>₹0.18 Cr · 8.5% of zone</a:t>
            </a:r>
            <a:endParaRPr lang="en-US" sz="660" dirty="0"/>
          </a:p>
        </p:txBody>
      </p:sp>
      <p:sp>
        <p:nvSpPr>
          <p:cNvPr id="84" name="Shape 80"/>
          <p:cNvSpPr/>
          <p:nvPr/>
        </p:nvSpPr>
        <p:spPr>
          <a:xfrm>
            <a:off x="265176" y="6821424"/>
            <a:ext cx="6327648" cy="256032"/>
          </a:xfrm>
          <a:prstGeom prst="rect">
            <a:avLst/>
          </a:prstGeom>
          <a:solidFill>
            <a:srgbClr val="2B9A66"/>
          </a:solidFill>
          <a:ln/>
        </p:spPr>
      </p:sp>
      <p:sp>
        <p:nvSpPr>
          <p:cNvPr id="85" name="Text 81"/>
          <p:cNvSpPr/>
          <p:nvPr/>
        </p:nvSpPr>
        <p:spPr>
          <a:xfrm>
            <a:off x="374904" y="6839712"/>
            <a:ext cx="6108192" cy="219456"/>
          </a:xfrm>
          <a:prstGeom prst="rect">
            <a:avLst/>
          </a:prstGeom>
          <a:noFill/>
          <a:ln/>
        </p:spPr>
        <p:txBody>
          <a:bodyPr wrap="square" lIns="0" tIns="0" rIns="0" bIns="0" rtlCol="0" anchor="ctr"/>
          <a:lstStyle/>
          <a:p>
            <a:pPr indent="0" marL="0">
              <a:buNone/>
            </a:pPr>
            <a:r>
              <a:rPr lang="en-US" sz="720" b="1" spc="60" kern="0" dirty="0">
                <a:solidFill>
                  <a:srgbClr val="FFFFFF"/>
                </a:solidFill>
                <a:latin typeface="Calibri" pitchFamily="34" charset="0"/>
                <a:ea typeface="Calibri" pitchFamily="34" charset="-122"/>
                <a:cs typeface="Calibri" pitchFamily="34" charset="-120"/>
              </a:rPr>
              <a:t>SIX DIAGNOSED EXCEPTIONS — CAUSE, ACTION AND OWNER</a:t>
            </a:r>
            <a:endParaRPr lang="en-US" sz="720" dirty="0"/>
          </a:p>
        </p:txBody>
      </p:sp>
      <p:sp>
        <p:nvSpPr>
          <p:cNvPr id="86" name="Shape 82"/>
          <p:cNvSpPr/>
          <p:nvPr/>
        </p:nvSpPr>
        <p:spPr>
          <a:xfrm>
            <a:off x="265176" y="7168896"/>
            <a:ext cx="2036064" cy="1700784"/>
          </a:xfrm>
          <a:prstGeom prst="roundRect">
            <a:avLst>
              <a:gd name="adj" fmla="val 1075"/>
            </a:avLst>
          </a:prstGeom>
          <a:solidFill>
            <a:srgbClr val="FFFFFF"/>
          </a:solidFill>
          <a:ln w="9525">
            <a:solidFill>
              <a:srgbClr val="C8DCD7"/>
            </a:solidFill>
            <a:prstDash val="solid"/>
          </a:ln>
        </p:spPr>
      </p:sp>
      <p:sp>
        <p:nvSpPr>
          <p:cNvPr id="87" name="Shape 83"/>
          <p:cNvSpPr/>
          <p:nvPr/>
        </p:nvSpPr>
        <p:spPr>
          <a:xfrm>
            <a:off x="265176" y="7168896"/>
            <a:ext cx="2036064" cy="41148"/>
          </a:xfrm>
          <a:prstGeom prst="rect">
            <a:avLst/>
          </a:prstGeom>
          <a:solidFill>
            <a:srgbClr val="5F716E"/>
          </a:solidFill>
          <a:ln/>
        </p:spPr>
      </p:sp>
      <p:sp>
        <p:nvSpPr>
          <p:cNvPr id="88" name="Text 84"/>
          <p:cNvSpPr/>
          <p:nvPr/>
        </p:nvSpPr>
        <p:spPr>
          <a:xfrm>
            <a:off x="356616" y="7251192"/>
            <a:ext cx="1853184" cy="137160"/>
          </a:xfrm>
          <a:prstGeom prst="rect">
            <a:avLst/>
          </a:prstGeom>
          <a:noFill/>
          <a:ln/>
        </p:spPr>
        <p:txBody>
          <a:bodyPr wrap="square" lIns="0" tIns="0" rIns="0" bIns="0" rtlCol="0" anchor="t"/>
          <a:lstStyle/>
          <a:p>
            <a:pPr indent="0" marL="0">
              <a:buNone/>
            </a:pPr>
            <a:r>
              <a:rPr lang="en-US" sz="620" b="1" spc="50" kern="0" dirty="0">
                <a:solidFill>
                  <a:srgbClr val="5F716E"/>
                </a:solidFill>
                <a:latin typeface="Calibri" pitchFamily="34" charset="0"/>
                <a:ea typeface="Calibri" pitchFamily="34" charset="-122"/>
                <a:cs typeface="Calibri" pitchFamily="34" charset="-120"/>
              </a:rPr>
              <a:t>SIZING</a:t>
            </a:r>
            <a:endParaRPr lang="en-US" sz="620" dirty="0"/>
          </a:p>
        </p:txBody>
      </p:sp>
      <p:sp>
        <p:nvSpPr>
          <p:cNvPr id="89" name="Text 85"/>
          <p:cNvSpPr/>
          <p:nvPr/>
        </p:nvSpPr>
        <p:spPr>
          <a:xfrm>
            <a:off x="356616" y="7397496"/>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₹0.13 Cr recoverable — below the ₹0.25 Cr floor</a:t>
            </a:r>
            <a:endParaRPr lang="en-US" sz="740" dirty="0"/>
          </a:p>
        </p:txBody>
      </p:sp>
      <p:sp>
        <p:nvSpPr>
          <p:cNvPr id="90" name="Text 86"/>
          <p:cNvSpPr/>
          <p:nvPr/>
        </p:nvSpPr>
        <p:spPr>
          <a:xfrm>
            <a:off x="356616" y="7735824"/>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At benchmark conversion Central gains almost nothing. The zone is small and already flowing well, so it should not consume review time.</a:t>
            </a:r>
            <a:endParaRPr lang="en-US" sz="650" dirty="0"/>
          </a:p>
        </p:txBody>
      </p:sp>
      <p:sp>
        <p:nvSpPr>
          <p:cNvPr id="91" name="Shape 87"/>
          <p:cNvSpPr/>
          <p:nvPr/>
        </p:nvSpPr>
        <p:spPr>
          <a:xfrm>
            <a:off x="356616" y="8330184"/>
            <a:ext cx="1853184" cy="0"/>
          </a:xfrm>
          <a:prstGeom prst="line">
            <a:avLst/>
          </a:prstGeom>
          <a:noFill/>
          <a:ln w="6350">
            <a:solidFill>
              <a:srgbClr val="C8DCD7"/>
            </a:solidFill>
            <a:prstDash val="solid"/>
          </a:ln>
        </p:spPr>
      </p:sp>
      <p:sp>
        <p:nvSpPr>
          <p:cNvPr id="92" name="Text 88"/>
          <p:cNvSpPr/>
          <p:nvPr/>
        </p:nvSpPr>
        <p:spPr>
          <a:xfrm>
            <a:off x="356616" y="8375904"/>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Report Central by exception only; drop it from the weekly gap review.</a:t>
            </a:r>
            <a:endParaRPr lang="en-US" sz="600" dirty="0"/>
          </a:p>
        </p:txBody>
      </p:sp>
      <p:sp>
        <p:nvSpPr>
          <p:cNvPr id="93" name="Text 89"/>
          <p:cNvSpPr/>
          <p:nvPr/>
        </p:nvSpPr>
        <p:spPr>
          <a:xfrm>
            <a:off x="356616" y="8705088"/>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Sales lead · from Sep pack</a:t>
            </a:r>
            <a:endParaRPr lang="en-US" sz="620" dirty="0"/>
          </a:p>
        </p:txBody>
      </p:sp>
      <p:sp>
        <p:nvSpPr>
          <p:cNvPr id="94" name="Shape 90"/>
          <p:cNvSpPr/>
          <p:nvPr/>
        </p:nvSpPr>
        <p:spPr>
          <a:xfrm>
            <a:off x="2410968" y="7168896"/>
            <a:ext cx="2036064" cy="1700784"/>
          </a:xfrm>
          <a:prstGeom prst="roundRect">
            <a:avLst>
              <a:gd name="adj" fmla="val 1075"/>
            </a:avLst>
          </a:prstGeom>
          <a:solidFill>
            <a:srgbClr val="FFFFFF"/>
          </a:solidFill>
          <a:ln w="9525">
            <a:solidFill>
              <a:srgbClr val="C8DCD7"/>
            </a:solidFill>
            <a:prstDash val="solid"/>
          </a:ln>
        </p:spPr>
      </p:sp>
      <p:sp>
        <p:nvSpPr>
          <p:cNvPr id="95" name="Shape 91"/>
          <p:cNvSpPr/>
          <p:nvPr/>
        </p:nvSpPr>
        <p:spPr>
          <a:xfrm>
            <a:off x="2410968" y="7168896"/>
            <a:ext cx="2036064" cy="41148"/>
          </a:xfrm>
          <a:prstGeom prst="rect">
            <a:avLst/>
          </a:prstGeom>
          <a:solidFill>
            <a:srgbClr val="2B9A66"/>
          </a:solidFill>
          <a:ln/>
        </p:spPr>
      </p:sp>
      <p:sp>
        <p:nvSpPr>
          <p:cNvPr id="96" name="Text 92"/>
          <p:cNvSpPr/>
          <p:nvPr/>
        </p:nvSpPr>
        <p:spPr>
          <a:xfrm>
            <a:off x="2502408" y="7251192"/>
            <a:ext cx="1853184" cy="137160"/>
          </a:xfrm>
          <a:prstGeom prst="rect">
            <a:avLst/>
          </a:prstGeom>
          <a:noFill/>
          <a:ln/>
        </p:spPr>
        <p:txBody>
          <a:bodyPr wrap="square" lIns="0" tIns="0" rIns="0" bIns="0" rtlCol="0" anchor="t"/>
          <a:lstStyle/>
          <a:p>
            <a:pPr indent="0" marL="0">
              <a:buNone/>
            </a:pPr>
            <a:r>
              <a:rPr lang="en-US" sz="620" b="1" spc="50" kern="0" dirty="0">
                <a:solidFill>
                  <a:srgbClr val="2B9A66"/>
                </a:solidFill>
                <a:latin typeface="Calibri" pitchFamily="34" charset="0"/>
                <a:ea typeface="Calibri" pitchFamily="34" charset="-122"/>
                <a:cs typeface="Calibri" pitchFamily="34" charset="-120"/>
              </a:rPr>
              <a:t>BENCHMARK</a:t>
            </a:r>
            <a:endParaRPr lang="en-US" sz="620" dirty="0"/>
          </a:p>
        </p:txBody>
      </p:sp>
      <p:sp>
        <p:nvSpPr>
          <p:cNvPr id="97" name="Text 93"/>
          <p:cNvSpPr/>
          <p:nvPr/>
        </p:nvSpPr>
        <p:spPr>
          <a:xfrm>
            <a:off x="2502408" y="7397496"/>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DMart Central converts at 95.3% — best in the country</a:t>
            </a:r>
            <a:endParaRPr lang="en-US" sz="740" dirty="0"/>
          </a:p>
        </p:txBody>
      </p:sp>
      <p:sp>
        <p:nvSpPr>
          <p:cNvPr id="98" name="Text 94"/>
          <p:cNvSpPr/>
          <p:nvPr/>
        </p:nvSpPr>
        <p:spPr>
          <a:xfrm>
            <a:off x="2502408" y="7735824"/>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Slightly ahead of DMart West. Two zones now show DMart above 94%, which makes the 45.1% in South-2 clearly anomalous rather than a chain-wide characteristic.</a:t>
            </a:r>
            <a:endParaRPr lang="en-US" sz="650" dirty="0"/>
          </a:p>
        </p:txBody>
      </p:sp>
      <p:sp>
        <p:nvSpPr>
          <p:cNvPr id="99" name="Shape 95"/>
          <p:cNvSpPr/>
          <p:nvPr/>
        </p:nvSpPr>
        <p:spPr>
          <a:xfrm>
            <a:off x="2502408" y="8330184"/>
            <a:ext cx="1853184" cy="0"/>
          </a:xfrm>
          <a:prstGeom prst="line">
            <a:avLst/>
          </a:prstGeom>
          <a:noFill/>
          <a:ln w="6350">
            <a:solidFill>
              <a:srgbClr val="C8DCD7"/>
            </a:solidFill>
            <a:prstDash val="solid"/>
          </a:ln>
        </p:spPr>
      </p:sp>
      <p:sp>
        <p:nvSpPr>
          <p:cNvPr id="100" name="Text 96"/>
          <p:cNvSpPr/>
          <p:nvPr/>
        </p:nvSpPr>
        <p:spPr>
          <a:xfrm>
            <a:off x="2502408" y="8375904"/>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Cite Central and West together when scoping the DMart South-2 fill audit.</a:t>
            </a:r>
            <a:endParaRPr lang="en-US" sz="600" dirty="0"/>
          </a:p>
        </p:txBody>
      </p:sp>
      <p:sp>
        <p:nvSpPr>
          <p:cNvPr id="101" name="Text 97"/>
          <p:cNvSpPr/>
          <p:nvPr/>
        </p:nvSpPr>
        <p:spPr>
          <a:xfrm>
            <a:off x="2502408" y="8705088"/>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NKAM DMart · 22 Aug</a:t>
            </a:r>
            <a:endParaRPr lang="en-US" sz="620" dirty="0"/>
          </a:p>
        </p:txBody>
      </p:sp>
      <p:sp>
        <p:nvSpPr>
          <p:cNvPr id="102" name="Shape 98"/>
          <p:cNvSpPr/>
          <p:nvPr/>
        </p:nvSpPr>
        <p:spPr>
          <a:xfrm>
            <a:off x="4556760" y="7168896"/>
            <a:ext cx="2036064" cy="1700784"/>
          </a:xfrm>
          <a:prstGeom prst="roundRect">
            <a:avLst>
              <a:gd name="adj" fmla="val 1075"/>
            </a:avLst>
          </a:prstGeom>
          <a:solidFill>
            <a:srgbClr val="FFFFFF"/>
          </a:solidFill>
          <a:ln w="9525">
            <a:solidFill>
              <a:srgbClr val="C8DCD7"/>
            </a:solidFill>
            <a:prstDash val="solid"/>
          </a:ln>
        </p:spPr>
      </p:sp>
      <p:sp>
        <p:nvSpPr>
          <p:cNvPr id="103" name="Shape 99"/>
          <p:cNvSpPr/>
          <p:nvPr/>
        </p:nvSpPr>
        <p:spPr>
          <a:xfrm>
            <a:off x="4556760" y="7168896"/>
            <a:ext cx="2036064" cy="41148"/>
          </a:xfrm>
          <a:prstGeom prst="rect">
            <a:avLst/>
          </a:prstGeom>
          <a:solidFill>
            <a:srgbClr val="D6544D"/>
          </a:solidFill>
          <a:ln/>
        </p:spPr>
      </p:sp>
      <p:sp>
        <p:nvSpPr>
          <p:cNvPr id="104" name="Text 100"/>
          <p:cNvSpPr/>
          <p:nvPr/>
        </p:nvSpPr>
        <p:spPr>
          <a:xfrm>
            <a:off x="4648200" y="7251192"/>
            <a:ext cx="1853184" cy="137160"/>
          </a:xfrm>
          <a:prstGeom prst="rect">
            <a:avLst/>
          </a:prstGeom>
          <a:noFill/>
          <a:ln/>
        </p:spPr>
        <p:txBody>
          <a:bodyPr wrap="square" lIns="0" tIns="0" rIns="0" bIns="0" rtlCol="0" anchor="t"/>
          <a:lstStyle/>
          <a:p>
            <a:pPr indent="0" marL="0">
              <a:buNone/>
            </a:pPr>
            <a:r>
              <a:rPr lang="en-US" sz="620" b="1" spc="50" kern="0" dirty="0">
                <a:solidFill>
                  <a:srgbClr val="D6544D"/>
                </a:solidFill>
                <a:latin typeface="Calibri" pitchFamily="34" charset="0"/>
                <a:ea typeface="Calibri" pitchFamily="34" charset="-122"/>
                <a:cs typeface="Calibri" pitchFamily="34" charset="-120"/>
              </a:rPr>
              <a:t>EXCEPTION</a:t>
            </a:r>
            <a:endParaRPr lang="en-US" sz="620" dirty="0"/>
          </a:p>
        </p:txBody>
      </p:sp>
      <p:sp>
        <p:nvSpPr>
          <p:cNvPr id="105" name="Text 101"/>
          <p:cNvSpPr/>
          <p:nvPr/>
        </p:nvSpPr>
        <p:spPr>
          <a:xfrm>
            <a:off x="4648200" y="7397496"/>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Reliance Central at 51.2% repeats the national pattern</a:t>
            </a:r>
            <a:endParaRPr lang="en-US" sz="740" dirty="0"/>
          </a:p>
        </p:txBody>
      </p:sp>
      <p:sp>
        <p:nvSpPr>
          <p:cNvPr id="106" name="Text 102"/>
          <p:cNvSpPr/>
          <p:nvPr/>
        </p:nvSpPr>
        <p:spPr>
          <a:xfrm>
            <a:off x="4648200" y="7735824"/>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Fourth zone where Reliance sits near 50% while other accounts in the same geography clear 78%. The consistency is the evidence.</a:t>
            </a:r>
            <a:endParaRPr lang="en-US" sz="650" dirty="0"/>
          </a:p>
        </p:txBody>
      </p:sp>
      <p:sp>
        <p:nvSpPr>
          <p:cNvPr id="107" name="Shape 103"/>
          <p:cNvSpPr/>
          <p:nvPr/>
        </p:nvSpPr>
        <p:spPr>
          <a:xfrm>
            <a:off x="4648200" y="8330184"/>
            <a:ext cx="1853184" cy="0"/>
          </a:xfrm>
          <a:prstGeom prst="line">
            <a:avLst/>
          </a:prstGeom>
          <a:noFill/>
          <a:ln w="6350">
            <a:solidFill>
              <a:srgbClr val="C8DCD7"/>
            </a:solidFill>
            <a:prstDash val="solid"/>
          </a:ln>
        </p:spPr>
      </p:sp>
      <p:sp>
        <p:nvSpPr>
          <p:cNvPr id="108" name="Text 104"/>
          <p:cNvSpPr/>
          <p:nvPr/>
        </p:nvSpPr>
        <p:spPr>
          <a:xfrm>
            <a:off x="4648200" y="8375904"/>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Include Central in the Reliance national loop; no separate zone action.</a:t>
            </a:r>
            <a:endParaRPr lang="en-US" sz="600" dirty="0"/>
          </a:p>
        </p:txBody>
      </p:sp>
      <p:sp>
        <p:nvSpPr>
          <p:cNvPr id="109" name="Text 105"/>
          <p:cNvSpPr/>
          <p:nvPr/>
        </p:nvSpPr>
        <p:spPr>
          <a:xfrm>
            <a:off x="4648200" y="8705088"/>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NKAM Reliance · 25 Aug</a:t>
            </a:r>
            <a:endParaRPr lang="en-US" sz="620" dirty="0"/>
          </a:p>
        </p:txBody>
      </p:sp>
      <p:sp>
        <p:nvSpPr>
          <p:cNvPr id="110" name="Shape 106"/>
          <p:cNvSpPr/>
          <p:nvPr/>
        </p:nvSpPr>
        <p:spPr>
          <a:xfrm>
            <a:off x="265176" y="8979408"/>
            <a:ext cx="2036064" cy="1700784"/>
          </a:xfrm>
          <a:prstGeom prst="roundRect">
            <a:avLst>
              <a:gd name="adj" fmla="val 1075"/>
            </a:avLst>
          </a:prstGeom>
          <a:solidFill>
            <a:srgbClr val="FFFFFF"/>
          </a:solidFill>
          <a:ln w="9525">
            <a:solidFill>
              <a:srgbClr val="C8DCD7"/>
            </a:solidFill>
            <a:prstDash val="solid"/>
          </a:ln>
        </p:spPr>
      </p:sp>
      <p:sp>
        <p:nvSpPr>
          <p:cNvPr id="111" name="Shape 107"/>
          <p:cNvSpPr/>
          <p:nvPr/>
        </p:nvSpPr>
        <p:spPr>
          <a:xfrm>
            <a:off x="265176" y="8979408"/>
            <a:ext cx="2036064" cy="41148"/>
          </a:xfrm>
          <a:prstGeom prst="rect">
            <a:avLst/>
          </a:prstGeom>
          <a:solidFill>
            <a:srgbClr val="F2B84B"/>
          </a:solidFill>
          <a:ln/>
        </p:spPr>
      </p:sp>
      <p:sp>
        <p:nvSpPr>
          <p:cNvPr id="112" name="Text 108"/>
          <p:cNvSpPr/>
          <p:nvPr/>
        </p:nvSpPr>
        <p:spPr>
          <a:xfrm>
            <a:off x="356616" y="9061704"/>
            <a:ext cx="1853184" cy="137160"/>
          </a:xfrm>
          <a:prstGeom prst="rect">
            <a:avLst/>
          </a:prstGeom>
          <a:noFill/>
          <a:ln/>
        </p:spPr>
        <p:txBody>
          <a:bodyPr wrap="square" lIns="0" tIns="0" rIns="0" bIns="0" rtlCol="0" anchor="t"/>
          <a:lstStyle/>
          <a:p>
            <a:pPr indent="0" marL="0">
              <a:buNone/>
            </a:pPr>
            <a:r>
              <a:rPr lang="en-US" sz="620" b="1" spc="50" kern="0" dirty="0">
                <a:solidFill>
                  <a:srgbClr val="F2B84B"/>
                </a:solidFill>
                <a:latin typeface="Calibri" pitchFamily="34" charset="0"/>
                <a:ea typeface="Calibri" pitchFamily="34" charset="-122"/>
                <a:cs typeface="Calibri" pitchFamily="34" charset="-120"/>
              </a:rPr>
              <a:t>CONCENTRATION</a:t>
            </a:r>
            <a:endParaRPr lang="en-US" sz="620" dirty="0"/>
          </a:p>
        </p:txBody>
      </p:sp>
      <p:sp>
        <p:nvSpPr>
          <p:cNvPr id="113" name="Text 109"/>
          <p:cNvSpPr/>
          <p:nvPr/>
        </p:nvSpPr>
        <p:spPr>
          <a:xfrm>
            <a:off x="356616" y="9208008"/>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Madhya Pradesh is 79.3% of the zone</a:t>
            </a:r>
            <a:endParaRPr lang="en-US" sz="740" dirty="0"/>
          </a:p>
        </p:txBody>
      </p:sp>
      <p:sp>
        <p:nvSpPr>
          <p:cNvPr id="114" name="Text 110"/>
          <p:cNvSpPr/>
          <p:nvPr/>
        </p:nvSpPr>
        <p:spPr>
          <a:xfrm>
            <a:off x="356616" y="9546336"/>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The most single-state-dependent zone in the pack. Chhattisgarh at ₹0.44 Cr is the only other material market.</a:t>
            </a:r>
            <a:endParaRPr lang="en-US" sz="650" dirty="0"/>
          </a:p>
        </p:txBody>
      </p:sp>
      <p:sp>
        <p:nvSpPr>
          <p:cNvPr id="115" name="Shape 111"/>
          <p:cNvSpPr/>
          <p:nvPr/>
        </p:nvSpPr>
        <p:spPr>
          <a:xfrm>
            <a:off x="356616" y="10140696"/>
            <a:ext cx="1853184" cy="0"/>
          </a:xfrm>
          <a:prstGeom prst="line">
            <a:avLst/>
          </a:prstGeom>
          <a:noFill/>
          <a:ln w="6350">
            <a:solidFill>
              <a:srgbClr val="C8DCD7"/>
            </a:solidFill>
            <a:prstDash val="solid"/>
          </a:ln>
        </p:spPr>
      </p:sp>
      <p:sp>
        <p:nvSpPr>
          <p:cNvPr id="116" name="Text 112"/>
          <p:cNvSpPr/>
          <p:nvPr/>
        </p:nvSpPr>
        <p:spPr>
          <a:xfrm>
            <a:off x="356616" y="10186416"/>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Treat Central as a single-state operation for planning and route design.</a:t>
            </a:r>
            <a:endParaRPr lang="en-US" sz="600" dirty="0"/>
          </a:p>
        </p:txBody>
      </p:sp>
      <p:sp>
        <p:nvSpPr>
          <p:cNvPr id="117" name="Text 113"/>
          <p:cNvSpPr/>
          <p:nvPr/>
        </p:nvSpPr>
        <p:spPr>
          <a:xfrm>
            <a:off x="356616" y="10515600"/>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Central RKAM · Sep planning</a:t>
            </a:r>
            <a:endParaRPr lang="en-US" sz="620" dirty="0"/>
          </a:p>
        </p:txBody>
      </p:sp>
      <p:sp>
        <p:nvSpPr>
          <p:cNvPr id="118" name="Shape 114"/>
          <p:cNvSpPr/>
          <p:nvPr/>
        </p:nvSpPr>
        <p:spPr>
          <a:xfrm>
            <a:off x="2410968" y="8979408"/>
            <a:ext cx="2036064" cy="1700784"/>
          </a:xfrm>
          <a:prstGeom prst="roundRect">
            <a:avLst>
              <a:gd name="adj" fmla="val 1075"/>
            </a:avLst>
          </a:prstGeom>
          <a:solidFill>
            <a:srgbClr val="FFFFFF"/>
          </a:solidFill>
          <a:ln w="9525">
            <a:solidFill>
              <a:srgbClr val="C8DCD7"/>
            </a:solidFill>
            <a:prstDash val="solid"/>
          </a:ln>
        </p:spPr>
      </p:sp>
      <p:sp>
        <p:nvSpPr>
          <p:cNvPr id="119" name="Shape 115"/>
          <p:cNvSpPr/>
          <p:nvPr/>
        </p:nvSpPr>
        <p:spPr>
          <a:xfrm>
            <a:off x="2410968" y="8979408"/>
            <a:ext cx="2036064" cy="41148"/>
          </a:xfrm>
          <a:prstGeom prst="rect">
            <a:avLst/>
          </a:prstGeom>
          <a:solidFill>
            <a:srgbClr val="2B9A66"/>
          </a:solidFill>
          <a:ln/>
        </p:spPr>
      </p:sp>
      <p:sp>
        <p:nvSpPr>
          <p:cNvPr id="120" name="Text 116"/>
          <p:cNvSpPr/>
          <p:nvPr/>
        </p:nvSpPr>
        <p:spPr>
          <a:xfrm>
            <a:off x="2502408" y="9061704"/>
            <a:ext cx="1853184" cy="137160"/>
          </a:xfrm>
          <a:prstGeom prst="rect">
            <a:avLst/>
          </a:prstGeom>
          <a:noFill/>
          <a:ln/>
        </p:spPr>
        <p:txBody>
          <a:bodyPr wrap="square" lIns="0" tIns="0" rIns="0" bIns="0" rtlCol="0" anchor="t"/>
          <a:lstStyle/>
          <a:p>
            <a:pPr indent="0" marL="0">
              <a:buNone/>
            </a:pPr>
            <a:r>
              <a:rPr lang="en-US" sz="620" b="1" spc="50" kern="0" dirty="0">
                <a:solidFill>
                  <a:srgbClr val="2B9A66"/>
                </a:solidFill>
                <a:latin typeface="Calibri" pitchFamily="34" charset="0"/>
                <a:ea typeface="Calibri" pitchFamily="34" charset="-122"/>
                <a:cs typeface="Calibri" pitchFamily="34" charset="-120"/>
              </a:rPr>
              <a:t>PORTFOLIO</a:t>
            </a:r>
            <a:endParaRPr lang="en-US" sz="620" dirty="0"/>
          </a:p>
        </p:txBody>
      </p:sp>
      <p:sp>
        <p:nvSpPr>
          <p:cNvPr id="121" name="Text 117"/>
          <p:cNvSpPr/>
          <p:nvPr/>
        </p:nvSpPr>
        <p:spPr>
          <a:xfrm>
            <a:off x="2502408" y="9208008"/>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Highest TDC share of any zone at 38.7%</a:t>
            </a:r>
            <a:endParaRPr lang="en-US" sz="740" dirty="0"/>
          </a:p>
        </p:txBody>
      </p:sp>
      <p:sp>
        <p:nvSpPr>
          <p:cNvPr id="122" name="Text 118"/>
          <p:cNvSpPr/>
          <p:nvPr/>
        </p:nvSpPr>
        <p:spPr>
          <a:xfrm>
            <a:off x="2502408" y="9546336"/>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TDC ₹0.82 Cr against Mamaearth ₹1.25 Cr. Central over-indexes on TDC Face Cleanser relative to its size.</a:t>
            </a:r>
            <a:endParaRPr lang="en-US" sz="650" dirty="0"/>
          </a:p>
        </p:txBody>
      </p:sp>
      <p:sp>
        <p:nvSpPr>
          <p:cNvPr id="123" name="Shape 119"/>
          <p:cNvSpPr/>
          <p:nvPr/>
        </p:nvSpPr>
        <p:spPr>
          <a:xfrm>
            <a:off x="2502408" y="10140696"/>
            <a:ext cx="1853184" cy="0"/>
          </a:xfrm>
          <a:prstGeom prst="line">
            <a:avLst/>
          </a:prstGeom>
          <a:noFill/>
          <a:ln w="6350">
            <a:solidFill>
              <a:srgbClr val="C8DCD7"/>
            </a:solidFill>
            <a:prstDash val="solid"/>
          </a:ln>
        </p:spPr>
      </p:sp>
      <p:sp>
        <p:nvSpPr>
          <p:cNvPr id="124" name="Text 120"/>
          <p:cNvSpPr/>
          <p:nvPr/>
        </p:nvSpPr>
        <p:spPr>
          <a:xfrm>
            <a:off x="2502408" y="10186416"/>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Use Central TDC assortment as the reference for South-2 TDC expansion.</a:t>
            </a:r>
            <a:endParaRPr lang="en-US" sz="600" dirty="0"/>
          </a:p>
        </p:txBody>
      </p:sp>
      <p:sp>
        <p:nvSpPr>
          <p:cNvPr id="125" name="Text 121"/>
          <p:cNvSpPr/>
          <p:nvPr/>
        </p:nvSpPr>
        <p:spPr>
          <a:xfrm>
            <a:off x="2502408" y="10515600"/>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Category · Sep</a:t>
            </a:r>
            <a:endParaRPr lang="en-US" sz="620" dirty="0"/>
          </a:p>
        </p:txBody>
      </p:sp>
      <p:sp>
        <p:nvSpPr>
          <p:cNvPr id="126" name="Shape 122"/>
          <p:cNvSpPr/>
          <p:nvPr/>
        </p:nvSpPr>
        <p:spPr>
          <a:xfrm>
            <a:off x="4556760" y="8979408"/>
            <a:ext cx="2036064" cy="1700784"/>
          </a:xfrm>
          <a:prstGeom prst="roundRect">
            <a:avLst>
              <a:gd name="adj" fmla="val 1075"/>
            </a:avLst>
          </a:prstGeom>
          <a:solidFill>
            <a:srgbClr val="FFFFFF"/>
          </a:solidFill>
          <a:ln w="9525">
            <a:solidFill>
              <a:srgbClr val="C8DCD7"/>
            </a:solidFill>
            <a:prstDash val="solid"/>
          </a:ln>
        </p:spPr>
      </p:sp>
      <p:sp>
        <p:nvSpPr>
          <p:cNvPr id="127" name="Shape 123"/>
          <p:cNvSpPr/>
          <p:nvPr/>
        </p:nvSpPr>
        <p:spPr>
          <a:xfrm>
            <a:off x="4556760" y="8979408"/>
            <a:ext cx="2036064" cy="41148"/>
          </a:xfrm>
          <a:prstGeom prst="rect">
            <a:avLst/>
          </a:prstGeom>
          <a:solidFill>
            <a:srgbClr val="F2B84B"/>
          </a:solidFill>
          <a:ln/>
        </p:spPr>
      </p:sp>
      <p:sp>
        <p:nvSpPr>
          <p:cNvPr id="128" name="Text 124"/>
          <p:cNvSpPr/>
          <p:nvPr/>
        </p:nvSpPr>
        <p:spPr>
          <a:xfrm>
            <a:off x="4648200" y="9061704"/>
            <a:ext cx="1853184" cy="137160"/>
          </a:xfrm>
          <a:prstGeom prst="rect">
            <a:avLst/>
          </a:prstGeom>
          <a:noFill/>
          <a:ln/>
        </p:spPr>
        <p:txBody>
          <a:bodyPr wrap="square" lIns="0" tIns="0" rIns="0" bIns="0" rtlCol="0" anchor="t"/>
          <a:lstStyle/>
          <a:p>
            <a:pPr indent="0" marL="0">
              <a:buNone/>
            </a:pPr>
            <a:r>
              <a:rPr lang="en-US" sz="620" b="1" spc="50" kern="0" dirty="0">
                <a:solidFill>
                  <a:srgbClr val="F2B84B"/>
                </a:solidFill>
                <a:latin typeface="Calibri" pitchFamily="34" charset="0"/>
                <a:ea typeface="Calibri" pitchFamily="34" charset="-122"/>
                <a:cs typeface="Calibri" pitchFamily="34" charset="-120"/>
              </a:rPr>
              <a:t>DATA</a:t>
            </a:r>
            <a:endParaRPr lang="en-US" sz="620" dirty="0"/>
          </a:p>
        </p:txBody>
      </p:sp>
      <p:sp>
        <p:nvSpPr>
          <p:cNvPr id="129" name="Text 125"/>
          <p:cNvSpPr/>
          <p:nvPr/>
        </p:nvSpPr>
        <p:spPr>
          <a:xfrm>
            <a:off x="4648200" y="9208008"/>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Apollo Central reported at 137.7%</a:t>
            </a:r>
            <a:endParaRPr lang="en-US" sz="740" dirty="0"/>
          </a:p>
        </p:txBody>
      </p:sp>
      <p:sp>
        <p:nvSpPr>
          <p:cNvPr id="130" name="Text 126"/>
          <p:cNvSpPr/>
          <p:nvPr/>
        </p:nvSpPr>
        <p:spPr>
          <a:xfrm>
            <a:off x="4648200" y="9546336"/>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Third zone where Apollo exceeds 100%. The national Apollo figure of 99.7% is an average of wide zone-level errors, not a measured parity.</a:t>
            </a:r>
            <a:endParaRPr lang="en-US" sz="650" dirty="0"/>
          </a:p>
        </p:txBody>
      </p:sp>
      <p:sp>
        <p:nvSpPr>
          <p:cNvPr id="131" name="Shape 127"/>
          <p:cNvSpPr/>
          <p:nvPr/>
        </p:nvSpPr>
        <p:spPr>
          <a:xfrm>
            <a:off x="4648200" y="10140696"/>
            <a:ext cx="1853184" cy="0"/>
          </a:xfrm>
          <a:prstGeom prst="line">
            <a:avLst/>
          </a:prstGeom>
          <a:noFill/>
          <a:ln w="6350">
            <a:solidFill>
              <a:srgbClr val="C8DCD7"/>
            </a:solidFill>
            <a:prstDash val="solid"/>
          </a:ln>
        </p:spPr>
      </p:sp>
      <p:sp>
        <p:nvSpPr>
          <p:cNvPr id="132" name="Text 128"/>
          <p:cNvSpPr/>
          <p:nvPr/>
        </p:nvSpPr>
        <p:spPr>
          <a:xfrm>
            <a:off x="4648200" y="10186416"/>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Stop quoting Apollo national conversion until the zone figures reconcile.</a:t>
            </a:r>
            <a:endParaRPr lang="en-US" sz="600" dirty="0"/>
          </a:p>
        </p:txBody>
      </p:sp>
      <p:sp>
        <p:nvSpPr>
          <p:cNvPr id="133" name="Text 129"/>
          <p:cNvSpPr/>
          <p:nvPr/>
        </p:nvSpPr>
        <p:spPr>
          <a:xfrm>
            <a:off x="4648200" y="10515600"/>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Analyst · 18 Aug</a:t>
            </a:r>
            <a:endParaRPr lang="en-US" sz="620" dirty="0"/>
          </a:p>
        </p:txBody>
      </p:sp>
      <p:sp>
        <p:nvSpPr>
          <p:cNvPr id="134" name="Text 130"/>
          <p:cNvSpPr/>
          <p:nvPr/>
        </p:nvSpPr>
        <p:spPr>
          <a:xfrm>
            <a:off x="265176" y="10844784"/>
            <a:ext cx="6327648" cy="182880"/>
          </a:xfrm>
          <a:prstGeom prst="rect">
            <a:avLst/>
          </a:prstGeom>
          <a:noFill/>
          <a:ln/>
        </p:spPr>
        <p:txBody>
          <a:bodyPr wrap="square" lIns="0" tIns="0" rIns="0" bIns="0" rtlCol="0" anchor="t"/>
          <a:lstStyle/>
          <a:p>
            <a:pPr algn="ctr" indent="0" marL="0">
              <a:buNone/>
            </a:pPr>
            <a:r>
              <a:rPr lang="en-US" sz="680" i="1" dirty="0">
                <a:solidFill>
                  <a:srgbClr val="5F716E"/>
                </a:solidFill>
                <a:latin typeface="Calibri" pitchFamily="34" charset="0"/>
                <a:ea typeface="Calibri" pitchFamily="34" charset="-122"/>
                <a:cs typeface="Calibri" pitchFamily="34" charset="-120"/>
              </a:rPr>
              <a:t>Central NPI mix 8.5% | ₹0.11 Cr recoverable — below the materiality floor</a:t>
            </a:r>
            <a:endParaRPr lang="en-US" sz="6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A"/>
        </a:solidFill>
      </p:bgPr>
    </p:bg>
    <p:spTree>
      <p:nvGrpSpPr>
        <p:cNvPr id="1" name=""/>
        <p:cNvGrpSpPr/>
        <p:nvPr/>
      </p:nvGrpSpPr>
      <p:grpSpPr>
        <a:xfrm>
          <a:off x="0" y="0"/>
          <a:ext cx="0" cy="0"/>
          <a:chOff x="0" y="0"/>
          <a:chExt cx="0" cy="0"/>
        </a:xfrm>
      </p:grpSpPr>
      <p:sp>
        <p:nvSpPr>
          <p:cNvPr id="2" name="Shape 0"/>
          <p:cNvSpPr/>
          <p:nvPr/>
        </p:nvSpPr>
        <p:spPr>
          <a:xfrm>
            <a:off x="0" y="0"/>
            <a:ext cx="6858000" cy="1133856"/>
          </a:xfrm>
          <a:prstGeom prst="rect">
            <a:avLst/>
          </a:prstGeom>
          <a:solidFill>
            <a:srgbClr val="116F68"/>
          </a:solidFill>
          <a:ln/>
        </p:spPr>
      </p:sp>
      <p:sp>
        <p:nvSpPr>
          <p:cNvPr id="3" name="Text 1"/>
          <p:cNvSpPr/>
          <p:nvPr/>
        </p:nvSpPr>
        <p:spPr>
          <a:xfrm>
            <a:off x="365760" y="182880"/>
            <a:ext cx="5641848" cy="548640"/>
          </a:xfrm>
          <a:prstGeom prst="rect">
            <a:avLst/>
          </a:prstGeom>
          <a:noFill/>
          <a:ln/>
        </p:spPr>
        <p:txBody>
          <a:bodyPr wrap="square" lIns="0" tIns="0" rIns="0" bIns="0" rtlCol="0" anchor="ctr"/>
          <a:lstStyle/>
          <a:p>
            <a:pPr indent="0" marL="0">
              <a:lnSpc>
                <a:spcPct val="92000"/>
              </a:lnSpc>
              <a:buNone/>
            </a:pPr>
            <a:r>
              <a:rPr lang="en-US" sz="1650" b="1" dirty="0">
                <a:solidFill>
                  <a:srgbClr val="FFFFFF"/>
                </a:solidFill>
                <a:latin typeface="Calibri Light" pitchFamily="34" charset="0"/>
                <a:ea typeface="Calibri Light" pitchFamily="34" charset="-122"/>
                <a:cs typeface="Calibri Light" pitchFamily="34" charset="-120"/>
              </a:rPr>
              <a:t>eB2B: Separate channel — excluded from MT</a:t>
            </a:r>
            <a:endParaRPr lang="en-US" sz="1650" dirty="0"/>
          </a:p>
        </p:txBody>
      </p:sp>
      <p:sp>
        <p:nvSpPr>
          <p:cNvPr id="4" name="Text 2"/>
          <p:cNvSpPr/>
          <p:nvPr/>
        </p:nvSpPr>
        <p:spPr>
          <a:xfrm>
            <a:off x="384048" y="786384"/>
            <a:ext cx="5641848" cy="237744"/>
          </a:xfrm>
          <a:prstGeom prst="rect">
            <a:avLst/>
          </a:prstGeom>
          <a:noFill/>
          <a:ln/>
        </p:spPr>
        <p:txBody>
          <a:bodyPr wrap="square" lIns="0" tIns="0" rIns="0" bIns="0" rtlCol="0" anchor="ctr"/>
          <a:lstStyle/>
          <a:p>
            <a:pPr indent="0" marL="0">
              <a:buNone/>
            </a:pPr>
            <a:r>
              <a:rPr lang="en-US" sz="850" dirty="0">
                <a:solidFill>
                  <a:srgbClr val="BFDCD7"/>
                </a:solidFill>
                <a:latin typeface="Calibri" pitchFamily="34" charset="0"/>
                <a:ea typeface="Calibri" pitchFamily="34" charset="-122"/>
                <a:cs typeface="Calibri" pitchFamily="34" charset="-120"/>
              </a:rPr>
              <a:t>Channel view | July 2026 | ₹ Cr | reported outside Modern Trade</a:t>
            </a:r>
            <a:endParaRPr lang="en-US" sz="850" dirty="0"/>
          </a:p>
        </p:txBody>
      </p:sp>
      <p:sp>
        <p:nvSpPr>
          <p:cNvPr id="5" name="Text 3"/>
          <p:cNvSpPr/>
          <p:nvPr/>
        </p:nvSpPr>
        <p:spPr>
          <a:xfrm>
            <a:off x="6117336" y="365760"/>
            <a:ext cx="402336" cy="237744"/>
          </a:xfrm>
          <a:prstGeom prst="rect">
            <a:avLst/>
          </a:prstGeom>
          <a:noFill/>
          <a:ln/>
        </p:spPr>
        <p:txBody>
          <a:bodyPr wrap="square" lIns="0" tIns="0" rIns="0" bIns="0" rtlCol="0" anchor="t"/>
          <a:lstStyle/>
          <a:p>
            <a:pPr algn="r" indent="0" marL="0">
              <a:buNone/>
            </a:pPr>
            <a:r>
              <a:rPr lang="en-US" sz="950" b="1" dirty="0">
                <a:solidFill>
                  <a:srgbClr val="8FC4BD"/>
                </a:solidFill>
                <a:latin typeface="Calibri" pitchFamily="34" charset="0"/>
                <a:ea typeface="Calibri" pitchFamily="34" charset="-122"/>
                <a:cs typeface="Calibri" pitchFamily="34" charset="-120"/>
              </a:rPr>
              <a:t>13</a:t>
            </a:r>
            <a:endParaRPr lang="en-US" sz="950" dirty="0"/>
          </a:p>
        </p:txBody>
      </p:sp>
      <p:sp>
        <p:nvSpPr>
          <p:cNvPr id="6" name="Shape 4"/>
          <p:cNvSpPr/>
          <p:nvPr/>
        </p:nvSpPr>
        <p:spPr>
          <a:xfrm>
            <a:off x="265176" y="11375136"/>
            <a:ext cx="6327648" cy="420624"/>
          </a:xfrm>
          <a:prstGeom prst="roundRect">
            <a:avLst>
              <a:gd name="adj" fmla="val 6522"/>
            </a:avLst>
          </a:prstGeom>
          <a:solidFill>
            <a:srgbClr val="DFF2ED"/>
          </a:solidFill>
          <a:ln w="9525">
            <a:solidFill>
              <a:srgbClr val="C8DCD7"/>
            </a:solidFill>
            <a:prstDash val="solid"/>
          </a:ln>
        </p:spPr>
      </p:sp>
      <p:sp>
        <p:nvSpPr>
          <p:cNvPr id="7" name="Text 5"/>
          <p:cNvSpPr/>
          <p:nvPr/>
        </p:nvSpPr>
        <p:spPr>
          <a:xfrm>
            <a:off x="374904"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EVIDENCE</a:t>
            </a:r>
            <a:endParaRPr lang="en-US" sz="650" dirty="0"/>
          </a:p>
        </p:txBody>
      </p:sp>
      <p:sp>
        <p:nvSpPr>
          <p:cNvPr id="8" name="Text 6"/>
          <p:cNvSpPr/>
          <p:nvPr/>
        </p:nvSpPr>
        <p:spPr>
          <a:xfrm>
            <a:off x="374904"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moved</a:t>
            </a:r>
            <a:endParaRPr lang="en-US" sz="700" dirty="0"/>
          </a:p>
        </p:txBody>
      </p:sp>
      <p:sp>
        <p:nvSpPr>
          <p:cNvPr id="9" name="Text 7"/>
          <p:cNvSpPr/>
          <p:nvPr/>
        </p:nvSpPr>
        <p:spPr>
          <a:xfrm>
            <a:off x="1901952"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IMPLICATION</a:t>
            </a:r>
            <a:endParaRPr lang="en-US" sz="650" dirty="0"/>
          </a:p>
        </p:txBody>
      </p:sp>
      <p:sp>
        <p:nvSpPr>
          <p:cNvPr id="10" name="Text 8"/>
          <p:cNvSpPr/>
          <p:nvPr/>
        </p:nvSpPr>
        <p:spPr>
          <a:xfrm>
            <a:off x="1901952"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Why it matters</a:t>
            </a:r>
            <a:endParaRPr lang="en-US" sz="700" dirty="0"/>
          </a:p>
        </p:txBody>
      </p:sp>
      <p:sp>
        <p:nvSpPr>
          <p:cNvPr id="11" name="Shape 9"/>
          <p:cNvSpPr/>
          <p:nvPr/>
        </p:nvSpPr>
        <p:spPr>
          <a:xfrm>
            <a:off x="1819656" y="11457432"/>
            <a:ext cx="0" cy="265176"/>
          </a:xfrm>
          <a:prstGeom prst="line">
            <a:avLst/>
          </a:prstGeom>
          <a:noFill/>
          <a:ln w="9525">
            <a:solidFill>
              <a:srgbClr val="C8DCD7"/>
            </a:solidFill>
            <a:prstDash val="solid"/>
          </a:ln>
        </p:spPr>
      </p:sp>
      <p:sp>
        <p:nvSpPr>
          <p:cNvPr id="12" name="Text 10"/>
          <p:cNvSpPr/>
          <p:nvPr/>
        </p:nvSpPr>
        <p:spPr>
          <a:xfrm>
            <a:off x="3429000"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ACTION</a:t>
            </a:r>
            <a:endParaRPr lang="en-US" sz="650" dirty="0"/>
          </a:p>
        </p:txBody>
      </p:sp>
      <p:sp>
        <p:nvSpPr>
          <p:cNvPr id="13" name="Text 11"/>
          <p:cNvSpPr/>
          <p:nvPr/>
        </p:nvSpPr>
        <p:spPr>
          <a:xfrm>
            <a:off x="3429000"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changes now</a:t>
            </a:r>
            <a:endParaRPr lang="en-US" sz="700" dirty="0"/>
          </a:p>
        </p:txBody>
      </p:sp>
      <p:sp>
        <p:nvSpPr>
          <p:cNvPr id="14" name="Shape 12"/>
          <p:cNvSpPr/>
          <p:nvPr/>
        </p:nvSpPr>
        <p:spPr>
          <a:xfrm>
            <a:off x="3346704" y="11457432"/>
            <a:ext cx="0" cy="265176"/>
          </a:xfrm>
          <a:prstGeom prst="line">
            <a:avLst/>
          </a:prstGeom>
          <a:noFill/>
          <a:ln w="9525">
            <a:solidFill>
              <a:srgbClr val="C8DCD7"/>
            </a:solidFill>
            <a:prstDash val="solid"/>
          </a:ln>
        </p:spPr>
      </p:sp>
      <p:sp>
        <p:nvSpPr>
          <p:cNvPr id="15" name="Text 13"/>
          <p:cNvSpPr/>
          <p:nvPr/>
        </p:nvSpPr>
        <p:spPr>
          <a:xfrm>
            <a:off x="4956048"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OWNER</a:t>
            </a:r>
            <a:endParaRPr lang="en-US" sz="650" dirty="0"/>
          </a:p>
        </p:txBody>
      </p:sp>
      <p:sp>
        <p:nvSpPr>
          <p:cNvPr id="16" name="Text 14"/>
          <p:cNvSpPr/>
          <p:nvPr/>
        </p:nvSpPr>
        <p:spPr>
          <a:xfrm>
            <a:off x="4956048"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Who closes it</a:t>
            </a:r>
            <a:endParaRPr lang="en-US" sz="700" dirty="0"/>
          </a:p>
        </p:txBody>
      </p:sp>
      <p:sp>
        <p:nvSpPr>
          <p:cNvPr id="17" name="Shape 15"/>
          <p:cNvSpPr/>
          <p:nvPr/>
        </p:nvSpPr>
        <p:spPr>
          <a:xfrm>
            <a:off x="4873752" y="11457432"/>
            <a:ext cx="0" cy="265176"/>
          </a:xfrm>
          <a:prstGeom prst="line">
            <a:avLst/>
          </a:prstGeom>
          <a:noFill/>
          <a:ln w="9525">
            <a:solidFill>
              <a:srgbClr val="C8DCD7"/>
            </a:solidFill>
            <a:prstDash val="solid"/>
          </a:ln>
        </p:spPr>
      </p:sp>
      <p:sp>
        <p:nvSpPr>
          <p:cNvPr id="18" name="Text 16"/>
          <p:cNvSpPr/>
          <p:nvPr/>
        </p:nvSpPr>
        <p:spPr>
          <a:xfrm>
            <a:off x="301752" y="11887200"/>
            <a:ext cx="6254496" cy="201168"/>
          </a:xfrm>
          <a:prstGeom prst="rect">
            <a:avLst/>
          </a:prstGeom>
          <a:noFill/>
          <a:ln/>
        </p:spPr>
        <p:txBody>
          <a:bodyPr wrap="square" lIns="0" tIns="0" rIns="0" bIns="0" rtlCol="0" anchor="t"/>
          <a:lstStyle/>
          <a:p>
            <a:pPr algn="ctr" indent="0" marL="0">
              <a:buNone/>
            </a:pPr>
            <a:r>
              <a:rPr lang="en-US" sz="650" dirty="0">
                <a:solidFill>
                  <a:srgbClr val="5F716E"/>
                </a:solidFill>
                <a:latin typeface="Calibri" pitchFamily="34" charset="0"/>
                <a:ea typeface="Calibri" pitchFamily="34" charset="-122"/>
                <a:cs typeface="Calibri" pitchFamily="34" charset="-120"/>
              </a:rPr>
              <a:t>July Compiled Offtake (Sheet1) · July'26 primary and distributor secondary · values in ₹ Cr · Zone performance represents Modern Trade accounts only. eB2B and SIS channels are excluded from MT zone sales and reported separately.</a:t>
            </a:r>
            <a:endParaRPr lang="en-US" sz="650" dirty="0"/>
          </a:p>
        </p:txBody>
      </p:sp>
      <p:sp>
        <p:nvSpPr>
          <p:cNvPr id="19" name="Shape 17"/>
          <p:cNvSpPr/>
          <p:nvPr/>
        </p:nvSpPr>
        <p:spPr>
          <a:xfrm>
            <a:off x="265176" y="1261872"/>
            <a:ext cx="1499616" cy="859536"/>
          </a:xfrm>
          <a:prstGeom prst="rect">
            <a:avLst/>
          </a:prstGeom>
          <a:solidFill>
            <a:srgbClr val="FFFFFF"/>
          </a:solidFill>
          <a:ln w="9525">
            <a:solidFill>
              <a:srgbClr val="C8DCD7"/>
            </a:solidFill>
            <a:prstDash val="solid"/>
          </a:ln>
        </p:spPr>
      </p:sp>
      <p:sp>
        <p:nvSpPr>
          <p:cNvPr id="20" name="Shape 18"/>
          <p:cNvSpPr/>
          <p:nvPr/>
        </p:nvSpPr>
        <p:spPr>
          <a:xfrm>
            <a:off x="265176" y="1261872"/>
            <a:ext cx="64008" cy="859536"/>
          </a:xfrm>
          <a:prstGeom prst="rect">
            <a:avLst/>
          </a:prstGeom>
          <a:solidFill>
            <a:srgbClr val="2E7DA8"/>
          </a:solidFill>
          <a:ln/>
        </p:spPr>
      </p:sp>
      <p:sp>
        <p:nvSpPr>
          <p:cNvPr id="21" name="Text 19"/>
          <p:cNvSpPr/>
          <p:nvPr/>
        </p:nvSpPr>
        <p:spPr>
          <a:xfrm>
            <a:off x="420624"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PRIMARY</a:t>
            </a:r>
            <a:endParaRPr lang="en-US" sz="680" dirty="0"/>
          </a:p>
        </p:txBody>
      </p:sp>
      <p:sp>
        <p:nvSpPr>
          <p:cNvPr id="22" name="Text 20"/>
          <p:cNvSpPr/>
          <p:nvPr/>
        </p:nvSpPr>
        <p:spPr>
          <a:xfrm>
            <a:off x="420624" y="1536192"/>
            <a:ext cx="1261872" cy="310896"/>
          </a:xfrm>
          <a:prstGeom prst="rect">
            <a:avLst/>
          </a:prstGeom>
          <a:noFill/>
          <a:ln/>
        </p:spPr>
        <p:txBody>
          <a:bodyPr wrap="square" lIns="0" tIns="0" rIns="0" bIns="0" rtlCol="0" anchor="ctr"/>
          <a:lstStyle/>
          <a:p>
            <a:pPr indent="0" marL="0">
              <a:buNone/>
            </a:pPr>
            <a:r>
              <a:rPr lang="en-US" sz="1550" b="1" dirty="0">
                <a:solidFill>
                  <a:srgbClr val="2E7DA8"/>
                </a:solidFill>
                <a:latin typeface="Calibri Light" pitchFamily="34" charset="0"/>
                <a:ea typeface="Calibri Light" pitchFamily="34" charset="-122"/>
                <a:cs typeface="Calibri Light" pitchFamily="34" charset="-120"/>
              </a:rPr>
              <a:t>₹2.20 Cr</a:t>
            </a:r>
            <a:endParaRPr lang="en-US" sz="1550" dirty="0"/>
          </a:p>
        </p:txBody>
      </p:sp>
      <p:sp>
        <p:nvSpPr>
          <p:cNvPr id="23" name="Text 21"/>
          <p:cNvSpPr/>
          <p:nvPr/>
        </p:nvSpPr>
        <p:spPr>
          <a:xfrm>
            <a:off x="420624"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July billing</a:t>
            </a:r>
            <a:endParaRPr lang="en-US" sz="680" dirty="0"/>
          </a:p>
        </p:txBody>
      </p:sp>
      <p:sp>
        <p:nvSpPr>
          <p:cNvPr id="24" name="Shape 22"/>
          <p:cNvSpPr/>
          <p:nvPr/>
        </p:nvSpPr>
        <p:spPr>
          <a:xfrm>
            <a:off x="1874520" y="1261872"/>
            <a:ext cx="1499616" cy="859536"/>
          </a:xfrm>
          <a:prstGeom prst="rect">
            <a:avLst/>
          </a:prstGeom>
          <a:solidFill>
            <a:srgbClr val="FFFFFF"/>
          </a:solidFill>
          <a:ln w="9525">
            <a:solidFill>
              <a:srgbClr val="C8DCD7"/>
            </a:solidFill>
            <a:prstDash val="solid"/>
          </a:ln>
        </p:spPr>
      </p:sp>
      <p:sp>
        <p:nvSpPr>
          <p:cNvPr id="25" name="Shape 23"/>
          <p:cNvSpPr/>
          <p:nvPr/>
        </p:nvSpPr>
        <p:spPr>
          <a:xfrm>
            <a:off x="1874520" y="1261872"/>
            <a:ext cx="64008" cy="859536"/>
          </a:xfrm>
          <a:prstGeom prst="rect">
            <a:avLst/>
          </a:prstGeom>
          <a:solidFill>
            <a:srgbClr val="28A596"/>
          </a:solidFill>
          <a:ln/>
        </p:spPr>
      </p:sp>
      <p:sp>
        <p:nvSpPr>
          <p:cNvPr id="26" name="Text 24"/>
          <p:cNvSpPr/>
          <p:nvPr/>
        </p:nvSpPr>
        <p:spPr>
          <a:xfrm>
            <a:off x="2029968"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OFFTAKE</a:t>
            </a:r>
            <a:endParaRPr lang="en-US" sz="680" dirty="0"/>
          </a:p>
        </p:txBody>
      </p:sp>
      <p:sp>
        <p:nvSpPr>
          <p:cNvPr id="27" name="Text 25"/>
          <p:cNvSpPr/>
          <p:nvPr/>
        </p:nvSpPr>
        <p:spPr>
          <a:xfrm>
            <a:off x="2029968" y="1536192"/>
            <a:ext cx="1261872" cy="310896"/>
          </a:xfrm>
          <a:prstGeom prst="rect">
            <a:avLst/>
          </a:prstGeom>
          <a:noFill/>
          <a:ln/>
        </p:spPr>
        <p:txBody>
          <a:bodyPr wrap="square" lIns="0" tIns="0" rIns="0" bIns="0" rtlCol="0" anchor="ctr"/>
          <a:lstStyle/>
          <a:p>
            <a:pPr indent="0" marL="0">
              <a:buNone/>
            </a:pPr>
            <a:r>
              <a:rPr lang="en-US" sz="1550" b="1" dirty="0">
                <a:solidFill>
                  <a:srgbClr val="28A596"/>
                </a:solidFill>
                <a:latin typeface="Calibri Light" pitchFamily="34" charset="0"/>
                <a:ea typeface="Calibri Light" pitchFamily="34" charset="-122"/>
                <a:cs typeface="Calibri Light" pitchFamily="34" charset="-120"/>
              </a:rPr>
              <a:t>₹2.07 Cr</a:t>
            </a:r>
            <a:endParaRPr lang="en-US" sz="1550" dirty="0"/>
          </a:p>
        </p:txBody>
      </p:sp>
      <p:sp>
        <p:nvSpPr>
          <p:cNvPr id="28" name="Text 26"/>
          <p:cNvSpPr/>
          <p:nvPr/>
        </p:nvSpPr>
        <p:spPr>
          <a:xfrm>
            <a:off x="2029968"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outside MT</a:t>
            </a:r>
            <a:endParaRPr lang="en-US" sz="680" dirty="0"/>
          </a:p>
        </p:txBody>
      </p:sp>
      <p:sp>
        <p:nvSpPr>
          <p:cNvPr id="29" name="Shape 27"/>
          <p:cNvSpPr/>
          <p:nvPr/>
        </p:nvSpPr>
        <p:spPr>
          <a:xfrm>
            <a:off x="3483864" y="1261872"/>
            <a:ext cx="1499616" cy="859536"/>
          </a:xfrm>
          <a:prstGeom prst="rect">
            <a:avLst/>
          </a:prstGeom>
          <a:solidFill>
            <a:srgbClr val="FFFFFF"/>
          </a:solidFill>
          <a:ln w="9525">
            <a:solidFill>
              <a:srgbClr val="C8DCD7"/>
            </a:solidFill>
            <a:prstDash val="solid"/>
          </a:ln>
        </p:spPr>
      </p:sp>
      <p:sp>
        <p:nvSpPr>
          <p:cNvPr id="30" name="Shape 28"/>
          <p:cNvSpPr/>
          <p:nvPr/>
        </p:nvSpPr>
        <p:spPr>
          <a:xfrm>
            <a:off x="3483864" y="1261872"/>
            <a:ext cx="64008" cy="859536"/>
          </a:xfrm>
          <a:prstGeom prst="rect">
            <a:avLst/>
          </a:prstGeom>
          <a:solidFill>
            <a:srgbClr val="2E7DA8"/>
          </a:solidFill>
          <a:ln/>
        </p:spPr>
      </p:sp>
      <p:sp>
        <p:nvSpPr>
          <p:cNvPr id="31" name="Text 29"/>
          <p:cNvSpPr/>
          <p:nvPr/>
        </p:nvSpPr>
        <p:spPr>
          <a:xfrm>
            <a:off x="3639312"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CONVERSION</a:t>
            </a:r>
            <a:endParaRPr lang="en-US" sz="680" dirty="0"/>
          </a:p>
        </p:txBody>
      </p:sp>
      <p:sp>
        <p:nvSpPr>
          <p:cNvPr id="32" name="Text 30"/>
          <p:cNvSpPr/>
          <p:nvPr/>
        </p:nvSpPr>
        <p:spPr>
          <a:xfrm>
            <a:off x="3639312" y="1536192"/>
            <a:ext cx="1261872" cy="310896"/>
          </a:xfrm>
          <a:prstGeom prst="rect">
            <a:avLst/>
          </a:prstGeom>
          <a:noFill/>
          <a:ln/>
        </p:spPr>
        <p:txBody>
          <a:bodyPr wrap="square" lIns="0" tIns="0" rIns="0" bIns="0" rtlCol="0" anchor="ctr"/>
          <a:lstStyle/>
          <a:p>
            <a:pPr indent="0" marL="0">
              <a:buNone/>
            </a:pPr>
            <a:r>
              <a:rPr lang="en-US" sz="1750" b="1" dirty="0">
                <a:solidFill>
                  <a:srgbClr val="2E7DA8"/>
                </a:solidFill>
                <a:latin typeface="Calibri Light" pitchFamily="34" charset="0"/>
                <a:ea typeface="Calibri Light" pitchFamily="34" charset="-122"/>
                <a:cs typeface="Calibri Light" pitchFamily="34" charset="-120"/>
              </a:rPr>
              <a:t>94.1%</a:t>
            </a:r>
            <a:endParaRPr lang="en-US" sz="1750" dirty="0"/>
          </a:p>
        </p:txBody>
      </p:sp>
      <p:sp>
        <p:nvSpPr>
          <p:cNvPr id="33" name="Text 31"/>
          <p:cNvSpPr/>
          <p:nvPr/>
        </p:nvSpPr>
        <p:spPr>
          <a:xfrm>
            <a:off x="3639312"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flow</a:t>
            </a:r>
            <a:endParaRPr lang="en-US" sz="680" dirty="0"/>
          </a:p>
        </p:txBody>
      </p:sp>
      <p:sp>
        <p:nvSpPr>
          <p:cNvPr id="34" name="Shape 32"/>
          <p:cNvSpPr/>
          <p:nvPr/>
        </p:nvSpPr>
        <p:spPr>
          <a:xfrm>
            <a:off x="5093208" y="1261872"/>
            <a:ext cx="1499616" cy="859536"/>
          </a:xfrm>
          <a:prstGeom prst="rect">
            <a:avLst/>
          </a:prstGeom>
          <a:solidFill>
            <a:srgbClr val="FFFFFF"/>
          </a:solidFill>
          <a:ln w="9525">
            <a:solidFill>
              <a:srgbClr val="C8DCD7"/>
            </a:solidFill>
            <a:prstDash val="solid"/>
          </a:ln>
        </p:spPr>
      </p:sp>
      <p:sp>
        <p:nvSpPr>
          <p:cNvPr id="35" name="Shape 33"/>
          <p:cNvSpPr/>
          <p:nvPr/>
        </p:nvSpPr>
        <p:spPr>
          <a:xfrm>
            <a:off x="5093208" y="1261872"/>
            <a:ext cx="64008" cy="859536"/>
          </a:xfrm>
          <a:prstGeom prst="rect">
            <a:avLst/>
          </a:prstGeom>
          <a:solidFill>
            <a:srgbClr val="2E7DA8"/>
          </a:solidFill>
          <a:ln/>
        </p:spPr>
      </p:sp>
      <p:sp>
        <p:nvSpPr>
          <p:cNvPr id="36" name="Text 34"/>
          <p:cNvSpPr/>
          <p:nvPr/>
        </p:nvSpPr>
        <p:spPr>
          <a:xfrm>
            <a:off x="5248656"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GAP</a:t>
            </a:r>
            <a:endParaRPr lang="en-US" sz="680" dirty="0"/>
          </a:p>
        </p:txBody>
      </p:sp>
      <p:sp>
        <p:nvSpPr>
          <p:cNvPr id="37" name="Text 35"/>
          <p:cNvSpPr/>
          <p:nvPr/>
        </p:nvSpPr>
        <p:spPr>
          <a:xfrm>
            <a:off x="5248656" y="1536192"/>
            <a:ext cx="1261872" cy="310896"/>
          </a:xfrm>
          <a:prstGeom prst="rect">
            <a:avLst/>
          </a:prstGeom>
          <a:noFill/>
          <a:ln/>
        </p:spPr>
        <p:txBody>
          <a:bodyPr wrap="square" lIns="0" tIns="0" rIns="0" bIns="0" rtlCol="0" anchor="ctr"/>
          <a:lstStyle/>
          <a:p>
            <a:pPr indent="0" marL="0">
              <a:buNone/>
            </a:pPr>
            <a:r>
              <a:rPr lang="en-US" sz="1550" b="1" dirty="0">
                <a:solidFill>
                  <a:srgbClr val="2E7DA8"/>
                </a:solidFill>
                <a:latin typeface="Calibri Light" pitchFamily="34" charset="0"/>
                <a:ea typeface="Calibri Light" pitchFamily="34" charset="-122"/>
                <a:cs typeface="Calibri Light" pitchFamily="34" charset="-120"/>
              </a:rPr>
              <a:t>₹0.13 Cr</a:t>
            </a:r>
            <a:endParaRPr lang="en-US" sz="1550" dirty="0"/>
          </a:p>
        </p:txBody>
      </p:sp>
      <p:sp>
        <p:nvSpPr>
          <p:cNvPr id="38" name="Text 36"/>
          <p:cNvSpPr/>
          <p:nvPr/>
        </p:nvSpPr>
        <p:spPr>
          <a:xfrm>
            <a:off x="5248656"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primary − offtake</a:t>
            </a:r>
            <a:endParaRPr lang="en-US" sz="680" dirty="0"/>
          </a:p>
        </p:txBody>
      </p:sp>
      <p:sp>
        <p:nvSpPr>
          <p:cNvPr id="39" name="Shape 37"/>
          <p:cNvSpPr/>
          <p:nvPr/>
        </p:nvSpPr>
        <p:spPr>
          <a:xfrm>
            <a:off x="265176" y="2231136"/>
            <a:ext cx="6327648" cy="384048"/>
          </a:xfrm>
          <a:prstGeom prst="roundRect">
            <a:avLst>
              <a:gd name="adj" fmla="val 4762"/>
            </a:avLst>
          </a:prstGeom>
          <a:solidFill>
            <a:srgbClr val="DFF2ED"/>
          </a:solidFill>
          <a:ln w="9525">
            <a:solidFill>
              <a:srgbClr val="C8DCD7"/>
            </a:solidFill>
            <a:prstDash val="solid"/>
          </a:ln>
        </p:spPr>
      </p:sp>
      <p:sp>
        <p:nvSpPr>
          <p:cNvPr id="40" name="Text 38"/>
          <p:cNvSpPr/>
          <p:nvPr/>
        </p:nvSpPr>
        <p:spPr>
          <a:xfrm>
            <a:off x="374904" y="2286000"/>
            <a:ext cx="658368" cy="274320"/>
          </a:xfrm>
          <a:prstGeom prst="rect">
            <a:avLst/>
          </a:prstGeom>
          <a:noFill/>
          <a:ln/>
        </p:spPr>
        <p:txBody>
          <a:bodyPr wrap="square" lIns="0" tIns="0" rIns="0" bIns="0" rtlCol="0" anchor="ctr"/>
          <a:lstStyle/>
          <a:p>
            <a:pPr indent="0" marL="0">
              <a:buNone/>
            </a:pPr>
            <a:r>
              <a:rPr lang="en-US" sz="660" b="1" spc="40" kern="0" dirty="0">
                <a:solidFill>
                  <a:srgbClr val="116F68"/>
                </a:solidFill>
                <a:latin typeface="Calibri" pitchFamily="34" charset="0"/>
                <a:ea typeface="Calibri" pitchFamily="34" charset="-122"/>
                <a:cs typeface="Calibri" pitchFamily="34" charset="-120"/>
              </a:rPr>
              <a:t>PRIORITY</a:t>
            </a:r>
            <a:endParaRPr lang="en-US" sz="660" dirty="0"/>
          </a:p>
        </p:txBody>
      </p:sp>
      <p:sp>
        <p:nvSpPr>
          <p:cNvPr id="41" name="Text 39"/>
          <p:cNvSpPr/>
          <p:nvPr/>
        </p:nvSpPr>
        <p:spPr>
          <a:xfrm>
            <a:off x="1088136" y="2286000"/>
            <a:ext cx="5394960" cy="274320"/>
          </a:xfrm>
          <a:prstGeom prst="rect">
            <a:avLst/>
          </a:prstGeom>
          <a:noFill/>
          <a:ln/>
        </p:spPr>
        <p:txBody>
          <a:bodyPr wrap="square" lIns="0" tIns="0" rIns="0" bIns="0" rtlCol="0" anchor="ctr"/>
          <a:lstStyle/>
          <a:p>
            <a:pPr indent="0" marL="0">
              <a:buNone/>
            </a:pPr>
            <a:r>
              <a:rPr lang="en-US" sz="740" b="1" dirty="0">
                <a:solidFill>
                  <a:srgbClr val="183B39"/>
                </a:solidFill>
                <a:latin typeface="Calibri" pitchFamily="34" charset="0"/>
                <a:ea typeface="Calibri" pitchFamily="34" charset="-122"/>
                <a:cs typeface="Calibri" pitchFamily="34" charset="-120"/>
              </a:rPr>
              <a:t>Nykaa (FSN) + Eremedium • formerly reported as the "Pan India" zone</a:t>
            </a:r>
            <a:endParaRPr lang="en-US" sz="740" dirty="0"/>
          </a:p>
        </p:txBody>
      </p:sp>
      <p:sp>
        <p:nvSpPr>
          <p:cNvPr id="42" name="Text 40"/>
          <p:cNvSpPr/>
          <p:nvPr/>
        </p:nvSpPr>
        <p:spPr>
          <a:xfrm>
            <a:off x="265176" y="2743200"/>
            <a:ext cx="3090672"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Mamaearth — top 3 sub-categories (₹ Cr, Feb–Jul)</a:t>
            </a:r>
            <a:endParaRPr lang="en-US" sz="720" dirty="0"/>
          </a:p>
        </p:txBody>
      </p:sp>
      <p:graphicFrame>
        <p:nvGraphicFramePr>
          <p:cNvPr id="43" name="Chart 0" descr=""/>
          <p:cNvGraphicFramePr/>
          <p:nvPr/>
        </p:nvGraphicFramePr>
        <p:xfrm>
          <a:off x="246888" y="2944368"/>
          <a:ext cx="3090672" cy="1499616"/>
        </p:xfrm>
        <a:graphic xmlns:a="http://schemas.openxmlformats.org/drawingml/2006/main">
          <a:graphicData uri="http://schemas.openxmlformats.org/drawingml/2006/chart">
            <c:chart xmlns:c="http://schemas.openxmlformats.org/drawingml/2006/chart" r:id="rId1"/>
          </a:graphicData>
        </a:graphic>
      </p:graphicFrame>
      <p:sp>
        <p:nvSpPr>
          <p:cNvPr id="44" name="Text 41"/>
          <p:cNvSpPr/>
          <p:nvPr/>
        </p:nvSpPr>
        <p:spPr>
          <a:xfrm>
            <a:off x="3502152" y="2743200"/>
            <a:ext cx="3090672"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The Derma Co. — top 3 sub-categories (₹ Cr, Feb–Jul)</a:t>
            </a:r>
            <a:endParaRPr lang="en-US" sz="720" dirty="0"/>
          </a:p>
        </p:txBody>
      </p:sp>
      <p:graphicFrame>
        <p:nvGraphicFramePr>
          <p:cNvPr id="45" name="Chart 1" descr=""/>
          <p:cNvGraphicFramePr/>
          <p:nvPr/>
        </p:nvGraphicFramePr>
        <p:xfrm>
          <a:off x="3483864" y="2944368"/>
          <a:ext cx="3090672" cy="1499616"/>
        </p:xfrm>
        <a:graphic xmlns:a="http://schemas.openxmlformats.org/drawingml/2006/main">
          <a:graphicData uri="http://schemas.openxmlformats.org/drawingml/2006/chart">
            <c:chart xmlns:c="http://schemas.openxmlformats.org/drawingml/2006/chart" r:id="rId2"/>
          </a:graphicData>
        </a:graphic>
      </p:graphicFrame>
      <p:sp>
        <p:nvSpPr>
          <p:cNvPr id="46" name="Shape 42"/>
          <p:cNvSpPr/>
          <p:nvPr/>
        </p:nvSpPr>
        <p:spPr>
          <a:xfrm>
            <a:off x="265176" y="4553712"/>
            <a:ext cx="2036064" cy="1773936"/>
          </a:xfrm>
          <a:prstGeom prst="roundRect">
            <a:avLst>
              <a:gd name="adj" fmla="val 1031"/>
            </a:avLst>
          </a:prstGeom>
          <a:solidFill>
            <a:srgbClr val="FFFFFF"/>
          </a:solidFill>
          <a:ln w="9525">
            <a:solidFill>
              <a:srgbClr val="C8DCD7"/>
            </a:solidFill>
            <a:prstDash val="solid"/>
          </a:ln>
        </p:spPr>
      </p:sp>
      <p:sp>
        <p:nvSpPr>
          <p:cNvPr id="47" name="Shape 43"/>
          <p:cNvSpPr/>
          <p:nvPr/>
        </p:nvSpPr>
        <p:spPr>
          <a:xfrm>
            <a:off x="265176" y="4553712"/>
            <a:ext cx="2036064" cy="274320"/>
          </a:xfrm>
          <a:prstGeom prst="rect">
            <a:avLst/>
          </a:prstGeom>
          <a:solidFill>
            <a:srgbClr val="116F68"/>
          </a:solidFill>
          <a:ln/>
        </p:spPr>
      </p:sp>
      <p:sp>
        <p:nvSpPr>
          <p:cNvPr id="48" name="Text 44"/>
          <p:cNvSpPr/>
          <p:nvPr/>
        </p:nvSpPr>
        <p:spPr>
          <a:xfrm>
            <a:off x="347472" y="457200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TOP CHAINS</a:t>
            </a:r>
            <a:endParaRPr lang="en-US" sz="700" dirty="0"/>
          </a:p>
        </p:txBody>
      </p:sp>
      <p:sp>
        <p:nvSpPr>
          <p:cNvPr id="49" name="Text 45"/>
          <p:cNvSpPr/>
          <p:nvPr/>
        </p:nvSpPr>
        <p:spPr>
          <a:xfrm>
            <a:off x="356616" y="4919472"/>
            <a:ext cx="1258824" cy="310896"/>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1. Nykaa (FSN)</a:t>
            </a:r>
            <a:endParaRPr lang="en-US" sz="700" dirty="0"/>
          </a:p>
        </p:txBody>
      </p:sp>
      <p:sp>
        <p:nvSpPr>
          <p:cNvPr id="50" name="Text 46"/>
          <p:cNvSpPr/>
          <p:nvPr/>
        </p:nvSpPr>
        <p:spPr>
          <a:xfrm>
            <a:off x="1588008" y="4919472"/>
            <a:ext cx="621792" cy="155448"/>
          </a:xfrm>
          <a:prstGeom prst="rect">
            <a:avLst/>
          </a:prstGeom>
          <a:noFill/>
          <a:ln/>
        </p:spPr>
        <p:txBody>
          <a:bodyPr wrap="square" lIns="0" tIns="0" rIns="0" bIns="0" rtlCol="0" anchor="t"/>
          <a:lstStyle/>
          <a:p>
            <a:pPr algn="r" indent="0" marL="0">
              <a:buNone/>
            </a:pPr>
            <a:r>
              <a:rPr lang="en-US" sz="700" b="1" dirty="0">
                <a:solidFill>
                  <a:srgbClr val="116F68"/>
                </a:solidFill>
                <a:latin typeface="Calibri" pitchFamily="34" charset="0"/>
                <a:ea typeface="Calibri" pitchFamily="34" charset="-122"/>
                <a:cs typeface="Calibri" pitchFamily="34" charset="-120"/>
              </a:rPr>
              <a:t>₹2.07 Cr</a:t>
            </a:r>
            <a:endParaRPr lang="en-US" sz="700" dirty="0"/>
          </a:p>
        </p:txBody>
      </p:sp>
      <p:sp>
        <p:nvSpPr>
          <p:cNvPr id="51" name="Text 47"/>
          <p:cNvSpPr/>
          <p:nvPr/>
        </p:nvSpPr>
        <p:spPr>
          <a:xfrm>
            <a:off x="1588008" y="5074920"/>
            <a:ext cx="621792" cy="146304"/>
          </a:xfrm>
          <a:prstGeom prst="rect">
            <a:avLst/>
          </a:prstGeom>
          <a:noFill/>
          <a:ln/>
        </p:spPr>
        <p:txBody>
          <a:bodyPr wrap="square" lIns="0" tIns="0" rIns="0" bIns="0" rtlCol="0" anchor="t"/>
          <a:lstStyle/>
          <a:p>
            <a:pPr algn="r" indent="0" marL="0">
              <a:buNone/>
            </a:pPr>
            <a:r>
              <a:rPr lang="en-US" sz="620" dirty="0">
                <a:solidFill>
                  <a:srgbClr val="5F716E"/>
                </a:solidFill>
                <a:latin typeface="Calibri" pitchFamily="34" charset="0"/>
                <a:ea typeface="Calibri" pitchFamily="34" charset="-122"/>
                <a:cs typeface="Calibri" pitchFamily="34" charset="-120"/>
              </a:rPr>
              <a:t>99.4%</a:t>
            </a:r>
            <a:endParaRPr lang="en-US" sz="620" dirty="0"/>
          </a:p>
        </p:txBody>
      </p:sp>
      <p:sp>
        <p:nvSpPr>
          <p:cNvPr id="52" name="Text 48"/>
          <p:cNvSpPr/>
          <p:nvPr/>
        </p:nvSpPr>
        <p:spPr>
          <a:xfrm>
            <a:off x="356616" y="5266944"/>
            <a:ext cx="1258824" cy="310896"/>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2. Eremedium</a:t>
            </a:r>
            <a:endParaRPr lang="en-US" sz="700" dirty="0"/>
          </a:p>
        </p:txBody>
      </p:sp>
      <p:sp>
        <p:nvSpPr>
          <p:cNvPr id="53" name="Text 49"/>
          <p:cNvSpPr/>
          <p:nvPr/>
        </p:nvSpPr>
        <p:spPr>
          <a:xfrm>
            <a:off x="1588008" y="5266944"/>
            <a:ext cx="621792" cy="155448"/>
          </a:xfrm>
          <a:prstGeom prst="rect">
            <a:avLst/>
          </a:prstGeom>
          <a:noFill/>
          <a:ln/>
        </p:spPr>
        <p:txBody>
          <a:bodyPr wrap="square" lIns="0" tIns="0" rIns="0" bIns="0" rtlCol="0" anchor="t"/>
          <a:lstStyle/>
          <a:p>
            <a:pPr algn="r" indent="0" marL="0">
              <a:buNone/>
            </a:pPr>
            <a:r>
              <a:rPr lang="en-US" sz="700" b="1" dirty="0">
                <a:solidFill>
                  <a:srgbClr val="116F68"/>
                </a:solidFill>
                <a:latin typeface="Calibri" pitchFamily="34" charset="0"/>
                <a:ea typeface="Calibri" pitchFamily="34" charset="-122"/>
                <a:cs typeface="Calibri" pitchFamily="34" charset="-120"/>
              </a:rPr>
              <a:t>₹0.00 Cr</a:t>
            </a:r>
            <a:endParaRPr lang="en-US" sz="700" dirty="0"/>
          </a:p>
        </p:txBody>
      </p:sp>
      <p:sp>
        <p:nvSpPr>
          <p:cNvPr id="54" name="Text 50"/>
          <p:cNvSpPr/>
          <p:nvPr/>
        </p:nvSpPr>
        <p:spPr>
          <a:xfrm>
            <a:off x="1588008" y="5422392"/>
            <a:ext cx="621792" cy="146304"/>
          </a:xfrm>
          <a:prstGeom prst="rect">
            <a:avLst/>
          </a:prstGeom>
          <a:noFill/>
          <a:ln/>
        </p:spPr>
        <p:txBody>
          <a:bodyPr wrap="square" lIns="0" tIns="0" rIns="0" bIns="0" rtlCol="0" anchor="t"/>
          <a:lstStyle/>
          <a:p>
            <a:pPr algn="r" indent="0" marL="0">
              <a:buNone/>
            </a:pPr>
            <a:r>
              <a:rPr lang="en-US" sz="620" dirty="0">
                <a:solidFill>
                  <a:srgbClr val="5F716E"/>
                </a:solidFill>
                <a:latin typeface="Calibri" pitchFamily="34" charset="0"/>
                <a:ea typeface="Calibri" pitchFamily="34" charset="-122"/>
                <a:cs typeface="Calibri" pitchFamily="34" charset="-120"/>
              </a:rPr>
              <a:t>no offtake feed</a:t>
            </a:r>
            <a:endParaRPr lang="en-US" sz="620" dirty="0"/>
          </a:p>
        </p:txBody>
      </p:sp>
      <p:sp>
        <p:nvSpPr>
          <p:cNvPr id="55" name="Shape 51"/>
          <p:cNvSpPr/>
          <p:nvPr/>
        </p:nvSpPr>
        <p:spPr>
          <a:xfrm>
            <a:off x="2410968" y="4553712"/>
            <a:ext cx="2036064" cy="1773936"/>
          </a:xfrm>
          <a:prstGeom prst="roundRect">
            <a:avLst>
              <a:gd name="adj" fmla="val 1031"/>
            </a:avLst>
          </a:prstGeom>
          <a:solidFill>
            <a:srgbClr val="FFFFFF"/>
          </a:solidFill>
          <a:ln w="9525">
            <a:solidFill>
              <a:srgbClr val="C8DCD7"/>
            </a:solidFill>
            <a:prstDash val="solid"/>
          </a:ln>
        </p:spPr>
      </p:sp>
      <p:sp>
        <p:nvSpPr>
          <p:cNvPr id="56" name="Shape 52"/>
          <p:cNvSpPr/>
          <p:nvPr/>
        </p:nvSpPr>
        <p:spPr>
          <a:xfrm>
            <a:off x="2410968" y="4553712"/>
            <a:ext cx="2036064" cy="274320"/>
          </a:xfrm>
          <a:prstGeom prst="rect">
            <a:avLst/>
          </a:prstGeom>
          <a:solidFill>
            <a:srgbClr val="2E7DA8"/>
          </a:solidFill>
          <a:ln/>
        </p:spPr>
      </p:sp>
      <p:sp>
        <p:nvSpPr>
          <p:cNvPr id="57" name="Text 53"/>
          <p:cNvSpPr/>
          <p:nvPr/>
        </p:nvSpPr>
        <p:spPr>
          <a:xfrm>
            <a:off x="2493264" y="457200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TOP STATES</a:t>
            </a:r>
            <a:endParaRPr lang="en-US" sz="700" dirty="0"/>
          </a:p>
        </p:txBody>
      </p:sp>
      <p:sp>
        <p:nvSpPr>
          <p:cNvPr id="58" name="Text 54"/>
          <p:cNvSpPr/>
          <p:nvPr/>
        </p:nvSpPr>
        <p:spPr>
          <a:xfrm>
            <a:off x="2502408" y="4919472"/>
            <a:ext cx="1304544" cy="292608"/>
          </a:xfrm>
          <a:prstGeom prst="rect">
            <a:avLst/>
          </a:prstGeom>
          <a:noFill/>
          <a:ln/>
        </p:spPr>
        <p:txBody>
          <a:bodyPr wrap="square" lIns="0" tIns="0" rIns="0" bIns="0" rtlCol="0" anchor="t"/>
          <a:lstStyle/>
          <a:p>
            <a:pPr indent="0" marL="0">
              <a:lnSpc>
                <a:spcPct val="90000"/>
              </a:lnSpc>
              <a:buNone/>
            </a:pPr>
            <a:r>
              <a:rPr lang="en-US" sz="700" b="1" dirty="0">
                <a:solidFill>
                  <a:srgbClr val="183B39"/>
                </a:solidFill>
                <a:latin typeface="Calibri" pitchFamily="34" charset="0"/>
                <a:ea typeface="Calibri" pitchFamily="34" charset="-122"/>
                <a:cs typeface="Calibri" pitchFamily="34" charset="-120"/>
              </a:rPr>
              <a:t>1. Pan India (no geography)</a:t>
            </a:r>
            <a:endParaRPr lang="en-US" sz="700" dirty="0"/>
          </a:p>
        </p:txBody>
      </p:sp>
      <p:sp>
        <p:nvSpPr>
          <p:cNvPr id="59" name="Text 55"/>
          <p:cNvSpPr/>
          <p:nvPr/>
        </p:nvSpPr>
        <p:spPr>
          <a:xfrm>
            <a:off x="3770376" y="4919472"/>
            <a:ext cx="585216" cy="182880"/>
          </a:xfrm>
          <a:prstGeom prst="rect">
            <a:avLst/>
          </a:prstGeom>
          <a:noFill/>
          <a:ln/>
        </p:spPr>
        <p:txBody>
          <a:bodyPr wrap="square" lIns="0" tIns="0" rIns="0" bIns="0" rtlCol="0" anchor="t"/>
          <a:lstStyle/>
          <a:p>
            <a:pPr algn="r" indent="0" marL="0">
              <a:buNone/>
            </a:pPr>
            <a:r>
              <a:rPr lang="en-US" sz="700" b="1" dirty="0">
                <a:solidFill>
                  <a:srgbClr val="2E7DA8"/>
                </a:solidFill>
                <a:latin typeface="Calibri" pitchFamily="34" charset="0"/>
                <a:ea typeface="Calibri" pitchFamily="34" charset="-122"/>
                <a:cs typeface="Calibri" pitchFamily="34" charset="-120"/>
              </a:rPr>
              <a:t>₹2.07 Cr</a:t>
            </a:r>
            <a:endParaRPr lang="en-US" sz="700" dirty="0"/>
          </a:p>
        </p:txBody>
      </p:sp>
      <p:sp>
        <p:nvSpPr>
          <p:cNvPr id="60" name="Shape 56"/>
          <p:cNvSpPr/>
          <p:nvPr/>
        </p:nvSpPr>
        <p:spPr>
          <a:xfrm>
            <a:off x="4556760" y="4553712"/>
            <a:ext cx="2036064" cy="1773936"/>
          </a:xfrm>
          <a:prstGeom prst="roundRect">
            <a:avLst>
              <a:gd name="adj" fmla="val 1031"/>
            </a:avLst>
          </a:prstGeom>
          <a:solidFill>
            <a:srgbClr val="FFFFFF"/>
          </a:solidFill>
          <a:ln w="9525">
            <a:solidFill>
              <a:srgbClr val="C8DCD7"/>
            </a:solidFill>
            <a:prstDash val="solid"/>
          </a:ln>
        </p:spPr>
      </p:sp>
      <p:sp>
        <p:nvSpPr>
          <p:cNvPr id="61" name="Shape 57"/>
          <p:cNvSpPr/>
          <p:nvPr/>
        </p:nvSpPr>
        <p:spPr>
          <a:xfrm>
            <a:off x="4556760" y="4553712"/>
            <a:ext cx="2036064" cy="274320"/>
          </a:xfrm>
          <a:prstGeom prst="rect">
            <a:avLst/>
          </a:prstGeom>
          <a:solidFill>
            <a:srgbClr val="28A596"/>
          </a:solidFill>
          <a:ln/>
        </p:spPr>
      </p:sp>
      <p:sp>
        <p:nvSpPr>
          <p:cNvPr id="62" name="Text 58"/>
          <p:cNvSpPr/>
          <p:nvPr/>
        </p:nvSpPr>
        <p:spPr>
          <a:xfrm>
            <a:off x="4639056" y="457200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BRAND × SUB-CATEGORY</a:t>
            </a:r>
            <a:endParaRPr lang="en-US" sz="700" dirty="0"/>
          </a:p>
        </p:txBody>
      </p:sp>
      <p:sp>
        <p:nvSpPr>
          <p:cNvPr id="63" name="Text 59"/>
          <p:cNvSpPr/>
          <p:nvPr/>
        </p:nvSpPr>
        <p:spPr>
          <a:xfrm>
            <a:off x="4648200" y="4919472"/>
            <a:ext cx="1853184" cy="155448"/>
          </a:xfrm>
          <a:prstGeom prst="rect">
            <a:avLst/>
          </a:prstGeom>
          <a:noFill/>
          <a:ln/>
        </p:spPr>
        <p:txBody>
          <a:bodyPr wrap="square" lIns="0" tIns="0" rIns="0" bIns="0" rtlCol="0" anchor="t"/>
          <a:lstStyle/>
          <a:p>
            <a:pPr indent="0" marL="0">
              <a:buNone/>
            </a:pPr>
            <a:r>
              <a:rPr lang="en-US" sz="680" b="1" dirty="0">
                <a:solidFill>
                  <a:srgbClr val="28A596"/>
                </a:solidFill>
                <a:latin typeface="Calibri" pitchFamily="34" charset="0"/>
                <a:ea typeface="Calibri" pitchFamily="34" charset="-122"/>
                <a:cs typeface="Calibri" pitchFamily="34" charset="-120"/>
              </a:rPr>
              <a:t>Mamaearth ₹1.65 Cr</a:t>
            </a:r>
            <a:endParaRPr lang="en-US" sz="680" dirty="0"/>
          </a:p>
        </p:txBody>
      </p:sp>
      <p:sp>
        <p:nvSpPr>
          <p:cNvPr id="64" name="Text 60"/>
          <p:cNvSpPr/>
          <p:nvPr/>
        </p:nvSpPr>
        <p:spPr>
          <a:xfrm>
            <a:off x="4684776" y="5093208"/>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 sub-category split</a:t>
            </a:r>
            <a:endParaRPr lang="en-US" sz="630" dirty="0"/>
          </a:p>
        </p:txBody>
      </p:sp>
      <p:sp>
        <p:nvSpPr>
          <p:cNvPr id="65" name="Text 61"/>
          <p:cNvSpPr/>
          <p:nvPr/>
        </p:nvSpPr>
        <p:spPr>
          <a:xfrm>
            <a:off x="6007608" y="5093208"/>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pending</a:t>
            </a:r>
            <a:endParaRPr lang="en-US" sz="630" dirty="0"/>
          </a:p>
        </p:txBody>
      </p:sp>
      <p:sp>
        <p:nvSpPr>
          <p:cNvPr id="66" name="Text 62"/>
          <p:cNvSpPr/>
          <p:nvPr/>
        </p:nvSpPr>
        <p:spPr>
          <a:xfrm>
            <a:off x="4648200" y="5294376"/>
            <a:ext cx="1853184" cy="155448"/>
          </a:xfrm>
          <a:prstGeom prst="rect">
            <a:avLst/>
          </a:prstGeom>
          <a:noFill/>
          <a:ln/>
        </p:spPr>
        <p:txBody>
          <a:bodyPr wrap="square" lIns="0" tIns="0" rIns="0" bIns="0" rtlCol="0" anchor="t"/>
          <a:lstStyle/>
          <a:p>
            <a:pPr indent="0" marL="0">
              <a:buNone/>
            </a:pPr>
            <a:r>
              <a:rPr lang="en-US" sz="680" b="1" dirty="0">
                <a:solidFill>
                  <a:srgbClr val="2E7DA8"/>
                </a:solidFill>
                <a:latin typeface="Calibri" pitchFamily="34" charset="0"/>
                <a:ea typeface="Calibri" pitchFamily="34" charset="-122"/>
                <a:cs typeface="Calibri" pitchFamily="34" charset="-120"/>
              </a:rPr>
              <a:t>The Derma Co. ₹0.37 Cr</a:t>
            </a:r>
            <a:endParaRPr lang="en-US" sz="680" dirty="0"/>
          </a:p>
        </p:txBody>
      </p:sp>
      <p:sp>
        <p:nvSpPr>
          <p:cNvPr id="67" name="Text 63"/>
          <p:cNvSpPr/>
          <p:nvPr/>
        </p:nvSpPr>
        <p:spPr>
          <a:xfrm>
            <a:off x="4684776" y="5468112"/>
            <a:ext cx="1377696" cy="146304"/>
          </a:xfrm>
          <a:prstGeom prst="rect">
            <a:avLst/>
          </a:prstGeom>
          <a:noFill/>
          <a:ln/>
        </p:spPr>
        <p:txBody>
          <a:bodyPr wrap="square" lIns="0" tIns="0" rIns="0" bIns="0" rtlCol="0" anchor="t"/>
          <a:lstStyle/>
          <a:p>
            <a:pPr indent="0" marL="0">
              <a:buNone/>
            </a:pPr>
            <a:r>
              <a:rPr lang="en-US" sz="630" dirty="0">
                <a:solidFill>
                  <a:srgbClr val="183B39"/>
                </a:solidFill>
                <a:latin typeface="Calibri" pitchFamily="34" charset="0"/>
                <a:ea typeface="Calibri" pitchFamily="34" charset="-122"/>
                <a:cs typeface="Calibri" pitchFamily="34" charset="-120"/>
              </a:rPr>
              <a:t>— sub-category split</a:t>
            </a:r>
            <a:endParaRPr lang="en-US" sz="630" dirty="0"/>
          </a:p>
        </p:txBody>
      </p:sp>
      <p:sp>
        <p:nvSpPr>
          <p:cNvPr id="68" name="Text 64"/>
          <p:cNvSpPr/>
          <p:nvPr/>
        </p:nvSpPr>
        <p:spPr>
          <a:xfrm>
            <a:off x="6007608" y="5468112"/>
            <a:ext cx="493776" cy="146304"/>
          </a:xfrm>
          <a:prstGeom prst="rect">
            <a:avLst/>
          </a:prstGeom>
          <a:noFill/>
          <a:ln/>
        </p:spPr>
        <p:txBody>
          <a:bodyPr wrap="square" lIns="0" tIns="0" rIns="0" bIns="0" rtlCol="0" anchor="t"/>
          <a:lstStyle/>
          <a:p>
            <a:pPr algn="r" indent="0" marL="0">
              <a:buNone/>
            </a:pPr>
            <a:r>
              <a:rPr lang="en-US" sz="630" dirty="0">
                <a:solidFill>
                  <a:srgbClr val="5F716E"/>
                </a:solidFill>
                <a:latin typeface="Calibri" pitchFamily="34" charset="0"/>
                <a:ea typeface="Calibri" pitchFamily="34" charset="-122"/>
                <a:cs typeface="Calibri" pitchFamily="34" charset="-120"/>
              </a:rPr>
              <a:t>pending</a:t>
            </a:r>
            <a:endParaRPr lang="en-US" sz="630" dirty="0"/>
          </a:p>
        </p:txBody>
      </p:sp>
      <p:sp>
        <p:nvSpPr>
          <p:cNvPr id="69" name="Shape 65"/>
          <p:cNvSpPr/>
          <p:nvPr/>
        </p:nvSpPr>
        <p:spPr>
          <a:xfrm>
            <a:off x="265176" y="6437376"/>
            <a:ext cx="6327648" cy="274320"/>
          </a:xfrm>
          <a:prstGeom prst="roundRect">
            <a:avLst>
              <a:gd name="adj" fmla="val 6667"/>
            </a:avLst>
          </a:prstGeom>
          <a:solidFill>
            <a:srgbClr val="FDF6E6"/>
          </a:solidFill>
          <a:ln w="9525">
            <a:solidFill>
              <a:srgbClr val="F2B84B"/>
            </a:solidFill>
            <a:prstDash val="solid"/>
          </a:ln>
        </p:spPr>
      </p:sp>
      <p:sp>
        <p:nvSpPr>
          <p:cNvPr id="70" name="Text 66"/>
          <p:cNvSpPr/>
          <p:nvPr/>
        </p:nvSpPr>
        <p:spPr>
          <a:xfrm>
            <a:off x="374904" y="6473952"/>
            <a:ext cx="6108192" cy="219456"/>
          </a:xfrm>
          <a:prstGeom prst="rect">
            <a:avLst/>
          </a:prstGeom>
          <a:noFill/>
          <a:ln/>
        </p:spPr>
        <p:txBody>
          <a:bodyPr wrap="square" lIns="0" tIns="0" rIns="0" bIns="0" rtlCol="0" anchor="ctr"/>
          <a:lstStyle/>
          <a:p>
            <a:pPr indent="0" marL="0">
              <a:buNone/>
            </a:pPr>
            <a:r>
              <a:rPr lang="en-US" sz="660" b="1" dirty="0">
                <a:solidFill>
                  <a:srgbClr val="F2B84B"/>
                </a:solidFill>
                <a:latin typeface="Calibri" pitchFamily="34" charset="0"/>
                <a:ea typeface="Calibri" pitchFamily="34" charset="-122"/>
                <a:cs typeface="Calibri" pitchFamily="34" charset="-120"/>
              </a:rPr>
              <a:t>NPI   </a:t>
            </a:r>
            <a:pPr indent="0" marL="0">
              <a:buNone/>
            </a:pPr>
            <a:r>
              <a:rPr lang="en-US" sz="700" dirty="0">
                <a:solidFill>
                  <a:srgbClr val="183B39"/>
                </a:solidFill>
                <a:latin typeface="Calibri" pitchFamily="34" charset="0"/>
                <a:ea typeface="Calibri" pitchFamily="34" charset="-122"/>
                <a:cs typeface="Calibri" pitchFamily="34" charset="-120"/>
              </a:rPr>
              <a:t>₹0.13 Cr · 6.3% of channel</a:t>
            </a:r>
            <a:endParaRPr lang="en-US" sz="660" dirty="0"/>
          </a:p>
        </p:txBody>
      </p:sp>
      <p:sp>
        <p:nvSpPr>
          <p:cNvPr id="71" name="Shape 67"/>
          <p:cNvSpPr/>
          <p:nvPr/>
        </p:nvSpPr>
        <p:spPr>
          <a:xfrm>
            <a:off x="265176" y="6821424"/>
            <a:ext cx="6327648" cy="256032"/>
          </a:xfrm>
          <a:prstGeom prst="rect">
            <a:avLst/>
          </a:prstGeom>
          <a:solidFill>
            <a:srgbClr val="2E7DA8"/>
          </a:solidFill>
          <a:ln/>
        </p:spPr>
      </p:sp>
      <p:sp>
        <p:nvSpPr>
          <p:cNvPr id="72" name="Text 68"/>
          <p:cNvSpPr/>
          <p:nvPr/>
        </p:nvSpPr>
        <p:spPr>
          <a:xfrm>
            <a:off x="374904" y="6839712"/>
            <a:ext cx="6108192" cy="219456"/>
          </a:xfrm>
          <a:prstGeom prst="rect">
            <a:avLst/>
          </a:prstGeom>
          <a:noFill/>
          <a:ln/>
        </p:spPr>
        <p:txBody>
          <a:bodyPr wrap="square" lIns="0" tIns="0" rIns="0" bIns="0" rtlCol="0" anchor="ctr"/>
          <a:lstStyle/>
          <a:p>
            <a:pPr indent="0" marL="0">
              <a:buNone/>
            </a:pPr>
            <a:r>
              <a:rPr lang="en-US" sz="720" b="1" spc="60" kern="0" dirty="0">
                <a:solidFill>
                  <a:srgbClr val="FFFFFF"/>
                </a:solidFill>
                <a:latin typeface="Calibri" pitchFamily="34" charset="0"/>
                <a:ea typeface="Calibri" pitchFamily="34" charset="-122"/>
                <a:cs typeface="Calibri" pitchFamily="34" charset="-120"/>
              </a:rPr>
              <a:t>SIX DIAGNOSED EXCEPTIONS — CAUSE, ACTION AND OWNER</a:t>
            </a:r>
            <a:endParaRPr lang="en-US" sz="720" dirty="0"/>
          </a:p>
        </p:txBody>
      </p:sp>
      <p:sp>
        <p:nvSpPr>
          <p:cNvPr id="73" name="Shape 69"/>
          <p:cNvSpPr/>
          <p:nvPr/>
        </p:nvSpPr>
        <p:spPr>
          <a:xfrm>
            <a:off x="265176" y="7168896"/>
            <a:ext cx="2036064" cy="1700784"/>
          </a:xfrm>
          <a:prstGeom prst="roundRect">
            <a:avLst>
              <a:gd name="adj" fmla="val 1075"/>
            </a:avLst>
          </a:prstGeom>
          <a:solidFill>
            <a:srgbClr val="FFFFFF"/>
          </a:solidFill>
          <a:ln w="9525">
            <a:solidFill>
              <a:srgbClr val="C8DCD7"/>
            </a:solidFill>
            <a:prstDash val="solid"/>
          </a:ln>
        </p:spPr>
      </p:sp>
      <p:sp>
        <p:nvSpPr>
          <p:cNvPr id="74" name="Shape 70"/>
          <p:cNvSpPr/>
          <p:nvPr/>
        </p:nvSpPr>
        <p:spPr>
          <a:xfrm>
            <a:off x="265176" y="7168896"/>
            <a:ext cx="2036064" cy="41148"/>
          </a:xfrm>
          <a:prstGeom prst="rect">
            <a:avLst/>
          </a:prstGeom>
          <a:solidFill>
            <a:srgbClr val="D6544D"/>
          </a:solidFill>
          <a:ln/>
        </p:spPr>
      </p:sp>
      <p:sp>
        <p:nvSpPr>
          <p:cNvPr id="75" name="Text 71"/>
          <p:cNvSpPr/>
          <p:nvPr/>
        </p:nvSpPr>
        <p:spPr>
          <a:xfrm>
            <a:off x="356616" y="7251192"/>
            <a:ext cx="1853184" cy="137160"/>
          </a:xfrm>
          <a:prstGeom prst="rect">
            <a:avLst/>
          </a:prstGeom>
          <a:noFill/>
          <a:ln/>
        </p:spPr>
        <p:txBody>
          <a:bodyPr wrap="square" lIns="0" tIns="0" rIns="0" bIns="0" rtlCol="0" anchor="t"/>
          <a:lstStyle/>
          <a:p>
            <a:pPr indent="0" marL="0">
              <a:buNone/>
            </a:pPr>
            <a:r>
              <a:rPr lang="en-US" sz="620" b="1" spc="50" kern="0" dirty="0">
                <a:solidFill>
                  <a:srgbClr val="D6544D"/>
                </a:solidFill>
                <a:latin typeface="Calibri" pitchFamily="34" charset="0"/>
                <a:ea typeface="Calibri" pitchFamily="34" charset="-122"/>
                <a:cs typeface="Calibri" pitchFamily="34" charset="-120"/>
              </a:rPr>
              <a:t>RECLASSIFIED</a:t>
            </a:r>
            <a:endParaRPr lang="en-US" sz="620" dirty="0"/>
          </a:p>
        </p:txBody>
      </p:sp>
      <p:sp>
        <p:nvSpPr>
          <p:cNvPr id="76" name="Text 72"/>
          <p:cNvSpPr/>
          <p:nvPr/>
        </p:nvSpPr>
        <p:spPr>
          <a:xfrm>
            <a:off x="356616" y="7397496"/>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This was the "Pan India" zone; it is the eB2B channel</a:t>
            </a:r>
            <a:endParaRPr lang="en-US" sz="740" dirty="0"/>
          </a:p>
        </p:txBody>
      </p:sp>
      <p:sp>
        <p:nvSpPr>
          <p:cNvPr id="77" name="Text 73"/>
          <p:cNvSpPr/>
          <p:nvPr/>
        </p:nvSpPr>
        <p:spPr>
          <a:xfrm>
            <a:off x="356616" y="7735824"/>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FY27 offtake for the Pan India zone (860.01 L) equals the Nykaa (FSN) account exactly, 1:1, and Nykaa primary is classified eB2B in the channel master. It was never a geography and never Modern Trade.</a:t>
            </a:r>
            <a:endParaRPr lang="en-US" sz="650" dirty="0"/>
          </a:p>
        </p:txBody>
      </p:sp>
      <p:sp>
        <p:nvSpPr>
          <p:cNvPr id="78" name="Shape 74"/>
          <p:cNvSpPr/>
          <p:nvPr/>
        </p:nvSpPr>
        <p:spPr>
          <a:xfrm>
            <a:off x="356616" y="8330184"/>
            <a:ext cx="1853184" cy="0"/>
          </a:xfrm>
          <a:prstGeom prst="line">
            <a:avLst/>
          </a:prstGeom>
          <a:noFill/>
          <a:ln w="6350">
            <a:solidFill>
              <a:srgbClr val="C8DCD7"/>
            </a:solidFill>
            <a:prstDash val="solid"/>
          </a:ln>
        </p:spPr>
      </p:sp>
      <p:sp>
        <p:nvSpPr>
          <p:cNvPr id="79" name="Text 75"/>
          <p:cNvSpPr/>
          <p:nvPr/>
        </p:nvSpPr>
        <p:spPr>
          <a:xfrm>
            <a:off x="356616" y="8375904"/>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Renamed to eB2B and removed from MT zone sales, primary and offtake alike.</a:t>
            </a:r>
            <a:endParaRPr lang="en-US" sz="600" dirty="0"/>
          </a:p>
        </p:txBody>
      </p:sp>
      <p:sp>
        <p:nvSpPr>
          <p:cNvPr id="80" name="Text 76"/>
          <p:cNvSpPr/>
          <p:nvPr/>
        </p:nvSpPr>
        <p:spPr>
          <a:xfrm>
            <a:off x="356616" y="8705088"/>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Analyst · applied 16 Aug</a:t>
            </a:r>
            <a:endParaRPr lang="en-US" sz="620" dirty="0"/>
          </a:p>
        </p:txBody>
      </p:sp>
      <p:sp>
        <p:nvSpPr>
          <p:cNvPr id="81" name="Shape 77"/>
          <p:cNvSpPr/>
          <p:nvPr/>
        </p:nvSpPr>
        <p:spPr>
          <a:xfrm>
            <a:off x="2410968" y="7168896"/>
            <a:ext cx="2036064" cy="1700784"/>
          </a:xfrm>
          <a:prstGeom prst="roundRect">
            <a:avLst>
              <a:gd name="adj" fmla="val 1075"/>
            </a:avLst>
          </a:prstGeom>
          <a:solidFill>
            <a:srgbClr val="FFFFFF"/>
          </a:solidFill>
          <a:ln w="9525">
            <a:solidFill>
              <a:srgbClr val="C8DCD7"/>
            </a:solidFill>
            <a:prstDash val="solid"/>
          </a:ln>
        </p:spPr>
      </p:sp>
      <p:sp>
        <p:nvSpPr>
          <p:cNvPr id="82" name="Shape 78"/>
          <p:cNvSpPr/>
          <p:nvPr/>
        </p:nvSpPr>
        <p:spPr>
          <a:xfrm>
            <a:off x="2410968" y="7168896"/>
            <a:ext cx="2036064" cy="41148"/>
          </a:xfrm>
          <a:prstGeom prst="rect">
            <a:avLst/>
          </a:prstGeom>
          <a:solidFill>
            <a:srgbClr val="D6544D"/>
          </a:solidFill>
          <a:ln/>
        </p:spPr>
      </p:sp>
      <p:sp>
        <p:nvSpPr>
          <p:cNvPr id="83" name="Text 79"/>
          <p:cNvSpPr/>
          <p:nvPr/>
        </p:nvSpPr>
        <p:spPr>
          <a:xfrm>
            <a:off x="2502408" y="7251192"/>
            <a:ext cx="1853184" cy="137160"/>
          </a:xfrm>
          <a:prstGeom prst="rect">
            <a:avLst/>
          </a:prstGeom>
          <a:noFill/>
          <a:ln/>
        </p:spPr>
        <p:txBody>
          <a:bodyPr wrap="square" lIns="0" tIns="0" rIns="0" bIns="0" rtlCol="0" anchor="t"/>
          <a:lstStyle/>
          <a:p>
            <a:pPr indent="0" marL="0">
              <a:buNone/>
            </a:pPr>
            <a:r>
              <a:rPr lang="en-US" sz="620" b="1" spc="50" kern="0" dirty="0">
                <a:solidFill>
                  <a:srgbClr val="D6544D"/>
                </a:solidFill>
                <a:latin typeface="Calibri" pitchFamily="34" charset="0"/>
                <a:ea typeface="Calibri" pitchFamily="34" charset="-122"/>
                <a:cs typeface="Calibri" pitchFamily="34" charset="-120"/>
              </a:rPr>
              <a:t>MT IMPACT</a:t>
            </a:r>
            <a:endParaRPr lang="en-US" sz="620" dirty="0"/>
          </a:p>
        </p:txBody>
      </p:sp>
      <p:sp>
        <p:nvSpPr>
          <p:cNvPr id="84" name="Text 80"/>
          <p:cNvSpPr/>
          <p:nvPr/>
        </p:nvSpPr>
        <p:spPr>
          <a:xfrm>
            <a:off x="2502408" y="7397496"/>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Removing it takes ₹2.07 Cr out of MT offtake</a:t>
            </a:r>
            <a:endParaRPr lang="en-US" sz="740" dirty="0"/>
          </a:p>
        </p:txBody>
      </p:sp>
      <p:sp>
        <p:nvSpPr>
          <p:cNvPr id="85" name="Text 81"/>
          <p:cNvSpPr/>
          <p:nvPr/>
        </p:nvSpPr>
        <p:spPr>
          <a:xfrm>
            <a:off x="2502408" y="7735824"/>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National MT offtake for July is ₹33.96 Cr, not ₹36.10 Cr. It now ties exactly to the sum of the six geographic MT zones — the identity the previous pack could not close. A further ₹0.03 Cr of SIS offtake also left the zones.</a:t>
            </a:r>
            <a:endParaRPr lang="en-US" sz="650" dirty="0"/>
          </a:p>
        </p:txBody>
      </p:sp>
      <p:sp>
        <p:nvSpPr>
          <p:cNvPr id="86" name="Shape 82"/>
          <p:cNvSpPr/>
          <p:nvPr/>
        </p:nvSpPr>
        <p:spPr>
          <a:xfrm>
            <a:off x="2502408" y="8330184"/>
            <a:ext cx="1853184" cy="0"/>
          </a:xfrm>
          <a:prstGeom prst="line">
            <a:avLst/>
          </a:prstGeom>
          <a:noFill/>
          <a:ln w="6350">
            <a:solidFill>
              <a:srgbClr val="C8DCD7"/>
            </a:solidFill>
            <a:prstDash val="solid"/>
          </a:ln>
        </p:spPr>
      </p:sp>
      <p:sp>
        <p:nvSpPr>
          <p:cNvPr id="87" name="Text 83"/>
          <p:cNvSpPr/>
          <p:nvPr/>
        </p:nvSpPr>
        <p:spPr>
          <a:xfrm>
            <a:off x="2502408" y="8375904"/>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Quote ₹33.96 Cr as national MT offtake in every downstream report.</a:t>
            </a:r>
            <a:endParaRPr lang="en-US" sz="600" dirty="0"/>
          </a:p>
        </p:txBody>
      </p:sp>
      <p:sp>
        <p:nvSpPr>
          <p:cNvPr id="88" name="Text 84"/>
          <p:cNvSpPr/>
          <p:nvPr/>
        </p:nvSpPr>
        <p:spPr>
          <a:xfrm>
            <a:off x="2502408" y="8705088"/>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Analyst · from Aug pack</a:t>
            </a:r>
            <a:endParaRPr lang="en-US" sz="620" dirty="0"/>
          </a:p>
        </p:txBody>
      </p:sp>
      <p:sp>
        <p:nvSpPr>
          <p:cNvPr id="89" name="Shape 85"/>
          <p:cNvSpPr/>
          <p:nvPr/>
        </p:nvSpPr>
        <p:spPr>
          <a:xfrm>
            <a:off x="4556760" y="7168896"/>
            <a:ext cx="2036064" cy="1700784"/>
          </a:xfrm>
          <a:prstGeom prst="roundRect">
            <a:avLst>
              <a:gd name="adj" fmla="val 1075"/>
            </a:avLst>
          </a:prstGeom>
          <a:solidFill>
            <a:srgbClr val="FFFFFF"/>
          </a:solidFill>
          <a:ln w="9525">
            <a:solidFill>
              <a:srgbClr val="C8DCD7"/>
            </a:solidFill>
            <a:prstDash val="solid"/>
          </a:ln>
        </p:spPr>
      </p:sp>
      <p:sp>
        <p:nvSpPr>
          <p:cNvPr id="90" name="Shape 86"/>
          <p:cNvSpPr/>
          <p:nvPr/>
        </p:nvSpPr>
        <p:spPr>
          <a:xfrm>
            <a:off x="4556760" y="7168896"/>
            <a:ext cx="2036064" cy="41148"/>
          </a:xfrm>
          <a:prstGeom prst="rect">
            <a:avLst/>
          </a:prstGeom>
          <a:solidFill>
            <a:srgbClr val="F2B84B"/>
          </a:solidFill>
          <a:ln/>
        </p:spPr>
      </p:sp>
      <p:sp>
        <p:nvSpPr>
          <p:cNvPr id="91" name="Text 87"/>
          <p:cNvSpPr/>
          <p:nvPr/>
        </p:nvSpPr>
        <p:spPr>
          <a:xfrm>
            <a:off x="4648200" y="7251192"/>
            <a:ext cx="1853184" cy="137160"/>
          </a:xfrm>
          <a:prstGeom prst="rect">
            <a:avLst/>
          </a:prstGeom>
          <a:noFill/>
          <a:ln/>
        </p:spPr>
        <p:txBody>
          <a:bodyPr wrap="square" lIns="0" tIns="0" rIns="0" bIns="0" rtlCol="0" anchor="t"/>
          <a:lstStyle/>
          <a:p>
            <a:pPr indent="0" marL="0">
              <a:buNone/>
            </a:pPr>
            <a:r>
              <a:rPr lang="en-US" sz="620" b="1" spc="50" kern="0" dirty="0">
                <a:solidFill>
                  <a:srgbClr val="F2B84B"/>
                </a:solidFill>
                <a:latin typeface="Calibri" pitchFamily="34" charset="0"/>
                <a:ea typeface="Calibri" pitchFamily="34" charset="-122"/>
                <a:cs typeface="Calibri" pitchFamily="34" charset="-120"/>
              </a:rPr>
              <a:t>SCOPE</a:t>
            </a:r>
            <a:endParaRPr lang="en-US" sz="620" dirty="0"/>
          </a:p>
        </p:txBody>
      </p:sp>
      <p:sp>
        <p:nvSpPr>
          <p:cNvPr id="92" name="Text 88"/>
          <p:cNvSpPr/>
          <p:nvPr/>
        </p:nvSpPr>
        <p:spPr>
          <a:xfrm>
            <a:off x="4648200" y="7397496"/>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FSN B2C sits inside this number and cannot be split</a:t>
            </a:r>
            <a:endParaRPr lang="en-US" sz="740" dirty="0"/>
          </a:p>
        </p:txBody>
      </p:sp>
      <p:sp>
        <p:nvSpPr>
          <p:cNvPr id="93" name="Text 89"/>
          <p:cNvSpPr/>
          <p:nvPr/>
        </p:nvSpPr>
        <p:spPr>
          <a:xfrm>
            <a:off x="4648200" y="7735824"/>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The account combines FSN (B2C marketplace) with Nykaa SS (eB2B) at article level. The business decision of 16 Aug is to carry the whole account under eB2B until separated feeds exist.</a:t>
            </a:r>
            <a:endParaRPr lang="en-US" sz="650" dirty="0"/>
          </a:p>
        </p:txBody>
      </p:sp>
      <p:sp>
        <p:nvSpPr>
          <p:cNvPr id="94" name="Shape 90"/>
          <p:cNvSpPr/>
          <p:nvPr/>
        </p:nvSpPr>
        <p:spPr>
          <a:xfrm>
            <a:off x="4648200" y="8330184"/>
            <a:ext cx="1853184" cy="0"/>
          </a:xfrm>
          <a:prstGeom prst="line">
            <a:avLst/>
          </a:prstGeom>
          <a:noFill/>
          <a:ln w="6350">
            <a:solidFill>
              <a:srgbClr val="C8DCD7"/>
            </a:solidFill>
            <a:prstDash val="solid"/>
          </a:ln>
        </p:spPr>
      </p:sp>
      <p:sp>
        <p:nvSpPr>
          <p:cNvPr id="95" name="Text 91"/>
          <p:cNvSpPr/>
          <p:nvPr/>
        </p:nvSpPr>
        <p:spPr>
          <a:xfrm>
            <a:off x="4648200" y="8375904"/>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Request separated FSN and Nykaa SS feeds from the data owner.</a:t>
            </a:r>
            <a:endParaRPr lang="en-US" sz="600" dirty="0"/>
          </a:p>
        </p:txBody>
      </p:sp>
      <p:sp>
        <p:nvSpPr>
          <p:cNvPr id="96" name="Text 92"/>
          <p:cNvSpPr/>
          <p:nvPr/>
        </p:nvSpPr>
        <p:spPr>
          <a:xfrm>
            <a:off x="4648200" y="8705088"/>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Analyst + NKAM FSN · 31 Aug</a:t>
            </a:r>
            <a:endParaRPr lang="en-US" sz="620" dirty="0"/>
          </a:p>
        </p:txBody>
      </p:sp>
      <p:sp>
        <p:nvSpPr>
          <p:cNvPr id="97" name="Shape 93"/>
          <p:cNvSpPr/>
          <p:nvPr/>
        </p:nvSpPr>
        <p:spPr>
          <a:xfrm>
            <a:off x="265176" y="8979408"/>
            <a:ext cx="2036064" cy="1700784"/>
          </a:xfrm>
          <a:prstGeom prst="roundRect">
            <a:avLst>
              <a:gd name="adj" fmla="val 1075"/>
            </a:avLst>
          </a:prstGeom>
          <a:solidFill>
            <a:srgbClr val="FFFFFF"/>
          </a:solidFill>
          <a:ln w="9525">
            <a:solidFill>
              <a:srgbClr val="C8DCD7"/>
            </a:solidFill>
            <a:prstDash val="solid"/>
          </a:ln>
        </p:spPr>
      </p:sp>
      <p:sp>
        <p:nvSpPr>
          <p:cNvPr id="98" name="Shape 94"/>
          <p:cNvSpPr/>
          <p:nvPr/>
        </p:nvSpPr>
        <p:spPr>
          <a:xfrm>
            <a:off x="265176" y="8979408"/>
            <a:ext cx="2036064" cy="41148"/>
          </a:xfrm>
          <a:prstGeom prst="rect">
            <a:avLst/>
          </a:prstGeom>
          <a:solidFill>
            <a:srgbClr val="2B9A66"/>
          </a:solidFill>
          <a:ln/>
        </p:spPr>
      </p:sp>
      <p:sp>
        <p:nvSpPr>
          <p:cNvPr id="99" name="Text 95"/>
          <p:cNvSpPr/>
          <p:nvPr/>
        </p:nvSpPr>
        <p:spPr>
          <a:xfrm>
            <a:off x="356616" y="9061704"/>
            <a:ext cx="1853184" cy="137160"/>
          </a:xfrm>
          <a:prstGeom prst="rect">
            <a:avLst/>
          </a:prstGeom>
          <a:noFill/>
          <a:ln/>
        </p:spPr>
        <p:txBody>
          <a:bodyPr wrap="square" lIns="0" tIns="0" rIns="0" bIns="0" rtlCol="0" anchor="t"/>
          <a:lstStyle/>
          <a:p>
            <a:pPr indent="0" marL="0">
              <a:buNone/>
            </a:pPr>
            <a:r>
              <a:rPr lang="en-US" sz="620" b="1" spc="50" kern="0" dirty="0">
                <a:solidFill>
                  <a:srgbClr val="2B9A66"/>
                </a:solidFill>
                <a:latin typeface="Calibri" pitchFamily="34" charset="0"/>
                <a:ea typeface="Calibri" pitchFamily="34" charset="-122"/>
                <a:cs typeface="Calibri" pitchFamily="34" charset="-120"/>
              </a:rPr>
              <a:t>BENCHMARK</a:t>
            </a:r>
            <a:endParaRPr lang="en-US" sz="620" dirty="0"/>
          </a:p>
        </p:txBody>
      </p:sp>
      <p:sp>
        <p:nvSpPr>
          <p:cNvPr id="100" name="Text 96"/>
          <p:cNvSpPr/>
          <p:nvPr/>
        </p:nvSpPr>
        <p:spPr>
          <a:xfrm>
            <a:off x="356616" y="9208008"/>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94.1% July flow, 97.8% across FY27 to date</a:t>
            </a:r>
            <a:endParaRPr lang="en-US" sz="740" dirty="0"/>
          </a:p>
        </p:txBody>
      </p:sp>
      <p:sp>
        <p:nvSpPr>
          <p:cNvPr id="101" name="Text 97"/>
          <p:cNvSpPr/>
          <p:nvPr/>
        </p:nvSpPr>
        <p:spPr>
          <a:xfrm>
            <a:off x="356616" y="9546336"/>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Marketplace replenishment runs close to real time, so billing and selling stay in step. A useful ceiling, but the model does not transfer to hypermarket accounts.</a:t>
            </a:r>
            <a:endParaRPr lang="en-US" sz="650" dirty="0"/>
          </a:p>
        </p:txBody>
      </p:sp>
      <p:sp>
        <p:nvSpPr>
          <p:cNvPr id="102" name="Shape 98"/>
          <p:cNvSpPr/>
          <p:nvPr/>
        </p:nvSpPr>
        <p:spPr>
          <a:xfrm>
            <a:off x="356616" y="10140696"/>
            <a:ext cx="1853184" cy="0"/>
          </a:xfrm>
          <a:prstGeom prst="line">
            <a:avLst/>
          </a:prstGeom>
          <a:noFill/>
          <a:ln w="6350">
            <a:solidFill>
              <a:srgbClr val="C8DCD7"/>
            </a:solidFill>
            <a:prstDash val="solid"/>
          </a:ln>
        </p:spPr>
      </p:sp>
      <p:sp>
        <p:nvSpPr>
          <p:cNvPr id="103" name="Text 99"/>
          <p:cNvSpPr/>
          <p:nvPr/>
        </p:nvSpPr>
        <p:spPr>
          <a:xfrm>
            <a:off x="356616" y="10186416"/>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Report eB2B flow on its own line; never blend it into the MT conversion rate.</a:t>
            </a:r>
            <a:endParaRPr lang="en-US" sz="600" dirty="0"/>
          </a:p>
        </p:txBody>
      </p:sp>
      <p:sp>
        <p:nvSpPr>
          <p:cNvPr id="104" name="Text 100"/>
          <p:cNvSpPr/>
          <p:nvPr/>
        </p:nvSpPr>
        <p:spPr>
          <a:xfrm>
            <a:off x="356616" y="10515600"/>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Sales lead · standing</a:t>
            </a:r>
            <a:endParaRPr lang="en-US" sz="620" dirty="0"/>
          </a:p>
        </p:txBody>
      </p:sp>
      <p:sp>
        <p:nvSpPr>
          <p:cNvPr id="105" name="Shape 101"/>
          <p:cNvSpPr/>
          <p:nvPr/>
        </p:nvSpPr>
        <p:spPr>
          <a:xfrm>
            <a:off x="2410968" y="8979408"/>
            <a:ext cx="2036064" cy="1700784"/>
          </a:xfrm>
          <a:prstGeom prst="roundRect">
            <a:avLst>
              <a:gd name="adj" fmla="val 1075"/>
            </a:avLst>
          </a:prstGeom>
          <a:solidFill>
            <a:srgbClr val="FFFFFF"/>
          </a:solidFill>
          <a:ln w="9525">
            <a:solidFill>
              <a:srgbClr val="C8DCD7"/>
            </a:solidFill>
            <a:prstDash val="solid"/>
          </a:ln>
        </p:spPr>
      </p:sp>
      <p:sp>
        <p:nvSpPr>
          <p:cNvPr id="106" name="Shape 102"/>
          <p:cNvSpPr/>
          <p:nvPr/>
        </p:nvSpPr>
        <p:spPr>
          <a:xfrm>
            <a:off x="2410968" y="8979408"/>
            <a:ext cx="2036064" cy="41148"/>
          </a:xfrm>
          <a:prstGeom prst="rect">
            <a:avLst/>
          </a:prstGeom>
          <a:solidFill>
            <a:srgbClr val="F2B84B"/>
          </a:solidFill>
          <a:ln/>
        </p:spPr>
      </p:sp>
      <p:sp>
        <p:nvSpPr>
          <p:cNvPr id="107" name="Text 103"/>
          <p:cNvSpPr/>
          <p:nvPr/>
        </p:nvSpPr>
        <p:spPr>
          <a:xfrm>
            <a:off x="2502408" y="9061704"/>
            <a:ext cx="1853184" cy="137160"/>
          </a:xfrm>
          <a:prstGeom prst="rect">
            <a:avLst/>
          </a:prstGeom>
          <a:noFill/>
          <a:ln/>
        </p:spPr>
        <p:txBody>
          <a:bodyPr wrap="square" lIns="0" tIns="0" rIns="0" bIns="0" rtlCol="0" anchor="t"/>
          <a:lstStyle/>
          <a:p>
            <a:pPr indent="0" marL="0">
              <a:buNone/>
            </a:pPr>
            <a:r>
              <a:rPr lang="en-US" sz="620" b="1" spc="50" kern="0" dirty="0">
                <a:solidFill>
                  <a:srgbClr val="F2B84B"/>
                </a:solidFill>
                <a:latin typeface="Calibri" pitchFamily="34" charset="0"/>
                <a:ea typeface="Calibri" pitchFamily="34" charset="-122"/>
                <a:cs typeface="Calibri" pitchFamily="34" charset="-120"/>
              </a:rPr>
              <a:t>TREND</a:t>
            </a:r>
            <a:endParaRPr lang="en-US" sz="620" dirty="0"/>
          </a:p>
        </p:txBody>
      </p:sp>
      <p:sp>
        <p:nvSpPr>
          <p:cNvPr id="108" name="Text 104"/>
          <p:cNvSpPr/>
          <p:nvPr/>
        </p:nvSpPr>
        <p:spPr>
          <a:xfrm>
            <a:off x="2502408" y="9208008"/>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July ₹2.07 Cr is down 4.6% on June</a:t>
            </a:r>
            <a:endParaRPr lang="en-US" sz="740" dirty="0"/>
          </a:p>
        </p:txBody>
      </p:sp>
      <p:sp>
        <p:nvSpPr>
          <p:cNvPr id="109" name="Text 105"/>
          <p:cNvSpPr/>
          <p:nvPr/>
        </p:nvSpPr>
        <p:spPr>
          <a:xfrm>
            <a:off x="2502408" y="9546336"/>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Offtake peaked at ₹2.29 Cr in April and has drifted since. Active EANs fell from 222 in January to 198 in July, so range contraction tracks the softness.</a:t>
            </a:r>
            <a:endParaRPr lang="en-US" sz="650" dirty="0"/>
          </a:p>
        </p:txBody>
      </p:sp>
      <p:sp>
        <p:nvSpPr>
          <p:cNvPr id="110" name="Shape 106"/>
          <p:cNvSpPr/>
          <p:nvPr/>
        </p:nvSpPr>
        <p:spPr>
          <a:xfrm>
            <a:off x="2502408" y="10140696"/>
            <a:ext cx="1853184" cy="0"/>
          </a:xfrm>
          <a:prstGeom prst="line">
            <a:avLst/>
          </a:prstGeom>
          <a:noFill/>
          <a:ln w="6350">
            <a:solidFill>
              <a:srgbClr val="C8DCD7"/>
            </a:solidFill>
            <a:prstDash val="solid"/>
          </a:ln>
        </p:spPr>
      </p:sp>
      <p:sp>
        <p:nvSpPr>
          <p:cNvPr id="111" name="Text 107"/>
          <p:cNvSpPr/>
          <p:nvPr/>
        </p:nvSpPr>
        <p:spPr>
          <a:xfrm>
            <a:off x="2502408" y="10186416"/>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Test whether the 24 delisted EANs explain the drift before treating it as demand.</a:t>
            </a:r>
            <a:endParaRPr lang="en-US" sz="600" dirty="0"/>
          </a:p>
        </p:txBody>
      </p:sp>
      <p:sp>
        <p:nvSpPr>
          <p:cNvPr id="112" name="Text 108"/>
          <p:cNvSpPr/>
          <p:nvPr/>
        </p:nvSpPr>
        <p:spPr>
          <a:xfrm>
            <a:off x="2502408" y="10515600"/>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Analyst + NKAM FSN · 31 Aug</a:t>
            </a:r>
            <a:endParaRPr lang="en-US" sz="620" dirty="0"/>
          </a:p>
        </p:txBody>
      </p:sp>
      <p:sp>
        <p:nvSpPr>
          <p:cNvPr id="113" name="Shape 109"/>
          <p:cNvSpPr/>
          <p:nvPr/>
        </p:nvSpPr>
        <p:spPr>
          <a:xfrm>
            <a:off x="4556760" y="8979408"/>
            <a:ext cx="2036064" cy="1700784"/>
          </a:xfrm>
          <a:prstGeom prst="roundRect">
            <a:avLst>
              <a:gd name="adj" fmla="val 1075"/>
            </a:avLst>
          </a:prstGeom>
          <a:solidFill>
            <a:srgbClr val="FFFFFF"/>
          </a:solidFill>
          <a:ln w="9525">
            <a:solidFill>
              <a:srgbClr val="C8DCD7"/>
            </a:solidFill>
            <a:prstDash val="solid"/>
          </a:ln>
        </p:spPr>
      </p:sp>
      <p:sp>
        <p:nvSpPr>
          <p:cNvPr id="114" name="Shape 110"/>
          <p:cNvSpPr/>
          <p:nvPr/>
        </p:nvSpPr>
        <p:spPr>
          <a:xfrm>
            <a:off x="4556760" y="8979408"/>
            <a:ext cx="2036064" cy="41148"/>
          </a:xfrm>
          <a:prstGeom prst="rect">
            <a:avLst/>
          </a:prstGeom>
          <a:solidFill>
            <a:srgbClr val="D6544D"/>
          </a:solidFill>
          <a:ln/>
        </p:spPr>
      </p:sp>
      <p:sp>
        <p:nvSpPr>
          <p:cNvPr id="115" name="Text 111"/>
          <p:cNvSpPr/>
          <p:nvPr/>
        </p:nvSpPr>
        <p:spPr>
          <a:xfrm>
            <a:off x="4648200" y="9061704"/>
            <a:ext cx="1853184" cy="137160"/>
          </a:xfrm>
          <a:prstGeom prst="rect">
            <a:avLst/>
          </a:prstGeom>
          <a:noFill/>
          <a:ln/>
        </p:spPr>
        <p:txBody>
          <a:bodyPr wrap="square" lIns="0" tIns="0" rIns="0" bIns="0" rtlCol="0" anchor="t"/>
          <a:lstStyle/>
          <a:p>
            <a:pPr indent="0" marL="0">
              <a:buNone/>
            </a:pPr>
            <a:r>
              <a:rPr lang="en-US" sz="620" b="1" spc="50" kern="0" dirty="0">
                <a:solidFill>
                  <a:srgbClr val="D6544D"/>
                </a:solidFill>
                <a:latin typeface="Calibri" pitchFamily="34" charset="0"/>
                <a:ea typeface="Calibri" pitchFamily="34" charset="-122"/>
                <a:cs typeface="Calibri" pitchFamily="34" charset="-120"/>
              </a:rPr>
              <a:t>DATA</a:t>
            </a:r>
            <a:endParaRPr lang="en-US" sz="620" dirty="0"/>
          </a:p>
        </p:txBody>
      </p:sp>
      <p:sp>
        <p:nvSpPr>
          <p:cNvPr id="116" name="Text 112"/>
          <p:cNvSpPr/>
          <p:nvPr/>
        </p:nvSpPr>
        <p:spPr>
          <a:xfrm>
            <a:off x="4648200" y="9208008"/>
            <a:ext cx="1853184" cy="310896"/>
          </a:xfrm>
          <a:prstGeom prst="rect">
            <a:avLst/>
          </a:prstGeom>
          <a:noFill/>
          <a:ln/>
        </p:spPr>
        <p:txBody>
          <a:bodyPr wrap="square" lIns="0" tIns="0" rIns="0" bIns="0" rtlCol="0" anchor="t"/>
          <a:lstStyle/>
          <a:p>
            <a:pPr indent="0" marL="0">
              <a:lnSpc>
                <a:spcPct val="90000"/>
              </a:lnSpc>
              <a:buNone/>
            </a:pPr>
            <a:r>
              <a:rPr lang="en-US" sz="740" b="1" dirty="0">
                <a:solidFill>
                  <a:srgbClr val="183B39"/>
                </a:solidFill>
                <a:latin typeface="Calibri" pitchFamily="34" charset="0"/>
                <a:ea typeface="Calibri" pitchFamily="34" charset="-122"/>
                <a:cs typeface="Calibri" pitchFamily="34" charset="-120"/>
              </a:rPr>
              <a:t>Sub-category split returns zero against a ₹1.65 Cr brand total</a:t>
            </a:r>
            <a:endParaRPr lang="en-US" sz="740" dirty="0"/>
          </a:p>
        </p:txBody>
      </p:sp>
      <p:sp>
        <p:nvSpPr>
          <p:cNvPr id="117" name="Text 113"/>
          <p:cNvSpPr/>
          <p:nvPr/>
        </p:nvSpPr>
        <p:spPr>
          <a:xfrm>
            <a:off x="4648200" y="9546336"/>
            <a:ext cx="1853184" cy="566928"/>
          </a:xfrm>
          <a:prstGeom prst="rect">
            <a:avLst/>
          </a:prstGeom>
          <a:noFill/>
          <a:ln/>
        </p:spPr>
        <p:txBody>
          <a:bodyPr wrap="square" lIns="0" tIns="0" rIns="0" bIns="0" rtlCol="0" anchor="t"/>
          <a:lstStyle/>
          <a:p>
            <a:pPr indent="0" marL="0">
              <a:lnSpc>
                <a:spcPct val="92000"/>
              </a:lnSpc>
              <a:buNone/>
            </a:pPr>
            <a:r>
              <a:rPr lang="en-US" sz="650" dirty="0">
                <a:solidFill>
                  <a:srgbClr val="5F716E"/>
                </a:solidFill>
                <a:latin typeface="Calibri" pitchFamily="34" charset="0"/>
                <a:ea typeface="Calibri" pitchFamily="34" charset="-122"/>
                <a:cs typeface="Calibri" pitchFamily="34" charset="-120"/>
              </a:rPr>
              <a:t>The source pack printed ₹0.00 Cr for all three Mamaearth sub-categories while the brand total read ₹1.65 Cr — a broken rollup, not a real result.</a:t>
            </a:r>
            <a:endParaRPr lang="en-US" sz="650" dirty="0"/>
          </a:p>
        </p:txBody>
      </p:sp>
      <p:sp>
        <p:nvSpPr>
          <p:cNvPr id="118" name="Shape 114"/>
          <p:cNvSpPr/>
          <p:nvPr/>
        </p:nvSpPr>
        <p:spPr>
          <a:xfrm>
            <a:off x="4648200" y="10140696"/>
            <a:ext cx="1853184" cy="0"/>
          </a:xfrm>
          <a:prstGeom prst="line">
            <a:avLst/>
          </a:prstGeom>
          <a:noFill/>
          <a:ln w="6350">
            <a:solidFill>
              <a:srgbClr val="C8DCD7"/>
            </a:solidFill>
            <a:prstDash val="solid"/>
          </a:ln>
        </p:spPr>
      </p:sp>
      <p:sp>
        <p:nvSpPr>
          <p:cNvPr id="119" name="Text 115"/>
          <p:cNvSpPr/>
          <p:nvPr/>
        </p:nvSpPr>
        <p:spPr>
          <a:xfrm>
            <a:off x="4648200" y="10186416"/>
            <a:ext cx="1853184" cy="310896"/>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ACTION  </a:t>
            </a:r>
            <a:pPr indent="0" marL="0">
              <a:lnSpc>
                <a:spcPct val="90000"/>
              </a:lnSpc>
              <a:buNone/>
            </a:pPr>
            <a:r>
              <a:rPr lang="en-US" sz="660" dirty="0">
                <a:solidFill>
                  <a:srgbClr val="183B39"/>
                </a:solidFill>
                <a:latin typeface="Calibri" pitchFamily="34" charset="0"/>
                <a:ea typeface="Calibri" pitchFamily="34" charset="-122"/>
                <a:cs typeface="Calibri" pitchFamily="34" charset="-120"/>
              </a:rPr>
              <a:t>Fix the eB2B sub-category rollup in the build script before publishing this page again.</a:t>
            </a:r>
            <a:endParaRPr lang="en-US" sz="600" dirty="0"/>
          </a:p>
        </p:txBody>
      </p:sp>
      <p:sp>
        <p:nvSpPr>
          <p:cNvPr id="120" name="Text 116"/>
          <p:cNvSpPr/>
          <p:nvPr/>
        </p:nvSpPr>
        <p:spPr>
          <a:xfrm>
            <a:off x="4648200" y="10515600"/>
            <a:ext cx="1853184" cy="128016"/>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Analyst · 18 Aug</a:t>
            </a:r>
            <a:endParaRPr lang="en-US" sz="620" dirty="0"/>
          </a:p>
        </p:txBody>
      </p:sp>
      <p:sp>
        <p:nvSpPr>
          <p:cNvPr id="121" name="Text 117"/>
          <p:cNvSpPr/>
          <p:nvPr/>
        </p:nvSpPr>
        <p:spPr>
          <a:xfrm>
            <a:off x="265176" y="10844784"/>
            <a:ext cx="6327648" cy="182880"/>
          </a:xfrm>
          <a:prstGeom prst="rect">
            <a:avLst/>
          </a:prstGeom>
          <a:noFill/>
          <a:ln/>
        </p:spPr>
        <p:txBody>
          <a:bodyPr wrap="square" lIns="0" tIns="0" rIns="0" bIns="0" rtlCol="0" anchor="t"/>
          <a:lstStyle/>
          <a:p>
            <a:pPr algn="ctr" indent="0" marL="0">
              <a:buNone/>
            </a:pPr>
            <a:r>
              <a:rPr lang="en-US" sz="680" i="1" dirty="0">
                <a:solidFill>
                  <a:srgbClr val="5F716E"/>
                </a:solidFill>
                <a:latin typeface="Calibri" pitchFamily="34" charset="0"/>
                <a:ea typeface="Calibri" pitchFamily="34" charset="-122"/>
                <a:cs typeface="Calibri" pitchFamily="34" charset="-120"/>
              </a:rPr>
              <a:t>eB2B channel · FY27 to date: primary ₹8.79 Cr, offtake ₹8.60 Cr, 97.8% flow · excluded from every MT zone figure</a:t>
            </a:r>
            <a:endParaRPr lang="en-US" sz="6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A"/>
        </a:solidFill>
      </p:bgPr>
    </p:bg>
    <p:spTree>
      <p:nvGrpSpPr>
        <p:cNvPr id="1" name=""/>
        <p:cNvGrpSpPr/>
        <p:nvPr/>
      </p:nvGrpSpPr>
      <p:grpSpPr>
        <a:xfrm>
          <a:off x="0" y="0"/>
          <a:ext cx="0" cy="0"/>
          <a:chOff x="0" y="0"/>
          <a:chExt cx="0" cy="0"/>
        </a:xfrm>
      </p:grpSpPr>
      <p:sp>
        <p:nvSpPr>
          <p:cNvPr id="2" name="Shape 0"/>
          <p:cNvSpPr/>
          <p:nvPr/>
        </p:nvSpPr>
        <p:spPr>
          <a:xfrm>
            <a:off x="0" y="0"/>
            <a:ext cx="6858000" cy="1133856"/>
          </a:xfrm>
          <a:prstGeom prst="rect">
            <a:avLst/>
          </a:prstGeom>
          <a:solidFill>
            <a:srgbClr val="116F68"/>
          </a:solidFill>
          <a:ln/>
        </p:spPr>
      </p:sp>
      <p:sp>
        <p:nvSpPr>
          <p:cNvPr id="3" name="Text 1"/>
          <p:cNvSpPr/>
          <p:nvPr/>
        </p:nvSpPr>
        <p:spPr>
          <a:xfrm>
            <a:off x="365760" y="182880"/>
            <a:ext cx="5641848" cy="548640"/>
          </a:xfrm>
          <a:prstGeom prst="rect">
            <a:avLst/>
          </a:prstGeom>
          <a:noFill/>
          <a:ln/>
        </p:spPr>
        <p:txBody>
          <a:bodyPr wrap="square" lIns="0" tIns="0" rIns="0" bIns="0" rtlCol="0" anchor="ctr"/>
          <a:lstStyle/>
          <a:p>
            <a:pPr indent="0" marL="0">
              <a:lnSpc>
                <a:spcPct val="92000"/>
              </a:lnSpc>
              <a:buNone/>
            </a:pPr>
            <a:r>
              <a:rPr lang="en-US" sz="1650" b="1" dirty="0">
                <a:solidFill>
                  <a:srgbClr val="FFFFFF"/>
                </a:solidFill>
                <a:latin typeface="Calibri Light" pitchFamily="34" charset="0"/>
                <a:ea typeface="Calibri Light" pitchFamily="34" charset="-122"/>
                <a:cs typeface="Calibri Light" pitchFamily="34" charset="-120"/>
              </a:rPr>
              <a:t>SIS: Separate channel — excluded from MT</a:t>
            </a:r>
            <a:endParaRPr lang="en-US" sz="1650" dirty="0"/>
          </a:p>
        </p:txBody>
      </p:sp>
      <p:sp>
        <p:nvSpPr>
          <p:cNvPr id="4" name="Text 2"/>
          <p:cNvSpPr/>
          <p:nvPr/>
        </p:nvSpPr>
        <p:spPr>
          <a:xfrm>
            <a:off x="384048" y="786384"/>
            <a:ext cx="5641848" cy="237744"/>
          </a:xfrm>
          <a:prstGeom prst="rect">
            <a:avLst/>
          </a:prstGeom>
          <a:noFill/>
          <a:ln/>
        </p:spPr>
        <p:txBody>
          <a:bodyPr wrap="square" lIns="0" tIns="0" rIns="0" bIns="0" rtlCol="0" anchor="ctr"/>
          <a:lstStyle/>
          <a:p>
            <a:pPr indent="0" marL="0">
              <a:buNone/>
            </a:pPr>
            <a:r>
              <a:rPr lang="en-US" sz="850" dirty="0">
                <a:solidFill>
                  <a:srgbClr val="BFDCD7"/>
                </a:solidFill>
                <a:latin typeface="Calibri" pitchFamily="34" charset="0"/>
                <a:ea typeface="Calibri" pitchFamily="34" charset="-122"/>
                <a:cs typeface="Calibri" pitchFamily="34" charset="-120"/>
              </a:rPr>
              <a:t>Channel view | Shop-in-Shop | FY27 to date | ₹ Lakh | reported outside Modern Trade</a:t>
            </a:r>
            <a:endParaRPr lang="en-US" sz="850" dirty="0"/>
          </a:p>
        </p:txBody>
      </p:sp>
      <p:sp>
        <p:nvSpPr>
          <p:cNvPr id="5" name="Text 3"/>
          <p:cNvSpPr/>
          <p:nvPr/>
        </p:nvSpPr>
        <p:spPr>
          <a:xfrm>
            <a:off x="6117336" y="365760"/>
            <a:ext cx="402336" cy="237744"/>
          </a:xfrm>
          <a:prstGeom prst="rect">
            <a:avLst/>
          </a:prstGeom>
          <a:noFill/>
          <a:ln/>
        </p:spPr>
        <p:txBody>
          <a:bodyPr wrap="square" lIns="0" tIns="0" rIns="0" bIns="0" rtlCol="0" anchor="t"/>
          <a:lstStyle/>
          <a:p>
            <a:pPr algn="r" indent="0" marL="0">
              <a:buNone/>
            </a:pPr>
            <a:r>
              <a:rPr lang="en-US" sz="950" b="1" dirty="0">
                <a:solidFill>
                  <a:srgbClr val="8FC4BD"/>
                </a:solidFill>
                <a:latin typeface="Calibri" pitchFamily="34" charset="0"/>
                <a:ea typeface="Calibri" pitchFamily="34" charset="-122"/>
                <a:cs typeface="Calibri" pitchFamily="34" charset="-120"/>
              </a:rPr>
              <a:t>14</a:t>
            </a:r>
            <a:endParaRPr lang="en-US" sz="950" dirty="0"/>
          </a:p>
        </p:txBody>
      </p:sp>
      <p:sp>
        <p:nvSpPr>
          <p:cNvPr id="6" name="Shape 4"/>
          <p:cNvSpPr/>
          <p:nvPr/>
        </p:nvSpPr>
        <p:spPr>
          <a:xfrm>
            <a:off x="265176" y="11375136"/>
            <a:ext cx="6327648" cy="420624"/>
          </a:xfrm>
          <a:prstGeom prst="roundRect">
            <a:avLst>
              <a:gd name="adj" fmla="val 6522"/>
            </a:avLst>
          </a:prstGeom>
          <a:solidFill>
            <a:srgbClr val="DFF2ED"/>
          </a:solidFill>
          <a:ln w="9525">
            <a:solidFill>
              <a:srgbClr val="C8DCD7"/>
            </a:solidFill>
            <a:prstDash val="solid"/>
          </a:ln>
        </p:spPr>
      </p:sp>
      <p:sp>
        <p:nvSpPr>
          <p:cNvPr id="7" name="Text 5"/>
          <p:cNvSpPr/>
          <p:nvPr/>
        </p:nvSpPr>
        <p:spPr>
          <a:xfrm>
            <a:off x="374904"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EVIDENCE</a:t>
            </a:r>
            <a:endParaRPr lang="en-US" sz="650" dirty="0"/>
          </a:p>
        </p:txBody>
      </p:sp>
      <p:sp>
        <p:nvSpPr>
          <p:cNvPr id="8" name="Text 6"/>
          <p:cNvSpPr/>
          <p:nvPr/>
        </p:nvSpPr>
        <p:spPr>
          <a:xfrm>
            <a:off x="374904"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moved</a:t>
            </a:r>
            <a:endParaRPr lang="en-US" sz="700" dirty="0"/>
          </a:p>
        </p:txBody>
      </p:sp>
      <p:sp>
        <p:nvSpPr>
          <p:cNvPr id="9" name="Text 7"/>
          <p:cNvSpPr/>
          <p:nvPr/>
        </p:nvSpPr>
        <p:spPr>
          <a:xfrm>
            <a:off x="1901952"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IMPLICATION</a:t>
            </a:r>
            <a:endParaRPr lang="en-US" sz="650" dirty="0"/>
          </a:p>
        </p:txBody>
      </p:sp>
      <p:sp>
        <p:nvSpPr>
          <p:cNvPr id="10" name="Text 8"/>
          <p:cNvSpPr/>
          <p:nvPr/>
        </p:nvSpPr>
        <p:spPr>
          <a:xfrm>
            <a:off x="1901952"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Why it matters</a:t>
            </a:r>
            <a:endParaRPr lang="en-US" sz="700" dirty="0"/>
          </a:p>
        </p:txBody>
      </p:sp>
      <p:sp>
        <p:nvSpPr>
          <p:cNvPr id="11" name="Shape 9"/>
          <p:cNvSpPr/>
          <p:nvPr/>
        </p:nvSpPr>
        <p:spPr>
          <a:xfrm>
            <a:off x="1819656" y="11457432"/>
            <a:ext cx="0" cy="265176"/>
          </a:xfrm>
          <a:prstGeom prst="line">
            <a:avLst/>
          </a:prstGeom>
          <a:noFill/>
          <a:ln w="9525">
            <a:solidFill>
              <a:srgbClr val="C8DCD7"/>
            </a:solidFill>
            <a:prstDash val="solid"/>
          </a:ln>
        </p:spPr>
      </p:sp>
      <p:sp>
        <p:nvSpPr>
          <p:cNvPr id="12" name="Text 10"/>
          <p:cNvSpPr/>
          <p:nvPr/>
        </p:nvSpPr>
        <p:spPr>
          <a:xfrm>
            <a:off x="3429000"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ACTION</a:t>
            </a:r>
            <a:endParaRPr lang="en-US" sz="650" dirty="0"/>
          </a:p>
        </p:txBody>
      </p:sp>
      <p:sp>
        <p:nvSpPr>
          <p:cNvPr id="13" name="Text 11"/>
          <p:cNvSpPr/>
          <p:nvPr/>
        </p:nvSpPr>
        <p:spPr>
          <a:xfrm>
            <a:off x="3429000"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changes now</a:t>
            </a:r>
            <a:endParaRPr lang="en-US" sz="700" dirty="0"/>
          </a:p>
        </p:txBody>
      </p:sp>
      <p:sp>
        <p:nvSpPr>
          <p:cNvPr id="14" name="Shape 12"/>
          <p:cNvSpPr/>
          <p:nvPr/>
        </p:nvSpPr>
        <p:spPr>
          <a:xfrm>
            <a:off x="3346704" y="11457432"/>
            <a:ext cx="0" cy="265176"/>
          </a:xfrm>
          <a:prstGeom prst="line">
            <a:avLst/>
          </a:prstGeom>
          <a:noFill/>
          <a:ln w="9525">
            <a:solidFill>
              <a:srgbClr val="C8DCD7"/>
            </a:solidFill>
            <a:prstDash val="solid"/>
          </a:ln>
        </p:spPr>
      </p:sp>
      <p:sp>
        <p:nvSpPr>
          <p:cNvPr id="15" name="Text 13"/>
          <p:cNvSpPr/>
          <p:nvPr/>
        </p:nvSpPr>
        <p:spPr>
          <a:xfrm>
            <a:off x="4956048"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OWNER</a:t>
            </a:r>
            <a:endParaRPr lang="en-US" sz="650" dirty="0"/>
          </a:p>
        </p:txBody>
      </p:sp>
      <p:sp>
        <p:nvSpPr>
          <p:cNvPr id="16" name="Text 14"/>
          <p:cNvSpPr/>
          <p:nvPr/>
        </p:nvSpPr>
        <p:spPr>
          <a:xfrm>
            <a:off x="4956048"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Who closes it</a:t>
            </a:r>
            <a:endParaRPr lang="en-US" sz="700" dirty="0"/>
          </a:p>
        </p:txBody>
      </p:sp>
      <p:sp>
        <p:nvSpPr>
          <p:cNvPr id="17" name="Shape 15"/>
          <p:cNvSpPr/>
          <p:nvPr/>
        </p:nvSpPr>
        <p:spPr>
          <a:xfrm>
            <a:off x="4873752" y="11457432"/>
            <a:ext cx="0" cy="265176"/>
          </a:xfrm>
          <a:prstGeom prst="line">
            <a:avLst/>
          </a:prstGeom>
          <a:noFill/>
          <a:ln w="9525">
            <a:solidFill>
              <a:srgbClr val="C8DCD7"/>
            </a:solidFill>
            <a:prstDash val="solid"/>
          </a:ln>
        </p:spPr>
      </p:sp>
      <p:sp>
        <p:nvSpPr>
          <p:cNvPr id="18" name="Text 16"/>
          <p:cNvSpPr/>
          <p:nvPr/>
        </p:nvSpPr>
        <p:spPr>
          <a:xfrm>
            <a:off x="301752" y="11887200"/>
            <a:ext cx="6254496" cy="201168"/>
          </a:xfrm>
          <a:prstGeom prst="rect">
            <a:avLst/>
          </a:prstGeom>
          <a:noFill/>
          <a:ln/>
        </p:spPr>
        <p:txBody>
          <a:bodyPr wrap="square" lIns="0" tIns="0" rIns="0" bIns="0" rtlCol="0" anchor="t"/>
          <a:lstStyle/>
          <a:p>
            <a:pPr algn="ctr" indent="0" marL="0">
              <a:buNone/>
            </a:pPr>
            <a:r>
              <a:rPr lang="en-US" sz="650" dirty="0">
                <a:solidFill>
                  <a:srgbClr val="5F716E"/>
                </a:solidFill>
                <a:latin typeface="Calibri" pitchFamily="34" charset="0"/>
                <a:ea typeface="Calibri" pitchFamily="34" charset="-122"/>
                <a:cs typeface="Calibri" pitchFamily="34" charset="-120"/>
              </a:rPr>
              <a:t>July Compiled Offtake (Sheet1) · July'26 primary and distributor secondary · values in ₹ Cr · Zone performance represents Modern Trade accounts only. eB2B and SIS channels are excluded from MT zone sales and reported separately.</a:t>
            </a:r>
            <a:endParaRPr lang="en-US" sz="650" dirty="0"/>
          </a:p>
        </p:txBody>
      </p:sp>
      <p:sp>
        <p:nvSpPr>
          <p:cNvPr id="19" name="Shape 17"/>
          <p:cNvSpPr/>
          <p:nvPr/>
        </p:nvSpPr>
        <p:spPr>
          <a:xfrm>
            <a:off x="265176" y="1261872"/>
            <a:ext cx="1499616" cy="859536"/>
          </a:xfrm>
          <a:prstGeom prst="rect">
            <a:avLst/>
          </a:prstGeom>
          <a:solidFill>
            <a:srgbClr val="FFFFFF"/>
          </a:solidFill>
          <a:ln w="9525">
            <a:solidFill>
              <a:srgbClr val="C8DCD7"/>
            </a:solidFill>
            <a:prstDash val="solid"/>
          </a:ln>
        </p:spPr>
      </p:sp>
      <p:sp>
        <p:nvSpPr>
          <p:cNvPr id="20" name="Shape 18"/>
          <p:cNvSpPr/>
          <p:nvPr/>
        </p:nvSpPr>
        <p:spPr>
          <a:xfrm>
            <a:off x="265176" y="1261872"/>
            <a:ext cx="64008" cy="859536"/>
          </a:xfrm>
          <a:prstGeom prst="rect">
            <a:avLst/>
          </a:prstGeom>
          <a:solidFill>
            <a:srgbClr val="2E7DA8"/>
          </a:solidFill>
          <a:ln/>
        </p:spPr>
      </p:sp>
      <p:sp>
        <p:nvSpPr>
          <p:cNvPr id="21" name="Text 19"/>
          <p:cNvSpPr/>
          <p:nvPr/>
        </p:nvSpPr>
        <p:spPr>
          <a:xfrm>
            <a:off x="420624"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NET SIS PRIMARY</a:t>
            </a:r>
            <a:endParaRPr lang="en-US" sz="680" dirty="0"/>
          </a:p>
        </p:txBody>
      </p:sp>
      <p:sp>
        <p:nvSpPr>
          <p:cNvPr id="22" name="Text 20"/>
          <p:cNvSpPr/>
          <p:nvPr/>
        </p:nvSpPr>
        <p:spPr>
          <a:xfrm>
            <a:off x="420624" y="1536192"/>
            <a:ext cx="1261872" cy="310896"/>
          </a:xfrm>
          <a:prstGeom prst="rect">
            <a:avLst/>
          </a:prstGeom>
          <a:noFill/>
          <a:ln/>
        </p:spPr>
        <p:txBody>
          <a:bodyPr wrap="square" lIns="0" tIns="0" rIns="0" bIns="0" rtlCol="0" anchor="ctr"/>
          <a:lstStyle/>
          <a:p>
            <a:pPr indent="0" marL="0">
              <a:buNone/>
            </a:pPr>
            <a:r>
              <a:rPr lang="en-US" sz="1550" b="1" dirty="0">
                <a:solidFill>
                  <a:srgbClr val="2E7DA8"/>
                </a:solidFill>
                <a:latin typeface="Calibri Light" pitchFamily="34" charset="0"/>
                <a:ea typeface="Calibri Light" pitchFamily="34" charset="-122"/>
                <a:cs typeface="Calibri Light" pitchFamily="34" charset="-120"/>
              </a:rPr>
              <a:t>₹26.52 L</a:t>
            </a:r>
            <a:endParaRPr lang="en-US" sz="1550" dirty="0"/>
          </a:p>
        </p:txBody>
      </p:sp>
      <p:sp>
        <p:nvSpPr>
          <p:cNvPr id="23" name="Text 21"/>
          <p:cNvSpPr/>
          <p:nvPr/>
        </p:nvSpPr>
        <p:spPr>
          <a:xfrm>
            <a:off x="420624"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FY27 to date, net of returns</a:t>
            </a:r>
            <a:endParaRPr lang="en-US" sz="680" dirty="0"/>
          </a:p>
        </p:txBody>
      </p:sp>
      <p:sp>
        <p:nvSpPr>
          <p:cNvPr id="24" name="Shape 22"/>
          <p:cNvSpPr/>
          <p:nvPr/>
        </p:nvSpPr>
        <p:spPr>
          <a:xfrm>
            <a:off x="1874520" y="1261872"/>
            <a:ext cx="1499616" cy="859536"/>
          </a:xfrm>
          <a:prstGeom prst="rect">
            <a:avLst/>
          </a:prstGeom>
          <a:solidFill>
            <a:srgbClr val="FFFFFF"/>
          </a:solidFill>
          <a:ln w="9525">
            <a:solidFill>
              <a:srgbClr val="C8DCD7"/>
            </a:solidFill>
            <a:prstDash val="solid"/>
          </a:ln>
        </p:spPr>
      </p:sp>
      <p:sp>
        <p:nvSpPr>
          <p:cNvPr id="25" name="Shape 23"/>
          <p:cNvSpPr/>
          <p:nvPr/>
        </p:nvSpPr>
        <p:spPr>
          <a:xfrm>
            <a:off x="1874520" y="1261872"/>
            <a:ext cx="64008" cy="859536"/>
          </a:xfrm>
          <a:prstGeom prst="rect">
            <a:avLst/>
          </a:prstGeom>
          <a:solidFill>
            <a:srgbClr val="5F716E"/>
          </a:solidFill>
          <a:ln/>
        </p:spPr>
      </p:sp>
      <p:sp>
        <p:nvSpPr>
          <p:cNvPr id="26" name="Text 24"/>
          <p:cNvSpPr/>
          <p:nvPr/>
        </p:nvSpPr>
        <p:spPr>
          <a:xfrm>
            <a:off x="2029968"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GROSS SALES</a:t>
            </a:r>
            <a:endParaRPr lang="en-US" sz="680" dirty="0"/>
          </a:p>
        </p:txBody>
      </p:sp>
      <p:sp>
        <p:nvSpPr>
          <p:cNvPr id="27" name="Text 25"/>
          <p:cNvSpPr/>
          <p:nvPr/>
        </p:nvSpPr>
        <p:spPr>
          <a:xfrm>
            <a:off x="2029968" y="1536192"/>
            <a:ext cx="1261872" cy="310896"/>
          </a:xfrm>
          <a:prstGeom prst="rect">
            <a:avLst/>
          </a:prstGeom>
          <a:noFill/>
          <a:ln/>
        </p:spPr>
        <p:txBody>
          <a:bodyPr wrap="square" lIns="0" tIns="0" rIns="0" bIns="0" rtlCol="0" anchor="ctr"/>
          <a:lstStyle/>
          <a:p>
            <a:pPr indent="0" marL="0">
              <a:buNone/>
            </a:pPr>
            <a:r>
              <a:rPr lang="en-US" sz="1550" b="1" dirty="0">
                <a:solidFill>
                  <a:srgbClr val="5F716E"/>
                </a:solidFill>
                <a:latin typeface="Calibri Light" pitchFamily="34" charset="0"/>
                <a:ea typeface="Calibri Light" pitchFamily="34" charset="-122"/>
                <a:cs typeface="Calibri Light" pitchFamily="34" charset="-120"/>
              </a:rPr>
              <a:t>₹29.64 L</a:t>
            </a:r>
            <a:endParaRPr lang="en-US" sz="1550" dirty="0"/>
          </a:p>
        </p:txBody>
      </p:sp>
      <p:sp>
        <p:nvSpPr>
          <p:cNvPr id="28" name="Text 26"/>
          <p:cNvSpPr/>
          <p:nvPr/>
        </p:nvSpPr>
        <p:spPr>
          <a:xfrm>
            <a:off x="2029968"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before MRN returns</a:t>
            </a:r>
            <a:endParaRPr lang="en-US" sz="680" dirty="0"/>
          </a:p>
        </p:txBody>
      </p:sp>
      <p:sp>
        <p:nvSpPr>
          <p:cNvPr id="29" name="Shape 27"/>
          <p:cNvSpPr/>
          <p:nvPr/>
        </p:nvSpPr>
        <p:spPr>
          <a:xfrm>
            <a:off x="3483864" y="1261872"/>
            <a:ext cx="1499616" cy="859536"/>
          </a:xfrm>
          <a:prstGeom prst="rect">
            <a:avLst/>
          </a:prstGeom>
          <a:solidFill>
            <a:srgbClr val="FFFFFF"/>
          </a:solidFill>
          <a:ln w="9525">
            <a:solidFill>
              <a:srgbClr val="C8DCD7"/>
            </a:solidFill>
            <a:prstDash val="solid"/>
          </a:ln>
        </p:spPr>
      </p:sp>
      <p:sp>
        <p:nvSpPr>
          <p:cNvPr id="30" name="Shape 28"/>
          <p:cNvSpPr/>
          <p:nvPr/>
        </p:nvSpPr>
        <p:spPr>
          <a:xfrm>
            <a:off x="3483864" y="1261872"/>
            <a:ext cx="64008" cy="859536"/>
          </a:xfrm>
          <a:prstGeom prst="rect">
            <a:avLst/>
          </a:prstGeom>
          <a:solidFill>
            <a:srgbClr val="D6544D"/>
          </a:solidFill>
          <a:ln/>
        </p:spPr>
      </p:sp>
      <p:sp>
        <p:nvSpPr>
          <p:cNvPr id="31" name="Text 29"/>
          <p:cNvSpPr/>
          <p:nvPr/>
        </p:nvSpPr>
        <p:spPr>
          <a:xfrm>
            <a:off x="3639312"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MRN RETURNS</a:t>
            </a:r>
            <a:endParaRPr lang="en-US" sz="680" dirty="0"/>
          </a:p>
        </p:txBody>
      </p:sp>
      <p:sp>
        <p:nvSpPr>
          <p:cNvPr id="32" name="Text 30"/>
          <p:cNvSpPr/>
          <p:nvPr/>
        </p:nvSpPr>
        <p:spPr>
          <a:xfrm>
            <a:off x="3639312" y="1536192"/>
            <a:ext cx="1261872" cy="310896"/>
          </a:xfrm>
          <a:prstGeom prst="rect">
            <a:avLst/>
          </a:prstGeom>
          <a:noFill/>
          <a:ln/>
        </p:spPr>
        <p:txBody>
          <a:bodyPr wrap="square" lIns="0" tIns="0" rIns="0" bIns="0" rtlCol="0" anchor="ctr"/>
          <a:lstStyle/>
          <a:p>
            <a:pPr indent="0" marL="0">
              <a:buNone/>
            </a:pPr>
            <a:r>
              <a:rPr lang="en-US" sz="1550" b="1" dirty="0">
                <a:solidFill>
                  <a:srgbClr val="D6544D"/>
                </a:solidFill>
                <a:latin typeface="Calibri Light" pitchFamily="34" charset="0"/>
                <a:ea typeface="Calibri Light" pitchFamily="34" charset="-122"/>
                <a:cs typeface="Calibri Light" pitchFamily="34" charset="-120"/>
              </a:rPr>
              <a:t>−₹4.55 L</a:t>
            </a:r>
            <a:endParaRPr lang="en-US" sz="1550" dirty="0"/>
          </a:p>
        </p:txBody>
      </p:sp>
      <p:sp>
        <p:nvSpPr>
          <p:cNvPr id="33" name="Text 31"/>
          <p:cNvSpPr/>
          <p:nvPr/>
        </p:nvSpPr>
        <p:spPr>
          <a:xfrm>
            <a:off x="3639312"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15.3% of gross</a:t>
            </a:r>
            <a:endParaRPr lang="en-US" sz="680" dirty="0"/>
          </a:p>
        </p:txBody>
      </p:sp>
      <p:sp>
        <p:nvSpPr>
          <p:cNvPr id="34" name="Shape 32"/>
          <p:cNvSpPr/>
          <p:nvPr/>
        </p:nvSpPr>
        <p:spPr>
          <a:xfrm>
            <a:off x="5093208" y="1261872"/>
            <a:ext cx="1499616" cy="859536"/>
          </a:xfrm>
          <a:prstGeom prst="rect">
            <a:avLst/>
          </a:prstGeom>
          <a:solidFill>
            <a:srgbClr val="FFFFFF"/>
          </a:solidFill>
          <a:ln w="9525">
            <a:solidFill>
              <a:srgbClr val="C8DCD7"/>
            </a:solidFill>
            <a:prstDash val="solid"/>
          </a:ln>
        </p:spPr>
      </p:sp>
      <p:sp>
        <p:nvSpPr>
          <p:cNvPr id="35" name="Shape 33"/>
          <p:cNvSpPr/>
          <p:nvPr/>
        </p:nvSpPr>
        <p:spPr>
          <a:xfrm>
            <a:off x="5093208" y="1261872"/>
            <a:ext cx="64008" cy="859536"/>
          </a:xfrm>
          <a:prstGeom prst="rect">
            <a:avLst/>
          </a:prstGeom>
          <a:solidFill>
            <a:srgbClr val="5F716E"/>
          </a:solidFill>
          <a:ln/>
        </p:spPr>
      </p:sp>
      <p:sp>
        <p:nvSpPr>
          <p:cNvPr id="36" name="Text 34"/>
          <p:cNvSpPr/>
          <p:nvPr/>
        </p:nvSpPr>
        <p:spPr>
          <a:xfrm>
            <a:off x="5248656" y="1353312"/>
            <a:ext cx="1261872"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SHARE OF PRIMARY</a:t>
            </a:r>
            <a:endParaRPr lang="en-US" sz="680" dirty="0"/>
          </a:p>
        </p:txBody>
      </p:sp>
      <p:sp>
        <p:nvSpPr>
          <p:cNvPr id="37" name="Text 35"/>
          <p:cNvSpPr/>
          <p:nvPr/>
        </p:nvSpPr>
        <p:spPr>
          <a:xfrm>
            <a:off x="5248656" y="1536192"/>
            <a:ext cx="1261872" cy="310896"/>
          </a:xfrm>
          <a:prstGeom prst="rect">
            <a:avLst/>
          </a:prstGeom>
          <a:noFill/>
          <a:ln/>
        </p:spPr>
        <p:txBody>
          <a:bodyPr wrap="square" lIns="0" tIns="0" rIns="0" bIns="0" rtlCol="0" anchor="ctr"/>
          <a:lstStyle/>
          <a:p>
            <a:pPr indent="0" marL="0">
              <a:buNone/>
            </a:pPr>
            <a:r>
              <a:rPr lang="en-US" sz="1750" b="1" dirty="0">
                <a:solidFill>
                  <a:srgbClr val="5F716E"/>
                </a:solidFill>
                <a:latin typeface="Calibri Light" pitchFamily="34" charset="0"/>
                <a:ea typeface="Calibri Light" pitchFamily="34" charset="-122"/>
                <a:cs typeface="Calibri Light" pitchFamily="34" charset="-120"/>
              </a:rPr>
              <a:t>0.14%</a:t>
            </a:r>
            <a:endParaRPr lang="en-US" sz="1750" dirty="0"/>
          </a:p>
        </p:txBody>
      </p:sp>
      <p:sp>
        <p:nvSpPr>
          <p:cNvPr id="38" name="Text 36"/>
          <p:cNvSpPr/>
          <p:nvPr/>
        </p:nvSpPr>
        <p:spPr>
          <a:xfrm>
            <a:off x="5248656" y="1865376"/>
            <a:ext cx="1261872"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of FY27 all-channel</a:t>
            </a:r>
            <a:endParaRPr lang="en-US" sz="680" dirty="0"/>
          </a:p>
        </p:txBody>
      </p:sp>
      <p:sp>
        <p:nvSpPr>
          <p:cNvPr id="39" name="Shape 37"/>
          <p:cNvSpPr/>
          <p:nvPr/>
        </p:nvSpPr>
        <p:spPr>
          <a:xfrm>
            <a:off x="265176" y="2231136"/>
            <a:ext cx="6327648" cy="384048"/>
          </a:xfrm>
          <a:prstGeom prst="roundRect">
            <a:avLst>
              <a:gd name="adj" fmla="val 4762"/>
            </a:avLst>
          </a:prstGeom>
          <a:solidFill>
            <a:srgbClr val="DFF2ED"/>
          </a:solidFill>
          <a:ln w="9525">
            <a:solidFill>
              <a:srgbClr val="C8DCD7"/>
            </a:solidFill>
            <a:prstDash val="solid"/>
          </a:ln>
        </p:spPr>
      </p:sp>
      <p:sp>
        <p:nvSpPr>
          <p:cNvPr id="40" name="Text 38"/>
          <p:cNvSpPr/>
          <p:nvPr/>
        </p:nvSpPr>
        <p:spPr>
          <a:xfrm>
            <a:off x="374904" y="2286000"/>
            <a:ext cx="658368" cy="274320"/>
          </a:xfrm>
          <a:prstGeom prst="rect">
            <a:avLst/>
          </a:prstGeom>
          <a:noFill/>
          <a:ln/>
        </p:spPr>
        <p:txBody>
          <a:bodyPr wrap="square" lIns="0" tIns="0" rIns="0" bIns="0" rtlCol="0" anchor="ctr"/>
          <a:lstStyle/>
          <a:p>
            <a:pPr indent="0" marL="0">
              <a:buNone/>
            </a:pPr>
            <a:r>
              <a:rPr lang="en-US" sz="660" b="1" spc="40" kern="0" dirty="0">
                <a:solidFill>
                  <a:srgbClr val="116F68"/>
                </a:solidFill>
                <a:latin typeface="Calibri" pitchFamily="34" charset="0"/>
                <a:ea typeface="Calibri" pitchFamily="34" charset="-122"/>
                <a:cs typeface="Calibri" pitchFamily="34" charset="-120"/>
              </a:rPr>
              <a:t>PRIORITY</a:t>
            </a:r>
            <a:endParaRPr lang="en-US" sz="660" dirty="0"/>
          </a:p>
        </p:txBody>
      </p:sp>
      <p:sp>
        <p:nvSpPr>
          <p:cNvPr id="41" name="Text 39"/>
          <p:cNvSpPr/>
          <p:nvPr/>
        </p:nvSpPr>
        <p:spPr>
          <a:xfrm>
            <a:off x="1088136" y="2286000"/>
            <a:ext cx="5394960" cy="274320"/>
          </a:xfrm>
          <a:prstGeom prst="rect">
            <a:avLst/>
          </a:prstGeom>
          <a:noFill/>
          <a:ln/>
        </p:spPr>
        <p:txBody>
          <a:bodyPr wrap="square" lIns="0" tIns="0" rIns="0" bIns="0" rtlCol="0" anchor="ctr"/>
          <a:lstStyle/>
          <a:p>
            <a:pPr indent="0" marL="0">
              <a:buNone/>
            </a:pPr>
            <a:r>
              <a:rPr lang="en-US" sz="740" b="1" dirty="0">
                <a:solidFill>
                  <a:srgbClr val="183B39"/>
                </a:solidFill>
                <a:latin typeface="Calibri" pitchFamily="34" charset="0"/>
                <a:ea typeface="Calibri" pitchFamily="34" charset="-122"/>
                <a:cs typeface="Calibri" pitchFamily="34" charset="-120"/>
              </a:rPr>
              <a:t>Small but real — report on its own line, never inside an MT zone figure</a:t>
            </a:r>
            <a:endParaRPr lang="en-US" sz="740" dirty="0"/>
          </a:p>
        </p:txBody>
      </p:sp>
      <p:sp>
        <p:nvSpPr>
          <p:cNvPr id="42" name="Text 40"/>
          <p:cNvSpPr/>
          <p:nvPr/>
        </p:nvSpPr>
        <p:spPr>
          <a:xfrm>
            <a:off x="265176" y="2761488"/>
            <a:ext cx="3090672"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SIS primary by month (₹ Lakh, FY27)</a:t>
            </a:r>
            <a:endParaRPr lang="en-US" sz="720" dirty="0"/>
          </a:p>
        </p:txBody>
      </p:sp>
      <p:graphicFrame>
        <p:nvGraphicFramePr>
          <p:cNvPr id="43" name="Chart 0" descr=""/>
          <p:cNvGraphicFramePr/>
          <p:nvPr/>
        </p:nvGraphicFramePr>
        <p:xfrm>
          <a:off x="246888" y="2962656"/>
          <a:ext cx="3090672" cy="1700784"/>
        </p:xfrm>
        <a:graphic xmlns:a="http://schemas.openxmlformats.org/drawingml/2006/main">
          <a:graphicData uri="http://schemas.openxmlformats.org/drawingml/2006/chart">
            <c:chart xmlns:c="http://schemas.openxmlformats.org/drawingml/2006/chart" r:id="rId1"/>
          </a:graphicData>
        </a:graphic>
      </p:graphicFrame>
      <p:sp>
        <p:nvSpPr>
          <p:cNvPr id="44" name="Text 41"/>
          <p:cNvSpPr/>
          <p:nvPr/>
        </p:nvSpPr>
        <p:spPr>
          <a:xfrm>
            <a:off x="3502152" y="2761488"/>
            <a:ext cx="3090672"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SIS primary by brand (₹ Lakh, FY27)</a:t>
            </a:r>
            <a:endParaRPr lang="en-US" sz="720" dirty="0"/>
          </a:p>
        </p:txBody>
      </p:sp>
      <p:graphicFrame>
        <p:nvGraphicFramePr>
          <p:cNvPr id="45" name="Chart 1" descr=""/>
          <p:cNvGraphicFramePr/>
          <p:nvPr/>
        </p:nvGraphicFramePr>
        <p:xfrm>
          <a:off x="3483864" y="2962656"/>
          <a:ext cx="3090672" cy="1700784"/>
        </p:xfrm>
        <a:graphic xmlns:a="http://schemas.openxmlformats.org/drawingml/2006/main">
          <a:graphicData uri="http://schemas.openxmlformats.org/drawingml/2006/chart">
            <c:chart xmlns:c="http://schemas.openxmlformats.org/drawingml/2006/chart" r:id="rId2"/>
          </a:graphicData>
        </a:graphic>
      </p:graphicFrame>
      <p:sp>
        <p:nvSpPr>
          <p:cNvPr id="46" name="Shape 42"/>
          <p:cNvSpPr/>
          <p:nvPr/>
        </p:nvSpPr>
        <p:spPr>
          <a:xfrm>
            <a:off x="265176" y="4809744"/>
            <a:ext cx="6327648" cy="256032"/>
          </a:xfrm>
          <a:prstGeom prst="rect">
            <a:avLst/>
          </a:prstGeom>
          <a:solidFill>
            <a:srgbClr val="2E7DA8"/>
          </a:solidFill>
          <a:ln/>
        </p:spPr>
      </p:sp>
      <p:sp>
        <p:nvSpPr>
          <p:cNvPr id="47" name="Text 43"/>
          <p:cNvSpPr/>
          <p:nvPr/>
        </p:nvSpPr>
        <p:spPr>
          <a:xfrm>
            <a:off x="374904" y="4828032"/>
            <a:ext cx="6108192" cy="219456"/>
          </a:xfrm>
          <a:prstGeom prst="rect">
            <a:avLst/>
          </a:prstGeom>
          <a:noFill/>
          <a:ln/>
        </p:spPr>
        <p:txBody>
          <a:bodyPr wrap="square" lIns="0" tIns="0" rIns="0" bIns="0" rtlCol="0" anchor="ctr"/>
          <a:lstStyle/>
          <a:p>
            <a:pPr indent="0" marL="0">
              <a:buNone/>
            </a:pPr>
            <a:r>
              <a:rPr lang="en-US" sz="720" b="1" spc="60" kern="0" dirty="0">
                <a:solidFill>
                  <a:srgbClr val="FFFFFF"/>
                </a:solidFill>
                <a:latin typeface="Calibri" pitchFamily="34" charset="0"/>
                <a:ea typeface="Calibri" pitchFamily="34" charset="-122"/>
                <a:cs typeface="Calibri" pitchFamily="34" charset="-120"/>
              </a:rPr>
              <a:t>SIS ACCOUNTS — FY27 TO DATE</a:t>
            </a:r>
            <a:endParaRPr lang="en-US" sz="720" dirty="0"/>
          </a:p>
        </p:txBody>
      </p:sp>
      <p:sp>
        <p:nvSpPr>
          <p:cNvPr id="48" name="Shape 44"/>
          <p:cNvSpPr/>
          <p:nvPr/>
        </p:nvSpPr>
        <p:spPr>
          <a:xfrm>
            <a:off x="265176" y="5157216"/>
            <a:ext cx="6327648" cy="256032"/>
          </a:xfrm>
          <a:prstGeom prst="rect">
            <a:avLst/>
          </a:prstGeom>
          <a:solidFill>
            <a:srgbClr val="116F68"/>
          </a:solidFill>
          <a:ln/>
        </p:spPr>
      </p:sp>
      <p:sp>
        <p:nvSpPr>
          <p:cNvPr id="49" name="Text 45"/>
          <p:cNvSpPr/>
          <p:nvPr/>
        </p:nvSpPr>
        <p:spPr>
          <a:xfrm>
            <a:off x="320040" y="5175504"/>
            <a:ext cx="1698171" cy="219456"/>
          </a:xfrm>
          <a:prstGeom prst="rect">
            <a:avLst/>
          </a:prstGeom>
          <a:noFill/>
          <a:ln/>
        </p:spPr>
        <p:txBody>
          <a:bodyPr wrap="square" lIns="0" tIns="0" rIns="0" bIns="0" rtlCol="0" anchor="ctr"/>
          <a:lstStyle/>
          <a:p>
            <a:pPr algn="l" indent="0" marL="0">
              <a:buNone/>
            </a:pPr>
            <a:r>
              <a:rPr lang="en-US" sz="660" b="1" spc="40" kern="0" dirty="0">
                <a:solidFill>
                  <a:srgbClr val="FFFFFF"/>
                </a:solidFill>
                <a:latin typeface="Calibri" pitchFamily="34" charset="0"/>
                <a:ea typeface="Calibri" pitchFamily="34" charset="-122"/>
                <a:cs typeface="Calibri" pitchFamily="34" charset="-120"/>
              </a:rPr>
              <a:t>ACCOUNT</a:t>
            </a:r>
            <a:endParaRPr lang="en-US" sz="660" dirty="0"/>
          </a:p>
        </p:txBody>
      </p:sp>
      <p:sp>
        <p:nvSpPr>
          <p:cNvPr id="50" name="Text 46"/>
          <p:cNvSpPr/>
          <p:nvPr/>
        </p:nvSpPr>
        <p:spPr>
          <a:xfrm>
            <a:off x="2127939" y="5175504"/>
            <a:ext cx="1065407"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PRIMARY (₹ L)</a:t>
            </a:r>
            <a:endParaRPr lang="en-US" sz="660" dirty="0"/>
          </a:p>
        </p:txBody>
      </p:sp>
      <p:sp>
        <p:nvSpPr>
          <p:cNvPr id="51" name="Text 47"/>
          <p:cNvSpPr/>
          <p:nvPr/>
        </p:nvSpPr>
        <p:spPr>
          <a:xfrm>
            <a:off x="3303074" y="5175504"/>
            <a:ext cx="1065407"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OFFTAKE (₹ L)</a:t>
            </a:r>
            <a:endParaRPr lang="en-US" sz="660" dirty="0"/>
          </a:p>
        </p:txBody>
      </p:sp>
      <p:sp>
        <p:nvSpPr>
          <p:cNvPr id="52" name="Text 48"/>
          <p:cNvSpPr/>
          <p:nvPr/>
        </p:nvSpPr>
        <p:spPr>
          <a:xfrm>
            <a:off x="4478209" y="5175504"/>
            <a:ext cx="2059751" cy="219456"/>
          </a:xfrm>
          <a:prstGeom prst="rect">
            <a:avLst/>
          </a:prstGeom>
          <a:noFill/>
          <a:ln/>
        </p:spPr>
        <p:txBody>
          <a:bodyPr wrap="square" lIns="0" tIns="0" rIns="0" bIns="0" rtlCol="0" anchor="ctr"/>
          <a:lstStyle/>
          <a:p>
            <a:pPr algn="l" indent="0" marL="0">
              <a:buNone/>
            </a:pPr>
            <a:r>
              <a:rPr lang="en-US" sz="660" b="1" spc="40" kern="0" dirty="0">
                <a:solidFill>
                  <a:srgbClr val="FFFFFF"/>
                </a:solidFill>
                <a:latin typeface="Calibri" pitchFamily="34" charset="0"/>
                <a:ea typeface="Calibri" pitchFamily="34" charset="-122"/>
                <a:cs typeface="Calibri" pitchFamily="34" charset="-120"/>
              </a:rPr>
              <a:t>READ</a:t>
            </a:r>
            <a:endParaRPr lang="en-US" sz="660" dirty="0"/>
          </a:p>
        </p:txBody>
      </p:sp>
      <p:sp>
        <p:nvSpPr>
          <p:cNvPr id="53" name="Shape 49"/>
          <p:cNvSpPr/>
          <p:nvPr/>
        </p:nvSpPr>
        <p:spPr>
          <a:xfrm>
            <a:off x="265176" y="5413248"/>
            <a:ext cx="6327648" cy="329184"/>
          </a:xfrm>
          <a:prstGeom prst="rect">
            <a:avLst/>
          </a:prstGeom>
          <a:solidFill>
            <a:srgbClr val="F4F9F8"/>
          </a:solidFill>
          <a:ln/>
        </p:spPr>
      </p:sp>
      <p:sp>
        <p:nvSpPr>
          <p:cNvPr id="54" name="Shape 50"/>
          <p:cNvSpPr/>
          <p:nvPr/>
        </p:nvSpPr>
        <p:spPr>
          <a:xfrm>
            <a:off x="265176" y="5742432"/>
            <a:ext cx="6327648" cy="0"/>
          </a:xfrm>
          <a:prstGeom prst="line">
            <a:avLst/>
          </a:prstGeom>
          <a:noFill/>
          <a:ln w="6350">
            <a:solidFill>
              <a:srgbClr val="C8DCD7"/>
            </a:solidFill>
            <a:prstDash val="solid"/>
          </a:ln>
        </p:spPr>
      </p:sp>
      <p:sp>
        <p:nvSpPr>
          <p:cNvPr id="55" name="Text 51"/>
          <p:cNvSpPr/>
          <p:nvPr/>
        </p:nvSpPr>
        <p:spPr>
          <a:xfrm>
            <a:off x="320040" y="5413248"/>
            <a:ext cx="1698171" cy="329184"/>
          </a:xfrm>
          <a:prstGeom prst="rect">
            <a:avLst/>
          </a:prstGeom>
          <a:noFill/>
          <a:ln/>
        </p:spPr>
        <p:txBody>
          <a:bodyPr wrap="square" lIns="0" tIns="0" rIns="0" bIns="0" rtlCol="0" anchor="ctr"/>
          <a:lstStyle/>
          <a:p>
            <a:pPr algn="l" indent="0" marL="0">
              <a:buNone/>
            </a:pPr>
            <a:r>
              <a:rPr lang="en-US" sz="740" b="1" dirty="0">
                <a:solidFill>
                  <a:srgbClr val="183B39"/>
                </a:solidFill>
                <a:latin typeface="Calibri" pitchFamily="34" charset="0"/>
                <a:ea typeface="Calibri" pitchFamily="34" charset="-122"/>
                <a:cs typeface="Calibri" pitchFamily="34" charset="-120"/>
              </a:rPr>
              <a:t>Azorte</a:t>
            </a:r>
            <a:endParaRPr lang="en-US" sz="740" dirty="0"/>
          </a:p>
        </p:txBody>
      </p:sp>
      <p:sp>
        <p:nvSpPr>
          <p:cNvPr id="56" name="Text 52"/>
          <p:cNvSpPr/>
          <p:nvPr/>
        </p:nvSpPr>
        <p:spPr>
          <a:xfrm>
            <a:off x="2127939" y="5413248"/>
            <a:ext cx="1065407" cy="329184"/>
          </a:xfrm>
          <a:prstGeom prst="rect">
            <a:avLst/>
          </a:prstGeom>
          <a:noFill/>
          <a:ln/>
        </p:spPr>
        <p:txBody>
          <a:bodyPr wrap="square" lIns="0" tIns="0" rIns="0" bIns="0" rtlCol="0" anchor="ctr"/>
          <a:lstStyle/>
          <a:p>
            <a:pPr algn="r" indent="0" marL="0">
              <a:buNone/>
            </a:pPr>
            <a:r>
              <a:rPr lang="en-US" sz="740" b="1" dirty="0">
                <a:solidFill>
                  <a:srgbClr val="183B39"/>
                </a:solidFill>
                <a:latin typeface="Calibri" pitchFamily="34" charset="0"/>
                <a:ea typeface="Calibri" pitchFamily="34" charset="-122"/>
                <a:cs typeface="Calibri" pitchFamily="34" charset="-120"/>
              </a:rPr>
              <a:t>23.38</a:t>
            </a:r>
            <a:endParaRPr lang="en-US" sz="740" dirty="0"/>
          </a:p>
        </p:txBody>
      </p:sp>
      <p:sp>
        <p:nvSpPr>
          <p:cNvPr id="57" name="Text 53"/>
          <p:cNvSpPr/>
          <p:nvPr/>
        </p:nvSpPr>
        <p:spPr>
          <a:xfrm>
            <a:off x="3303074" y="5413248"/>
            <a:ext cx="1065407" cy="329184"/>
          </a:xfrm>
          <a:prstGeom prst="rect">
            <a:avLst/>
          </a:prstGeom>
          <a:noFill/>
          <a:ln/>
        </p:spPr>
        <p:txBody>
          <a:bodyPr wrap="square" lIns="0" tIns="0" rIns="0" bIns="0" rtlCol="0" anchor="ctr"/>
          <a:lstStyle/>
          <a:p>
            <a:pPr algn="r" indent="0" marL="0">
              <a:buNone/>
            </a:pPr>
            <a:r>
              <a:rPr lang="en-US" sz="740" dirty="0">
                <a:solidFill>
                  <a:srgbClr val="F2B84B"/>
                </a:solidFill>
                <a:latin typeface="Calibri" pitchFamily="34" charset="0"/>
                <a:ea typeface="Calibri" pitchFamily="34" charset="-122"/>
                <a:cs typeface="Calibri" pitchFamily="34" charset="-120"/>
              </a:rPr>
              <a:t>0.00</a:t>
            </a:r>
            <a:endParaRPr lang="en-US" sz="740" dirty="0"/>
          </a:p>
        </p:txBody>
      </p:sp>
      <p:sp>
        <p:nvSpPr>
          <p:cNvPr id="58" name="Text 54"/>
          <p:cNvSpPr/>
          <p:nvPr/>
        </p:nvSpPr>
        <p:spPr>
          <a:xfrm>
            <a:off x="4478209" y="5413248"/>
            <a:ext cx="2059751" cy="329184"/>
          </a:xfrm>
          <a:prstGeom prst="rect">
            <a:avLst/>
          </a:prstGeom>
          <a:noFill/>
          <a:ln/>
        </p:spPr>
        <p:txBody>
          <a:bodyPr wrap="square" lIns="0" tIns="0" rIns="0" bIns="0" rtlCol="0" anchor="ctr"/>
          <a:lstStyle/>
          <a:p>
            <a:pPr algn="l" indent="0" marL="0">
              <a:buNone/>
            </a:pPr>
            <a:r>
              <a:rPr lang="en-US" sz="740" dirty="0">
                <a:solidFill>
                  <a:srgbClr val="F2B84B"/>
                </a:solidFill>
                <a:latin typeface="Calibri" pitchFamily="34" charset="0"/>
                <a:ea typeface="Calibri" pitchFamily="34" charset="-122"/>
                <a:cs typeface="Calibri" pitchFamily="34" charset="-120"/>
              </a:rPr>
              <a:t>Largest SIS account; no offtake feed</a:t>
            </a:r>
            <a:endParaRPr lang="en-US" sz="740" dirty="0"/>
          </a:p>
        </p:txBody>
      </p:sp>
      <p:sp>
        <p:nvSpPr>
          <p:cNvPr id="59" name="Shape 55"/>
          <p:cNvSpPr/>
          <p:nvPr/>
        </p:nvSpPr>
        <p:spPr>
          <a:xfrm>
            <a:off x="265176" y="6071616"/>
            <a:ext cx="6327648" cy="0"/>
          </a:xfrm>
          <a:prstGeom prst="line">
            <a:avLst/>
          </a:prstGeom>
          <a:noFill/>
          <a:ln w="6350">
            <a:solidFill>
              <a:srgbClr val="C8DCD7"/>
            </a:solidFill>
            <a:prstDash val="solid"/>
          </a:ln>
        </p:spPr>
      </p:sp>
      <p:sp>
        <p:nvSpPr>
          <p:cNvPr id="60" name="Text 56"/>
          <p:cNvSpPr/>
          <p:nvPr/>
        </p:nvSpPr>
        <p:spPr>
          <a:xfrm>
            <a:off x="320040" y="5742432"/>
            <a:ext cx="1698171" cy="329184"/>
          </a:xfrm>
          <a:prstGeom prst="rect">
            <a:avLst/>
          </a:prstGeom>
          <a:noFill/>
          <a:ln/>
        </p:spPr>
        <p:txBody>
          <a:bodyPr wrap="square" lIns="0" tIns="0" rIns="0" bIns="0" rtlCol="0" anchor="ctr"/>
          <a:lstStyle/>
          <a:p>
            <a:pPr algn="l" indent="0" marL="0">
              <a:buNone/>
            </a:pPr>
            <a:r>
              <a:rPr lang="en-US" sz="740" b="1" dirty="0">
                <a:solidFill>
                  <a:srgbClr val="183B39"/>
                </a:solidFill>
                <a:latin typeface="Calibri" pitchFamily="34" charset="0"/>
                <a:ea typeface="Calibri" pitchFamily="34" charset="-122"/>
                <a:cs typeface="Calibri" pitchFamily="34" charset="-120"/>
              </a:rPr>
              <a:t>Shoppers Stop</a:t>
            </a:r>
            <a:endParaRPr lang="en-US" sz="740" dirty="0"/>
          </a:p>
        </p:txBody>
      </p:sp>
      <p:sp>
        <p:nvSpPr>
          <p:cNvPr id="61" name="Text 57"/>
          <p:cNvSpPr/>
          <p:nvPr/>
        </p:nvSpPr>
        <p:spPr>
          <a:xfrm>
            <a:off x="2127939" y="5742432"/>
            <a:ext cx="1065407" cy="329184"/>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4.87</a:t>
            </a:r>
            <a:endParaRPr lang="en-US" sz="740" dirty="0"/>
          </a:p>
        </p:txBody>
      </p:sp>
      <p:sp>
        <p:nvSpPr>
          <p:cNvPr id="62" name="Text 58"/>
          <p:cNvSpPr/>
          <p:nvPr/>
        </p:nvSpPr>
        <p:spPr>
          <a:xfrm>
            <a:off x="3303074" y="5742432"/>
            <a:ext cx="1065407" cy="329184"/>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2.00</a:t>
            </a:r>
            <a:endParaRPr lang="en-US" sz="740" dirty="0"/>
          </a:p>
        </p:txBody>
      </p:sp>
      <p:sp>
        <p:nvSpPr>
          <p:cNvPr id="63" name="Text 59"/>
          <p:cNvSpPr/>
          <p:nvPr/>
        </p:nvSpPr>
        <p:spPr>
          <a:xfrm>
            <a:off x="4478209" y="5742432"/>
            <a:ext cx="2059751" cy="329184"/>
          </a:xfrm>
          <a:prstGeom prst="rect">
            <a:avLst/>
          </a:prstGeom>
          <a:noFill/>
          <a:ln/>
        </p:spPr>
        <p:txBody>
          <a:bodyPr wrap="square" lIns="0" tIns="0" rIns="0" bIns="0" rtlCol="0" anchor="ctr"/>
          <a:lstStyle/>
          <a:p>
            <a:pPr algn="l" indent="0" marL="0">
              <a:buNone/>
            </a:pPr>
            <a:r>
              <a:rPr lang="en-US" sz="740" dirty="0">
                <a:solidFill>
                  <a:srgbClr val="183B39"/>
                </a:solidFill>
                <a:latin typeface="Calibri" pitchFamily="34" charset="0"/>
                <a:ea typeface="Calibri" pitchFamily="34" charset="-122"/>
                <a:cs typeface="Calibri" pitchFamily="34" charset="-120"/>
              </a:rPr>
              <a:t>Only account with both sides mapped</a:t>
            </a:r>
            <a:endParaRPr lang="en-US" sz="740" dirty="0"/>
          </a:p>
        </p:txBody>
      </p:sp>
      <p:sp>
        <p:nvSpPr>
          <p:cNvPr id="64" name="Shape 60"/>
          <p:cNvSpPr/>
          <p:nvPr/>
        </p:nvSpPr>
        <p:spPr>
          <a:xfrm>
            <a:off x="265176" y="6071616"/>
            <a:ext cx="6327648" cy="329184"/>
          </a:xfrm>
          <a:prstGeom prst="rect">
            <a:avLst/>
          </a:prstGeom>
          <a:solidFill>
            <a:srgbClr val="F4F9F8"/>
          </a:solidFill>
          <a:ln/>
        </p:spPr>
      </p:sp>
      <p:sp>
        <p:nvSpPr>
          <p:cNvPr id="65" name="Shape 61"/>
          <p:cNvSpPr/>
          <p:nvPr/>
        </p:nvSpPr>
        <p:spPr>
          <a:xfrm>
            <a:off x="265176" y="6400800"/>
            <a:ext cx="6327648" cy="0"/>
          </a:xfrm>
          <a:prstGeom prst="line">
            <a:avLst/>
          </a:prstGeom>
          <a:noFill/>
          <a:ln w="6350">
            <a:solidFill>
              <a:srgbClr val="C8DCD7"/>
            </a:solidFill>
            <a:prstDash val="solid"/>
          </a:ln>
        </p:spPr>
      </p:sp>
      <p:sp>
        <p:nvSpPr>
          <p:cNvPr id="66" name="Text 62"/>
          <p:cNvSpPr/>
          <p:nvPr/>
        </p:nvSpPr>
        <p:spPr>
          <a:xfrm>
            <a:off x="320040" y="6071616"/>
            <a:ext cx="1698171" cy="329184"/>
          </a:xfrm>
          <a:prstGeom prst="rect">
            <a:avLst/>
          </a:prstGeom>
          <a:noFill/>
          <a:ln/>
        </p:spPr>
        <p:txBody>
          <a:bodyPr wrap="square" lIns="0" tIns="0" rIns="0" bIns="0" rtlCol="0" anchor="ctr"/>
          <a:lstStyle/>
          <a:p>
            <a:pPr algn="l" indent="0" marL="0">
              <a:buNone/>
            </a:pPr>
            <a:r>
              <a:rPr lang="en-US" sz="740" b="1" dirty="0">
                <a:solidFill>
                  <a:srgbClr val="183B39"/>
                </a:solidFill>
                <a:latin typeface="Calibri" pitchFamily="34" charset="0"/>
                <a:ea typeface="Calibri" pitchFamily="34" charset="-122"/>
                <a:cs typeface="Calibri" pitchFamily="34" charset="-120"/>
              </a:rPr>
              <a:t>Broadway</a:t>
            </a:r>
            <a:endParaRPr lang="en-US" sz="740" dirty="0"/>
          </a:p>
        </p:txBody>
      </p:sp>
      <p:sp>
        <p:nvSpPr>
          <p:cNvPr id="67" name="Text 63"/>
          <p:cNvSpPr/>
          <p:nvPr/>
        </p:nvSpPr>
        <p:spPr>
          <a:xfrm>
            <a:off x="2127939" y="6071616"/>
            <a:ext cx="1065407" cy="329184"/>
          </a:xfrm>
          <a:prstGeom prst="rect">
            <a:avLst/>
          </a:prstGeom>
          <a:noFill/>
          <a:ln/>
        </p:spPr>
        <p:txBody>
          <a:bodyPr wrap="square" lIns="0" tIns="0" rIns="0" bIns="0" rtlCol="0" anchor="ctr"/>
          <a:lstStyle/>
          <a:p>
            <a:pPr algn="r" indent="0" marL="0">
              <a:buNone/>
            </a:pPr>
            <a:r>
              <a:rPr lang="en-US" sz="740" dirty="0">
                <a:solidFill>
                  <a:srgbClr val="D6544D"/>
                </a:solidFill>
                <a:latin typeface="Calibri" pitchFamily="34" charset="0"/>
                <a:ea typeface="Calibri" pitchFamily="34" charset="-122"/>
                <a:cs typeface="Calibri" pitchFamily="34" charset="-120"/>
              </a:rPr>
              <a:t>−1.73</a:t>
            </a:r>
            <a:endParaRPr lang="en-US" sz="740" dirty="0"/>
          </a:p>
        </p:txBody>
      </p:sp>
      <p:sp>
        <p:nvSpPr>
          <p:cNvPr id="68" name="Text 64"/>
          <p:cNvSpPr/>
          <p:nvPr/>
        </p:nvSpPr>
        <p:spPr>
          <a:xfrm>
            <a:off x="3303074" y="6071616"/>
            <a:ext cx="1065407" cy="329184"/>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0.48</a:t>
            </a:r>
            <a:endParaRPr lang="en-US" sz="740" dirty="0"/>
          </a:p>
        </p:txBody>
      </p:sp>
      <p:sp>
        <p:nvSpPr>
          <p:cNvPr id="69" name="Text 65"/>
          <p:cNvSpPr/>
          <p:nvPr/>
        </p:nvSpPr>
        <p:spPr>
          <a:xfrm>
            <a:off x="4478209" y="6071616"/>
            <a:ext cx="2059751" cy="329184"/>
          </a:xfrm>
          <a:prstGeom prst="rect">
            <a:avLst/>
          </a:prstGeom>
          <a:noFill/>
          <a:ln/>
        </p:spPr>
        <p:txBody>
          <a:bodyPr wrap="square" lIns="0" tIns="0" rIns="0" bIns="0" rtlCol="0" anchor="ctr"/>
          <a:lstStyle/>
          <a:p>
            <a:pPr algn="l" indent="0" marL="0">
              <a:buNone/>
            </a:pPr>
            <a:r>
              <a:rPr lang="en-US" sz="740" dirty="0">
                <a:solidFill>
                  <a:srgbClr val="D6544D"/>
                </a:solidFill>
                <a:latin typeface="Calibri" pitchFamily="34" charset="0"/>
                <a:ea typeface="Calibri" pitchFamily="34" charset="-122"/>
                <a:cs typeface="Calibri" pitchFamily="34" charset="-120"/>
              </a:rPr>
              <a:t>Net negative — returns exceed billing</a:t>
            </a:r>
            <a:endParaRPr lang="en-US" sz="740" dirty="0"/>
          </a:p>
        </p:txBody>
      </p:sp>
      <p:sp>
        <p:nvSpPr>
          <p:cNvPr id="70" name="Shape 66"/>
          <p:cNvSpPr/>
          <p:nvPr/>
        </p:nvSpPr>
        <p:spPr>
          <a:xfrm>
            <a:off x="265176" y="6729984"/>
            <a:ext cx="6327648" cy="0"/>
          </a:xfrm>
          <a:prstGeom prst="line">
            <a:avLst/>
          </a:prstGeom>
          <a:noFill/>
          <a:ln w="6350">
            <a:solidFill>
              <a:srgbClr val="C8DCD7"/>
            </a:solidFill>
            <a:prstDash val="solid"/>
          </a:ln>
        </p:spPr>
      </p:sp>
      <p:sp>
        <p:nvSpPr>
          <p:cNvPr id="71" name="Text 67"/>
          <p:cNvSpPr/>
          <p:nvPr/>
        </p:nvSpPr>
        <p:spPr>
          <a:xfrm>
            <a:off x="320040" y="6400800"/>
            <a:ext cx="1698171" cy="329184"/>
          </a:xfrm>
          <a:prstGeom prst="rect">
            <a:avLst/>
          </a:prstGeom>
          <a:noFill/>
          <a:ln/>
        </p:spPr>
        <p:txBody>
          <a:bodyPr wrap="square" lIns="0" tIns="0" rIns="0" bIns="0" rtlCol="0" anchor="ctr"/>
          <a:lstStyle/>
          <a:p>
            <a:pPr algn="l" indent="0" marL="0">
              <a:buNone/>
            </a:pPr>
            <a:r>
              <a:rPr lang="en-US" sz="740" b="1" dirty="0">
                <a:solidFill>
                  <a:srgbClr val="183B39"/>
                </a:solidFill>
                <a:latin typeface="Calibri" pitchFamily="34" charset="0"/>
                <a:ea typeface="Calibri" pitchFamily="34" charset="-122"/>
                <a:cs typeface="Calibri" pitchFamily="34" charset="-120"/>
              </a:rPr>
              <a:t>Lifestyle</a:t>
            </a:r>
            <a:endParaRPr lang="en-US" sz="740" dirty="0"/>
          </a:p>
        </p:txBody>
      </p:sp>
      <p:sp>
        <p:nvSpPr>
          <p:cNvPr id="72" name="Text 68"/>
          <p:cNvSpPr/>
          <p:nvPr/>
        </p:nvSpPr>
        <p:spPr>
          <a:xfrm>
            <a:off x="2127939" y="6400800"/>
            <a:ext cx="1065407" cy="329184"/>
          </a:xfrm>
          <a:prstGeom prst="rect">
            <a:avLst/>
          </a:prstGeom>
          <a:noFill/>
          <a:ln/>
        </p:spPr>
        <p:txBody>
          <a:bodyPr wrap="square" lIns="0" tIns="0" rIns="0" bIns="0" rtlCol="0" anchor="ctr"/>
          <a:lstStyle/>
          <a:p>
            <a:pPr algn="r" indent="0" marL="0">
              <a:buNone/>
            </a:pPr>
            <a:r>
              <a:rPr lang="en-US" sz="740" dirty="0">
                <a:solidFill>
                  <a:srgbClr val="5F716E"/>
                </a:solidFill>
                <a:latin typeface="Calibri" pitchFamily="34" charset="0"/>
                <a:ea typeface="Calibri" pitchFamily="34" charset="-122"/>
                <a:cs typeface="Calibri" pitchFamily="34" charset="-120"/>
              </a:rPr>
              <a:t>not billed</a:t>
            </a:r>
            <a:endParaRPr lang="en-US" sz="740" dirty="0"/>
          </a:p>
        </p:txBody>
      </p:sp>
      <p:sp>
        <p:nvSpPr>
          <p:cNvPr id="73" name="Text 69"/>
          <p:cNvSpPr/>
          <p:nvPr/>
        </p:nvSpPr>
        <p:spPr>
          <a:xfrm>
            <a:off x="3303074" y="6400800"/>
            <a:ext cx="1065407" cy="329184"/>
          </a:xfrm>
          <a:prstGeom prst="rect">
            <a:avLst/>
          </a:prstGeom>
          <a:noFill/>
          <a:ln/>
        </p:spPr>
        <p:txBody>
          <a:bodyPr wrap="square" lIns="0" tIns="0" rIns="0" bIns="0" rtlCol="0" anchor="ctr"/>
          <a:lstStyle/>
          <a:p>
            <a:pPr algn="r" indent="0" marL="0">
              <a:buNone/>
            </a:pPr>
            <a:r>
              <a:rPr lang="en-US" sz="740" dirty="0">
                <a:solidFill>
                  <a:srgbClr val="183B39"/>
                </a:solidFill>
                <a:latin typeface="Calibri" pitchFamily="34" charset="0"/>
                <a:ea typeface="Calibri" pitchFamily="34" charset="-122"/>
                <a:cs typeface="Calibri" pitchFamily="34" charset="-120"/>
              </a:rPr>
              <a:t>1.13</a:t>
            </a:r>
            <a:endParaRPr lang="en-US" sz="740" dirty="0"/>
          </a:p>
        </p:txBody>
      </p:sp>
      <p:sp>
        <p:nvSpPr>
          <p:cNvPr id="74" name="Text 70"/>
          <p:cNvSpPr/>
          <p:nvPr/>
        </p:nvSpPr>
        <p:spPr>
          <a:xfrm>
            <a:off x="4478209" y="6400800"/>
            <a:ext cx="2059751" cy="329184"/>
          </a:xfrm>
          <a:prstGeom prst="rect">
            <a:avLst/>
          </a:prstGeom>
          <a:noFill/>
          <a:ln/>
        </p:spPr>
        <p:txBody>
          <a:bodyPr wrap="square" lIns="0" tIns="0" rIns="0" bIns="0" rtlCol="0" anchor="ctr"/>
          <a:lstStyle/>
          <a:p>
            <a:pPr algn="l" indent="0" marL="0">
              <a:buNone/>
            </a:pPr>
            <a:r>
              <a:rPr lang="en-US" sz="740" dirty="0">
                <a:solidFill>
                  <a:srgbClr val="F2B84B"/>
                </a:solidFill>
                <a:latin typeface="Calibri" pitchFamily="34" charset="0"/>
                <a:ea typeface="Calibri" pitchFamily="34" charset="-122"/>
                <a:cs typeface="Calibri" pitchFamily="34" charset="-120"/>
              </a:rPr>
              <a:t>Offtake with no SIS primary</a:t>
            </a:r>
            <a:endParaRPr lang="en-US" sz="740" dirty="0"/>
          </a:p>
        </p:txBody>
      </p:sp>
      <p:sp>
        <p:nvSpPr>
          <p:cNvPr id="75" name="Shape 71"/>
          <p:cNvSpPr/>
          <p:nvPr/>
        </p:nvSpPr>
        <p:spPr>
          <a:xfrm>
            <a:off x="265176" y="6729984"/>
            <a:ext cx="6327648" cy="329184"/>
          </a:xfrm>
          <a:prstGeom prst="rect">
            <a:avLst/>
          </a:prstGeom>
          <a:solidFill>
            <a:srgbClr val="F4F9F8"/>
          </a:solidFill>
          <a:ln/>
        </p:spPr>
      </p:sp>
      <p:sp>
        <p:nvSpPr>
          <p:cNvPr id="76" name="Shape 72"/>
          <p:cNvSpPr/>
          <p:nvPr/>
        </p:nvSpPr>
        <p:spPr>
          <a:xfrm>
            <a:off x="265176" y="7059168"/>
            <a:ext cx="6327648" cy="0"/>
          </a:xfrm>
          <a:prstGeom prst="line">
            <a:avLst/>
          </a:prstGeom>
          <a:noFill/>
          <a:ln w="6350">
            <a:solidFill>
              <a:srgbClr val="C8DCD7"/>
            </a:solidFill>
            <a:prstDash val="solid"/>
          </a:ln>
        </p:spPr>
      </p:sp>
      <p:sp>
        <p:nvSpPr>
          <p:cNvPr id="77" name="Text 73"/>
          <p:cNvSpPr/>
          <p:nvPr/>
        </p:nvSpPr>
        <p:spPr>
          <a:xfrm>
            <a:off x="320040" y="6729984"/>
            <a:ext cx="1698171" cy="329184"/>
          </a:xfrm>
          <a:prstGeom prst="rect">
            <a:avLst/>
          </a:prstGeom>
          <a:noFill/>
          <a:ln/>
        </p:spPr>
        <p:txBody>
          <a:bodyPr wrap="square" lIns="0" tIns="0" rIns="0" bIns="0" rtlCol="0" anchor="ctr"/>
          <a:lstStyle/>
          <a:p>
            <a:pPr algn="l" indent="0" marL="0">
              <a:buNone/>
            </a:pPr>
            <a:r>
              <a:rPr lang="en-US" sz="740" b="1" dirty="0">
                <a:solidFill>
                  <a:srgbClr val="183B39"/>
                </a:solidFill>
                <a:latin typeface="Calibri" pitchFamily="34" charset="0"/>
                <a:ea typeface="Calibri" pitchFamily="34" charset="-122"/>
                <a:cs typeface="Calibri" pitchFamily="34" charset="-120"/>
              </a:rPr>
              <a:t>Today's Basket</a:t>
            </a:r>
            <a:endParaRPr lang="en-US" sz="740" dirty="0"/>
          </a:p>
        </p:txBody>
      </p:sp>
      <p:sp>
        <p:nvSpPr>
          <p:cNvPr id="78" name="Text 74"/>
          <p:cNvSpPr/>
          <p:nvPr/>
        </p:nvSpPr>
        <p:spPr>
          <a:xfrm>
            <a:off x="2127939" y="6729984"/>
            <a:ext cx="1065407" cy="329184"/>
          </a:xfrm>
          <a:prstGeom prst="rect">
            <a:avLst/>
          </a:prstGeom>
          <a:noFill/>
          <a:ln/>
        </p:spPr>
        <p:txBody>
          <a:bodyPr wrap="square" lIns="0" tIns="0" rIns="0" bIns="0" rtlCol="0" anchor="ctr"/>
          <a:lstStyle/>
          <a:p>
            <a:pPr algn="r" indent="0" marL="0">
              <a:buNone/>
            </a:pPr>
            <a:r>
              <a:rPr lang="en-US" sz="740" dirty="0">
                <a:solidFill>
                  <a:srgbClr val="5F716E"/>
                </a:solidFill>
                <a:latin typeface="Calibri" pitchFamily="34" charset="0"/>
                <a:ea typeface="Calibri" pitchFamily="34" charset="-122"/>
                <a:cs typeface="Calibri" pitchFamily="34" charset="-120"/>
              </a:rPr>
              <a:t>nil in FY27</a:t>
            </a:r>
            <a:endParaRPr lang="en-US" sz="740" dirty="0"/>
          </a:p>
        </p:txBody>
      </p:sp>
      <p:sp>
        <p:nvSpPr>
          <p:cNvPr id="79" name="Text 75"/>
          <p:cNvSpPr/>
          <p:nvPr/>
        </p:nvSpPr>
        <p:spPr>
          <a:xfrm>
            <a:off x="3303074" y="6729984"/>
            <a:ext cx="1065407" cy="329184"/>
          </a:xfrm>
          <a:prstGeom prst="rect">
            <a:avLst/>
          </a:prstGeom>
          <a:noFill/>
          <a:ln/>
        </p:spPr>
        <p:txBody>
          <a:bodyPr wrap="square" lIns="0" tIns="0" rIns="0" bIns="0" rtlCol="0" anchor="ctr"/>
          <a:lstStyle/>
          <a:p>
            <a:pPr algn="r" indent="0" marL="0">
              <a:buNone/>
            </a:pPr>
            <a:r>
              <a:rPr lang="en-US" sz="740" dirty="0">
                <a:solidFill>
                  <a:srgbClr val="5F716E"/>
                </a:solidFill>
                <a:latin typeface="Calibri" pitchFamily="34" charset="0"/>
                <a:ea typeface="Calibri" pitchFamily="34" charset="-122"/>
                <a:cs typeface="Calibri" pitchFamily="34" charset="-120"/>
              </a:rPr>
              <a:t>—</a:t>
            </a:r>
            <a:endParaRPr lang="en-US" sz="740" dirty="0"/>
          </a:p>
        </p:txBody>
      </p:sp>
      <p:sp>
        <p:nvSpPr>
          <p:cNvPr id="80" name="Text 76"/>
          <p:cNvSpPr/>
          <p:nvPr/>
        </p:nvSpPr>
        <p:spPr>
          <a:xfrm>
            <a:off x="4478209" y="6729984"/>
            <a:ext cx="2059751" cy="329184"/>
          </a:xfrm>
          <a:prstGeom prst="rect">
            <a:avLst/>
          </a:prstGeom>
          <a:noFill/>
          <a:ln/>
        </p:spPr>
        <p:txBody>
          <a:bodyPr wrap="square" lIns="0" tIns="0" rIns="0" bIns="0" rtlCol="0" anchor="ctr"/>
          <a:lstStyle/>
          <a:p>
            <a:pPr algn="l" indent="0" marL="0">
              <a:buNone/>
            </a:pPr>
            <a:r>
              <a:rPr lang="en-US" sz="740" dirty="0">
                <a:solidFill>
                  <a:srgbClr val="5F716E"/>
                </a:solidFill>
                <a:latin typeface="Calibri" pitchFamily="34" charset="0"/>
                <a:ea typeface="Calibri" pitchFamily="34" charset="-122"/>
                <a:cs typeface="Calibri" pitchFamily="34" charset="-120"/>
              </a:rPr>
              <a:t>FY26 account, dormant in FY27</a:t>
            </a:r>
            <a:endParaRPr lang="en-US" sz="740" dirty="0"/>
          </a:p>
        </p:txBody>
      </p:sp>
      <p:sp>
        <p:nvSpPr>
          <p:cNvPr id="81" name="Shape 77"/>
          <p:cNvSpPr/>
          <p:nvPr/>
        </p:nvSpPr>
        <p:spPr>
          <a:xfrm>
            <a:off x="265176" y="7242048"/>
            <a:ext cx="2036064" cy="2103120"/>
          </a:xfrm>
          <a:prstGeom prst="roundRect">
            <a:avLst>
              <a:gd name="adj" fmla="val 898"/>
            </a:avLst>
          </a:prstGeom>
          <a:solidFill>
            <a:srgbClr val="FFFFFF"/>
          </a:solidFill>
          <a:ln w="9525">
            <a:solidFill>
              <a:srgbClr val="C8DCD7"/>
            </a:solidFill>
            <a:prstDash val="solid"/>
          </a:ln>
        </p:spPr>
      </p:sp>
      <p:sp>
        <p:nvSpPr>
          <p:cNvPr id="82" name="Shape 78"/>
          <p:cNvSpPr/>
          <p:nvPr/>
        </p:nvSpPr>
        <p:spPr>
          <a:xfrm>
            <a:off x="265176" y="7242048"/>
            <a:ext cx="2036064" cy="274320"/>
          </a:xfrm>
          <a:prstGeom prst="rect">
            <a:avLst/>
          </a:prstGeom>
          <a:solidFill>
            <a:srgbClr val="D6544D"/>
          </a:solidFill>
          <a:ln/>
        </p:spPr>
      </p:sp>
      <p:sp>
        <p:nvSpPr>
          <p:cNvPr id="83" name="Text 79"/>
          <p:cNvSpPr/>
          <p:nvPr/>
        </p:nvSpPr>
        <p:spPr>
          <a:xfrm>
            <a:off x="347472" y="7260336"/>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WHY IT LEFT MT</a:t>
            </a:r>
            <a:endParaRPr lang="en-US" sz="700" dirty="0"/>
          </a:p>
        </p:txBody>
      </p:sp>
      <p:sp>
        <p:nvSpPr>
          <p:cNvPr id="84" name="Text 80"/>
          <p:cNvSpPr/>
          <p:nvPr/>
        </p:nvSpPr>
        <p:spPr>
          <a:xfrm>
            <a:off x="356616" y="7607808"/>
            <a:ext cx="1853184" cy="329184"/>
          </a:xfrm>
          <a:prstGeom prst="rect">
            <a:avLst/>
          </a:prstGeom>
          <a:noFill/>
          <a:ln/>
        </p:spPr>
        <p:txBody>
          <a:bodyPr wrap="square" lIns="0" tIns="0" rIns="0" bIns="0" rtlCol="0" anchor="t"/>
          <a:lstStyle/>
          <a:p>
            <a:pPr algn="ctr" indent="0" marL="0">
              <a:buNone/>
            </a:pPr>
            <a:r>
              <a:rPr lang="en-US" sz="1500" b="1" dirty="0">
                <a:solidFill>
                  <a:srgbClr val="D6544D"/>
                </a:solidFill>
                <a:latin typeface="Calibri Light" pitchFamily="34" charset="0"/>
                <a:ea typeface="Calibri Light" pitchFamily="34" charset="-122"/>
                <a:cs typeface="Calibri Light" pitchFamily="34" charset="-120"/>
              </a:rPr>
              <a:t>₹0.04 Cr</a:t>
            </a:r>
            <a:endParaRPr lang="en-US" sz="1500" dirty="0"/>
          </a:p>
        </p:txBody>
      </p:sp>
      <p:sp>
        <p:nvSpPr>
          <p:cNvPr id="85" name="Text 81"/>
          <p:cNvSpPr/>
          <p:nvPr/>
        </p:nvSpPr>
        <p:spPr>
          <a:xfrm>
            <a:off x="356616" y="7955280"/>
            <a:ext cx="1853184" cy="164592"/>
          </a:xfrm>
          <a:prstGeom prst="rect">
            <a:avLst/>
          </a:prstGeom>
          <a:noFill/>
          <a:ln/>
        </p:spPr>
        <p:txBody>
          <a:bodyPr wrap="square" lIns="0" tIns="0" rIns="0" bIns="0" rtlCol="0" anchor="t"/>
          <a:lstStyle/>
          <a:p>
            <a:pPr algn="ctr" indent="0" marL="0">
              <a:buNone/>
            </a:pPr>
            <a:r>
              <a:rPr lang="en-US" sz="660" dirty="0">
                <a:solidFill>
                  <a:srgbClr val="5F716E"/>
                </a:solidFill>
                <a:latin typeface="Calibri" pitchFamily="34" charset="0"/>
                <a:ea typeface="Calibri" pitchFamily="34" charset="-122"/>
                <a:cs typeface="Calibri" pitchFamily="34" charset="-120"/>
              </a:rPr>
              <a:t>SIS offtake sitting in MT zones</a:t>
            </a:r>
            <a:endParaRPr lang="en-US" sz="660" dirty="0"/>
          </a:p>
        </p:txBody>
      </p:sp>
      <p:sp>
        <p:nvSpPr>
          <p:cNvPr id="86" name="Shape 82"/>
          <p:cNvSpPr/>
          <p:nvPr/>
        </p:nvSpPr>
        <p:spPr>
          <a:xfrm>
            <a:off x="374904" y="8225028"/>
            <a:ext cx="50292" cy="50292"/>
          </a:xfrm>
          <a:prstGeom prst="ellipse">
            <a:avLst/>
          </a:prstGeom>
          <a:solidFill>
            <a:srgbClr val="D6544D"/>
          </a:solidFill>
          <a:ln/>
        </p:spPr>
      </p:sp>
      <p:sp>
        <p:nvSpPr>
          <p:cNvPr id="87" name="Text 83"/>
          <p:cNvSpPr/>
          <p:nvPr/>
        </p:nvSpPr>
        <p:spPr>
          <a:xfrm>
            <a:off x="493776" y="8174736"/>
            <a:ext cx="1697736" cy="365760"/>
          </a:xfrm>
          <a:prstGeom prst="rect">
            <a:avLst/>
          </a:prstGeom>
          <a:noFill/>
          <a:ln/>
        </p:spPr>
        <p:txBody>
          <a:bodyPr wrap="square" lIns="0" tIns="0" rIns="0" bIns="0" rtlCol="0" anchor="t"/>
          <a:lstStyle/>
          <a:p>
            <a:pPr indent="0" marL="0">
              <a:lnSpc>
                <a:spcPct val="92000"/>
              </a:lnSpc>
              <a:buNone/>
            </a:pPr>
            <a:r>
              <a:rPr lang="en-US" sz="690" b="1" dirty="0">
                <a:solidFill>
                  <a:srgbClr val="183B39"/>
                </a:solidFill>
                <a:latin typeface="Calibri" pitchFamily="34" charset="0"/>
                <a:ea typeface="Calibri" pitchFamily="34" charset="-122"/>
                <a:cs typeface="Calibri" pitchFamily="34" charset="-120"/>
              </a:rPr>
              <a:t>Shoppers Stop, Lifestyle and Broadway offtake was inside the six geographic zones.</a:t>
            </a:r>
            <a:endParaRPr lang="en-US" sz="690" dirty="0"/>
          </a:p>
        </p:txBody>
      </p:sp>
      <p:sp>
        <p:nvSpPr>
          <p:cNvPr id="88" name="Shape 84"/>
          <p:cNvSpPr/>
          <p:nvPr/>
        </p:nvSpPr>
        <p:spPr>
          <a:xfrm>
            <a:off x="374904" y="8609076"/>
            <a:ext cx="50292" cy="50292"/>
          </a:xfrm>
          <a:prstGeom prst="ellipse">
            <a:avLst/>
          </a:prstGeom>
          <a:solidFill>
            <a:srgbClr val="D6544D"/>
          </a:solidFill>
          <a:ln/>
        </p:spPr>
      </p:sp>
      <p:sp>
        <p:nvSpPr>
          <p:cNvPr id="89" name="Text 85"/>
          <p:cNvSpPr/>
          <p:nvPr/>
        </p:nvSpPr>
        <p:spPr>
          <a:xfrm>
            <a:off x="493776" y="8558784"/>
            <a:ext cx="1697736" cy="365760"/>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It is 0.02% of national offtake — immaterial in value, wrong in principle.</a:t>
            </a:r>
            <a:endParaRPr lang="en-US" sz="690" dirty="0"/>
          </a:p>
        </p:txBody>
      </p:sp>
      <p:sp>
        <p:nvSpPr>
          <p:cNvPr id="90" name="Shape 86"/>
          <p:cNvSpPr/>
          <p:nvPr/>
        </p:nvSpPr>
        <p:spPr>
          <a:xfrm>
            <a:off x="374904" y="8993124"/>
            <a:ext cx="50292" cy="50292"/>
          </a:xfrm>
          <a:prstGeom prst="ellipse">
            <a:avLst/>
          </a:prstGeom>
          <a:solidFill>
            <a:srgbClr val="D6544D"/>
          </a:solidFill>
          <a:ln/>
        </p:spPr>
      </p:sp>
      <p:sp>
        <p:nvSpPr>
          <p:cNvPr id="91" name="Text 87"/>
          <p:cNvSpPr/>
          <p:nvPr/>
        </p:nvSpPr>
        <p:spPr>
          <a:xfrm>
            <a:off x="493776" y="8942832"/>
            <a:ext cx="1697736" cy="365760"/>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Moved to this channel; MT zone offtake is now SIS-free.</a:t>
            </a:r>
            <a:endParaRPr lang="en-US" sz="690" dirty="0"/>
          </a:p>
        </p:txBody>
      </p:sp>
      <p:sp>
        <p:nvSpPr>
          <p:cNvPr id="92" name="Shape 88"/>
          <p:cNvSpPr/>
          <p:nvPr/>
        </p:nvSpPr>
        <p:spPr>
          <a:xfrm>
            <a:off x="2410968" y="7242048"/>
            <a:ext cx="2036064" cy="2103120"/>
          </a:xfrm>
          <a:prstGeom prst="roundRect">
            <a:avLst>
              <a:gd name="adj" fmla="val 898"/>
            </a:avLst>
          </a:prstGeom>
          <a:solidFill>
            <a:srgbClr val="FFFFFF"/>
          </a:solidFill>
          <a:ln w="9525">
            <a:solidFill>
              <a:srgbClr val="C8DCD7"/>
            </a:solidFill>
            <a:prstDash val="solid"/>
          </a:ln>
        </p:spPr>
      </p:sp>
      <p:sp>
        <p:nvSpPr>
          <p:cNvPr id="93" name="Shape 89"/>
          <p:cNvSpPr/>
          <p:nvPr/>
        </p:nvSpPr>
        <p:spPr>
          <a:xfrm>
            <a:off x="2410968" y="7242048"/>
            <a:ext cx="2036064" cy="274320"/>
          </a:xfrm>
          <a:prstGeom prst="rect">
            <a:avLst/>
          </a:prstGeom>
          <a:solidFill>
            <a:srgbClr val="F2B84B"/>
          </a:solidFill>
          <a:ln/>
        </p:spPr>
      </p:sp>
      <p:sp>
        <p:nvSpPr>
          <p:cNvPr id="94" name="Text 90"/>
          <p:cNvSpPr/>
          <p:nvPr/>
        </p:nvSpPr>
        <p:spPr>
          <a:xfrm>
            <a:off x="2493264" y="7260336"/>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READ RETURNS FIRST</a:t>
            </a:r>
            <a:endParaRPr lang="en-US" sz="700" dirty="0"/>
          </a:p>
        </p:txBody>
      </p:sp>
      <p:sp>
        <p:nvSpPr>
          <p:cNvPr id="95" name="Text 91"/>
          <p:cNvSpPr/>
          <p:nvPr/>
        </p:nvSpPr>
        <p:spPr>
          <a:xfrm>
            <a:off x="2502408" y="7607808"/>
            <a:ext cx="1853184" cy="329184"/>
          </a:xfrm>
          <a:prstGeom prst="rect">
            <a:avLst/>
          </a:prstGeom>
          <a:noFill/>
          <a:ln/>
        </p:spPr>
        <p:txBody>
          <a:bodyPr wrap="square" lIns="0" tIns="0" rIns="0" bIns="0" rtlCol="0" anchor="t"/>
          <a:lstStyle/>
          <a:p>
            <a:pPr algn="ctr" indent="0" marL="0">
              <a:buNone/>
            </a:pPr>
            <a:r>
              <a:rPr lang="en-US" sz="1500" b="1" dirty="0">
                <a:solidFill>
                  <a:srgbClr val="F2B84B"/>
                </a:solidFill>
                <a:latin typeface="Calibri Light" pitchFamily="34" charset="0"/>
                <a:ea typeface="Calibri Light" pitchFamily="34" charset="-122"/>
                <a:cs typeface="Calibri Light" pitchFamily="34" charset="-120"/>
              </a:rPr>
              <a:t>15.3%</a:t>
            </a:r>
            <a:endParaRPr lang="en-US" sz="1500" dirty="0"/>
          </a:p>
        </p:txBody>
      </p:sp>
      <p:sp>
        <p:nvSpPr>
          <p:cNvPr id="96" name="Text 92"/>
          <p:cNvSpPr/>
          <p:nvPr/>
        </p:nvSpPr>
        <p:spPr>
          <a:xfrm>
            <a:off x="2502408" y="7955280"/>
            <a:ext cx="1853184" cy="164592"/>
          </a:xfrm>
          <a:prstGeom prst="rect">
            <a:avLst/>
          </a:prstGeom>
          <a:noFill/>
          <a:ln/>
        </p:spPr>
        <p:txBody>
          <a:bodyPr wrap="square" lIns="0" tIns="0" rIns="0" bIns="0" rtlCol="0" anchor="t"/>
          <a:lstStyle/>
          <a:p>
            <a:pPr algn="ctr" indent="0" marL="0">
              <a:buNone/>
            </a:pPr>
            <a:r>
              <a:rPr lang="en-US" sz="660" dirty="0">
                <a:solidFill>
                  <a:srgbClr val="5F716E"/>
                </a:solidFill>
                <a:latin typeface="Calibri" pitchFamily="34" charset="0"/>
                <a:ea typeface="Calibri" pitchFamily="34" charset="-122"/>
                <a:cs typeface="Calibri" pitchFamily="34" charset="-120"/>
              </a:rPr>
              <a:t>MRN as a share of gross</a:t>
            </a:r>
            <a:endParaRPr lang="en-US" sz="660" dirty="0"/>
          </a:p>
        </p:txBody>
      </p:sp>
      <p:sp>
        <p:nvSpPr>
          <p:cNvPr id="97" name="Shape 93"/>
          <p:cNvSpPr/>
          <p:nvPr/>
        </p:nvSpPr>
        <p:spPr>
          <a:xfrm>
            <a:off x="2520696" y="8225028"/>
            <a:ext cx="50292" cy="50292"/>
          </a:xfrm>
          <a:prstGeom prst="ellipse">
            <a:avLst/>
          </a:prstGeom>
          <a:solidFill>
            <a:srgbClr val="F2B84B"/>
          </a:solidFill>
          <a:ln/>
        </p:spPr>
      </p:sp>
      <p:sp>
        <p:nvSpPr>
          <p:cNvPr id="98" name="Text 94"/>
          <p:cNvSpPr/>
          <p:nvPr/>
        </p:nvSpPr>
        <p:spPr>
          <a:xfrm>
            <a:off x="2639568" y="8174736"/>
            <a:ext cx="1697736" cy="365760"/>
          </a:xfrm>
          <a:prstGeom prst="rect">
            <a:avLst/>
          </a:prstGeom>
          <a:noFill/>
          <a:ln/>
        </p:spPr>
        <p:txBody>
          <a:bodyPr wrap="square" lIns="0" tIns="0" rIns="0" bIns="0" rtlCol="0" anchor="t"/>
          <a:lstStyle/>
          <a:p>
            <a:pPr indent="0" marL="0">
              <a:lnSpc>
                <a:spcPct val="92000"/>
              </a:lnSpc>
              <a:buNone/>
            </a:pPr>
            <a:r>
              <a:rPr lang="en-US" sz="690" b="1" dirty="0">
                <a:solidFill>
                  <a:srgbClr val="183B39"/>
                </a:solidFill>
                <a:latin typeface="Calibri" pitchFamily="34" charset="0"/>
                <a:ea typeface="Calibri" pitchFamily="34" charset="-122"/>
                <a:cs typeface="Calibri" pitchFamily="34" charset="-120"/>
              </a:rPr>
              <a:t>Gross ₹29.64 L becomes ₹26.52 L net of ₹4.55 L returns.</a:t>
            </a:r>
            <a:endParaRPr lang="en-US" sz="690" dirty="0"/>
          </a:p>
        </p:txBody>
      </p:sp>
      <p:sp>
        <p:nvSpPr>
          <p:cNvPr id="99" name="Shape 95"/>
          <p:cNvSpPr/>
          <p:nvPr/>
        </p:nvSpPr>
        <p:spPr>
          <a:xfrm>
            <a:off x="2520696" y="8609076"/>
            <a:ext cx="50292" cy="50292"/>
          </a:xfrm>
          <a:prstGeom prst="ellipse">
            <a:avLst/>
          </a:prstGeom>
          <a:solidFill>
            <a:srgbClr val="F2B84B"/>
          </a:solidFill>
          <a:ln/>
        </p:spPr>
      </p:sp>
      <p:sp>
        <p:nvSpPr>
          <p:cNvPr id="100" name="Text 96"/>
          <p:cNvSpPr/>
          <p:nvPr/>
        </p:nvSpPr>
        <p:spPr>
          <a:xfrm>
            <a:off x="2639568" y="8558784"/>
            <a:ext cx="1697736" cy="365760"/>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July is net negative (−₹0.64 L): returns exceeded billing that month.</a:t>
            </a:r>
            <a:endParaRPr lang="en-US" sz="690" dirty="0"/>
          </a:p>
        </p:txBody>
      </p:sp>
      <p:sp>
        <p:nvSpPr>
          <p:cNvPr id="101" name="Shape 97"/>
          <p:cNvSpPr/>
          <p:nvPr/>
        </p:nvSpPr>
        <p:spPr>
          <a:xfrm>
            <a:off x="2520696" y="8993124"/>
            <a:ext cx="50292" cy="50292"/>
          </a:xfrm>
          <a:prstGeom prst="ellipse">
            <a:avLst/>
          </a:prstGeom>
          <a:solidFill>
            <a:srgbClr val="F2B84B"/>
          </a:solidFill>
          <a:ln/>
        </p:spPr>
      </p:sp>
      <p:sp>
        <p:nvSpPr>
          <p:cNvPr id="102" name="Text 98"/>
          <p:cNvSpPr/>
          <p:nvPr/>
        </p:nvSpPr>
        <p:spPr>
          <a:xfrm>
            <a:off x="2639568" y="8942832"/>
            <a:ext cx="1697736" cy="365760"/>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Always quote SIS net; the gross figure overstates by 11.8%.</a:t>
            </a:r>
            <a:endParaRPr lang="en-US" sz="690" dirty="0"/>
          </a:p>
        </p:txBody>
      </p:sp>
      <p:sp>
        <p:nvSpPr>
          <p:cNvPr id="103" name="Shape 99"/>
          <p:cNvSpPr/>
          <p:nvPr/>
        </p:nvSpPr>
        <p:spPr>
          <a:xfrm>
            <a:off x="4556760" y="7242048"/>
            <a:ext cx="2036064" cy="2103120"/>
          </a:xfrm>
          <a:prstGeom prst="roundRect">
            <a:avLst>
              <a:gd name="adj" fmla="val 898"/>
            </a:avLst>
          </a:prstGeom>
          <a:solidFill>
            <a:srgbClr val="FFFFFF"/>
          </a:solidFill>
          <a:ln w="9525">
            <a:solidFill>
              <a:srgbClr val="C8DCD7"/>
            </a:solidFill>
            <a:prstDash val="solid"/>
          </a:ln>
        </p:spPr>
      </p:sp>
      <p:sp>
        <p:nvSpPr>
          <p:cNvPr id="104" name="Shape 100"/>
          <p:cNvSpPr/>
          <p:nvPr/>
        </p:nvSpPr>
        <p:spPr>
          <a:xfrm>
            <a:off x="4556760" y="7242048"/>
            <a:ext cx="2036064" cy="274320"/>
          </a:xfrm>
          <a:prstGeom prst="rect">
            <a:avLst/>
          </a:prstGeom>
          <a:solidFill>
            <a:srgbClr val="5F716E"/>
          </a:solidFill>
          <a:ln/>
        </p:spPr>
      </p:sp>
      <p:sp>
        <p:nvSpPr>
          <p:cNvPr id="105" name="Text 101"/>
          <p:cNvSpPr/>
          <p:nvPr/>
        </p:nvSpPr>
        <p:spPr>
          <a:xfrm>
            <a:off x="4639056" y="7260336"/>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DATA QUALITY</a:t>
            </a:r>
            <a:endParaRPr lang="en-US" sz="700" dirty="0"/>
          </a:p>
        </p:txBody>
      </p:sp>
      <p:sp>
        <p:nvSpPr>
          <p:cNvPr id="106" name="Text 102"/>
          <p:cNvSpPr/>
          <p:nvPr/>
        </p:nvSpPr>
        <p:spPr>
          <a:xfrm>
            <a:off x="4648200" y="7607808"/>
            <a:ext cx="1853184" cy="329184"/>
          </a:xfrm>
          <a:prstGeom prst="rect">
            <a:avLst/>
          </a:prstGeom>
          <a:noFill/>
          <a:ln/>
        </p:spPr>
        <p:txBody>
          <a:bodyPr wrap="square" lIns="0" tIns="0" rIns="0" bIns="0" rtlCol="0" anchor="t"/>
          <a:lstStyle/>
          <a:p>
            <a:pPr algn="ctr" indent="0" marL="0">
              <a:buNone/>
            </a:pPr>
            <a:r>
              <a:rPr lang="en-US" sz="1500" b="1" dirty="0">
                <a:solidFill>
                  <a:srgbClr val="5F716E"/>
                </a:solidFill>
                <a:latin typeface="Calibri Light" pitchFamily="34" charset="0"/>
                <a:ea typeface="Calibri Light" pitchFamily="34" charset="-122"/>
                <a:cs typeface="Calibri Light" pitchFamily="34" charset="-120"/>
              </a:rPr>
              <a:t>662 rows</a:t>
            </a:r>
            <a:endParaRPr lang="en-US" sz="1500" dirty="0"/>
          </a:p>
        </p:txBody>
      </p:sp>
      <p:sp>
        <p:nvSpPr>
          <p:cNvPr id="107" name="Text 103"/>
          <p:cNvSpPr/>
          <p:nvPr/>
        </p:nvSpPr>
        <p:spPr>
          <a:xfrm>
            <a:off x="4648200" y="7955280"/>
            <a:ext cx="1853184" cy="164592"/>
          </a:xfrm>
          <a:prstGeom prst="rect">
            <a:avLst/>
          </a:prstGeom>
          <a:noFill/>
          <a:ln/>
        </p:spPr>
        <p:txBody>
          <a:bodyPr wrap="square" lIns="0" tIns="0" rIns="0" bIns="0" rtlCol="0" anchor="t"/>
          <a:lstStyle/>
          <a:p>
            <a:pPr algn="ctr" indent="0" marL="0">
              <a:buNone/>
            </a:pPr>
            <a:r>
              <a:rPr lang="en-US" sz="660" dirty="0">
                <a:solidFill>
                  <a:srgbClr val="5F716E"/>
                </a:solidFill>
                <a:latin typeface="Calibri" pitchFamily="34" charset="0"/>
                <a:ea typeface="Calibri" pitchFamily="34" charset="-122"/>
                <a:cs typeface="Calibri" pitchFamily="34" charset="-120"/>
              </a:rPr>
              <a:t>full source, not row-capped</a:t>
            </a:r>
            <a:endParaRPr lang="en-US" sz="660" dirty="0"/>
          </a:p>
        </p:txBody>
      </p:sp>
      <p:sp>
        <p:nvSpPr>
          <p:cNvPr id="108" name="Shape 104"/>
          <p:cNvSpPr/>
          <p:nvPr/>
        </p:nvSpPr>
        <p:spPr>
          <a:xfrm>
            <a:off x="4666488" y="8225028"/>
            <a:ext cx="50292" cy="50292"/>
          </a:xfrm>
          <a:prstGeom prst="ellipse">
            <a:avLst/>
          </a:prstGeom>
          <a:solidFill>
            <a:srgbClr val="5F716E"/>
          </a:solidFill>
          <a:ln/>
        </p:spPr>
      </p:sp>
      <p:sp>
        <p:nvSpPr>
          <p:cNvPr id="109" name="Text 105"/>
          <p:cNvSpPr/>
          <p:nvPr/>
        </p:nvSpPr>
        <p:spPr>
          <a:xfrm>
            <a:off x="4785360" y="8174736"/>
            <a:ext cx="1697736" cy="365760"/>
          </a:xfrm>
          <a:prstGeom prst="rect">
            <a:avLst/>
          </a:prstGeom>
          <a:noFill/>
          <a:ln/>
        </p:spPr>
        <p:txBody>
          <a:bodyPr wrap="square" lIns="0" tIns="0" rIns="0" bIns="0" rtlCol="0" anchor="t"/>
          <a:lstStyle/>
          <a:p>
            <a:pPr indent="0" marL="0">
              <a:lnSpc>
                <a:spcPct val="92000"/>
              </a:lnSpc>
              <a:buNone/>
            </a:pPr>
            <a:r>
              <a:rPr lang="en-US" sz="690" b="1" dirty="0">
                <a:solidFill>
                  <a:srgbClr val="183B39"/>
                </a:solidFill>
                <a:latin typeface="Calibri" pitchFamily="34" charset="0"/>
                <a:ea typeface="Calibri" pitchFamily="34" charset="-122"/>
                <a:cs typeface="Calibri" pitchFamily="34" charset="-120"/>
              </a:rPr>
              <a:t>206 exact-duplicate invoice lines detected, not deduplicated.</a:t>
            </a:r>
            <a:endParaRPr lang="en-US" sz="690" dirty="0"/>
          </a:p>
        </p:txBody>
      </p:sp>
      <p:sp>
        <p:nvSpPr>
          <p:cNvPr id="110" name="Shape 106"/>
          <p:cNvSpPr/>
          <p:nvPr/>
        </p:nvSpPr>
        <p:spPr>
          <a:xfrm>
            <a:off x="4666488" y="8609076"/>
            <a:ext cx="50292" cy="50292"/>
          </a:xfrm>
          <a:prstGeom prst="ellipse">
            <a:avLst/>
          </a:prstGeom>
          <a:solidFill>
            <a:srgbClr val="5F716E"/>
          </a:solidFill>
          <a:ln/>
        </p:spPr>
      </p:sp>
      <p:sp>
        <p:nvSpPr>
          <p:cNvPr id="111" name="Text 107"/>
          <p:cNvSpPr/>
          <p:nvPr/>
        </p:nvSpPr>
        <p:spPr>
          <a:xfrm>
            <a:off x="4785360" y="8558784"/>
            <a:ext cx="1697736" cy="365760"/>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Impact ₹2.48 L — checked and judged negligible, but unresolved.</a:t>
            </a:r>
            <a:endParaRPr lang="en-US" sz="690" dirty="0"/>
          </a:p>
        </p:txBody>
      </p:sp>
      <p:sp>
        <p:nvSpPr>
          <p:cNvPr id="112" name="Shape 108"/>
          <p:cNvSpPr/>
          <p:nvPr/>
        </p:nvSpPr>
        <p:spPr>
          <a:xfrm>
            <a:off x="4666488" y="8993124"/>
            <a:ext cx="50292" cy="50292"/>
          </a:xfrm>
          <a:prstGeom prst="ellipse">
            <a:avLst/>
          </a:prstGeom>
          <a:solidFill>
            <a:srgbClr val="5F716E"/>
          </a:solidFill>
          <a:ln/>
        </p:spPr>
      </p:sp>
      <p:sp>
        <p:nvSpPr>
          <p:cNvPr id="113" name="Text 109"/>
          <p:cNvSpPr/>
          <p:nvPr/>
        </p:nvSpPr>
        <p:spPr>
          <a:xfrm>
            <a:off x="4785360" y="8942832"/>
            <a:ext cx="1697736" cy="365760"/>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Azorte has primary and no offtake; Lifestyle the reverse.</a:t>
            </a:r>
            <a:endParaRPr lang="en-US" sz="690" dirty="0"/>
          </a:p>
        </p:txBody>
      </p:sp>
      <p:sp>
        <p:nvSpPr>
          <p:cNvPr id="114" name="Shape 110"/>
          <p:cNvSpPr/>
          <p:nvPr/>
        </p:nvSpPr>
        <p:spPr>
          <a:xfrm>
            <a:off x="265176" y="9491472"/>
            <a:ext cx="6327648" cy="256032"/>
          </a:xfrm>
          <a:prstGeom prst="rect">
            <a:avLst/>
          </a:prstGeom>
          <a:solidFill>
            <a:srgbClr val="116F68"/>
          </a:solidFill>
          <a:ln/>
        </p:spPr>
      </p:sp>
      <p:sp>
        <p:nvSpPr>
          <p:cNvPr id="115" name="Text 111"/>
          <p:cNvSpPr/>
          <p:nvPr/>
        </p:nvSpPr>
        <p:spPr>
          <a:xfrm>
            <a:off x="374904" y="9509760"/>
            <a:ext cx="6108192" cy="219456"/>
          </a:xfrm>
          <a:prstGeom prst="rect">
            <a:avLst/>
          </a:prstGeom>
          <a:noFill/>
          <a:ln/>
        </p:spPr>
        <p:txBody>
          <a:bodyPr wrap="square" lIns="0" tIns="0" rIns="0" bIns="0" rtlCol="0" anchor="ctr"/>
          <a:lstStyle/>
          <a:p>
            <a:pPr indent="0" marL="0">
              <a:buNone/>
            </a:pPr>
            <a:r>
              <a:rPr lang="en-US" sz="720" b="1" spc="60" kern="0" dirty="0">
                <a:solidFill>
                  <a:srgbClr val="FFFFFF"/>
                </a:solidFill>
                <a:latin typeface="Calibri" pitchFamily="34" charset="0"/>
                <a:ea typeface="Calibri" pitchFamily="34" charset="-122"/>
                <a:cs typeface="Calibri" pitchFamily="34" charset="-120"/>
              </a:rPr>
              <a:t>CHANNEL REPORTING STRUCTURE NOW IN FORCE</a:t>
            </a:r>
            <a:endParaRPr lang="en-US" sz="720" dirty="0"/>
          </a:p>
        </p:txBody>
      </p:sp>
      <p:sp>
        <p:nvSpPr>
          <p:cNvPr id="116" name="Shape 112"/>
          <p:cNvSpPr/>
          <p:nvPr/>
        </p:nvSpPr>
        <p:spPr>
          <a:xfrm>
            <a:off x="356616" y="9907524"/>
            <a:ext cx="50292" cy="50292"/>
          </a:xfrm>
          <a:prstGeom prst="ellipse">
            <a:avLst/>
          </a:prstGeom>
          <a:solidFill>
            <a:srgbClr val="28A596"/>
          </a:solidFill>
          <a:ln/>
        </p:spPr>
      </p:sp>
      <p:sp>
        <p:nvSpPr>
          <p:cNvPr id="117" name="Text 113"/>
          <p:cNvSpPr/>
          <p:nvPr/>
        </p:nvSpPr>
        <p:spPr>
          <a:xfrm>
            <a:off x="475488" y="9857232"/>
            <a:ext cx="6025896" cy="365760"/>
          </a:xfrm>
          <a:prstGeom prst="rect">
            <a:avLst/>
          </a:prstGeom>
          <a:noFill/>
          <a:ln/>
        </p:spPr>
        <p:txBody>
          <a:bodyPr wrap="square" lIns="0" tIns="0" rIns="0" bIns="0" rtlCol="0" anchor="t"/>
          <a:lstStyle/>
          <a:p>
            <a:pPr indent="0" marL="0">
              <a:lnSpc>
                <a:spcPct val="92000"/>
              </a:lnSpc>
              <a:buNone/>
            </a:pPr>
            <a:r>
              <a:rPr lang="en-US" sz="740" b="1" dirty="0">
                <a:solidFill>
                  <a:srgbClr val="183B39"/>
                </a:solidFill>
                <a:latin typeface="Calibri" pitchFamily="34" charset="0"/>
                <a:ea typeface="Calibri" pitchFamily="34" charset="-122"/>
                <a:cs typeface="Calibri" pitchFamily="34" charset="-120"/>
              </a:rPr>
              <a:t>Modern Trade → MT accounts → zone-wise MT performance. Six geographic zones, no eB2B, no SIS.</a:t>
            </a:r>
            <a:endParaRPr lang="en-US" sz="740" dirty="0"/>
          </a:p>
        </p:txBody>
      </p:sp>
      <p:sp>
        <p:nvSpPr>
          <p:cNvPr id="118" name="Shape 114"/>
          <p:cNvSpPr/>
          <p:nvPr/>
        </p:nvSpPr>
        <p:spPr>
          <a:xfrm>
            <a:off x="356616" y="10291572"/>
            <a:ext cx="50292" cy="50292"/>
          </a:xfrm>
          <a:prstGeom prst="ellipse">
            <a:avLst/>
          </a:prstGeom>
          <a:solidFill>
            <a:srgbClr val="2E7DA8"/>
          </a:solidFill>
          <a:ln/>
        </p:spPr>
      </p:sp>
      <p:sp>
        <p:nvSpPr>
          <p:cNvPr id="119" name="Text 115"/>
          <p:cNvSpPr/>
          <p:nvPr/>
        </p:nvSpPr>
        <p:spPr>
          <a:xfrm>
            <a:off x="475488" y="10241280"/>
            <a:ext cx="6025896" cy="365760"/>
          </a:xfrm>
          <a:prstGeom prst="rect">
            <a:avLst/>
          </a:prstGeom>
          <a:noFill/>
          <a:ln/>
        </p:spPr>
        <p:txBody>
          <a:bodyPr wrap="square" lIns="0" tIns="0" rIns="0" bIns="0" rtlCol="0" anchor="t"/>
          <a:lstStyle/>
          <a:p>
            <a:pPr indent="0" marL="0">
              <a:lnSpc>
                <a:spcPct val="92000"/>
              </a:lnSpc>
              <a:buNone/>
            </a:pPr>
            <a:r>
              <a:rPr lang="en-US" sz="740" dirty="0">
                <a:solidFill>
                  <a:srgbClr val="183B39"/>
                </a:solidFill>
                <a:latin typeface="Calibri" pitchFamily="34" charset="0"/>
                <a:ea typeface="Calibri" pitchFamily="34" charset="-122"/>
                <a:cs typeface="Calibri" pitchFamily="34" charset="-120"/>
              </a:rPr>
              <a:t>eB2B → Nykaa (FSN) and Eremedium. FY27 primary ₹8.79 Cr, offtake ₹8.60 Cr. Replaces the former "Pan India" zone.</a:t>
            </a:r>
            <a:endParaRPr lang="en-US" sz="740" dirty="0"/>
          </a:p>
        </p:txBody>
      </p:sp>
      <p:sp>
        <p:nvSpPr>
          <p:cNvPr id="120" name="Shape 116"/>
          <p:cNvSpPr/>
          <p:nvPr/>
        </p:nvSpPr>
        <p:spPr>
          <a:xfrm>
            <a:off x="356616" y="10675620"/>
            <a:ext cx="50292" cy="50292"/>
          </a:xfrm>
          <a:prstGeom prst="ellipse">
            <a:avLst/>
          </a:prstGeom>
          <a:solidFill>
            <a:srgbClr val="2E7DA8"/>
          </a:solidFill>
          <a:ln/>
        </p:spPr>
      </p:sp>
      <p:sp>
        <p:nvSpPr>
          <p:cNvPr id="121" name="Text 117"/>
          <p:cNvSpPr/>
          <p:nvPr/>
        </p:nvSpPr>
        <p:spPr>
          <a:xfrm>
            <a:off x="475488" y="10625328"/>
            <a:ext cx="6025896" cy="365760"/>
          </a:xfrm>
          <a:prstGeom prst="rect">
            <a:avLst/>
          </a:prstGeom>
          <a:noFill/>
          <a:ln/>
        </p:spPr>
        <p:txBody>
          <a:bodyPr wrap="square" lIns="0" tIns="0" rIns="0" bIns="0" rtlCol="0" anchor="t"/>
          <a:lstStyle/>
          <a:p>
            <a:pPr indent="0" marL="0">
              <a:lnSpc>
                <a:spcPct val="92000"/>
              </a:lnSpc>
              <a:buNone/>
            </a:pPr>
            <a:r>
              <a:rPr lang="en-US" sz="740" dirty="0">
                <a:solidFill>
                  <a:srgbClr val="183B39"/>
                </a:solidFill>
                <a:latin typeface="Calibri" pitchFamily="34" charset="0"/>
                <a:ea typeface="Calibri" pitchFamily="34" charset="-122"/>
                <a:cs typeface="Calibri" pitchFamily="34" charset="-120"/>
              </a:rPr>
              <a:t>SIS → Azorte, Shoppers Stop, Broadway, Lifestyle. FY27 net primary ₹0.27 Cr.</a:t>
            </a:r>
            <a:endParaRPr lang="en-US" sz="740" dirty="0"/>
          </a:p>
        </p:txBody>
      </p:sp>
      <p:sp>
        <p:nvSpPr>
          <p:cNvPr id="122" name="Shape 118"/>
          <p:cNvSpPr/>
          <p:nvPr/>
        </p:nvSpPr>
        <p:spPr>
          <a:xfrm>
            <a:off x="356616" y="11059668"/>
            <a:ext cx="50292" cy="50292"/>
          </a:xfrm>
          <a:prstGeom prst="ellipse">
            <a:avLst/>
          </a:prstGeom>
          <a:solidFill>
            <a:srgbClr val="5F716E"/>
          </a:solidFill>
          <a:ln/>
        </p:spPr>
      </p:sp>
      <p:sp>
        <p:nvSpPr>
          <p:cNvPr id="123" name="Text 119"/>
          <p:cNvSpPr/>
          <p:nvPr/>
        </p:nvSpPr>
        <p:spPr>
          <a:xfrm>
            <a:off x="475488" y="11009376"/>
            <a:ext cx="6025896" cy="365760"/>
          </a:xfrm>
          <a:prstGeom prst="rect">
            <a:avLst/>
          </a:prstGeom>
          <a:noFill/>
          <a:ln/>
        </p:spPr>
        <p:txBody>
          <a:bodyPr wrap="square" lIns="0" tIns="0" rIns="0" bIns="0" rtlCol="0" anchor="t"/>
          <a:lstStyle/>
          <a:p>
            <a:pPr indent="0" marL="0">
              <a:lnSpc>
                <a:spcPct val="92000"/>
              </a:lnSpc>
              <a:buNone/>
            </a:pPr>
            <a:r>
              <a:rPr lang="en-US" sz="740" dirty="0">
                <a:solidFill>
                  <a:srgbClr val="183B39"/>
                </a:solidFill>
                <a:latin typeface="Calibri" pitchFamily="34" charset="0"/>
                <a:ea typeface="Calibri" pitchFamily="34" charset="-122"/>
                <a:cs typeface="Calibri" pitchFamily="34" charset="-120"/>
              </a:rPr>
              <a:t>No channel is added, allocated, mapped or rolled up into another. Classification is held in scripts/data/channel_master.json with a named owner.</a:t>
            </a:r>
            <a:endParaRPr lang="en-US" sz="74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A"/>
        </a:solidFill>
      </p:bgPr>
    </p:bg>
    <p:spTree>
      <p:nvGrpSpPr>
        <p:cNvPr id="1" name=""/>
        <p:cNvGrpSpPr/>
        <p:nvPr/>
      </p:nvGrpSpPr>
      <p:grpSpPr>
        <a:xfrm>
          <a:off x="0" y="0"/>
          <a:ext cx="0" cy="0"/>
          <a:chOff x="0" y="0"/>
          <a:chExt cx="0" cy="0"/>
        </a:xfrm>
      </p:grpSpPr>
      <p:sp>
        <p:nvSpPr>
          <p:cNvPr id="2" name="Shape 0"/>
          <p:cNvSpPr/>
          <p:nvPr/>
        </p:nvSpPr>
        <p:spPr>
          <a:xfrm>
            <a:off x="0" y="0"/>
            <a:ext cx="6858000" cy="1133856"/>
          </a:xfrm>
          <a:prstGeom prst="rect">
            <a:avLst/>
          </a:prstGeom>
          <a:solidFill>
            <a:srgbClr val="116F68"/>
          </a:solidFill>
          <a:ln/>
        </p:spPr>
      </p:sp>
      <p:sp>
        <p:nvSpPr>
          <p:cNvPr id="3" name="Text 1"/>
          <p:cNvSpPr/>
          <p:nvPr/>
        </p:nvSpPr>
        <p:spPr>
          <a:xfrm>
            <a:off x="365760" y="182880"/>
            <a:ext cx="5641848" cy="548640"/>
          </a:xfrm>
          <a:prstGeom prst="rect">
            <a:avLst/>
          </a:prstGeom>
          <a:noFill/>
          <a:ln/>
        </p:spPr>
        <p:txBody>
          <a:bodyPr wrap="square" lIns="0" tIns="0" rIns="0" bIns="0" rtlCol="0" anchor="ctr"/>
          <a:lstStyle/>
          <a:p>
            <a:pPr indent="0" marL="0">
              <a:lnSpc>
                <a:spcPct val="92000"/>
              </a:lnSpc>
              <a:buNone/>
            </a:pPr>
            <a:r>
              <a:rPr lang="en-US" sz="1450" b="1" dirty="0">
                <a:solidFill>
                  <a:srgbClr val="FFFFFF"/>
                </a:solidFill>
                <a:latin typeface="Calibri Light" pitchFamily="34" charset="0"/>
                <a:ea typeface="Calibri Light" pitchFamily="34" charset="-122"/>
                <a:cs typeface="Calibri Light" pitchFamily="34" charset="-120"/>
              </a:rPr>
              <a:t>July is a Reliance problem — every other chain combined grew</a:t>
            </a:r>
            <a:endParaRPr lang="en-US" sz="1450" dirty="0"/>
          </a:p>
        </p:txBody>
      </p:sp>
      <p:sp>
        <p:nvSpPr>
          <p:cNvPr id="4" name="Text 2"/>
          <p:cNvSpPr/>
          <p:nvPr/>
        </p:nvSpPr>
        <p:spPr>
          <a:xfrm>
            <a:off x="384048" y="786384"/>
            <a:ext cx="5641848" cy="237744"/>
          </a:xfrm>
          <a:prstGeom prst="rect">
            <a:avLst/>
          </a:prstGeom>
          <a:noFill/>
          <a:ln/>
        </p:spPr>
        <p:txBody>
          <a:bodyPr wrap="square" lIns="0" tIns="0" rIns="0" bIns="0" rtlCol="0" anchor="ctr"/>
          <a:lstStyle/>
          <a:p>
            <a:pPr indent="0" marL="0">
              <a:buNone/>
            </a:pPr>
            <a:r>
              <a:rPr lang="en-US" sz="850" dirty="0">
                <a:solidFill>
                  <a:srgbClr val="BFDCD7"/>
                </a:solidFill>
                <a:latin typeface="Calibri" pitchFamily="34" charset="0"/>
                <a:ea typeface="Calibri" pitchFamily="34" charset="-122"/>
                <a:cs typeface="Calibri" pitchFamily="34" charset="-120"/>
              </a:rPr>
              <a:t>Chain growth and risk | June–July 2026 | ranked by ₹ change above a ₹0.25 Cr materiality floor</a:t>
            </a:r>
            <a:endParaRPr lang="en-US" sz="850" dirty="0"/>
          </a:p>
        </p:txBody>
      </p:sp>
      <p:sp>
        <p:nvSpPr>
          <p:cNvPr id="5" name="Text 3"/>
          <p:cNvSpPr/>
          <p:nvPr/>
        </p:nvSpPr>
        <p:spPr>
          <a:xfrm>
            <a:off x="6117336" y="365760"/>
            <a:ext cx="402336" cy="237744"/>
          </a:xfrm>
          <a:prstGeom prst="rect">
            <a:avLst/>
          </a:prstGeom>
          <a:noFill/>
          <a:ln/>
        </p:spPr>
        <p:txBody>
          <a:bodyPr wrap="square" lIns="0" tIns="0" rIns="0" bIns="0" rtlCol="0" anchor="t"/>
          <a:lstStyle/>
          <a:p>
            <a:pPr algn="r" indent="0" marL="0">
              <a:buNone/>
            </a:pPr>
            <a:r>
              <a:rPr lang="en-US" sz="950" b="1" dirty="0">
                <a:solidFill>
                  <a:srgbClr val="8FC4BD"/>
                </a:solidFill>
                <a:latin typeface="Calibri" pitchFamily="34" charset="0"/>
                <a:ea typeface="Calibri" pitchFamily="34" charset="-122"/>
                <a:cs typeface="Calibri" pitchFamily="34" charset="-120"/>
              </a:rPr>
              <a:t>15</a:t>
            </a:r>
            <a:endParaRPr lang="en-US" sz="950" dirty="0"/>
          </a:p>
        </p:txBody>
      </p:sp>
      <p:sp>
        <p:nvSpPr>
          <p:cNvPr id="6" name="Shape 4"/>
          <p:cNvSpPr/>
          <p:nvPr/>
        </p:nvSpPr>
        <p:spPr>
          <a:xfrm>
            <a:off x="265176" y="11375136"/>
            <a:ext cx="6327648" cy="420624"/>
          </a:xfrm>
          <a:prstGeom prst="roundRect">
            <a:avLst>
              <a:gd name="adj" fmla="val 6522"/>
            </a:avLst>
          </a:prstGeom>
          <a:solidFill>
            <a:srgbClr val="DFF2ED"/>
          </a:solidFill>
          <a:ln w="9525">
            <a:solidFill>
              <a:srgbClr val="C8DCD7"/>
            </a:solidFill>
            <a:prstDash val="solid"/>
          </a:ln>
        </p:spPr>
      </p:sp>
      <p:sp>
        <p:nvSpPr>
          <p:cNvPr id="7" name="Text 5"/>
          <p:cNvSpPr/>
          <p:nvPr/>
        </p:nvSpPr>
        <p:spPr>
          <a:xfrm>
            <a:off x="374904"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EVIDENCE</a:t>
            </a:r>
            <a:endParaRPr lang="en-US" sz="650" dirty="0"/>
          </a:p>
        </p:txBody>
      </p:sp>
      <p:sp>
        <p:nvSpPr>
          <p:cNvPr id="8" name="Text 6"/>
          <p:cNvSpPr/>
          <p:nvPr/>
        </p:nvSpPr>
        <p:spPr>
          <a:xfrm>
            <a:off x="374904"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moved</a:t>
            </a:r>
            <a:endParaRPr lang="en-US" sz="700" dirty="0"/>
          </a:p>
        </p:txBody>
      </p:sp>
      <p:sp>
        <p:nvSpPr>
          <p:cNvPr id="9" name="Text 7"/>
          <p:cNvSpPr/>
          <p:nvPr/>
        </p:nvSpPr>
        <p:spPr>
          <a:xfrm>
            <a:off x="1901952"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IMPLICATION</a:t>
            </a:r>
            <a:endParaRPr lang="en-US" sz="650" dirty="0"/>
          </a:p>
        </p:txBody>
      </p:sp>
      <p:sp>
        <p:nvSpPr>
          <p:cNvPr id="10" name="Text 8"/>
          <p:cNvSpPr/>
          <p:nvPr/>
        </p:nvSpPr>
        <p:spPr>
          <a:xfrm>
            <a:off x="1901952"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Why it matters</a:t>
            </a:r>
            <a:endParaRPr lang="en-US" sz="700" dirty="0"/>
          </a:p>
        </p:txBody>
      </p:sp>
      <p:sp>
        <p:nvSpPr>
          <p:cNvPr id="11" name="Shape 9"/>
          <p:cNvSpPr/>
          <p:nvPr/>
        </p:nvSpPr>
        <p:spPr>
          <a:xfrm>
            <a:off x="1819656" y="11457432"/>
            <a:ext cx="0" cy="265176"/>
          </a:xfrm>
          <a:prstGeom prst="line">
            <a:avLst/>
          </a:prstGeom>
          <a:noFill/>
          <a:ln w="9525">
            <a:solidFill>
              <a:srgbClr val="C8DCD7"/>
            </a:solidFill>
            <a:prstDash val="solid"/>
          </a:ln>
        </p:spPr>
      </p:sp>
      <p:sp>
        <p:nvSpPr>
          <p:cNvPr id="12" name="Text 10"/>
          <p:cNvSpPr/>
          <p:nvPr/>
        </p:nvSpPr>
        <p:spPr>
          <a:xfrm>
            <a:off x="3429000"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ACTION</a:t>
            </a:r>
            <a:endParaRPr lang="en-US" sz="650" dirty="0"/>
          </a:p>
        </p:txBody>
      </p:sp>
      <p:sp>
        <p:nvSpPr>
          <p:cNvPr id="13" name="Text 11"/>
          <p:cNvSpPr/>
          <p:nvPr/>
        </p:nvSpPr>
        <p:spPr>
          <a:xfrm>
            <a:off x="3429000"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changes now</a:t>
            </a:r>
            <a:endParaRPr lang="en-US" sz="700" dirty="0"/>
          </a:p>
        </p:txBody>
      </p:sp>
      <p:sp>
        <p:nvSpPr>
          <p:cNvPr id="14" name="Shape 12"/>
          <p:cNvSpPr/>
          <p:nvPr/>
        </p:nvSpPr>
        <p:spPr>
          <a:xfrm>
            <a:off x="3346704" y="11457432"/>
            <a:ext cx="0" cy="265176"/>
          </a:xfrm>
          <a:prstGeom prst="line">
            <a:avLst/>
          </a:prstGeom>
          <a:noFill/>
          <a:ln w="9525">
            <a:solidFill>
              <a:srgbClr val="C8DCD7"/>
            </a:solidFill>
            <a:prstDash val="solid"/>
          </a:ln>
        </p:spPr>
      </p:sp>
      <p:sp>
        <p:nvSpPr>
          <p:cNvPr id="15" name="Text 13"/>
          <p:cNvSpPr/>
          <p:nvPr/>
        </p:nvSpPr>
        <p:spPr>
          <a:xfrm>
            <a:off x="4956048"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OWNER</a:t>
            </a:r>
            <a:endParaRPr lang="en-US" sz="650" dirty="0"/>
          </a:p>
        </p:txBody>
      </p:sp>
      <p:sp>
        <p:nvSpPr>
          <p:cNvPr id="16" name="Text 14"/>
          <p:cNvSpPr/>
          <p:nvPr/>
        </p:nvSpPr>
        <p:spPr>
          <a:xfrm>
            <a:off x="4956048"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Who closes it</a:t>
            </a:r>
            <a:endParaRPr lang="en-US" sz="700" dirty="0"/>
          </a:p>
        </p:txBody>
      </p:sp>
      <p:sp>
        <p:nvSpPr>
          <p:cNvPr id="17" name="Shape 15"/>
          <p:cNvSpPr/>
          <p:nvPr/>
        </p:nvSpPr>
        <p:spPr>
          <a:xfrm>
            <a:off x="4873752" y="11457432"/>
            <a:ext cx="0" cy="265176"/>
          </a:xfrm>
          <a:prstGeom prst="line">
            <a:avLst/>
          </a:prstGeom>
          <a:noFill/>
          <a:ln w="9525">
            <a:solidFill>
              <a:srgbClr val="C8DCD7"/>
            </a:solidFill>
            <a:prstDash val="solid"/>
          </a:ln>
        </p:spPr>
      </p:sp>
      <p:sp>
        <p:nvSpPr>
          <p:cNvPr id="18" name="Text 16"/>
          <p:cNvSpPr/>
          <p:nvPr/>
        </p:nvSpPr>
        <p:spPr>
          <a:xfrm>
            <a:off x="301752" y="11887200"/>
            <a:ext cx="6254496" cy="201168"/>
          </a:xfrm>
          <a:prstGeom prst="rect">
            <a:avLst/>
          </a:prstGeom>
          <a:noFill/>
          <a:ln/>
        </p:spPr>
        <p:txBody>
          <a:bodyPr wrap="square" lIns="0" tIns="0" rIns="0" bIns="0" rtlCol="0" anchor="t"/>
          <a:lstStyle/>
          <a:p>
            <a:pPr algn="ctr" indent="0" marL="0">
              <a:buNone/>
            </a:pPr>
            <a:r>
              <a:rPr lang="en-US" sz="650" dirty="0">
                <a:solidFill>
                  <a:srgbClr val="5F716E"/>
                </a:solidFill>
                <a:latin typeface="Calibri" pitchFamily="34" charset="0"/>
                <a:ea typeface="Calibri" pitchFamily="34" charset="-122"/>
                <a:cs typeface="Calibri" pitchFamily="34" charset="-120"/>
              </a:rPr>
              <a:t>July Compiled Offtake (Sheet1) · July'26 primary and distributor secondary · values in ₹ Cr · Zone performance represents Modern Trade accounts only. eB2B and SIS channels are excluded from MT zone sales and reported separately.</a:t>
            </a:r>
            <a:endParaRPr lang="en-US" sz="650" dirty="0"/>
          </a:p>
        </p:txBody>
      </p:sp>
      <p:sp>
        <p:nvSpPr>
          <p:cNvPr id="19" name="Shape 17"/>
          <p:cNvSpPr/>
          <p:nvPr/>
        </p:nvSpPr>
        <p:spPr>
          <a:xfrm>
            <a:off x="265176" y="1261872"/>
            <a:ext cx="6327648" cy="1060704"/>
          </a:xfrm>
          <a:prstGeom prst="roundRect">
            <a:avLst>
              <a:gd name="adj" fmla="val 2586"/>
            </a:avLst>
          </a:prstGeom>
          <a:solidFill>
            <a:srgbClr val="FBEDEC"/>
          </a:solidFill>
          <a:ln w="12700">
            <a:solidFill>
              <a:srgbClr val="D6544D"/>
            </a:solidFill>
            <a:prstDash val="solid"/>
          </a:ln>
        </p:spPr>
      </p:sp>
      <p:sp>
        <p:nvSpPr>
          <p:cNvPr id="20" name="Text 18"/>
          <p:cNvSpPr/>
          <p:nvPr/>
        </p:nvSpPr>
        <p:spPr>
          <a:xfrm>
            <a:off x="429768" y="1371600"/>
            <a:ext cx="5998464" cy="310896"/>
          </a:xfrm>
          <a:prstGeom prst="rect">
            <a:avLst/>
          </a:prstGeom>
          <a:noFill/>
          <a:ln/>
        </p:spPr>
        <p:txBody>
          <a:bodyPr wrap="square" lIns="0" tIns="0" rIns="0" bIns="0" rtlCol="0" anchor="ctr"/>
          <a:lstStyle/>
          <a:p>
            <a:pPr algn="ctr" indent="0" marL="0">
              <a:buNone/>
            </a:pPr>
            <a:r>
              <a:rPr lang="en-US" sz="1100" b="1" dirty="0">
                <a:solidFill>
                  <a:srgbClr val="D6544D"/>
                </a:solidFill>
                <a:latin typeface="Calibri Light" pitchFamily="34" charset="0"/>
                <a:ea typeface="Calibri Light" pitchFamily="34" charset="-122"/>
                <a:cs typeface="Calibri Light" pitchFamily="34" charset="-120"/>
              </a:rPr>
              <a:t>Modern Trade fell ₹1.29 Cr month on month. Reliance accounts for ₹1.42 Cr of it.</a:t>
            </a:r>
            <a:endParaRPr lang="en-US" sz="1100" dirty="0"/>
          </a:p>
        </p:txBody>
      </p:sp>
      <p:sp>
        <p:nvSpPr>
          <p:cNvPr id="21" name="Text 19"/>
          <p:cNvSpPr/>
          <p:nvPr/>
        </p:nvSpPr>
        <p:spPr>
          <a:xfrm>
            <a:off x="429768" y="1719072"/>
            <a:ext cx="5998464" cy="219456"/>
          </a:xfrm>
          <a:prstGeom prst="rect">
            <a:avLst/>
          </a:prstGeom>
          <a:noFill/>
          <a:ln/>
        </p:spPr>
        <p:txBody>
          <a:bodyPr wrap="square" lIns="0" tIns="0" rIns="0" bIns="0" rtlCol="0" anchor="t"/>
          <a:lstStyle/>
          <a:p>
            <a:pPr algn="ctr" indent="0" marL="0">
              <a:buNone/>
            </a:pPr>
            <a:r>
              <a:rPr lang="en-US" sz="850" b="1" dirty="0">
                <a:solidFill>
                  <a:srgbClr val="183B39"/>
                </a:solidFill>
                <a:latin typeface="Calibri" pitchFamily="34" charset="0"/>
                <a:ea typeface="Calibri" pitchFamily="34" charset="-122"/>
                <a:cs typeface="Calibri" pitchFamily="34" charset="-120"/>
              </a:rPr>
              <a:t>Every other comparable chain, added together, grew ₹0.13 Cr.</a:t>
            </a:r>
            <a:endParaRPr lang="en-US" sz="850" dirty="0"/>
          </a:p>
        </p:txBody>
      </p:sp>
      <p:sp>
        <p:nvSpPr>
          <p:cNvPr id="22" name="Text 20"/>
          <p:cNvSpPr/>
          <p:nvPr/>
        </p:nvSpPr>
        <p:spPr>
          <a:xfrm>
            <a:off x="502920" y="1956816"/>
            <a:ext cx="5852160" cy="292608"/>
          </a:xfrm>
          <a:prstGeom prst="rect">
            <a:avLst/>
          </a:prstGeom>
          <a:noFill/>
          <a:ln/>
        </p:spPr>
        <p:txBody>
          <a:bodyPr wrap="square" lIns="0" tIns="0" rIns="0" bIns="0" rtlCol="0" anchor="t"/>
          <a:lstStyle/>
          <a:p>
            <a:pPr algn="ctr" indent="0" marL="0">
              <a:lnSpc>
                <a:spcPct val="94000"/>
              </a:lnSpc>
              <a:buNone/>
            </a:pPr>
            <a:r>
              <a:rPr lang="en-US" sz="700" dirty="0">
                <a:solidFill>
                  <a:srgbClr val="5F716E"/>
                </a:solidFill>
                <a:latin typeface="Calibri" pitchFamily="34" charset="0"/>
                <a:ea typeface="Calibri" pitchFamily="34" charset="-122"/>
                <a:cs typeface="Calibri" pitchFamily="34" charset="-120"/>
              </a:rPr>
              <a:t>The source pack ranked this table by MoM %, which put Sasta Sundar (+127.8% on a ₹1 lakh base) at the top and a ₹1.42 Cr decline in mid-table. Ranked by rupee change, the month has one story.</a:t>
            </a:r>
            <a:endParaRPr lang="en-US" sz="700" dirty="0"/>
          </a:p>
        </p:txBody>
      </p:sp>
      <p:sp>
        <p:nvSpPr>
          <p:cNvPr id="23" name="Shape 21"/>
          <p:cNvSpPr/>
          <p:nvPr/>
        </p:nvSpPr>
        <p:spPr>
          <a:xfrm>
            <a:off x="265176" y="2468880"/>
            <a:ext cx="6327648" cy="256032"/>
          </a:xfrm>
          <a:prstGeom prst="rect">
            <a:avLst/>
          </a:prstGeom>
          <a:solidFill>
            <a:srgbClr val="D6544D"/>
          </a:solidFill>
          <a:ln/>
        </p:spPr>
      </p:sp>
      <p:sp>
        <p:nvSpPr>
          <p:cNvPr id="24" name="Text 22"/>
          <p:cNvSpPr/>
          <p:nvPr/>
        </p:nvSpPr>
        <p:spPr>
          <a:xfrm>
            <a:off x="374904" y="2487168"/>
            <a:ext cx="6108192" cy="219456"/>
          </a:xfrm>
          <a:prstGeom prst="rect">
            <a:avLst/>
          </a:prstGeom>
          <a:noFill/>
          <a:ln/>
        </p:spPr>
        <p:txBody>
          <a:bodyPr wrap="square" lIns="0" tIns="0" rIns="0" bIns="0" rtlCol="0" anchor="ctr"/>
          <a:lstStyle/>
          <a:p>
            <a:pPr indent="0" marL="0">
              <a:buNone/>
            </a:pPr>
            <a:r>
              <a:rPr lang="en-US" sz="720" b="1" spc="60" kern="0" dirty="0">
                <a:solidFill>
                  <a:srgbClr val="FFFFFF"/>
                </a:solidFill>
                <a:latin typeface="Calibri" pitchFamily="34" charset="0"/>
                <a:ea typeface="Calibri" pitchFamily="34" charset="-122"/>
                <a:cs typeface="Calibri" pitchFamily="34" charset="-120"/>
              </a:rPr>
              <a:t>MATERIAL CHAINS — ₹0.25 Cr FLOOR, RANKED BY RUPEE CHANGE</a:t>
            </a:r>
            <a:endParaRPr lang="en-US" sz="720" dirty="0"/>
          </a:p>
        </p:txBody>
      </p:sp>
      <p:sp>
        <p:nvSpPr>
          <p:cNvPr id="25" name="Shape 23"/>
          <p:cNvSpPr/>
          <p:nvPr/>
        </p:nvSpPr>
        <p:spPr>
          <a:xfrm>
            <a:off x="265176" y="2816352"/>
            <a:ext cx="6327648" cy="256032"/>
          </a:xfrm>
          <a:prstGeom prst="rect">
            <a:avLst/>
          </a:prstGeom>
          <a:solidFill>
            <a:srgbClr val="116F68"/>
          </a:solidFill>
          <a:ln/>
        </p:spPr>
      </p:sp>
      <p:sp>
        <p:nvSpPr>
          <p:cNvPr id="26" name="Text 24"/>
          <p:cNvSpPr/>
          <p:nvPr/>
        </p:nvSpPr>
        <p:spPr>
          <a:xfrm>
            <a:off x="320040" y="2834640"/>
            <a:ext cx="1444752" cy="219456"/>
          </a:xfrm>
          <a:prstGeom prst="rect">
            <a:avLst/>
          </a:prstGeom>
          <a:noFill/>
          <a:ln/>
        </p:spPr>
        <p:txBody>
          <a:bodyPr wrap="square" lIns="0" tIns="0" rIns="0" bIns="0" rtlCol="0" anchor="ctr"/>
          <a:lstStyle/>
          <a:p>
            <a:pPr algn="l" indent="0" marL="0">
              <a:buNone/>
            </a:pPr>
            <a:r>
              <a:rPr lang="en-US" sz="660" b="1" spc="40" kern="0" dirty="0">
                <a:solidFill>
                  <a:srgbClr val="FFFFFF"/>
                </a:solidFill>
                <a:latin typeface="Calibri" pitchFamily="34" charset="0"/>
                <a:ea typeface="Calibri" pitchFamily="34" charset="-122"/>
                <a:cs typeface="Calibri" pitchFamily="34" charset="-120"/>
              </a:rPr>
              <a:t>CHAIN</a:t>
            </a:r>
            <a:endParaRPr lang="en-US" sz="660" dirty="0"/>
          </a:p>
        </p:txBody>
      </p:sp>
      <p:sp>
        <p:nvSpPr>
          <p:cNvPr id="27" name="Text 25"/>
          <p:cNvSpPr/>
          <p:nvPr/>
        </p:nvSpPr>
        <p:spPr>
          <a:xfrm>
            <a:off x="1874520" y="2834640"/>
            <a:ext cx="804672"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JUN</a:t>
            </a:r>
            <a:endParaRPr lang="en-US" sz="660" dirty="0"/>
          </a:p>
        </p:txBody>
      </p:sp>
      <p:sp>
        <p:nvSpPr>
          <p:cNvPr id="28" name="Text 26"/>
          <p:cNvSpPr/>
          <p:nvPr/>
        </p:nvSpPr>
        <p:spPr>
          <a:xfrm>
            <a:off x="2788920" y="2834640"/>
            <a:ext cx="804672"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JUL</a:t>
            </a:r>
            <a:endParaRPr lang="en-US" sz="660" dirty="0"/>
          </a:p>
        </p:txBody>
      </p:sp>
      <p:sp>
        <p:nvSpPr>
          <p:cNvPr id="29" name="Text 27"/>
          <p:cNvSpPr/>
          <p:nvPr/>
        </p:nvSpPr>
        <p:spPr>
          <a:xfrm>
            <a:off x="3703320" y="2834640"/>
            <a:ext cx="896112"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 CHANGE</a:t>
            </a:r>
            <a:endParaRPr lang="en-US" sz="660" dirty="0"/>
          </a:p>
        </p:txBody>
      </p:sp>
      <p:sp>
        <p:nvSpPr>
          <p:cNvPr id="30" name="Text 28"/>
          <p:cNvSpPr/>
          <p:nvPr/>
        </p:nvSpPr>
        <p:spPr>
          <a:xfrm>
            <a:off x="4709160" y="2834640"/>
            <a:ext cx="713232"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MoM %</a:t>
            </a:r>
            <a:endParaRPr lang="en-US" sz="660" dirty="0"/>
          </a:p>
        </p:txBody>
      </p:sp>
      <p:sp>
        <p:nvSpPr>
          <p:cNvPr id="31" name="Text 29"/>
          <p:cNvSpPr/>
          <p:nvPr/>
        </p:nvSpPr>
        <p:spPr>
          <a:xfrm>
            <a:off x="5532120" y="2834640"/>
            <a:ext cx="1005840" cy="219456"/>
          </a:xfrm>
          <a:prstGeom prst="rect">
            <a:avLst/>
          </a:prstGeom>
          <a:noFill/>
          <a:ln/>
        </p:spPr>
        <p:txBody>
          <a:bodyPr wrap="square" lIns="0" tIns="0" rIns="0" bIns="0" rtlCol="0" anchor="ctr"/>
          <a:lstStyle/>
          <a:p>
            <a:pPr algn="l" indent="0" marL="0">
              <a:buNone/>
            </a:pPr>
            <a:r>
              <a:rPr lang="en-US" sz="660" b="1" spc="40" kern="0" dirty="0">
                <a:solidFill>
                  <a:srgbClr val="FFFFFF"/>
                </a:solidFill>
                <a:latin typeface="Calibri" pitchFamily="34" charset="0"/>
                <a:ea typeface="Calibri" pitchFamily="34" charset="-122"/>
                <a:cs typeface="Calibri" pitchFamily="34" charset="-120"/>
              </a:rPr>
              <a:t>CALL</a:t>
            </a:r>
            <a:endParaRPr lang="en-US" sz="660" dirty="0"/>
          </a:p>
        </p:txBody>
      </p:sp>
      <p:sp>
        <p:nvSpPr>
          <p:cNvPr id="32" name="Shape 30"/>
          <p:cNvSpPr/>
          <p:nvPr/>
        </p:nvSpPr>
        <p:spPr>
          <a:xfrm>
            <a:off x="265176" y="3072384"/>
            <a:ext cx="6327648" cy="365760"/>
          </a:xfrm>
          <a:prstGeom prst="rect">
            <a:avLst/>
          </a:prstGeom>
          <a:solidFill>
            <a:srgbClr val="F4F9F8"/>
          </a:solidFill>
          <a:ln/>
        </p:spPr>
      </p:sp>
      <p:sp>
        <p:nvSpPr>
          <p:cNvPr id="33" name="Shape 31"/>
          <p:cNvSpPr/>
          <p:nvPr/>
        </p:nvSpPr>
        <p:spPr>
          <a:xfrm>
            <a:off x="265176" y="3438144"/>
            <a:ext cx="6327648" cy="0"/>
          </a:xfrm>
          <a:prstGeom prst="line">
            <a:avLst/>
          </a:prstGeom>
          <a:noFill/>
          <a:ln w="6350">
            <a:solidFill>
              <a:srgbClr val="C8DCD7"/>
            </a:solidFill>
            <a:prstDash val="solid"/>
          </a:ln>
        </p:spPr>
      </p:sp>
      <p:sp>
        <p:nvSpPr>
          <p:cNvPr id="34" name="Text 32"/>
          <p:cNvSpPr/>
          <p:nvPr/>
        </p:nvSpPr>
        <p:spPr>
          <a:xfrm>
            <a:off x="320040" y="3072384"/>
            <a:ext cx="1444752" cy="365760"/>
          </a:xfrm>
          <a:prstGeom prst="rect">
            <a:avLst/>
          </a:prstGeom>
          <a:noFill/>
          <a:ln/>
        </p:spPr>
        <p:txBody>
          <a:bodyPr wrap="square" lIns="0" tIns="0" rIns="0" bIns="0" rtlCol="0" anchor="ctr"/>
          <a:lstStyle/>
          <a:p>
            <a:pPr algn="l" indent="0" marL="0">
              <a:buNone/>
            </a:pPr>
            <a:r>
              <a:rPr lang="en-US" sz="760" b="1" dirty="0">
                <a:solidFill>
                  <a:srgbClr val="183B39"/>
                </a:solidFill>
                <a:latin typeface="Calibri" pitchFamily="34" charset="0"/>
                <a:ea typeface="Calibri" pitchFamily="34" charset="-122"/>
                <a:cs typeface="Calibri" pitchFamily="34" charset="-120"/>
              </a:rPr>
              <a:t>Reliance</a:t>
            </a:r>
            <a:endParaRPr lang="en-US" sz="760" dirty="0"/>
          </a:p>
        </p:txBody>
      </p:sp>
      <p:sp>
        <p:nvSpPr>
          <p:cNvPr id="35" name="Text 33"/>
          <p:cNvSpPr/>
          <p:nvPr/>
        </p:nvSpPr>
        <p:spPr>
          <a:xfrm>
            <a:off x="1874520" y="3072384"/>
            <a:ext cx="804672" cy="365760"/>
          </a:xfrm>
          <a:prstGeom prst="rect">
            <a:avLst/>
          </a:prstGeom>
          <a:noFill/>
          <a:ln/>
        </p:spPr>
        <p:txBody>
          <a:bodyPr wrap="square" lIns="0" tIns="0" rIns="0" bIns="0" rtlCol="0" anchor="ctr"/>
          <a:lstStyle/>
          <a:p>
            <a:pPr algn="r" indent="0" marL="0">
              <a:buNone/>
            </a:pPr>
            <a:r>
              <a:rPr lang="en-US" sz="760" dirty="0">
                <a:solidFill>
                  <a:srgbClr val="183B39"/>
                </a:solidFill>
                <a:latin typeface="Calibri" pitchFamily="34" charset="0"/>
                <a:ea typeface="Calibri" pitchFamily="34" charset="-122"/>
                <a:cs typeface="Calibri" pitchFamily="34" charset="-120"/>
              </a:rPr>
              <a:t>₹9.48 Cr</a:t>
            </a:r>
            <a:endParaRPr lang="en-US" sz="760" dirty="0"/>
          </a:p>
        </p:txBody>
      </p:sp>
      <p:sp>
        <p:nvSpPr>
          <p:cNvPr id="36" name="Text 34"/>
          <p:cNvSpPr/>
          <p:nvPr/>
        </p:nvSpPr>
        <p:spPr>
          <a:xfrm>
            <a:off x="2788920" y="3072384"/>
            <a:ext cx="804672" cy="365760"/>
          </a:xfrm>
          <a:prstGeom prst="rect">
            <a:avLst/>
          </a:prstGeom>
          <a:noFill/>
          <a:ln/>
        </p:spPr>
        <p:txBody>
          <a:bodyPr wrap="square" lIns="0" tIns="0" rIns="0" bIns="0" rtlCol="0" anchor="ctr"/>
          <a:lstStyle/>
          <a:p>
            <a:pPr algn="r" indent="0" marL="0">
              <a:buNone/>
            </a:pPr>
            <a:r>
              <a:rPr lang="en-US" sz="760" dirty="0">
                <a:solidFill>
                  <a:srgbClr val="183B39"/>
                </a:solidFill>
                <a:latin typeface="Calibri" pitchFamily="34" charset="0"/>
                <a:ea typeface="Calibri" pitchFamily="34" charset="-122"/>
                <a:cs typeface="Calibri" pitchFamily="34" charset="-120"/>
              </a:rPr>
              <a:t>₹8.06 Cr</a:t>
            </a:r>
            <a:endParaRPr lang="en-US" sz="760" dirty="0"/>
          </a:p>
        </p:txBody>
      </p:sp>
      <p:sp>
        <p:nvSpPr>
          <p:cNvPr id="37" name="Text 35"/>
          <p:cNvSpPr/>
          <p:nvPr/>
        </p:nvSpPr>
        <p:spPr>
          <a:xfrm>
            <a:off x="3703320" y="3072384"/>
            <a:ext cx="896112" cy="365760"/>
          </a:xfrm>
          <a:prstGeom prst="rect">
            <a:avLst/>
          </a:prstGeom>
          <a:noFill/>
          <a:ln/>
        </p:spPr>
        <p:txBody>
          <a:bodyPr wrap="square" lIns="0" tIns="0" rIns="0" bIns="0" rtlCol="0" anchor="ctr"/>
          <a:lstStyle/>
          <a:p>
            <a:pPr algn="r" indent="0" marL="0">
              <a:buNone/>
            </a:pPr>
            <a:r>
              <a:rPr lang="en-US" sz="760" b="1" dirty="0">
                <a:solidFill>
                  <a:srgbClr val="D6544D"/>
                </a:solidFill>
                <a:latin typeface="Calibri" pitchFamily="34" charset="0"/>
                <a:ea typeface="Calibri" pitchFamily="34" charset="-122"/>
                <a:cs typeface="Calibri" pitchFamily="34" charset="-120"/>
              </a:rPr>
              <a:t>−1.42</a:t>
            </a:r>
            <a:endParaRPr lang="en-US" sz="760" dirty="0"/>
          </a:p>
        </p:txBody>
      </p:sp>
      <p:sp>
        <p:nvSpPr>
          <p:cNvPr id="38" name="Text 36"/>
          <p:cNvSpPr/>
          <p:nvPr/>
        </p:nvSpPr>
        <p:spPr>
          <a:xfrm>
            <a:off x="4709160" y="3072384"/>
            <a:ext cx="713232" cy="365760"/>
          </a:xfrm>
          <a:prstGeom prst="rect">
            <a:avLst/>
          </a:prstGeom>
          <a:noFill/>
          <a:ln/>
        </p:spPr>
        <p:txBody>
          <a:bodyPr wrap="square" lIns="0" tIns="0" rIns="0" bIns="0" rtlCol="0" anchor="ctr"/>
          <a:lstStyle/>
          <a:p>
            <a:pPr algn="r" indent="0" marL="0">
              <a:buNone/>
            </a:pPr>
            <a:r>
              <a:rPr lang="en-US" sz="760" dirty="0">
                <a:solidFill>
                  <a:srgbClr val="D6544D"/>
                </a:solidFill>
                <a:latin typeface="Calibri" pitchFamily="34" charset="0"/>
                <a:ea typeface="Calibri" pitchFamily="34" charset="-122"/>
                <a:cs typeface="Calibri" pitchFamily="34" charset="-120"/>
              </a:rPr>
              <a:t>−15.0%</a:t>
            </a:r>
            <a:endParaRPr lang="en-US" sz="760" dirty="0"/>
          </a:p>
        </p:txBody>
      </p:sp>
      <p:sp>
        <p:nvSpPr>
          <p:cNvPr id="39" name="Text 37"/>
          <p:cNvSpPr/>
          <p:nvPr/>
        </p:nvSpPr>
        <p:spPr>
          <a:xfrm>
            <a:off x="5532120" y="3072384"/>
            <a:ext cx="1005840" cy="365760"/>
          </a:xfrm>
          <a:prstGeom prst="rect">
            <a:avLst/>
          </a:prstGeom>
          <a:noFill/>
          <a:ln/>
        </p:spPr>
        <p:txBody>
          <a:bodyPr wrap="square" lIns="0" tIns="0" rIns="0" bIns="0" rtlCol="0" anchor="ctr"/>
          <a:lstStyle/>
          <a:p>
            <a:pPr algn="l" indent="0" marL="0">
              <a:buNone/>
            </a:pPr>
            <a:r>
              <a:rPr lang="en-US" sz="760" b="1" dirty="0">
                <a:solidFill>
                  <a:srgbClr val="D6544D"/>
                </a:solidFill>
                <a:latin typeface="Calibri" pitchFamily="34" charset="0"/>
                <a:ea typeface="Calibri" pitchFamily="34" charset="-122"/>
                <a:cs typeface="Calibri" pitchFamily="34" charset="-120"/>
              </a:rPr>
              <a:t>RECOVER — lead case</a:t>
            </a:r>
            <a:endParaRPr lang="en-US" sz="760" dirty="0"/>
          </a:p>
        </p:txBody>
      </p:sp>
      <p:sp>
        <p:nvSpPr>
          <p:cNvPr id="40" name="Shape 38"/>
          <p:cNvSpPr/>
          <p:nvPr/>
        </p:nvSpPr>
        <p:spPr>
          <a:xfrm>
            <a:off x="265176" y="3803904"/>
            <a:ext cx="6327648" cy="0"/>
          </a:xfrm>
          <a:prstGeom prst="line">
            <a:avLst/>
          </a:prstGeom>
          <a:noFill/>
          <a:ln w="6350">
            <a:solidFill>
              <a:srgbClr val="C8DCD7"/>
            </a:solidFill>
            <a:prstDash val="solid"/>
          </a:ln>
        </p:spPr>
      </p:sp>
      <p:sp>
        <p:nvSpPr>
          <p:cNvPr id="41" name="Text 39"/>
          <p:cNvSpPr/>
          <p:nvPr/>
        </p:nvSpPr>
        <p:spPr>
          <a:xfrm>
            <a:off x="320040" y="3438144"/>
            <a:ext cx="1444752" cy="365760"/>
          </a:xfrm>
          <a:prstGeom prst="rect">
            <a:avLst/>
          </a:prstGeom>
          <a:noFill/>
          <a:ln/>
        </p:spPr>
        <p:txBody>
          <a:bodyPr wrap="square" lIns="0" tIns="0" rIns="0" bIns="0" rtlCol="0" anchor="ctr"/>
          <a:lstStyle/>
          <a:p>
            <a:pPr algn="l" indent="0" marL="0">
              <a:buNone/>
            </a:pPr>
            <a:r>
              <a:rPr lang="en-US" sz="760" b="1" dirty="0">
                <a:solidFill>
                  <a:srgbClr val="183B39"/>
                </a:solidFill>
                <a:latin typeface="Calibri" pitchFamily="34" charset="0"/>
                <a:ea typeface="Calibri" pitchFamily="34" charset="-122"/>
                <a:cs typeface="Calibri" pitchFamily="34" charset="-120"/>
              </a:rPr>
              <a:t>Lulu</a:t>
            </a:r>
            <a:endParaRPr lang="en-US" sz="760" dirty="0"/>
          </a:p>
        </p:txBody>
      </p:sp>
      <p:sp>
        <p:nvSpPr>
          <p:cNvPr id="42" name="Text 40"/>
          <p:cNvSpPr/>
          <p:nvPr/>
        </p:nvSpPr>
        <p:spPr>
          <a:xfrm>
            <a:off x="1874520" y="3438144"/>
            <a:ext cx="804672" cy="365760"/>
          </a:xfrm>
          <a:prstGeom prst="rect">
            <a:avLst/>
          </a:prstGeom>
          <a:noFill/>
          <a:ln/>
        </p:spPr>
        <p:txBody>
          <a:bodyPr wrap="square" lIns="0" tIns="0" rIns="0" bIns="0" rtlCol="0" anchor="ctr"/>
          <a:lstStyle/>
          <a:p>
            <a:pPr algn="r" indent="0" marL="0">
              <a:buNone/>
            </a:pPr>
            <a:r>
              <a:rPr lang="en-US" sz="760" dirty="0">
                <a:solidFill>
                  <a:srgbClr val="183B39"/>
                </a:solidFill>
                <a:latin typeface="Calibri" pitchFamily="34" charset="0"/>
                <a:ea typeface="Calibri" pitchFamily="34" charset="-122"/>
                <a:cs typeface="Calibri" pitchFamily="34" charset="-120"/>
              </a:rPr>
              <a:t>₹1.16 Cr</a:t>
            </a:r>
            <a:endParaRPr lang="en-US" sz="760" dirty="0"/>
          </a:p>
        </p:txBody>
      </p:sp>
      <p:sp>
        <p:nvSpPr>
          <p:cNvPr id="43" name="Text 41"/>
          <p:cNvSpPr/>
          <p:nvPr/>
        </p:nvSpPr>
        <p:spPr>
          <a:xfrm>
            <a:off x="2788920" y="3438144"/>
            <a:ext cx="804672" cy="365760"/>
          </a:xfrm>
          <a:prstGeom prst="rect">
            <a:avLst/>
          </a:prstGeom>
          <a:noFill/>
          <a:ln/>
        </p:spPr>
        <p:txBody>
          <a:bodyPr wrap="square" lIns="0" tIns="0" rIns="0" bIns="0" rtlCol="0" anchor="ctr"/>
          <a:lstStyle/>
          <a:p>
            <a:pPr algn="r" indent="0" marL="0">
              <a:buNone/>
            </a:pPr>
            <a:r>
              <a:rPr lang="en-US" sz="760" dirty="0">
                <a:solidFill>
                  <a:srgbClr val="183B39"/>
                </a:solidFill>
                <a:latin typeface="Calibri" pitchFamily="34" charset="0"/>
                <a:ea typeface="Calibri" pitchFamily="34" charset="-122"/>
                <a:cs typeface="Calibri" pitchFamily="34" charset="-120"/>
              </a:rPr>
              <a:t>₹1.70 Cr</a:t>
            </a:r>
            <a:endParaRPr lang="en-US" sz="760" dirty="0"/>
          </a:p>
        </p:txBody>
      </p:sp>
      <p:sp>
        <p:nvSpPr>
          <p:cNvPr id="44" name="Text 42"/>
          <p:cNvSpPr/>
          <p:nvPr/>
        </p:nvSpPr>
        <p:spPr>
          <a:xfrm>
            <a:off x="3703320" y="3438144"/>
            <a:ext cx="896112" cy="365760"/>
          </a:xfrm>
          <a:prstGeom prst="rect">
            <a:avLst/>
          </a:prstGeom>
          <a:noFill/>
          <a:ln/>
        </p:spPr>
        <p:txBody>
          <a:bodyPr wrap="square" lIns="0" tIns="0" rIns="0" bIns="0" rtlCol="0" anchor="ctr"/>
          <a:lstStyle/>
          <a:p>
            <a:pPr algn="r" indent="0" marL="0">
              <a:buNone/>
            </a:pPr>
            <a:r>
              <a:rPr lang="en-US" sz="760" b="1" dirty="0">
                <a:solidFill>
                  <a:srgbClr val="F2B84B"/>
                </a:solidFill>
                <a:latin typeface="Calibri" pitchFamily="34" charset="0"/>
                <a:ea typeface="Calibri" pitchFamily="34" charset="-122"/>
                <a:cs typeface="Calibri" pitchFamily="34" charset="-120"/>
              </a:rPr>
              <a:t>+0.54</a:t>
            </a:r>
            <a:endParaRPr lang="en-US" sz="760" dirty="0"/>
          </a:p>
        </p:txBody>
      </p:sp>
      <p:sp>
        <p:nvSpPr>
          <p:cNvPr id="45" name="Text 43"/>
          <p:cNvSpPr/>
          <p:nvPr/>
        </p:nvSpPr>
        <p:spPr>
          <a:xfrm>
            <a:off x="4709160" y="3438144"/>
            <a:ext cx="713232" cy="365760"/>
          </a:xfrm>
          <a:prstGeom prst="rect">
            <a:avLst/>
          </a:prstGeom>
          <a:noFill/>
          <a:ln/>
        </p:spPr>
        <p:txBody>
          <a:bodyPr wrap="square" lIns="0" tIns="0" rIns="0" bIns="0" rtlCol="0" anchor="ctr"/>
          <a:lstStyle/>
          <a:p>
            <a:pPr algn="r" indent="0" marL="0">
              <a:buNone/>
            </a:pPr>
            <a:r>
              <a:rPr lang="en-US" sz="760" dirty="0">
                <a:solidFill>
                  <a:srgbClr val="F2B84B"/>
                </a:solidFill>
                <a:latin typeface="Calibri" pitchFamily="34" charset="0"/>
                <a:ea typeface="Calibri" pitchFamily="34" charset="-122"/>
                <a:cs typeface="Calibri" pitchFamily="34" charset="-120"/>
              </a:rPr>
              <a:t>+46.5%</a:t>
            </a:r>
            <a:endParaRPr lang="en-US" sz="760" dirty="0"/>
          </a:p>
        </p:txBody>
      </p:sp>
      <p:sp>
        <p:nvSpPr>
          <p:cNvPr id="46" name="Text 44"/>
          <p:cNvSpPr/>
          <p:nvPr/>
        </p:nvSpPr>
        <p:spPr>
          <a:xfrm>
            <a:off x="5532120" y="3438144"/>
            <a:ext cx="1005840" cy="365760"/>
          </a:xfrm>
          <a:prstGeom prst="rect">
            <a:avLst/>
          </a:prstGeom>
          <a:noFill/>
          <a:ln/>
        </p:spPr>
        <p:txBody>
          <a:bodyPr wrap="square" lIns="0" tIns="0" rIns="0" bIns="0" rtlCol="0" anchor="ctr"/>
          <a:lstStyle/>
          <a:p>
            <a:pPr algn="l" indent="0" marL="0">
              <a:buNone/>
            </a:pPr>
            <a:r>
              <a:rPr lang="en-US" sz="760" b="1" dirty="0">
                <a:solidFill>
                  <a:srgbClr val="F2B84B"/>
                </a:solidFill>
                <a:latin typeface="Calibri" pitchFamily="34" charset="0"/>
                <a:ea typeface="Calibri" pitchFamily="34" charset="-122"/>
                <a:cs typeface="Calibri" pitchFamily="34" charset="-120"/>
              </a:rPr>
              <a:t>VERIFY — no mapped primary</a:t>
            </a:r>
            <a:endParaRPr lang="en-US" sz="760" dirty="0"/>
          </a:p>
        </p:txBody>
      </p:sp>
      <p:sp>
        <p:nvSpPr>
          <p:cNvPr id="47" name="Shape 45"/>
          <p:cNvSpPr/>
          <p:nvPr/>
        </p:nvSpPr>
        <p:spPr>
          <a:xfrm>
            <a:off x="265176" y="3803904"/>
            <a:ext cx="6327648" cy="365760"/>
          </a:xfrm>
          <a:prstGeom prst="rect">
            <a:avLst/>
          </a:prstGeom>
          <a:solidFill>
            <a:srgbClr val="F4F9F8"/>
          </a:solidFill>
          <a:ln/>
        </p:spPr>
      </p:sp>
      <p:sp>
        <p:nvSpPr>
          <p:cNvPr id="48" name="Shape 46"/>
          <p:cNvSpPr/>
          <p:nvPr/>
        </p:nvSpPr>
        <p:spPr>
          <a:xfrm>
            <a:off x="265176" y="4169664"/>
            <a:ext cx="6327648" cy="0"/>
          </a:xfrm>
          <a:prstGeom prst="line">
            <a:avLst/>
          </a:prstGeom>
          <a:noFill/>
          <a:ln w="6350">
            <a:solidFill>
              <a:srgbClr val="C8DCD7"/>
            </a:solidFill>
            <a:prstDash val="solid"/>
          </a:ln>
        </p:spPr>
      </p:sp>
      <p:sp>
        <p:nvSpPr>
          <p:cNvPr id="49" name="Text 47"/>
          <p:cNvSpPr/>
          <p:nvPr/>
        </p:nvSpPr>
        <p:spPr>
          <a:xfrm>
            <a:off x="320040" y="3803904"/>
            <a:ext cx="1444752" cy="365760"/>
          </a:xfrm>
          <a:prstGeom prst="rect">
            <a:avLst/>
          </a:prstGeom>
          <a:noFill/>
          <a:ln/>
        </p:spPr>
        <p:txBody>
          <a:bodyPr wrap="square" lIns="0" tIns="0" rIns="0" bIns="0" rtlCol="0" anchor="ctr"/>
          <a:lstStyle/>
          <a:p>
            <a:pPr algn="l" indent="0" marL="0">
              <a:buNone/>
            </a:pPr>
            <a:r>
              <a:rPr lang="en-US" sz="760" b="1" dirty="0">
                <a:solidFill>
                  <a:srgbClr val="183B39"/>
                </a:solidFill>
                <a:latin typeface="Calibri" pitchFamily="34" charset="0"/>
                <a:ea typeface="Calibri" pitchFamily="34" charset="-122"/>
                <a:cs typeface="Calibri" pitchFamily="34" charset="-120"/>
              </a:rPr>
              <a:t>DMart</a:t>
            </a:r>
            <a:endParaRPr lang="en-US" sz="760" dirty="0"/>
          </a:p>
        </p:txBody>
      </p:sp>
      <p:sp>
        <p:nvSpPr>
          <p:cNvPr id="50" name="Text 48"/>
          <p:cNvSpPr/>
          <p:nvPr/>
        </p:nvSpPr>
        <p:spPr>
          <a:xfrm>
            <a:off x="1874520" y="3803904"/>
            <a:ext cx="804672" cy="365760"/>
          </a:xfrm>
          <a:prstGeom prst="rect">
            <a:avLst/>
          </a:prstGeom>
          <a:noFill/>
          <a:ln/>
        </p:spPr>
        <p:txBody>
          <a:bodyPr wrap="square" lIns="0" tIns="0" rIns="0" bIns="0" rtlCol="0" anchor="ctr"/>
          <a:lstStyle/>
          <a:p>
            <a:pPr algn="r" indent="0" marL="0">
              <a:buNone/>
            </a:pPr>
            <a:r>
              <a:rPr lang="en-US" sz="760" dirty="0">
                <a:solidFill>
                  <a:srgbClr val="183B39"/>
                </a:solidFill>
                <a:latin typeface="Calibri" pitchFamily="34" charset="0"/>
                <a:ea typeface="Calibri" pitchFamily="34" charset="-122"/>
                <a:cs typeface="Calibri" pitchFamily="34" charset="-120"/>
              </a:rPr>
              <a:t>₹14.56 Cr</a:t>
            </a:r>
            <a:endParaRPr lang="en-US" sz="760" dirty="0"/>
          </a:p>
        </p:txBody>
      </p:sp>
      <p:sp>
        <p:nvSpPr>
          <p:cNvPr id="51" name="Text 49"/>
          <p:cNvSpPr/>
          <p:nvPr/>
        </p:nvSpPr>
        <p:spPr>
          <a:xfrm>
            <a:off x="2788920" y="3803904"/>
            <a:ext cx="804672" cy="365760"/>
          </a:xfrm>
          <a:prstGeom prst="rect">
            <a:avLst/>
          </a:prstGeom>
          <a:noFill/>
          <a:ln/>
        </p:spPr>
        <p:txBody>
          <a:bodyPr wrap="square" lIns="0" tIns="0" rIns="0" bIns="0" rtlCol="0" anchor="ctr"/>
          <a:lstStyle/>
          <a:p>
            <a:pPr algn="r" indent="0" marL="0">
              <a:buNone/>
            </a:pPr>
            <a:r>
              <a:rPr lang="en-US" sz="760" dirty="0">
                <a:solidFill>
                  <a:srgbClr val="183B39"/>
                </a:solidFill>
                <a:latin typeface="Calibri" pitchFamily="34" charset="0"/>
                <a:ea typeface="Calibri" pitchFamily="34" charset="-122"/>
                <a:cs typeface="Calibri" pitchFamily="34" charset="-120"/>
              </a:rPr>
              <a:t>₹14.33 Cr</a:t>
            </a:r>
            <a:endParaRPr lang="en-US" sz="760" dirty="0"/>
          </a:p>
        </p:txBody>
      </p:sp>
      <p:sp>
        <p:nvSpPr>
          <p:cNvPr id="52" name="Text 50"/>
          <p:cNvSpPr/>
          <p:nvPr/>
        </p:nvSpPr>
        <p:spPr>
          <a:xfrm>
            <a:off x="3703320" y="3803904"/>
            <a:ext cx="896112" cy="365760"/>
          </a:xfrm>
          <a:prstGeom prst="rect">
            <a:avLst/>
          </a:prstGeom>
          <a:noFill/>
          <a:ln/>
        </p:spPr>
        <p:txBody>
          <a:bodyPr wrap="square" lIns="0" tIns="0" rIns="0" bIns="0" rtlCol="0" anchor="ctr"/>
          <a:lstStyle/>
          <a:p>
            <a:pPr algn="r" indent="0" marL="0">
              <a:buNone/>
            </a:pPr>
            <a:r>
              <a:rPr lang="en-US" sz="760" dirty="0">
                <a:solidFill>
                  <a:srgbClr val="5F716E"/>
                </a:solidFill>
                <a:latin typeface="Calibri" pitchFamily="34" charset="0"/>
                <a:ea typeface="Calibri" pitchFamily="34" charset="-122"/>
                <a:cs typeface="Calibri" pitchFamily="34" charset="-120"/>
              </a:rPr>
              <a:t>−0.23</a:t>
            </a:r>
            <a:endParaRPr lang="en-US" sz="760" dirty="0"/>
          </a:p>
        </p:txBody>
      </p:sp>
      <p:sp>
        <p:nvSpPr>
          <p:cNvPr id="53" name="Text 51"/>
          <p:cNvSpPr/>
          <p:nvPr/>
        </p:nvSpPr>
        <p:spPr>
          <a:xfrm>
            <a:off x="4709160" y="3803904"/>
            <a:ext cx="713232" cy="365760"/>
          </a:xfrm>
          <a:prstGeom prst="rect">
            <a:avLst/>
          </a:prstGeom>
          <a:noFill/>
          <a:ln/>
        </p:spPr>
        <p:txBody>
          <a:bodyPr wrap="square" lIns="0" tIns="0" rIns="0" bIns="0" rtlCol="0" anchor="ctr"/>
          <a:lstStyle/>
          <a:p>
            <a:pPr algn="r" indent="0" marL="0">
              <a:buNone/>
            </a:pPr>
            <a:r>
              <a:rPr lang="en-US" sz="760" dirty="0">
                <a:solidFill>
                  <a:srgbClr val="5F716E"/>
                </a:solidFill>
                <a:latin typeface="Calibri" pitchFamily="34" charset="0"/>
                <a:ea typeface="Calibri" pitchFamily="34" charset="-122"/>
                <a:cs typeface="Calibri" pitchFamily="34" charset="-120"/>
              </a:rPr>
              <a:t>−1.5%</a:t>
            </a:r>
            <a:endParaRPr lang="en-US" sz="760" dirty="0"/>
          </a:p>
        </p:txBody>
      </p:sp>
      <p:sp>
        <p:nvSpPr>
          <p:cNvPr id="54" name="Text 52"/>
          <p:cNvSpPr/>
          <p:nvPr/>
        </p:nvSpPr>
        <p:spPr>
          <a:xfrm>
            <a:off x="5532120" y="3803904"/>
            <a:ext cx="1005840" cy="365760"/>
          </a:xfrm>
          <a:prstGeom prst="rect">
            <a:avLst/>
          </a:prstGeom>
          <a:noFill/>
          <a:ln/>
        </p:spPr>
        <p:txBody>
          <a:bodyPr wrap="square" lIns="0" tIns="0" rIns="0" bIns="0" rtlCol="0" anchor="ctr"/>
          <a:lstStyle/>
          <a:p>
            <a:pPr algn="l" indent="0" marL="0">
              <a:buNone/>
            </a:pPr>
            <a:r>
              <a:rPr lang="en-US" sz="760" dirty="0">
                <a:solidFill>
                  <a:srgbClr val="2B9A66"/>
                </a:solidFill>
                <a:latin typeface="Calibri" pitchFamily="34" charset="0"/>
                <a:ea typeface="Calibri" pitchFamily="34" charset="-122"/>
                <a:cs typeface="Calibri" pitchFamily="34" charset="-120"/>
              </a:rPr>
              <a:t>STABLE — largest account</a:t>
            </a:r>
            <a:endParaRPr lang="en-US" sz="760" dirty="0"/>
          </a:p>
        </p:txBody>
      </p:sp>
      <p:sp>
        <p:nvSpPr>
          <p:cNvPr id="55" name="Shape 53"/>
          <p:cNvSpPr/>
          <p:nvPr/>
        </p:nvSpPr>
        <p:spPr>
          <a:xfrm>
            <a:off x="265176" y="4297680"/>
            <a:ext cx="6327648" cy="402336"/>
          </a:xfrm>
          <a:prstGeom prst="roundRect">
            <a:avLst>
              <a:gd name="adj" fmla="val 4545"/>
            </a:avLst>
          </a:prstGeom>
          <a:solidFill>
            <a:srgbClr val="F4F9F8"/>
          </a:solidFill>
          <a:ln w="9525">
            <a:solidFill>
              <a:srgbClr val="C8DCD7"/>
            </a:solidFill>
            <a:prstDash val="solid"/>
          </a:ln>
        </p:spPr>
      </p:sp>
      <p:sp>
        <p:nvSpPr>
          <p:cNvPr id="56" name="Text 54"/>
          <p:cNvSpPr/>
          <p:nvPr/>
        </p:nvSpPr>
        <p:spPr>
          <a:xfrm>
            <a:off x="374904" y="4343400"/>
            <a:ext cx="6108192" cy="329184"/>
          </a:xfrm>
          <a:prstGeom prst="rect">
            <a:avLst/>
          </a:prstGeom>
          <a:noFill/>
          <a:ln/>
        </p:spPr>
        <p:txBody>
          <a:bodyPr wrap="square" lIns="0" tIns="0" rIns="0" bIns="0" rtlCol="0" anchor="t"/>
          <a:lstStyle/>
          <a:p>
            <a:pPr indent="0" marL="0">
              <a:lnSpc>
                <a:spcPct val="94000"/>
              </a:lnSpc>
              <a:buNone/>
            </a:pPr>
            <a:r>
              <a:rPr lang="en-US" sz="660" b="1" dirty="0">
                <a:solidFill>
                  <a:srgbClr val="5F716E"/>
                </a:solidFill>
                <a:latin typeface="Calibri" pitchFamily="34" charset="0"/>
                <a:ea typeface="Calibri" pitchFamily="34" charset="-122"/>
                <a:cs typeface="Calibri" pitchFamily="34" charset="-120"/>
              </a:rPr>
              <a:t>BELOW THE FLOOR   </a:t>
            </a:r>
            <a:pPr indent="0" marL="0">
              <a:lnSpc>
                <a:spcPct val="94000"/>
              </a:lnSpc>
              <a:buNone/>
            </a:pPr>
            <a:r>
              <a:rPr lang="en-US" sz="680" dirty="0">
                <a:solidFill>
                  <a:srgbClr val="183B39"/>
                </a:solidFill>
                <a:latin typeface="Calibri" pitchFamily="34" charset="0"/>
                <a:ea typeface="Calibri" pitchFamily="34" charset="-122"/>
                <a:cs typeface="Calibri" pitchFamily="34" charset="-120"/>
              </a:rPr>
              <a:t>Ten chains moved less than ₹0.25 Cr and are excluded from ranking: Wellness Forever −0.08, Metro −0.12, Vishal Mega Mart +0.05, More Retail −0.03, Health &amp; Glow −0.01, V-Mart −0.01, Spencer +0.01, Arambagh −0.01, Ratandeep 0.00, Sasta Sundar +0.01, Sumo Save +0.01. Combined they moved −₹0.19 Cr.</a:t>
            </a:r>
            <a:endParaRPr lang="en-US" sz="660" dirty="0"/>
          </a:p>
        </p:txBody>
      </p:sp>
      <p:sp>
        <p:nvSpPr>
          <p:cNvPr id="57" name="Shape 55"/>
          <p:cNvSpPr/>
          <p:nvPr/>
        </p:nvSpPr>
        <p:spPr>
          <a:xfrm>
            <a:off x="265176" y="4846320"/>
            <a:ext cx="2036064" cy="2249424"/>
          </a:xfrm>
          <a:prstGeom prst="roundRect">
            <a:avLst>
              <a:gd name="adj" fmla="val 898"/>
            </a:avLst>
          </a:prstGeom>
          <a:solidFill>
            <a:srgbClr val="FFFFFF"/>
          </a:solidFill>
          <a:ln w="9525">
            <a:solidFill>
              <a:srgbClr val="C8DCD7"/>
            </a:solidFill>
            <a:prstDash val="solid"/>
          </a:ln>
        </p:spPr>
      </p:sp>
      <p:sp>
        <p:nvSpPr>
          <p:cNvPr id="58" name="Shape 56"/>
          <p:cNvSpPr/>
          <p:nvPr/>
        </p:nvSpPr>
        <p:spPr>
          <a:xfrm>
            <a:off x="265176" y="4846320"/>
            <a:ext cx="2036064" cy="274320"/>
          </a:xfrm>
          <a:prstGeom prst="rect">
            <a:avLst/>
          </a:prstGeom>
          <a:solidFill>
            <a:srgbClr val="D6544D"/>
          </a:solidFill>
          <a:ln/>
        </p:spPr>
      </p:sp>
      <p:sp>
        <p:nvSpPr>
          <p:cNvPr id="59" name="Text 57"/>
          <p:cNvSpPr/>
          <p:nvPr/>
        </p:nvSpPr>
        <p:spPr>
          <a:xfrm>
            <a:off x="347472" y="4864608"/>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THE DECLINE</a:t>
            </a:r>
            <a:endParaRPr lang="en-US" sz="700" dirty="0"/>
          </a:p>
        </p:txBody>
      </p:sp>
      <p:sp>
        <p:nvSpPr>
          <p:cNvPr id="60" name="Text 58"/>
          <p:cNvSpPr/>
          <p:nvPr/>
        </p:nvSpPr>
        <p:spPr>
          <a:xfrm>
            <a:off x="356616" y="5212080"/>
            <a:ext cx="1853184" cy="347472"/>
          </a:xfrm>
          <a:prstGeom prst="rect">
            <a:avLst/>
          </a:prstGeom>
          <a:noFill/>
          <a:ln/>
        </p:spPr>
        <p:txBody>
          <a:bodyPr wrap="square" lIns="0" tIns="0" rIns="0" bIns="0" rtlCol="0" anchor="t"/>
          <a:lstStyle/>
          <a:p>
            <a:pPr algn="ctr" indent="0" marL="0">
              <a:buNone/>
            </a:pPr>
            <a:r>
              <a:rPr lang="en-US" sz="1600" b="1" dirty="0">
                <a:solidFill>
                  <a:srgbClr val="D6544D"/>
                </a:solidFill>
                <a:latin typeface="Calibri Light" pitchFamily="34" charset="0"/>
                <a:ea typeface="Calibri Light" pitchFamily="34" charset="-122"/>
                <a:cs typeface="Calibri Light" pitchFamily="34" charset="-120"/>
              </a:rPr>
              <a:t>−₹1.42 Cr</a:t>
            </a:r>
            <a:endParaRPr lang="en-US" sz="1600" dirty="0"/>
          </a:p>
        </p:txBody>
      </p:sp>
      <p:sp>
        <p:nvSpPr>
          <p:cNvPr id="61" name="Text 59"/>
          <p:cNvSpPr/>
          <p:nvPr/>
        </p:nvSpPr>
        <p:spPr>
          <a:xfrm>
            <a:off x="356616" y="5577840"/>
            <a:ext cx="1853184" cy="164592"/>
          </a:xfrm>
          <a:prstGeom prst="rect">
            <a:avLst/>
          </a:prstGeom>
          <a:noFill/>
          <a:ln/>
        </p:spPr>
        <p:txBody>
          <a:bodyPr wrap="square" lIns="0" tIns="0" rIns="0" bIns="0" rtlCol="0" anchor="t"/>
          <a:lstStyle/>
          <a:p>
            <a:pPr algn="ctr" indent="0" marL="0">
              <a:buNone/>
            </a:pPr>
            <a:r>
              <a:rPr lang="en-US" sz="680" dirty="0">
                <a:solidFill>
                  <a:srgbClr val="5F716E"/>
                </a:solidFill>
                <a:latin typeface="Calibri" pitchFamily="34" charset="0"/>
                <a:ea typeface="Calibri" pitchFamily="34" charset="-122"/>
                <a:cs typeface="Calibri" pitchFamily="34" charset="-120"/>
              </a:rPr>
              <a:t>Reliance, June → July</a:t>
            </a:r>
            <a:endParaRPr lang="en-US" sz="680" dirty="0"/>
          </a:p>
        </p:txBody>
      </p:sp>
      <p:sp>
        <p:nvSpPr>
          <p:cNvPr id="62" name="Shape 60"/>
          <p:cNvSpPr/>
          <p:nvPr/>
        </p:nvSpPr>
        <p:spPr>
          <a:xfrm>
            <a:off x="374904" y="5865876"/>
            <a:ext cx="50292" cy="50292"/>
          </a:xfrm>
          <a:prstGeom prst="ellipse">
            <a:avLst/>
          </a:prstGeom>
          <a:solidFill>
            <a:srgbClr val="D6544D"/>
          </a:solidFill>
          <a:ln/>
        </p:spPr>
      </p:sp>
      <p:sp>
        <p:nvSpPr>
          <p:cNvPr id="63" name="Text 61"/>
          <p:cNvSpPr/>
          <p:nvPr/>
        </p:nvSpPr>
        <p:spPr>
          <a:xfrm>
            <a:off x="493776" y="5815584"/>
            <a:ext cx="1697736" cy="384048"/>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Mamaearth Shampoo and Sun Care carry most of the fall.</a:t>
            </a:r>
            <a:endParaRPr lang="en-US" sz="700" dirty="0"/>
          </a:p>
        </p:txBody>
      </p:sp>
      <p:sp>
        <p:nvSpPr>
          <p:cNvPr id="64" name="Shape 62"/>
          <p:cNvSpPr/>
          <p:nvPr/>
        </p:nvSpPr>
        <p:spPr>
          <a:xfrm>
            <a:off x="374904" y="6268212"/>
            <a:ext cx="50292" cy="50292"/>
          </a:xfrm>
          <a:prstGeom prst="ellipse">
            <a:avLst/>
          </a:prstGeom>
          <a:solidFill>
            <a:srgbClr val="D6544D"/>
          </a:solidFill>
          <a:ln/>
        </p:spPr>
      </p:sp>
      <p:sp>
        <p:nvSpPr>
          <p:cNvPr id="65" name="Text 63"/>
          <p:cNvSpPr/>
          <p:nvPr/>
        </p:nvSpPr>
        <p:spPr>
          <a:xfrm>
            <a:off x="493776" y="6217920"/>
            <a:ext cx="1697736" cy="384048"/>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Reliance converts 51.4% nationally — 44.9% in North, 52.9% in East.</a:t>
            </a:r>
            <a:endParaRPr lang="en-US" sz="700" dirty="0"/>
          </a:p>
        </p:txBody>
      </p:sp>
      <p:sp>
        <p:nvSpPr>
          <p:cNvPr id="66" name="Shape 64"/>
          <p:cNvSpPr/>
          <p:nvPr/>
        </p:nvSpPr>
        <p:spPr>
          <a:xfrm>
            <a:off x="374904" y="6670548"/>
            <a:ext cx="50292" cy="50292"/>
          </a:xfrm>
          <a:prstGeom prst="ellipse">
            <a:avLst/>
          </a:prstGeom>
          <a:solidFill>
            <a:srgbClr val="D6544D"/>
          </a:solidFill>
          <a:ln/>
        </p:spPr>
      </p:sp>
      <p:sp>
        <p:nvSpPr>
          <p:cNvPr id="67" name="Text 65"/>
          <p:cNvSpPr/>
          <p:nvPr/>
        </p:nvSpPr>
        <p:spPr>
          <a:xfrm>
            <a:off x="493776" y="6620256"/>
            <a:ext cx="1697736" cy="384048"/>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The account is the pattern; the zones are where it shows.</a:t>
            </a:r>
            <a:endParaRPr lang="en-US" sz="700" dirty="0"/>
          </a:p>
        </p:txBody>
      </p:sp>
      <p:sp>
        <p:nvSpPr>
          <p:cNvPr id="68" name="Shape 66"/>
          <p:cNvSpPr/>
          <p:nvPr/>
        </p:nvSpPr>
        <p:spPr>
          <a:xfrm>
            <a:off x="2410968" y="4846320"/>
            <a:ext cx="2036064" cy="2249424"/>
          </a:xfrm>
          <a:prstGeom prst="roundRect">
            <a:avLst>
              <a:gd name="adj" fmla="val 898"/>
            </a:avLst>
          </a:prstGeom>
          <a:solidFill>
            <a:srgbClr val="FFFFFF"/>
          </a:solidFill>
          <a:ln w="9525">
            <a:solidFill>
              <a:srgbClr val="C8DCD7"/>
            </a:solidFill>
            <a:prstDash val="solid"/>
          </a:ln>
        </p:spPr>
      </p:sp>
      <p:sp>
        <p:nvSpPr>
          <p:cNvPr id="69" name="Shape 67"/>
          <p:cNvSpPr/>
          <p:nvPr/>
        </p:nvSpPr>
        <p:spPr>
          <a:xfrm>
            <a:off x="2410968" y="4846320"/>
            <a:ext cx="2036064" cy="274320"/>
          </a:xfrm>
          <a:prstGeom prst="rect">
            <a:avLst/>
          </a:prstGeom>
          <a:solidFill>
            <a:srgbClr val="F2B84B"/>
          </a:solidFill>
          <a:ln/>
        </p:spPr>
      </p:sp>
      <p:sp>
        <p:nvSpPr>
          <p:cNvPr id="70" name="Text 68"/>
          <p:cNvSpPr/>
          <p:nvPr/>
        </p:nvSpPr>
        <p:spPr>
          <a:xfrm>
            <a:off x="2493264" y="4864608"/>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THE UNVERIFIED GROWTH</a:t>
            </a:r>
            <a:endParaRPr lang="en-US" sz="700" dirty="0"/>
          </a:p>
        </p:txBody>
      </p:sp>
      <p:sp>
        <p:nvSpPr>
          <p:cNvPr id="71" name="Text 69"/>
          <p:cNvSpPr/>
          <p:nvPr/>
        </p:nvSpPr>
        <p:spPr>
          <a:xfrm>
            <a:off x="2502408" y="5212080"/>
            <a:ext cx="1853184" cy="347472"/>
          </a:xfrm>
          <a:prstGeom prst="rect">
            <a:avLst/>
          </a:prstGeom>
          <a:noFill/>
          <a:ln/>
        </p:spPr>
        <p:txBody>
          <a:bodyPr wrap="square" lIns="0" tIns="0" rIns="0" bIns="0" rtlCol="0" anchor="t"/>
          <a:lstStyle/>
          <a:p>
            <a:pPr algn="ctr" indent="0" marL="0">
              <a:buNone/>
            </a:pPr>
            <a:r>
              <a:rPr lang="en-US" sz="1600" b="1" dirty="0">
                <a:solidFill>
                  <a:srgbClr val="F2B84B"/>
                </a:solidFill>
                <a:latin typeface="Calibri Light" pitchFamily="34" charset="0"/>
                <a:ea typeface="Calibri Light" pitchFamily="34" charset="-122"/>
                <a:cs typeface="Calibri Light" pitchFamily="34" charset="-120"/>
              </a:rPr>
              <a:t>+₹0.54 Cr</a:t>
            </a:r>
            <a:endParaRPr lang="en-US" sz="1600" dirty="0"/>
          </a:p>
        </p:txBody>
      </p:sp>
      <p:sp>
        <p:nvSpPr>
          <p:cNvPr id="72" name="Text 70"/>
          <p:cNvSpPr/>
          <p:nvPr/>
        </p:nvSpPr>
        <p:spPr>
          <a:xfrm>
            <a:off x="2502408" y="5577840"/>
            <a:ext cx="1853184" cy="164592"/>
          </a:xfrm>
          <a:prstGeom prst="rect">
            <a:avLst/>
          </a:prstGeom>
          <a:noFill/>
          <a:ln/>
        </p:spPr>
        <p:txBody>
          <a:bodyPr wrap="square" lIns="0" tIns="0" rIns="0" bIns="0" rtlCol="0" anchor="t"/>
          <a:lstStyle/>
          <a:p>
            <a:pPr algn="ctr" indent="0" marL="0">
              <a:buNone/>
            </a:pPr>
            <a:r>
              <a:rPr lang="en-US" sz="680" dirty="0">
                <a:solidFill>
                  <a:srgbClr val="5F716E"/>
                </a:solidFill>
                <a:latin typeface="Calibri" pitchFamily="34" charset="0"/>
                <a:ea typeface="Calibri" pitchFamily="34" charset="-122"/>
                <a:cs typeface="Calibri" pitchFamily="34" charset="-120"/>
              </a:rPr>
              <a:t>Lulu, on ₹0 mapped primary</a:t>
            </a:r>
            <a:endParaRPr lang="en-US" sz="680" dirty="0"/>
          </a:p>
        </p:txBody>
      </p:sp>
      <p:sp>
        <p:nvSpPr>
          <p:cNvPr id="73" name="Shape 71"/>
          <p:cNvSpPr/>
          <p:nvPr/>
        </p:nvSpPr>
        <p:spPr>
          <a:xfrm>
            <a:off x="2520696" y="5865876"/>
            <a:ext cx="50292" cy="50292"/>
          </a:xfrm>
          <a:prstGeom prst="ellipse">
            <a:avLst/>
          </a:prstGeom>
          <a:solidFill>
            <a:srgbClr val="F2B84B"/>
          </a:solidFill>
          <a:ln/>
        </p:spPr>
      </p:sp>
      <p:sp>
        <p:nvSpPr>
          <p:cNvPr id="74" name="Text 72"/>
          <p:cNvSpPr/>
          <p:nvPr/>
        </p:nvSpPr>
        <p:spPr>
          <a:xfrm>
            <a:off x="2639568" y="5815584"/>
            <a:ext cx="1697736" cy="384048"/>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Ranked "Scale" in the source pack on a +46.5% MoM read.</a:t>
            </a:r>
            <a:endParaRPr lang="en-US" sz="700" dirty="0"/>
          </a:p>
        </p:txBody>
      </p:sp>
      <p:sp>
        <p:nvSpPr>
          <p:cNvPr id="75" name="Shape 73"/>
          <p:cNvSpPr/>
          <p:nvPr/>
        </p:nvSpPr>
        <p:spPr>
          <a:xfrm>
            <a:off x="2520696" y="6268212"/>
            <a:ext cx="50292" cy="50292"/>
          </a:xfrm>
          <a:prstGeom prst="ellipse">
            <a:avLst/>
          </a:prstGeom>
          <a:solidFill>
            <a:srgbClr val="F2B84B"/>
          </a:solidFill>
          <a:ln/>
        </p:spPr>
      </p:sp>
      <p:sp>
        <p:nvSpPr>
          <p:cNvPr id="76" name="Text 74"/>
          <p:cNvSpPr/>
          <p:nvPr/>
        </p:nvSpPr>
        <p:spPr>
          <a:xfrm>
            <a:off x="2639568" y="6217920"/>
            <a:ext cx="1697736" cy="384048"/>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No primary is joined to this account, so flow cannot be tested.</a:t>
            </a:r>
            <a:endParaRPr lang="en-US" sz="700" dirty="0"/>
          </a:p>
        </p:txBody>
      </p:sp>
      <p:sp>
        <p:nvSpPr>
          <p:cNvPr id="77" name="Shape 75"/>
          <p:cNvSpPr/>
          <p:nvPr/>
        </p:nvSpPr>
        <p:spPr>
          <a:xfrm>
            <a:off x="2520696" y="6670548"/>
            <a:ext cx="50292" cy="50292"/>
          </a:xfrm>
          <a:prstGeom prst="ellipse">
            <a:avLst/>
          </a:prstGeom>
          <a:solidFill>
            <a:srgbClr val="F2B84B"/>
          </a:solidFill>
          <a:ln/>
        </p:spPr>
      </p:sp>
      <p:sp>
        <p:nvSpPr>
          <p:cNvPr id="78" name="Text 76"/>
          <p:cNvSpPr/>
          <p:nvPr/>
        </p:nvSpPr>
        <p:spPr>
          <a:xfrm>
            <a:off x="2639568" y="6620256"/>
            <a:ext cx="1697736" cy="384048"/>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Hold the recommendation until the billing route is mapped.</a:t>
            </a:r>
            <a:endParaRPr lang="en-US" sz="700" dirty="0"/>
          </a:p>
        </p:txBody>
      </p:sp>
      <p:sp>
        <p:nvSpPr>
          <p:cNvPr id="79" name="Shape 77"/>
          <p:cNvSpPr/>
          <p:nvPr/>
        </p:nvSpPr>
        <p:spPr>
          <a:xfrm>
            <a:off x="4556760" y="4846320"/>
            <a:ext cx="2036064" cy="2249424"/>
          </a:xfrm>
          <a:prstGeom prst="roundRect">
            <a:avLst>
              <a:gd name="adj" fmla="val 898"/>
            </a:avLst>
          </a:prstGeom>
          <a:solidFill>
            <a:srgbClr val="FFFFFF"/>
          </a:solidFill>
          <a:ln w="9525">
            <a:solidFill>
              <a:srgbClr val="C8DCD7"/>
            </a:solidFill>
            <a:prstDash val="solid"/>
          </a:ln>
        </p:spPr>
      </p:sp>
      <p:sp>
        <p:nvSpPr>
          <p:cNvPr id="80" name="Shape 78"/>
          <p:cNvSpPr/>
          <p:nvPr/>
        </p:nvSpPr>
        <p:spPr>
          <a:xfrm>
            <a:off x="4556760" y="4846320"/>
            <a:ext cx="2036064" cy="274320"/>
          </a:xfrm>
          <a:prstGeom prst="rect">
            <a:avLst/>
          </a:prstGeom>
          <a:solidFill>
            <a:srgbClr val="2B9A66"/>
          </a:solidFill>
          <a:ln/>
        </p:spPr>
      </p:sp>
      <p:sp>
        <p:nvSpPr>
          <p:cNvPr id="81" name="Text 79"/>
          <p:cNvSpPr/>
          <p:nvPr/>
        </p:nvSpPr>
        <p:spPr>
          <a:xfrm>
            <a:off x="4639056" y="4864608"/>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THE REST OF THE BOOK</a:t>
            </a:r>
            <a:endParaRPr lang="en-US" sz="700" dirty="0"/>
          </a:p>
        </p:txBody>
      </p:sp>
      <p:sp>
        <p:nvSpPr>
          <p:cNvPr id="82" name="Text 80"/>
          <p:cNvSpPr/>
          <p:nvPr/>
        </p:nvSpPr>
        <p:spPr>
          <a:xfrm>
            <a:off x="4648200" y="5212080"/>
            <a:ext cx="1853184" cy="347472"/>
          </a:xfrm>
          <a:prstGeom prst="rect">
            <a:avLst/>
          </a:prstGeom>
          <a:noFill/>
          <a:ln/>
        </p:spPr>
        <p:txBody>
          <a:bodyPr wrap="square" lIns="0" tIns="0" rIns="0" bIns="0" rtlCol="0" anchor="t"/>
          <a:lstStyle/>
          <a:p>
            <a:pPr algn="ctr" indent="0" marL="0">
              <a:buNone/>
            </a:pPr>
            <a:r>
              <a:rPr lang="en-US" sz="1600" b="1" dirty="0">
                <a:solidFill>
                  <a:srgbClr val="2B9A66"/>
                </a:solidFill>
                <a:latin typeface="Calibri Light" pitchFamily="34" charset="0"/>
                <a:ea typeface="Calibri Light" pitchFamily="34" charset="-122"/>
                <a:cs typeface="Calibri Light" pitchFamily="34" charset="-120"/>
              </a:rPr>
              <a:t>+₹0.13 Cr</a:t>
            </a:r>
            <a:endParaRPr lang="en-US" sz="1600" dirty="0"/>
          </a:p>
        </p:txBody>
      </p:sp>
      <p:sp>
        <p:nvSpPr>
          <p:cNvPr id="83" name="Text 81"/>
          <p:cNvSpPr/>
          <p:nvPr/>
        </p:nvSpPr>
        <p:spPr>
          <a:xfrm>
            <a:off x="4648200" y="5577840"/>
            <a:ext cx="1853184" cy="164592"/>
          </a:xfrm>
          <a:prstGeom prst="rect">
            <a:avLst/>
          </a:prstGeom>
          <a:noFill/>
          <a:ln/>
        </p:spPr>
        <p:txBody>
          <a:bodyPr wrap="square" lIns="0" tIns="0" rIns="0" bIns="0" rtlCol="0" anchor="t"/>
          <a:lstStyle/>
          <a:p>
            <a:pPr algn="ctr" indent="0" marL="0">
              <a:buNone/>
            </a:pPr>
            <a:r>
              <a:rPr lang="en-US" sz="680" dirty="0">
                <a:solidFill>
                  <a:srgbClr val="5F716E"/>
                </a:solidFill>
                <a:latin typeface="Calibri" pitchFamily="34" charset="0"/>
                <a:ea typeface="Calibri" pitchFamily="34" charset="-122"/>
                <a:cs typeface="Calibri" pitchFamily="34" charset="-120"/>
              </a:rPr>
              <a:t>all chains except Reliance</a:t>
            </a:r>
            <a:endParaRPr lang="en-US" sz="680" dirty="0"/>
          </a:p>
        </p:txBody>
      </p:sp>
      <p:sp>
        <p:nvSpPr>
          <p:cNvPr id="84" name="Shape 82"/>
          <p:cNvSpPr/>
          <p:nvPr/>
        </p:nvSpPr>
        <p:spPr>
          <a:xfrm>
            <a:off x="4666488" y="5865876"/>
            <a:ext cx="50292" cy="50292"/>
          </a:xfrm>
          <a:prstGeom prst="ellipse">
            <a:avLst/>
          </a:prstGeom>
          <a:solidFill>
            <a:srgbClr val="2B9A66"/>
          </a:solidFill>
          <a:ln/>
        </p:spPr>
      </p:sp>
      <p:sp>
        <p:nvSpPr>
          <p:cNvPr id="85" name="Text 83"/>
          <p:cNvSpPr/>
          <p:nvPr/>
        </p:nvSpPr>
        <p:spPr>
          <a:xfrm>
            <a:off x="4785360" y="5815584"/>
            <a:ext cx="1697736" cy="384048"/>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DMart −₹0.23 Cr on a ₹14.33 Cr base is normal variation.</a:t>
            </a:r>
            <a:endParaRPr lang="en-US" sz="700" dirty="0"/>
          </a:p>
        </p:txBody>
      </p:sp>
      <p:sp>
        <p:nvSpPr>
          <p:cNvPr id="86" name="Shape 84"/>
          <p:cNvSpPr/>
          <p:nvPr/>
        </p:nvSpPr>
        <p:spPr>
          <a:xfrm>
            <a:off x="4666488" y="6268212"/>
            <a:ext cx="50292" cy="50292"/>
          </a:xfrm>
          <a:prstGeom prst="ellipse">
            <a:avLst/>
          </a:prstGeom>
          <a:solidFill>
            <a:srgbClr val="2B9A66"/>
          </a:solidFill>
          <a:ln/>
        </p:spPr>
      </p:sp>
      <p:sp>
        <p:nvSpPr>
          <p:cNvPr id="87" name="Text 85"/>
          <p:cNvSpPr/>
          <p:nvPr/>
        </p:nvSpPr>
        <p:spPr>
          <a:xfrm>
            <a:off x="4785360" y="6217920"/>
            <a:ext cx="1697736" cy="384048"/>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No second account shows a material decline.</a:t>
            </a:r>
            <a:endParaRPr lang="en-US" sz="700" dirty="0"/>
          </a:p>
        </p:txBody>
      </p:sp>
      <p:sp>
        <p:nvSpPr>
          <p:cNvPr id="88" name="Shape 86"/>
          <p:cNvSpPr/>
          <p:nvPr/>
        </p:nvSpPr>
        <p:spPr>
          <a:xfrm>
            <a:off x="4666488" y="6670548"/>
            <a:ext cx="50292" cy="50292"/>
          </a:xfrm>
          <a:prstGeom prst="ellipse">
            <a:avLst/>
          </a:prstGeom>
          <a:solidFill>
            <a:srgbClr val="2B9A66"/>
          </a:solidFill>
          <a:ln/>
        </p:spPr>
      </p:sp>
      <p:sp>
        <p:nvSpPr>
          <p:cNvPr id="89" name="Text 87"/>
          <p:cNvSpPr/>
          <p:nvPr/>
        </p:nvSpPr>
        <p:spPr>
          <a:xfrm>
            <a:off x="4785360" y="6620256"/>
            <a:ext cx="1697736" cy="384048"/>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Do not launch a broad recovery programme for a single-account month.</a:t>
            </a:r>
            <a:endParaRPr lang="en-US" sz="700" dirty="0"/>
          </a:p>
        </p:txBody>
      </p:sp>
      <p:sp>
        <p:nvSpPr>
          <p:cNvPr id="90" name="Shape 88"/>
          <p:cNvSpPr/>
          <p:nvPr/>
        </p:nvSpPr>
        <p:spPr>
          <a:xfrm>
            <a:off x="265176" y="7242048"/>
            <a:ext cx="6327648" cy="256032"/>
          </a:xfrm>
          <a:prstGeom prst="rect">
            <a:avLst/>
          </a:prstGeom>
          <a:solidFill>
            <a:srgbClr val="116F68"/>
          </a:solidFill>
          <a:ln/>
        </p:spPr>
      </p:sp>
      <p:sp>
        <p:nvSpPr>
          <p:cNvPr id="91" name="Text 89"/>
          <p:cNvSpPr/>
          <p:nvPr/>
        </p:nvSpPr>
        <p:spPr>
          <a:xfrm>
            <a:off x="374904" y="7260336"/>
            <a:ext cx="6108192" cy="219456"/>
          </a:xfrm>
          <a:prstGeom prst="rect">
            <a:avLst/>
          </a:prstGeom>
          <a:noFill/>
          <a:ln/>
        </p:spPr>
        <p:txBody>
          <a:bodyPr wrap="square" lIns="0" tIns="0" rIns="0" bIns="0" rtlCol="0" anchor="ctr"/>
          <a:lstStyle/>
          <a:p>
            <a:pPr indent="0" marL="0">
              <a:buNone/>
            </a:pPr>
            <a:r>
              <a:rPr lang="en-US" sz="720" b="1" spc="60" kern="0" dirty="0">
                <a:solidFill>
                  <a:srgbClr val="FFFFFF"/>
                </a:solidFill>
                <a:latin typeface="Calibri" pitchFamily="34" charset="0"/>
                <a:ea typeface="Calibri" pitchFamily="34" charset="-122"/>
                <a:cs typeface="Calibri" pitchFamily="34" charset="-120"/>
              </a:rPr>
              <a:t>LEADERSHIP READOUT</a:t>
            </a:r>
            <a:endParaRPr lang="en-US" sz="720" dirty="0"/>
          </a:p>
        </p:txBody>
      </p:sp>
      <p:sp>
        <p:nvSpPr>
          <p:cNvPr id="92" name="Shape 90"/>
          <p:cNvSpPr/>
          <p:nvPr/>
        </p:nvSpPr>
        <p:spPr>
          <a:xfrm>
            <a:off x="356616" y="7658100"/>
            <a:ext cx="50292" cy="50292"/>
          </a:xfrm>
          <a:prstGeom prst="ellipse">
            <a:avLst/>
          </a:prstGeom>
          <a:solidFill>
            <a:srgbClr val="28A596"/>
          </a:solidFill>
          <a:ln/>
        </p:spPr>
      </p:sp>
      <p:sp>
        <p:nvSpPr>
          <p:cNvPr id="93" name="Text 91"/>
          <p:cNvSpPr/>
          <p:nvPr/>
        </p:nvSpPr>
        <p:spPr>
          <a:xfrm>
            <a:off x="475488" y="7607808"/>
            <a:ext cx="6025896" cy="384048"/>
          </a:xfrm>
          <a:prstGeom prst="rect">
            <a:avLst/>
          </a:prstGeom>
          <a:noFill/>
          <a:ln/>
        </p:spPr>
        <p:txBody>
          <a:bodyPr wrap="square" lIns="0" tIns="0" rIns="0" bIns="0" rtlCol="0" anchor="t"/>
          <a:lstStyle/>
          <a:p>
            <a:pPr indent="0" marL="0">
              <a:lnSpc>
                <a:spcPct val="92000"/>
              </a:lnSpc>
              <a:buNone/>
            </a:pPr>
            <a:r>
              <a:rPr lang="en-US" sz="740" b="1" dirty="0">
                <a:solidFill>
                  <a:srgbClr val="183B39"/>
                </a:solidFill>
                <a:latin typeface="Calibri" pitchFamily="34" charset="0"/>
                <a:ea typeface="Calibri" pitchFamily="34" charset="-122"/>
                <a:cs typeface="Calibri" pitchFamily="34" charset="-120"/>
              </a:rPr>
              <a:t>One account explains the month. Run a Reliance recovery loop, not a Modern Trade recovery programme.</a:t>
            </a:r>
            <a:endParaRPr lang="en-US" sz="740" dirty="0"/>
          </a:p>
        </p:txBody>
      </p:sp>
      <p:sp>
        <p:nvSpPr>
          <p:cNvPr id="94" name="Shape 92"/>
          <p:cNvSpPr/>
          <p:nvPr/>
        </p:nvSpPr>
        <p:spPr>
          <a:xfrm>
            <a:off x="356616" y="8060436"/>
            <a:ext cx="50292" cy="50292"/>
          </a:xfrm>
          <a:prstGeom prst="ellipse">
            <a:avLst/>
          </a:prstGeom>
          <a:solidFill>
            <a:srgbClr val="28A596"/>
          </a:solidFill>
          <a:ln/>
        </p:spPr>
      </p:sp>
      <p:sp>
        <p:nvSpPr>
          <p:cNvPr id="95" name="Text 93"/>
          <p:cNvSpPr/>
          <p:nvPr/>
        </p:nvSpPr>
        <p:spPr>
          <a:xfrm>
            <a:off x="475488" y="8010144"/>
            <a:ext cx="6025896" cy="384048"/>
          </a:xfrm>
          <a:prstGeom prst="rect">
            <a:avLst/>
          </a:prstGeom>
          <a:noFill/>
          <a:ln/>
        </p:spPr>
        <p:txBody>
          <a:bodyPr wrap="square" lIns="0" tIns="0" rIns="0" bIns="0" rtlCol="0" anchor="t"/>
          <a:lstStyle/>
          <a:p>
            <a:pPr indent="0" marL="0">
              <a:lnSpc>
                <a:spcPct val="92000"/>
              </a:lnSpc>
              <a:buNone/>
            </a:pPr>
            <a:r>
              <a:rPr lang="en-US" sz="740" dirty="0">
                <a:solidFill>
                  <a:srgbClr val="183B39"/>
                </a:solidFill>
                <a:latin typeface="Calibri" pitchFamily="34" charset="0"/>
                <a:ea typeface="Calibri" pitchFamily="34" charset="-122"/>
                <a:cs typeface="Calibri" pitchFamily="34" charset="-120"/>
              </a:rPr>
              <a:t>The comparable set covers ₹26.90 Cr of ₹33.96 Cr national MT offtake — 79.2%. Chains with missing July feeds are data gaps, not de-growth, and stay outside the ranking.</a:t>
            </a:r>
            <a:endParaRPr lang="en-US" sz="740" dirty="0"/>
          </a:p>
        </p:txBody>
      </p:sp>
      <p:sp>
        <p:nvSpPr>
          <p:cNvPr id="96" name="Shape 94"/>
          <p:cNvSpPr/>
          <p:nvPr/>
        </p:nvSpPr>
        <p:spPr>
          <a:xfrm>
            <a:off x="356616" y="8462772"/>
            <a:ext cx="50292" cy="50292"/>
          </a:xfrm>
          <a:prstGeom prst="ellipse">
            <a:avLst/>
          </a:prstGeom>
          <a:solidFill>
            <a:srgbClr val="F2B84B"/>
          </a:solidFill>
          <a:ln/>
        </p:spPr>
      </p:sp>
      <p:sp>
        <p:nvSpPr>
          <p:cNvPr id="97" name="Text 95"/>
          <p:cNvSpPr/>
          <p:nvPr/>
        </p:nvSpPr>
        <p:spPr>
          <a:xfrm>
            <a:off x="475488" y="8412480"/>
            <a:ext cx="6025896" cy="384048"/>
          </a:xfrm>
          <a:prstGeom prst="rect">
            <a:avLst/>
          </a:prstGeom>
          <a:noFill/>
          <a:ln/>
        </p:spPr>
        <p:txBody>
          <a:bodyPr wrap="square" lIns="0" tIns="0" rIns="0" bIns="0" rtlCol="0" anchor="t"/>
          <a:lstStyle/>
          <a:p>
            <a:pPr indent="0" marL="0">
              <a:lnSpc>
                <a:spcPct val="92000"/>
              </a:lnSpc>
              <a:buNone/>
            </a:pPr>
            <a:r>
              <a:rPr lang="en-US" sz="740" dirty="0">
                <a:solidFill>
                  <a:srgbClr val="183B39"/>
                </a:solidFill>
                <a:latin typeface="Calibri" pitchFamily="34" charset="0"/>
                <a:ea typeface="Calibri" pitchFamily="34" charset="-122"/>
                <a:cs typeface="Calibri" pitchFamily="34" charset="-120"/>
              </a:rPr>
              <a:t>Three chains — Lulu, Wellness Forever, Health &amp; Glow — show offtake against unmapped primary. Their growth reads cannot be verified and must not drive field action.</a:t>
            </a:r>
            <a:endParaRPr lang="en-US" sz="740" dirty="0"/>
          </a:p>
        </p:txBody>
      </p:sp>
      <p:sp>
        <p:nvSpPr>
          <p:cNvPr id="98" name="Shape 96"/>
          <p:cNvSpPr/>
          <p:nvPr/>
        </p:nvSpPr>
        <p:spPr>
          <a:xfrm>
            <a:off x="356616" y="8865108"/>
            <a:ext cx="50292" cy="50292"/>
          </a:xfrm>
          <a:prstGeom prst="ellipse">
            <a:avLst/>
          </a:prstGeom>
          <a:solidFill>
            <a:srgbClr val="5F716E"/>
          </a:solidFill>
          <a:ln/>
        </p:spPr>
      </p:sp>
      <p:sp>
        <p:nvSpPr>
          <p:cNvPr id="99" name="Text 97"/>
          <p:cNvSpPr/>
          <p:nvPr/>
        </p:nvSpPr>
        <p:spPr>
          <a:xfrm>
            <a:off x="475488" y="8814816"/>
            <a:ext cx="6025896" cy="384048"/>
          </a:xfrm>
          <a:prstGeom prst="rect">
            <a:avLst/>
          </a:prstGeom>
          <a:noFill/>
          <a:ln/>
        </p:spPr>
        <p:txBody>
          <a:bodyPr wrap="square" lIns="0" tIns="0" rIns="0" bIns="0" rtlCol="0" anchor="t"/>
          <a:lstStyle/>
          <a:p>
            <a:pPr indent="0" marL="0">
              <a:lnSpc>
                <a:spcPct val="92000"/>
              </a:lnSpc>
              <a:buNone/>
            </a:pPr>
            <a:r>
              <a:rPr lang="en-US" sz="740" dirty="0">
                <a:solidFill>
                  <a:srgbClr val="183B39"/>
                </a:solidFill>
                <a:latin typeface="Calibri" pitchFamily="34" charset="0"/>
                <a:ea typeface="Calibri" pitchFamily="34" charset="-122"/>
                <a:cs typeface="Calibri" pitchFamily="34" charset="-120"/>
              </a:rPr>
              <a:t>Reinstate percentage ranking only above the ₹0.25 Cr floor; below it, report absolute change.</a:t>
            </a:r>
            <a:endParaRPr lang="en-US" sz="740" dirty="0"/>
          </a:p>
        </p:txBody>
      </p:sp>
      <p:sp>
        <p:nvSpPr>
          <p:cNvPr id="100" name="Shape 98"/>
          <p:cNvSpPr/>
          <p:nvPr/>
        </p:nvSpPr>
        <p:spPr>
          <a:xfrm>
            <a:off x="265176" y="9418320"/>
            <a:ext cx="6327648" cy="603504"/>
          </a:xfrm>
          <a:prstGeom prst="roundRect">
            <a:avLst>
              <a:gd name="adj" fmla="val 4545"/>
            </a:avLst>
          </a:prstGeom>
          <a:solidFill>
            <a:srgbClr val="DFF2ED"/>
          </a:solidFill>
          <a:ln w="12700">
            <a:solidFill>
              <a:srgbClr val="28A596"/>
            </a:solidFill>
            <a:prstDash val="solid"/>
          </a:ln>
        </p:spPr>
      </p:sp>
      <p:sp>
        <p:nvSpPr>
          <p:cNvPr id="101" name="Text 99"/>
          <p:cNvSpPr/>
          <p:nvPr/>
        </p:nvSpPr>
        <p:spPr>
          <a:xfrm>
            <a:off x="393192" y="9500616"/>
            <a:ext cx="6071616" cy="457200"/>
          </a:xfrm>
          <a:prstGeom prst="rect">
            <a:avLst/>
          </a:prstGeom>
          <a:noFill/>
          <a:ln/>
        </p:spPr>
        <p:txBody>
          <a:bodyPr wrap="square" lIns="0" tIns="0" rIns="0" bIns="0" rtlCol="0" anchor="t"/>
          <a:lstStyle/>
          <a:p>
            <a:pPr indent="0" marL="0">
              <a:lnSpc>
                <a:spcPct val="94000"/>
              </a:lnSpc>
              <a:buNone/>
            </a:pPr>
            <a:r>
              <a:rPr lang="en-US" sz="700" b="1" dirty="0">
                <a:solidFill>
                  <a:srgbClr val="116F68"/>
                </a:solidFill>
                <a:latin typeface="Calibri" pitchFamily="34" charset="0"/>
                <a:ea typeface="Calibri" pitchFamily="34" charset="-122"/>
                <a:cs typeface="Calibri" pitchFamily="34" charset="-120"/>
              </a:rPr>
              <a:t>BEFORE ACTING ON THIS   </a:t>
            </a:r>
            <a:pPr indent="0" marL="0">
              <a:lnSpc>
                <a:spcPct val="94000"/>
              </a:lnSpc>
              <a:buNone/>
            </a:pPr>
            <a:r>
              <a:rPr lang="en-US" sz="720" dirty="0">
                <a:solidFill>
                  <a:srgbClr val="183B39"/>
                </a:solidFill>
                <a:latin typeface="Calibri" pitchFamily="34" charset="0"/>
                <a:ea typeface="Calibri" pitchFamily="34" charset="-122"/>
                <a:cs typeface="Calibri" pitchFamily="34" charset="-120"/>
              </a:rPr>
              <a:t>One month is not a trend. Reliance −15.0% is measured against June alone, and a single extreme month partly reverts on its own. Re-run this comparison against a rolling three-month base before committing trade spend, so the recovery programme is sized against the underlying rate rather than against one month of noise.</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A"/>
        </a:solidFill>
      </p:bgPr>
    </p:bg>
    <p:spTree>
      <p:nvGrpSpPr>
        <p:cNvPr id="1" name=""/>
        <p:cNvGrpSpPr/>
        <p:nvPr/>
      </p:nvGrpSpPr>
      <p:grpSpPr>
        <a:xfrm>
          <a:off x="0" y="0"/>
          <a:ext cx="0" cy="0"/>
          <a:chOff x="0" y="0"/>
          <a:chExt cx="0" cy="0"/>
        </a:xfrm>
      </p:grpSpPr>
      <p:sp>
        <p:nvSpPr>
          <p:cNvPr id="2" name="Shape 0"/>
          <p:cNvSpPr/>
          <p:nvPr/>
        </p:nvSpPr>
        <p:spPr>
          <a:xfrm>
            <a:off x="0" y="0"/>
            <a:ext cx="6858000" cy="1133856"/>
          </a:xfrm>
          <a:prstGeom prst="rect">
            <a:avLst/>
          </a:prstGeom>
          <a:solidFill>
            <a:srgbClr val="116F68"/>
          </a:solidFill>
          <a:ln/>
        </p:spPr>
      </p:sp>
      <p:sp>
        <p:nvSpPr>
          <p:cNvPr id="3" name="Text 1"/>
          <p:cNvSpPr/>
          <p:nvPr/>
        </p:nvSpPr>
        <p:spPr>
          <a:xfrm>
            <a:off x="365760" y="182880"/>
            <a:ext cx="5641848" cy="548640"/>
          </a:xfrm>
          <a:prstGeom prst="rect">
            <a:avLst/>
          </a:prstGeom>
          <a:noFill/>
          <a:ln/>
        </p:spPr>
        <p:txBody>
          <a:bodyPr wrap="square" lIns="0" tIns="0" rIns="0" bIns="0" rtlCol="0" anchor="ctr"/>
          <a:lstStyle/>
          <a:p>
            <a:pPr indent="0" marL="0">
              <a:lnSpc>
                <a:spcPct val="92000"/>
              </a:lnSpc>
              <a:buNone/>
            </a:pPr>
            <a:r>
              <a:rPr lang="en-US" sz="1450" b="1" dirty="0">
                <a:solidFill>
                  <a:srgbClr val="FFFFFF"/>
                </a:solidFill>
                <a:latin typeface="Calibri Light" pitchFamily="34" charset="0"/>
                <a:ea typeface="Calibri Light" pitchFamily="34" charset="-122"/>
                <a:cs typeface="Calibri Light" pitchFamily="34" charset="-120"/>
              </a:rPr>
              <a:t>Fix the specific commercial loophole — not the whole account</a:t>
            </a:r>
            <a:endParaRPr lang="en-US" sz="1450" dirty="0"/>
          </a:p>
        </p:txBody>
      </p:sp>
      <p:sp>
        <p:nvSpPr>
          <p:cNvPr id="4" name="Text 2"/>
          <p:cNvSpPr/>
          <p:nvPr/>
        </p:nvSpPr>
        <p:spPr>
          <a:xfrm>
            <a:off x="384048" y="786384"/>
            <a:ext cx="5641848" cy="237744"/>
          </a:xfrm>
          <a:prstGeom prst="rect">
            <a:avLst/>
          </a:prstGeom>
          <a:noFill/>
          <a:ln/>
        </p:spPr>
        <p:txBody>
          <a:bodyPr wrap="square" lIns="0" tIns="0" rIns="0" bIns="0" rtlCol="0" anchor="ctr"/>
          <a:lstStyle/>
          <a:p>
            <a:pPr indent="0" marL="0">
              <a:buNone/>
            </a:pPr>
            <a:r>
              <a:rPr lang="en-US" sz="850" dirty="0">
                <a:solidFill>
                  <a:srgbClr val="BFDCD7"/>
                </a:solidFill>
                <a:latin typeface="Calibri" pitchFamily="34" charset="0"/>
                <a:ea typeface="Calibri" pitchFamily="34" charset="-122"/>
                <a:cs typeface="Calibri" pitchFamily="34" charset="-120"/>
              </a:rPr>
              <a:t>Chain recovery plan | evidence, action, success KPI and value at stake</a:t>
            </a:r>
            <a:endParaRPr lang="en-US" sz="850" dirty="0"/>
          </a:p>
        </p:txBody>
      </p:sp>
      <p:sp>
        <p:nvSpPr>
          <p:cNvPr id="5" name="Text 3"/>
          <p:cNvSpPr/>
          <p:nvPr/>
        </p:nvSpPr>
        <p:spPr>
          <a:xfrm>
            <a:off x="6117336" y="365760"/>
            <a:ext cx="402336" cy="237744"/>
          </a:xfrm>
          <a:prstGeom prst="rect">
            <a:avLst/>
          </a:prstGeom>
          <a:noFill/>
          <a:ln/>
        </p:spPr>
        <p:txBody>
          <a:bodyPr wrap="square" lIns="0" tIns="0" rIns="0" bIns="0" rtlCol="0" anchor="t"/>
          <a:lstStyle/>
          <a:p>
            <a:pPr algn="r" indent="0" marL="0">
              <a:buNone/>
            </a:pPr>
            <a:r>
              <a:rPr lang="en-US" sz="950" b="1" dirty="0">
                <a:solidFill>
                  <a:srgbClr val="8FC4BD"/>
                </a:solidFill>
                <a:latin typeface="Calibri" pitchFamily="34" charset="0"/>
                <a:ea typeface="Calibri" pitchFamily="34" charset="-122"/>
                <a:cs typeface="Calibri" pitchFamily="34" charset="-120"/>
              </a:rPr>
              <a:t>16</a:t>
            </a:r>
            <a:endParaRPr lang="en-US" sz="950" dirty="0"/>
          </a:p>
        </p:txBody>
      </p:sp>
      <p:sp>
        <p:nvSpPr>
          <p:cNvPr id="6" name="Shape 4"/>
          <p:cNvSpPr/>
          <p:nvPr/>
        </p:nvSpPr>
        <p:spPr>
          <a:xfrm>
            <a:off x="265176" y="11375136"/>
            <a:ext cx="6327648" cy="420624"/>
          </a:xfrm>
          <a:prstGeom prst="roundRect">
            <a:avLst>
              <a:gd name="adj" fmla="val 6522"/>
            </a:avLst>
          </a:prstGeom>
          <a:solidFill>
            <a:srgbClr val="DFF2ED"/>
          </a:solidFill>
          <a:ln w="9525">
            <a:solidFill>
              <a:srgbClr val="C8DCD7"/>
            </a:solidFill>
            <a:prstDash val="solid"/>
          </a:ln>
        </p:spPr>
      </p:sp>
      <p:sp>
        <p:nvSpPr>
          <p:cNvPr id="7" name="Text 5"/>
          <p:cNvSpPr/>
          <p:nvPr/>
        </p:nvSpPr>
        <p:spPr>
          <a:xfrm>
            <a:off x="374904"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EVIDENCE</a:t>
            </a:r>
            <a:endParaRPr lang="en-US" sz="650" dirty="0"/>
          </a:p>
        </p:txBody>
      </p:sp>
      <p:sp>
        <p:nvSpPr>
          <p:cNvPr id="8" name="Text 6"/>
          <p:cNvSpPr/>
          <p:nvPr/>
        </p:nvSpPr>
        <p:spPr>
          <a:xfrm>
            <a:off x="374904"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moved</a:t>
            </a:r>
            <a:endParaRPr lang="en-US" sz="700" dirty="0"/>
          </a:p>
        </p:txBody>
      </p:sp>
      <p:sp>
        <p:nvSpPr>
          <p:cNvPr id="9" name="Text 7"/>
          <p:cNvSpPr/>
          <p:nvPr/>
        </p:nvSpPr>
        <p:spPr>
          <a:xfrm>
            <a:off x="1901952"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IMPLICATION</a:t>
            </a:r>
            <a:endParaRPr lang="en-US" sz="650" dirty="0"/>
          </a:p>
        </p:txBody>
      </p:sp>
      <p:sp>
        <p:nvSpPr>
          <p:cNvPr id="10" name="Text 8"/>
          <p:cNvSpPr/>
          <p:nvPr/>
        </p:nvSpPr>
        <p:spPr>
          <a:xfrm>
            <a:off x="1901952"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Why it matters</a:t>
            </a:r>
            <a:endParaRPr lang="en-US" sz="700" dirty="0"/>
          </a:p>
        </p:txBody>
      </p:sp>
      <p:sp>
        <p:nvSpPr>
          <p:cNvPr id="11" name="Shape 9"/>
          <p:cNvSpPr/>
          <p:nvPr/>
        </p:nvSpPr>
        <p:spPr>
          <a:xfrm>
            <a:off x="1819656" y="11457432"/>
            <a:ext cx="0" cy="265176"/>
          </a:xfrm>
          <a:prstGeom prst="line">
            <a:avLst/>
          </a:prstGeom>
          <a:noFill/>
          <a:ln w="9525">
            <a:solidFill>
              <a:srgbClr val="C8DCD7"/>
            </a:solidFill>
            <a:prstDash val="solid"/>
          </a:ln>
        </p:spPr>
      </p:sp>
      <p:sp>
        <p:nvSpPr>
          <p:cNvPr id="12" name="Text 10"/>
          <p:cNvSpPr/>
          <p:nvPr/>
        </p:nvSpPr>
        <p:spPr>
          <a:xfrm>
            <a:off x="3429000"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ACTION</a:t>
            </a:r>
            <a:endParaRPr lang="en-US" sz="650" dirty="0"/>
          </a:p>
        </p:txBody>
      </p:sp>
      <p:sp>
        <p:nvSpPr>
          <p:cNvPr id="13" name="Text 11"/>
          <p:cNvSpPr/>
          <p:nvPr/>
        </p:nvSpPr>
        <p:spPr>
          <a:xfrm>
            <a:off x="3429000"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changes now</a:t>
            </a:r>
            <a:endParaRPr lang="en-US" sz="700" dirty="0"/>
          </a:p>
        </p:txBody>
      </p:sp>
      <p:sp>
        <p:nvSpPr>
          <p:cNvPr id="14" name="Shape 12"/>
          <p:cNvSpPr/>
          <p:nvPr/>
        </p:nvSpPr>
        <p:spPr>
          <a:xfrm>
            <a:off x="3346704" y="11457432"/>
            <a:ext cx="0" cy="265176"/>
          </a:xfrm>
          <a:prstGeom prst="line">
            <a:avLst/>
          </a:prstGeom>
          <a:noFill/>
          <a:ln w="9525">
            <a:solidFill>
              <a:srgbClr val="C8DCD7"/>
            </a:solidFill>
            <a:prstDash val="solid"/>
          </a:ln>
        </p:spPr>
      </p:sp>
      <p:sp>
        <p:nvSpPr>
          <p:cNvPr id="15" name="Text 13"/>
          <p:cNvSpPr/>
          <p:nvPr/>
        </p:nvSpPr>
        <p:spPr>
          <a:xfrm>
            <a:off x="4956048"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OWNER</a:t>
            </a:r>
            <a:endParaRPr lang="en-US" sz="650" dirty="0"/>
          </a:p>
        </p:txBody>
      </p:sp>
      <p:sp>
        <p:nvSpPr>
          <p:cNvPr id="16" name="Text 14"/>
          <p:cNvSpPr/>
          <p:nvPr/>
        </p:nvSpPr>
        <p:spPr>
          <a:xfrm>
            <a:off x="4956048"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Who closes it</a:t>
            </a:r>
            <a:endParaRPr lang="en-US" sz="700" dirty="0"/>
          </a:p>
        </p:txBody>
      </p:sp>
      <p:sp>
        <p:nvSpPr>
          <p:cNvPr id="17" name="Shape 15"/>
          <p:cNvSpPr/>
          <p:nvPr/>
        </p:nvSpPr>
        <p:spPr>
          <a:xfrm>
            <a:off x="4873752" y="11457432"/>
            <a:ext cx="0" cy="265176"/>
          </a:xfrm>
          <a:prstGeom prst="line">
            <a:avLst/>
          </a:prstGeom>
          <a:noFill/>
          <a:ln w="9525">
            <a:solidFill>
              <a:srgbClr val="C8DCD7"/>
            </a:solidFill>
            <a:prstDash val="solid"/>
          </a:ln>
        </p:spPr>
      </p:sp>
      <p:sp>
        <p:nvSpPr>
          <p:cNvPr id="18" name="Text 16"/>
          <p:cNvSpPr/>
          <p:nvPr/>
        </p:nvSpPr>
        <p:spPr>
          <a:xfrm>
            <a:off x="301752" y="11887200"/>
            <a:ext cx="6254496" cy="201168"/>
          </a:xfrm>
          <a:prstGeom prst="rect">
            <a:avLst/>
          </a:prstGeom>
          <a:noFill/>
          <a:ln/>
        </p:spPr>
        <p:txBody>
          <a:bodyPr wrap="square" lIns="0" tIns="0" rIns="0" bIns="0" rtlCol="0" anchor="t"/>
          <a:lstStyle/>
          <a:p>
            <a:pPr algn="ctr" indent="0" marL="0">
              <a:buNone/>
            </a:pPr>
            <a:r>
              <a:rPr lang="en-US" sz="650" dirty="0">
                <a:solidFill>
                  <a:srgbClr val="5F716E"/>
                </a:solidFill>
                <a:latin typeface="Calibri" pitchFamily="34" charset="0"/>
                <a:ea typeface="Calibri" pitchFamily="34" charset="-122"/>
                <a:cs typeface="Calibri" pitchFamily="34" charset="-120"/>
              </a:rPr>
              <a:t>July Compiled Offtake (Sheet1) · July'26 primary and distributor secondary · values in ₹ Cr · Zone performance represents Modern Trade accounts only. eB2B and SIS channels are excluded from MT zone sales and reported separately.</a:t>
            </a:r>
            <a:endParaRPr lang="en-US" sz="650" dirty="0"/>
          </a:p>
        </p:txBody>
      </p:sp>
      <p:sp>
        <p:nvSpPr>
          <p:cNvPr id="19" name="Shape 17"/>
          <p:cNvSpPr/>
          <p:nvPr/>
        </p:nvSpPr>
        <p:spPr>
          <a:xfrm>
            <a:off x="265176" y="1261872"/>
            <a:ext cx="6327648" cy="256032"/>
          </a:xfrm>
          <a:prstGeom prst="rect">
            <a:avLst/>
          </a:prstGeom>
          <a:solidFill>
            <a:srgbClr val="116F68"/>
          </a:solidFill>
          <a:ln/>
        </p:spPr>
      </p:sp>
      <p:sp>
        <p:nvSpPr>
          <p:cNvPr id="20" name="Text 18"/>
          <p:cNvSpPr/>
          <p:nvPr/>
        </p:nvSpPr>
        <p:spPr>
          <a:xfrm>
            <a:off x="374904" y="1280160"/>
            <a:ext cx="6108192" cy="219456"/>
          </a:xfrm>
          <a:prstGeom prst="rect">
            <a:avLst/>
          </a:prstGeom>
          <a:noFill/>
          <a:ln/>
        </p:spPr>
        <p:txBody>
          <a:bodyPr wrap="square" lIns="0" tIns="0" rIns="0" bIns="0" rtlCol="0" anchor="ctr"/>
          <a:lstStyle/>
          <a:p>
            <a:pPr indent="0" marL="0">
              <a:buNone/>
            </a:pPr>
            <a:r>
              <a:rPr lang="en-US" sz="720" b="1" spc="60" kern="0" dirty="0">
                <a:solidFill>
                  <a:srgbClr val="FFFFFF"/>
                </a:solidFill>
                <a:latin typeface="Calibri" pitchFamily="34" charset="0"/>
                <a:ea typeface="Calibri" pitchFamily="34" charset="-122"/>
                <a:cs typeface="Calibri" pitchFamily="34" charset="-120"/>
              </a:rPr>
              <a:t>CHAIN-WISE RECOVERY LOOP — ORDERED BY VALUE AT STAKE</a:t>
            </a:r>
            <a:endParaRPr lang="en-US" sz="720" dirty="0"/>
          </a:p>
        </p:txBody>
      </p:sp>
      <p:sp>
        <p:nvSpPr>
          <p:cNvPr id="21" name="Shape 19"/>
          <p:cNvSpPr/>
          <p:nvPr/>
        </p:nvSpPr>
        <p:spPr>
          <a:xfrm>
            <a:off x="265176" y="1609344"/>
            <a:ext cx="2036064" cy="2670048"/>
          </a:xfrm>
          <a:prstGeom prst="roundRect">
            <a:avLst>
              <a:gd name="adj" fmla="val 898"/>
            </a:avLst>
          </a:prstGeom>
          <a:solidFill>
            <a:srgbClr val="FFFFFF"/>
          </a:solidFill>
          <a:ln w="9525">
            <a:solidFill>
              <a:srgbClr val="C8DCD7"/>
            </a:solidFill>
            <a:prstDash val="solid"/>
          </a:ln>
        </p:spPr>
      </p:sp>
      <p:sp>
        <p:nvSpPr>
          <p:cNvPr id="22" name="Shape 20"/>
          <p:cNvSpPr/>
          <p:nvPr/>
        </p:nvSpPr>
        <p:spPr>
          <a:xfrm>
            <a:off x="265176" y="1609344"/>
            <a:ext cx="2036064" cy="274320"/>
          </a:xfrm>
          <a:prstGeom prst="rect">
            <a:avLst/>
          </a:prstGeom>
          <a:solidFill>
            <a:srgbClr val="D6544D"/>
          </a:solidFill>
          <a:ln/>
        </p:spPr>
      </p:sp>
      <p:sp>
        <p:nvSpPr>
          <p:cNvPr id="23" name="Text 21"/>
          <p:cNvSpPr/>
          <p:nvPr/>
        </p:nvSpPr>
        <p:spPr>
          <a:xfrm>
            <a:off x="347472" y="1627632"/>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RELIANCE</a:t>
            </a:r>
            <a:endParaRPr lang="en-US" sz="700" dirty="0"/>
          </a:p>
        </p:txBody>
      </p:sp>
      <p:sp>
        <p:nvSpPr>
          <p:cNvPr id="24" name="Text 22"/>
          <p:cNvSpPr/>
          <p:nvPr/>
        </p:nvSpPr>
        <p:spPr>
          <a:xfrm>
            <a:off x="356616" y="1975104"/>
            <a:ext cx="1853184" cy="292608"/>
          </a:xfrm>
          <a:prstGeom prst="rect">
            <a:avLst/>
          </a:prstGeom>
          <a:noFill/>
          <a:ln/>
        </p:spPr>
        <p:txBody>
          <a:bodyPr wrap="square" lIns="0" tIns="0" rIns="0" bIns="0" rtlCol="0" anchor="t"/>
          <a:lstStyle/>
          <a:p>
            <a:pPr algn="ctr" indent="0" marL="0">
              <a:lnSpc>
                <a:spcPct val="90000"/>
              </a:lnSpc>
              <a:buNone/>
            </a:pPr>
            <a:r>
              <a:rPr lang="en-US" sz="800" b="1" dirty="0">
                <a:solidFill>
                  <a:srgbClr val="183B39"/>
                </a:solidFill>
                <a:latin typeface="Calibri" pitchFamily="34" charset="0"/>
                <a:ea typeface="Calibri" pitchFamily="34" charset="-122"/>
                <a:cs typeface="Calibri" pitchFamily="34" charset="-120"/>
              </a:rPr>
              <a:t>Flow failure, not demand failure</a:t>
            </a:r>
            <a:endParaRPr lang="en-US" sz="800" dirty="0"/>
          </a:p>
        </p:txBody>
      </p:sp>
      <p:sp>
        <p:nvSpPr>
          <p:cNvPr id="25" name="Text 23"/>
          <p:cNvSpPr/>
          <p:nvPr/>
        </p:nvSpPr>
        <p:spPr>
          <a:xfrm>
            <a:off x="356616" y="2286000"/>
            <a:ext cx="1853184" cy="182880"/>
          </a:xfrm>
          <a:prstGeom prst="rect">
            <a:avLst/>
          </a:prstGeom>
          <a:noFill/>
          <a:ln/>
        </p:spPr>
        <p:txBody>
          <a:bodyPr wrap="square" lIns="0" tIns="0" rIns="0" bIns="0" rtlCol="0" anchor="t"/>
          <a:lstStyle/>
          <a:p>
            <a:pPr algn="ctr" indent="0" marL="0">
              <a:buNone/>
            </a:pPr>
            <a:r>
              <a:rPr lang="en-US" sz="600" b="1" dirty="0">
                <a:solidFill>
                  <a:srgbClr val="5F716E"/>
                </a:solidFill>
                <a:latin typeface="Calibri" pitchFamily="34" charset="0"/>
                <a:ea typeface="Calibri" pitchFamily="34" charset="-122"/>
                <a:cs typeface="Calibri" pitchFamily="34" charset="-120"/>
              </a:rPr>
              <a:t>AT STAKE  </a:t>
            </a:r>
            <a:pPr algn="ctr" indent="0" marL="0">
              <a:buNone/>
            </a:pPr>
            <a:r>
              <a:rPr lang="en-US" sz="800" b="1" dirty="0">
                <a:solidFill>
                  <a:srgbClr val="D6544D"/>
                </a:solidFill>
                <a:latin typeface="Calibri" pitchFamily="34" charset="0"/>
                <a:ea typeface="Calibri" pitchFamily="34" charset="-122"/>
                <a:cs typeface="Calibri" pitchFamily="34" charset="-120"/>
              </a:rPr>
              <a:t>₹3.92 Cr</a:t>
            </a:r>
            <a:endParaRPr lang="en-US" sz="600" dirty="0"/>
          </a:p>
        </p:txBody>
      </p:sp>
      <p:sp>
        <p:nvSpPr>
          <p:cNvPr id="26" name="Text 24"/>
          <p:cNvSpPr/>
          <p:nvPr/>
        </p:nvSpPr>
        <p:spPr>
          <a:xfrm>
            <a:off x="356616" y="2523744"/>
            <a:ext cx="1853184" cy="128016"/>
          </a:xfrm>
          <a:prstGeom prst="rect">
            <a:avLst/>
          </a:prstGeom>
          <a:noFill/>
          <a:ln/>
        </p:spPr>
        <p:txBody>
          <a:bodyPr wrap="square" lIns="0" tIns="0" rIns="0" bIns="0" rtlCol="0" anchor="t"/>
          <a:lstStyle/>
          <a:p>
            <a:pPr indent="0" marL="0">
              <a:buNone/>
            </a:pPr>
            <a:r>
              <a:rPr lang="en-US" sz="600" b="1" spc="40" kern="0" dirty="0">
                <a:solidFill>
                  <a:srgbClr val="116F68"/>
                </a:solidFill>
                <a:latin typeface="Calibri" pitchFamily="34" charset="0"/>
                <a:ea typeface="Calibri" pitchFamily="34" charset="-122"/>
                <a:cs typeface="Calibri" pitchFamily="34" charset="-120"/>
              </a:rPr>
              <a:t>EVIDENCE</a:t>
            </a:r>
            <a:endParaRPr lang="en-US" sz="600" dirty="0"/>
          </a:p>
        </p:txBody>
      </p:sp>
      <p:sp>
        <p:nvSpPr>
          <p:cNvPr id="27" name="Text 25"/>
          <p:cNvSpPr/>
          <p:nvPr/>
        </p:nvSpPr>
        <p:spPr>
          <a:xfrm>
            <a:off x="356616" y="2660904"/>
            <a:ext cx="1853184" cy="420624"/>
          </a:xfrm>
          <a:prstGeom prst="rect">
            <a:avLst/>
          </a:prstGeom>
          <a:noFill/>
          <a:ln/>
        </p:spPr>
        <p:txBody>
          <a:bodyPr wrap="square" lIns="0" tIns="0" rIns="0" bIns="0" rtlCol="0" anchor="t"/>
          <a:lstStyle/>
          <a:p>
            <a:pPr indent="0" marL="0">
              <a:lnSpc>
                <a:spcPct val="92000"/>
              </a:lnSpc>
              <a:buNone/>
            </a:pPr>
            <a:r>
              <a:rPr lang="en-US" sz="680" dirty="0">
                <a:solidFill>
                  <a:srgbClr val="5F716E"/>
                </a:solidFill>
                <a:latin typeface="Calibri" pitchFamily="34" charset="0"/>
                <a:ea typeface="Calibri" pitchFamily="34" charset="-122"/>
                <a:cs typeface="Calibri" pitchFamily="34" charset="-120"/>
              </a:rPr>
              <a:t>Converts 51.4% nationally — 44.9% North, 52.9% East, 51.2% Central. Same weakness in every zone it operates.</a:t>
            </a:r>
            <a:endParaRPr lang="en-US" sz="680" dirty="0"/>
          </a:p>
        </p:txBody>
      </p:sp>
      <p:sp>
        <p:nvSpPr>
          <p:cNvPr id="28" name="Text 26"/>
          <p:cNvSpPr/>
          <p:nvPr/>
        </p:nvSpPr>
        <p:spPr>
          <a:xfrm>
            <a:off x="356616" y="3108960"/>
            <a:ext cx="1853184" cy="128016"/>
          </a:xfrm>
          <a:prstGeom prst="rect">
            <a:avLst/>
          </a:prstGeom>
          <a:noFill/>
          <a:ln/>
        </p:spPr>
        <p:txBody>
          <a:bodyPr wrap="square" lIns="0" tIns="0" rIns="0" bIns="0" rtlCol="0" anchor="t"/>
          <a:lstStyle/>
          <a:p>
            <a:pPr indent="0" marL="0">
              <a:buNone/>
            </a:pPr>
            <a:r>
              <a:rPr lang="en-US" sz="600" b="1" spc="40" kern="0" dirty="0">
                <a:solidFill>
                  <a:srgbClr val="116F68"/>
                </a:solidFill>
                <a:latin typeface="Calibri" pitchFamily="34" charset="0"/>
                <a:ea typeface="Calibri" pitchFamily="34" charset="-122"/>
                <a:cs typeface="Calibri" pitchFamily="34" charset="-120"/>
              </a:rPr>
              <a:t>RECOVERY</a:t>
            </a:r>
            <a:endParaRPr lang="en-US" sz="600" dirty="0"/>
          </a:p>
        </p:txBody>
      </p:sp>
      <p:sp>
        <p:nvSpPr>
          <p:cNvPr id="29" name="Text 27"/>
          <p:cNvSpPr/>
          <p:nvPr/>
        </p:nvSpPr>
        <p:spPr>
          <a:xfrm>
            <a:off x="356616" y="3246120"/>
            <a:ext cx="1853184" cy="420624"/>
          </a:xfrm>
          <a:prstGeom prst="rect">
            <a:avLst/>
          </a:prstGeom>
          <a:noFill/>
          <a:ln/>
        </p:spPr>
        <p:txBody>
          <a:bodyPr wrap="square" lIns="0" tIns="0" rIns="0" bIns="0" rtlCol="0" anchor="t"/>
          <a:lstStyle/>
          <a:p>
            <a:pPr indent="0" marL="0">
              <a:lnSpc>
                <a:spcPct val="92000"/>
              </a:lnSpc>
              <a:buNone/>
            </a:pPr>
            <a:r>
              <a:rPr lang="en-US" sz="680" dirty="0">
                <a:solidFill>
                  <a:srgbClr val="183B39"/>
                </a:solidFill>
                <a:latin typeface="Calibri" pitchFamily="34" charset="0"/>
                <a:ea typeface="Calibri" pitchFamily="34" charset="-122"/>
                <a:cs typeface="Calibri" pitchFamily="34" charset="-120"/>
              </a:rPr>
              <a:t>Halt incremental loading until conversion clears 65%; run hero-EAN OSA audit against the Apollo cadence.</a:t>
            </a:r>
            <a:endParaRPr lang="en-US" sz="680" dirty="0"/>
          </a:p>
        </p:txBody>
      </p:sp>
      <p:sp>
        <p:nvSpPr>
          <p:cNvPr id="30" name="Text 28"/>
          <p:cNvSpPr/>
          <p:nvPr/>
        </p:nvSpPr>
        <p:spPr>
          <a:xfrm>
            <a:off x="356616" y="3822192"/>
            <a:ext cx="1853184" cy="237744"/>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KPI  </a:t>
            </a:r>
            <a:pPr indent="0" marL="0">
              <a:lnSpc>
                <a:spcPct val="90000"/>
              </a:lnSpc>
              <a:buNone/>
            </a:pPr>
            <a:r>
              <a:rPr lang="en-US" sz="660" b="1" dirty="0">
                <a:solidFill>
                  <a:srgbClr val="183B39"/>
                </a:solidFill>
                <a:latin typeface="Calibri" pitchFamily="34" charset="0"/>
                <a:ea typeface="Calibri" pitchFamily="34" charset="-122"/>
                <a:cs typeface="Calibri" pitchFamily="34" charset="-120"/>
              </a:rPr>
              <a:t>Conversion 51.4% → 76.5% (DMart parity)</a:t>
            </a:r>
            <a:endParaRPr lang="en-US" sz="600" dirty="0"/>
          </a:p>
        </p:txBody>
      </p:sp>
      <p:sp>
        <p:nvSpPr>
          <p:cNvPr id="31" name="Text 29"/>
          <p:cNvSpPr/>
          <p:nvPr/>
        </p:nvSpPr>
        <p:spPr>
          <a:xfrm>
            <a:off x="356616" y="4078224"/>
            <a:ext cx="1853184" cy="137160"/>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NKAM Reliance + Supply · 25 Aug</a:t>
            </a:r>
            <a:endParaRPr lang="en-US" sz="620" dirty="0"/>
          </a:p>
        </p:txBody>
      </p:sp>
      <p:sp>
        <p:nvSpPr>
          <p:cNvPr id="32" name="Shape 30"/>
          <p:cNvSpPr/>
          <p:nvPr/>
        </p:nvSpPr>
        <p:spPr>
          <a:xfrm>
            <a:off x="2410968" y="1609344"/>
            <a:ext cx="2036064" cy="2670048"/>
          </a:xfrm>
          <a:prstGeom prst="roundRect">
            <a:avLst>
              <a:gd name="adj" fmla="val 898"/>
            </a:avLst>
          </a:prstGeom>
          <a:solidFill>
            <a:srgbClr val="FFFFFF"/>
          </a:solidFill>
          <a:ln w="9525">
            <a:solidFill>
              <a:srgbClr val="C8DCD7"/>
            </a:solidFill>
            <a:prstDash val="solid"/>
          </a:ln>
        </p:spPr>
      </p:sp>
      <p:sp>
        <p:nvSpPr>
          <p:cNvPr id="33" name="Shape 31"/>
          <p:cNvSpPr/>
          <p:nvPr/>
        </p:nvSpPr>
        <p:spPr>
          <a:xfrm>
            <a:off x="2410968" y="1609344"/>
            <a:ext cx="2036064" cy="274320"/>
          </a:xfrm>
          <a:prstGeom prst="rect">
            <a:avLst/>
          </a:prstGeom>
          <a:solidFill>
            <a:srgbClr val="D6544D"/>
          </a:solidFill>
          <a:ln/>
        </p:spPr>
      </p:sp>
      <p:sp>
        <p:nvSpPr>
          <p:cNvPr id="34" name="Text 32"/>
          <p:cNvSpPr/>
          <p:nvPr/>
        </p:nvSpPr>
        <p:spPr>
          <a:xfrm>
            <a:off x="2493264" y="1627632"/>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DMART SOUTH-2</a:t>
            </a:r>
            <a:endParaRPr lang="en-US" sz="700" dirty="0"/>
          </a:p>
        </p:txBody>
      </p:sp>
      <p:sp>
        <p:nvSpPr>
          <p:cNvPr id="35" name="Text 33"/>
          <p:cNvSpPr/>
          <p:nvPr/>
        </p:nvSpPr>
        <p:spPr>
          <a:xfrm>
            <a:off x="2502408" y="1975104"/>
            <a:ext cx="1853184" cy="292608"/>
          </a:xfrm>
          <a:prstGeom prst="rect">
            <a:avLst/>
          </a:prstGeom>
          <a:noFill/>
          <a:ln/>
        </p:spPr>
        <p:txBody>
          <a:bodyPr wrap="square" lIns="0" tIns="0" rIns="0" bIns="0" rtlCol="0" anchor="t"/>
          <a:lstStyle/>
          <a:p>
            <a:pPr algn="ctr" indent="0" marL="0">
              <a:lnSpc>
                <a:spcPct val="90000"/>
              </a:lnSpc>
              <a:buNone/>
            </a:pPr>
            <a:r>
              <a:rPr lang="en-US" sz="800" b="1" dirty="0">
                <a:solidFill>
                  <a:srgbClr val="183B39"/>
                </a:solidFill>
                <a:latin typeface="Calibri" pitchFamily="34" charset="0"/>
                <a:ea typeface="Calibri" pitchFamily="34" charset="-122"/>
                <a:cs typeface="Calibri" pitchFamily="34" charset="-120"/>
              </a:rPr>
              <a:t>One region behaving unlike the account</a:t>
            </a:r>
            <a:endParaRPr lang="en-US" sz="800" dirty="0"/>
          </a:p>
        </p:txBody>
      </p:sp>
      <p:sp>
        <p:nvSpPr>
          <p:cNvPr id="36" name="Text 34"/>
          <p:cNvSpPr/>
          <p:nvPr/>
        </p:nvSpPr>
        <p:spPr>
          <a:xfrm>
            <a:off x="2502408" y="2286000"/>
            <a:ext cx="1853184" cy="182880"/>
          </a:xfrm>
          <a:prstGeom prst="rect">
            <a:avLst/>
          </a:prstGeom>
          <a:noFill/>
          <a:ln/>
        </p:spPr>
        <p:txBody>
          <a:bodyPr wrap="square" lIns="0" tIns="0" rIns="0" bIns="0" rtlCol="0" anchor="t"/>
          <a:lstStyle/>
          <a:p>
            <a:pPr algn="ctr" indent="0" marL="0">
              <a:buNone/>
            </a:pPr>
            <a:r>
              <a:rPr lang="en-US" sz="600" b="1" dirty="0">
                <a:solidFill>
                  <a:srgbClr val="5F716E"/>
                </a:solidFill>
                <a:latin typeface="Calibri" pitchFamily="34" charset="0"/>
                <a:ea typeface="Calibri" pitchFamily="34" charset="-122"/>
                <a:cs typeface="Calibri" pitchFamily="34" charset="-120"/>
              </a:rPr>
              <a:t>AT STAKE  </a:t>
            </a:r>
            <a:pPr algn="ctr" indent="0" marL="0">
              <a:buNone/>
            </a:pPr>
            <a:r>
              <a:rPr lang="en-US" sz="800" b="1" dirty="0">
                <a:solidFill>
                  <a:srgbClr val="D6544D"/>
                </a:solidFill>
                <a:latin typeface="Calibri" pitchFamily="34" charset="0"/>
                <a:ea typeface="Calibri" pitchFamily="34" charset="-122"/>
                <a:cs typeface="Calibri" pitchFamily="34" charset="-120"/>
              </a:rPr>
              <a:t>₹0.89 Cr</a:t>
            </a:r>
            <a:endParaRPr lang="en-US" sz="600" dirty="0"/>
          </a:p>
        </p:txBody>
      </p:sp>
      <p:sp>
        <p:nvSpPr>
          <p:cNvPr id="37" name="Text 35"/>
          <p:cNvSpPr/>
          <p:nvPr/>
        </p:nvSpPr>
        <p:spPr>
          <a:xfrm>
            <a:off x="2502408" y="2523744"/>
            <a:ext cx="1853184" cy="128016"/>
          </a:xfrm>
          <a:prstGeom prst="rect">
            <a:avLst/>
          </a:prstGeom>
          <a:noFill/>
          <a:ln/>
        </p:spPr>
        <p:txBody>
          <a:bodyPr wrap="square" lIns="0" tIns="0" rIns="0" bIns="0" rtlCol="0" anchor="t"/>
          <a:lstStyle/>
          <a:p>
            <a:pPr indent="0" marL="0">
              <a:buNone/>
            </a:pPr>
            <a:r>
              <a:rPr lang="en-US" sz="600" b="1" spc="40" kern="0" dirty="0">
                <a:solidFill>
                  <a:srgbClr val="116F68"/>
                </a:solidFill>
                <a:latin typeface="Calibri" pitchFamily="34" charset="0"/>
                <a:ea typeface="Calibri" pitchFamily="34" charset="-122"/>
                <a:cs typeface="Calibri" pitchFamily="34" charset="-120"/>
              </a:rPr>
              <a:t>EVIDENCE</a:t>
            </a:r>
            <a:endParaRPr lang="en-US" sz="600" dirty="0"/>
          </a:p>
        </p:txBody>
      </p:sp>
      <p:sp>
        <p:nvSpPr>
          <p:cNvPr id="38" name="Text 36"/>
          <p:cNvSpPr/>
          <p:nvPr/>
        </p:nvSpPr>
        <p:spPr>
          <a:xfrm>
            <a:off x="2502408" y="2660904"/>
            <a:ext cx="1853184" cy="420624"/>
          </a:xfrm>
          <a:prstGeom prst="rect">
            <a:avLst/>
          </a:prstGeom>
          <a:noFill/>
          <a:ln/>
        </p:spPr>
        <p:txBody>
          <a:bodyPr wrap="square" lIns="0" tIns="0" rIns="0" bIns="0" rtlCol="0" anchor="t"/>
          <a:lstStyle/>
          <a:p>
            <a:pPr indent="0" marL="0">
              <a:lnSpc>
                <a:spcPct val="92000"/>
              </a:lnSpc>
              <a:buNone/>
            </a:pPr>
            <a:r>
              <a:rPr lang="en-US" sz="680" dirty="0">
                <a:solidFill>
                  <a:srgbClr val="5F716E"/>
                </a:solidFill>
                <a:latin typeface="Calibri" pitchFamily="34" charset="0"/>
                <a:ea typeface="Calibri" pitchFamily="34" charset="-122"/>
                <a:cs typeface="Calibri" pitchFamily="34" charset="-120"/>
              </a:rPr>
              <a:t>DMart converts 94.2% in West and 95.3% in Central, but 45.1% in South-2 — a regional break, not a chain issue.</a:t>
            </a:r>
            <a:endParaRPr lang="en-US" sz="680" dirty="0"/>
          </a:p>
        </p:txBody>
      </p:sp>
      <p:sp>
        <p:nvSpPr>
          <p:cNvPr id="39" name="Text 37"/>
          <p:cNvSpPr/>
          <p:nvPr/>
        </p:nvSpPr>
        <p:spPr>
          <a:xfrm>
            <a:off x="2502408" y="3108960"/>
            <a:ext cx="1853184" cy="128016"/>
          </a:xfrm>
          <a:prstGeom prst="rect">
            <a:avLst/>
          </a:prstGeom>
          <a:noFill/>
          <a:ln/>
        </p:spPr>
        <p:txBody>
          <a:bodyPr wrap="square" lIns="0" tIns="0" rIns="0" bIns="0" rtlCol="0" anchor="t"/>
          <a:lstStyle/>
          <a:p>
            <a:pPr indent="0" marL="0">
              <a:buNone/>
            </a:pPr>
            <a:r>
              <a:rPr lang="en-US" sz="600" b="1" spc="40" kern="0" dirty="0">
                <a:solidFill>
                  <a:srgbClr val="116F68"/>
                </a:solidFill>
                <a:latin typeface="Calibri" pitchFamily="34" charset="0"/>
                <a:ea typeface="Calibri" pitchFamily="34" charset="-122"/>
                <a:cs typeface="Calibri" pitchFamily="34" charset="-120"/>
              </a:rPr>
              <a:t>RECOVERY</a:t>
            </a:r>
            <a:endParaRPr lang="en-US" sz="600" dirty="0"/>
          </a:p>
        </p:txBody>
      </p:sp>
      <p:sp>
        <p:nvSpPr>
          <p:cNvPr id="40" name="Text 38"/>
          <p:cNvSpPr/>
          <p:nvPr/>
        </p:nvSpPr>
        <p:spPr>
          <a:xfrm>
            <a:off x="2502408" y="3246120"/>
            <a:ext cx="1853184" cy="420624"/>
          </a:xfrm>
          <a:prstGeom prst="rect">
            <a:avLst/>
          </a:prstGeom>
          <a:noFill/>
          <a:ln/>
        </p:spPr>
        <p:txBody>
          <a:bodyPr wrap="square" lIns="0" tIns="0" rIns="0" bIns="0" rtlCol="0" anchor="t"/>
          <a:lstStyle/>
          <a:p>
            <a:pPr indent="0" marL="0">
              <a:lnSpc>
                <a:spcPct val="92000"/>
              </a:lnSpc>
              <a:buNone/>
            </a:pPr>
            <a:r>
              <a:rPr lang="en-US" sz="680" dirty="0">
                <a:solidFill>
                  <a:srgbClr val="183B39"/>
                </a:solidFill>
                <a:latin typeface="Calibri" pitchFamily="34" charset="0"/>
                <a:ea typeface="Calibri" pitchFamily="34" charset="-122"/>
                <a:cs typeface="Calibri" pitchFamily="34" charset="-120"/>
              </a:rPr>
              <a:t>Audit DC-to-store fill rate and top-SKU store availability against the West benchmark.</a:t>
            </a:r>
            <a:endParaRPr lang="en-US" sz="680" dirty="0"/>
          </a:p>
        </p:txBody>
      </p:sp>
      <p:sp>
        <p:nvSpPr>
          <p:cNvPr id="41" name="Text 39"/>
          <p:cNvSpPr/>
          <p:nvPr/>
        </p:nvSpPr>
        <p:spPr>
          <a:xfrm>
            <a:off x="2502408" y="3822192"/>
            <a:ext cx="1853184" cy="237744"/>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KPI  </a:t>
            </a:r>
            <a:pPr indent="0" marL="0">
              <a:lnSpc>
                <a:spcPct val="90000"/>
              </a:lnSpc>
              <a:buNone/>
            </a:pPr>
            <a:r>
              <a:rPr lang="en-US" sz="660" b="1" dirty="0">
                <a:solidFill>
                  <a:srgbClr val="183B39"/>
                </a:solidFill>
                <a:latin typeface="Calibri" pitchFamily="34" charset="0"/>
                <a:ea typeface="Calibri" pitchFamily="34" charset="-122"/>
                <a:cs typeface="Calibri" pitchFamily="34" charset="-120"/>
              </a:rPr>
              <a:t>South-2 conversion to 80%+</a:t>
            </a:r>
            <a:endParaRPr lang="en-US" sz="600" dirty="0"/>
          </a:p>
        </p:txBody>
      </p:sp>
      <p:sp>
        <p:nvSpPr>
          <p:cNvPr id="42" name="Text 40"/>
          <p:cNvSpPr/>
          <p:nvPr/>
        </p:nvSpPr>
        <p:spPr>
          <a:xfrm>
            <a:off x="2502408" y="4078224"/>
            <a:ext cx="1853184" cy="137160"/>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NKAM DMart + Supply · 22 Aug</a:t>
            </a:r>
            <a:endParaRPr lang="en-US" sz="620" dirty="0"/>
          </a:p>
        </p:txBody>
      </p:sp>
      <p:sp>
        <p:nvSpPr>
          <p:cNvPr id="43" name="Shape 41"/>
          <p:cNvSpPr/>
          <p:nvPr/>
        </p:nvSpPr>
        <p:spPr>
          <a:xfrm>
            <a:off x="4556760" y="1609344"/>
            <a:ext cx="2036064" cy="2670048"/>
          </a:xfrm>
          <a:prstGeom prst="roundRect">
            <a:avLst>
              <a:gd name="adj" fmla="val 898"/>
            </a:avLst>
          </a:prstGeom>
          <a:solidFill>
            <a:srgbClr val="FFFFFF"/>
          </a:solidFill>
          <a:ln w="9525">
            <a:solidFill>
              <a:srgbClr val="C8DCD7"/>
            </a:solidFill>
            <a:prstDash val="solid"/>
          </a:ln>
        </p:spPr>
      </p:sp>
      <p:sp>
        <p:nvSpPr>
          <p:cNvPr id="44" name="Shape 42"/>
          <p:cNvSpPr/>
          <p:nvPr/>
        </p:nvSpPr>
        <p:spPr>
          <a:xfrm>
            <a:off x="4556760" y="1609344"/>
            <a:ext cx="2036064" cy="274320"/>
          </a:xfrm>
          <a:prstGeom prst="rect">
            <a:avLst/>
          </a:prstGeom>
          <a:solidFill>
            <a:srgbClr val="F2B84B"/>
          </a:solidFill>
          <a:ln/>
        </p:spPr>
      </p:sp>
      <p:sp>
        <p:nvSpPr>
          <p:cNvPr id="45" name="Text 43"/>
          <p:cNvSpPr/>
          <p:nvPr/>
        </p:nvSpPr>
        <p:spPr>
          <a:xfrm>
            <a:off x="4639056" y="1627632"/>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LULU</a:t>
            </a:r>
            <a:endParaRPr lang="en-US" sz="700" dirty="0"/>
          </a:p>
        </p:txBody>
      </p:sp>
      <p:sp>
        <p:nvSpPr>
          <p:cNvPr id="46" name="Text 44"/>
          <p:cNvSpPr/>
          <p:nvPr/>
        </p:nvSpPr>
        <p:spPr>
          <a:xfrm>
            <a:off x="4648200" y="1975104"/>
            <a:ext cx="1853184" cy="292608"/>
          </a:xfrm>
          <a:prstGeom prst="rect">
            <a:avLst/>
          </a:prstGeom>
          <a:noFill/>
          <a:ln/>
        </p:spPr>
        <p:txBody>
          <a:bodyPr wrap="square" lIns="0" tIns="0" rIns="0" bIns="0" rtlCol="0" anchor="t"/>
          <a:lstStyle/>
          <a:p>
            <a:pPr algn="ctr" indent="0" marL="0">
              <a:lnSpc>
                <a:spcPct val="90000"/>
              </a:lnSpc>
              <a:buNone/>
            </a:pPr>
            <a:r>
              <a:rPr lang="en-US" sz="800" b="1" dirty="0">
                <a:solidFill>
                  <a:srgbClr val="183B39"/>
                </a:solidFill>
                <a:latin typeface="Calibri" pitchFamily="34" charset="0"/>
                <a:ea typeface="Calibri" pitchFamily="34" charset="-122"/>
                <a:cs typeface="Calibri" pitchFamily="34" charset="-120"/>
              </a:rPr>
              <a:t>Growth claim without a primary join</a:t>
            </a:r>
            <a:endParaRPr lang="en-US" sz="800" dirty="0"/>
          </a:p>
        </p:txBody>
      </p:sp>
      <p:sp>
        <p:nvSpPr>
          <p:cNvPr id="47" name="Text 45"/>
          <p:cNvSpPr/>
          <p:nvPr/>
        </p:nvSpPr>
        <p:spPr>
          <a:xfrm>
            <a:off x="4648200" y="2286000"/>
            <a:ext cx="1853184" cy="182880"/>
          </a:xfrm>
          <a:prstGeom prst="rect">
            <a:avLst/>
          </a:prstGeom>
          <a:noFill/>
          <a:ln/>
        </p:spPr>
        <p:txBody>
          <a:bodyPr wrap="square" lIns="0" tIns="0" rIns="0" bIns="0" rtlCol="0" anchor="t"/>
          <a:lstStyle/>
          <a:p>
            <a:pPr algn="ctr" indent="0" marL="0">
              <a:buNone/>
            </a:pPr>
            <a:r>
              <a:rPr lang="en-US" sz="600" b="1" dirty="0">
                <a:solidFill>
                  <a:srgbClr val="5F716E"/>
                </a:solidFill>
                <a:latin typeface="Calibri" pitchFamily="34" charset="0"/>
                <a:ea typeface="Calibri" pitchFamily="34" charset="-122"/>
                <a:cs typeface="Calibri" pitchFamily="34" charset="-120"/>
              </a:rPr>
              <a:t>AT STAKE  </a:t>
            </a:r>
            <a:pPr algn="ctr" indent="0" marL="0">
              <a:buNone/>
            </a:pPr>
            <a:r>
              <a:rPr lang="en-US" sz="800" b="1" dirty="0">
                <a:solidFill>
                  <a:srgbClr val="F2B84B"/>
                </a:solidFill>
                <a:latin typeface="Calibri" pitchFamily="34" charset="0"/>
                <a:ea typeface="Calibri" pitchFamily="34" charset="-122"/>
                <a:cs typeface="Calibri" pitchFamily="34" charset="-120"/>
              </a:rPr>
              <a:t>unverified</a:t>
            </a:r>
            <a:endParaRPr lang="en-US" sz="600" dirty="0"/>
          </a:p>
        </p:txBody>
      </p:sp>
      <p:sp>
        <p:nvSpPr>
          <p:cNvPr id="48" name="Text 46"/>
          <p:cNvSpPr/>
          <p:nvPr/>
        </p:nvSpPr>
        <p:spPr>
          <a:xfrm>
            <a:off x="4648200" y="2523744"/>
            <a:ext cx="1853184" cy="128016"/>
          </a:xfrm>
          <a:prstGeom prst="rect">
            <a:avLst/>
          </a:prstGeom>
          <a:noFill/>
          <a:ln/>
        </p:spPr>
        <p:txBody>
          <a:bodyPr wrap="square" lIns="0" tIns="0" rIns="0" bIns="0" rtlCol="0" anchor="t"/>
          <a:lstStyle/>
          <a:p>
            <a:pPr indent="0" marL="0">
              <a:buNone/>
            </a:pPr>
            <a:r>
              <a:rPr lang="en-US" sz="600" b="1" spc="40" kern="0" dirty="0">
                <a:solidFill>
                  <a:srgbClr val="116F68"/>
                </a:solidFill>
                <a:latin typeface="Calibri" pitchFamily="34" charset="0"/>
                <a:ea typeface="Calibri" pitchFamily="34" charset="-122"/>
                <a:cs typeface="Calibri" pitchFamily="34" charset="-120"/>
              </a:rPr>
              <a:t>EVIDENCE</a:t>
            </a:r>
            <a:endParaRPr lang="en-US" sz="600" dirty="0"/>
          </a:p>
        </p:txBody>
      </p:sp>
      <p:sp>
        <p:nvSpPr>
          <p:cNvPr id="49" name="Text 47"/>
          <p:cNvSpPr/>
          <p:nvPr/>
        </p:nvSpPr>
        <p:spPr>
          <a:xfrm>
            <a:off x="4648200" y="2660904"/>
            <a:ext cx="1853184" cy="420624"/>
          </a:xfrm>
          <a:prstGeom prst="rect">
            <a:avLst/>
          </a:prstGeom>
          <a:noFill/>
          <a:ln/>
        </p:spPr>
        <p:txBody>
          <a:bodyPr wrap="square" lIns="0" tIns="0" rIns="0" bIns="0" rtlCol="0" anchor="t"/>
          <a:lstStyle/>
          <a:p>
            <a:pPr indent="0" marL="0">
              <a:lnSpc>
                <a:spcPct val="92000"/>
              </a:lnSpc>
              <a:buNone/>
            </a:pPr>
            <a:r>
              <a:rPr lang="en-US" sz="680" dirty="0">
                <a:solidFill>
                  <a:srgbClr val="5F716E"/>
                </a:solidFill>
                <a:latin typeface="Calibri" pitchFamily="34" charset="0"/>
                <a:ea typeface="Calibri" pitchFamily="34" charset="-122"/>
                <a:cs typeface="Calibri" pitchFamily="34" charset="-120"/>
              </a:rPr>
              <a:t>+46.5% MoM on ₹1.70 Cr offtake with zero mapped primary. The growth may be real or a mapping artefact.</a:t>
            </a:r>
            <a:endParaRPr lang="en-US" sz="680" dirty="0"/>
          </a:p>
        </p:txBody>
      </p:sp>
      <p:sp>
        <p:nvSpPr>
          <p:cNvPr id="50" name="Text 48"/>
          <p:cNvSpPr/>
          <p:nvPr/>
        </p:nvSpPr>
        <p:spPr>
          <a:xfrm>
            <a:off x="4648200" y="3108960"/>
            <a:ext cx="1853184" cy="128016"/>
          </a:xfrm>
          <a:prstGeom prst="rect">
            <a:avLst/>
          </a:prstGeom>
          <a:noFill/>
          <a:ln/>
        </p:spPr>
        <p:txBody>
          <a:bodyPr wrap="square" lIns="0" tIns="0" rIns="0" bIns="0" rtlCol="0" anchor="t"/>
          <a:lstStyle/>
          <a:p>
            <a:pPr indent="0" marL="0">
              <a:buNone/>
            </a:pPr>
            <a:r>
              <a:rPr lang="en-US" sz="600" b="1" spc="40" kern="0" dirty="0">
                <a:solidFill>
                  <a:srgbClr val="116F68"/>
                </a:solidFill>
                <a:latin typeface="Calibri" pitchFamily="34" charset="0"/>
                <a:ea typeface="Calibri" pitchFamily="34" charset="-122"/>
                <a:cs typeface="Calibri" pitchFamily="34" charset="-120"/>
              </a:rPr>
              <a:t>RECOVERY</a:t>
            </a:r>
            <a:endParaRPr lang="en-US" sz="600" dirty="0"/>
          </a:p>
        </p:txBody>
      </p:sp>
      <p:sp>
        <p:nvSpPr>
          <p:cNvPr id="51" name="Text 49"/>
          <p:cNvSpPr/>
          <p:nvPr/>
        </p:nvSpPr>
        <p:spPr>
          <a:xfrm>
            <a:off x="4648200" y="3246120"/>
            <a:ext cx="1853184" cy="420624"/>
          </a:xfrm>
          <a:prstGeom prst="rect">
            <a:avLst/>
          </a:prstGeom>
          <a:noFill/>
          <a:ln/>
        </p:spPr>
        <p:txBody>
          <a:bodyPr wrap="square" lIns="0" tIns="0" rIns="0" bIns="0" rtlCol="0" anchor="t"/>
          <a:lstStyle/>
          <a:p>
            <a:pPr indent="0" marL="0">
              <a:lnSpc>
                <a:spcPct val="92000"/>
              </a:lnSpc>
              <a:buNone/>
            </a:pPr>
            <a:r>
              <a:rPr lang="en-US" sz="680" dirty="0">
                <a:solidFill>
                  <a:srgbClr val="183B39"/>
                </a:solidFill>
                <a:latin typeface="Calibri" pitchFamily="34" charset="0"/>
                <a:ea typeface="Calibri" pitchFamily="34" charset="-122"/>
                <a:cs typeface="Calibri" pitchFamily="34" charset="-120"/>
              </a:rPr>
              <a:t>Map the Lulu billing route before any field instruction is issued on this account.</a:t>
            </a:r>
            <a:endParaRPr lang="en-US" sz="680" dirty="0"/>
          </a:p>
        </p:txBody>
      </p:sp>
      <p:sp>
        <p:nvSpPr>
          <p:cNvPr id="52" name="Text 50"/>
          <p:cNvSpPr/>
          <p:nvPr/>
        </p:nvSpPr>
        <p:spPr>
          <a:xfrm>
            <a:off x="4648200" y="3822192"/>
            <a:ext cx="1853184" cy="237744"/>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KPI  </a:t>
            </a:r>
            <a:pPr indent="0" marL="0">
              <a:lnSpc>
                <a:spcPct val="90000"/>
              </a:lnSpc>
              <a:buNone/>
            </a:pPr>
            <a:r>
              <a:rPr lang="en-US" sz="660" b="1" dirty="0">
                <a:solidFill>
                  <a:srgbClr val="183B39"/>
                </a:solidFill>
                <a:latin typeface="Calibri" pitchFamily="34" charset="0"/>
                <a:ea typeface="Calibri" pitchFamily="34" charset="-122"/>
                <a:cs typeface="Calibri" pitchFamily="34" charset="-120"/>
              </a:rPr>
              <a:t>Primary mapped and flow computable</a:t>
            </a:r>
            <a:endParaRPr lang="en-US" sz="600" dirty="0"/>
          </a:p>
        </p:txBody>
      </p:sp>
      <p:sp>
        <p:nvSpPr>
          <p:cNvPr id="53" name="Text 51"/>
          <p:cNvSpPr/>
          <p:nvPr/>
        </p:nvSpPr>
        <p:spPr>
          <a:xfrm>
            <a:off x="4648200" y="4078224"/>
            <a:ext cx="1853184" cy="137160"/>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Analyst · 18 Aug</a:t>
            </a:r>
            <a:endParaRPr lang="en-US" sz="620" dirty="0"/>
          </a:p>
        </p:txBody>
      </p:sp>
      <p:sp>
        <p:nvSpPr>
          <p:cNvPr id="54" name="Shape 52"/>
          <p:cNvSpPr/>
          <p:nvPr/>
        </p:nvSpPr>
        <p:spPr>
          <a:xfrm>
            <a:off x="265176" y="4407408"/>
            <a:ext cx="2036064" cy="2670048"/>
          </a:xfrm>
          <a:prstGeom prst="roundRect">
            <a:avLst>
              <a:gd name="adj" fmla="val 898"/>
            </a:avLst>
          </a:prstGeom>
          <a:solidFill>
            <a:srgbClr val="FFFFFF"/>
          </a:solidFill>
          <a:ln w="9525">
            <a:solidFill>
              <a:srgbClr val="C8DCD7"/>
            </a:solidFill>
            <a:prstDash val="solid"/>
          </a:ln>
        </p:spPr>
      </p:sp>
      <p:sp>
        <p:nvSpPr>
          <p:cNvPr id="55" name="Shape 53"/>
          <p:cNvSpPr/>
          <p:nvPr/>
        </p:nvSpPr>
        <p:spPr>
          <a:xfrm>
            <a:off x="265176" y="4407408"/>
            <a:ext cx="2036064" cy="274320"/>
          </a:xfrm>
          <a:prstGeom prst="rect">
            <a:avLst/>
          </a:prstGeom>
          <a:solidFill>
            <a:srgbClr val="F2B84B"/>
          </a:solidFill>
          <a:ln/>
        </p:spPr>
      </p:sp>
      <p:sp>
        <p:nvSpPr>
          <p:cNvPr id="56" name="Text 54"/>
          <p:cNvSpPr/>
          <p:nvPr/>
        </p:nvSpPr>
        <p:spPr>
          <a:xfrm>
            <a:off x="347472" y="4425696"/>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METRO</a:t>
            </a:r>
            <a:endParaRPr lang="en-US" sz="700" dirty="0"/>
          </a:p>
        </p:txBody>
      </p:sp>
      <p:sp>
        <p:nvSpPr>
          <p:cNvPr id="57" name="Text 55"/>
          <p:cNvSpPr/>
          <p:nvPr/>
        </p:nvSpPr>
        <p:spPr>
          <a:xfrm>
            <a:off x="356616" y="4773168"/>
            <a:ext cx="1853184" cy="292608"/>
          </a:xfrm>
          <a:prstGeom prst="rect">
            <a:avLst/>
          </a:prstGeom>
          <a:noFill/>
          <a:ln/>
        </p:spPr>
        <p:txBody>
          <a:bodyPr wrap="square" lIns="0" tIns="0" rIns="0" bIns="0" rtlCol="0" anchor="t"/>
          <a:lstStyle/>
          <a:p>
            <a:pPr algn="ctr" indent="0" marL="0">
              <a:lnSpc>
                <a:spcPct val="90000"/>
              </a:lnSpc>
              <a:buNone/>
            </a:pPr>
            <a:r>
              <a:rPr lang="en-US" sz="800" b="1" dirty="0">
                <a:solidFill>
                  <a:srgbClr val="183B39"/>
                </a:solidFill>
                <a:latin typeface="Calibri" pitchFamily="34" charset="0"/>
                <a:ea typeface="Calibri" pitchFamily="34" charset="-122"/>
                <a:cs typeface="Calibri" pitchFamily="34" charset="-120"/>
              </a:rPr>
              <a:t>Range dilution below the floor</a:t>
            </a:r>
            <a:endParaRPr lang="en-US" sz="800" dirty="0"/>
          </a:p>
        </p:txBody>
      </p:sp>
      <p:sp>
        <p:nvSpPr>
          <p:cNvPr id="58" name="Text 56"/>
          <p:cNvSpPr/>
          <p:nvPr/>
        </p:nvSpPr>
        <p:spPr>
          <a:xfrm>
            <a:off x="356616" y="5084064"/>
            <a:ext cx="1853184" cy="182880"/>
          </a:xfrm>
          <a:prstGeom prst="rect">
            <a:avLst/>
          </a:prstGeom>
          <a:noFill/>
          <a:ln/>
        </p:spPr>
        <p:txBody>
          <a:bodyPr wrap="square" lIns="0" tIns="0" rIns="0" bIns="0" rtlCol="0" anchor="t"/>
          <a:lstStyle/>
          <a:p>
            <a:pPr algn="ctr" indent="0" marL="0">
              <a:buNone/>
            </a:pPr>
            <a:r>
              <a:rPr lang="en-US" sz="600" b="1" dirty="0">
                <a:solidFill>
                  <a:srgbClr val="5F716E"/>
                </a:solidFill>
                <a:latin typeface="Calibri" pitchFamily="34" charset="0"/>
                <a:ea typeface="Calibri" pitchFamily="34" charset="-122"/>
                <a:cs typeface="Calibri" pitchFamily="34" charset="-120"/>
              </a:rPr>
              <a:t>AT STAKE  </a:t>
            </a:r>
            <a:pPr algn="ctr" indent="0" marL="0">
              <a:buNone/>
            </a:pPr>
            <a:r>
              <a:rPr lang="en-US" sz="800" b="1" dirty="0">
                <a:solidFill>
                  <a:srgbClr val="F2B84B"/>
                </a:solidFill>
                <a:latin typeface="Calibri" pitchFamily="34" charset="0"/>
                <a:ea typeface="Calibri" pitchFamily="34" charset="-122"/>
                <a:cs typeface="Calibri" pitchFamily="34" charset="-120"/>
              </a:rPr>
              <a:t>₹0.12 Cr</a:t>
            </a:r>
            <a:endParaRPr lang="en-US" sz="600" dirty="0"/>
          </a:p>
        </p:txBody>
      </p:sp>
      <p:sp>
        <p:nvSpPr>
          <p:cNvPr id="59" name="Text 57"/>
          <p:cNvSpPr/>
          <p:nvPr/>
        </p:nvSpPr>
        <p:spPr>
          <a:xfrm>
            <a:off x="356616" y="5321808"/>
            <a:ext cx="1853184" cy="128016"/>
          </a:xfrm>
          <a:prstGeom prst="rect">
            <a:avLst/>
          </a:prstGeom>
          <a:noFill/>
          <a:ln/>
        </p:spPr>
        <p:txBody>
          <a:bodyPr wrap="square" lIns="0" tIns="0" rIns="0" bIns="0" rtlCol="0" anchor="t"/>
          <a:lstStyle/>
          <a:p>
            <a:pPr indent="0" marL="0">
              <a:buNone/>
            </a:pPr>
            <a:r>
              <a:rPr lang="en-US" sz="600" b="1" spc="40" kern="0" dirty="0">
                <a:solidFill>
                  <a:srgbClr val="116F68"/>
                </a:solidFill>
                <a:latin typeface="Calibri" pitchFamily="34" charset="0"/>
                <a:ea typeface="Calibri" pitchFamily="34" charset="-122"/>
                <a:cs typeface="Calibri" pitchFamily="34" charset="-120"/>
              </a:rPr>
              <a:t>EVIDENCE</a:t>
            </a:r>
            <a:endParaRPr lang="en-US" sz="600" dirty="0"/>
          </a:p>
        </p:txBody>
      </p:sp>
      <p:sp>
        <p:nvSpPr>
          <p:cNvPr id="60" name="Text 58"/>
          <p:cNvSpPr/>
          <p:nvPr/>
        </p:nvSpPr>
        <p:spPr>
          <a:xfrm>
            <a:off x="356616" y="5458968"/>
            <a:ext cx="1853184" cy="420624"/>
          </a:xfrm>
          <a:prstGeom prst="rect">
            <a:avLst/>
          </a:prstGeom>
          <a:noFill/>
          <a:ln/>
        </p:spPr>
        <p:txBody>
          <a:bodyPr wrap="square" lIns="0" tIns="0" rIns="0" bIns="0" rtlCol="0" anchor="t"/>
          <a:lstStyle/>
          <a:p>
            <a:pPr indent="0" marL="0">
              <a:lnSpc>
                <a:spcPct val="92000"/>
              </a:lnSpc>
              <a:buNone/>
            </a:pPr>
            <a:r>
              <a:rPr lang="en-US" sz="680" dirty="0">
                <a:solidFill>
                  <a:srgbClr val="5F716E"/>
                </a:solidFill>
                <a:latin typeface="Calibri" pitchFamily="34" charset="0"/>
                <a:ea typeface="Calibri" pitchFamily="34" charset="-122"/>
                <a:cs typeface="Calibri" pitchFamily="34" charset="-120"/>
              </a:rPr>
              <a:t>Down 20.5% MoM but only ₹0.12 Cr in absolute terms — more SKUs on lower sales per SKU.</a:t>
            </a:r>
            <a:endParaRPr lang="en-US" sz="680" dirty="0"/>
          </a:p>
        </p:txBody>
      </p:sp>
      <p:sp>
        <p:nvSpPr>
          <p:cNvPr id="61" name="Text 59"/>
          <p:cNvSpPr/>
          <p:nvPr/>
        </p:nvSpPr>
        <p:spPr>
          <a:xfrm>
            <a:off x="356616" y="5907024"/>
            <a:ext cx="1853184" cy="128016"/>
          </a:xfrm>
          <a:prstGeom prst="rect">
            <a:avLst/>
          </a:prstGeom>
          <a:noFill/>
          <a:ln/>
        </p:spPr>
        <p:txBody>
          <a:bodyPr wrap="square" lIns="0" tIns="0" rIns="0" bIns="0" rtlCol="0" anchor="t"/>
          <a:lstStyle/>
          <a:p>
            <a:pPr indent="0" marL="0">
              <a:buNone/>
            </a:pPr>
            <a:r>
              <a:rPr lang="en-US" sz="600" b="1" spc="40" kern="0" dirty="0">
                <a:solidFill>
                  <a:srgbClr val="116F68"/>
                </a:solidFill>
                <a:latin typeface="Calibri" pitchFamily="34" charset="0"/>
                <a:ea typeface="Calibri" pitchFamily="34" charset="-122"/>
                <a:cs typeface="Calibri" pitchFamily="34" charset="-120"/>
              </a:rPr>
              <a:t>RECOVERY</a:t>
            </a:r>
            <a:endParaRPr lang="en-US" sz="600" dirty="0"/>
          </a:p>
        </p:txBody>
      </p:sp>
      <p:sp>
        <p:nvSpPr>
          <p:cNvPr id="62" name="Text 60"/>
          <p:cNvSpPr/>
          <p:nvPr/>
        </p:nvSpPr>
        <p:spPr>
          <a:xfrm>
            <a:off x="356616" y="6044184"/>
            <a:ext cx="1853184" cy="420624"/>
          </a:xfrm>
          <a:prstGeom prst="rect">
            <a:avLst/>
          </a:prstGeom>
          <a:noFill/>
          <a:ln/>
        </p:spPr>
        <p:txBody>
          <a:bodyPr wrap="square" lIns="0" tIns="0" rIns="0" bIns="0" rtlCol="0" anchor="t"/>
          <a:lstStyle/>
          <a:p>
            <a:pPr indent="0" marL="0">
              <a:lnSpc>
                <a:spcPct val="92000"/>
              </a:lnSpc>
              <a:buNone/>
            </a:pPr>
            <a:r>
              <a:rPr lang="en-US" sz="680" dirty="0">
                <a:solidFill>
                  <a:srgbClr val="183B39"/>
                </a:solidFill>
                <a:latin typeface="Calibri" pitchFamily="34" charset="0"/>
                <a:ea typeface="Calibri" pitchFamily="34" charset="-122"/>
                <a:cs typeface="Calibri" pitchFamily="34" charset="-120"/>
              </a:rPr>
              <a:t>Pause range expansion and remove non-productive EANs; no separate recovery programme.</a:t>
            </a:r>
            <a:endParaRPr lang="en-US" sz="680" dirty="0"/>
          </a:p>
        </p:txBody>
      </p:sp>
      <p:sp>
        <p:nvSpPr>
          <p:cNvPr id="63" name="Text 61"/>
          <p:cNvSpPr/>
          <p:nvPr/>
        </p:nvSpPr>
        <p:spPr>
          <a:xfrm>
            <a:off x="356616" y="6620256"/>
            <a:ext cx="1853184" cy="237744"/>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KPI  </a:t>
            </a:r>
            <a:pPr indent="0" marL="0">
              <a:lnSpc>
                <a:spcPct val="90000"/>
              </a:lnSpc>
              <a:buNone/>
            </a:pPr>
            <a:r>
              <a:rPr lang="en-US" sz="660" b="1" dirty="0">
                <a:solidFill>
                  <a:srgbClr val="183B39"/>
                </a:solidFill>
                <a:latin typeface="Calibri" pitchFamily="34" charset="0"/>
                <a:ea typeface="Calibri" pitchFamily="34" charset="-122"/>
                <a:cs typeface="Calibri" pitchFamily="34" charset="-120"/>
              </a:rPr>
              <a:t>Sales per SKU and per store</a:t>
            </a:r>
            <a:endParaRPr lang="en-US" sz="600" dirty="0"/>
          </a:p>
        </p:txBody>
      </p:sp>
      <p:sp>
        <p:nvSpPr>
          <p:cNvPr id="64" name="Text 62"/>
          <p:cNvSpPr/>
          <p:nvPr/>
        </p:nvSpPr>
        <p:spPr>
          <a:xfrm>
            <a:off x="356616" y="6876288"/>
            <a:ext cx="1853184" cy="137160"/>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NKAM Metro · Sep cycle</a:t>
            </a:r>
            <a:endParaRPr lang="en-US" sz="620" dirty="0"/>
          </a:p>
        </p:txBody>
      </p:sp>
      <p:sp>
        <p:nvSpPr>
          <p:cNvPr id="65" name="Shape 63"/>
          <p:cNvSpPr/>
          <p:nvPr/>
        </p:nvSpPr>
        <p:spPr>
          <a:xfrm>
            <a:off x="2410968" y="4407408"/>
            <a:ext cx="2036064" cy="2670048"/>
          </a:xfrm>
          <a:prstGeom prst="roundRect">
            <a:avLst>
              <a:gd name="adj" fmla="val 898"/>
            </a:avLst>
          </a:prstGeom>
          <a:solidFill>
            <a:srgbClr val="FFFFFF"/>
          </a:solidFill>
          <a:ln w="9525">
            <a:solidFill>
              <a:srgbClr val="C8DCD7"/>
            </a:solidFill>
            <a:prstDash val="solid"/>
          </a:ln>
        </p:spPr>
      </p:sp>
      <p:sp>
        <p:nvSpPr>
          <p:cNvPr id="66" name="Shape 64"/>
          <p:cNvSpPr/>
          <p:nvPr/>
        </p:nvSpPr>
        <p:spPr>
          <a:xfrm>
            <a:off x="2410968" y="4407408"/>
            <a:ext cx="2036064" cy="274320"/>
          </a:xfrm>
          <a:prstGeom prst="rect">
            <a:avLst/>
          </a:prstGeom>
          <a:solidFill>
            <a:srgbClr val="2B9A66"/>
          </a:solidFill>
          <a:ln/>
        </p:spPr>
      </p:sp>
      <p:sp>
        <p:nvSpPr>
          <p:cNvPr id="67" name="Text 65"/>
          <p:cNvSpPr/>
          <p:nvPr/>
        </p:nvSpPr>
        <p:spPr>
          <a:xfrm>
            <a:off x="2493264" y="4425696"/>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APOLLO</a:t>
            </a:r>
            <a:endParaRPr lang="en-US" sz="700" dirty="0"/>
          </a:p>
        </p:txBody>
      </p:sp>
      <p:sp>
        <p:nvSpPr>
          <p:cNvPr id="68" name="Text 66"/>
          <p:cNvSpPr/>
          <p:nvPr/>
        </p:nvSpPr>
        <p:spPr>
          <a:xfrm>
            <a:off x="2502408" y="4773168"/>
            <a:ext cx="1853184" cy="292608"/>
          </a:xfrm>
          <a:prstGeom prst="rect">
            <a:avLst/>
          </a:prstGeom>
          <a:noFill/>
          <a:ln/>
        </p:spPr>
        <p:txBody>
          <a:bodyPr wrap="square" lIns="0" tIns="0" rIns="0" bIns="0" rtlCol="0" anchor="t"/>
          <a:lstStyle/>
          <a:p>
            <a:pPr algn="ctr" indent="0" marL="0">
              <a:lnSpc>
                <a:spcPct val="90000"/>
              </a:lnSpc>
              <a:buNone/>
            </a:pPr>
            <a:r>
              <a:rPr lang="en-US" sz="800" b="1" dirty="0">
                <a:solidFill>
                  <a:srgbClr val="183B39"/>
                </a:solidFill>
                <a:latin typeface="Calibri" pitchFamily="34" charset="0"/>
                <a:ea typeface="Calibri" pitchFamily="34" charset="-122"/>
                <a:cs typeface="Calibri" pitchFamily="34" charset="-120"/>
              </a:rPr>
              <a:t>The cadence worth exporting</a:t>
            </a:r>
            <a:endParaRPr lang="en-US" sz="800" dirty="0"/>
          </a:p>
        </p:txBody>
      </p:sp>
      <p:sp>
        <p:nvSpPr>
          <p:cNvPr id="69" name="Text 67"/>
          <p:cNvSpPr/>
          <p:nvPr/>
        </p:nvSpPr>
        <p:spPr>
          <a:xfrm>
            <a:off x="2502408" y="5084064"/>
            <a:ext cx="1853184" cy="182880"/>
          </a:xfrm>
          <a:prstGeom prst="rect">
            <a:avLst/>
          </a:prstGeom>
          <a:noFill/>
          <a:ln/>
        </p:spPr>
        <p:txBody>
          <a:bodyPr wrap="square" lIns="0" tIns="0" rIns="0" bIns="0" rtlCol="0" anchor="t"/>
          <a:lstStyle/>
          <a:p>
            <a:pPr algn="ctr" indent="0" marL="0">
              <a:buNone/>
            </a:pPr>
            <a:r>
              <a:rPr lang="en-US" sz="600" b="1" dirty="0">
                <a:solidFill>
                  <a:srgbClr val="5F716E"/>
                </a:solidFill>
                <a:latin typeface="Calibri" pitchFamily="34" charset="0"/>
                <a:ea typeface="Calibri" pitchFamily="34" charset="-122"/>
                <a:cs typeface="Calibri" pitchFamily="34" charset="-120"/>
              </a:rPr>
              <a:t>AT STAKE  </a:t>
            </a:r>
            <a:pPr algn="ctr" indent="0" marL="0">
              <a:buNone/>
            </a:pPr>
            <a:r>
              <a:rPr lang="en-US" sz="800" b="1" dirty="0">
                <a:solidFill>
                  <a:srgbClr val="2B9A66"/>
                </a:solidFill>
                <a:latin typeface="Calibri" pitchFamily="34" charset="0"/>
                <a:ea typeface="Calibri" pitchFamily="34" charset="-122"/>
                <a:cs typeface="Calibri" pitchFamily="34" charset="-120"/>
              </a:rPr>
              <a:t>benchmark</a:t>
            </a:r>
            <a:endParaRPr lang="en-US" sz="600" dirty="0"/>
          </a:p>
        </p:txBody>
      </p:sp>
      <p:sp>
        <p:nvSpPr>
          <p:cNvPr id="70" name="Text 68"/>
          <p:cNvSpPr/>
          <p:nvPr/>
        </p:nvSpPr>
        <p:spPr>
          <a:xfrm>
            <a:off x="2502408" y="5321808"/>
            <a:ext cx="1853184" cy="128016"/>
          </a:xfrm>
          <a:prstGeom prst="rect">
            <a:avLst/>
          </a:prstGeom>
          <a:noFill/>
          <a:ln/>
        </p:spPr>
        <p:txBody>
          <a:bodyPr wrap="square" lIns="0" tIns="0" rIns="0" bIns="0" rtlCol="0" anchor="t"/>
          <a:lstStyle/>
          <a:p>
            <a:pPr indent="0" marL="0">
              <a:buNone/>
            </a:pPr>
            <a:r>
              <a:rPr lang="en-US" sz="600" b="1" spc="40" kern="0" dirty="0">
                <a:solidFill>
                  <a:srgbClr val="116F68"/>
                </a:solidFill>
                <a:latin typeface="Calibri" pitchFamily="34" charset="0"/>
                <a:ea typeface="Calibri" pitchFamily="34" charset="-122"/>
                <a:cs typeface="Calibri" pitchFamily="34" charset="-120"/>
              </a:rPr>
              <a:t>EVIDENCE</a:t>
            </a:r>
            <a:endParaRPr lang="en-US" sz="600" dirty="0"/>
          </a:p>
        </p:txBody>
      </p:sp>
      <p:sp>
        <p:nvSpPr>
          <p:cNvPr id="71" name="Text 69"/>
          <p:cNvSpPr/>
          <p:nvPr/>
        </p:nvSpPr>
        <p:spPr>
          <a:xfrm>
            <a:off x="2502408" y="5458968"/>
            <a:ext cx="1853184" cy="420624"/>
          </a:xfrm>
          <a:prstGeom prst="rect">
            <a:avLst/>
          </a:prstGeom>
          <a:noFill/>
          <a:ln/>
        </p:spPr>
        <p:txBody>
          <a:bodyPr wrap="square" lIns="0" tIns="0" rIns="0" bIns="0" rtlCol="0" anchor="t"/>
          <a:lstStyle/>
          <a:p>
            <a:pPr indent="0" marL="0">
              <a:lnSpc>
                <a:spcPct val="92000"/>
              </a:lnSpc>
              <a:buNone/>
            </a:pPr>
            <a:r>
              <a:rPr lang="en-US" sz="680" dirty="0">
                <a:solidFill>
                  <a:srgbClr val="5F716E"/>
                </a:solidFill>
                <a:latin typeface="Calibri" pitchFamily="34" charset="0"/>
                <a:ea typeface="Calibri" pitchFamily="34" charset="-122"/>
                <a:cs typeface="Calibri" pitchFamily="34" charset="-120"/>
              </a:rPr>
              <a:t>Near-parity flow nationally. Zone figures read 121–149%, so the model is sound but the stock reconciliation is not.</a:t>
            </a:r>
            <a:endParaRPr lang="en-US" sz="680" dirty="0"/>
          </a:p>
        </p:txBody>
      </p:sp>
      <p:sp>
        <p:nvSpPr>
          <p:cNvPr id="72" name="Text 70"/>
          <p:cNvSpPr/>
          <p:nvPr/>
        </p:nvSpPr>
        <p:spPr>
          <a:xfrm>
            <a:off x="2502408" y="5907024"/>
            <a:ext cx="1853184" cy="128016"/>
          </a:xfrm>
          <a:prstGeom prst="rect">
            <a:avLst/>
          </a:prstGeom>
          <a:noFill/>
          <a:ln/>
        </p:spPr>
        <p:txBody>
          <a:bodyPr wrap="square" lIns="0" tIns="0" rIns="0" bIns="0" rtlCol="0" anchor="t"/>
          <a:lstStyle/>
          <a:p>
            <a:pPr indent="0" marL="0">
              <a:buNone/>
            </a:pPr>
            <a:r>
              <a:rPr lang="en-US" sz="600" b="1" spc="40" kern="0" dirty="0">
                <a:solidFill>
                  <a:srgbClr val="116F68"/>
                </a:solidFill>
                <a:latin typeface="Calibri" pitchFamily="34" charset="0"/>
                <a:ea typeface="Calibri" pitchFamily="34" charset="-122"/>
                <a:cs typeface="Calibri" pitchFamily="34" charset="-120"/>
              </a:rPr>
              <a:t>RECOVERY</a:t>
            </a:r>
            <a:endParaRPr lang="en-US" sz="600" dirty="0"/>
          </a:p>
        </p:txBody>
      </p:sp>
      <p:sp>
        <p:nvSpPr>
          <p:cNvPr id="73" name="Text 71"/>
          <p:cNvSpPr/>
          <p:nvPr/>
        </p:nvSpPr>
        <p:spPr>
          <a:xfrm>
            <a:off x="2502408" y="6044184"/>
            <a:ext cx="1853184" cy="420624"/>
          </a:xfrm>
          <a:prstGeom prst="rect">
            <a:avLst/>
          </a:prstGeom>
          <a:noFill/>
          <a:ln/>
        </p:spPr>
        <p:txBody>
          <a:bodyPr wrap="square" lIns="0" tIns="0" rIns="0" bIns="0" rtlCol="0" anchor="t"/>
          <a:lstStyle/>
          <a:p>
            <a:pPr indent="0" marL="0">
              <a:lnSpc>
                <a:spcPct val="92000"/>
              </a:lnSpc>
              <a:buNone/>
            </a:pPr>
            <a:r>
              <a:rPr lang="en-US" sz="680" dirty="0">
                <a:solidFill>
                  <a:srgbClr val="183B39"/>
                </a:solidFill>
                <a:latin typeface="Calibri" pitchFamily="34" charset="0"/>
                <a:ea typeface="Calibri" pitchFamily="34" charset="-122"/>
                <a:cs typeface="Calibri" pitchFamily="34" charset="-120"/>
              </a:rPr>
              <a:t>Extract order frequency and assortment depth as a scoring template; reconcile opening stock.</a:t>
            </a:r>
            <a:endParaRPr lang="en-US" sz="680" dirty="0"/>
          </a:p>
        </p:txBody>
      </p:sp>
      <p:sp>
        <p:nvSpPr>
          <p:cNvPr id="74" name="Text 72"/>
          <p:cNvSpPr/>
          <p:nvPr/>
        </p:nvSpPr>
        <p:spPr>
          <a:xfrm>
            <a:off x="2502408" y="6620256"/>
            <a:ext cx="1853184" cy="237744"/>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KPI  </a:t>
            </a:r>
            <a:pPr indent="0" marL="0">
              <a:lnSpc>
                <a:spcPct val="90000"/>
              </a:lnSpc>
              <a:buNone/>
            </a:pPr>
            <a:r>
              <a:rPr lang="en-US" sz="660" b="1" dirty="0">
                <a:solidFill>
                  <a:srgbClr val="183B39"/>
                </a:solidFill>
                <a:latin typeface="Calibri" pitchFamily="34" charset="0"/>
                <a:ea typeface="Calibri" pitchFamily="34" charset="-122"/>
                <a:cs typeface="Calibri" pitchFamily="34" charset="-120"/>
              </a:rPr>
              <a:t>Template published and applied to 2 accounts</a:t>
            </a:r>
            <a:endParaRPr lang="en-US" sz="600" dirty="0"/>
          </a:p>
        </p:txBody>
      </p:sp>
      <p:sp>
        <p:nvSpPr>
          <p:cNvPr id="75" name="Text 73"/>
          <p:cNvSpPr/>
          <p:nvPr/>
        </p:nvSpPr>
        <p:spPr>
          <a:xfrm>
            <a:off x="2502408" y="6876288"/>
            <a:ext cx="1853184" cy="137160"/>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Analyst + NKAM Apollo · 31 Aug</a:t>
            </a:r>
            <a:endParaRPr lang="en-US" sz="620" dirty="0"/>
          </a:p>
        </p:txBody>
      </p:sp>
      <p:sp>
        <p:nvSpPr>
          <p:cNvPr id="76" name="Shape 74"/>
          <p:cNvSpPr/>
          <p:nvPr/>
        </p:nvSpPr>
        <p:spPr>
          <a:xfrm>
            <a:off x="4556760" y="4407408"/>
            <a:ext cx="2036064" cy="2670048"/>
          </a:xfrm>
          <a:prstGeom prst="roundRect">
            <a:avLst>
              <a:gd name="adj" fmla="val 898"/>
            </a:avLst>
          </a:prstGeom>
          <a:solidFill>
            <a:srgbClr val="FFFFFF"/>
          </a:solidFill>
          <a:ln w="9525">
            <a:solidFill>
              <a:srgbClr val="C8DCD7"/>
            </a:solidFill>
            <a:prstDash val="solid"/>
          </a:ln>
        </p:spPr>
      </p:sp>
      <p:sp>
        <p:nvSpPr>
          <p:cNvPr id="77" name="Shape 75"/>
          <p:cNvSpPr/>
          <p:nvPr/>
        </p:nvSpPr>
        <p:spPr>
          <a:xfrm>
            <a:off x="4556760" y="4407408"/>
            <a:ext cx="2036064" cy="274320"/>
          </a:xfrm>
          <a:prstGeom prst="rect">
            <a:avLst/>
          </a:prstGeom>
          <a:solidFill>
            <a:srgbClr val="F2B84B"/>
          </a:solidFill>
          <a:ln/>
        </p:spPr>
      </p:sp>
      <p:sp>
        <p:nvSpPr>
          <p:cNvPr id="78" name="Text 76"/>
          <p:cNvSpPr/>
          <p:nvPr/>
        </p:nvSpPr>
        <p:spPr>
          <a:xfrm>
            <a:off x="4639056" y="4425696"/>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WELLNESS / H&amp;G</a:t>
            </a:r>
            <a:endParaRPr lang="en-US" sz="700" dirty="0"/>
          </a:p>
        </p:txBody>
      </p:sp>
      <p:sp>
        <p:nvSpPr>
          <p:cNvPr id="79" name="Text 77"/>
          <p:cNvSpPr/>
          <p:nvPr/>
        </p:nvSpPr>
        <p:spPr>
          <a:xfrm>
            <a:off x="4648200" y="4773168"/>
            <a:ext cx="1853184" cy="292608"/>
          </a:xfrm>
          <a:prstGeom prst="rect">
            <a:avLst/>
          </a:prstGeom>
          <a:noFill/>
          <a:ln/>
        </p:spPr>
        <p:txBody>
          <a:bodyPr wrap="square" lIns="0" tIns="0" rIns="0" bIns="0" rtlCol="0" anchor="t"/>
          <a:lstStyle/>
          <a:p>
            <a:pPr algn="ctr" indent="0" marL="0">
              <a:lnSpc>
                <a:spcPct val="90000"/>
              </a:lnSpc>
              <a:buNone/>
            </a:pPr>
            <a:r>
              <a:rPr lang="en-US" sz="800" b="1" dirty="0">
                <a:solidFill>
                  <a:srgbClr val="183B39"/>
                </a:solidFill>
                <a:latin typeface="Calibri" pitchFamily="34" charset="0"/>
                <a:ea typeface="Calibri" pitchFamily="34" charset="-122"/>
                <a:cs typeface="Calibri" pitchFamily="34" charset="-120"/>
              </a:rPr>
              <a:t>Offtake above unmapped primary</a:t>
            </a:r>
            <a:endParaRPr lang="en-US" sz="800" dirty="0"/>
          </a:p>
        </p:txBody>
      </p:sp>
      <p:sp>
        <p:nvSpPr>
          <p:cNvPr id="80" name="Text 78"/>
          <p:cNvSpPr/>
          <p:nvPr/>
        </p:nvSpPr>
        <p:spPr>
          <a:xfrm>
            <a:off x="4648200" y="5084064"/>
            <a:ext cx="1853184" cy="182880"/>
          </a:xfrm>
          <a:prstGeom prst="rect">
            <a:avLst/>
          </a:prstGeom>
          <a:noFill/>
          <a:ln/>
        </p:spPr>
        <p:txBody>
          <a:bodyPr wrap="square" lIns="0" tIns="0" rIns="0" bIns="0" rtlCol="0" anchor="t"/>
          <a:lstStyle/>
          <a:p>
            <a:pPr algn="ctr" indent="0" marL="0">
              <a:buNone/>
            </a:pPr>
            <a:r>
              <a:rPr lang="en-US" sz="600" b="1" dirty="0">
                <a:solidFill>
                  <a:srgbClr val="5F716E"/>
                </a:solidFill>
                <a:latin typeface="Calibri" pitchFamily="34" charset="0"/>
                <a:ea typeface="Calibri" pitchFamily="34" charset="-122"/>
                <a:cs typeface="Calibri" pitchFamily="34" charset="-120"/>
              </a:rPr>
              <a:t>AT STAKE  </a:t>
            </a:r>
            <a:pPr algn="ctr" indent="0" marL="0">
              <a:buNone/>
            </a:pPr>
            <a:r>
              <a:rPr lang="en-US" sz="800" b="1" dirty="0">
                <a:solidFill>
                  <a:srgbClr val="F2B84B"/>
                </a:solidFill>
                <a:latin typeface="Calibri" pitchFamily="34" charset="0"/>
                <a:ea typeface="Calibri" pitchFamily="34" charset="-122"/>
                <a:cs typeface="Calibri" pitchFamily="34" charset="-120"/>
              </a:rPr>
              <a:t>₹0.53 Cr</a:t>
            </a:r>
            <a:endParaRPr lang="en-US" sz="600" dirty="0"/>
          </a:p>
        </p:txBody>
      </p:sp>
      <p:sp>
        <p:nvSpPr>
          <p:cNvPr id="81" name="Text 79"/>
          <p:cNvSpPr/>
          <p:nvPr/>
        </p:nvSpPr>
        <p:spPr>
          <a:xfrm>
            <a:off x="4648200" y="5321808"/>
            <a:ext cx="1853184" cy="128016"/>
          </a:xfrm>
          <a:prstGeom prst="rect">
            <a:avLst/>
          </a:prstGeom>
          <a:noFill/>
          <a:ln/>
        </p:spPr>
        <p:txBody>
          <a:bodyPr wrap="square" lIns="0" tIns="0" rIns="0" bIns="0" rtlCol="0" anchor="t"/>
          <a:lstStyle/>
          <a:p>
            <a:pPr indent="0" marL="0">
              <a:buNone/>
            </a:pPr>
            <a:r>
              <a:rPr lang="en-US" sz="600" b="1" spc="40" kern="0" dirty="0">
                <a:solidFill>
                  <a:srgbClr val="116F68"/>
                </a:solidFill>
                <a:latin typeface="Calibri" pitchFamily="34" charset="0"/>
                <a:ea typeface="Calibri" pitchFamily="34" charset="-122"/>
                <a:cs typeface="Calibri" pitchFamily="34" charset="-120"/>
              </a:rPr>
              <a:t>EVIDENCE</a:t>
            </a:r>
            <a:endParaRPr lang="en-US" sz="600" dirty="0"/>
          </a:p>
        </p:txBody>
      </p:sp>
      <p:sp>
        <p:nvSpPr>
          <p:cNvPr id="82" name="Text 80"/>
          <p:cNvSpPr/>
          <p:nvPr/>
        </p:nvSpPr>
        <p:spPr>
          <a:xfrm>
            <a:off x="4648200" y="5458968"/>
            <a:ext cx="1853184" cy="420624"/>
          </a:xfrm>
          <a:prstGeom prst="rect">
            <a:avLst/>
          </a:prstGeom>
          <a:noFill/>
          <a:ln/>
        </p:spPr>
        <p:txBody>
          <a:bodyPr wrap="square" lIns="0" tIns="0" rIns="0" bIns="0" rtlCol="0" anchor="t"/>
          <a:lstStyle/>
          <a:p>
            <a:pPr indent="0" marL="0">
              <a:lnSpc>
                <a:spcPct val="92000"/>
              </a:lnSpc>
              <a:buNone/>
            </a:pPr>
            <a:r>
              <a:rPr lang="en-US" sz="680" dirty="0">
                <a:solidFill>
                  <a:srgbClr val="5F716E"/>
                </a:solidFill>
                <a:latin typeface="Calibri" pitchFamily="34" charset="0"/>
                <a:ea typeface="Calibri" pitchFamily="34" charset="-122"/>
                <a:cs typeface="Calibri" pitchFamily="34" charset="-120"/>
              </a:rPr>
              <a:t>Both show more offtake than mapped primary — ₹0.24 Cr and ₹0.29 Cr of negative gap that nets against real shortfalls.</a:t>
            </a:r>
            <a:endParaRPr lang="en-US" sz="680" dirty="0"/>
          </a:p>
        </p:txBody>
      </p:sp>
      <p:sp>
        <p:nvSpPr>
          <p:cNvPr id="83" name="Text 81"/>
          <p:cNvSpPr/>
          <p:nvPr/>
        </p:nvSpPr>
        <p:spPr>
          <a:xfrm>
            <a:off x="4648200" y="5907024"/>
            <a:ext cx="1853184" cy="128016"/>
          </a:xfrm>
          <a:prstGeom prst="rect">
            <a:avLst/>
          </a:prstGeom>
          <a:noFill/>
          <a:ln/>
        </p:spPr>
        <p:txBody>
          <a:bodyPr wrap="square" lIns="0" tIns="0" rIns="0" bIns="0" rtlCol="0" anchor="t"/>
          <a:lstStyle/>
          <a:p>
            <a:pPr indent="0" marL="0">
              <a:buNone/>
            </a:pPr>
            <a:r>
              <a:rPr lang="en-US" sz="600" b="1" spc="40" kern="0" dirty="0">
                <a:solidFill>
                  <a:srgbClr val="116F68"/>
                </a:solidFill>
                <a:latin typeface="Calibri" pitchFamily="34" charset="0"/>
                <a:ea typeface="Calibri" pitchFamily="34" charset="-122"/>
                <a:cs typeface="Calibri" pitchFamily="34" charset="-120"/>
              </a:rPr>
              <a:t>RECOVERY</a:t>
            </a:r>
            <a:endParaRPr lang="en-US" sz="600" dirty="0"/>
          </a:p>
        </p:txBody>
      </p:sp>
      <p:sp>
        <p:nvSpPr>
          <p:cNvPr id="84" name="Text 82"/>
          <p:cNvSpPr/>
          <p:nvPr/>
        </p:nvSpPr>
        <p:spPr>
          <a:xfrm>
            <a:off x="4648200" y="6044184"/>
            <a:ext cx="1853184" cy="420624"/>
          </a:xfrm>
          <a:prstGeom prst="rect">
            <a:avLst/>
          </a:prstGeom>
          <a:noFill/>
          <a:ln/>
        </p:spPr>
        <p:txBody>
          <a:bodyPr wrap="square" lIns="0" tIns="0" rIns="0" bIns="0" rtlCol="0" anchor="t"/>
          <a:lstStyle/>
          <a:p>
            <a:pPr indent="0" marL="0">
              <a:lnSpc>
                <a:spcPct val="92000"/>
              </a:lnSpc>
              <a:buNone/>
            </a:pPr>
            <a:r>
              <a:rPr lang="en-US" sz="680" dirty="0">
                <a:solidFill>
                  <a:srgbClr val="183B39"/>
                </a:solidFill>
                <a:latin typeface="Calibri" pitchFamily="34" charset="0"/>
                <a:ea typeface="Calibri" pitchFamily="34" charset="-122"/>
                <a:cs typeface="Calibri" pitchFamily="34" charset="-120"/>
              </a:rPr>
              <a:t>Map both billing routes; report gross positive and gross negative gap separately.</a:t>
            </a:r>
            <a:endParaRPr lang="en-US" sz="680" dirty="0"/>
          </a:p>
        </p:txBody>
      </p:sp>
      <p:sp>
        <p:nvSpPr>
          <p:cNvPr id="85" name="Text 83"/>
          <p:cNvSpPr/>
          <p:nvPr/>
        </p:nvSpPr>
        <p:spPr>
          <a:xfrm>
            <a:off x="4648200" y="6620256"/>
            <a:ext cx="1853184" cy="237744"/>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KPI  </a:t>
            </a:r>
            <a:pPr indent="0" marL="0">
              <a:lnSpc>
                <a:spcPct val="90000"/>
              </a:lnSpc>
              <a:buNone/>
            </a:pPr>
            <a:r>
              <a:rPr lang="en-US" sz="660" b="1" dirty="0">
                <a:solidFill>
                  <a:srgbClr val="183B39"/>
                </a:solidFill>
                <a:latin typeface="Calibri" pitchFamily="34" charset="0"/>
                <a:ea typeface="Calibri" pitchFamily="34" charset="-122"/>
                <a:cs typeface="Calibri" pitchFamily="34" charset="-120"/>
              </a:rPr>
              <a:t>Zero unmapped material chains</a:t>
            </a:r>
            <a:endParaRPr lang="en-US" sz="600" dirty="0"/>
          </a:p>
        </p:txBody>
      </p:sp>
      <p:sp>
        <p:nvSpPr>
          <p:cNvPr id="86" name="Text 84"/>
          <p:cNvSpPr/>
          <p:nvPr/>
        </p:nvSpPr>
        <p:spPr>
          <a:xfrm>
            <a:off x="4648200" y="6876288"/>
            <a:ext cx="1853184" cy="137160"/>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Analyst · 18 Aug</a:t>
            </a:r>
            <a:endParaRPr lang="en-US" sz="620" dirty="0"/>
          </a:p>
        </p:txBody>
      </p:sp>
      <p:sp>
        <p:nvSpPr>
          <p:cNvPr id="87" name="Shape 85"/>
          <p:cNvSpPr/>
          <p:nvPr/>
        </p:nvSpPr>
        <p:spPr>
          <a:xfrm>
            <a:off x="265176" y="7205472"/>
            <a:ext cx="2036064" cy="2670048"/>
          </a:xfrm>
          <a:prstGeom prst="roundRect">
            <a:avLst>
              <a:gd name="adj" fmla="val 898"/>
            </a:avLst>
          </a:prstGeom>
          <a:solidFill>
            <a:srgbClr val="FFFFFF"/>
          </a:solidFill>
          <a:ln w="9525">
            <a:solidFill>
              <a:srgbClr val="C8DCD7"/>
            </a:solidFill>
            <a:prstDash val="solid"/>
          </a:ln>
        </p:spPr>
      </p:sp>
      <p:sp>
        <p:nvSpPr>
          <p:cNvPr id="88" name="Shape 86"/>
          <p:cNvSpPr/>
          <p:nvPr/>
        </p:nvSpPr>
        <p:spPr>
          <a:xfrm>
            <a:off x="265176" y="7205472"/>
            <a:ext cx="2036064" cy="274320"/>
          </a:xfrm>
          <a:prstGeom prst="rect">
            <a:avLst/>
          </a:prstGeom>
          <a:solidFill>
            <a:srgbClr val="2B9A66"/>
          </a:solidFill>
          <a:ln/>
        </p:spPr>
      </p:sp>
      <p:sp>
        <p:nvSpPr>
          <p:cNvPr id="89" name="Text 87"/>
          <p:cNvSpPr/>
          <p:nvPr/>
        </p:nvSpPr>
        <p:spPr>
          <a:xfrm>
            <a:off x="347472" y="722376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FSN / NYKAA</a:t>
            </a:r>
            <a:endParaRPr lang="en-US" sz="700" dirty="0"/>
          </a:p>
        </p:txBody>
      </p:sp>
      <p:sp>
        <p:nvSpPr>
          <p:cNvPr id="90" name="Text 88"/>
          <p:cNvSpPr/>
          <p:nvPr/>
        </p:nvSpPr>
        <p:spPr>
          <a:xfrm>
            <a:off x="356616" y="7571232"/>
            <a:ext cx="1853184" cy="292608"/>
          </a:xfrm>
          <a:prstGeom prst="rect">
            <a:avLst/>
          </a:prstGeom>
          <a:noFill/>
          <a:ln/>
        </p:spPr>
        <p:txBody>
          <a:bodyPr wrap="square" lIns="0" tIns="0" rIns="0" bIns="0" rtlCol="0" anchor="t"/>
          <a:lstStyle/>
          <a:p>
            <a:pPr algn="ctr" indent="0" marL="0">
              <a:lnSpc>
                <a:spcPct val="90000"/>
              </a:lnSpc>
              <a:buNone/>
            </a:pPr>
            <a:r>
              <a:rPr lang="en-US" sz="800" b="1" dirty="0">
                <a:solidFill>
                  <a:srgbClr val="183B39"/>
                </a:solidFill>
                <a:latin typeface="Calibri" pitchFamily="34" charset="0"/>
                <a:ea typeface="Calibri" pitchFamily="34" charset="-122"/>
                <a:cs typeface="Calibri" pitchFamily="34" charset="-120"/>
              </a:rPr>
              <a:t>Protect, and stop netting it</a:t>
            </a:r>
            <a:endParaRPr lang="en-US" sz="800" dirty="0"/>
          </a:p>
        </p:txBody>
      </p:sp>
      <p:sp>
        <p:nvSpPr>
          <p:cNvPr id="91" name="Text 89"/>
          <p:cNvSpPr/>
          <p:nvPr/>
        </p:nvSpPr>
        <p:spPr>
          <a:xfrm>
            <a:off x="356616" y="7882128"/>
            <a:ext cx="1853184" cy="182880"/>
          </a:xfrm>
          <a:prstGeom prst="rect">
            <a:avLst/>
          </a:prstGeom>
          <a:noFill/>
          <a:ln/>
        </p:spPr>
        <p:txBody>
          <a:bodyPr wrap="square" lIns="0" tIns="0" rIns="0" bIns="0" rtlCol="0" anchor="t"/>
          <a:lstStyle/>
          <a:p>
            <a:pPr algn="ctr" indent="0" marL="0">
              <a:buNone/>
            </a:pPr>
            <a:r>
              <a:rPr lang="en-US" sz="600" b="1" dirty="0">
                <a:solidFill>
                  <a:srgbClr val="5F716E"/>
                </a:solidFill>
                <a:latin typeface="Calibri" pitchFamily="34" charset="0"/>
                <a:ea typeface="Calibri" pitchFamily="34" charset="-122"/>
                <a:cs typeface="Calibri" pitchFamily="34" charset="-120"/>
              </a:rPr>
              <a:t>AT STAKE  </a:t>
            </a:r>
            <a:pPr algn="ctr" indent="0" marL="0">
              <a:buNone/>
            </a:pPr>
            <a:r>
              <a:rPr lang="en-US" sz="800" b="1" dirty="0">
                <a:solidFill>
                  <a:srgbClr val="2B9A66"/>
                </a:solidFill>
                <a:latin typeface="Calibri" pitchFamily="34" charset="0"/>
                <a:ea typeface="Calibri" pitchFamily="34" charset="-122"/>
                <a:cs typeface="Calibri" pitchFamily="34" charset="-120"/>
              </a:rPr>
              <a:t>₹2.07 Cr</a:t>
            </a:r>
            <a:endParaRPr lang="en-US" sz="600" dirty="0"/>
          </a:p>
        </p:txBody>
      </p:sp>
      <p:sp>
        <p:nvSpPr>
          <p:cNvPr id="92" name="Text 90"/>
          <p:cNvSpPr/>
          <p:nvPr/>
        </p:nvSpPr>
        <p:spPr>
          <a:xfrm>
            <a:off x="356616" y="8119872"/>
            <a:ext cx="1853184" cy="128016"/>
          </a:xfrm>
          <a:prstGeom prst="rect">
            <a:avLst/>
          </a:prstGeom>
          <a:noFill/>
          <a:ln/>
        </p:spPr>
        <p:txBody>
          <a:bodyPr wrap="square" lIns="0" tIns="0" rIns="0" bIns="0" rtlCol="0" anchor="t"/>
          <a:lstStyle/>
          <a:p>
            <a:pPr indent="0" marL="0">
              <a:buNone/>
            </a:pPr>
            <a:r>
              <a:rPr lang="en-US" sz="600" b="1" spc="40" kern="0" dirty="0">
                <a:solidFill>
                  <a:srgbClr val="116F68"/>
                </a:solidFill>
                <a:latin typeface="Calibri" pitchFamily="34" charset="0"/>
                <a:ea typeface="Calibri" pitchFamily="34" charset="-122"/>
                <a:cs typeface="Calibri" pitchFamily="34" charset="-120"/>
              </a:rPr>
              <a:t>EVIDENCE</a:t>
            </a:r>
            <a:endParaRPr lang="en-US" sz="600" dirty="0"/>
          </a:p>
        </p:txBody>
      </p:sp>
      <p:sp>
        <p:nvSpPr>
          <p:cNvPr id="93" name="Text 91"/>
          <p:cNvSpPr/>
          <p:nvPr/>
        </p:nvSpPr>
        <p:spPr>
          <a:xfrm>
            <a:off x="356616" y="8257032"/>
            <a:ext cx="1853184" cy="420624"/>
          </a:xfrm>
          <a:prstGeom prst="rect">
            <a:avLst/>
          </a:prstGeom>
          <a:noFill/>
          <a:ln/>
        </p:spPr>
        <p:txBody>
          <a:bodyPr wrap="square" lIns="0" tIns="0" rIns="0" bIns="0" rtlCol="0" anchor="t"/>
          <a:lstStyle/>
          <a:p>
            <a:pPr indent="0" marL="0">
              <a:lnSpc>
                <a:spcPct val="92000"/>
              </a:lnSpc>
              <a:buNone/>
            </a:pPr>
            <a:r>
              <a:rPr lang="en-US" sz="680" dirty="0">
                <a:solidFill>
                  <a:srgbClr val="5F716E"/>
                </a:solidFill>
                <a:latin typeface="Calibri" pitchFamily="34" charset="0"/>
                <a:ea typeface="Calibri" pitchFamily="34" charset="-122"/>
                <a:cs typeface="Calibri" pitchFamily="34" charset="-120"/>
              </a:rPr>
              <a:t>99.4% flow, but July down 4.6% on June and active EANs down from 222 to 198 since January.</a:t>
            </a:r>
            <a:endParaRPr lang="en-US" sz="680" dirty="0"/>
          </a:p>
        </p:txBody>
      </p:sp>
      <p:sp>
        <p:nvSpPr>
          <p:cNvPr id="94" name="Text 92"/>
          <p:cNvSpPr/>
          <p:nvPr/>
        </p:nvSpPr>
        <p:spPr>
          <a:xfrm>
            <a:off x="356616" y="8705088"/>
            <a:ext cx="1853184" cy="128016"/>
          </a:xfrm>
          <a:prstGeom prst="rect">
            <a:avLst/>
          </a:prstGeom>
          <a:noFill/>
          <a:ln/>
        </p:spPr>
        <p:txBody>
          <a:bodyPr wrap="square" lIns="0" tIns="0" rIns="0" bIns="0" rtlCol="0" anchor="t"/>
          <a:lstStyle/>
          <a:p>
            <a:pPr indent="0" marL="0">
              <a:buNone/>
            </a:pPr>
            <a:r>
              <a:rPr lang="en-US" sz="600" b="1" spc="40" kern="0" dirty="0">
                <a:solidFill>
                  <a:srgbClr val="116F68"/>
                </a:solidFill>
                <a:latin typeface="Calibri" pitchFamily="34" charset="0"/>
                <a:ea typeface="Calibri" pitchFamily="34" charset="-122"/>
                <a:cs typeface="Calibri" pitchFamily="34" charset="-120"/>
              </a:rPr>
              <a:t>RECOVERY</a:t>
            </a:r>
            <a:endParaRPr lang="en-US" sz="600" dirty="0"/>
          </a:p>
        </p:txBody>
      </p:sp>
      <p:sp>
        <p:nvSpPr>
          <p:cNvPr id="95" name="Text 93"/>
          <p:cNvSpPr/>
          <p:nvPr/>
        </p:nvSpPr>
        <p:spPr>
          <a:xfrm>
            <a:off x="356616" y="8842248"/>
            <a:ext cx="1853184" cy="420624"/>
          </a:xfrm>
          <a:prstGeom prst="rect">
            <a:avLst/>
          </a:prstGeom>
          <a:noFill/>
          <a:ln/>
        </p:spPr>
        <p:txBody>
          <a:bodyPr wrap="square" lIns="0" tIns="0" rIns="0" bIns="0" rtlCol="0" anchor="t"/>
          <a:lstStyle/>
          <a:p>
            <a:pPr indent="0" marL="0">
              <a:lnSpc>
                <a:spcPct val="92000"/>
              </a:lnSpc>
              <a:buNone/>
            </a:pPr>
            <a:r>
              <a:rPr lang="en-US" sz="680" dirty="0">
                <a:solidFill>
                  <a:srgbClr val="183B39"/>
                </a:solidFill>
                <a:latin typeface="Calibri" pitchFamily="34" charset="0"/>
                <a:ea typeface="Calibri" pitchFamily="34" charset="-122"/>
                <a:cs typeface="Calibri" pitchFamily="34" charset="-120"/>
              </a:rPr>
              <a:t>Test whether the 24 delisted EANs explain the softness; report outside geographic gap arithmetic.</a:t>
            </a:r>
            <a:endParaRPr lang="en-US" sz="680" dirty="0"/>
          </a:p>
        </p:txBody>
      </p:sp>
      <p:sp>
        <p:nvSpPr>
          <p:cNvPr id="96" name="Text 94"/>
          <p:cNvSpPr/>
          <p:nvPr/>
        </p:nvSpPr>
        <p:spPr>
          <a:xfrm>
            <a:off x="356616" y="9418320"/>
            <a:ext cx="1853184" cy="237744"/>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KPI  </a:t>
            </a:r>
            <a:pPr indent="0" marL="0">
              <a:lnSpc>
                <a:spcPct val="90000"/>
              </a:lnSpc>
              <a:buNone/>
            </a:pPr>
            <a:r>
              <a:rPr lang="en-US" sz="660" b="1" dirty="0">
                <a:solidFill>
                  <a:srgbClr val="183B39"/>
                </a:solidFill>
                <a:latin typeface="Calibri" pitchFamily="34" charset="0"/>
                <a:ea typeface="Calibri" pitchFamily="34" charset="-122"/>
                <a:cs typeface="Calibri" pitchFamily="34" charset="-120"/>
              </a:rPr>
              <a:t>Flow above 95%, return to ₹2.17 Cr</a:t>
            </a:r>
            <a:endParaRPr lang="en-US" sz="600" dirty="0"/>
          </a:p>
        </p:txBody>
      </p:sp>
      <p:sp>
        <p:nvSpPr>
          <p:cNvPr id="97" name="Text 95"/>
          <p:cNvSpPr/>
          <p:nvPr/>
        </p:nvSpPr>
        <p:spPr>
          <a:xfrm>
            <a:off x="356616" y="9674352"/>
            <a:ext cx="1853184" cy="137160"/>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NKAM FSN + Analyst · 31 Aug</a:t>
            </a:r>
            <a:endParaRPr lang="en-US" sz="620" dirty="0"/>
          </a:p>
        </p:txBody>
      </p:sp>
      <p:sp>
        <p:nvSpPr>
          <p:cNvPr id="98" name="Shape 96"/>
          <p:cNvSpPr/>
          <p:nvPr/>
        </p:nvSpPr>
        <p:spPr>
          <a:xfrm>
            <a:off x="2410968" y="7205472"/>
            <a:ext cx="2036064" cy="2670048"/>
          </a:xfrm>
          <a:prstGeom prst="roundRect">
            <a:avLst>
              <a:gd name="adj" fmla="val 898"/>
            </a:avLst>
          </a:prstGeom>
          <a:solidFill>
            <a:srgbClr val="FFFFFF"/>
          </a:solidFill>
          <a:ln w="9525">
            <a:solidFill>
              <a:srgbClr val="C8DCD7"/>
            </a:solidFill>
            <a:prstDash val="solid"/>
          </a:ln>
        </p:spPr>
      </p:sp>
      <p:sp>
        <p:nvSpPr>
          <p:cNvPr id="99" name="Shape 97"/>
          <p:cNvSpPr/>
          <p:nvPr/>
        </p:nvSpPr>
        <p:spPr>
          <a:xfrm>
            <a:off x="2410968" y="7205472"/>
            <a:ext cx="2036064" cy="274320"/>
          </a:xfrm>
          <a:prstGeom prst="rect">
            <a:avLst/>
          </a:prstGeom>
          <a:solidFill>
            <a:srgbClr val="F2B84B"/>
          </a:solidFill>
          <a:ln/>
        </p:spPr>
      </p:sp>
      <p:sp>
        <p:nvSpPr>
          <p:cNvPr id="100" name="Text 98"/>
          <p:cNvSpPr/>
          <p:nvPr/>
        </p:nvSpPr>
        <p:spPr>
          <a:xfrm>
            <a:off x="2493264" y="722376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VISHAL MEGA MART</a:t>
            </a:r>
            <a:endParaRPr lang="en-US" sz="700" dirty="0"/>
          </a:p>
        </p:txBody>
      </p:sp>
      <p:sp>
        <p:nvSpPr>
          <p:cNvPr id="101" name="Text 99"/>
          <p:cNvSpPr/>
          <p:nvPr/>
        </p:nvSpPr>
        <p:spPr>
          <a:xfrm>
            <a:off x="2502408" y="7571232"/>
            <a:ext cx="1853184" cy="292608"/>
          </a:xfrm>
          <a:prstGeom prst="rect">
            <a:avLst/>
          </a:prstGeom>
          <a:noFill/>
          <a:ln/>
        </p:spPr>
        <p:txBody>
          <a:bodyPr wrap="square" lIns="0" tIns="0" rIns="0" bIns="0" rtlCol="0" anchor="t"/>
          <a:lstStyle/>
          <a:p>
            <a:pPr algn="ctr" indent="0" marL="0">
              <a:lnSpc>
                <a:spcPct val="90000"/>
              </a:lnSpc>
              <a:buNone/>
            </a:pPr>
            <a:r>
              <a:rPr lang="en-US" sz="800" b="1" dirty="0">
                <a:solidFill>
                  <a:srgbClr val="183B39"/>
                </a:solidFill>
                <a:latin typeface="Calibri" pitchFamily="34" charset="0"/>
                <a:ea typeface="Calibri" pitchFamily="34" charset="-122"/>
                <a:cs typeface="Calibri" pitchFamily="34" charset="-120"/>
              </a:rPr>
              <a:t>Expansion outrunning execution</a:t>
            </a:r>
            <a:endParaRPr lang="en-US" sz="800" dirty="0"/>
          </a:p>
        </p:txBody>
      </p:sp>
      <p:sp>
        <p:nvSpPr>
          <p:cNvPr id="102" name="Text 100"/>
          <p:cNvSpPr/>
          <p:nvPr/>
        </p:nvSpPr>
        <p:spPr>
          <a:xfrm>
            <a:off x="2502408" y="7882128"/>
            <a:ext cx="1853184" cy="182880"/>
          </a:xfrm>
          <a:prstGeom prst="rect">
            <a:avLst/>
          </a:prstGeom>
          <a:noFill/>
          <a:ln/>
        </p:spPr>
        <p:txBody>
          <a:bodyPr wrap="square" lIns="0" tIns="0" rIns="0" bIns="0" rtlCol="0" anchor="t"/>
          <a:lstStyle/>
          <a:p>
            <a:pPr algn="ctr" indent="0" marL="0">
              <a:buNone/>
            </a:pPr>
            <a:r>
              <a:rPr lang="en-US" sz="600" b="1" dirty="0">
                <a:solidFill>
                  <a:srgbClr val="5F716E"/>
                </a:solidFill>
                <a:latin typeface="Calibri" pitchFamily="34" charset="0"/>
                <a:ea typeface="Calibri" pitchFamily="34" charset="-122"/>
                <a:cs typeface="Calibri" pitchFamily="34" charset="-120"/>
              </a:rPr>
              <a:t>AT STAKE  </a:t>
            </a:r>
            <a:pPr algn="ctr" indent="0" marL="0">
              <a:buNone/>
            </a:pPr>
            <a:r>
              <a:rPr lang="en-US" sz="800" b="1" dirty="0">
                <a:solidFill>
                  <a:srgbClr val="F2B84B"/>
                </a:solidFill>
                <a:latin typeface="Calibri" pitchFamily="34" charset="0"/>
                <a:ea typeface="Calibri" pitchFamily="34" charset="-122"/>
                <a:cs typeface="Calibri" pitchFamily="34" charset="-120"/>
              </a:rPr>
              <a:t>₹0.05 Cr</a:t>
            </a:r>
            <a:endParaRPr lang="en-US" sz="600" dirty="0"/>
          </a:p>
        </p:txBody>
      </p:sp>
      <p:sp>
        <p:nvSpPr>
          <p:cNvPr id="103" name="Text 101"/>
          <p:cNvSpPr/>
          <p:nvPr/>
        </p:nvSpPr>
        <p:spPr>
          <a:xfrm>
            <a:off x="2502408" y="8119872"/>
            <a:ext cx="1853184" cy="128016"/>
          </a:xfrm>
          <a:prstGeom prst="rect">
            <a:avLst/>
          </a:prstGeom>
          <a:noFill/>
          <a:ln/>
        </p:spPr>
        <p:txBody>
          <a:bodyPr wrap="square" lIns="0" tIns="0" rIns="0" bIns="0" rtlCol="0" anchor="t"/>
          <a:lstStyle/>
          <a:p>
            <a:pPr indent="0" marL="0">
              <a:buNone/>
            </a:pPr>
            <a:r>
              <a:rPr lang="en-US" sz="600" b="1" spc="40" kern="0" dirty="0">
                <a:solidFill>
                  <a:srgbClr val="116F68"/>
                </a:solidFill>
                <a:latin typeface="Calibri" pitchFamily="34" charset="0"/>
                <a:ea typeface="Calibri" pitchFamily="34" charset="-122"/>
                <a:cs typeface="Calibri" pitchFamily="34" charset="-120"/>
              </a:rPr>
              <a:t>EVIDENCE</a:t>
            </a:r>
            <a:endParaRPr lang="en-US" sz="600" dirty="0"/>
          </a:p>
        </p:txBody>
      </p:sp>
      <p:sp>
        <p:nvSpPr>
          <p:cNvPr id="104" name="Text 102"/>
          <p:cNvSpPr/>
          <p:nvPr/>
        </p:nvSpPr>
        <p:spPr>
          <a:xfrm>
            <a:off x="2502408" y="8257032"/>
            <a:ext cx="1853184" cy="420624"/>
          </a:xfrm>
          <a:prstGeom prst="rect">
            <a:avLst/>
          </a:prstGeom>
          <a:noFill/>
          <a:ln/>
        </p:spPr>
        <p:txBody>
          <a:bodyPr wrap="square" lIns="0" tIns="0" rIns="0" bIns="0" rtlCol="0" anchor="t"/>
          <a:lstStyle/>
          <a:p>
            <a:pPr indent="0" marL="0">
              <a:lnSpc>
                <a:spcPct val="92000"/>
              </a:lnSpc>
              <a:buNone/>
            </a:pPr>
            <a:r>
              <a:rPr lang="en-US" sz="680" dirty="0">
                <a:solidFill>
                  <a:srgbClr val="5F716E"/>
                </a:solidFill>
                <a:latin typeface="Calibri" pitchFamily="34" charset="0"/>
                <a:ea typeface="Calibri" pitchFamily="34" charset="-122"/>
                <a:cs typeface="Calibri" pitchFamily="34" charset="-120"/>
              </a:rPr>
              <a:t>Sites up 10.2% and offtake up 18.2%, but the account carries no mapped primary in the East cut.</a:t>
            </a:r>
            <a:endParaRPr lang="en-US" sz="680" dirty="0"/>
          </a:p>
        </p:txBody>
      </p:sp>
      <p:sp>
        <p:nvSpPr>
          <p:cNvPr id="105" name="Text 103"/>
          <p:cNvSpPr/>
          <p:nvPr/>
        </p:nvSpPr>
        <p:spPr>
          <a:xfrm>
            <a:off x="2502408" y="8705088"/>
            <a:ext cx="1853184" cy="128016"/>
          </a:xfrm>
          <a:prstGeom prst="rect">
            <a:avLst/>
          </a:prstGeom>
          <a:noFill/>
          <a:ln/>
        </p:spPr>
        <p:txBody>
          <a:bodyPr wrap="square" lIns="0" tIns="0" rIns="0" bIns="0" rtlCol="0" anchor="t"/>
          <a:lstStyle/>
          <a:p>
            <a:pPr indent="0" marL="0">
              <a:buNone/>
            </a:pPr>
            <a:r>
              <a:rPr lang="en-US" sz="600" b="1" spc="40" kern="0" dirty="0">
                <a:solidFill>
                  <a:srgbClr val="116F68"/>
                </a:solidFill>
                <a:latin typeface="Calibri" pitchFamily="34" charset="0"/>
                <a:ea typeface="Calibri" pitchFamily="34" charset="-122"/>
                <a:cs typeface="Calibri" pitchFamily="34" charset="-120"/>
              </a:rPr>
              <a:t>RECOVERY</a:t>
            </a:r>
            <a:endParaRPr lang="en-US" sz="600" dirty="0"/>
          </a:p>
        </p:txBody>
      </p:sp>
      <p:sp>
        <p:nvSpPr>
          <p:cNvPr id="106" name="Text 104"/>
          <p:cNvSpPr/>
          <p:nvPr/>
        </p:nvSpPr>
        <p:spPr>
          <a:xfrm>
            <a:off x="2502408" y="8842248"/>
            <a:ext cx="1853184" cy="420624"/>
          </a:xfrm>
          <a:prstGeom prst="rect">
            <a:avLst/>
          </a:prstGeom>
          <a:noFill/>
          <a:ln/>
        </p:spPr>
        <p:txBody>
          <a:bodyPr wrap="square" lIns="0" tIns="0" rIns="0" bIns="0" rtlCol="0" anchor="t"/>
          <a:lstStyle/>
          <a:p>
            <a:pPr indent="0" marL="0">
              <a:lnSpc>
                <a:spcPct val="92000"/>
              </a:lnSpc>
              <a:buNone/>
            </a:pPr>
            <a:r>
              <a:rPr lang="en-US" sz="680" dirty="0">
                <a:solidFill>
                  <a:srgbClr val="183B39"/>
                </a:solidFill>
                <a:latin typeface="Calibri" pitchFamily="34" charset="0"/>
                <a:ea typeface="Calibri" pitchFamily="34" charset="-122"/>
                <a:cs typeface="Calibri" pitchFamily="34" charset="-120"/>
              </a:rPr>
              <a:t>Protect fill rate before adding doors; map primary.</a:t>
            </a:r>
            <a:endParaRPr lang="en-US" sz="680" dirty="0"/>
          </a:p>
        </p:txBody>
      </p:sp>
      <p:sp>
        <p:nvSpPr>
          <p:cNvPr id="107" name="Text 105"/>
          <p:cNvSpPr/>
          <p:nvPr/>
        </p:nvSpPr>
        <p:spPr>
          <a:xfrm>
            <a:off x="2502408" y="9418320"/>
            <a:ext cx="1853184" cy="237744"/>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KPI  </a:t>
            </a:r>
            <a:pPr indent="0" marL="0">
              <a:lnSpc>
                <a:spcPct val="90000"/>
              </a:lnSpc>
              <a:buNone/>
            </a:pPr>
            <a:r>
              <a:rPr lang="en-US" sz="660" b="1" dirty="0">
                <a:solidFill>
                  <a:srgbClr val="183B39"/>
                </a:solidFill>
                <a:latin typeface="Calibri" pitchFamily="34" charset="0"/>
                <a:ea typeface="Calibri" pitchFamily="34" charset="-122"/>
                <a:cs typeface="Calibri" pitchFamily="34" charset="-120"/>
              </a:rPr>
              <a:t>OSA and sales per new door</a:t>
            </a:r>
            <a:endParaRPr lang="en-US" sz="600" dirty="0"/>
          </a:p>
        </p:txBody>
      </p:sp>
      <p:sp>
        <p:nvSpPr>
          <p:cNvPr id="108" name="Text 106"/>
          <p:cNvSpPr/>
          <p:nvPr/>
        </p:nvSpPr>
        <p:spPr>
          <a:xfrm>
            <a:off x="2502408" y="9674352"/>
            <a:ext cx="1853184" cy="137160"/>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RKAM East · Sep cycle</a:t>
            </a:r>
            <a:endParaRPr lang="en-US" sz="620" dirty="0"/>
          </a:p>
        </p:txBody>
      </p:sp>
      <p:sp>
        <p:nvSpPr>
          <p:cNvPr id="109" name="Shape 107"/>
          <p:cNvSpPr/>
          <p:nvPr/>
        </p:nvSpPr>
        <p:spPr>
          <a:xfrm>
            <a:off x="4556760" y="7205472"/>
            <a:ext cx="2036064" cy="2670048"/>
          </a:xfrm>
          <a:prstGeom prst="roundRect">
            <a:avLst>
              <a:gd name="adj" fmla="val 898"/>
            </a:avLst>
          </a:prstGeom>
          <a:solidFill>
            <a:srgbClr val="FFFFFF"/>
          </a:solidFill>
          <a:ln w="9525">
            <a:solidFill>
              <a:srgbClr val="C8DCD7"/>
            </a:solidFill>
            <a:prstDash val="solid"/>
          </a:ln>
        </p:spPr>
      </p:sp>
      <p:sp>
        <p:nvSpPr>
          <p:cNvPr id="110" name="Shape 108"/>
          <p:cNvSpPr/>
          <p:nvPr/>
        </p:nvSpPr>
        <p:spPr>
          <a:xfrm>
            <a:off x="4556760" y="7205472"/>
            <a:ext cx="2036064" cy="274320"/>
          </a:xfrm>
          <a:prstGeom prst="rect">
            <a:avLst/>
          </a:prstGeom>
          <a:solidFill>
            <a:srgbClr val="5F716E"/>
          </a:solidFill>
          <a:ln/>
        </p:spPr>
      </p:sp>
      <p:sp>
        <p:nvSpPr>
          <p:cNvPr id="111" name="Text 109"/>
          <p:cNvSpPr/>
          <p:nvPr/>
        </p:nvSpPr>
        <p:spPr>
          <a:xfrm>
            <a:off x="4639056" y="722376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THE REST</a:t>
            </a:r>
            <a:endParaRPr lang="en-US" sz="700" dirty="0"/>
          </a:p>
        </p:txBody>
      </p:sp>
      <p:sp>
        <p:nvSpPr>
          <p:cNvPr id="112" name="Text 110"/>
          <p:cNvSpPr/>
          <p:nvPr/>
        </p:nvSpPr>
        <p:spPr>
          <a:xfrm>
            <a:off x="4648200" y="7571232"/>
            <a:ext cx="1853184" cy="292608"/>
          </a:xfrm>
          <a:prstGeom prst="rect">
            <a:avLst/>
          </a:prstGeom>
          <a:noFill/>
          <a:ln/>
        </p:spPr>
        <p:txBody>
          <a:bodyPr wrap="square" lIns="0" tIns="0" rIns="0" bIns="0" rtlCol="0" anchor="t"/>
          <a:lstStyle/>
          <a:p>
            <a:pPr algn="ctr" indent="0" marL="0">
              <a:lnSpc>
                <a:spcPct val="90000"/>
              </a:lnSpc>
              <a:buNone/>
            </a:pPr>
            <a:r>
              <a:rPr lang="en-US" sz="800" b="1" dirty="0">
                <a:solidFill>
                  <a:srgbClr val="183B39"/>
                </a:solidFill>
                <a:latin typeface="Calibri" pitchFamily="34" charset="0"/>
                <a:ea typeface="Calibri" pitchFamily="34" charset="-122"/>
                <a:cs typeface="Calibri" pitchFamily="34" charset="-120"/>
              </a:rPr>
              <a:t>Nine chains, ₹0.19 Cr combined</a:t>
            </a:r>
            <a:endParaRPr lang="en-US" sz="800" dirty="0"/>
          </a:p>
        </p:txBody>
      </p:sp>
      <p:sp>
        <p:nvSpPr>
          <p:cNvPr id="113" name="Text 111"/>
          <p:cNvSpPr/>
          <p:nvPr/>
        </p:nvSpPr>
        <p:spPr>
          <a:xfrm>
            <a:off x="4648200" y="7882128"/>
            <a:ext cx="1853184" cy="182880"/>
          </a:xfrm>
          <a:prstGeom prst="rect">
            <a:avLst/>
          </a:prstGeom>
          <a:noFill/>
          <a:ln/>
        </p:spPr>
        <p:txBody>
          <a:bodyPr wrap="square" lIns="0" tIns="0" rIns="0" bIns="0" rtlCol="0" anchor="t"/>
          <a:lstStyle/>
          <a:p>
            <a:pPr algn="ctr" indent="0" marL="0">
              <a:buNone/>
            </a:pPr>
            <a:r>
              <a:rPr lang="en-US" sz="600" b="1" dirty="0">
                <a:solidFill>
                  <a:srgbClr val="5F716E"/>
                </a:solidFill>
                <a:latin typeface="Calibri" pitchFamily="34" charset="0"/>
                <a:ea typeface="Calibri" pitchFamily="34" charset="-122"/>
                <a:cs typeface="Calibri" pitchFamily="34" charset="-120"/>
              </a:rPr>
              <a:t>AT STAKE  </a:t>
            </a:r>
            <a:pPr algn="ctr" indent="0" marL="0">
              <a:buNone/>
            </a:pPr>
            <a:r>
              <a:rPr lang="en-US" sz="800" b="1" dirty="0">
                <a:solidFill>
                  <a:srgbClr val="5F716E"/>
                </a:solidFill>
                <a:latin typeface="Calibri" pitchFamily="34" charset="0"/>
                <a:ea typeface="Calibri" pitchFamily="34" charset="-122"/>
                <a:cs typeface="Calibri" pitchFamily="34" charset="-120"/>
              </a:rPr>
              <a:t>below floor</a:t>
            </a:r>
            <a:endParaRPr lang="en-US" sz="600" dirty="0"/>
          </a:p>
        </p:txBody>
      </p:sp>
      <p:sp>
        <p:nvSpPr>
          <p:cNvPr id="114" name="Text 112"/>
          <p:cNvSpPr/>
          <p:nvPr/>
        </p:nvSpPr>
        <p:spPr>
          <a:xfrm>
            <a:off x="4648200" y="8119872"/>
            <a:ext cx="1853184" cy="128016"/>
          </a:xfrm>
          <a:prstGeom prst="rect">
            <a:avLst/>
          </a:prstGeom>
          <a:noFill/>
          <a:ln/>
        </p:spPr>
        <p:txBody>
          <a:bodyPr wrap="square" lIns="0" tIns="0" rIns="0" bIns="0" rtlCol="0" anchor="t"/>
          <a:lstStyle/>
          <a:p>
            <a:pPr indent="0" marL="0">
              <a:buNone/>
            </a:pPr>
            <a:r>
              <a:rPr lang="en-US" sz="600" b="1" spc="40" kern="0" dirty="0">
                <a:solidFill>
                  <a:srgbClr val="116F68"/>
                </a:solidFill>
                <a:latin typeface="Calibri" pitchFamily="34" charset="0"/>
                <a:ea typeface="Calibri" pitchFamily="34" charset="-122"/>
                <a:cs typeface="Calibri" pitchFamily="34" charset="-120"/>
              </a:rPr>
              <a:t>EVIDENCE</a:t>
            </a:r>
            <a:endParaRPr lang="en-US" sz="600" dirty="0"/>
          </a:p>
        </p:txBody>
      </p:sp>
      <p:sp>
        <p:nvSpPr>
          <p:cNvPr id="115" name="Text 113"/>
          <p:cNvSpPr/>
          <p:nvPr/>
        </p:nvSpPr>
        <p:spPr>
          <a:xfrm>
            <a:off x="4648200" y="8257032"/>
            <a:ext cx="1853184" cy="420624"/>
          </a:xfrm>
          <a:prstGeom prst="rect">
            <a:avLst/>
          </a:prstGeom>
          <a:noFill/>
          <a:ln/>
        </p:spPr>
        <p:txBody>
          <a:bodyPr wrap="square" lIns="0" tIns="0" rIns="0" bIns="0" rtlCol="0" anchor="t"/>
          <a:lstStyle/>
          <a:p>
            <a:pPr indent="0" marL="0">
              <a:lnSpc>
                <a:spcPct val="92000"/>
              </a:lnSpc>
              <a:buNone/>
            </a:pPr>
            <a:r>
              <a:rPr lang="en-US" sz="680" dirty="0">
                <a:solidFill>
                  <a:srgbClr val="5F716E"/>
                </a:solidFill>
                <a:latin typeface="Calibri" pitchFamily="34" charset="0"/>
                <a:ea typeface="Calibri" pitchFamily="34" charset="-122"/>
                <a:cs typeface="Calibri" pitchFamily="34" charset="-120"/>
              </a:rPr>
              <a:t>Every remaining chain moved less than ₹0.25 Cr. Percentage swings here are arithmetic, not commercial signal.</a:t>
            </a:r>
            <a:endParaRPr lang="en-US" sz="680" dirty="0"/>
          </a:p>
        </p:txBody>
      </p:sp>
      <p:sp>
        <p:nvSpPr>
          <p:cNvPr id="116" name="Text 114"/>
          <p:cNvSpPr/>
          <p:nvPr/>
        </p:nvSpPr>
        <p:spPr>
          <a:xfrm>
            <a:off x="4648200" y="8705088"/>
            <a:ext cx="1853184" cy="128016"/>
          </a:xfrm>
          <a:prstGeom prst="rect">
            <a:avLst/>
          </a:prstGeom>
          <a:noFill/>
          <a:ln/>
        </p:spPr>
        <p:txBody>
          <a:bodyPr wrap="square" lIns="0" tIns="0" rIns="0" bIns="0" rtlCol="0" anchor="t"/>
          <a:lstStyle/>
          <a:p>
            <a:pPr indent="0" marL="0">
              <a:buNone/>
            </a:pPr>
            <a:r>
              <a:rPr lang="en-US" sz="600" b="1" spc="40" kern="0" dirty="0">
                <a:solidFill>
                  <a:srgbClr val="116F68"/>
                </a:solidFill>
                <a:latin typeface="Calibri" pitchFamily="34" charset="0"/>
                <a:ea typeface="Calibri" pitchFamily="34" charset="-122"/>
                <a:cs typeface="Calibri" pitchFamily="34" charset="-120"/>
              </a:rPr>
              <a:t>RECOVERY</a:t>
            </a:r>
            <a:endParaRPr lang="en-US" sz="600" dirty="0"/>
          </a:p>
        </p:txBody>
      </p:sp>
      <p:sp>
        <p:nvSpPr>
          <p:cNvPr id="117" name="Text 115"/>
          <p:cNvSpPr/>
          <p:nvPr/>
        </p:nvSpPr>
        <p:spPr>
          <a:xfrm>
            <a:off x="4648200" y="8842248"/>
            <a:ext cx="1853184" cy="420624"/>
          </a:xfrm>
          <a:prstGeom prst="rect">
            <a:avLst/>
          </a:prstGeom>
          <a:noFill/>
          <a:ln/>
        </p:spPr>
        <p:txBody>
          <a:bodyPr wrap="square" lIns="0" tIns="0" rIns="0" bIns="0" rtlCol="0" anchor="t"/>
          <a:lstStyle/>
          <a:p>
            <a:pPr indent="0" marL="0">
              <a:lnSpc>
                <a:spcPct val="92000"/>
              </a:lnSpc>
              <a:buNone/>
            </a:pPr>
            <a:r>
              <a:rPr lang="en-US" sz="680" dirty="0">
                <a:solidFill>
                  <a:srgbClr val="183B39"/>
                </a:solidFill>
                <a:latin typeface="Calibri" pitchFamily="34" charset="0"/>
                <a:ea typeface="Calibri" pitchFamily="34" charset="-122"/>
                <a:cs typeface="Calibri" pitchFamily="34" charset="-120"/>
              </a:rPr>
              <a:t>Report by exception only; no named recovery action.</a:t>
            </a:r>
            <a:endParaRPr lang="en-US" sz="680" dirty="0"/>
          </a:p>
        </p:txBody>
      </p:sp>
      <p:sp>
        <p:nvSpPr>
          <p:cNvPr id="118" name="Text 116"/>
          <p:cNvSpPr/>
          <p:nvPr/>
        </p:nvSpPr>
        <p:spPr>
          <a:xfrm>
            <a:off x="4648200" y="9418320"/>
            <a:ext cx="1853184" cy="237744"/>
          </a:xfrm>
          <a:prstGeom prst="rect">
            <a:avLst/>
          </a:prstGeom>
          <a:noFill/>
          <a:ln/>
        </p:spPr>
        <p:txBody>
          <a:bodyPr wrap="square" lIns="0" tIns="0" rIns="0" bIns="0" rtlCol="0" anchor="t"/>
          <a:lstStyle/>
          <a:p>
            <a:pPr indent="0" marL="0">
              <a:lnSpc>
                <a:spcPct val="90000"/>
              </a:lnSpc>
              <a:buNone/>
            </a:pPr>
            <a:r>
              <a:rPr lang="en-US" sz="600" b="1" dirty="0">
                <a:solidFill>
                  <a:srgbClr val="116F68"/>
                </a:solidFill>
                <a:latin typeface="Calibri" pitchFamily="34" charset="0"/>
                <a:ea typeface="Calibri" pitchFamily="34" charset="-122"/>
                <a:cs typeface="Calibri" pitchFamily="34" charset="-120"/>
              </a:rPr>
              <a:t>KPI  </a:t>
            </a:r>
            <a:pPr indent="0" marL="0">
              <a:lnSpc>
                <a:spcPct val="90000"/>
              </a:lnSpc>
              <a:buNone/>
            </a:pPr>
            <a:r>
              <a:rPr lang="en-US" sz="660" b="1" dirty="0">
                <a:solidFill>
                  <a:srgbClr val="183B39"/>
                </a:solidFill>
                <a:latin typeface="Calibri" pitchFamily="34" charset="0"/>
                <a:ea typeface="Calibri" pitchFamily="34" charset="-122"/>
                <a:cs typeface="Calibri" pitchFamily="34" charset="-120"/>
              </a:rPr>
              <a:t>Excluded from weekly review</a:t>
            </a:r>
            <a:endParaRPr lang="en-US" sz="600" dirty="0"/>
          </a:p>
        </p:txBody>
      </p:sp>
      <p:sp>
        <p:nvSpPr>
          <p:cNvPr id="119" name="Text 117"/>
          <p:cNvSpPr/>
          <p:nvPr/>
        </p:nvSpPr>
        <p:spPr>
          <a:xfrm>
            <a:off x="4648200" y="9674352"/>
            <a:ext cx="1853184" cy="137160"/>
          </a:xfrm>
          <a:prstGeom prst="rect">
            <a:avLst/>
          </a:prstGeom>
          <a:noFill/>
          <a:ln/>
        </p:spPr>
        <p:txBody>
          <a:bodyPr wrap="square" lIns="0" tIns="0" rIns="0" bIns="0" rtlCol="0" anchor="t"/>
          <a:lstStyle/>
          <a:p>
            <a:pPr indent="0" marL="0">
              <a:buNone/>
            </a:pPr>
            <a:r>
              <a:rPr lang="en-US" sz="620" i="1" dirty="0">
                <a:solidFill>
                  <a:srgbClr val="5F716E"/>
                </a:solidFill>
                <a:latin typeface="Calibri" pitchFamily="34" charset="0"/>
                <a:ea typeface="Calibri" pitchFamily="34" charset="-122"/>
                <a:cs typeface="Calibri" pitchFamily="34" charset="-120"/>
              </a:rPr>
              <a:t>Analyst · standing</a:t>
            </a:r>
            <a:endParaRPr lang="en-US" sz="620" dirty="0"/>
          </a:p>
        </p:txBody>
      </p:sp>
      <p:sp>
        <p:nvSpPr>
          <p:cNvPr id="120" name="Shape 118"/>
          <p:cNvSpPr/>
          <p:nvPr/>
        </p:nvSpPr>
        <p:spPr>
          <a:xfrm>
            <a:off x="265176" y="10003536"/>
            <a:ext cx="6327648" cy="402336"/>
          </a:xfrm>
          <a:prstGeom prst="roundRect">
            <a:avLst>
              <a:gd name="adj" fmla="val 4545"/>
            </a:avLst>
          </a:prstGeom>
          <a:solidFill>
            <a:srgbClr val="DFF2ED"/>
          </a:solidFill>
          <a:ln w="9525">
            <a:solidFill>
              <a:srgbClr val="C8DCD7"/>
            </a:solidFill>
            <a:prstDash val="solid"/>
          </a:ln>
        </p:spPr>
      </p:sp>
      <p:sp>
        <p:nvSpPr>
          <p:cNvPr id="121" name="Text 119"/>
          <p:cNvSpPr/>
          <p:nvPr/>
        </p:nvSpPr>
        <p:spPr>
          <a:xfrm>
            <a:off x="374904" y="10058400"/>
            <a:ext cx="6108192" cy="310896"/>
          </a:xfrm>
          <a:prstGeom prst="rect">
            <a:avLst/>
          </a:prstGeom>
          <a:noFill/>
          <a:ln/>
        </p:spPr>
        <p:txBody>
          <a:bodyPr wrap="square" lIns="0" tIns="0" rIns="0" bIns="0" rtlCol="0" anchor="t"/>
          <a:lstStyle/>
          <a:p>
            <a:pPr indent="0" marL="0">
              <a:lnSpc>
                <a:spcPct val="94000"/>
              </a:lnSpc>
              <a:buNone/>
            </a:pPr>
            <a:r>
              <a:rPr lang="en-US" sz="680" b="1" dirty="0">
                <a:solidFill>
                  <a:srgbClr val="116F68"/>
                </a:solidFill>
                <a:latin typeface="Calibri" pitchFamily="34" charset="0"/>
                <a:ea typeface="Calibri" pitchFamily="34" charset="-122"/>
                <a:cs typeface="Calibri" pitchFamily="34" charset="-120"/>
              </a:rPr>
              <a:t>SEQUENCING   </a:t>
            </a:r>
            <a:pPr indent="0" marL="0">
              <a:lnSpc>
                <a:spcPct val="94000"/>
              </a:lnSpc>
              <a:buNone/>
            </a:pPr>
            <a:r>
              <a:rPr lang="en-US" sz="700" dirty="0">
                <a:solidFill>
                  <a:srgbClr val="183B39"/>
                </a:solidFill>
                <a:latin typeface="Calibri" pitchFamily="34" charset="0"/>
                <a:ea typeface="Calibri" pitchFamily="34" charset="-122"/>
                <a:cs typeface="Calibri" pitchFamily="34" charset="-120"/>
              </a:rPr>
              <a:t>Reliance and DMart South-2 carry ₹4.73 Cr of the ₹6.22 Cr recovery pool between them — 81%. Both are single-account audits that can start this week. The three mapping fixes cost analyst time only and unblock everything else, so they run first.</a:t>
            </a:r>
            <a:endParaRPr lang="en-US" sz="6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A"/>
        </a:solidFill>
      </p:bgPr>
    </p:bg>
    <p:spTree>
      <p:nvGrpSpPr>
        <p:cNvPr id="1" name=""/>
        <p:cNvGrpSpPr/>
        <p:nvPr/>
      </p:nvGrpSpPr>
      <p:grpSpPr>
        <a:xfrm>
          <a:off x="0" y="0"/>
          <a:ext cx="0" cy="0"/>
          <a:chOff x="0" y="0"/>
          <a:chExt cx="0" cy="0"/>
        </a:xfrm>
      </p:grpSpPr>
      <p:sp>
        <p:nvSpPr>
          <p:cNvPr id="2" name="Shape 0"/>
          <p:cNvSpPr/>
          <p:nvPr/>
        </p:nvSpPr>
        <p:spPr>
          <a:xfrm>
            <a:off x="0" y="0"/>
            <a:ext cx="6858000" cy="1133856"/>
          </a:xfrm>
          <a:prstGeom prst="rect">
            <a:avLst/>
          </a:prstGeom>
          <a:solidFill>
            <a:srgbClr val="116F68"/>
          </a:solidFill>
          <a:ln/>
        </p:spPr>
      </p:sp>
      <p:sp>
        <p:nvSpPr>
          <p:cNvPr id="3" name="Text 1"/>
          <p:cNvSpPr/>
          <p:nvPr/>
        </p:nvSpPr>
        <p:spPr>
          <a:xfrm>
            <a:off x="365760" y="182880"/>
            <a:ext cx="5641848" cy="548640"/>
          </a:xfrm>
          <a:prstGeom prst="rect">
            <a:avLst/>
          </a:prstGeom>
          <a:noFill/>
          <a:ln/>
        </p:spPr>
        <p:txBody>
          <a:bodyPr wrap="square" lIns="0" tIns="0" rIns="0" bIns="0" rtlCol="0" anchor="ctr"/>
          <a:lstStyle/>
          <a:p>
            <a:pPr indent="0" marL="0">
              <a:lnSpc>
                <a:spcPct val="92000"/>
              </a:lnSpc>
              <a:buNone/>
            </a:pPr>
            <a:r>
              <a:rPr lang="en-US" sz="1450" b="1" dirty="0">
                <a:solidFill>
                  <a:srgbClr val="FFFFFF"/>
                </a:solidFill>
                <a:latin typeface="Calibri Light" pitchFamily="34" charset="0"/>
                <a:ea typeface="Calibri Light" pitchFamily="34" charset="-122"/>
                <a:cs typeface="Calibri Light" pitchFamily="34" charset="-120"/>
              </a:rPr>
              <a:t>eB2B account detail: Nykaa (FSN) holds 99.4% flow on a contracting range</a:t>
            </a:r>
            <a:endParaRPr lang="en-US" sz="1450" dirty="0"/>
          </a:p>
        </p:txBody>
      </p:sp>
      <p:sp>
        <p:nvSpPr>
          <p:cNvPr id="4" name="Text 2"/>
          <p:cNvSpPr/>
          <p:nvPr/>
        </p:nvSpPr>
        <p:spPr>
          <a:xfrm>
            <a:off x="384048" y="786384"/>
            <a:ext cx="5641848" cy="237744"/>
          </a:xfrm>
          <a:prstGeom prst="rect">
            <a:avLst/>
          </a:prstGeom>
          <a:noFill/>
          <a:ln/>
        </p:spPr>
        <p:txBody>
          <a:bodyPr wrap="square" lIns="0" tIns="0" rIns="0" bIns="0" rtlCol="0" anchor="ctr"/>
          <a:lstStyle/>
          <a:p>
            <a:pPr indent="0" marL="0">
              <a:buNone/>
            </a:pPr>
            <a:r>
              <a:rPr lang="en-US" sz="850" dirty="0">
                <a:solidFill>
                  <a:srgbClr val="BFDCD7"/>
                </a:solidFill>
                <a:latin typeface="Calibri" pitchFamily="34" charset="0"/>
                <a:ea typeface="Calibri" pitchFamily="34" charset="-122"/>
                <a:cs typeface="Calibri" pitchFamily="34" charset="-120"/>
              </a:rPr>
              <a:t>eB2B channel | account deep dive | January–July 2026 | excluded from MT — see page 13</a:t>
            </a:r>
            <a:endParaRPr lang="en-US" sz="850" dirty="0"/>
          </a:p>
        </p:txBody>
      </p:sp>
      <p:sp>
        <p:nvSpPr>
          <p:cNvPr id="5" name="Text 3"/>
          <p:cNvSpPr/>
          <p:nvPr/>
        </p:nvSpPr>
        <p:spPr>
          <a:xfrm>
            <a:off x="6117336" y="365760"/>
            <a:ext cx="402336" cy="237744"/>
          </a:xfrm>
          <a:prstGeom prst="rect">
            <a:avLst/>
          </a:prstGeom>
          <a:noFill/>
          <a:ln/>
        </p:spPr>
        <p:txBody>
          <a:bodyPr wrap="square" lIns="0" tIns="0" rIns="0" bIns="0" rtlCol="0" anchor="t"/>
          <a:lstStyle/>
          <a:p>
            <a:pPr algn="r" indent="0" marL="0">
              <a:buNone/>
            </a:pPr>
            <a:r>
              <a:rPr lang="en-US" sz="950" b="1" dirty="0">
                <a:solidFill>
                  <a:srgbClr val="8FC4BD"/>
                </a:solidFill>
                <a:latin typeface="Calibri" pitchFamily="34" charset="0"/>
                <a:ea typeface="Calibri" pitchFamily="34" charset="-122"/>
                <a:cs typeface="Calibri" pitchFamily="34" charset="-120"/>
              </a:rPr>
              <a:t>17</a:t>
            </a:r>
            <a:endParaRPr lang="en-US" sz="950" dirty="0"/>
          </a:p>
        </p:txBody>
      </p:sp>
      <p:sp>
        <p:nvSpPr>
          <p:cNvPr id="6" name="Shape 4"/>
          <p:cNvSpPr/>
          <p:nvPr/>
        </p:nvSpPr>
        <p:spPr>
          <a:xfrm>
            <a:off x="265176" y="11375136"/>
            <a:ext cx="6327648" cy="420624"/>
          </a:xfrm>
          <a:prstGeom prst="roundRect">
            <a:avLst>
              <a:gd name="adj" fmla="val 6522"/>
            </a:avLst>
          </a:prstGeom>
          <a:solidFill>
            <a:srgbClr val="DFF2ED"/>
          </a:solidFill>
          <a:ln w="9525">
            <a:solidFill>
              <a:srgbClr val="C8DCD7"/>
            </a:solidFill>
            <a:prstDash val="solid"/>
          </a:ln>
        </p:spPr>
      </p:sp>
      <p:sp>
        <p:nvSpPr>
          <p:cNvPr id="7" name="Text 5"/>
          <p:cNvSpPr/>
          <p:nvPr/>
        </p:nvSpPr>
        <p:spPr>
          <a:xfrm>
            <a:off x="374904"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EVIDENCE</a:t>
            </a:r>
            <a:endParaRPr lang="en-US" sz="650" dirty="0"/>
          </a:p>
        </p:txBody>
      </p:sp>
      <p:sp>
        <p:nvSpPr>
          <p:cNvPr id="8" name="Text 6"/>
          <p:cNvSpPr/>
          <p:nvPr/>
        </p:nvSpPr>
        <p:spPr>
          <a:xfrm>
            <a:off x="374904"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moved</a:t>
            </a:r>
            <a:endParaRPr lang="en-US" sz="700" dirty="0"/>
          </a:p>
        </p:txBody>
      </p:sp>
      <p:sp>
        <p:nvSpPr>
          <p:cNvPr id="9" name="Text 7"/>
          <p:cNvSpPr/>
          <p:nvPr/>
        </p:nvSpPr>
        <p:spPr>
          <a:xfrm>
            <a:off x="1901952"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IMPLICATION</a:t>
            </a:r>
            <a:endParaRPr lang="en-US" sz="650" dirty="0"/>
          </a:p>
        </p:txBody>
      </p:sp>
      <p:sp>
        <p:nvSpPr>
          <p:cNvPr id="10" name="Text 8"/>
          <p:cNvSpPr/>
          <p:nvPr/>
        </p:nvSpPr>
        <p:spPr>
          <a:xfrm>
            <a:off x="1901952"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Why it matters</a:t>
            </a:r>
            <a:endParaRPr lang="en-US" sz="700" dirty="0"/>
          </a:p>
        </p:txBody>
      </p:sp>
      <p:sp>
        <p:nvSpPr>
          <p:cNvPr id="11" name="Shape 9"/>
          <p:cNvSpPr/>
          <p:nvPr/>
        </p:nvSpPr>
        <p:spPr>
          <a:xfrm>
            <a:off x="1819656" y="11457432"/>
            <a:ext cx="0" cy="265176"/>
          </a:xfrm>
          <a:prstGeom prst="line">
            <a:avLst/>
          </a:prstGeom>
          <a:noFill/>
          <a:ln w="9525">
            <a:solidFill>
              <a:srgbClr val="C8DCD7"/>
            </a:solidFill>
            <a:prstDash val="solid"/>
          </a:ln>
        </p:spPr>
      </p:sp>
      <p:sp>
        <p:nvSpPr>
          <p:cNvPr id="12" name="Text 10"/>
          <p:cNvSpPr/>
          <p:nvPr/>
        </p:nvSpPr>
        <p:spPr>
          <a:xfrm>
            <a:off x="3429000"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ACTION</a:t>
            </a:r>
            <a:endParaRPr lang="en-US" sz="650" dirty="0"/>
          </a:p>
        </p:txBody>
      </p:sp>
      <p:sp>
        <p:nvSpPr>
          <p:cNvPr id="13" name="Text 11"/>
          <p:cNvSpPr/>
          <p:nvPr/>
        </p:nvSpPr>
        <p:spPr>
          <a:xfrm>
            <a:off x="3429000"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changes now</a:t>
            </a:r>
            <a:endParaRPr lang="en-US" sz="700" dirty="0"/>
          </a:p>
        </p:txBody>
      </p:sp>
      <p:sp>
        <p:nvSpPr>
          <p:cNvPr id="14" name="Shape 12"/>
          <p:cNvSpPr/>
          <p:nvPr/>
        </p:nvSpPr>
        <p:spPr>
          <a:xfrm>
            <a:off x="3346704" y="11457432"/>
            <a:ext cx="0" cy="265176"/>
          </a:xfrm>
          <a:prstGeom prst="line">
            <a:avLst/>
          </a:prstGeom>
          <a:noFill/>
          <a:ln w="9525">
            <a:solidFill>
              <a:srgbClr val="C8DCD7"/>
            </a:solidFill>
            <a:prstDash val="solid"/>
          </a:ln>
        </p:spPr>
      </p:sp>
      <p:sp>
        <p:nvSpPr>
          <p:cNvPr id="15" name="Text 13"/>
          <p:cNvSpPr/>
          <p:nvPr/>
        </p:nvSpPr>
        <p:spPr>
          <a:xfrm>
            <a:off x="4956048"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OWNER</a:t>
            </a:r>
            <a:endParaRPr lang="en-US" sz="650" dirty="0"/>
          </a:p>
        </p:txBody>
      </p:sp>
      <p:sp>
        <p:nvSpPr>
          <p:cNvPr id="16" name="Text 14"/>
          <p:cNvSpPr/>
          <p:nvPr/>
        </p:nvSpPr>
        <p:spPr>
          <a:xfrm>
            <a:off x="4956048"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Who closes it</a:t>
            </a:r>
            <a:endParaRPr lang="en-US" sz="700" dirty="0"/>
          </a:p>
        </p:txBody>
      </p:sp>
      <p:sp>
        <p:nvSpPr>
          <p:cNvPr id="17" name="Shape 15"/>
          <p:cNvSpPr/>
          <p:nvPr/>
        </p:nvSpPr>
        <p:spPr>
          <a:xfrm>
            <a:off x="4873752" y="11457432"/>
            <a:ext cx="0" cy="265176"/>
          </a:xfrm>
          <a:prstGeom prst="line">
            <a:avLst/>
          </a:prstGeom>
          <a:noFill/>
          <a:ln w="9525">
            <a:solidFill>
              <a:srgbClr val="C8DCD7"/>
            </a:solidFill>
            <a:prstDash val="solid"/>
          </a:ln>
        </p:spPr>
      </p:sp>
      <p:sp>
        <p:nvSpPr>
          <p:cNvPr id="18" name="Text 16"/>
          <p:cNvSpPr/>
          <p:nvPr/>
        </p:nvSpPr>
        <p:spPr>
          <a:xfrm>
            <a:off x="301752" y="11887200"/>
            <a:ext cx="6254496" cy="201168"/>
          </a:xfrm>
          <a:prstGeom prst="rect">
            <a:avLst/>
          </a:prstGeom>
          <a:noFill/>
          <a:ln/>
        </p:spPr>
        <p:txBody>
          <a:bodyPr wrap="square" lIns="0" tIns="0" rIns="0" bIns="0" rtlCol="0" anchor="t"/>
          <a:lstStyle/>
          <a:p>
            <a:pPr algn="ctr" indent="0" marL="0">
              <a:buNone/>
            </a:pPr>
            <a:r>
              <a:rPr lang="en-US" sz="650" dirty="0">
                <a:solidFill>
                  <a:srgbClr val="5F716E"/>
                </a:solidFill>
                <a:latin typeface="Calibri" pitchFamily="34" charset="0"/>
                <a:ea typeface="Calibri" pitchFamily="34" charset="-122"/>
                <a:cs typeface="Calibri" pitchFamily="34" charset="-120"/>
              </a:rPr>
              <a:t>July Compiled Offtake (Sheet1) · July'26 primary and distributor secondary · values in ₹ Cr · Zone performance represents Modern Trade accounts only. eB2B and SIS channels are excluded from MT zone sales and reported separately.</a:t>
            </a:r>
            <a:endParaRPr lang="en-US" sz="650" dirty="0"/>
          </a:p>
        </p:txBody>
      </p:sp>
      <p:sp>
        <p:nvSpPr>
          <p:cNvPr id="19" name="Shape 17"/>
          <p:cNvSpPr/>
          <p:nvPr/>
        </p:nvSpPr>
        <p:spPr>
          <a:xfrm>
            <a:off x="265176" y="1261872"/>
            <a:ext cx="2036064" cy="859536"/>
          </a:xfrm>
          <a:prstGeom prst="rect">
            <a:avLst/>
          </a:prstGeom>
          <a:solidFill>
            <a:srgbClr val="FFFFFF"/>
          </a:solidFill>
          <a:ln w="9525">
            <a:solidFill>
              <a:srgbClr val="C8DCD7"/>
            </a:solidFill>
            <a:prstDash val="solid"/>
          </a:ln>
        </p:spPr>
      </p:sp>
      <p:sp>
        <p:nvSpPr>
          <p:cNvPr id="20" name="Shape 18"/>
          <p:cNvSpPr/>
          <p:nvPr/>
        </p:nvSpPr>
        <p:spPr>
          <a:xfrm>
            <a:off x="265176" y="1261872"/>
            <a:ext cx="64008" cy="859536"/>
          </a:xfrm>
          <a:prstGeom prst="rect">
            <a:avLst/>
          </a:prstGeom>
          <a:solidFill>
            <a:srgbClr val="2E7DA8"/>
          </a:solidFill>
          <a:ln/>
        </p:spPr>
      </p:sp>
      <p:sp>
        <p:nvSpPr>
          <p:cNvPr id="21" name="Text 19"/>
          <p:cNvSpPr/>
          <p:nvPr/>
        </p:nvSpPr>
        <p:spPr>
          <a:xfrm>
            <a:off x="420624" y="1353312"/>
            <a:ext cx="1798320"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JUL PRIMARY</a:t>
            </a:r>
            <a:endParaRPr lang="en-US" sz="680" dirty="0"/>
          </a:p>
        </p:txBody>
      </p:sp>
      <p:sp>
        <p:nvSpPr>
          <p:cNvPr id="22" name="Text 20"/>
          <p:cNvSpPr/>
          <p:nvPr/>
        </p:nvSpPr>
        <p:spPr>
          <a:xfrm>
            <a:off x="420624" y="1536192"/>
            <a:ext cx="1798320" cy="310896"/>
          </a:xfrm>
          <a:prstGeom prst="rect">
            <a:avLst/>
          </a:prstGeom>
          <a:noFill/>
          <a:ln/>
        </p:spPr>
        <p:txBody>
          <a:bodyPr wrap="square" lIns="0" tIns="0" rIns="0" bIns="0" rtlCol="0" anchor="ctr"/>
          <a:lstStyle/>
          <a:p>
            <a:pPr indent="0" marL="0">
              <a:buNone/>
            </a:pPr>
            <a:r>
              <a:rPr lang="en-US" sz="1550" b="1" dirty="0">
                <a:solidFill>
                  <a:srgbClr val="2E7DA8"/>
                </a:solidFill>
                <a:latin typeface="Calibri Light" pitchFamily="34" charset="0"/>
                <a:ea typeface="Calibri Light" pitchFamily="34" charset="-122"/>
                <a:cs typeface="Calibri Light" pitchFamily="34" charset="-120"/>
              </a:rPr>
              <a:t>₹2.08 Cr</a:t>
            </a:r>
            <a:endParaRPr lang="en-US" sz="1550" dirty="0"/>
          </a:p>
        </p:txBody>
      </p:sp>
      <p:sp>
        <p:nvSpPr>
          <p:cNvPr id="23" name="Text 21"/>
          <p:cNvSpPr/>
          <p:nvPr/>
        </p:nvSpPr>
        <p:spPr>
          <a:xfrm>
            <a:off x="420624" y="1865376"/>
            <a:ext cx="1798320"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FSN + Nykaa SS, eB2B</a:t>
            </a:r>
            <a:endParaRPr lang="en-US" sz="680" dirty="0"/>
          </a:p>
        </p:txBody>
      </p:sp>
      <p:sp>
        <p:nvSpPr>
          <p:cNvPr id="24" name="Shape 22"/>
          <p:cNvSpPr/>
          <p:nvPr/>
        </p:nvSpPr>
        <p:spPr>
          <a:xfrm>
            <a:off x="2410968" y="1261872"/>
            <a:ext cx="2036064" cy="859536"/>
          </a:xfrm>
          <a:prstGeom prst="rect">
            <a:avLst/>
          </a:prstGeom>
          <a:solidFill>
            <a:srgbClr val="FFFFFF"/>
          </a:solidFill>
          <a:ln w="9525">
            <a:solidFill>
              <a:srgbClr val="C8DCD7"/>
            </a:solidFill>
            <a:prstDash val="solid"/>
          </a:ln>
        </p:spPr>
      </p:sp>
      <p:sp>
        <p:nvSpPr>
          <p:cNvPr id="25" name="Shape 23"/>
          <p:cNvSpPr/>
          <p:nvPr/>
        </p:nvSpPr>
        <p:spPr>
          <a:xfrm>
            <a:off x="2410968" y="1261872"/>
            <a:ext cx="64008" cy="859536"/>
          </a:xfrm>
          <a:prstGeom prst="rect">
            <a:avLst/>
          </a:prstGeom>
          <a:solidFill>
            <a:srgbClr val="28A596"/>
          </a:solidFill>
          <a:ln/>
        </p:spPr>
      </p:sp>
      <p:sp>
        <p:nvSpPr>
          <p:cNvPr id="26" name="Text 24"/>
          <p:cNvSpPr/>
          <p:nvPr/>
        </p:nvSpPr>
        <p:spPr>
          <a:xfrm>
            <a:off x="2566416" y="1353312"/>
            <a:ext cx="1798320"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JUL OFFTAKE</a:t>
            </a:r>
            <a:endParaRPr lang="en-US" sz="680" dirty="0"/>
          </a:p>
        </p:txBody>
      </p:sp>
      <p:sp>
        <p:nvSpPr>
          <p:cNvPr id="27" name="Text 25"/>
          <p:cNvSpPr/>
          <p:nvPr/>
        </p:nvSpPr>
        <p:spPr>
          <a:xfrm>
            <a:off x="2566416" y="1536192"/>
            <a:ext cx="1798320" cy="310896"/>
          </a:xfrm>
          <a:prstGeom prst="rect">
            <a:avLst/>
          </a:prstGeom>
          <a:noFill/>
          <a:ln/>
        </p:spPr>
        <p:txBody>
          <a:bodyPr wrap="square" lIns="0" tIns="0" rIns="0" bIns="0" rtlCol="0" anchor="ctr"/>
          <a:lstStyle/>
          <a:p>
            <a:pPr indent="0" marL="0">
              <a:buNone/>
            </a:pPr>
            <a:r>
              <a:rPr lang="en-US" sz="1550" b="1" dirty="0">
                <a:solidFill>
                  <a:srgbClr val="28A596"/>
                </a:solidFill>
                <a:latin typeface="Calibri Light" pitchFamily="34" charset="0"/>
                <a:ea typeface="Calibri Light" pitchFamily="34" charset="-122"/>
                <a:cs typeface="Calibri Light" pitchFamily="34" charset="-120"/>
              </a:rPr>
              <a:t>₹2.07 Cr</a:t>
            </a:r>
            <a:endParaRPr lang="en-US" sz="1550" dirty="0"/>
          </a:p>
        </p:txBody>
      </p:sp>
      <p:sp>
        <p:nvSpPr>
          <p:cNvPr id="28" name="Text 26"/>
          <p:cNvSpPr/>
          <p:nvPr/>
        </p:nvSpPr>
        <p:spPr>
          <a:xfrm>
            <a:off x="2566416" y="1865376"/>
            <a:ext cx="1798320"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reported outside MT</a:t>
            </a:r>
            <a:endParaRPr lang="en-US" sz="680" dirty="0"/>
          </a:p>
        </p:txBody>
      </p:sp>
      <p:sp>
        <p:nvSpPr>
          <p:cNvPr id="29" name="Shape 27"/>
          <p:cNvSpPr/>
          <p:nvPr/>
        </p:nvSpPr>
        <p:spPr>
          <a:xfrm>
            <a:off x="4556760" y="1261872"/>
            <a:ext cx="2036064" cy="859536"/>
          </a:xfrm>
          <a:prstGeom prst="rect">
            <a:avLst/>
          </a:prstGeom>
          <a:solidFill>
            <a:srgbClr val="FFFFFF"/>
          </a:solidFill>
          <a:ln w="9525">
            <a:solidFill>
              <a:srgbClr val="C8DCD7"/>
            </a:solidFill>
            <a:prstDash val="solid"/>
          </a:ln>
        </p:spPr>
      </p:sp>
      <p:sp>
        <p:nvSpPr>
          <p:cNvPr id="30" name="Shape 28"/>
          <p:cNvSpPr/>
          <p:nvPr/>
        </p:nvSpPr>
        <p:spPr>
          <a:xfrm>
            <a:off x="4556760" y="1261872"/>
            <a:ext cx="64008" cy="859536"/>
          </a:xfrm>
          <a:prstGeom prst="rect">
            <a:avLst/>
          </a:prstGeom>
          <a:solidFill>
            <a:srgbClr val="2B9A66"/>
          </a:solidFill>
          <a:ln/>
        </p:spPr>
      </p:sp>
      <p:sp>
        <p:nvSpPr>
          <p:cNvPr id="31" name="Text 29"/>
          <p:cNvSpPr/>
          <p:nvPr/>
        </p:nvSpPr>
        <p:spPr>
          <a:xfrm>
            <a:off x="4712208" y="1353312"/>
            <a:ext cx="1798320"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FLOW</a:t>
            </a:r>
            <a:endParaRPr lang="en-US" sz="680" dirty="0"/>
          </a:p>
        </p:txBody>
      </p:sp>
      <p:sp>
        <p:nvSpPr>
          <p:cNvPr id="32" name="Text 30"/>
          <p:cNvSpPr/>
          <p:nvPr/>
        </p:nvSpPr>
        <p:spPr>
          <a:xfrm>
            <a:off x="4712208" y="1536192"/>
            <a:ext cx="1798320" cy="310896"/>
          </a:xfrm>
          <a:prstGeom prst="rect">
            <a:avLst/>
          </a:prstGeom>
          <a:noFill/>
          <a:ln/>
        </p:spPr>
        <p:txBody>
          <a:bodyPr wrap="square" lIns="0" tIns="0" rIns="0" bIns="0" rtlCol="0" anchor="ctr"/>
          <a:lstStyle/>
          <a:p>
            <a:pPr indent="0" marL="0">
              <a:buNone/>
            </a:pPr>
            <a:r>
              <a:rPr lang="en-US" sz="1750" b="1" dirty="0">
                <a:solidFill>
                  <a:srgbClr val="2B9A66"/>
                </a:solidFill>
                <a:latin typeface="Calibri Light" pitchFamily="34" charset="0"/>
                <a:ea typeface="Calibri Light" pitchFamily="34" charset="-122"/>
                <a:cs typeface="Calibri Light" pitchFamily="34" charset="-120"/>
              </a:rPr>
              <a:t>99.4%</a:t>
            </a:r>
            <a:endParaRPr lang="en-US" sz="1750" dirty="0"/>
          </a:p>
        </p:txBody>
      </p:sp>
      <p:sp>
        <p:nvSpPr>
          <p:cNvPr id="33" name="Text 31"/>
          <p:cNvSpPr/>
          <p:nvPr/>
        </p:nvSpPr>
        <p:spPr>
          <a:xfrm>
            <a:off x="4712208" y="1865376"/>
            <a:ext cx="1798320"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+27.0 pp vs MT (72.4%)</a:t>
            </a:r>
            <a:endParaRPr lang="en-US" sz="680" dirty="0"/>
          </a:p>
        </p:txBody>
      </p:sp>
      <p:sp>
        <p:nvSpPr>
          <p:cNvPr id="34" name="Text 32"/>
          <p:cNvSpPr/>
          <p:nvPr/>
        </p:nvSpPr>
        <p:spPr>
          <a:xfrm>
            <a:off x="265176" y="2249424"/>
            <a:ext cx="3090672"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Offtake, Jan–Jul 2026 (₹ Cr)</a:t>
            </a:r>
            <a:endParaRPr lang="en-US" sz="720" dirty="0"/>
          </a:p>
        </p:txBody>
      </p:sp>
      <p:graphicFrame>
        <p:nvGraphicFramePr>
          <p:cNvPr id="35" name="Chart 0" descr=""/>
          <p:cNvGraphicFramePr/>
          <p:nvPr/>
        </p:nvGraphicFramePr>
        <p:xfrm>
          <a:off x="246888" y="2450592"/>
          <a:ext cx="3090672" cy="1737360"/>
        </p:xfrm>
        <a:graphic xmlns:a="http://schemas.openxmlformats.org/drawingml/2006/main">
          <a:graphicData uri="http://schemas.openxmlformats.org/drawingml/2006/chart">
            <c:chart xmlns:c="http://schemas.openxmlformats.org/drawingml/2006/chart" r:id="rId1"/>
          </a:graphicData>
        </a:graphic>
      </p:graphicFrame>
      <p:sp>
        <p:nvSpPr>
          <p:cNvPr id="36" name="Text 33"/>
          <p:cNvSpPr/>
          <p:nvPr/>
        </p:nvSpPr>
        <p:spPr>
          <a:xfrm>
            <a:off x="3502152" y="2249424"/>
            <a:ext cx="3090672"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Active EANs — 222 in January, 198 in July</a:t>
            </a:r>
            <a:endParaRPr lang="en-US" sz="720" dirty="0"/>
          </a:p>
        </p:txBody>
      </p:sp>
      <p:graphicFrame>
        <p:nvGraphicFramePr>
          <p:cNvPr id="37" name="Chart 1" descr=""/>
          <p:cNvGraphicFramePr/>
          <p:nvPr/>
        </p:nvGraphicFramePr>
        <p:xfrm>
          <a:off x="3483864" y="2450592"/>
          <a:ext cx="3090672" cy="1737360"/>
        </p:xfrm>
        <a:graphic xmlns:a="http://schemas.openxmlformats.org/drawingml/2006/main">
          <a:graphicData uri="http://schemas.openxmlformats.org/drawingml/2006/chart">
            <c:chart xmlns:c="http://schemas.openxmlformats.org/drawingml/2006/chart" r:id="rId2"/>
          </a:graphicData>
        </a:graphic>
      </p:graphicFrame>
      <p:sp>
        <p:nvSpPr>
          <p:cNvPr id="38" name="Shape 34"/>
          <p:cNvSpPr/>
          <p:nvPr/>
        </p:nvSpPr>
        <p:spPr>
          <a:xfrm>
            <a:off x="265176" y="4315968"/>
            <a:ext cx="6327648" cy="548640"/>
          </a:xfrm>
          <a:prstGeom prst="roundRect">
            <a:avLst>
              <a:gd name="adj" fmla="val 5000"/>
            </a:avLst>
          </a:prstGeom>
          <a:solidFill>
            <a:srgbClr val="FDF6E6"/>
          </a:solidFill>
          <a:ln w="12700">
            <a:solidFill>
              <a:srgbClr val="F2B84B"/>
            </a:solidFill>
            <a:prstDash val="solid"/>
          </a:ln>
        </p:spPr>
      </p:sp>
      <p:sp>
        <p:nvSpPr>
          <p:cNvPr id="39" name="Text 35"/>
          <p:cNvSpPr/>
          <p:nvPr/>
        </p:nvSpPr>
        <p:spPr>
          <a:xfrm>
            <a:off x="411480" y="4389120"/>
            <a:ext cx="6035040" cy="420624"/>
          </a:xfrm>
          <a:prstGeom prst="rect">
            <a:avLst/>
          </a:prstGeom>
          <a:noFill/>
          <a:ln/>
        </p:spPr>
        <p:txBody>
          <a:bodyPr wrap="square" lIns="0" tIns="0" rIns="0" bIns="0" rtlCol="0" anchor="ctr"/>
          <a:lstStyle/>
          <a:p>
            <a:pPr algn="ctr" indent="0" marL="0">
              <a:lnSpc>
                <a:spcPct val="94000"/>
              </a:lnSpc>
              <a:buNone/>
            </a:pPr>
            <a:r>
              <a:rPr lang="en-US" sz="760" b="1" dirty="0">
                <a:solidFill>
                  <a:srgbClr val="183B39"/>
                </a:solidFill>
                <a:latin typeface="Calibri" pitchFamily="34" charset="0"/>
                <a:ea typeface="Calibri" pitchFamily="34" charset="-122"/>
                <a:cs typeface="Calibri" pitchFamily="34" charset="-120"/>
              </a:rPr>
              <a:t>Offtake peaked at ₹2.29 Cr in April and has drifted to ₹2.07 Cr. Across the same period the active range fell from 222 EANs to 198 — a 10.8% contraction. Test delisting before calling this a demand decline.</a:t>
            </a:r>
            <a:endParaRPr lang="en-US" sz="760" dirty="0"/>
          </a:p>
        </p:txBody>
      </p:sp>
      <p:sp>
        <p:nvSpPr>
          <p:cNvPr id="40" name="Shape 36"/>
          <p:cNvSpPr/>
          <p:nvPr/>
        </p:nvSpPr>
        <p:spPr>
          <a:xfrm>
            <a:off x="265176" y="4992624"/>
            <a:ext cx="6327648" cy="256032"/>
          </a:xfrm>
          <a:prstGeom prst="rect">
            <a:avLst/>
          </a:prstGeom>
          <a:solidFill>
            <a:srgbClr val="116F68"/>
          </a:solidFill>
          <a:ln/>
        </p:spPr>
      </p:sp>
      <p:sp>
        <p:nvSpPr>
          <p:cNvPr id="41" name="Text 37"/>
          <p:cNvSpPr/>
          <p:nvPr/>
        </p:nvSpPr>
        <p:spPr>
          <a:xfrm>
            <a:off x="374904" y="5010912"/>
            <a:ext cx="6108192" cy="219456"/>
          </a:xfrm>
          <a:prstGeom prst="rect">
            <a:avLst/>
          </a:prstGeom>
          <a:noFill/>
          <a:ln/>
        </p:spPr>
        <p:txBody>
          <a:bodyPr wrap="square" lIns="0" tIns="0" rIns="0" bIns="0" rtlCol="0" anchor="ctr"/>
          <a:lstStyle/>
          <a:p>
            <a:pPr indent="0" marL="0">
              <a:buNone/>
            </a:pPr>
            <a:r>
              <a:rPr lang="en-US" sz="720" b="1" spc="60" kern="0" dirty="0">
                <a:solidFill>
                  <a:srgbClr val="FFFFFF"/>
                </a:solidFill>
                <a:latin typeface="Calibri" pitchFamily="34" charset="0"/>
                <a:ea typeface="Calibri" pitchFamily="34" charset="-122"/>
                <a:cs typeface="Calibri" pitchFamily="34" charset="-120"/>
              </a:rPr>
              <a:t>ARTICLE ENGINES — TOP EIGHT BY JULY OFFTAKE</a:t>
            </a:r>
            <a:endParaRPr lang="en-US" sz="720" dirty="0"/>
          </a:p>
        </p:txBody>
      </p:sp>
      <p:sp>
        <p:nvSpPr>
          <p:cNvPr id="42" name="Shape 38"/>
          <p:cNvSpPr/>
          <p:nvPr/>
        </p:nvSpPr>
        <p:spPr>
          <a:xfrm>
            <a:off x="265176" y="5340096"/>
            <a:ext cx="6327648" cy="256032"/>
          </a:xfrm>
          <a:prstGeom prst="rect">
            <a:avLst/>
          </a:prstGeom>
          <a:solidFill>
            <a:srgbClr val="116F68"/>
          </a:solidFill>
          <a:ln/>
        </p:spPr>
      </p:sp>
      <p:sp>
        <p:nvSpPr>
          <p:cNvPr id="43" name="Text 39"/>
          <p:cNvSpPr/>
          <p:nvPr/>
        </p:nvSpPr>
        <p:spPr>
          <a:xfrm>
            <a:off x="320040" y="5358384"/>
            <a:ext cx="136804"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a:t>
            </a:r>
            <a:endParaRPr lang="en-US" sz="660" dirty="0"/>
          </a:p>
        </p:txBody>
      </p:sp>
      <p:sp>
        <p:nvSpPr>
          <p:cNvPr id="44" name="Text 40"/>
          <p:cNvSpPr/>
          <p:nvPr/>
        </p:nvSpPr>
        <p:spPr>
          <a:xfrm>
            <a:off x="566572" y="5358384"/>
            <a:ext cx="3752603" cy="219456"/>
          </a:xfrm>
          <a:prstGeom prst="rect">
            <a:avLst/>
          </a:prstGeom>
          <a:noFill/>
          <a:ln/>
        </p:spPr>
        <p:txBody>
          <a:bodyPr wrap="square" lIns="0" tIns="0" rIns="0" bIns="0" rtlCol="0" anchor="ctr"/>
          <a:lstStyle/>
          <a:p>
            <a:pPr algn="l" indent="0" marL="0">
              <a:buNone/>
            </a:pPr>
            <a:r>
              <a:rPr lang="en-US" sz="660" b="1" spc="40" kern="0" dirty="0">
                <a:solidFill>
                  <a:srgbClr val="FFFFFF"/>
                </a:solidFill>
                <a:latin typeface="Calibri" pitchFamily="34" charset="0"/>
                <a:ea typeface="Calibri" pitchFamily="34" charset="-122"/>
                <a:cs typeface="Calibri" pitchFamily="34" charset="-120"/>
              </a:rPr>
              <a:t>ARTICLE</a:t>
            </a:r>
            <a:endParaRPr lang="en-US" sz="660" dirty="0"/>
          </a:p>
        </p:txBody>
      </p:sp>
      <p:sp>
        <p:nvSpPr>
          <p:cNvPr id="45" name="Text 41"/>
          <p:cNvSpPr/>
          <p:nvPr/>
        </p:nvSpPr>
        <p:spPr>
          <a:xfrm>
            <a:off x="4428902" y="5358384"/>
            <a:ext cx="876399"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JULY OFFTAKE</a:t>
            </a:r>
            <a:endParaRPr lang="en-US" sz="660" dirty="0"/>
          </a:p>
        </p:txBody>
      </p:sp>
      <p:sp>
        <p:nvSpPr>
          <p:cNvPr id="46" name="Text 42"/>
          <p:cNvSpPr/>
          <p:nvPr/>
        </p:nvSpPr>
        <p:spPr>
          <a:xfrm>
            <a:off x="5415029" y="5358384"/>
            <a:ext cx="1122931" cy="219456"/>
          </a:xfrm>
          <a:prstGeom prst="rect">
            <a:avLst/>
          </a:prstGeom>
          <a:noFill/>
          <a:ln/>
        </p:spPr>
        <p:txBody>
          <a:bodyPr wrap="square" lIns="0" tIns="0" rIns="0" bIns="0" rtlCol="0" anchor="ctr"/>
          <a:lstStyle/>
          <a:p>
            <a:pPr algn="l" indent="0" marL="0">
              <a:buNone/>
            </a:pPr>
            <a:r>
              <a:rPr lang="en-US" sz="660" b="1" spc="40" kern="0" dirty="0">
                <a:solidFill>
                  <a:srgbClr val="FFFFFF"/>
                </a:solidFill>
                <a:latin typeface="Calibri" pitchFamily="34" charset="0"/>
                <a:ea typeface="Calibri" pitchFamily="34" charset="-122"/>
                <a:cs typeface="Calibri" pitchFamily="34" charset="-120"/>
              </a:rPr>
              <a:t>ROLE</a:t>
            </a:r>
            <a:endParaRPr lang="en-US" sz="660" dirty="0"/>
          </a:p>
        </p:txBody>
      </p:sp>
      <p:sp>
        <p:nvSpPr>
          <p:cNvPr id="47" name="Shape 43"/>
          <p:cNvSpPr/>
          <p:nvPr/>
        </p:nvSpPr>
        <p:spPr>
          <a:xfrm>
            <a:off x="265176" y="5596128"/>
            <a:ext cx="6327648" cy="310896"/>
          </a:xfrm>
          <a:prstGeom prst="rect">
            <a:avLst/>
          </a:prstGeom>
          <a:solidFill>
            <a:srgbClr val="F4F9F8"/>
          </a:solidFill>
          <a:ln/>
        </p:spPr>
      </p:sp>
      <p:sp>
        <p:nvSpPr>
          <p:cNvPr id="48" name="Shape 44"/>
          <p:cNvSpPr/>
          <p:nvPr/>
        </p:nvSpPr>
        <p:spPr>
          <a:xfrm>
            <a:off x="265176" y="5907024"/>
            <a:ext cx="6327648" cy="0"/>
          </a:xfrm>
          <a:prstGeom prst="line">
            <a:avLst/>
          </a:prstGeom>
          <a:noFill/>
          <a:ln w="6350">
            <a:solidFill>
              <a:srgbClr val="C8DCD7"/>
            </a:solidFill>
            <a:prstDash val="solid"/>
          </a:ln>
        </p:spPr>
      </p:sp>
      <p:sp>
        <p:nvSpPr>
          <p:cNvPr id="49" name="Text 45"/>
          <p:cNvSpPr/>
          <p:nvPr/>
        </p:nvSpPr>
        <p:spPr>
          <a:xfrm>
            <a:off x="320040" y="5596128"/>
            <a:ext cx="136804" cy="310896"/>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1</a:t>
            </a:r>
            <a:endParaRPr lang="en-US" sz="720" dirty="0"/>
          </a:p>
        </p:txBody>
      </p:sp>
      <p:sp>
        <p:nvSpPr>
          <p:cNvPr id="50" name="Text 46"/>
          <p:cNvSpPr/>
          <p:nvPr/>
        </p:nvSpPr>
        <p:spPr>
          <a:xfrm>
            <a:off x="566572" y="5596128"/>
            <a:ext cx="3752603" cy="310896"/>
          </a:xfrm>
          <a:prstGeom prst="rect">
            <a:avLst/>
          </a:prstGeom>
          <a:noFill/>
          <a:ln/>
        </p:spPr>
        <p:txBody>
          <a:bodyPr wrap="square" lIns="0" tIns="0" rIns="0" bIns="0" rtlCol="0" anchor="ctr"/>
          <a:lstStyle/>
          <a:p>
            <a:pPr algn="l" indent="0" marL="0">
              <a:buNone/>
            </a:pPr>
            <a:r>
              <a:rPr lang="en-US" sz="720" b="1" dirty="0">
                <a:solidFill>
                  <a:srgbClr val="183B39"/>
                </a:solidFill>
                <a:latin typeface="Calibri" pitchFamily="34" charset="0"/>
                <a:ea typeface="Calibri" pitchFamily="34" charset="-122"/>
                <a:cs typeface="Calibri" pitchFamily="34" charset="-120"/>
              </a:rPr>
              <a:t>Rice Face Wash 100 ml</a:t>
            </a:r>
            <a:endParaRPr lang="en-US" sz="720" dirty="0"/>
          </a:p>
        </p:txBody>
      </p:sp>
      <p:sp>
        <p:nvSpPr>
          <p:cNvPr id="51" name="Text 47"/>
          <p:cNvSpPr/>
          <p:nvPr/>
        </p:nvSpPr>
        <p:spPr>
          <a:xfrm>
            <a:off x="4428902" y="5596128"/>
            <a:ext cx="876399" cy="310896"/>
          </a:xfrm>
          <a:prstGeom prst="rect">
            <a:avLst/>
          </a:prstGeom>
          <a:noFill/>
          <a:ln/>
        </p:spPr>
        <p:txBody>
          <a:bodyPr wrap="square" lIns="0" tIns="0" rIns="0" bIns="0" rtlCol="0" anchor="ctr"/>
          <a:lstStyle/>
          <a:p>
            <a:pPr algn="r" indent="0" marL="0">
              <a:buNone/>
            </a:pPr>
            <a:r>
              <a:rPr lang="en-US" sz="720" b="1" dirty="0">
                <a:solidFill>
                  <a:srgbClr val="183B39"/>
                </a:solidFill>
                <a:latin typeface="Calibri" pitchFamily="34" charset="0"/>
                <a:ea typeface="Calibri" pitchFamily="34" charset="-122"/>
                <a:cs typeface="Calibri" pitchFamily="34" charset="-120"/>
              </a:rPr>
              <a:t>₹0.27 Cr</a:t>
            </a:r>
            <a:endParaRPr lang="en-US" sz="720" dirty="0"/>
          </a:p>
        </p:txBody>
      </p:sp>
      <p:sp>
        <p:nvSpPr>
          <p:cNvPr id="52" name="Text 48"/>
          <p:cNvSpPr/>
          <p:nvPr/>
        </p:nvSpPr>
        <p:spPr>
          <a:xfrm>
            <a:off x="5415029" y="5596128"/>
            <a:ext cx="1122931" cy="310896"/>
          </a:xfrm>
          <a:prstGeom prst="rect">
            <a:avLst/>
          </a:prstGeom>
          <a:noFill/>
          <a:ln/>
        </p:spPr>
        <p:txBody>
          <a:bodyPr wrap="square" lIns="0" tIns="0" rIns="0" bIns="0" rtlCol="0" anchor="ctr"/>
          <a:lstStyle/>
          <a:p>
            <a:pPr algn="l" indent="0" marL="0">
              <a:buNone/>
            </a:pPr>
            <a:r>
              <a:rPr lang="en-US" sz="720" dirty="0">
                <a:solidFill>
                  <a:srgbClr val="2B9A66"/>
                </a:solidFill>
                <a:latin typeface="Calibri" pitchFamily="34" charset="0"/>
                <a:ea typeface="Calibri" pitchFamily="34" charset="-122"/>
                <a:cs typeface="Calibri" pitchFamily="34" charset="-120"/>
              </a:rPr>
              <a:t>Hero — protect OSA</a:t>
            </a:r>
            <a:endParaRPr lang="en-US" sz="720" dirty="0"/>
          </a:p>
        </p:txBody>
      </p:sp>
      <p:sp>
        <p:nvSpPr>
          <p:cNvPr id="53" name="Shape 49"/>
          <p:cNvSpPr/>
          <p:nvPr/>
        </p:nvSpPr>
        <p:spPr>
          <a:xfrm>
            <a:off x="265176" y="6217920"/>
            <a:ext cx="6327648" cy="0"/>
          </a:xfrm>
          <a:prstGeom prst="line">
            <a:avLst/>
          </a:prstGeom>
          <a:noFill/>
          <a:ln w="6350">
            <a:solidFill>
              <a:srgbClr val="C8DCD7"/>
            </a:solidFill>
            <a:prstDash val="solid"/>
          </a:ln>
        </p:spPr>
      </p:sp>
      <p:sp>
        <p:nvSpPr>
          <p:cNvPr id="54" name="Text 50"/>
          <p:cNvSpPr/>
          <p:nvPr/>
        </p:nvSpPr>
        <p:spPr>
          <a:xfrm>
            <a:off x="320040" y="5907024"/>
            <a:ext cx="136804" cy="310896"/>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2</a:t>
            </a:r>
            <a:endParaRPr lang="en-US" sz="720" dirty="0"/>
          </a:p>
        </p:txBody>
      </p:sp>
      <p:sp>
        <p:nvSpPr>
          <p:cNvPr id="55" name="Text 51"/>
          <p:cNvSpPr/>
          <p:nvPr/>
        </p:nvSpPr>
        <p:spPr>
          <a:xfrm>
            <a:off x="566572" y="5907024"/>
            <a:ext cx="3752603" cy="310896"/>
          </a:xfrm>
          <a:prstGeom prst="rect">
            <a:avLst/>
          </a:prstGeom>
          <a:noFill/>
          <a:ln/>
        </p:spPr>
        <p:txBody>
          <a:bodyPr wrap="square" lIns="0" tIns="0" rIns="0" bIns="0" rtlCol="0" anchor="ctr"/>
          <a:lstStyle/>
          <a:p>
            <a:pPr algn="l" indent="0" marL="0">
              <a:buNone/>
            </a:pPr>
            <a:r>
              <a:rPr lang="en-US" sz="720" b="1" dirty="0">
                <a:solidFill>
                  <a:srgbClr val="183B39"/>
                </a:solidFill>
                <a:latin typeface="Calibri" pitchFamily="34" charset="0"/>
                <a:ea typeface="Calibri" pitchFamily="34" charset="-122"/>
                <a:cs typeface="Calibri" pitchFamily="34" charset="-120"/>
              </a:rPr>
              <a:t>Rice Face Wash 50 ml</a:t>
            </a:r>
            <a:endParaRPr lang="en-US" sz="720" dirty="0"/>
          </a:p>
        </p:txBody>
      </p:sp>
      <p:sp>
        <p:nvSpPr>
          <p:cNvPr id="56" name="Text 52"/>
          <p:cNvSpPr/>
          <p:nvPr/>
        </p:nvSpPr>
        <p:spPr>
          <a:xfrm>
            <a:off x="4428902" y="5907024"/>
            <a:ext cx="876399" cy="310896"/>
          </a:xfrm>
          <a:prstGeom prst="rect">
            <a:avLst/>
          </a:prstGeom>
          <a:noFill/>
          <a:ln/>
        </p:spPr>
        <p:txBody>
          <a:bodyPr wrap="square" lIns="0" tIns="0" rIns="0" bIns="0" rtlCol="0" anchor="ctr"/>
          <a:lstStyle/>
          <a:p>
            <a:pPr algn="r" indent="0" marL="0">
              <a:buNone/>
            </a:pPr>
            <a:r>
              <a:rPr lang="en-US" sz="720" b="1" dirty="0">
                <a:solidFill>
                  <a:srgbClr val="183B39"/>
                </a:solidFill>
                <a:latin typeface="Calibri" pitchFamily="34" charset="0"/>
                <a:ea typeface="Calibri" pitchFamily="34" charset="-122"/>
                <a:cs typeface="Calibri" pitchFamily="34" charset="-120"/>
              </a:rPr>
              <a:t>₹0.19 Cr</a:t>
            </a:r>
            <a:endParaRPr lang="en-US" sz="720" dirty="0"/>
          </a:p>
        </p:txBody>
      </p:sp>
      <p:sp>
        <p:nvSpPr>
          <p:cNvPr id="57" name="Text 53"/>
          <p:cNvSpPr/>
          <p:nvPr/>
        </p:nvSpPr>
        <p:spPr>
          <a:xfrm>
            <a:off x="5415029" y="5907024"/>
            <a:ext cx="1122931" cy="310896"/>
          </a:xfrm>
          <a:prstGeom prst="rect">
            <a:avLst/>
          </a:prstGeom>
          <a:noFill/>
          <a:ln/>
        </p:spPr>
        <p:txBody>
          <a:bodyPr wrap="square" lIns="0" tIns="0" rIns="0" bIns="0" rtlCol="0" anchor="ctr"/>
          <a:lstStyle/>
          <a:p>
            <a:pPr algn="l" indent="0" marL="0">
              <a:buNone/>
            </a:pPr>
            <a:r>
              <a:rPr lang="en-US" sz="720" dirty="0">
                <a:solidFill>
                  <a:srgbClr val="2B9A66"/>
                </a:solidFill>
                <a:latin typeface="Calibri" pitchFamily="34" charset="0"/>
                <a:ea typeface="Calibri" pitchFamily="34" charset="-122"/>
                <a:cs typeface="Calibri" pitchFamily="34" charset="-120"/>
              </a:rPr>
              <a:t>Hero — protect OSA</a:t>
            </a:r>
            <a:endParaRPr lang="en-US" sz="720" dirty="0"/>
          </a:p>
        </p:txBody>
      </p:sp>
      <p:sp>
        <p:nvSpPr>
          <p:cNvPr id="58" name="Shape 54"/>
          <p:cNvSpPr/>
          <p:nvPr/>
        </p:nvSpPr>
        <p:spPr>
          <a:xfrm>
            <a:off x="265176" y="6217920"/>
            <a:ext cx="6327648" cy="310896"/>
          </a:xfrm>
          <a:prstGeom prst="rect">
            <a:avLst/>
          </a:prstGeom>
          <a:solidFill>
            <a:srgbClr val="F4F9F8"/>
          </a:solidFill>
          <a:ln/>
        </p:spPr>
      </p:sp>
      <p:sp>
        <p:nvSpPr>
          <p:cNvPr id="59" name="Shape 55"/>
          <p:cNvSpPr/>
          <p:nvPr/>
        </p:nvSpPr>
        <p:spPr>
          <a:xfrm>
            <a:off x="265176" y="6528816"/>
            <a:ext cx="6327648" cy="0"/>
          </a:xfrm>
          <a:prstGeom prst="line">
            <a:avLst/>
          </a:prstGeom>
          <a:noFill/>
          <a:ln w="6350">
            <a:solidFill>
              <a:srgbClr val="C8DCD7"/>
            </a:solidFill>
            <a:prstDash val="solid"/>
          </a:ln>
        </p:spPr>
      </p:sp>
      <p:sp>
        <p:nvSpPr>
          <p:cNvPr id="60" name="Text 56"/>
          <p:cNvSpPr/>
          <p:nvPr/>
        </p:nvSpPr>
        <p:spPr>
          <a:xfrm>
            <a:off x="320040" y="6217920"/>
            <a:ext cx="136804" cy="310896"/>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3</a:t>
            </a:r>
            <a:endParaRPr lang="en-US" sz="720" dirty="0"/>
          </a:p>
        </p:txBody>
      </p:sp>
      <p:sp>
        <p:nvSpPr>
          <p:cNvPr id="61" name="Text 57"/>
          <p:cNvSpPr/>
          <p:nvPr/>
        </p:nvSpPr>
        <p:spPr>
          <a:xfrm>
            <a:off x="566572" y="6217920"/>
            <a:ext cx="3752603" cy="310896"/>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Ubtan Natural Glow Face Wash with Turmeric</a:t>
            </a:r>
            <a:endParaRPr lang="en-US" sz="720" dirty="0"/>
          </a:p>
        </p:txBody>
      </p:sp>
      <p:sp>
        <p:nvSpPr>
          <p:cNvPr id="62" name="Text 58"/>
          <p:cNvSpPr/>
          <p:nvPr/>
        </p:nvSpPr>
        <p:spPr>
          <a:xfrm>
            <a:off x="4428902" y="6217920"/>
            <a:ext cx="876399" cy="310896"/>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₹0.14 Cr</a:t>
            </a:r>
            <a:endParaRPr lang="en-US" sz="720" dirty="0"/>
          </a:p>
        </p:txBody>
      </p:sp>
      <p:sp>
        <p:nvSpPr>
          <p:cNvPr id="63" name="Text 59"/>
          <p:cNvSpPr/>
          <p:nvPr/>
        </p:nvSpPr>
        <p:spPr>
          <a:xfrm>
            <a:off x="5415029" y="6217920"/>
            <a:ext cx="1122931" cy="310896"/>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Core volume</a:t>
            </a:r>
            <a:endParaRPr lang="en-US" sz="720" dirty="0"/>
          </a:p>
        </p:txBody>
      </p:sp>
      <p:sp>
        <p:nvSpPr>
          <p:cNvPr id="64" name="Shape 60"/>
          <p:cNvSpPr/>
          <p:nvPr/>
        </p:nvSpPr>
        <p:spPr>
          <a:xfrm>
            <a:off x="265176" y="6839712"/>
            <a:ext cx="6327648" cy="0"/>
          </a:xfrm>
          <a:prstGeom prst="line">
            <a:avLst/>
          </a:prstGeom>
          <a:noFill/>
          <a:ln w="6350">
            <a:solidFill>
              <a:srgbClr val="C8DCD7"/>
            </a:solidFill>
            <a:prstDash val="solid"/>
          </a:ln>
        </p:spPr>
      </p:sp>
      <p:sp>
        <p:nvSpPr>
          <p:cNvPr id="65" name="Text 61"/>
          <p:cNvSpPr/>
          <p:nvPr/>
        </p:nvSpPr>
        <p:spPr>
          <a:xfrm>
            <a:off x="320040" y="6528816"/>
            <a:ext cx="136804" cy="310896"/>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4</a:t>
            </a:r>
            <a:endParaRPr lang="en-US" sz="720" dirty="0"/>
          </a:p>
        </p:txBody>
      </p:sp>
      <p:sp>
        <p:nvSpPr>
          <p:cNvPr id="66" name="Text 62"/>
          <p:cNvSpPr/>
          <p:nvPr/>
        </p:nvSpPr>
        <p:spPr>
          <a:xfrm>
            <a:off x="566572" y="6528816"/>
            <a:ext cx="3752603" cy="310896"/>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Vitamin C Face Wash with Vitamin C</a:t>
            </a:r>
            <a:endParaRPr lang="en-US" sz="720" dirty="0"/>
          </a:p>
        </p:txBody>
      </p:sp>
      <p:sp>
        <p:nvSpPr>
          <p:cNvPr id="67" name="Text 63"/>
          <p:cNvSpPr/>
          <p:nvPr/>
        </p:nvSpPr>
        <p:spPr>
          <a:xfrm>
            <a:off x="4428902" y="6528816"/>
            <a:ext cx="876399" cy="310896"/>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₹0.09 Cr</a:t>
            </a:r>
            <a:endParaRPr lang="en-US" sz="720" dirty="0"/>
          </a:p>
        </p:txBody>
      </p:sp>
      <p:sp>
        <p:nvSpPr>
          <p:cNvPr id="68" name="Text 64"/>
          <p:cNvSpPr/>
          <p:nvPr/>
        </p:nvSpPr>
        <p:spPr>
          <a:xfrm>
            <a:off x="5415029" y="6528816"/>
            <a:ext cx="1122931" cy="310896"/>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Core volume</a:t>
            </a:r>
            <a:endParaRPr lang="en-US" sz="720" dirty="0"/>
          </a:p>
        </p:txBody>
      </p:sp>
      <p:sp>
        <p:nvSpPr>
          <p:cNvPr id="69" name="Shape 65"/>
          <p:cNvSpPr/>
          <p:nvPr/>
        </p:nvSpPr>
        <p:spPr>
          <a:xfrm>
            <a:off x="265176" y="6839712"/>
            <a:ext cx="6327648" cy="310896"/>
          </a:xfrm>
          <a:prstGeom prst="rect">
            <a:avLst/>
          </a:prstGeom>
          <a:solidFill>
            <a:srgbClr val="F4F9F8"/>
          </a:solidFill>
          <a:ln/>
        </p:spPr>
      </p:sp>
      <p:sp>
        <p:nvSpPr>
          <p:cNvPr id="70" name="Shape 66"/>
          <p:cNvSpPr/>
          <p:nvPr/>
        </p:nvSpPr>
        <p:spPr>
          <a:xfrm>
            <a:off x="265176" y="7150608"/>
            <a:ext cx="6327648" cy="0"/>
          </a:xfrm>
          <a:prstGeom prst="line">
            <a:avLst/>
          </a:prstGeom>
          <a:noFill/>
          <a:ln w="6350">
            <a:solidFill>
              <a:srgbClr val="C8DCD7"/>
            </a:solidFill>
            <a:prstDash val="solid"/>
          </a:ln>
        </p:spPr>
      </p:sp>
      <p:sp>
        <p:nvSpPr>
          <p:cNvPr id="71" name="Text 67"/>
          <p:cNvSpPr/>
          <p:nvPr/>
        </p:nvSpPr>
        <p:spPr>
          <a:xfrm>
            <a:off x="320040" y="6839712"/>
            <a:ext cx="136804" cy="310896"/>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5</a:t>
            </a:r>
            <a:endParaRPr lang="en-US" sz="720" dirty="0"/>
          </a:p>
        </p:txBody>
      </p:sp>
      <p:sp>
        <p:nvSpPr>
          <p:cNvPr id="72" name="Text 68"/>
          <p:cNvSpPr/>
          <p:nvPr/>
        </p:nvSpPr>
        <p:spPr>
          <a:xfrm>
            <a:off x="566572" y="6839712"/>
            <a:ext cx="3752603" cy="310896"/>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Vitamin C Daily Glow Face Wash</a:t>
            </a:r>
            <a:endParaRPr lang="en-US" sz="720" dirty="0"/>
          </a:p>
        </p:txBody>
      </p:sp>
      <p:sp>
        <p:nvSpPr>
          <p:cNvPr id="73" name="Text 69"/>
          <p:cNvSpPr/>
          <p:nvPr/>
        </p:nvSpPr>
        <p:spPr>
          <a:xfrm>
            <a:off x="4428902" y="6839712"/>
            <a:ext cx="876399" cy="310896"/>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₹0.08 Cr</a:t>
            </a:r>
            <a:endParaRPr lang="en-US" sz="720" dirty="0"/>
          </a:p>
        </p:txBody>
      </p:sp>
      <p:sp>
        <p:nvSpPr>
          <p:cNvPr id="74" name="Text 70"/>
          <p:cNvSpPr/>
          <p:nvPr/>
        </p:nvSpPr>
        <p:spPr>
          <a:xfrm>
            <a:off x="5415029" y="6839712"/>
            <a:ext cx="1122931" cy="310896"/>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Core volume</a:t>
            </a:r>
            <a:endParaRPr lang="en-US" sz="720" dirty="0"/>
          </a:p>
        </p:txBody>
      </p:sp>
      <p:sp>
        <p:nvSpPr>
          <p:cNvPr id="75" name="Shape 71"/>
          <p:cNvSpPr/>
          <p:nvPr/>
        </p:nvSpPr>
        <p:spPr>
          <a:xfrm>
            <a:off x="265176" y="7461504"/>
            <a:ext cx="6327648" cy="0"/>
          </a:xfrm>
          <a:prstGeom prst="line">
            <a:avLst/>
          </a:prstGeom>
          <a:noFill/>
          <a:ln w="6350">
            <a:solidFill>
              <a:srgbClr val="C8DCD7"/>
            </a:solidFill>
            <a:prstDash val="solid"/>
          </a:ln>
        </p:spPr>
      </p:sp>
      <p:sp>
        <p:nvSpPr>
          <p:cNvPr id="76" name="Text 72"/>
          <p:cNvSpPr/>
          <p:nvPr/>
        </p:nvSpPr>
        <p:spPr>
          <a:xfrm>
            <a:off x="320040" y="7150608"/>
            <a:ext cx="136804" cy="310896"/>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6</a:t>
            </a:r>
            <a:endParaRPr lang="en-US" sz="720" dirty="0"/>
          </a:p>
        </p:txBody>
      </p:sp>
      <p:sp>
        <p:nvSpPr>
          <p:cNvPr id="77" name="Text 73"/>
          <p:cNvSpPr/>
          <p:nvPr/>
        </p:nvSpPr>
        <p:spPr>
          <a:xfrm>
            <a:off x="566572" y="7150608"/>
            <a:ext cx="3752603" cy="310896"/>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Ubtan Natural Glow Face Wash 50 ml</a:t>
            </a:r>
            <a:endParaRPr lang="en-US" sz="720" dirty="0"/>
          </a:p>
        </p:txBody>
      </p:sp>
      <p:sp>
        <p:nvSpPr>
          <p:cNvPr id="78" name="Text 74"/>
          <p:cNvSpPr/>
          <p:nvPr/>
        </p:nvSpPr>
        <p:spPr>
          <a:xfrm>
            <a:off x="4428902" y="7150608"/>
            <a:ext cx="876399" cy="310896"/>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₹0.08 Cr</a:t>
            </a:r>
            <a:endParaRPr lang="en-US" sz="720" dirty="0"/>
          </a:p>
        </p:txBody>
      </p:sp>
      <p:sp>
        <p:nvSpPr>
          <p:cNvPr id="79" name="Text 75"/>
          <p:cNvSpPr/>
          <p:nvPr/>
        </p:nvSpPr>
        <p:spPr>
          <a:xfrm>
            <a:off x="5415029" y="7150608"/>
            <a:ext cx="1122931" cy="310896"/>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Traffic pack</a:t>
            </a:r>
            <a:endParaRPr lang="en-US" sz="720" dirty="0"/>
          </a:p>
        </p:txBody>
      </p:sp>
      <p:sp>
        <p:nvSpPr>
          <p:cNvPr id="80" name="Shape 76"/>
          <p:cNvSpPr/>
          <p:nvPr/>
        </p:nvSpPr>
        <p:spPr>
          <a:xfrm>
            <a:off x="265176" y="7461504"/>
            <a:ext cx="6327648" cy="310896"/>
          </a:xfrm>
          <a:prstGeom prst="rect">
            <a:avLst/>
          </a:prstGeom>
          <a:solidFill>
            <a:srgbClr val="F4F9F8"/>
          </a:solidFill>
          <a:ln/>
        </p:spPr>
      </p:sp>
      <p:sp>
        <p:nvSpPr>
          <p:cNvPr id="81" name="Shape 77"/>
          <p:cNvSpPr/>
          <p:nvPr/>
        </p:nvSpPr>
        <p:spPr>
          <a:xfrm>
            <a:off x="265176" y="7772400"/>
            <a:ext cx="6327648" cy="0"/>
          </a:xfrm>
          <a:prstGeom prst="line">
            <a:avLst/>
          </a:prstGeom>
          <a:noFill/>
          <a:ln w="6350">
            <a:solidFill>
              <a:srgbClr val="C8DCD7"/>
            </a:solidFill>
            <a:prstDash val="solid"/>
          </a:ln>
        </p:spPr>
      </p:sp>
      <p:sp>
        <p:nvSpPr>
          <p:cNvPr id="82" name="Text 78"/>
          <p:cNvSpPr/>
          <p:nvPr/>
        </p:nvSpPr>
        <p:spPr>
          <a:xfrm>
            <a:off x="320040" y="7461504"/>
            <a:ext cx="136804" cy="310896"/>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7</a:t>
            </a:r>
            <a:endParaRPr lang="en-US" sz="720" dirty="0"/>
          </a:p>
        </p:txBody>
      </p:sp>
      <p:sp>
        <p:nvSpPr>
          <p:cNvPr id="83" name="Text 79"/>
          <p:cNvSpPr/>
          <p:nvPr/>
        </p:nvSpPr>
        <p:spPr>
          <a:xfrm>
            <a:off x="566572" y="7461504"/>
            <a:ext cx="3752603" cy="310896"/>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Vitamin C Daily Glow Sunscreen 50 g</a:t>
            </a:r>
            <a:endParaRPr lang="en-US" sz="720" dirty="0"/>
          </a:p>
        </p:txBody>
      </p:sp>
      <p:sp>
        <p:nvSpPr>
          <p:cNvPr id="84" name="Text 80"/>
          <p:cNvSpPr/>
          <p:nvPr/>
        </p:nvSpPr>
        <p:spPr>
          <a:xfrm>
            <a:off x="4428902" y="7461504"/>
            <a:ext cx="876399" cy="310896"/>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₹0.08 Cr</a:t>
            </a:r>
            <a:endParaRPr lang="en-US" sz="720" dirty="0"/>
          </a:p>
        </p:txBody>
      </p:sp>
      <p:sp>
        <p:nvSpPr>
          <p:cNvPr id="85" name="Text 81"/>
          <p:cNvSpPr/>
          <p:nvPr/>
        </p:nvSpPr>
        <p:spPr>
          <a:xfrm>
            <a:off x="5415029" y="7461504"/>
            <a:ext cx="1122931" cy="310896"/>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Seasonal</a:t>
            </a:r>
            <a:endParaRPr lang="en-US" sz="720" dirty="0"/>
          </a:p>
        </p:txBody>
      </p:sp>
      <p:sp>
        <p:nvSpPr>
          <p:cNvPr id="86" name="Shape 82"/>
          <p:cNvSpPr/>
          <p:nvPr/>
        </p:nvSpPr>
        <p:spPr>
          <a:xfrm>
            <a:off x="265176" y="8083296"/>
            <a:ext cx="6327648" cy="0"/>
          </a:xfrm>
          <a:prstGeom prst="line">
            <a:avLst/>
          </a:prstGeom>
          <a:noFill/>
          <a:ln w="6350">
            <a:solidFill>
              <a:srgbClr val="C8DCD7"/>
            </a:solidFill>
            <a:prstDash val="solid"/>
          </a:ln>
        </p:spPr>
      </p:sp>
      <p:sp>
        <p:nvSpPr>
          <p:cNvPr id="87" name="Text 83"/>
          <p:cNvSpPr/>
          <p:nvPr/>
        </p:nvSpPr>
        <p:spPr>
          <a:xfrm>
            <a:off x="320040" y="7772400"/>
            <a:ext cx="136804" cy="310896"/>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8</a:t>
            </a:r>
            <a:endParaRPr lang="en-US" sz="720" dirty="0"/>
          </a:p>
        </p:txBody>
      </p:sp>
      <p:sp>
        <p:nvSpPr>
          <p:cNvPr id="88" name="Text 84"/>
          <p:cNvSpPr/>
          <p:nvPr/>
        </p:nvSpPr>
        <p:spPr>
          <a:xfrm>
            <a:off x="566572" y="7772400"/>
            <a:ext cx="3752603" cy="310896"/>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Onion Hair Fall Control Shampoo</a:t>
            </a:r>
            <a:endParaRPr lang="en-US" sz="720" dirty="0"/>
          </a:p>
        </p:txBody>
      </p:sp>
      <p:sp>
        <p:nvSpPr>
          <p:cNvPr id="89" name="Text 85"/>
          <p:cNvSpPr/>
          <p:nvPr/>
        </p:nvSpPr>
        <p:spPr>
          <a:xfrm>
            <a:off x="4428902" y="7772400"/>
            <a:ext cx="876399" cy="310896"/>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₹0.07 Cr</a:t>
            </a:r>
            <a:endParaRPr lang="en-US" sz="720" dirty="0"/>
          </a:p>
        </p:txBody>
      </p:sp>
      <p:sp>
        <p:nvSpPr>
          <p:cNvPr id="90" name="Text 86"/>
          <p:cNvSpPr/>
          <p:nvPr/>
        </p:nvSpPr>
        <p:spPr>
          <a:xfrm>
            <a:off x="5415029" y="7772400"/>
            <a:ext cx="1122931" cy="310896"/>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Cross-category entry</a:t>
            </a:r>
            <a:endParaRPr lang="en-US" sz="720" dirty="0"/>
          </a:p>
        </p:txBody>
      </p:sp>
      <p:sp>
        <p:nvSpPr>
          <p:cNvPr id="91" name="Shape 87"/>
          <p:cNvSpPr/>
          <p:nvPr/>
        </p:nvSpPr>
        <p:spPr>
          <a:xfrm>
            <a:off x="265176" y="8266176"/>
            <a:ext cx="3090672" cy="1335024"/>
          </a:xfrm>
          <a:prstGeom prst="roundRect">
            <a:avLst>
              <a:gd name="adj" fmla="val 1370"/>
            </a:avLst>
          </a:prstGeom>
          <a:solidFill>
            <a:srgbClr val="FFFFFF"/>
          </a:solidFill>
          <a:ln w="9525">
            <a:solidFill>
              <a:srgbClr val="C8DCD7"/>
            </a:solidFill>
            <a:prstDash val="solid"/>
          </a:ln>
        </p:spPr>
      </p:sp>
      <p:sp>
        <p:nvSpPr>
          <p:cNvPr id="92" name="Shape 88"/>
          <p:cNvSpPr/>
          <p:nvPr/>
        </p:nvSpPr>
        <p:spPr>
          <a:xfrm>
            <a:off x="265176" y="8266176"/>
            <a:ext cx="3090672" cy="274320"/>
          </a:xfrm>
          <a:prstGeom prst="rect">
            <a:avLst/>
          </a:prstGeom>
          <a:solidFill>
            <a:srgbClr val="2B9A66"/>
          </a:solidFill>
          <a:ln/>
        </p:spPr>
      </p:sp>
      <p:sp>
        <p:nvSpPr>
          <p:cNvPr id="93" name="Text 89"/>
          <p:cNvSpPr/>
          <p:nvPr/>
        </p:nvSpPr>
        <p:spPr>
          <a:xfrm>
            <a:off x="347472" y="8284464"/>
            <a:ext cx="2926080"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LEADERSHIP CALL</a:t>
            </a:r>
            <a:endParaRPr lang="en-US" sz="700" dirty="0"/>
          </a:p>
        </p:txBody>
      </p:sp>
      <p:sp>
        <p:nvSpPr>
          <p:cNvPr id="94" name="Shape 90"/>
          <p:cNvSpPr/>
          <p:nvPr/>
        </p:nvSpPr>
        <p:spPr>
          <a:xfrm>
            <a:off x="374904" y="8700516"/>
            <a:ext cx="50292" cy="50292"/>
          </a:xfrm>
          <a:prstGeom prst="ellipse">
            <a:avLst/>
          </a:prstGeom>
          <a:solidFill>
            <a:srgbClr val="2B9A66"/>
          </a:solidFill>
          <a:ln/>
        </p:spPr>
      </p:sp>
      <p:sp>
        <p:nvSpPr>
          <p:cNvPr id="95" name="Text 91"/>
          <p:cNvSpPr/>
          <p:nvPr/>
        </p:nvSpPr>
        <p:spPr>
          <a:xfrm>
            <a:off x="493776" y="8650224"/>
            <a:ext cx="2752344" cy="292608"/>
          </a:xfrm>
          <a:prstGeom prst="rect">
            <a:avLst/>
          </a:prstGeom>
          <a:noFill/>
          <a:ln/>
        </p:spPr>
        <p:txBody>
          <a:bodyPr wrap="square" lIns="0" tIns="0" rIns="0" bIns="0" rtlCol="0" anchor="t"/>
          <a:lstStyle/>
          <a:p>
            <a:pPr indent="0" marL="0">
              <a:lnSpc>
                <a:spcPct val="92000"/>
              </a:lnSpc>
              <a:buNone/>
            </a:pPr>
            <a:r>
              <a:rPr lang="en-US" sz="720" b="1" dirty="0">
                <a:solidFill>
                  <a:srgbClr val="183B39"/>
                </a:solidFill>
                <a:latin typeface="Calibri" pitchFamily="34" charset="0"/>
                <a:ea typeface="Calibri" pitchFamily="34" charset="-122"/>
                <a:cs typeface="Calibri" pitchFamily="34" charset="-120"/>
              </a:rPr>
              <a:t>Protect the two Rice Face Wash SKUs — 22% of account offtake.</a:t>
            </a:r>
            <a:endParaRPr lang="en-US" sz="720" dirty="0"/>
          </a:p>
        </p:txBody>
      </p:sp>
      <p:sp>
        <p:nvSpPr>
          <p:cNvPr id="96" name="Shape 92"/>
          <p:cNvSpPr/>
          <p:nvPr/>
        </p:nvSpPr>
        <p:spPr>
          <a:xfrm>
            <a:off x="374904" y="9011412"/>
            <a:ext cx="50292" cy="50292"/>
          </a:xfrm>
          <a:prstGeom prst="ellipse">
            <a:avLst/>
          </a:prstGeom>
          <a:solidFill>
            <a:srgbClr val="2B9A66"/>
          </a:solidFill>
          <a:ln/>
        </p:spPr>
      </p:sp>
      <p:sp>
        <p:nvSpPr>
          <p:cNvPr id="97" name="Text 93"/>
          <p:cNvSpPr/>
          <p:nvPr/>
        </p:nvSpPr>
        <p:spPr>
          <a:xfrm>
            <a:off x="493776" y="8961120"/>
            <a:ext cx="2752344" cy="292608"/>
          </a:xfrm>
          <a:prstGeom prst="rect">
            <a:avLst/>
          </a:prstGeom>
          <a:noFill/>
          <a:ln/>
        </p:spPr>
        <p:txBody>
          <a:bodyPr wrap="square" lIns="0" tIns="0" rIns="0" bIns="0" rtlCol="0" anchor="t"/>
          <a:lstStyle/>
          <a:p>
            <a:pPr indent="0" marL="0">
              <a:lnSpc>
                <a:spcPct val="92000"/>
              </a:lnSpc>
              <a:buNone/>
            </a:pPr>
            <a:r>
              <a:rPr lang="en-US" sz="720" dirty="0">
                <a:solidFill>
                  <a:srgbClr val="183B39"/>
                </a:solidFill>
                <a:latin typeface="Calibri" pitchFamily="34" charset="0"/>
                <a:ea typeface="Calibri" pitchFamily="34" charset="-122"/>
                <a:cs typeface="Calibri" pitchFamily="34" charset="-120"/>
              </a:rPr>
              <a:t>Reverse the 4.6% June–July softness back to ₹2.17 Cr.</a:t>
            </a:r>
            <a:endParaRPr lang="en-US" sz="720" dirty="0"/>
          </a:p>
        </p:txBody>
      </p:sp>
      <p:sp>
        <p:nvSpPr>
          <p:cNvPr id="98" name="Shape 94"/>
          <p:cNvSpPr/>
          <p:nvPr/>
        </p:nvSpPr>
        <p:spPr>
          <a:xfrm>
            <a:off x="374904" y="9322308"/>
            <a:ext cx="50292" cy="50292"/>
          </a:xfrm>
          <a:prstGeom prst="ellipse">
            <a:avLst/>
          </a:prstGeom>
          <a:solidFill>
            <a:srgbClr val="2B9A66"/>
          </a:solidFill>
          <a:ln/>
        </p:spPr>
      </p:sp>
      <p:sp>
        <p:nvSpPr>
          <p:cNvPr id="99" name="Text 95"/>
          <p:cNvSpPr/>
          <p:nvPr/>
        </p:nvSpPr>
        <p:spPr>
          <a:xfrm>
            <a:off x="493776" y="9272016"/>
            <a:ext cx="2752344" cy="292608"/>
          </a:xfrm>
          <a:prstGeom prst="rect">
            <a:avLst/>
          </a:prstGeom>
          <a:noFill/>
          <a:ln/>
        </p:spPr>
        <p:txBody>
          <a:bodyPr wrap="square" lIns="0" tIns="0" rIns="0" bIns="0" rtlCol="0" anchor="t"/>
          <a:lstStyle/>
          <a:p>
            <a:pPr indent="0" marL="0">
              <a:lnSpc>
                <a:spcPct val="92000"/>
              </a:lnSpc>
              <a:buNone/>
            </a:pPr>
            <a:r>
              <a:rPr lang="en-US" sz="720" dirty="0">
                <a:solidFill>
                  <a:srgbClr val="183B39"/>
                </a:solidFill>
                <a:latin typeface="Calibri" pitchFamily="34" charset="0"/>
                <a:ea typeface="Calibri" pitchFamily="34" charset="-122"/>
                <a:cs typeface="Calibri" pitchFamily="34" charset="-120"/>
              </a:rPr>
              <a:t>Hold flow above 95% as the account benchmark.</a:t>
            </a:r>
            <a:endParaRPr lang="en-US" sz="720" dirty="0"/>
          </a:p>
        </p:txBody>
      </p:sp>
      <p:sp>
        <p:nvSpPr>
          <p:cNvPr id="100" name="Shape 96"/>
          <p:cNvSpPr/>
          <p:nvPr/>
        </p:nvSpPr>
        <p:spPr>
          <a:xfrm>
            <a:off x="3502152" y="8266176"/>
            <a:ext cx="3090672" cy="1335024"/>
          </a:xfrm>
          <a:prstGeom prst="roundRect">
            <a:avLst>
              <a:gd name="adj" fmla="val 1370"/>
            </a:avLst>
          </a:prstGeom>
          <a:solidFill>
            <a:srgbClr val="FFFFFF"/>
          </a:solidFill>
          <a:ln w="9525">
            <a:solidFill>
              <a:srgbClr val="C8DCD7"/>
            </a:solidFill>
            <a:prstDash val="solid"/>
          </a:ln>
        </p:spPr>
      </p:sp>
      <p:sp>
        <p:nvSpPr>
          <p:cNvPr id="101" name="Shape 97"/>
          <p:cNvSpPr/>
          <p:nvPr/>
        </p:nvSpPr>
        <p:spPr>
          <a:xfrm>
            <a:off x="3502152" y="8266176"/>
            <a:ext cx="3090672" cy="274320"/>
          </a:xfrm>
          <a:prstGeom prst="rect">
            <a:avLst/>
          </a:prstGeom>
          <a:solidFill>
            <a:srgbClr val="F2B84B"/>
          </a:solidFill>
          <a:ln/>
        </p:spPr>
      </p:sp>
      <p:sp>
        <p:nvSpPr>
          <p:cNvPr id="102" name="Text 98"/>
          <p:cNvSpPr/>
          <p:nvPr/>
        </p:nvSpPr>
        <p:spPr>
          <a:xfrm>
            <a:off x="3584448" y="8284464"/>
            <a:ext cx="2926080"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READ THIS ACCOUNT CAREFULLY</a:t>
            </a:r>
            <a:endParaRPr lang="en-US" sz="700" dirty="0"/>
          </a:p>
        </p:txBody>
      </p:sp>
      <p:sp>
        <p:nvSpPr>
          <p:cNvPr id="103" name="Shape 99"/>
          <p:cNvSpPr/>
          <p:nvPr/>
        </p:nvSpPr>
        <p:spPr>
          <a:xfrm>
            <a:off x="3611880" y="8700516"/>
            <a:ext cx="50292" cy="50292"/>
          </a:xfrm>
          <a:prstGeom prst="ellipse">
            <a:avLst/>
          </a:prstGeom>
          <a:solidFill>
            <a:srgbClr val="F2B84B"/>
          </a:solidFill>
          <a:ln/>
        </p:spPr>
      </p:sp>
      <p:sp>
        <p:nvSpPr>
          <p:cNvPr id="104" name="Text 100"/>
          <p:cNvSpPr/>
          <p:nvPr/>
        </p:nvSpPr>
        <p:spPr>
          <a:xfrm>
            <a:off x="3730752" y="8650224"/>
            <a:ext cx="2752344" cy="292608"/>
          </a:xfrm>
          <a:prstGeom prst="rect">
            <a:avLst/>
          </a:prstGeom>
          <a:noFill/>
          <a:ln/>
        </p:spPr>
        <p:txBody>
          <a:bodyPr wrap="square" lIns="0" tIns="0" rIns="0" bIns="0" rtlCol="0" anchor="t"/>
          <a:lstStyle/>
          <a:p>
            <a:pPr indent="0" marL="0">
              <a:lnSpc>
                <a:spcPct val="92000"/>
              </a:lnSpc>
              <a:buNone/>
            </a:pPr>
            <a:r>
              <a:rPr lang="en-US" sz="720" b="1" dirty="0">
                <a:solidFill>
                  <a:srgbClr val="183B39"/>
                </a:solidFill>
                <a:latin typeface="Calibri" pitchFamily="34" charset="0"/>
                <a:ea typeface="Calibri" pitchFamily="34" charset="-122"/>
                <a:cs typeface="Calibri" pitchFamily="34" charset="-120"/>
              </a:rPr>
              <a:t>FSN and Nykaa SS are combined at article level — neither can be attributed.</a:t>
            </a:r>
            <a:endParaRPr lang="en-US" sz="720" dirty="0"/>
          </a:p>
        </p:txBody>
      </p:sp>
      <p:sp>
        <p:nvSpPr>
          <p:cNvPr id="105" name="Shape 101"/>
          <p:cNvSpPr/>
          <p:nvPr/>
        </p:nvSpPr>
        <p:spPr>
          <a:xfrm>
            <a:off x="3611880" y="9011412"/>
            <a:ext cx="50292" cy="50292"/>
          </a:xfrm>
          <a:prstGeom prst="ellipse">
            <a:avLst/>
          </a:prstGeom>
          <a:solidFill>
            <a:srgbClr val="F2B84B"/>
          </a:solidFill>
          <a:ln/>
        </p:spPr>
      </p:sp>
      <p:sp>
        <p:nvSpPr>
          <p:cNvPr id="106" name="Text 102"/>
          <p:cNvSpPr/>
          <p:nvPr/>
        </p:nvSpPr>
        <p:spPr>
          <a:xfrm>
            <a:off x="3730752" y="8961120"/>
            <a:ext cx="2752344" cy="292608"/>
          </a:xfrm>
          <a:prstGeom prst="rect">
            <a:avLst/>
          </a:prstGeom>
          <a:noFill/>
          <a:ln/>
        </p:spPr>
        <p:txBody>
          <a:bodyPr wrap="square" lIns="0" tIns="0" rIns="0" bIns="0" rtlCol="0" anchor="t"/>
          <a:lstStyle/>
          <a:p>
            <a:pPr indent="0" marL="0">
              <a:lnSpc>
                <a:spcPct val="92000"/>
              </a:lnSpc>
              <a:buNone/>
            </a:pPr>
            <a:r>
              <a:rPr lang="en-US" sz="720" dirty="0">
                <a:solidFill>
                  <a:srgbClr val="183B39"/>
                </a:solidFill>
                <a:latin typeface="Calibri" pitchFamily="34" charset="0"/>
                <a:ea typeface="Calibri" pitchFamily="34" charset="-122"/>
                <a:cs typeface="Calibri" pitchFamily="34" charset="-120"/>
              </a:rPr>
              <a:t>Marketplace replenishment is near real-time; 99.4% is not transferable to hypermarkets.</a:t>
            </a:r>
            <a:endParaRPr lang="en-US" sz="720" dirty="0"/>
          </a:p>
        </p:txBody>
      </p:sp>
      <p:sp>
        <p:nvSpPr>
          <p:cNvPr id="107" name="Shape 103"/>
          <p:cNvSpPr/>
          <p:nvPr/>
        </p:nvSpPr>
        <p:spPr>
          <a:xfrm>
            <a:off x="3611880" y="9322308"/>
            <a:ext cx="50292" cy="50292"/>
          </a:xfrm>
          <a:prstGeom prst="ellipse">
            <a:avLst/>
          </a:prstGeom>
          <a:solidFill>
            <a:srgbClr val="F2B84B"/>
          </a:solidFill>
          <a:ln/>
        </p:spPr>
      </p:sp>
      <p:sp>
        <p:nvSpPr>
          <p:cNvPr id="108" name="Text 104"/>
          <p:cNvSpPr/>
          <p:nvPr/>
        </p:nvSpPr>
        <p:spPr>
          <a:xfrm>
            <a:off x="3730752" y="9272016"/>
            <a:ext cx="2752344" cy="292608"/>
          </a:xfrm>
          <a:prstGeom prst="rect">
            <a:avLst/>
          </a:prstGeom>
          <a:noFill/>
          <a:ln/>
        </p:spPr>
        <p:txBody>
          <a:bodyPr wrap="square" lIns="0" tIns="0" rIns="0" bIns="0" rtlCol="0" anchor="t"/>
          <a:lstStyle/>
          <a:p>
            <a:pPr indent="0" marL="0">
              <a:lnSpc>
                <a:spcPct val="92000"/>
              </a:lnSpc>
              <a:buNone/>
            </a:pPr>
            <a:r>
              <a:rPr lang="en-US" sz="720" dirty="0">
                <a:solidFill>
                  <a:srgbClr val="183B39"/>
                </a:solidFill>
                <a:latin typeface="Calibri" pitchFamily="34" charset="0"/>
                <a:ea typeface="Calibri" pitchFamily="34" charset="-122"/>
                <a:cs typeface="Calibri" pitchFamily="34" charset="-120"/>
              </a:rPr>
              <a:t>This ₹2.07 Cr is eB2B and sits outside MT zone sales entirely.</a:t>
            </a:r>
            <a:endParaRPr lang="en-US" sz="7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A"/>
        </a:solidFill>
      </p:bgPr>
    </p:bg>
    <p:spTree>
      <p:nvGrpSpPr>
        <p:cNvPr id="1" name=""/>
        <p:cNvGrpSpPr/>
        <p:nvPr/>
      </p:nvGrpSpPr>
      <p:grpSpPr>
        <a:xfrm>
          <a:off x="0" y="0"/>
          <a:ext cx="0" cy="0"/>
          <a:chOff x="0" y="0"/>
          <a:chExt cx="0" cy="0"/>
        </a:xfrm>
      </p:grpSpPr>
      <p:sp>
        <p:nvSpPr>
          <p:cNvPr id="2" name="Shape 0"/>
          <p:cNvSpPr/>
          <p:nvPr/>
        </p:nvSpPr>
        <p:spPr>
          <a:xfrm>
            <a:off x="0" y="0"/>
            <a:ext cx="6858000" cy="1133856"/>
          </a:xfrm>
          <a:prstGeom prst="rect">
            <a:avLst/>
          </a:prstGeom>
          <a:solidFill>
            <a:srgbClr val="116F68"/>
          </a:solidFill>
          <a:ln/>
        </p:spPr>
      </p:sp>
      <p:sp>
        <p:nvSpPr>
          <p:cNvPr id="3" name="Text 1"/>
          <p:cNvSpPr/>
          <p:nvPr/>
        </p:nvSpPr>
        <p:spPr>
          <a:xfrm>
            <a:off x="365760" y="182880"/>
            <a:ext cx="5641848" cy="548640"/>
          </a:xfrm>
          <a:prstGeom prst="rect">
            <a:avLst/>
          </a:prstGeom>
          <a:noFill/>
          <a:ln/>
        </p:spPr>
        <p:txBody>
          <a:bodyPr wrap="square" lIns="0" tIns="0" rIns="0" bIns="0" rtlCol="0" anchor="ctr"/>
          <a:lstStyle/>
          <a:p>
            <a:pPr indent="0" marL="0">
              <a:lnSpc>
                <a:spcPct val="92000"/>
              </a:lnSpc>
              <a:buNone/>
            </a:pPr>
            <a:r>
              <a:rPr lang="en-US" sz="1450" b="1" dirty="0">
                <a:solidFill>
                  <a:srgbClr val="FFFFFF"/>
                </a:solidFill>
                <a:latin typeface="Calibri Light" pitchFamily="34" charset="0"/>
                <a:ea typeface="Calibri Light" pitchFamily="34" charset="-122"/>
                <a:cs typeface="Calibri Light" pitchFamily="34" charset="-120"/>
              </a:rPr>
              <a:t>NPI is ₹2.82 Cr — and 82% of it sits in the two accounts that convert worst</a:t>
            </a:r>
            <a:endParaRPr lang="en-US" sz="1450" dirty="0"/>
          </a:p>
        </p:txBody>
      </p:sp>
      <p:sp>
        <p:nvSpPr>
          <p:cNvPr id="4" name="Text 2"/>
          <p:cNvSpPr/>
          <p:nvPr/>
        </p:nvSpPr>
        <p:spPr>
          <a:xfrm>
            <a:off x="384048" y="786384"/>
            <a:ext cx="5641848" cy="237744"/>
          </a:xfrm>
          <a:prstGeom prst="rect">
            <a:avLst/>
          </a:prstGeom>
          <a:noFill/>
          <a:ln/>
        </p:spPr>
        <p:txBody>
          <a:bodyPr wrap="square" lIns="0" tIns="0" rIns="0" bIns="0" rtlCol="0" anchor="ctr"/>
          <a:lstStyle/>
          <a:p>
            <a:pPr indent="0" marL="0">
              <a:buNone/>
            </a:pPr>
            <a:r>
              <a:rPr lang="en-US" sz="850" dirty="0">
                <a:solidFill>
                  <a:srgbClr val="BFDCD7"/>
                </a:solidFill>
                <a:latin typeface="Calibri" pitchFamily="34" charset="0"/>
                <a:ea typeface="Calibri" pitchFamily="34" charset="-122"/>
                <a:cs typeface="Calibri" pitchFamily="34" charset="-120"/>
              </a:rPr>
              <a:t>New product introduction | contribution by zone and chain | July 2026</a:t>
            </a:r>
            <a:endParaRPr lang="en-US" sz="850" dirty="0"/>
          </a:p>
        </p:txBody>
      </p:sp>
      <p:sp>
        <p:nvSpPr>
          <p:cNvPr id="5" name="Text 3"/>
          <p:cNvSpPr/>
          <p:nvPr/>
        </p:nvSpPr>
        <p:spPr>
          <a:xfrm>
            <a:off x="6117336" y="365760"/>
            <a:ext cx="402336" cy="237744"/>
          </a:xfrm>
          <a:prstGeom prst="rect">
            <a:avLst/>
          </a:prstGeom>
          <a:noFill/>
          <a:ln/>
        </p:spPr>
        <p:txBody>
          <a:bodyPr wrap="square" lIns="0" tIns="0" rIns="0" bIns="0" rtlCol="0" anchor="t"/>
          <a:lstStyle/>
          <a:p>
            <a:pPr algn="r" indent="0" marL="0">
              <a:buNone/>
            </a:pPr>
            <a:r>
              <a:rPr lang="en-US" sz="950" b="1" dirty="0">
                <a:solidFill>
                  <a:srgbClr val="8FC4BD"/>
                </a:solidFill>
                <a:latin typeface="Calibri" pitchFamily="34" charset="0"/>
                <a:ea typeface="Calibri" pitchFamily="34" charset="-122"/>
                <a:cs typeface="Calibri" pitchFamily="34" charset="-120"/>
              </a:rPr>
              <a:t>18</a:t>
            </a:r>
            <a:endParaRPr lang="en-US" sz="950" dirty="0"/>
          </a:p>
        </p:txBody>
      </p:sp>
      <p:sp>
        <p:nvSpPr>
          <p:cNvPr id="6" name="Shape 4"/>
          <p:cNvSpPr/>
          <p:nvPr/>
        </p:nvSpPr>
        <p:spPr>
          <a:xfrm>
            <a:off x="265176" y="11375136"/>
            <a:ext cx="6327648" cy="420624"/>
          </a:xfrm>
          <a:prstGeom prst="roundRect">
            <a:avLst>
              <a:gd name="adj" fmla="val 6522"/>
            </a:avLst>
          </a:prstGeom>
          <a:solidFill>
            <a:srgbClr val="DFF2ED"/>
          </a:solidFill>
          <a:ln w="9525">
            <a:solidFill>
              <a:srgbClr val="C8DCD7"/>
            </a:solidFill>
            <a:prstDash val="solid"/>
          </a:ln>
        </p:spPr>
      </p:sp>
      <p:sp>
        <p:nvSpPr>
          <p:cNvPr id="7" name="Text 5"/>
          <p:cNvSpPr/>
          <p:nvPr/>
        </p:nvSpPr>
        <p:spPr>
          <a:xfrm>
            <a:off x="374904"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EVIDENCE</a:t>
            </a:r>
            <a:endParaRPr lang="en-US" sz="650" dirty="0"/>
          </a:p>
        </p:txBody>
      </p:sp>
      <p:sp>
        <p:nvSpPr>
          <p:cNvPr id="8" name="Text 6"/>
          <p:cNvSpPr/>
          <p:nvPr/>
        </p:nvSpPr>
        <p:spPr>
          <a:xfrm>
            <a:off x="374904"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moved</a:t>
            </a:r>
            <a:endParaRPr lang="en-US" sz="700" dirty="0"/>
          </a:p>
        </p:txBody>
      </p:sp>
      <p:sp>
        <p:nvSpPr>
          <p:cNvPr id="9" name="Text 7"/>
          <p:cNvSpPr/>
          <p:nvPr/>
        </p:nvSpPr>
        <p:spPr>
          <a:xfrm>
            <a:off x="1901952"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IMPLICATION</a:t>
            </a:r>
            <a:endParaRPr lang="en-US" sz="650" dirty="0"/>
          </a:p>
        </p:txBody>
      </p:sp>
      <p:sp>
        <p:nvSpPr>
          <p:cNvPr id="10" name="Text 8"/>
          <p:cNvSpPr/>
          <p:nvPr/>
        </p:nvSpPr>
        <p:spPr>
          <a:xfrm>
            <a:off x="1901952"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Why it matters</a:t>
            </a:r>
            <a:endParaRPr lang="en-US" sz="700" dirty="0"/>
          </a:p>
        </p:txBody>
      </p:sp>
      <p:sp>
        <p:nvSpPr>
          <p:cNvPr id="11" name="Shape 9"/>
          <p:cNvSpPr/>
          <p:nvPr/>
        </p:nvSpPr>
        <p:spPr>
          <a:xfrm>
            <a:off x="1819656" y="11457432"/>
            <a:ext cx="0" cy="265176"/>
          </a:xfrm>
          <a:prstGeom prst="line">
            <a:avLst/>
          </a:prstGeom>
          <a:noFill/>
          <a:ln w="9525">
            <a:solidFill>
              <a:srgbClr val="C8DCD7"/>
            </a:solidFill>
            <a:prstDash val="solid"/>
          </a:ln>
        </p:spPr>
      </p:sp>
      <p:sp>
        <p:nvSpPr>
          <p:cNvPr id="12" name="Text 10"/>
          <p:cNvSpPr/>
          <p:nvPr/>
        </p:nvSpPr>
        <p:spPr>
          <a:xfrm>
            <a:off x="3429000"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ACTION</a:t>
            </a:r>
            <a:endParaRPr lang="en-US" sz="650" dirty="0"/>
          </a:p>
        </p:txBody>
      </p:sp>
      <p:sp>
        <p:nvSpPr>
          <p:cNvPr id="13" name="Text 11"/>
          <p:cNvSpPr/>
          <p:nvPr/>
        </p:nvSpPr>
        <p:spPr>
          <a:xfrm>
            <a:off x="3429000"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changes now</a:t>
            </a:r>
            <a:endParaRPr lang="en-US" sz="700" dirty="0"/>
          </a:p>
        </p:txBody>
      </p:sp>
      <p:sp>
        <p:nvSpPr>
          <p:cNvPr id="14" name="Shape 12"/>
          <p:cNvSpPr/>
          <p:nvPr/>
        </p:nvSpPr>
        <p:spPr>
          <a:xfrm>
            <a:off x="3346704" y="11457432"/>
            <a:ext cx="0" cy="265176"/>
          </a:xfrm>
          <a:prstGeom prst="line">
            <a:avLst/>
          </a:prstGeom>
          <a:noFill/>
          <a:ln w="9525">
            <a:solidFill>
              <a:srgbClr val="C8DCD7"/>
            </a:solidFill>
            <a:prstDash val="solid"/>
          </a:ln>
        </p:spPr>
      </p:sp>
      <p:sp>
        <p:nvSpPr>
          <p:cNvPr id="15" name="Text 13"/>
          <p:cNvSpPr/>
          <p:nvPr/>
        </p:nvSpPr>
        <p:spPr>
          <a:xfrm>
            <a:off x="4956048"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OWNER</a:t>
            </a:r>
            <a:endParaRPr lang="en-US" sz="650" dirty="0"/>
          </a:p>
        </p:txBody>
      </p:sp>
      <p:sp>
        <p:nvSpPr>
          <p:cNvPr id="16" name="Text 14"/>
          <p:cNvSpPr/>
          <p:nvPr/>
        </p:nvSpPr>
        <p:spPr>
          <a:xfrm>
            <a:off x="4956048"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Who closes it</a:t>
            </a:r>
            <a:endParaRPr lang="en-US" sz="700" dirty="0"/>
          </a:p>
        </p:txBody>
      </p:sp>
      <p:sp>
        <p:nvSpPr>
          <p:cNvPr id="17" name="Shape 15"/>
          <p:cNvSpPr/>
          <p:nvPr/>
        </p:nvSpPr>
        <p:spPr>
          <a:xfrm>
            <a:off x="4873752" y="11457432"/>
            <a:ext cx="0" cy="265176"/>
          </a:xfrm>
          <a:prstGeom prst="line">
            <a:avLst/>
          </a:prstGeom>
          <a:noFill/>
          <a:ln w="9525">
            <a:solidFill>
              <a:srgbClr val="C8DCD7"/>
            </a:solidFill>
            <a:prstDash val="solid"/>
          </a:ln>
        </p:spPr>
      </p:sp>
      <p:sp>
        <p:nvSpPr>
          <p:cNvPr id="18" name="Text 16"/>
          <p:cNvSpPr/>
          <p:nvPr/>
        </p:nvSpPr>
        <p:spPr>
          <a:xfrm>
            <a:off x="301752" y="11887200"/>
            <a:ext cx="6254496" cy="201168"/>
          </a:xfrm>
          <a:prstGeom prst="rect">
            <a:avLst/>
          </a:prstGeom>
          <a:noFill/>
          <a:ln/>
        </p:spPr>
        <p:txBody>
          <a:bodyPr wrap="square" lIns="0" tIns="0" rIns="0" bIns="0" rtlCol="0" anchor="t"/>
          <a:lstStyle/>
          <a:p>
            <a:pPr algn="ctr" indent="0" marL="0">
              <a:buNone/>
            </a:pPr>
            <a:r>
              <a:rPr lang="en-US" sz="650" dirty="0">
                <a:solidFill>
                  <a:srgbClr val="5F716E"/>
                </a:solidFill>
                <a:latin typeface="Calibri" pitchFamily="34" charset="0"/>
                <a:ea typeface="Calibri" pitchFamily="34" charset="-122"/>
                <a:cs typeface="Calibri" pitchFamily="34" charset="-120"/>
              </a:rPr>
              <a:t>July Compiled Offtake (Sheet1) · July'26 primary and distributor secondary · values in ₹ Cr · Zone performance represents Modern Trade accounts only. eB2B and SIS channels are excluded from MT zone sales and reported separately.</a:t>
            </a:r>
            <a:endParaRPr lang="en-US" sz="650" dirty="0"/>
          </a:p>
        </p:txBody>
      </p:sp>
      <p:sp>
        <p:nvSpPr>
          <p:cNvPr id="19" name="Shape 17"/>
          <p:cNvSpPr/>
          <p:nvPr/>
        </p:nvSpPr>
        <p:spPr>
          <a:xfrm>
            <a:off x="265176" y="1261872"/>
            <a:ext cx="2036064" cy="859536"/>
          </a:xfrm>
          <a:prstGeom prst="rect">
            <a:avLst/>
          </a:prstGeom>
          <a:solidFill>
            <a:srgbClr val="FFFFFF"/>
          </a:solidFill>
          <a:ln w="9525">
            <a:solidFill>
              <a:srgbClr val="C8DCD7"/>
            </a:solidFill>
            <a:prstDash val="solid"/>
          </a:ln>
        </p:spPr>
      </p:sp>
      <p:sp>
        <p:nvSpPr>
          <p:cNvPr id="20" name="Shape 18"/>
          <p:cNvSpPr/>
          <p:nvPr/>
        </p:nvSpPr>
        <p:spPr>
          <a:xfrm>
            <a:off x="265176" y="1261872"/>
            <a:ext cx="64008" cy="859536"/>
          </a:xfrm>
          <a:prstGeom prst="rect">
            <a:avLst/>
          </a:prstGeom>
          <a:solidFill>
            <a:srgbClr val="28A596"/>
          </a:solidFill>
          <a:ln/>
        </p:spPr>
      </p:sp>
      <p:sp>
        <p:nvSpPr>
          <p:cNvPr id="21" name="Text 19"/>
          <p:cNvSpPr/>
          <p:nvPr/>
        </p:nvSpPr>
        <p:spPr>
          <a:xfrm>
            <a:off x="420624" y="1353312"/>
            <a:ext cx="1798320"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NPI OFFTAKE</a:t>
            </a:r>
            <a:endParaRPr lang="en-US" sz="680" dirty="0"/>
          </a:p>
        </p:txBody>
      </p:sp>
      <p:sp>
        <p:nvSpPr>
          <p:cNvPr id="22" name="Text 20"/>
          <p:cNvSpPr/>
          <p:nvPr/>
        </p:nvSpPr>
        <p:spPr>
          <a:xfrm>
            <a:off x="420624" y="1536192"/>
            <a:ext cx="1798320" cy="310896"/>
          </a:xfrm>
          <a:prstGeom prst="rect">
            <a:avLst/>
          </a:prstGeom>
          <a:noFill/>
          <a:ln/>
        </p:spPr>
        <p:txBody>
          <a:bodyPr wrap="square" lIns="0" tIns="0" rIns="0" bIns="0" rtlCol="0" anchor="ctr"/>
          <a:lstStyle/>
          <a:p>
            <a:pPr indent="0" marL="0">
              <a:buNone/>
            </a:pPr>
            <a:r>
              <a:rPr lang="en-US" sz="1550" b="1" dirty="0">
                <a:solidFill>
                  <a:srgbClr val="28A596"/>
                </a:solidFill>
                <a:latin typeface="Calibri Light" pitchFamily="34" charset="0"/>
                <a:ea typeface="Calibri Light" pitchFamily="34" charset="-122"/>
                <a:cs typeface="Calibri Light" pitchFamily="34" charset="-120"/>
              </a:rPr>
              <a:t>₹2.82 Cr</a:t>
            </a:r>
            <a:endParaRPr lang="en-US" sz="1550" dirty="0"/>
          </a:p>
        </p:txBody>
      </p:sp>
      <p:sp>
        <p:nvSpPr>
          <p:cNvPr id="23" name="Text 21"/>
          <p:cNvSpPr/>
          <p:nvPr/>
        </p:nvSpPr>
        <p:spPr>
          <a:xfrm>
            <a:off x="420624" y="1865376"/>
            <a:ext cx="1798320"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7.82% of July offtake</a:t>
            </a:r>
            <a:endParaRPr lang="en-US" sz="680" dirty="0"/>
          </a:p>
        </p:txBody>
      </p:sp>
      <p:sp>
        <p:nvSpPr>
          <p:cNvPr id="24" name="Shape 22"/>
          <p:cNvSpPr/>
          <p:nvPr/>
        </p:nvSpPr>
        <p:spPr>
          <a:xfrm>
            <a:off x="2410968" y="1261872"/>
            <a:ext cx="2036064" cy="859536"/>
          </a:xfrm>
          <a:prstGeom prst="rect">
            <a:avLst/>
          </a:prstGeom>
          <a:solidFill>
            <a:srgbClr val="FFFFFF"/>
          </a:solidFill>
          <a:ln w="9525">
            <a:solidFill>
              <a:srgbClr val="C8DCD7"/>
            </a:solidFill>
            <a:prstDash val="solid"/>
          </a:ln>
        </p:spPr>
      </p:sp>
      <p:sp>
        <p:nvSpPr>
          <p:cNvPr id="25" name="Shape 23"/>
          <p:cNvSpPr/>
          <p:nvPr/>
        </p:nvSpPr>
        <p:spPr>
          <a:xfrm>
            <a:off x="2410968" y="1261872"/>
            <a:ext cx="64008" cy="859536"/>
          </a:xfrm>
          <a:prstGeom prst="rect">
            <a:avLst/>
          </a:prstGeom>
          <a:solidFill>
            <a:srgbClr val="D6544D"/>
          </a:solidFill>
          <a:ln/>
        </p:spPr>
      </p:sp>
      <p:sp>
        <p:nvSpPr>
          <p:cNvPr id="26" name="Text 24"/>
          <p:cNvSpPr/>
          <p:nvPr/>
        </p:nvSpPr>
        <p:spPr>
          <a:xfrm>
            <a:off x="2566416" y="1353312"/>
            <a:ext cx="1798320"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IN TWO ACCOUNTS</a:t>
            </a:r>
            <a:endParaRPr lang="en-US" sz="680" dirty="0"/>
          </a:p>
        </p:txBody>
      </p:sp>
      <p:sp>
        <p:nvSpPr>
          <p:cNvPr id="27" name="Text 25"/>
          <p:cNvSpPr/>
          <p:nvPr/>
        </p:nvSpPr>
        <p:spPr>
          <a:xfrm>
            <a:off x="2566416" y="1536192"/>
            <a:ext cx="1798320" cy="310896"/>
          </a:xfrm>
          <a:prstGeom prst="rect">
            <a:avLst/>
          </a:prstGeom>
          <a:noFill/>
          <a:ln/>
        </p:spPr>
        <p:txBody>
          <a:bodyPr wrap="square" lIns="0" tIns="0" rIns="0" bIns="0" rtlCol="0" anchor="ctr"/>
          <a:lstStyle/>
          <a:p>
            <a:pPr indent="0" marL="0">
              <a:buNone/>
            </a:pPr>
            <a:r>
              <a:rPr lang="en-US" sz="1750" b="1" dirty="0">
                <a:solidFill>
                  <a:srgbClr val="D6544D"/>
                </a:solidFill>
                <a:latin typeface="Calibri Light" pitchFamily="34" charset="0"/>
                <a:ea typeface="Calibri Light" pitchFamily="34" charset="-122"/>
                <a:cs typeface="Calibri Light" pitchFamily="34" charset="-120"/>
              </a:rPr>
              <a:t>82.4%</a:t>
            </a:r>
            <a:endParaRPr lang="en-US" sz="1750" dirty="0"/>
          </a:p>
        </p:txBody>
      </p:sp>
      <p:sp>
        <p:nvSpPr>
          <p:cNvPr id="28" name="Text 26"/>
          <p:cNvSpPr/>
          <p:nvPr/>
        </p:nvSpPr>
        <p:spPr>
          <a:xfrm>
            <a:off x="2566416" y="1865376"/>
            <a:ext cx="1798320"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Reliance 47.1% + DMart 35.3%</a:t>
            </a:r>
            <a:endParaRPr lang="en-US" sz="680" dirty="0"/>
          </a:p>
        </p:txBody>
      </p:sp>
      <p:sp>
        <p:nvSpPr>
          <p:cNvPr id="29" name="Shape 27"/>
          <p:cNvSpPr/>
          <p:nvPr/>
        </p:nvSpPr>
        <p:spPr>
          <a:xfrm>
            <a:off x="4556760" y="1261872"/>
            <a:ext cx="2036064" cy="859536"/>
          </a:xfrm>
          <a:prstGeom prst="rect">
            <a:avLst/>
          </a:prstGeom>
          <a:solidFill>
            <a:srgbClr val="FFFFFF"/>
          </a:solidFill>
          <a:ln w="9525">
            <a:solidFill>
              <a:srgbClr val="C8DCD7"/>
            </a:solidFill>
            <a:prstDash val="solid"/>
          </a:ln>
        </p:spPr>
      </p:sp>
      <p:sp>
        <p:nvSpPr>
          <p:cNvPr id="30" name="Shape 28"/>
          <p:cNvSpPr/>
          <p:nvPr/>
        </p:nvSpPr>
        <p:spPr>
          <a:xfrm>
            <a:off x="4556760" y="1261872"/>
            <a:ext cx="64008" cy="859536"/>
          </a:xfrm>
          <a:prstGeom prst="rect">
            <a:avLst/>
          </a:prstGeom>
          <a:solidFill>
            <a:srgbClr val="F2B84B"/>
          </a:solidFill>
          <a:ln/>
        </p:spPr>
      </p:sp>
      <p:sp>
        <p:nvSpPr>
          <p:cNvPr id="31" name="Text 29"/>
          <p:cNvSpPr/>
          <p:nvPr/>
        </p:nvSpPr>
        <p:spPr>
          <a:xfrm>
            <a:off x="4712208" y="1353312"/>
            <a:ext cx="1798320" cy="173736"/>
          </a:xfrm>
          <a:prstGeom prst="rect">
            <a:avLst/>
          </a:prstGeom>
          <a:noFill/>
          <a:ln/>
        </p:spPr>
        <p:txBody>
          <a:bodyPr wrap="square" lIns="0" tIns="0" rIns="0" bIns="0" rtlCol="0" anchor="t"/>
          <a:lstStyle/>
          <a:p>
            <a:pPr indent="0" marL="0">
              <a:buNone/>
            </a:pPr>
            <a:r>
              <a:rPr lang="en-US" sz="680" b="1" spc="50" kern="0" dirty="0">
                <a:solidFill>
                  <a:srgbClr val="5F716E"/>
                </a:solidFill>
                <a:latin typeface="Calibri" pitchFamily="34" charset="0"/>
                <a:ea typeface="Calibri" pitchFamily="34" charset="-122"/>
                <a:cs typeface="Calibri" pitchFamily="34" charset="-120"/>
              </a:rPr>
              <a:t>SELLING EANs</a:t>
            </a:r>
            <a:endParaRPr lang="en-US" sz="680" dirty="0"/>
          </a:p>
        </p:txBody>
      </p:sp>
      <p:sp>
        <p:nvSpPr>
          <p:cNvPr id="32" name="Text 30"/>
          <p:cNvSpPr/>
          <p:nvPr/>
        </p:nvSpPr>
        <p:spPr>
          <a:xfrm>
            <a:off x="4712208" y="1536192"/>
            <a:ext cx="1798320" cy="310896"/>
          </a:xfrm>
          <a:prstGeom prst="rect">
            <a:avLst/>
          </a:prstGeom>
          <a:noFill/>
          <a:ln/>
        </p:spPr>
        <p:txBody>
          <a:bodyPr wrap="square" lIns="0" tIns="0" rIns="0" bIns="0" rtlCol="0" anchor="ctr"/>
          <a:lstStyle/>
          <a:p>
            <a:pPr indent="0" marL="0">
              <a:buNone/>
            </a:pPr>
            <a:r>
              <a:rPr lang="en-US" sz="1750" b="1" dirty="0">
                <a:solidFill>
                  <a:srgbClr val="F2B84B"/>
                </a:solidFill>
                <a:latin typeface="Calibri Light" pitchFamily="34" charset="0"/>
                <a:ea typeface="Calibri Light" pitchFamily="34" charset="-122"/>
                <a:cs typeface="Calibri Light" pitchFamily="34" charset="-120"/>
              </a:rPr>
              <a:t>58 / 60</a:t>
            </a:r>
            <a:endParaRPr lang="en-US" sz="1750" dirty="0"/>
          </a:p>
        </p:txBody>
      </p:sp>
      <p:sp>
        <p:nvSpPr>
          <p:cNvPr id="33" name="Text 31"/>
          <p:cNvSpPr/>
          <p:nvPr/>
        </p:nvSpPr>
        <p:spPr>
          <a:xfrm>
            <a:off x="4712208" y="1865376"/>
            <a:ext cx="1798320" cy="173736"/>
          </a:xfrm>
          <a:prstGeom prst="rect">
            <a:avLst/>
          </a:prstGeom>
          <a:noFill/>
          <a:ln/>
        </p:spPr>
        <p:txBody>
          <a:bodyPr wrap="square" lIns="0" tIns="0" rIns="0" bIns="0" rtlCol="0" anchor="t"/>
          <a:lstStyle/>
          <a:p>
            <a:pPr indent="0" marL="0">
              <a:buNone/>
            </a:pPr>
            <a:r>
              <a:rPr lang="en-US" sz="680" dirty="0">
                <a:solidFill>
                  <a:srgbClr val="5F716E"/>
                </a:solidFill>
                <a:latin typeface="Calibri" pitchFamily="34" charset="0"/>
                <a:ea typeface="Calibri" pitchFamily="34" charset="-122"/>
                <a:cs typeface="Calibri" pitchFamily="34" charset="-120"/>
              </a:rPr>
              <a:t>2 finalised with zero sale</a:t>
            </a:r>
            <a:endParaRPr lang="en-US" sz="680" dirty="0"/>
          </a:p>
        </p:txBody>
      </p:sp>
      <p:sp>
        <p:nvSpPr>
          <p:cNvPr id="34" name="Shape 32"/>
          <p:cNvSpPr/>
          <p:nvPr/>
        </p:nvSpPr>
        <p:spPr>
          <a:xfrm>
            <a:off x="265176" y="2231136"/>
            <a:ext cx="6327648" cy="713232"/>
          </a:xfrm>
          <a:prstGeom prst="roundRect">
            <a:avLst>
              <a:gd name="adj" fmla="val 3846"/>
            </a:avLst>
          </a:prstGeom>
          <a:solidFill>
            <a:srgbClr val="FBEDEC"/>
          </a:solidFill>
          <a:ln w="12700">
            <a:solidFill>
              <a:srgbClr val="D6544D"/>
            </a:solidFill>
            <a:prstDash val="solid"/>
          </a:ln>
        </p:spPr>
      </p:sp>
      <p:sp>
        <p:nvSpPr>
          <p:cNvPr id="35" name="Text 33"/>
          <p:cNvSpPr/>
          <p:nvPr/>
        </p:nvSpPr>
        <p:spPr>
          <a:xfrm>
            <a:off x="411480" y="2304288"/>
            <a:ext cx="6035040" cy="256032"/>
          </a:xfrm>
          <a:prstGeom prst="rect">
            <a:avLst/>
          </a:prstGeom>
          <a:noFill/>
          <a:ln/>
        </p:spPr>
        <p:txBody>
          <a:bodyPr wrap="square" lIns="0" tIns="0" rIns="0" bIns="0" rtlCol="0" anchor="ctr"/>
          <a:lstStyle/>
          <a:p>
            <a:pPr algn="ctr" indent="0" marL="0">
              <a:buNone/>
            </a:pPr>
            <a:r>
              <a:rPr lang="en-US" sz="1000" b="1" dirty="0">
                <a:solidFill>
                  <a:srgbClr val="D6544D"/>
                </a:solidFill>
                <a:latin typeface="Calibri Light" pitchFamily="34" charset="0"/>
                <a:ea typeface="Calibri Light" pitchFamily="34" charset="-122"/>
                <a:cs typeface="Calibri Light" pitchFamily="34" charset="-120"/>
              </a:rPr>
              <a:t>New products are being launched through the weakest pipes in the network.</a:t>
            </a:r>
            <a:endParaRPr lang="en-US" sz="1000" dirty="0"/>
          </a:p>
        </p:txBody>
      </p:sp>
      <p:sp>
        <p:nvSpPr>
          <p:cNvPr id="36" name="Text 34"/>
          <p:cNvSpPr/>
          <p:nvPr/>
        </p:nvSpPr>
        <p:spPr>
          <a:xfrm>
            <a:off x="484632" y="2578608"/>
            <a:ext cx="5888736" cy="292608"/>
          </a:xfrm>
          <a:prstGeom prst="rect">
            <a:avLst/>
          </a:prstGeom>
          <a:noFill/>
          <a:ln/>
        </p:spPr>
        <p:txBody>
          <a:bodyPr wrap="square" lIns="0" tIns="0" rIns="0" bIns="0" rtlCol="0" anchor="t"/>
          <a:lstStyle/>
          <a:p>
            <a:pPr algn="ctr" indent="0" marL="0">
              <a:lnSpc>
                <a:spcPct val="94000"/>
              </a:lnSpc>
              <a:buNone/>
            </a:pPr>
            <a:r>
              <a:rPr lang="en-US" sz="720" dirty="0">
                <a:solidFill>
                  <a:srgbClr val="183B39"/>
                </a:solidFill>
                <a:latin typeface="Calibri" pitchFamily="34" charset="0"/>
                <a:ea typeface="Calibri" pitchFamily="34" charset="-122"/>
                <a:cs typeface="Calibri" pitchFamily="34" charset="-120"/>
              </a:rPr>
              <a:t>Reliance holds 47.1% of all NPI value and converts at 51.4%. East runs the highest NPI mix in the country (10.2%) on the worst flow (49.9%). A launch that fails here will be read as a product failure when it is a flow failure.</a:t>
            </a:r>
            <a:endParaRPr lang="en-US" sz="720" dirty="0"/>
          </a:p>
        </p:txBody>
      </p:sp>
      <p:sp>
        <p:nvSpPr>
          <p:cNvPr id="37" name="Text 35"/>
          <p:cNvSpPr/>
          <p:nvPr/>
        </p:nvSpPr>
        <p:spPr>
          <a:xfrm>
            <a:off x="265176" y="3090672"/>
            <a:ext cx="3090672"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NPI mix by zone (%), coloured by zone flow conversion</a:t>
            </a:r>
            <a:endParaRPr lang="en-US" sz="720" dirty="0"/>
          </a:p>
        </p:txBody>
      </p:sp>
      <p:graphicFrame>
        <p:nvGraphicFramePr>
          <p:cNvPr id="38" name="Chart 0" descr=""/>
          <p:cNvGraphicFramePr/>
          <p:nvPr/>
        </p:nvGraphicFramePr>
        <p:xfrm>
          <a:off x="246888" y="3291840"/>
          <a:ext cx="3090672" cy="1975104"/>
        </p:xfrm>
        <a:graphic xmlns:a="http://schemas.openxmlformats.org/drawingml/2006/main">
          <a:graphicData uri="http://schemas.openxmlformats.org/drawingml/2006/chart">
            <c:chart xmlns:c="http://schemas.openxmlformats.org/drawingml/2006/chart" r:id="rId1"/>
          </a:graphicData>
        </a:graphic>
      </p:graphicFrame>
      <p:sp>
        <p:nvSpPr>
          <p:cNvPr id="39" name="Text 36"/>
          <p:cNvSpPr/>
          <p:nvPr/>
        </p:nvSpPr>
        <p:spPr>
          <a:xfrm>
            <a:off x="265176" y="5303520"/>
            <a:ext cx="3090672" cy="237744"/>
          </a:xfrm>
          <a:prstGeom prst="rect">
            <a:avLst/>
          </a:prstGeom>
          <a:noFill/>
          <a:ln/>
        </p:spPr>
        <p:txBody>
          <a:bodyPr wrap="square" lIns="0" tIns="0" rIns="0" bIns="0" rtlCol="0" anchor="t"/>
          <a:lstStyle/>
          <a:p>
            <a:pPr indent="0" marL="0">
              <a:lnSpc>
                <a:spcPct val="92000"/>
              </a:lnSpc>
              <a:buNone/>
            </a:pPr>
            <a:r>
              <a:rPr lang="en-US" sz="640" dirty="0">
                <a:solidFill>
                  <a:srgbClr val="5F716E"/>
                </a:solidFill>
                <a:latin typeface="Calibri" pitchFamily="34" charset="0"/>
                <a:ea typeface="Calibri" pitchFamily="34" charset="-122"/>
                <a:cs typeface="Calibri" pitchFamily="34" charset="-120"/>
              </a:rPr>
              <a:t>Bar colour is zone flow conversion: green above 78%, amber 70–78%, red below 60%. The two red zones carry the highest NPI exposure.</a:t>
            </a:r>
            <a:endParaRPr lang="en-US" sz="640" dirty="0"/>
          </a:p>
        </p:txBody>
      </p:sp>
      <p:sp>
        <p:nvSpPr>
          <p:cNvPr id="40" name="Text 37"/>
          <p:cNvSpPr/>
          <p:nvPr/>
        </p:nvSpPr>
        <p:spPr>
          <a:xfrm>
            <a:off x="3502152" y="3090672"/>
            <a:ext cx="3090672"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NPI offtake by chain (₹ Cr)</a:t>
            </a:r>
            <a:endParaRPr lang="en-US" sz="720" dirty="0"/>
          </a:p>
        </p:txBody>
      </p:sp>
      <p:graphicFrame>
        <p:nvGraphicFramePr>
          <p:cNvPr id="41" name="Chart 1" descr=""/>
          <p:cNvGraphicFramePr/>
          <p:nvPr/>
        </p:nvGraphicFramePr>
        <p:xfrm>
          <a:off x="3447288" y="3291840"/>
          <a:ext cx="3127248" cy="1975104"/>
        </p:xfrm>
        <a:graphic xmlns:a="http://schemas.openxmlformats.org/drawingml/2006/main">
          <a:graphicData uri="http://schemas.openxmlformats.org/drawingml/2006/chart">
            <c:chart xmlns:c="http://schemas.openxmlformats.org/drawingml/2006/chart" r:id="rId2"/>
          </a:graphicData>
        </a:graphic>
      </p:graphicFrame>
      <p:sp>
        <p:nvSpPr>
          <p:cNvPr id="42" name="Text 38"/>
          <p:cNvSpPr/>
          <p:nvPr/>
        </p:nvSpPr>
        <p:spPr>
          <a:xfrm>
            <a:off x="3502152" y="5303520"/>
            <a:ext cx="3090672" cy="237744"/>
          </a:xfrm>
          <a:prstGeom prst="rect">
            <a:avLst/>
          </a:prstGeom>
          <a:noFill/>
          <a:ln/>
        </p:spPr>
        <p:txBody>
          <a:bodyPr wrap="square" lIns="0" tIns="0" rIns="0" bIns="0" rtlCol="0" anchor="t"/>
          <a:lstStyle/>
          <a:p>
            <a:pPr indent="0" marL="0">
              <a:lnSpc>
                <a:spcPct val="92000"/>
              </a:lnSpc>
              <a:buNone/>
            </a:pPr>
            <a:r>
              <a:rPr lang="en-US" sz="640" dirty="0">
                <a:solidFill>
                  <a:srgbClr val="5F716E"/>
                </a:solidFill>
                <a:latin typeface="Calibri" pitchFamily="34" charset="0"/>
                <a:ea typeface="Calibri" pitchFamily="34" charset="-122"/>
                <a:cs typeface="Calibri" pitchFamily="34" charset="-120"/>
              </a:rPr>
              <a:t>Reliance ₹1.30 Cr and DMart ₹0.98 Cr together are 82.4% of all NPI value. Converted from a source series reported in ₹ lakh.</a:t>
            </a:r>
            <a:endParaRPr lang="en-US" sz="640" dirty="0"/>
          </a:p>
        </p:txBody>
      </p:sp>
      <p:sp>
        <p:nvSpPr>
          <p:cNvPr id="43" name="Shape 39"/>
          <p:cNvSpPr/>
          <p:nvPr/>
        </p:nvSpPr>
        <p:spPr>
          <a:xfrm>
            <a:off x="265176" y="5614416"/>
            <a:ext cx="6327648" cy="256032"/>
          </a:xfrm>
          <a:prstGeom prst="rect">
            <a:avLst/>
          </a:prstGeom>
          <a:solidFill>
            <a:srgbClr val="116F68"/>
          </a:solidFill>
          <a:ln/>
        </p:spPr>
      </p:sp>
      <p:sp>
        <p:nvSpPr>
          <p:cNvPr id="44" name="Text 40"/>
          <p:cNvSpPr/>
          <p:nvPr/>
        </p:nvSpPr>
        <p:spPr>
          <a:xfrm>
            <a:off x="374904" y="5632704"/>
            <a:ext cx="6108192" cy="219456"/>
          </a:xfrm>
          <a:prstGeom prst="rect">
            <a:avLst/>
          </a:prstGeom>
          <a:noFill/>
          <a:ln/>
        </p:spPr>
        <p:txBody>
          <a:bodyPr wrap="square" lIns="0" tIns="0" rIns="0" bIns="0" rtlCol="0" anchor="ctr"/>
          <a:lstStyle/>
          <a:p>
            <a:pPr indent="0" marL="0">
              <a:buNone/>
            </a:pPr>
            <a:r>
              <a:rPr lang="en-US" sz="720" b="1" spc="60" kern="0" dirty="0">
                <a:solidFill>
                  <a:srgbClr val="FFFFFF"/>
                </a:solidFill>
                <a:latin typeface="Calibri" pitchFamily="34" charset="0"/>
                <a:ea typeface="Calibri" pitchFamily="34" charset="-122"/>
                <a:cs typeface="Calibri" pitchFamily="34" charset="-120"/>
              </a:rPr>
              <a:t>TOP NPI ARTICLES — FULL NAMES, JULY OFFTAKE</a:t>
            </a:r>
            <a:endParaRPr lang="en-US" sz="720" dirty="0"/>
          </a:p>
        </p:txBody>
      </p:sp>
      <p:sp>
        <p:nvSpPr>
          <p:cNvPr id="45" name="Shape 41"/>
          <p:cNvSpPr/>
          <p:nvPr/>
        </p:nvSpPr>
        <p:spPr>
          <a:xfrm>
            <a:off x="265176" y="5961888"/>
            <a:ext cx="6327648" cy="256032"/>
          </a:xfrm>
          <a:prstGeom prst="rect">
            <a:avLst/>
          </a:prstGeom>
          <a:solidFill>
            <a:srgbClr val="116F68"/>
          </a:solidFill>
          <a:ln/>
        </p:spPr>
      </p:sp>
      <p:sp>
        <p:nvSpPr>
          <p:cNvPr id="46" name="Text 42"/>
          <p:cNvSpPr/>
          <p:nvPr/>
        </p:nvSpPr>
        <p:spPr>
          <a:xfrm>
            <a:off x="320040" y="5980176"/>
            <a:ext cx="109547"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a:t>
            </a:r>
            <a:endParaRPr lang="en-US" sz="660" dirty="0"/>
          </a:p>
        </p:txBody>
      </p:sp>
      <p:sp>
        <p:nvSpPr>
          <p:cNvPr id="47" name="Text 43"/>
          <p:cNvSpPr/>
          <p:nvPr/>
        </p:nvSpPr>
        <p:spPr>
          <a:xfrm>
            <a:off x="539315" y="5980176"/>
            <a:ext cx="2317959" cy="219456"/>
          </a:xfrm>
          <a:prstGeom prst="rect">
            <a:avLst/>
          </a:prstGeom>
          <a:noFill/>
          <a:ln/>
        </p:spPr>
        <p:txBody>
          <a:bodyPr wrap="square" lIns="0" tIns="0" rIns="0" bIns="0" rtlCol="0" anchor="ctr"/>
          <a:lstStyle/>
          <a:p>
            <a:pPr algn="l" indent="0" marL="0">
              <a:buNone/>
            </a:pPr>
            <a:r>
              <a:rPr lang="en-US" sz="660" b="1" spc="40" kern="0" dirty="0">
                <a:solidFill>
                  <a:srgbClr val="FFFFFF"/>
                </a:solidFill>
                <a:latin typeface="Calibri" pitchFamily="34" charset="0"/>
                <a:ea typeface="Calibri" pitchFamily="34" charset="-122"/>
                <a:cs typeface="Calibri" pitchFamily="34" charset="-120"/>
              </a:rPr>
              <a:t>ARTICLE</a:t>
            </a:r>
            <a:endParaRPr lang="en-US" sz="660" dirty="0"/>
          </a:p>
        </p:txBody>
      </p:sp>
      <p:sp>
        <p:nvSpPr>
          <p:cNvPr id="48" name="Text 44"/>
          <p:cNvSpPr/>
          <p:nvPr/>
        </p:nvSpPr>
        <p:spPr>
          <a:xfrm>
            <a:off x="2967002" y="5980176"/>
            <a:ext cx="407134"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 Cr</a:t>
            </a:r>
            <a:endParaRPr lang="en-US" sz="660" dirty="0"/>
          </a:p>
        </p:txBody>
      </p:sp>
      <p:sp>
        <p:nvSpPr>
          <p:cNvPr id="49" name="Text 45"/>
          <p:cNvSpPr/>
          <p:nvPr/>
        </p:nvSpPr>
        <p:spPr>
          <a:xfrm>
            <a:off x="3483864" y="5980176"/>
            <a:ext cx="109547"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a:t>
            </a:r>
            <a:endParaRPr lang="en-US" sz="660" dirty="0"/>
          </a:p>
        </p:txBody>
      </p:sp>
      <p:sp>
        <p:nvSpPr>
          <p:cNvPr id="50" name="Text 46"/>
          <p:cNvSpPr/>
          <p:nvPr/>
        </p:nvSpPr>
        <p:spPr>
          <a:xfrm>
            <a:off x="3703139" y="5980176"/>
            <a:ext cx="2317959" cy="219456"/>
          </a:xfrm>
          <a:prstGeom prst="rect">
            <a:avLst/>
          </a:prstGeom>
          <a:noFill/>
          <a:ln/>
        </p:spPr>
        <p:txBody>
          <a:bodyPr wrap="square" lIns="0" tIns="0" rIns="0" bIns="0" rtlCol="0" anchor="ctr"/>
          <a:lstStyle/>
          <a:p>
            <a:pPr algn="l" indent="0" marL="0">
              <a:buNone/>
            </a:pPr>
            <a:r>
              <a:rPr lang="en-US" sz="660" b="1" spc="40" kern="0" dirty="0">
                <a:solidFill>
                  <a:srgbClr val="FFFFFF"/>
                </a:solidFill>
                <a:latin typeface="Calibri" pitchFamily="34" charset="0"/>
                <a:ea typeface="Calibri" pitchFamily="34" charset="-122"/>
                <a:cs typeface="Calibri" pitchFamily="34" charset="-120"/>
              </a:rPr>
              <a:t>ARTICLE</a:t>
            </a:r>
            <a:endParaRPr lang="en-US" sz="660" dirty="0"/>
          </a:p>
        </p:txBody>
      </p:sp>
      <p:sp>
        <p:nvSpPr>
          <p:cNvPr id="51" name="Text 47"/>
          <p:cNvSpPr/>
          <p:nvPr/>
        </p:nvSpPr>
        <p:spPr>
          <a:xfrm>
            <a:off x="6130826" y="5980176"/>
            <a:ext cx="407134"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 Cr</a:t>
            </a:r>
            <a:endParaRPr lang="en-US" sz="660" dirty="0"/>
          </a:p>
        </p:txBody>
      </p:sp>
      <p:sp>
        <p:nvSpPr>
          <p:cNvPr id="52" name="Shape 48"/>
          <p:cNvSpPr/>
          <p:nvPr/>
        </p:nvSpPr>
        <p:spPr>
          <a:xfrm>
            <a:off x="265176" y="6217920"/>
            <a:ext cx="6327648" cy="274320"/>
          </a:xfrm>
          <a:prstGeom prst="rect">
            <a:avLst/>
          </a:prstGeom>
          <a:solidFill>
            <a:srgbClr val="F4F9F8"/>
          </a:solidFill>
          <a:ln/>
        </p:spPr>
      </p:sp>
      <p:sp>
        <p:nvSpPr>
          <p:cNvPr id="53" name="Shape 49"/>
          <p:cNvSpPr/>
          <p:nvPr/>
        </p:nvSpPr>
        <p:spPr>
          <a:xfrm>
            <a:off x="265176" y="6492240"/>
            <a:ext cx="6327648" cy="0"/>
          </a:xfrm>
          <a:prstGeom prst="line">
            <a:avLst/>
          </a:prstGeom>
          <a:noFill/>
          <a:ln w="6350">
            <a:solidFill>
              <a:srgbClr val="C8DCD7"/>
            </a:solidFill>
            <a:prstDash val="solid"/>
          </a:ln>
        </p:spPr>
      </p:sp>
      <p:sp>
        <p:nvSpPr>
          <p:cNvPr id="54" name="Text 50"/>
          <p:cNvSpPr/>
          <p:nvPr/>
        </p:nvSpPr>
        <p:spPr>
          <a:xfrm>
            <a:off x="320040" y="6217920"/>
            <a:ext cx="109547" cy="274320"/>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1</a:t>
            </a:r>
            <a:endParaRPr lang="en-US" sz="700" dirty="0"/>
          </a:p>
        </p:txBody>
      </p:sp>
      <p:sp>
        <p:nvSpPr>
          <p:cNvPr id="55" name="Text 51"/>
          <p:cNvSpPr/>
          <p:nvPr/>
        </p:nvSpPr>
        <p:spPr>
          <a:xfrm>
            <a:off x="539315" y="6217920"/>
            <a:ext cx="2317959" cy="274320"/>
          </a:xfrm>
          <a:prstGeom prst="rect">
            <a:avLst/>
          </a:prstGeom>
          <a:noFill/>
          <a:ln/>
        </p:spPr>
        <p:txBody>
          <a:bodyPr wrap="square" lIns="0" tIns="0" rIns="0" bIns="0" rtlCol="0" anchor="ctr"/>
          <a:lstStyle/>
          <a:p>
            <a:pPr algn="l" indent="0" marL="0">
              <a:buNone/>
            </a:pPr>
            <a:r>
              <a:rPr lang="en-US" sz="700" b="1" dirty="0">
                <a:solidFill>
                  <a:srgbClr val="183B39"/>
                </a:solidFill>
                <a:latin typeface="Calibri" pitchFamily="34" charset="0"/>
                <a:ea typeface="Calibri" pitchFamily="34" charset="-122"/>
                <a:cs typeface="Calibri" pitchFamily="34" charset="-120"/>
              </a:rPr>
              <a:t>ME Onion Hair Fall Control Shampoo</a:t>
            </a:r>
            <a:endParaRPr lang="en-US" sz="700" dirty="0"/>
          </a:p>
        </p:txBody>
      </p:sp>
      <p:sp>
        <p:nvSpPr>
          <p:cNvPr id="56" name="Text 52"/>
          <p:cNvSpPr/>
          <p:nvPr/>
        </p:nvSpPr>
        <p:spPr>
          <a:xfrm>
            <a:off x="2967002" y="6217920"/>
            <a:ext cx="407134" cy="274320"/>
          </a:xfrm>
          <a:prstGeom prst="rect">
            <a:avLst/>
          </a:prstGeom>
          <a:noFill/>
          <a:ln/>
        </p:spPr>
        <p:txBody>
          <a:bodyPr wrap="square" lIns="0" tIns="0" rIns="0" bIns="0" rtlCol="0" anchor="ctr"/>
          <a:lstStyle/>
          <a:p>
            <a:pPr algn="r" indent="0" marL="0">
              <a:buNone/>
            </a:pPr>
            <a:r>
              <a:rPr lang="en-US" sz="700" b="1" dirty="0">
                <a:solidFill>
                  <a:srgbClr val="183B39"/>
                </a:solidFill>
                <a:latin typeface="Calibri" pitchFamily="34" charset="0"/>
                <a:ea typeface="Calibri" pitchFamily="34" charset="-122"/>
                <a:cs typeface="Calibri" pitchFamily="34" charset="-120"/>
              </a:rPr>
              <a:t>0.31</a:t>
            </a:r>
            <a:endParaRPr lang="en-US" sz="700" dirty="0"/>
          </a:p>
        </p:txBody>
      </p:sp>
      <p:sp>
        <p:nvSpPr>
          <p:cNvPr id="57" name="Text 53"/>
          <p:cNvSpPr/>
          <p:nvPr/>
        </p:nvSpPr>
        <p:spPr>
          <a:xfrm>
            <a:off x="3483864" y="6217920"/>
            <a:ext cx="109547" cy="274320"/>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2</a:t>
            </a:r>
            <a:endParaRPr lang="en-US" sz="700" dirty="0"/>
          </a:p>
        </p:txBody>
      </p:sp>
      <p:sp>
        <p:nvSpPr>
          <p:cNvPr id="58" name="Text 54"/>
          <p:cNvSpPr/>
          <p:nvPr/>
        </p:nvSpPr>
        <p:spPr>
          <a:xfrm>
            <a:off x="3703139" y="6217920"/>
            <a:ext cx="2317959" cy="274320"/>
          </a:xfrm>
          <a:prstGeom prst="rect">
            <a:avLst/>
          </a:prstGeom>
          <a:noFill/>
          <a:ln/>
        </p:spPr>
        <p:txBody>
          <a:bodyPr wrap="square" lIns="0" tIns="0" rIns="0" bIns="0" rtlCol="0" anchor="ctr"/>
          <a:lstStyle/>
          <a:p>
            <a:pPr algn="l" indent="0" marL="0">
              <a:buNone/>
            </a:pPr>
            <a:r>
              <a:rPr lang="en-US" sz="700" b="1" dirty="0">
                <a:solidFill>
                  <a:srgbClr val="183B39"/>
                </a:solidFill>
                <a:latin typeface="Calibri" pitchFamily="34" charset="0"/>
                <a:ea typeface="Calibri" pitchFamily="34" charset="-122"/>
                <a:cs typeface="Calibri" pitchFamily="34" charset="-120"/>
              </a:rPr>
              <a:t>ME Onion Hair Oil 200 ml</a:t>
            </a:r>
            <a:endParaRPr lang="en-US" sz="700" dirty="0"/>
          </a:p>
        </p:txBody>
      </p:sp>
      <p:sp>
        <p:nvSpPr>
          <p:cNvPr id="59" name="Text 55"/>
          <p:cNvSpPr/>
          <p:nvPr/>
        </p:nvSpPr>
        <p:spPr>
          <a:xfrm>
            <a:off x="6130826" y="6217920"/>
            <a:ext cx="407134" cy="274320"/>
          </a:xfrm>
          <a:prstGeom prst="rect">
            <a:avLst/>
          </a:prstGeom>
          <a:noFill/>
          <a:ln/>
        </p:spPr>
        <p:txBody>
          <a:bodyPr wrap="square" lIns="0" tIns="0" rIns="0" bIns="0" rtlCol="0" anchor="ctr"/>
          <a:lstStyle/>
          <a:p>
            <a:pPr algn="r" indent="0" marL="0">
              <a:buNone/>
            </a:pPr>
            <a:r>
              <a:rPr lang="en-US" sz="700" b="1" dirty="0">
                <a:solidFill>
                  <a:srgbClr val="183B39"/>
                </a:solidFill>
                <a:latin typeface="Calibri" pitchFamily="34" charset="0"/>
                <a:ea typeface="Calibri" pitchFamily="34" charset="-122"/>
                <a:cs typeface="Calibri" pitchFamily="34" charset="-120"/>
              </a:rPr>
              <a:t>0.30</a:t>
            </a:r>
            <a:endParaRPr lang="en-US" sz="700" dirty="0"/>
          </a:p>
        </p:txBody>
      </p:sp>
      <p:sp>
        <p:nvSpPr>
          <p:cNvPr id="60" name="Shape 56"/>
          <p:cNvSpPr/>
          <p:nvPr/>
        </p:nvSpPr>
        <p:spPr>
          <a:xfrm>
            <a:off x="265176" y="6766560"/>
            <a:ext cx="6327648" cy="0"/>
          </a:xfrm>
          <a:prstGeom prst="line">
            <a:avLst/>
          </a:prstGeom>
          <a:noFill/>
          <a:ln w="6350">
            <a:solidFill>
              <a:srgbClr val="C8DCD7"/>
            </a:solidFill>
            <a:prstDash val="solid"/>
          </a:ln>
        </p:spPr>
      </p:sp>
      <p:sp>
        <p:nvSpPr>
          <p:cNvPr id="61" name="Text 57"/>
          <p:cNvSpPr/>
          <p:nvPr/>
        </p:nvSpPr>
        <p:spPr>
          <a:xfrm>
            <a:off x="320040" y="6492240"/>
            <a:ext cx="109547" cy="274320"/>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3</a:t>
            </a:r>
            <a:endParaRPr lang="en-US" sz="700" dirty="0"/>
          </a:p>
        </p:txBody>
      </p:sp>
      <p:sp>
        <p:nvSpPr>
          <p:cNvPr id="62" name="Text 58"/>
          <p:cNvSpPr/>
          <p:nvPr/>
        </p:nvSpPr>
        <p:spPr>
          <a:xfrm>
            <a:off x="539315" y="6492240"/>
            <a:ext cx="2317959" cy="274320"/>
          </a:xfrm>
          <a:prstGeom prst="rect">
            <a:avLst/>
          </a:prstGeom>
          <a:noFill/>
          <a:ln/>
        </p:spPr>
        <p:txBody>
          <a:bodyPr wrap="square" lIns="0" tIns="0" rIns="0" bIns="0" rtlCol="0" anchor="ctr"/>
          <a:lstStyle/>
          <a:p>
            <a:pPr algn="l" indent="0" marL="0">
              <a:buNone/>
            </a:pPr>
            <a:r>
              <a:rPr lang="en-US" sz="700" dirty="0">
                <a:solidFill>
                  <a:srgbClr val="183B39"/>
                </a:solidFill>
                <a:latin typeface="Calibri" pitchFamily="34" charset="0"/>
                <a:ea typeface="Calibri" pitchFamily="34" charset="-122"/>
                <a:cs typeface="Calibri" pitchFamily="34" charset="-120"/>
              </a:rPr>
              <a:t>ME Gentle Cleansing Shampoo 400 ml</a:t>
            </a:r>
            <a:endParaRPr lang="en-US" sz="700" dirty="0"/>
          </a:p>
        </p:txBody>
      </p:sp>
      <p:sp>
        <p:nvSpPr>
          <p:cNvPr id="63" name="Text 59"/>
          <p:cNvSpPr/>
          <p:nvPr/>
        </p:nvSpPr>
        <p:spPr>
          <a:xfrm>
            <a:off x="2967002" y="6492240"/>
            <a:ext cx="407134" cy="274320"/>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0.21</a:t>
            </a:r>
            <a:endParaRPr lang="en-US" sz="700" dirty="0"/>
          </a:p>
        </p:txBody>
      </p:sp>
      <p:sp>
        <p:nvSpPr>
          <p:cNvPr id="64" name="Text 60"/>
          <p:cNvSpPr/>
          <p:nvPr/>
        </p:nvSpPr>
        <p:spPr>
          <a:xfrm>
            <a:off x="3483864" y="6492240"/>
            <a:ext cx="109547" cy="274320"/>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4</a:t>
            </a:r>
            <a:endParaRPr lang="en-US" sz="700" dirty="0"/>
          </a:p>
        </p:txBody>
      </p:sp>
      <p:sp>
        <p:nvSpPr>
          <p:cNvPr id="65" name="Text 61"/>
          <p:cNvSpPr/>
          <p:nvPr/>
        </p:nvSpPr>
        <p:spPr>
          <a:xfrm>
            <a:off x="3703139" y="6492240"/>
            <a:ext cx="2317959" cy="274320"/>
          </a:xfrm>
          <a:prstGeom prst="rect">
            <a:avLst/>
          </a:prstGeom>
          <a:noFill/>
          <a:ln/>
        </p:spPr>
        <p:txBody>
          <a:bodyPr wrap="square" lIns="0" tIns="0" rIns="0" bIns="0" rtlCol="0" anchor="ctr"/>
          <a:lstStyle/>
          <a:p>
            <a:pPr algn="l" indent="0" marL="0">
              <a:buNone/>
            </a:pPr>
            <a:r>
              <a:rPr lang="en-US" sz="700" dirty="0">
                <a:solidFill>
                  <a:srgbClr val="183B39"/>
                </a:solidFill>
                <a:latin typeface="Calibri" pitchFamily="34" charset="0"/>
                <a:ea typeface="Calibri" pitchFamily="34" charset="-122"/>
                <a:cs typeface="Calibri" pitchFamily="34" charset="-120"/>
              </a:rPr>
              <a:t>ME Multani Mitti Face Wash 100 ml</a:t>
            </a:r>
            <a:endParaRPr lang="en-US" sz="700" dirty="0"/>
          </a:p>
        </p:txBody>
      </p:sp>
      <p:sp>
        <p:nvSpPr>
          <p:cNvPr id="66" name="Text 62"/>
          <p:cNvSpPr/>
          <p:nvPr/>
        </p:nvSpPr>
        <p:spPr>
          <a:xfrm>
            <a:off x="6130826" y="6492240"/>
            <a:ext cx="407134" cy="274320"/>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0.20</a:t>
            </a:r>
            <a:endParaRPr lang="en-US" sz="700" dirty="0"/>
          </a:p>
        </p:txBody>
      </p:sp>
      <p:sp>
        <p:nvSpPr>
          <p:cNvPr id="67" name="Shape 63"/>
          <p:cNvSpPr/>
          <p:nvPr/>
        </p:nvSpPr>
        <p:spPr>
          <a:xfrm>
            <a:off x="265176" y="6766560"/>
            <a:ext cx="6327648" cy="274320"/>
          </a:xfrm>
          <a:prstGeom prst="rect">
            <a:avLst/>
          </a:prstGeom>
          <a:solidFill>
            <a:srgbClr val="F4F9F8"/>
          </a:solidFill>
          <a:ln/>
        </p:spPr>
      </p:sp>
      <p:sp>
        <p:nvSpPr>
          <p:cNvPr id="68" name="Shape 64"/>
          <p:cNvSpPr/>
          <p:nvPr/>
        </p:nvSpPr>
        <p:spPr>
          <a:xfrm>
            <a:off x="265176" y="7040880"/>
            <a:ext cx="6327648" cy="0"/>
          </a:xfrm>
          <a:prstGeom prst="line">
            <a:avLst/>
          </a:prstGeom>
          <a:noFill/>
          <a:ln w="6350">
            <a:solidFill>
              <a:srgbClr val="C8DCD7"/>
            </a:solidFill>
            <a:prstDash val="solid"/>
          </a:ln>
        </p:spPr>
      </p:sp>
      <p:sp>
        <p:nvSpPr>
          <p:cNvPr id="69" name="Text 65"/>
          <p:cNvSpPr/>
          <p:nvPr/>
        </p:nvSpPr>
        <p:spPr>
          <a:xfrm>
            <a:off x="320040" y="6766560"/>
            <a:ext cx="109547" cy="274320"/>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5</a:t>
            </a:r>
            <a:endParaRPr lang="en-US" sz="700" dirty="0"/>
          </a:p>
        </p:txBody>
      </p:sp>
      <p:sp>
        <p:nvSpPr>
          <p:cNvPr id="70" name="Text 66"/>
          <p:cNvSpPr/>
          <p:nvPr/>
        </p:nvSpPr>
        <p:spPr>
          <a:xfrm>
            <a:off x="539315" y="6766560"/>
            <a:ext cx="2317959" cy="274320"/>
          </a:xfrm>
          <a:prstGeom prst="rect">
            <a:avLst/>
          </a:prstGeom>
          <a:noFill/>
          <a:ln/>
        </p:spPr>
        <p:txBody>
          <a:bodyPr wrap="square" lIns="0" tIns="0" rIns="0" bIns="0" rtlCol="0" anchor="ctr"/>
          <a:lstStyle/>
          <a:p>
            <a:pPr algn="l" indent="0" marL="0">
              <a:buNone/>
            </a:pPr>
            <a:r>
              <a:rPr lang="en-US" sz="700" dirty="0">
                <a:solidFill>
                  <a:srgbClr val="183B39"/>
                </a:solidFill>
                <a:latin typeface="Calibri" pitchFamily="34" charset="0"/>
                <a:ea typeface="Calibri" pitchFamily="34" charset="-122"/>
                <a:cs typeface="Calibri" pitchFamily="34" charset="-120"/>
              </a:rPr>
              <a:t>ME Vitamin C Daily Glow Sunscreen</a:t>
            </a:r>
            <a:endParaRPr lang="en-US" sz="700" dirty="0"/>
          </a:p>
        </p:txBody>
      </p:sp>
      <p:sp>
        <p:nvSpPr>
          <p:cNvPr id="71" name="Text 67"/>
          <p:cNvSpPr/>
          <p:nvPr/>
        </p:nvSpPr>
        <p:spPr>
          <a:xfrm>
            <a:off x="2967002" y="6766560"/>
            <a:ext cx="407134" cy="274320"/>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0.20</a:t>
            </a:r>
            <a:endParaRPr lang="en-US" sz="700" dirty="0"/>
          </a:p>
        </p:txBody>
      </p:sp>
      <p:sp>
        <p:nvSpPr>
          <p:cNvPr id="72" name="Text 68"/>
          <p:cNvSpPr/>
          <p:nvPr/>
        </p:nvSpPr>
        <p:spPr>
          <a:xfrm>
            <a:off x="3483864" y="6766560"/>
            <a:ext cx="109547" cy="274320"/>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6</a:t>
            </a:r>
            <a:endParaRPr lang="en-US" sz="700" dirty="0"/>
          </a:p>
        </p:txBody>
      </p:sp>
      <p:sp>
        <p:nvSpPr>
          <p:cNvPr id="73" name="Text 69"/>
          <p:cNvSpPr/>
          <p:nvPr/>
        </p:nvSpPr>
        <p:spPr>
          <a:xfrm>
            <a:off x="3703139" y="6766560"/>
            <a:ext cx="2317959" cy="274320"/>
          </a:xfrm>
          <a:prstGeom prst="rect">
            <a:avLst/>
          </a:prstGeom>
          <a:noFill/>
          <a:ln/>
        </p:spPr>
        <p:txBody>
          <a:bodyPr wrap="square" lIns="0" tIns="0" rIns="0" bIns="0" rtlCol="0" anchor="ctr"/>
          <a:lstStyle/>
          <a:p>
            <a:pPr algn="l" indent="0" marL="0">
              <a:buNone/>
            </a:pPr>
            <a:r>
              <a:rPr lang="en-US" sz="700" dirty="0">
                <a:solidFill>
                  <a:srgbClr val="183B39"/>
                </a:solidFill>
                <a:latin typeface="Calibri" pitchFamily="34" charset="0"/>
                <a:ea typeface="Calibri" pitchFamily="34" charset="-122"/>
                <a:cs typeface="Calibri" pitchFamily="34" charset="-120"/>
              </a:rPr>
              <a:t>ME Lemon Anti-Dandruff Shampoo</a:t>
            </a:r>
            <a:endParaRPr lang="en-US" sz="700" dirty="0"/>
          </a:p>
        </p:txBody>
      </p:sp>
      <p:sp>
        <p:nvSpPr>
          <p:cNvPr id="74" name="Text 70"/>
          <p:cNvSpPr/>
          <p:nvPr/>
        </p:nvSpPr>
        <p:spPr>
          <a:xfrm>
            <a:off x="6130826" y="6766560"/>
            <a:ext cx="407134" cy="274320"/>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0.19</a:t>
            </a:r>
            <a:endParaRPr lang="en-US" sz="700" dirty="0"/>
          </a:p>
        </p:txBody>
      </p:sp>
      <p:sp>
        <p:nvSpPr>
          <p:cNvPr id="75" name="Shape 71"/>
          <p:cNvSpPr/>
          <p:nvPr/>
        </p:nvSpPr>
        <p:spPr>
          <a:xfrm>
            <a:off x="265176" y="7315200"/>
            <a:ext cx="6327648" cy="0"/>
          </a:xfrm>
          <a:prstGeom prst="line">
            <a:avLst/>
          </a:prstGeom>
          <a:noFill/>
          <a:ln w="6350">
            <a:solidFill>
              <a:srgbClr val="C8DCD7"/>
            </a:solidFill>
            <a:prstDash val="solid"/>
          </a:ln>
        </p:spPr>
      </p:sp>
      <p:sp>
        <p:nvSpPr>
          <p:cNvPr id="76" name="Text 72"/>
          <p:cNvSpPr/>
          <p:nvPr/>
        </p:nvSpPr>
        <p:spPr>
          <a:xfrm>
            <a:off x="320040" y="7040880"/>
            <a:ext cx="109547" cy="274320"/>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7</a:t>
            </a:r>
            <a:endParaRPr lang="en-US" sz="700" dirty="0"/>
          </a:p>
        </p:txBody>
      </p:sp>
      <p:sp>
        <p:nvSpPr>
          <p:cNvPr id="77" name="Text 73"/>
          <p:cNvSpPr/>
          <p:nvPr/>
        </p:nvSpPr>
        <p:spPr>
          <a:xfrm>
            <a:off x="539315" y="7040880"/>
            <a:ext cx="2317959" cy="274320"/>
          </a:xfrm>
          <a:prstGeom prst="rect">
            <a:avLst/>
          </a:prstGeom>
          <a:noFill/>
          <a:ln/>
        </p:spPr>
        <p:txBody>
          <a:bodyPr wrap="square" lIns="0" tIns="0" rIns="0" bIns="0" rtlCol="0" anchor="ctr"/>
          <a:lstStyle/>
          <a:p>
            <a:pPr algn="l" indent="0" marL="0">
              <a:buNone/>
            </a:pPr>
            <a:r>
              <a:rPr lang="en-US" sz="700" dirty="0">
                <a:solidFill>
                  <a:srgbClr val="183B39"/>
                </a:solidFill>
                <a:latin typeface="Calibri" pitchFamily="34" charset="0"/>
                <a:ea typeface="Calibri" pitchFamily="34" charset="-122"/>
                <a:cs typeface="Calibri" pitchFamily="34" charset="-120"/>
              </a:rPr>
              <a:t>ME Rosemary Anti-Hair Fall Shampoo</a:t>
            </a:r>
            <a:endParaRPr lang="en-US" sz="700" dirty="0"/>
          </a:p>
        </p:txBody>
      </p:sp>
      <p:sp>
        <p:nvSpPr>
          <p:cNvPr id="78" name="Text 74"/>
          <p:cNvSpPr/>
          <p:nvPr/>
        </p:nvSpPr>
        <p:spPr>
          <a:xfrm>
            <a:off x="2967002" y="7040880"/>
            <a:ext cx="407134" cy="274320"/>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0.18</a:t>
            </a:r>
            <a:endParaRPr lang="en-US" sz="700" dirty="0"/>
          </a:p>
        </p:txBody>
      </p:sp>
      <p:sp>
        <p:nvSpPr>
          <p:cNvPr id="79" name="Text 75"/>
          <p:cNvSpPr/>
          <p:nvPr/>
        </p:nvSpPr>
        <p:spPr>
          <a:xfrm>
            <a:off x="3483864" y="7040880"/>
            <a:ext cx="109547" cy="274320"/>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8</a:t>
            </a:r>
            <a:endParaRPr lang="en-US" sz="700" dirty="0"/>
          </a:p>
        </p:txBody>
      </p:sp>
      <p:sp>
        <p:nvSpPr>
          <p:cNvPr id="80" name="Text 76"/>
          <p:cNvSpPr/>
          <p:nvPr/>
        </p:nvSpPr>
        <p:spPr>
          <a:xfrm>
            <a:off x="3703139" y="7040880"/>
            <a:ext cx="2317959" cy="274320"/>
          </a:xfrm>
          <a:prstGeom prst="rect">
            <a:avLst/>
          </a:prstGeom>
          <a:noFill/>
          <a:ln/>
        </p:spPr>
        <p:txBody>
          <a:bodyPr wrap="square" lIns="0" tIns="0" rIns="0" bIns="0" rtlCol="0" anchor="ctr"/>
          <a:lstStyle/>
          <a:p>
            <a:pPr algn="l" indent="0" marL="0">
              <a:buNone/>
            </a:pPr>
            <a:r>
              <a:rPr lang="en-US" sz="700" dirty="0">
                <a:solidFill>
                  <a:srgbClr val="183B39"/>
                </a:solidFill>
                <a:latin typeface="Calibri" pitchFamily="34" charset="0"/>
                <a:ea typeface="Calibri" pitchFamily="34" charset="-122"/>
                <a:cs typeface="Calibri" pitchFamily="34" charset="-120"/>
              </a:rPr>
              <a:t>ME Rice Water Dewy Sunscreen 80 g</a:t>
            </a:r>
            <a:endParaRPr lang="en-US" sz="700" dirty="0"/>
          </a:p>
        </p:txBody>
      </p:sp>
      <p:sp>
        <p:nvSpPr>
          <p:cNvPr id="81" name="Text 77"/>
          <p:cNvSpPr/>
          <p:nvPr/>
        </p:nvSpPr>
        <p:spPr>
          <a:xfrm>
            <a:off x="6130826" y="7040880"/>
            <a:ext cx="407134" cy="274320"/>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0.18</a:t>
            </a:r>
            <a:endParaRPr lang="en-US" sz="700" dirty="0"/>
          </a:p>
        </p:txBody>
      </p:sp>
      <p:sp>
        <p:nvSpPr>
          <p:cNvPr id="82" name="Shape 78"/>
          <p:cNvSpPr/>
          <p:nvPr/>
        </p:nvSpPr>
        <p:spPr>
          <a:xfrm>
            <a:off x="265176" y="7498080"/>
            <a:ext cx="3090672" cy="1481328"/>
          </a:xfrm>
          <a:prstGeom prst="roundRect">
            <a:avLst>
              <a:gd name="adj" fmla="val 1235"/>
            </a:avLst>
          </a:prstGeom>
          <a:solidFill>
            <a:srgbClr val="FFFFFF"/>
          </a:solidFill>
          <a:ln w="9525">
            <a:solidFill>
              <a:srgbClr val="C8DCD7"/>
            </a:solidFill>
            <a:prstDash val="solid"/>
          </a:ln>
        </p:spPr>
      </p:sp>
      <p:sp>
        <p:nvSpPr>
          <p:cNvPr id="83" name="Shape 79"/>
          <p:cNvSpPr/>
          <p:nvPr/>
        </p:nvSpPr>
        <p:spPr>
          <a:xfrm>
            <a:off x="265176" y="7498080"/>
            <a:ext cx="3090672" cy="274320"/>
          </a:xfrm>
          <a:prstGeom prst="rect">
            <a:avLst/>
          </a:prstGeom>
          <a:solidFill>
            <a:srgbClr val="D6544D"/>
          </a:solidFill>
          <a:ln/>
        </p:spPr>
      </p:sp>
      <p:sp>
        <p:nvSpPr>
          <p:cNvPr id="84" name="Text 80"/>
          <p:cNvSpPr/>
          <p:nvPr/>
        </p:nvSpPr>
        <p:spPr>
          <a:xfrm>
            <a:off x="347472" y="7516368"/>
            <a:ext cx="2926080"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ZERO-SALE FINALISED EANs</a:t>
            </a:r>
            <a:endParaRPr lang="en-US" sz="700" dirty="0"/>
          </a:p>
        </p:txBody>
      </p:sp>
      <p:sp>
        <p:nvSpPr>
          <p:cNvPr id="85" name="Shape 81"/>
          <p:cNvSpPr/>
          <p:nvPr/>
        </p:nvSpPr>
        <p:spPr>
          <a:xfrm>
            <a:off x="374904" y="7950708"/>
            <a:ext cx="50292" cy="50292"/>
          </a:xfrm>
          <a:prstGeom prst="ellipse">
            <a:avLst/>
          </a:prstGeom>
          <a:solidFill>
            <a:srgbClr val="D6544D"/>
          </a:solidFill>
          <a:ln/>
        </p:spPr>
      </p:sp>
      <p:sp>
        <p:nvSpPr>
          <p:cNvPr id="86" name="Text 82"/>
          <p:cNvSpPr/>
          <p:nvPr/>
        </p:nvSpPr>
        <p:spPr>
          <a:xfrm>
            <a:off x="493776" y="7900416"/>
            <a:ext cx="2752344" cy="310896"/>
          </a:xfrm>
          <a:prstGeom prst="rect">
            <a:avLst/>
          </a:prstGeom>
          <a:noFill/>
          <a:ln/>
        </p:spPr>
        <p:txBody>
          <a:bodyPr wrap="square" lIns="0" tIns="0" rIns="0" bIns="0" rtlCol="0" anchor="t"/>
          <a:lstStyle/>
          <a:p>
            <a:pPr indent="0" marL="0">
              <a:lnSpc>
                <a:spcPct val="92000"/>
              </a:lnSpc>
              <a:buNone/>
            </a:pPr>
            <a:r>
              <a:rPr lang="en-US" sz="720" b="1" dirty="0">
                <a:solidFill>
                  <a:srgbClr val="183B39"/>
                </a:solidFill>
                <a:latin typeface="Calibri" pitchFamily="34" charset="0"/>
                <a:ea typeface="Calibri" pitchFamily="34" charset="-122"/>
                <a:cs typeface="Calibri" pitchFamily="34" charset="-120"/>
              </a:rPr>
              <a:t>BBLUNT Cherry Red Hair Colour 130 g</a:t>
            </a:r>
            <a:endParaRPr lang="en-US" sz="720" dirty="0"/>
          </a:p>
        </p:txBody>
      </p:sp>
      <p:sp>
        <p:nvSpPr>
          <p:cNvPr id="87" name="Shape 83"/>
          <p:cNvSpPr/>
          <p:nvPr/>
        </p:nvSpPr>
        <p:spPr>
          <a:xfrm>
            <a:off x="374904" y="8279892"/>
            <a:ext cx="50292" cy="50292"/>
          </a:xfrm>
          <a:prstGeom prst="ellipse">
            <a:avLst/>
          </a:prstGeom>
          <a:solidFill>
            <a:srgbClr val="D6544D"/>
          </a:solidFill>
          <a:ln/>
        </p:spPr>
      </p:sp>
      <p:sp>
        <p:nvSpPr>
          <p:cNvPr id="88" name="Text 84"/>
          <p:cNvSpPr/>
          <p:nvPr/>
        </p:nvSpPr>
        <p:spPr>
          <a:xfrm>
            <a:off x="493776" y="8229600"/>
            <a:ext cx="2752344" cy="310896"/>
          </a:xfrm>
          <a:prstGeom prst="rect">
            <a:avLst/>
          </a:prstGeom>
          <a:noFill/>
          <a:ln/>
        </p:spPr>
        <p:txBody>
          <a:bodyPr wrap="square" lIns="0" tIns="0" rIns="0" bIns="0" rtlCol="0" anchor="t"/>
          <a:lstStyle/>
          <a:p>
            <a:pPr indent="0" marL="0">
              <a:lnSpc>
                <a:spcPct val="92000"/>
              </a:lnSpc>
              <a:buNone/>
            </a:pPr>
            <a:r>
              <a:rPr lang="en-US" sz="720" b="1" dirty="0">
                <a:solidFill>
                  <a:srgbClr val="183B39"/>
                </a:solidFill>
                <a:latin typeface="Calibri" pitchFamily="34" charset="0"/>
                <a:ea typeface="Calibri" pitchFamily="34" charset="-122"/>
                <a:cs typeface="Calibri" pitchFamily="34" charset="-120"/>
              </a:rPr>
              <a:t>TDC 20% Actives Peptide–Stem Cell Hair Serum</a:t>
            </a:r>
            <a:endParaRPr lang="en-US" sz="720" dirty="0"/>
          </a:p>
        </p:txBody>
      </p:sp>
      <p:sp>
        <p:nvSpPr>
          <p:cNvPr id="89" name="Shape 85"/>
          <p:cNvSpPr/>
          <p:nvPr/>
        </p:nvSpPr>
        <p:spPr>
          <a:xfrm>
            <a:off x="374904" y="8609076"/>
            <a:ext cx="50292" cy="50292"/>
          </a:xfrm>
          <a:prstGeom prst="ellipse">
            <a:avLst/>
          </a:prstGeom>
          <a:solidFill>
            <a:srgbClr val="D6544D"/>
          </a:solidFill>
          <a:ln/>
        </p:spPr>
      </p:sp>
      <p:sp>
        <p:nvSpPr>
          <p:cNvPr id="90" name="Text 86"/>
          <p:cNvSpPr/>
          <p:nvPr/>
        </p:nvSpPr>
        <p:spPr>
          <a:xfrm>
            <a:off x="493776" y="8558784"/>
            <a:ext cx="2752344" cy="310896"/>
          </a:xfrm>
          <a:prstGeom prst="rect">
            <a:avLst/>
          </a:prstGeom>
          <a:noFill/>
          <a:ln/>
        </p:spPr>
        <p:txBody>
          <a:bodyPr wrap="square" lIns="0" tIns="0" rIns="0" bIns="0" rtlCol="0" anchor="t"/>
          <a:lstStyle/>
          <a:p>
            <a:pPr indent="0" marL="0">
              <a:lnSpc>
                <a:spcPct val="92000"/>
              </a:lnSpc>
              <a:buNone/>
            </a:pPr>
            <a:r>
              <a:rPr lang="en-US" sz="720" dirty="0">
                <a:solidFill>
                  <a:srgbClr val="183B39"/>
                </a:solidFill>
                <a:latin typeface="Calibri" pitchFamily="34" charset="0"/>
                <a:ea typeface="Calibri" pitchFamily="34" charset="-122"/>
                <a:cs typeface="Calibri" pitchFamily="34" charset="-120"/>
              </a:rPr>
              <a:t>Audit listing, stock receipt, OSA and launch visibility before any further loading.</a:t>
            </a:r>
            <a:endParaRPr lang="en-US" sz="720" dirty="0"/>
          </a:p>
        </p:txBody>
      </p:sp>
      <p:sp>
        <p:nvSpPr>
          <p:cNvPr id="91" name="Shape 87"/>
          <p:cNvSpPr/>
          <p:nvPr/>
        </p:nvSpPr>
        <p:spPr>
          <a:xfrm>
            <a:off x="3502152" y="7498080"/>
            <a:ext cx="3090672" cy="1481328"/>
          </a:xfrm>
          <a:prstGeom prst="roundRect">
            <a:avLst>
              <a:gd name="adj" fmla="val 1235"/>
            </a:avLst>
          </a:prstGeom>
          <a:solidFill>
            <a:srgbClr val="FFFFFF"/>
          </a:solidFill>
          <a:ln w="9525">
            <a:solidFill>
              <a:srgbClr val="C8DCD7"/>
            </a:solidFill>
            <a:prstDash val="solid"/>
          </a:ln>
        </p:spPr>
      </p:sp>
      <p:sp>
        <p:nvSpPr>
          <p:cNvPr id="92" name="Shape 88"/>
          <p:cNvSpPr/>
          <p:nvPr/>
        </p:nvSpPr>
        <p:spPr>
          <a:xfrm>
            <a:off x="3502152" y="7498080"/>
            <a:ext cx="3090672" cy="274320"/>
          </a:xfrm>
          <a:prstGeom prst="rect">
            <a:avLst/>
          </a:prstGeom>
          <a:solidFill>
            <a:srgbClr val="116F68"/>
          </a:solidFill>
          <a:ln/>
        </p:spPr>
      </p:sp>
      <p:sp>
        <p:nvSpPr>
          <p:cNvPr id="93" name="Text 89"/>
          <p:cNvSpPr/>
          <p:nvPr/>
        </p:nvSpPr>
        <p:spPr>
          <a:xfrm>
            <a:off x="3584448" y="7516368"/>
            <a:ext cx="2926080"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ALLOCATION RULE</a:t>
            </a:r>
            <a:endParaRPr lang="en-US" sz="700" dirty="0"/>
          </a:p>
        </p:txBody>
      </p:sp>
      <p:sp>
        <p:nvSpPr>
          <p:cNvPr id="94" name="Shape 90"/>
          <p:cNvSpPr/>
          <p:nvPr/>
        </p:nvSpPr>
        <p:spPr>
          <a:xfrm>
            <a:off x="3611880" y="7950708"/>
            <a:ext cx="50292" cy="50292"/>
          </a:xfrm>
          <a:prstGeom prst="ellipse">
            <a:avLst/>
          </a:prstGeom>
          <a:solidFill>
            <a:srgbClr val="116F68"/>
          </a:solidFill>
          <a:ln/>
        </p:spPr>
      </p:sp>
      <p:sp>
        <p:nvSpPr>
          <p:cNvPr id="95" name="Text 91"/>
          <p:cNvSpPr/>
          <p:nvPr/>
        </p:nvSpPr>
        <p:spPr>
          <a:xfrm>
            <a:off x="3730752" y="7900416"/>
            <a:ext cx="2752344" cy="310896"/>
          </a:xfrm>
          <a:prstGeom prst="rect">
            <a:avLst/>
          </a:prstGeom>
          <a:noFill/>
          <a:ln/>
        </p:spPr>
        <p:txBody>
          <a:bodyPr wrap="square" lIns="0" tIns="0" rIns="0" bIns="0" rtlCol="0" anchor="t"/>
          <a:lstStyle/>
          <a:p>
            <a:pPr indent="0" marL="0">
              <a:lnSpc>
                <a:spcPct val="92000"/>
              </a:lnSpc>
              <a:buNone/>
            </a:pPr>
            <a:r>
              <a:rPr lang="en-US" sz="720" b="1" dirty="0">
                <a:solidFill>
                  <a:srgbClr val="183B39"/>
                </a:solidFill>
                <a:latin typeface="Calibri" pitchFamily="34" charset="0"/>
                <a:ea typeface="Calibri" pitchFamily="34" charset="-122"/>
                <a:cs typeface="Calibri" pitchFamily="34" charset="-120"/>
              </a:rPr>
              <a:t>Freeze incremental NPI into East until conversion clears 60%.</a:t>
            </a:r>
            <a:endParaRPr lang="en-US" sz="720" dirty="0"/>
          </a:p>
        </p:txBody>
      </p:sp>
      <p:sp>
        <p:nvSpPr>
          <p:cNvPr id="96" name="Shape 92"/>
          <p:cNvSpPr/>
          <p:nvPr/>
        </p:nvSpPr>
        <p:spPr>
          <a:xfrm>
            <a:off x="3611880" y="8279892"/>
            <a:ext cx="50292" cy="50292"/>
          </a:xfrm>
          <a:prstGeom prst="ellipse">
            <a:avLst/>
          </a:prstGeom>
          <a:solidFill>
            <a:srgbClr val="116F68"/>
          </a:solidFill>
          <a:ln/>
        </p:spPr>
      </p:sp>
      <p:sp>
        <p:nvSpPr>
          <p:cNvPr id="97" name="Text 93"/>
          <p:cNvSpPr/>
          <p:nvPr/>
        </p:nvSpPr>
        <p:spPr>
          <a:xfrm>
            <a:off x="3730752" y="8229600"/>
            <a:ext cx="2752344" cy="310896"/>
          </a:xfrm>
          <a:prstGeom prst="rect">
            <a:avLst/>
          </a:prstGeom>
          <a:noFill/>
          <a:ln/>
        </p:spPr>
        <p:txBody>
          <a:bodyPr wrap="square" lIns="0" tIns="0" rIns="0" bIns="0" rtlCol="0" anchor="t"/>
          <a:lstStyle/>
          <a:p>
            <a:pPr indent="0" marL="0">
              <a:lnSpc>
                <a:spcPct val="92000"/>
              </a:lnSpc>
              <a:buNone/>
            </a:pPr>
            <a:r>
              <a:rPr lang="en-US" sz="720" dirty="0">
                <a:solidFill>
                  <a:srgbClr val="183B39"/>
                </a:solidFill>
                <a:latin typeface="Calibri" pitchFamily="34" charset="0"/>
                <a:ea typeface="Calibri" pitchFamily="34" charset="-122"/>
                <a:cs typeface="Calibri" pitchFamily="34" charset="-120"/>
              </a:rPr>
              <a:t>Hold North NPI allocation until conversion clears 70%.</a:t>
            </a:r>
            <a:endParaRPr lang="en-US" sz="720" dirty="0"/>
          </a:p>
        </p:txBody>
      </p:sp>
      <p:sp>
        <p:nvSpPr>
          <p:cNvPr id="98" name="Shape 94"/>
          <p:cNvSpPr/>
          <p:nvPr/>
        </p:nvSpPr>
        <p:spPr>
          <a:xfrm>
            <a:off x="3611880" y="8609076"/>
            <a:ext cx="50292" cy="50292"/>
          </a:xfrm>
          <a:prstGeom prst="ellipse">
            <a:avLst/>
          </a:prstGeom>
          <a:solidFill>
            <a:srgbClr val="116F68"/>
          </a:solidFill>
          <a:ln/>
        </p:spPr>
      </p:sp>
      <p:sp>
        <p:nvSpPr>
          <p:cNvPr id="99" name="Text 95"/>
          <p:cNvSpPr/>
          <p:nvPr/>
        </p:nvSpPr>
        <p:spPr>
          <a:xfrm>
            <a:off x="3730752" y="8558784"/>
            <a:ext cx="2752344" cy="310896"/>
          </a:xfrm>
          <a:prstGeom prst="rect">
            <a:avLst/>
          </a:prstGeom>
          <a:noFill/>
          <a:ln/>
        </p:spPr>
        <p:txBody>
          <a:bodyPr wrap="square" lIns="0" tIns="0" rIns="0" bIns="0" rtlCol="0" anchor="t"/>
          <a:lstStyle/>
          <a:p>
            <a:pPr indent="0" marL="0">
              <a:lnSpc>
                <a:spcPct val="92000"/>
              </a:lnSpc>
              <a:buNone/>
            </a:pPr>
            <a:r>
              <a:rPr lang="en-US" sz="720" dirty="0">
                <a:solidFill>
                  <a:srgbClr val="183B39"/>
                </a:solidFill>
                <a:latin typeface="Calibri" pitchFamily="34" charset="0"/>
                <a:ea typeface="Calibri" pitchFamily="34" charset="-122"/>
                <a:cs typeface="Calibri" pitchFamily="34" charset="-120"/>
              </a:rPr>
              <a:t>Route new launches through West, South-1 and Apollo first — the pipes that already convert.</a:t>
            </a:r>
            <a:endParaRPr lang="en-US" sz="720" dirty="0"/>
          </a:p>
        </p:txBody>
      </p:sp>
      <p:sp>
        <p:nvSpPr>
          <p:cNvPr id="100" name="Shape 96"/>
          <p:cNvSpPr/>
          <p:nvPr/>
        </p:nvSpPr>
        <p:spPr>
          <a:xfrm>
            <a:off x="265176" y="9107424"/>
            <a:ext cx="6327648" cy="566928"/>
          </a:xfrm>
          <a:prstGeom prst="roundRect">
            <a:avLst>
              <a:gd name="adj" fmla="val 4839"/>
            </a:avLst>
          </a:prstGeom>
          <a:solidFill>
            <a:srgbClr val="DFF2ED"/>
          </a:solidFill>
          <a:ln w="12700">
            <a:solidFill>
              <a:srgbClr val="28A596"/>
            </a:solidFill>
            <a:prstDash val="solid"/>
          </a:ln>
        </p:spPr>
      </p:sp>
      <p:sp>
        <p:nvSpPr>
          <p:cNvPr id="101" name="Text 97"/>
          <p:cNvSpPr/>
          <p:nvPr/>
        </p:nvSpPr>
        <p:spPr>
          <a:xfrm>
            <a:off x="393192" y="9180576"/>
            <a:ext cx="6071616" cy="438912"/>
          </a:xfrm>
          <a:prstGeom prst="rect">
            <a:avLst/>
          </a:prstGeom>
          <a:noFill/>
          <a:ln/>
        </p:spPr>
        <p:txBody>
          <a:bodyPr wrap="square" lIns="0" tIns="0" rIns="0" bIns="0" rtlCol="0" anchor="t"/>
          <a:lstStyle/>
          <a:p>
            <a:pPr indent="0" marL="0">
              <a:lnSpc>
                <a:spcPct val="94000"/>
              </a:lnSpc>
              <a:buNone/>
            </a:pPr>
            <a:r>
              <a:rPr lang="en-US" sz="700" b="1" dirty="0">
                <a:solidFill>
                  <a:srgbClr val="116F68"/>
                </a:solidFill>
                <a:latin typeface="Calibri" pitchFamily="34" charset="0"/>
                <a:ea typeface="Calibri" pitchFamily="34" charset="-122"/>
                <a:cs typeface="Calibri" pitchFamily="34" charset="-120"/>
              </a:rPr>
              <a:t>THE TEST THAT IS MISSING   </a:t>
            </a:r>
            <a:pPr indent="0" marL="0">
              <a:lnSpc>
                <a:spcPct val="94000"/>
              </a:lnSpc>
              <a:buNone/>
            </a:pPr>
            <a:r>
              <a:rPr lang="en-US" sz="720" dirty="0">
                <a:solidFill>
                  <a:srgbClr val="183B39"/>
                </a:solidFill>
                <a:latin typeface="Calibri" pitchFamily="34" charset="0"/>
                <a:ea typeface="Calibri" pitchFamily="34" charset="-122"/>
                <a:cs typeface="Calibri" pitchFamily="34" charset="-120"/>
              </a:rPr>
              <a:t>NPI is currently judged on offtake alone, which cannot separate a weak product from a weak pipe. Report every launch as offtake per selling store against the zone conversion it was placed into. Until that split exists, a slow NPI in East and a slow NPI in West look identical on this page — and they need opposite decisions.</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A"/>
        </a:solidFill>
      </p:bgPr>
    </p:bg>
    <p:spTree>
      <p:nvGrpSpPr>
        <p:cNvPr id="1" name=""/>
        <p:cNvGrpSpPr/>
        <p:nvPr/>
      </p:nvGrpSpPr>
      <p:grpSpPr>
        <a:xfrm>
          <a:off x="0" y="0"/>
          <a:ext cx="0" cy="0"/>
          <a:chOff x="0" y="0"/>
          <a:chExt cx="0" cy="0"/>
        </a:xfrm>
      </p:grpSpPr>
      <p:sp>
        <p:nvSpPr>
          <p:cNvPr id="2" name="Shape 0"/>
          <p:cNvSpPr/>
          <p:nvPr/>
        </p:nvSpPr>
        <p:spPr>
          <a:xfrm>
            <a:off x="0" y="0"/>
            <a:ext cx="6858000" cy="1133856"/>
          </a:xfrm>
          <a:prstGeom prst="rect">
            <a:avLst/>
          </a:prstGeom>
          <a:solidFill>
            <a:srgbClr val="116F68"/>
          </a:solidFill>
          <a:ln/>
        </p:spPr>
      </p:sp>
      <p:sp>
        <p:nvSpPr>
          <p:cNvPr id="3" name="Text 1"/>
          <p:cNvSpPr/>
          <p:nvPr/>
        </p:nvSpPr>
        <p:spPr>
          <a:xfrm>
            <a:off x="365760" y="182880"/>
            <a:ext cx="5641848" cy="548640"/>
          </a:xfrm>
          <a:prstGeom prst="rect">
            <a:avLst/>
          </a:prstGeom>
          <a:noFill/>
          <a:ln/>
        </p:spPr>
        <p:txBody>
          <a:bodyPr wrap="square" lIns="0" tIns="0" rIns="0" bIns="0" rtlCol="0" anchor="ctr"/>
          <a:lstStyle/>
          <a:p>
            <a:pPr indent="0" marL="0">
              <a:lnSpc>
                <a:spcPct val="92000"/>
              </a:lnSpc>
              <a:buNone/>
            </a:pPr>
            <a:r>
              <a:rPr lang="en-US" sz="1300" b="1" dirty="0">
                <a:solidFill>
                  <a:srgbClr val="FFFFFF"/>
                </a:solidFill>
                <a:latin typeface="Calibri Light" pitchFamily="34" charset="0"/>
                <a:ea typeface="Calibri Light" pitchFamily="34" charset="-122"/>
                <a:cs typeface="Calibri Light" pitchFamily="34" charset="-120"/>
              </a:rPr>
              <a:t>Three chains hold ₹13.27 Cr of gap; three more hide ₹2.23 Cr behind unmapped primary</a:t>
            </a:r>
            <a:endParaRPr lang="en-US" sz="1300" dirty="0"/>
          </a:p>
        </p:txBody>
      </p:sp>
      <p:sp>
        <p:nvSpPr>
          <p:cNvPr id="4" name="Text 2"/>
          <p:cNvSpPr/>
          <p:nvPr/>
        </p:nvSpPr>
        <p:spPr>
          <a:xfrm>
            <a:off x="384048" y="786384"/>
            <a:ext cx="5641848" cy="237744"/>
          </a:xfrm>
          <a:prstGeom prst="rect">
            <a:avLst/>
          </a:prstGeom>
          <a:noFill/>
          <a:ln/>
        </p:spPr>
        <p:txBody>
          <a:bodyPr wrap="square" lIns="0" tIns="0" rIns="0" bIns="0" rtlCol="0" anchor="ctr"/>
          <a:lstStyle/>
          <a:p>
            <a:pPr indent="0" marL="0">
              <a:buNone/>
            </a:pPr>
            <a:r>
              <a:rPr lang="en-US" sz="850" dirty="0">
                <a:solidFill>
                  <a:srgbClr val="BFDCD7"/>
                </a:solidFill>
                <a:latin typeface="Calibri" pitchFamily="34" charset="0"/>
                <a:ea typeface="Calibri" pitchFamily="34" charset="-122"/>
                <a:cs typeface="Calibri" pitchFamily="34" charset="-120"/>
              </a:rPr>
              <a:t>Chain deep dive | gross positive and gross negative gap | July 2026 | ₹ Cr</a:t>
            </a:r>
            <a:endParaRPr lang="en-US" sz="850" dirty="0"/>
          </a:p>
        </p:txBody>
      </p:sp>
      <p:sp>
        <p:nvSpPr>
          <p:cNvPr id="5" name="Text 3"/>
          <p:cNvSpPr/>
          <p:nvPr/>
        </p:nvSpPr>
        <p:spPr>
          <a:xfrm>
            <a:off x="6117336" y="365760"/>
            <a:ext cx="402336" cy="237744"/>
          </a:xfrm>
          <a:prstGeom prst="rect">
            <a:avLst/>
          </a:prstGeom>
          <a:noFill/>
          <a:ln/>
        </p:spPr>
        <p:txBody>
          <a:bodyPr wrap="square" lIns="0" tIns="0" rIns="0" bIns="0" rtlCol="0" anchor="t"/>
          <a:lstStyle/>
          <a:p>
            <a:pPr algn="r" indent="0" marL="0">
              <a:buNone/>
            </a:pPr>
            <a:r>
              <a:rPr lang="en-US" sz="950" b="1" dirty="0">
                <a:solidFill>
                  <a:srgbClr val="8FC4BD"/>
                </a:solidFill>
                <a:latin typeface="Calibri" pitchFamily="34" charset="0"/>
                <a:ea typeface="Calibri" pitchFamily="34" charset="-122"/>
                <a:cs typeface="Calibri" pitchFamily="34" charset="-120"/>
              </a:rPr>
              <a:t>19</a:t>
            </a:r>
            <a:endParaRPr lang="en-US" sz="950" dirty="0"/>
          </a:p>
        </p:txBody>
      </p:sp>
      <p:sp>
        <p:nvSpPr>
          <p:cNvPr id="6" name="Shape 4"/>
          <p:cNvSpPr/>
          <p:nvPr/>
        </p:nvSpPr>
        <p:spPr>
          <a:xfrm>
            <a:off x="265176" y="11375136"/>
            <a:ext cx="6327648" cy="420624"/>
          </a:xfrm>
          <a:prstGeom prst="roundRect">
            <a:avLst>
              <a:gd name="adj" fmla="val 6522"/>
            </a:avLst>
          </a:prstGeom>
          <a:solidFill>
            <a:srgbClr val="DFF2ED"/>
          </a:solidFill>
          <a:ln w="9525">
            <a:solidFill>
              <a:srgbClr val="C8DCD7"/>
            </a:solidFill>
            <a:prstDash val="solid"/>
          </a:ln>
        </p:spPr>
      </p:sp>
      <p:sp>
        <p:nvSpPr>
          <p:cNvPr id="7" name="Text 5"/>
          <p:cNvSpPr/>
          <p:nvPr/>
        </p:nvSpPr>
        <p:spPr>
          <a:xfrm>
            <a:off x="374904"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EVIDENCE</a:t>
            </a:r>
            <a:endParaRPr lang="en-US" sz="650" dirty="0"/>
          </a:p>
        </p:txBody>
      </p:sp>
      <p:sp>
        <p:nvSpPr>
          <p:cNvPr id="8" name="Text 6"/>
          <p:cNvSpPr/>
          <p:nvPr/>
        </p:nvSpPr>
        <p:spPr>
          <a:xfrm>
            <a:off x="374904"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moved</a:t>
            </a:r>
            <a:endParaRPr lang="en-US" sz="700" dirty="0"/>
          </a:p>
        </p:txBody>
      </p:sp>
      <p:sp>
        <p:nvSpPr>
          <p:cNvPr id="9" name="Text 7"/>
          <p:cNvSpPr/>
          <p:nvPr/>
        </p:nvSpPr>
        <p:spPr>
          <a:xfrm>
            <a:off x="1901952"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IMPLICATION</a:t>
            </a:r>
            <a:endParaRPr lang="en-US" sz="650" dirty="0"/>
          </a:p>
        </p:txBody>
      </p:sp>
      <p:sp>
        <p:nvSpPr>
          <p:cNvPr id="10" name="Text 8"/>
          <p:cNvSpPr/>
          <p:nvPr/>
        </p:nvSpPr>
        <p:spPr>
          <a:xfrm>
            <a:off x="1901952"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Why it matters</a:t>
            </a:r>
            <a:endParaRPr lang="en-US" sz="700" dirty="0"/>
          </a:p>
        </p:txBody>
      </p:sp>
      <p:sp>
        <p:nvSpPr>
          <p:cNvPr id="11" name="Shape 9"/>
          <p:cNvSpPr/>
          <p:nvPr/>
        </p:nvSpPr>
        <p:spPr>
          <a:xfrm>
            <a:off x="1819656" y="11457432"/>
            <a:ext cx="0" cy="265176"/>
          </a:xfrm>
          <a:prstGeom prst="line">
            <a:avLst/>
          </a:prstGeom>
          <a:noFill/>
          <a:ln w="9525">
            <a:solidFill>
              <a:srgbClr val="C8DCD7"/>
            </a:solidFill>
            <a:prstDash val="solid"/>
          </a:ln>
        </p:spPr>
      </p:sp>
      <p:sp>
        <p:nvSpPr>
          <p:cNvPr id="12" name="Text 10"/>
          <p:cNvSpPr/>
          <p:nvPr/>
        </p:nvSpPr>
        <p:spPr>
          <a:xfrm>
            <a:off x="3429000"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ACTION</a:t>
            </a:r>
            <a:endParaRPr lang="en-US" sz="650" dirty="0"/>
          </a:p>
        </p:txBody>
      </p:sp>
      <p:sp>
        <p:nvSpPr>
          <p:cNvPr id="13" name="Text 11"/>
          <p:cNvSpPr/>
          <p:nvPr/>
        </p:nvSpPr>
        <p:spPr>
          <a:xfrm>
            <a:off x="3429000"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changes now</a:t>
            </a:r>
            <a:endParaRPr lang="en-US" sz="700" dirty="0"/>
          </a:p>
        </p:txBody>
      </p:sp>
      <p:sp>
        <p:nvSpPr>
          <p:cNvPr id="14" name="Shape 12"/>
          <p:cNvSpPr/>
          <p:nvPr/>
        </p:nvSpPr>
        <p:spPr>
          <a:xfrm>
            <a:off x="3346704" y="11457432"/>
            <a:ext cx="0" cy="265176"/>
          </a:xfrm>
          <a:prstGeom prst="line">
            <a:avLst/>
          </a:prstGeom>
          <a:noFill/>
          <a:ln w="9525">
            <a:solidFill>
              <a:srgbClr val="C8DCD7"/>
            </a:solidFill>
            <a:prstDash val="solid"/>
          </a:ln>
        </p:spPr>
      </p:sp>
      <p:sp>
        <p:nvSpPr>
          <p:cNvPr id="15" name="Text 13"/>
          <p:cNvSpPr/>
          <p:nvPr/>
        </p:nvSpPr>
        <p:spPr>
          <a:xfrm>
            <a:off x="4956048"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OWNER</a:t>
            </a:r>
            <a:endParaRPr lang="en-US" sz="650" dirty="0"/>
          </a:p>
        </p:txBody>
      </p:sp>
      <p:sp>
        <p:nvSpPr>
          <p:cNvPr id="16" name="Text 14"/>
          <p:cNvSpPr/>
          <p:nvPr/>
        </p:nvSpPr>
        <p:spPr>
          <a:xfrm>
            <a:off x="4956048"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Who closes it</a:t>
            </a:r>
            <a:endParaRPr lang="en-US" sz="700" dirty="0"/>
          </a:p>
        </p:txBody>
      </p:sp>
      <p:sp>
        <p:nvSpPr>
          <p:cNvPr id="17" name="Shape 15"/>
          <p:cNvSpPr/>
          <p:nvPr/>
        </p:nvSpPr>
        <p:spPr>
          <a:xfrm>
            <a:off x="4873752" y="11457432"/>
            <a:ext cx="0" cy="265176"/>
          </a:xfrm>
          <a:prstGeom prst="line">
            <a:avLst/>
          </a:prstGeom>
          <a:noFill/>
          <a:ln w="9525">
            <a:solidFill>
              <a:srgbClr val="C8DCD7"/>
            </a:solidFill>
            <a:prstDash val="solid"/>
          </a:ln>
        </p:spPr>
      </p:sp>
      <p:sp>
        <p:nvSpPr>
          <p:cNvPr id="18" name="Text 16"/>
          <p:cNvSpPr/>
          <p:nvPr/>
        </p:nvSpPr>
        <p:spPr>
          <a:xfrm>
            <a:off x="301752" y="11887200"/>
            <a:ext cx="6254496" cy="201168"/>
          </a:xfrm>
          <a:prstGeom prst="rect">
            <a:avLst/>
          </a:prstGeom>
          <a:noFill/>
          <a:ln/>
        </p:spPr>
        <p:txBody>
          <a:bodyPr wrap="square" lIns="0" tIns="0" rIns="0" bIns="0" rtlCol="0" anchor="t"/>
          <a:lstStyle/>
          <a:p>
            <a:pPr algn="ctr" indent="0" marL="0">
              <a:buNone/>
            </a:pPr>
            <a:r>
              <a:rPr lang="en-US" sz="650" dirty="0">
                <a:solidFill>
                  <a:srgbClr val="5F716E"/>
                </a:solidFill>
                <a:latin typeface="Calibri" pitchFamily="34" charset="0"/>
                <a:ea typeface="Calibri" pitchFamily="34" charset="-122"/>
                <a:cs typeface="Calibri" pitchFamily="34" charset="-120"/>
              </a:rPr>
              <a:t>July Compiled Offtake (Sheet1) · July'26 primary and distributor secondary · values in ₹ Cr · Zone performance represents Modern Trade accounts only. eB2B and SIS channels are excluded from MT zone sales and reported separately.</a:t>
            </a:r>
            <a:endParaRPr lang="en-US" sz="650" dirty="0"/>
          </a:p>
        </p:txBody>
      </p:sp>
      <p:sp>
        <p:nvSpPr>
          <p:cNvPr id="19" name="Text 17"/>
          <p:cNvSpPr/>
          <p:nvPr/>
        </p:nvSpPr>
        <p:spPr>
          <a:xfrm>
            <a:off x="265176" y="1261872"/>
            <a:ext cx="6327648"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Primary vs offtake by chain (₹ Cr) — Lulu bills through an unmapped route</a:t>
            </a:r>
            <a:endParaRPr lang="en-US" sz="720" dirty="0"/>
          </a:p>
        </p:txBody>
      </p:sp>
      <p:graphicFrame>
        <p:nvGraphicFramePr>
          <p:cNvPr id="20" name="Chart 0" descr=""/>
          <p:cNvGraphicFramePr/>
          <p:nvPr/>
        </p:nvGraphicFramePr>
        <p:xfrm>
          <a:off x="246888" y="1481328"/>
          <a:ext cx="6327648" cy="2103120"/>
        </p:xfrm>
        <a:graphic xmlns:a="http://schemas.openxmlformats.org/drawingml/2006/main">
          <a:graphicData uri="http://schemas.openxmlformats.org/drawingml/2006/chart">
            <c:chart xmlns:c="http://schemas.openxmlformats.org/drawingml/2006/chart" r:id="rId1"/>
          </a:graphicData>
        </a:graphic>
      </p:graphicFrame>
      <p:sp>
        <p:nvSpPr>
          <p:cNvPr id="21" name="Shape 18"/>
          <p:cNvSpPr/>
          <p:nvPr/>
        </p:nvSpPr>
        <p:spPr>
          <a:xfrm>
            <a:off x="265176" y="3694176"/>
            <a:ext cx="2036064" cy="932688"/>
          </a:xfrm>
          <a:prstGeom prst="roundRect">
            <a:avLst>
              <a:gd name="adj" fmla="val 1961"/>
            </a:avLst>
          </a:prstGeom>
          <a:solidFill>
            <a:srgbClr val="FFFFFF"/>
          </a:solidFill>
          <a:ln w="9525">
            <a:solidFill>
              <a:srgbClr val="C8DCD7"/>
            </a:solidFill>
            <a:prstDash val="solid"/>
          </a:ln>
        </p:spPr>
      </p:sp>
      <p:sp>
        <p:nvSpPr>
          <p:cNvPr id="22" name="Shape 19"/>
          <p:cNvSpPr/>
          <p:nvPr/>
        </p:nvSpPr>
        <p:spPr>
          <a:xfrm>
            <a:off x="265176" y="3694176"/>
            <a:ext cx="2036064" cy="274320"/>
          </a:xfrm>
          <a:prstGeom prst="rect">
            <a:avLst/>
          </a:prstGeom>
          <a:solidFill>
            <a:srgbClr val="D6544D"/>
          </a:solidFill>
          <a:ln/>
        </p:spPr>
      </p:sp>
      <p:sp>
        <p:nvSpPr>
          <p:cNvPr id="23" name="Text 20"/>
          <p:cNvSpPr/>
          <p:nvPr/>
        </p:nvSpPr>
        <p:spPr>
          <a:xfrm>
            <a:off x="347472" y="3712464"/>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RELIANCE</a:t>
            </a:r>
            <a:endParaRPr lang="en-US" sz="700" dirty="0"/>
          </a:p>
        </p:txBody>
      </p:sp>
      <p:sp>
        <p:nvSpPr>
          <p:cNvPr id="24" name="Text 21"/>
          <p:cNvSpPr/>
          <p:nvPr/>
        </p:nvSpPr>
        <p:spPr>
          <a:xfrm>
            <a:off x="356616" y="4059936"/>
            <a:ext cx="1853184" cy="310896"/>
          </a:xfrm>
          <a:prstGeom prst="rect">
            <a:avLst/>
          </a:prstGeom>
          <a:noFill/>
          <a:ln/>
        </p:spPr>
        <p:txBody>
          <a:bodyPr wrap="square" lIns="0" tIns="0" rIns="0" bIns="0" rtlCol="0" anchor="t"/>
          <a:lstStyle/>
          <a:p>
            <a:pPr algn="ctr" indent="0" marL="0">
              <a:buNone/>
            </a:pPr>
            <a:r>
              <a:rPr lang="en-US" sz="1600" b="1" dirty="0">
                <a:solidFill>
                  <a:srgbClr val="D6544D"/>
                </a:solidFill>
                <a:latin typeface="Calibri Light" pitchFamily="34" charset="0"/>
                <a:ea typeface="Calibri Light" pitchFamily="34" charset="-122"/>
                <a:cs typeface="Calibri Light" pitchFamily="34" charset="-120"/>
              </a:rPr>
              <a:t>₹7.61 Cr</a:t>
            </a:r>
            <a:endParaRPr lang="en-US" sz="1600" dirty="0"/>
          </a:p>
        </p:txBody>
      </p:sp>
      <p:sp>
        <p:nvSpPr>
          <p:cNvPr id="25" name="Text 22"/>
          <p:cNvSpPr/>
          <p:nvPr/>
        </p:nvSpPr>
        <p:spPr>
          <a:xfrm>
            <a:off x="356616" y="4389120"/>
            <a:ext cx="1853184" cy="201168"/>
          </a:xfrm>
          <a:prstGeom prst="rect">
            <a:avLst/>
          </a:prstGeom>
          <a:noFill/>
          <a:ln/>
        </p:spPr>
        <p:txBody>
          <a:bodyPr wrap="square" lIns="0" tIns="0" rIns="0" bIns="0" rtlCol="0" anchor="t"/>
          <a:lstStyle/>
          <a:p>
            <a:pPr algn="ctr" indent="0" marL="0">
              <a:lnSpc>
                <a:spcPct val="92000"/>
              </a:lnSpc>
              <a:buNone/>
            </a:pPr>
            <a:r>
              <a:rPr lang="en-US" sz="660" dirty="0">
                <a:solidFill>
                  <a:srgbClr val="5F716E"/>
                </a:solidFill>
                <a:latin typeface="Calibri" pitchFamily="34" charset="0"/>
                <a:ea typeface="Calibri" pitchFamily="34" charset="-122"/>
                <a:cs typeface="Calibri" pitchFamily="34" charset="-120"/>
              </a:rPr>
              <a:t>51.4% conversion — largest single gap</a:t>
            </a:r>
            <a:endParaRPr lang="en-US" sz="660" dirty="0"/>
          </a:p>
        </p:txBody>
      </p:sp>
      <p:sp>
        <p:nvSpPr>
          <p:cNvPr id="26" name="Shape 23"/>
          <p:cNvSpPr/>
          <p:nvPr/>
        </p:nvSpPr>
        <p:spPr>
          <a:xfrm>
            <a:off x="2410968" y="3694176"/>
            <a:ext cx="2036064" cy="932688"/>
          </a:xfrm>
          <a:prstGeom prst="roundRect">
            <a:avLst>
              <a:gd name="adj" fmla="val 1961"/>
            </a:avLst>
          </a:prstGeom>
          <a:solidFill>
            <a:srgbClr val="FFFFFF"/>
          </a:solidFill>
          <a:ln w="9525">
            <a:solidFill>
              <a:srgbClr val="C8DCD7"/>
            </a:solidFill>
            <a:prstDash val="solid"/>
          </a:ln>
        </p:spPr>
      </p:sp>
      <p:sp>
        <p:nvSpPr>
          <p:cNvPr id="27" name="Shape 24"/>
          <p:cNvSpPr/>
          <p:nvPr/>
        </p:nvSpPr>
        <p:spPr>
          <a:xfrm>
            <a:off x="2410968" y="3694176"/>
            <a:ext cx="2036064" cy="274320"/>
          </a:xfrm>
          <a:prstGeom prst="rect">
            <a:avLst/>
          </a:prstGeom>
          <a:solidFill>
            <a:srgbClr val="F2B84B"/>
          </a:solidFill>
          <a:ln/>
        </p:spPr>
      </p:sp>
      <p:sp>
        <p:nvSpPr>
          <p:cNvPr id="28" name="Text 25"/>
          <p:cNvSpPr/>
          <p:nvPr/>
        </p:nvSpPr>
        <p:spPr>
          <a:xfrm>
            <a:off x="2493264" y="3712464"/>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DMART</a:t>
            </a:r>
            <a:endParaRPr lang="en-US" sz="700" dirty="0"/>
          </a:p>
        </p:txBody>
      </p:sp>
      <p:sp>
        <p:nvSpPr>
          <p:cNvPr id="29" name="Text 26"/>
          <p:cNvSpPr/>
          <p:nvPr/>
        </p:nvSpPr>
        <p:spPr>
          <a:xfrm>
            <a:off x="2502408" y="4059936"/>
            <a:ext cx="1853184" cy="310896"/>
          </a:xfrm>
          <a:prstGeom prst="rect">
            <a:avLst/>
          </a:prstGeom>
          <a:noFill/>
          <a:ln/>
        </p:spPr>
        <p:txBody>
          <a:bodyPr wrap="square" lIns="0" tIns="0" rIns="0" bIns="0" rtlCol="0" anchor="t"/>
          <a:lstStyle/>
          <a:p>
            <a:pPr algn="ctr" indent="0" marL="0">
              <a:buNone/>
            </a:pPr>
            <a:r>
              <a:rPr lang="en-US" sz="1600" b="1" dirty="0">
                <a:solidFill>
                  <a:srgbClr val="F2B84B"/>
                </a:solidFill>
                <a:latin typeface="Calibri Light" pitchFamily="34" charset="0"/>
                <a:ea typeface="Calibri Light" pitchFamily="34" charset="-122"/>
                <a:cs typeface="Calibri Light" pitchFamily="34" charset="-120"/>
              </a:rPr>
              <a:t>₹4.29 Cr</a:t>
            </a:r>
            <a:endParaRPr lang="en-US" sz="1600" dirty="0"/>
          </a:p>
        </p:txBody>
      </p:sp>
      <p:sp>
        <p:nvSpPr>
          <p:cNvPr id="30" name="Text 27"/>
          <p:cNvSpPr/>
          <p:nvPr/>
        </p:nvSpPr>
        <p:spPr>
          <a:xfrm>
            <a:off x="2502408" y="4389120"/>
            <a:ext cx="1853184" cy="201168"/>
          </a:xfrm>
          <a:prstGeom prst="rect">
            <a:avLst/>
          </a:prstGeom>
          <a:noFill/>
          <a:ln/>
        </p:spPr>
        <p:txBody>
          <a:bodyPr wrap="square" lIns="0" tIns="0" rIns="0" bIns="0" rtlCol="0" anchor="t"/>
          <a:lstStyle/>
          <a:p>
            <a:pPr algn="ctr" indent="0" marL="0">
              <a:lnSpc>
                <a:spcPct val="92000"/>
              </a:lnSpc>
              <a:buNone/>
            </a:pPr>
            <a:r>
              <a:rPr lang="en-US" sz="660" dirty="0">
                <a:solidFill>
                  <a:srgbClr val="5F716E"/>
                </a:solidFill>
                <a:latin typeface="Calibri" pitchFamily="34" charset="0"/>
                <a:ea typeface="Calibri" pitchFamily="34" charset="-122"/>
                <a:cs typeface="Calibri" pitchFamily="34" charset="-120"/>
              </a:rPr>
              <a:t>76.5% conversion — concentrated in South-2</a:t>
            </a:r>
            <a:endParaRPr lang="en-US" sz="660" dirty="0"/>
          </a:p>
        </p:txBody>
      </p:sp>
      <p:sp>
        <p:nvSpPr>
          <p:cNvPr id="31" name="Shape 28"/>
          <p:cNvSpPr/>
          <p:nvPr/>
        </p:nvSpPr>
        <p:spPr>
          <a:xfrm>
            <a:off x="4556760" y="3694176"/>
            <a:ext cx="2036064" cy="932688"/>
          </a:xfrm>
          <a:prstGeom prst="roundRect">
            <a:avLst>
              <a:gd name="adj" fmla="val 1961"/>
            </a:avLst>
          </a:prstGeom>
          <a:solidFill>
            <a:srgbClr val="FFFFFF"/>
          </a:solidFill>
          <a:ln w="9525">
            <a:solidFill>
              <a:srgbClr val="C8DCD7"/>
            </a:solidFill>
            <a:prstDash val="solid"/>
          </a:ln>
        </p:spPr>
      </p:sp>
      <p:sp>
        <p:nvSpPr>
          <p:cNvPr id="32" name="Shape 29"/>
          <p:cNvSpPr/>
          <p:nvPr/>
        </p:nvSpPr>
        <p:spPr>
          <a:xfrm>
            <a:off x="4556760" y="3694176"/>
            <a:ext cx="2036064" cy="274320"/>
          </a:xfrm>
          <a:prstGeom prst="rect">
            <a:avLst/>
          </a:prstGeom>
          <a:solidFill>
            <a:srgbClr val="2B9A66"/>
          </a:solidFill>
          <a:ln/>
        </p:spPr>
      </p:sp>
      <p:sp>
        <p:nvSpPr>
          <p:cNvPr id="33" name="Text 30"/>
          <p:cNvSpPr/>
          <p:nvPr/>
        </p:nvSpPr>
        <p:spPr>
          <a:xfrm>
            <a:off x="4639056" y="3712464"/>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APOLLO</a:t>
            </a:r>
            <a:endParaRPr lang="en-US" sz="700" dirty="0"/>
          </a:p>
        </p:txBody>
      </p:sp>
      <p:sp>
        <p:nvSpPr>
          <p:cNvPr id="34" name="Text 31"/>
          <p:cNvSpPr/>
          <p:nvPr/>
        </p:nvSpPr>
        <p:spPr>
          <a:xfrm>
            <a:off x="4648200" y="4059936"/>
            <a:ext cx="1853184" cy="310896"/>
          </a:xfrm>
          <a:prstGeom prst="rect">
            <a:avLst/>
          </a:prstGeom>
          <a:noFill/>
          <a:ln/>
        </p:spPr>
        <p:txBody>
          <a:bodyPr wrap="square" lIns="0" tIns="0" rIns="0" bIns="0" rtlCol="0" anchor="t"/>
          <a:lstStyle/>
          <a:p>
            <a:pPr algn="ctr" indent="0" marL="0">
              <a:buNone/>
            </a:pPr>
            <a:r>
              <a:rPr lang="en-US" sz="1600" b="1" dirty="0">
                <a:solidFill>
                  <a:srgbClr val="2B9A66"/>
                </a:solidFill>
                <a:latin typeface="Calibri Light" pitchFamily="34" charset="0"/>
                <a:ea typeface="Calibri Light" pitchFamily="34" charset="-122"/>
                <a:cs typeface="Calibri Light" pitchFamily="34" charset="-120"/>
              </a:rPr>
              <a:t>99.7%</a:t>
            </a:r>
            <a:endParaRPr lang="en-US" sz="1600" dirty="0"/>
          </a:p>
        </p:txBody>
      </p:sp>
      <p:sp>
        <p:nvSpPr>
          <p:cNvPr id="35" name="Text 32"/>
          <p:cNvSpPr/>
          <p:nvPr/>
        </p:nvSpPr>
        <p:spPr>
          <a:xfrm>
            <a:off x="4648200" y="4389120"/>
            <a:ext cx="1853184" cy="201168"/>
          </a:xfrm>
          <a:prstGeom prst="rect">
            <a:avLst/>
          </a:prstGeom>
          <a:noFill/>
          <a:ln/>
        </p:spPr>
        <p:txBody>
          <a:bodyPr wrap="square" lIns="0" tIns="0" rIns="0" bIns="0" rtlCol="0" anchor="t"/>
          <a:lstStyle/>
          <a:p>
            <a:pPr algn="ctr" indent="0" marL="0">
              <a:lnSpc>
                <a:spcPct val="92000"/>
              </a:lnSpc>
              <a:buNone/>
            </a:pPr>
            <a:r>
              <a:rPr lang="en-US" sz="660" dirty="0">
                <a:solidFill>
                  <a:srgbClr val="5F716E"/>
                </a:solidFill>
                <a:latin typeface="Calibri" pitchFamily="34" charset="0"/>
                <a:ea typeface="Calibri" pitchFamily="34" charset="-122"/>
                <a:cs typeface="Calibri" pitchFamily="34" charset="-120"/>
              </a:rPr>
              <a:t>near parity, but zone figures need reconciling</a:t>
            </a:r>
            <a:endParaRPr lang="en-US" sz="660" dirty="0"/>
          </a:p>
        </p:txBody>
      </p:sp>
      <p:sp>
        <p:nvSpPr>
          <p:cNvPr id="36" name="Shape 33"/>
          <p:cNvSpPr/>
          <p:nvPr/>
        </p:nvSpPr>
        <p:spPr>
          <a:xfrm>
            <a:off x="265176" y="4773168"/>
            <a:ext cx="6327648" cy="256032"/>
          </a:xfrm>
          <a:prstGeom prst="rect">
            <a:avLst/>
          </a:prstGeom>
          <a:solidFill>
            <a:srgbClr val="D6544D"/>
          </a:solidFill>
          <a:ln/>
        </p:spPr>
      </p:sp>
      <p:sp>
        <p:nvSpPr>
          <p:cNvPr id="37" name="Text 34"/>
          <p:cNvSpPr/>
          <p:nvPr/>
        </p:nvSpPr>
        <p:spPr>
          <a:xfrm>
            <a:off x="374904" y="4791456"/>
            <a:ext cx="6108192" cy="219456"/>
          </a:xfrm>
          <a:prstGeom prst="rect">
            <a:avLst/>
          </a:prstGeom>
          <a:noFill/>
          <a:ln/>
        </p:spPr>
        <p:txBody>
          <a:bodyPr wrap="square" lIns="0" tIns="0" rIns="0" bIns="0" rtlCol="0" anchor="ctr"/>
          <a:lstStyle/>
          <a:p>
            <a:pPr indent="0" marL="0">
              <a:buNone/>
            </a:pPr>
            <a:r>
              <a:rPr lang="en-US" sz="720" b="1" spc="60" kern="0" dirty="0">
                <a:solidFill>
                  <a:srgbClr val="FFFFFF"/>
                </a:solidFill>
                <a:latin typeface="Calibri" pitchFamily="34" charset="0"/>
                <a:ea typeface="Calibri" pitchFamily="34" charset="-122"/>
                <a:cs typeface="Calibri" pitchFamily="34" charset="-120"/>
              </a:rPr>
              <a:t>GROSS GAP — POSITIVE AND NEGATIVE REPORTED SEPARATELY</a:t>
            </a:r>
            <a:endParaRPr lang="en-US" sz="720" dirty="0"/>
          </a:p>
        </p:txBody>
      </p:sp>
      <p:sp>
        <p:nvSpPr>
          <p:cNvPr id="38" name="Shape 35"/>
          <p:cNvSpPr/>
          <p:nvPr/>
        </p:nvSpPr>
        <p:spPr>
          <a:xfrm>
            <a:off x="265176" y="5120640"/>
            <a:ext cx="6327648" cy="256032"/>
          </a:xfrm>
          <a:prstGeom prst="rect">
            <a:avLst/>
          </a:prstGeom>
          <a:solidFill>
            <a:srgbClr val="116F68"/>
          </a:solidFill>
          <a:ln/>
        </p:spPr>
      </p:sp>
      <p:sp>
        <p:nvSpPr>
          <p:cNvPr id="39" name="Text 36"/>
          <p:cNvSpPr/>
          <p:nvPr/>
        </p:nvSpPr>
        <p:spPr>
          <a:xfrm>
            <a:off x="320040" y="5138928"/>
            <a:ext cx="1332015" cy="219456"/>
          </a:xfrm>
          <a:prstGeom prst="rect">
            <a:avLst/>
          </a:prstGeom>
          <a:noFill/>
          <a:ln/>
        </p:spPr>
        <p:txBody>
          <a:bodyPr wrap="square" lIns="0" tIns="0" rIns="0" bIns="0" rtlCol="0" anchor="ctr"/>
          <a:lstStyle/>
          <a:p>
            <a:pPr algn="l" indent="0" marL="0">
              <a:buNone/>
            </a:pPr>
            <a:r>
              <a:rPr lang="en-US" sz="660" b="1" spc="40" kern="0" dirty="0">
                <a:solidFill>
                  <a:srgbClr val="FFFFFF"/>
                </a:solidFill>
                <a:latin typeface="Calibri" pitchFamily="34" charset="0"/>
                <a:ea typeface="Calibri" pitchFamily="34" charset="-122"/>
                <a:cs typeface="Calibri" pitchFamily="34" charset="-120"/>
              </a:rPr>
              <a:t>CHAIN</a:t>
            </a:r>
            <a:endParaRPr lang="en-US" sz="660" dirty="0"/>
          </a:p>
        </p:txBody>
      </p:sp>
      <p:sp>
        <p:nvSpPr>
          <p:cNvPr id="40" name="Text 37"/>
          <p:cNvSpPr/>
          <p:nvPr/>
        </p:nvSpPr>
        <p:spPr>
          <a:xfrm>
            <a:off x="1761783" y="5138928"/>
            <a:ext cx="691240"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PRIMARY</a:t>
            </a:r>
            <a:endParaRPr lang="en-US" sz="660" dirty="0"/>
          </a:p>
        </p:txBody>
      </p:sp>
      <p:sp>
        <p:nvSpPr>
          <p:cNvPr id="41" name="Text 38"/>
          <p:cNvSpPr/>
          <p:nvPr/>
        </p:nvSpPr>
        <p:spPr>
          <a:xfrm>
            <a:off x="2562751" y="5138928"/>
            <a:ext cx="691240"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OFFTAKE</a:t>
            </a:r>
            <a:endParaRPr lang="en-US" sz="660" dirty="0"/>
          </a:p>
        </p:txBody>
      </p:sp>
      <p:sp>
        <p:nvSpPr>
          <p:cNvPr id="42" name="Text 39"/>
          <p:cNvSpPr/>
          <p:nvPr/>
        </p:nvSpPr>
        <p:spPr>
          <a:xfrm>
            <a:off x="3363719" y="5138928"/>
            <a:ext cx="651192"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GAP</a:t>
            </a:r>
            <a:endParaRPr lang="en-US" sz="660" dirty="0"/>
          </a:p>
        </p:txBody>
      </p:sp>
      <p:sp>
        <p:nvSpPr>
          <p:cNvPr id="43" name="Text 40"/>
          <p:cNvSpPr/>
          <p:nvPr/>
        </p:nvSpPr>
        <p:spPr>
          <a:xfrm>
            <a:off x="4124638" y="5138928"/>
            <a:ext cx="571095"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CONV.</a:t>
            </a:r>
            <a:endParaRPr lang="en-US" sz="660" dirty="0"/>
          </a:p>
        </p:txBody>
      </p:sp>
      <p:sp>
        <p:nvSpPr>
          <p:cNvPr id="44" name="Text 41"/>
          <p:cNvSpPr/>
          <p:nvPr/>
        </p:nvSpPr>
        <p:spPr>
          <a:xfrm>
            <a:off x="4805461" y="5138928"/>
            <a:ext cx="1732499" cy="219456"/>
          </a:xfrm>
          <a:prstGeom prst="rect">
            <a:avLst/>
          </a:prstGeom>
          <a:noFill/>
          <a:ln/>
        </p:spPr>
        <p:txBody>
          <a:bodyPr wrap="square" lIns="0" tIns="0" rIns="0" bIns="0" rtlCol="0" anchor="ctr"/>
          <a:lstStyle/>
          <a:p>
            <a:pPr algn="l" indent="0" marL="0">
              <a:buNone/>
            </a:pPr>
            <a:r>
              <a:rPr lang="en-US" sz="660" b="1" spc="40" kern="0" dirty="0">
                <a:solidFill>
                  <a:srgbClr val="FFFFFF"/>
                </a:solidFill>
                <a:latin typeface="Calibri" pitchFamily="34" charset="0"/>
                <a:ea typeface="Calibri" pitchFamily="34" charset="-122"/>
                <a:cs typeface="Calibri" pitchFamily="34" charset="-120"/>
              </a:rPr>
              <a:t>READ</a:t>
            </a:r>
            <a:endParaRPr lang="en-US" sz="660" dirty="0"/>
          </a:p>
        </p:txBody>
      </p:sp>
      <p:sp>
        <p:nvSpPr>
          <p:cNvPr id="45" name="Shape 42"/>
          <p:cNvSpPr/>
          <p:nvPr/>
        </p:nvSpPr>
        <p:spPr>
          <a:xfrm>
            <a:off x="265176" y="5376672"/>
            <a:ext cx="6327648" cy="310896"/>
          </a:xfrm>
          <a:prstGeom prst="rect">
            <a:avLst/>
          </a:prstGeom>
          <a:solidFill>
            <a:srgbClr val="F4F9F8"/>
          </a:solidFill>
          <a:ln/>
        </p:spPr>
      </p:sp>
      <p:sp>
        <p:nvSpPr>
          <p:cNvPr id="46" name="Shape 43"/>
          <p:cNvSpPr/>
          <p:nvPr/>
        </p:nvSpPr>
        <p:spPr>
          <a:xfrm>
            <a:off x="265176" y="5687568"/>
            <a:ext cx="6327648" cy="0"/>
          </a:xfrm>
          <a:prstGeom prst="line">
            <a:avLst/>
          </a:prstGeom>
          <a:noFill/>
          <a:ln w="6350">
            <a:solidFill>
              <a:srgbClr val="C8DCD7"/>
            </a:solidFill>
            <a:prstDash val="solid"/>
          </a:ln>
        </p:spPr>
      </p:sp>
      <p:sp>
        <p:nvSpPr>
          <p:cNvPr id="47" name="Text 44"/>
          <p:cNvSpPr/>
          <p:nvPr/>
        </p:nvSpPr>
        <p:spPr>
          <a:xfrm>
            <a:off x="320040" y="5376672"/>
            <a:ext cx="1332015" cy="310896"/>
          </a:xfrm>
          <a:prstGeom prst="rect">
            <a:avLst/>
          </a:prstGeom>
          <a:noFill/>
          <a:ln/>
        </p:spPr>
        <p:txBody>
          <a:bodyPr wrap="square" lIns="0" tIns="0" rIns="0" bIns="0" rtlCol="0" anchor="ctr"/>
          <a:lstStyle/>
          <a:p>
            <a:pPr algn="l" indent="0" marL="0">
              <a:buNone/>
            </a:pPr>
            <a:r>
              <a:rPr lang="en-US" sz="720" b="1" dirty="0">
                <a:solidFill>
                  <a:srgbClr val="183B39"/>
                </a:solidFill>
                <a:latin typeface="Calibri" pitchFamily="34" charset="0"/>
                <a:ea typeface="Calibri" pitchFamily="34" charset="-122"/>
                <a:cs typeface="Calibri" pitchFamily="34" charset="-120"/>
              </a:rPr>
              <a:t>Reliance</a:t>
            </a:r>
            <a:endParaRPr lang="en-US" sz="720" dirty="0"/>
          </a:p>
        </p:txBody>
      </p:sp>
      <p:sp>
        <p:nvSpPr>
          <p:cNvPr id="48" name="Text 45"/>
          <p:cNvSpPr/>
          <p:nvPr/>
        </p:nvSpPr>
        <p:spPr>
          <a:xfrm>
            <a:off x="1761783" y="5376672"/>
            <a:ext cx="691240" cy="310896"/>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15.66</a:t>
            </a:r>
            <a:endParaRPr lang="en-US" sz="720" dirty="0"/>
          </a:p>
        </p:txBody>
      </p:sp>
      <p:sp>
        <p:nvSpPr>
          <p:cNvPr id="49" name="Text 46"/>
          <p:cNvSpPr/>
          <p:nvPr/>
        </p:nvSpPr>
        <p:spPr>
          <a:xfrm>
            <a:off x="2562751" y="5376672"/>
            <a:ext cx="691240" cy="310896"/>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8.06</a:t>
            </a:r>
            <a:endParaRPr lang="en-US" sz="720" dirty="0"/>
          </a:p>
        </p:txBody>
      </p:sp>
      <p:sp>
        <p:nvSpPr>
          <p:cNvPr id="50" name="Text 47"/>
          <p:cNvSpPr/>
          <p:nvPr/>
        </p:nvSpPr>
        <p:spPr>
          <a:xfrm>
            <a:off x="3363719" y="5376672"/>
            <a:ext cx="651192" cy="310896"/>
          </a:xfrm>
          <a:prstGeom prst="rect">
            <a:avLst/>
          </a:prstGeom>
          <a:noFill/>
          <a:ln/>
        </p:spPr>
        <p:txBody>
          <a:bodyPr wrap="square" lIns="0" tIns="0" rIns="0" bIns="0" rtlCol="0" anchor="ctr"/>
          <a:lstStyle/>
          <a:p>
            <a:pPr algn="r" indent="0" marL="0">
              <a:buNone/>
            </a:pPr>
            <a:r>
              <a:rPr lang="en-US" sz="720" b="1" dirty="0">
                <a:solidFill>
                  <a:srgbClr val="D6544D"/>
                </a:solidFill>
                <a:latin typeface="Calibri" pitchFamily="34" charset="0"/>
                <a:ea typeface="Calibri" pitchFamily="34" charset="-122"/>
                <a:cs typeface="Calibri" pitchFamily="34" charset="-120"/>
              </a:rPr>
              <a:t>+7.61</a:t>
            </a:r>
            <a:endParaRPr lang="en-US" sz="720" dirty="0"/>
          </a:p>
        </p:txBody>
      </p:sp>
      <p:sp>
        <p:nvSpPr>
          <p:cNvPr id="51" name="Text 48"/>
          <p:cNvSpPr/>
          <p:nvPr/>
        </p:nvSpPr>
        <p:spPr>
          <a:xfrm>
            <a:off x="4124638" y="5376672"/>
            <a:ext cx="571095" cy="310896"/>
          </a:xfrm>
          <a:prstGeom prst="rect">
            <a:avLst/>
          </a:prstGeom>
          <a:noFill/>
          <a:ln/>
        </p:spPr>
        <p:txBody>
          <a:bodyPr wrap="square" lIns="0" tIns="0" rIns="0" bIns="0" rtlCol="0" anchor="ctr"/>
          <a:lstStyle/>
          <a:p>
            <a:pPr algn="r" indent="0" marL="0">
              <a:buNone/>
            </a:pPr>
            <a:r>
              <a:rPr lang="en-US" sz="720" dirty="0">
                <a:solidFill>
                  <a:srgbClr val="D6544D"/>
                </a:solidFill>
                <a:latin typeface="Calibri" pitchFamily="34" charset="0"/>
                <a:ea typeface="Calibri" pitchFamily="34" charset="-122"/>
                <a:cs typeface="Calibri" pitchFamily="34" charset="-120"/>
              </a:rPr>
              <a:t>51.4%</a:t>
            </a:r>
            <a:endParaRPr lang="en-US" sz="720" dirty="0"/>
          </a:p>
        </p:txBody>
      </p:sp>
      <p:sp>
        <p:nvSpPr>
          <p:cNvPr id="52" name="Text 49"/>
          <p:cNvSpPr/>
          <p:nvPr/>
        </p:nvSpPr>
        <p:spPr>
          <a:xfrm>
            <a:off x="4805461" y="5376672"/>
            <a:ext cx="1732499" cy="310896"/>
          </a:xfrm>
          <a:prstGeom prst="rect">
            <a:avLst/>
          </a:prstGeom>
          <a:noFill/>
          <a:ln/>
        </p:spPr>
        <p:txBody>
          <a:bodyPr wrap="square" lIns="0" tIns="0" rIns="0" bIns="0" rtlCol="0" anchor="ctr"/>
          <a:lstStyle/>
          <a:p>
            <a:pPr algn="l" indent="0" marL="0">
              <a:buNone/>
            </a:pPr>
            <a:r>
              <a:rPr lang="en-US" sz="720" dirty="0">
                <a:solidFill>
                  <a:srgbClr val="D6544D"/>
                </a:solidFill>
                <a:latin typeface="Calibri" pitchFamily="34" charset="0"/>
                <a:ea typeface="Calibri" pitchFamily="34" charset="-122"/>
                <a:cs typeface="Calibri" pitchFamily="34" charset="-120"/>
              </a:rPr>
              <a:t>Billed and unsold — recover</a:t>
            </a:r>
            <a:endParaRPr lang="en-US" sz="720" dirty="0"/>
          </a:p>
        </p:txBody>
      </p:sp>
      <p:sp>
        <p:nvSpPr>
          <p:cNvPr id="53" name="Shape 50"/>
          <p:cNvSpPr/>
          <p:nvPr/>
        </p:nvSpPr>
        <p:spPr>
          <a:xfrm>
            <a:off x="265176" y="5998464"/>
            <a:ext cx="6327648" cy="0"/>
          </a:xfrm>
          <a:prstGeom prst="line">
            <a:avLst/>
          </a:prstGeom>
          <a:noFill/>
          <a:ln w="6350">
            <a:solidFill>
              <a:srgbClr val="C8DCD7"/>
            </a:solidFill>
            <a:prstDash val="solid"/>
          </a:ln>
        </p:spPr>
      </p:sp>
      <p:sp>
        <p:nvSpPr>
          <p:cNvPr id="54" name="Text 51"/>
          <p:cNvSpPr/>
          <p:nvPr/>
        </p:nvSpPr>
        <p:spPr>
          <a:xfrm>
            <a:off x="320040" y="5687568"/>
            <a:ext cx="1332015" cy="310896"/>
          </a:xfrm>
          <a:prstGeom prst="rect">
            <a:avLst/>
          </a:prstGeom>
          <a:noFill/>
          <a:ln/>
        </p:spPr>
        <p:txBody>
          <a:bodyPr wrap="square" lIns="0" tIns="0" rIns="0" bIns="0" rtlCol="0" anchor="ctr"/>
          <a:lstStyle/>
          <a:p>
            <a:pPr algn="l" indent="0" marL="0">
              <a:buNone/>
            </a:pPr>
            <a:r>
              <a:rPr lang="en-US" sz="720" b="1" dirty="0">
                <a:solidFill>
                  <a:srgbClr val="183B39"/>
                </a:solidFill>
                <a:latin typeface="Calibri" pitchFamily="34" charset="0"/>
                <a:ea typeface="Calibri" pitchFamily="34" charset="-122"/>
                <a:cs typeface="Calibri" pitchFamily="34" charset="-120"/>
              </a:rPr>
              <a:t>DMart</a:t>
            </a:r>
            <a:endParaRPr lang="en-US" sz="720" dirty="0"/>
          </a:p>
        </p:txBody>
      </p:sp>
      <p:sp>
        <p:nvSpPr>
          <p:cNvPr id="55" name="Text 52"/>
          <p:cNvSpPr/>
          <p:nvPr/>
        </p:nvSpPr>
        <p:spPr>
          <a:xfrm>
            <a:off x="1761783" y="5687568"/>
            <a:ext cx="691240" cy="310896"/>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18.25</a:t>
            </a:r>
            <a:endParaRPr lang="en-US" sz="720" dirty="0"/>
          </a:p>
        </p:txBody>
      </p:sp>
      <p:sp>
        <p:nvSpPr>
          <p:cNvPr id="56" name="Text 53"/>
          <p:cNvSpPr/>
          <p:nvPr/>
        </p:nvSpPr>
        <p:spPr>
          <a:xfrm>
            <a:off x="2562751" y="5687568"/>
            <a:ext cx="691240" cy="310896"/>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13.97</a:t>
            </a:r>
            <a:endParaRPr lang="en-US" sz="720" dirty="0"/>
          </a:p>
        </p:txBody>
      </p:sp>
      <p:sp>
        <p:nvSpPr>
          <p:cNvPr id="57" name="Text 54"/>
          <p:cNvSpPr/>
          <p:nvPr/>
        </p:nvSpPr>
        <p:spPr>
          <a:xfrm>
            <a:off x="3363719" y="5687568"/>
            <a:ext cx="651192" cy="310896"/>
          </a:xfrm>
          <a:prstGeom prst="rect">
            <a:avLst/>
          </a:prstGeom>
          <a:noFill/>
          <a:ln/>
        </p:spPr>
        <p:txBody>
          <a:bodyPr wrap="square" lIns="0" tIns="0" rIns="0" bIns="0" rtlCol="0" anchor="ctr"/>
          <a:lstStyle/>
          <a:p>
            <a:pPr algn="r" indent="0" marL="0">
              <a:buNone/>
            </a:pPr>
            <a:r>
              <a:rPr lang="en-US" sz="720" b="1" dirty="0">
                <a:solidFill>
                  <a:srgbClr val="F2B84B"/>
                </a:solidFill>
                <a:latin typeface="Calibri" pitchFamily="34" charset="0"/>
                <a:ea typeface="Calibri" pitchFamily="34" charset="-122"/>
                <a:cs typeface="Calibri" pitchFamily="34" charset="-120"/>
              </a:rPr>
              <a:t>+4.29</a:t>
            </a:r>
            <a:endParaRPr lang="en-US" sz="720" dirty="0"/>
          </a:p>
        </p:txBody>
      </p:sp>
      <p:sp>
        <p:nvSpPr>
          <p:cNvPr id="58" name="Text 55"/>
          <p:cNvSpPr/>
          <p:nvPr/>
        </p:nvSpPr>
        <p:spPr>
          <a:xfrm>
            <a:off x="4124638" y="5687568"/>
            <a:ext cx="571095" cy="310896"/>
          </a:xfrm>
          <a:prstGeom prst="rect">
            <a:avLst/>
          </a:prstGeom>
          <a:noFill/>
          <a:ln/>
        </p:spPr>
        <p:txBody>
          <a:bodyPr wrap="square" lIns="0" tIns="0" rIns="0" bIns="0" rtlCol="0" anchor="ctr"/>
          <a:lstStyle/>
          <a:p>
            <a:pPr algn="r" indent="0" marL="0">
              <a:buNone/>
            </a:pPr>
            <a:r>
              <a:rPr lang="en-US" sz="720" dirty="0">
                <a:solidFill>
                  <a:srgbClr val="F2B84B"/>
                </a:solidFill>
                <a:latin typeface="Calibri" pitchFamily="34" charset="0"/>
                <a:ea typeface="Calibri" pitchFamily="34" charset="-122"/>
                <a:cs typeface="Calibri" pitchFamily="34" charset="-120"/>
              </a:rPr>
              <a:t>76.5%</a:t>
            </a:r>
            <a:endParaRPr lang="en-US" sz="720" dirty="0"/>
          </a:p>
        </p:txBody>
      </p:sp>
      <p:sp>
        <p:nvSpPr>
          <p:cNvPr id="59" name="Text 56"/>
          <p:cNvSpPr/>
          <p:nvPr/>
        </p:nvSpPr>
        <p:spPr>
          <a:xfrm>
            <a:off x="4805461" y="5687568"/>
            <a:ext cx="1732499" cy="310896"/>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Recover, concentrated in South-2</a:t>
            </a:r>
            <a:endParaRPr lang="en-US" sz="720" dirty="0"/>
          </a:p>
        </p:txBody>
      </p:sp>
      <p:sp>
        <p:nvSpPr>
          <p:cNvPr id="60" name="Shape 57"/>
          <p:cNvSpPr/>
          <p:nvPr/>
        </p:nvSpPr>
        <p:spPr>
          <a:xfrm>
            <a:off x="265176" y="5998464"/>
            <a:ext cx="6327648" cy="310896"/>
          </a:xfrm>
          <a:prstGeom prst="rect">
            <a:avLst/>
          </a:prstGeom>
          <a:solidFill>
            <a:srgbClr val="F4F9F8"/>
          </a:solidFill>
          <a:ln/>
        </p:spPr>
      </p:sp>
      <p:sp>
        <p:nvSpPr>
          <p:cNvPr id="61" name="Shape 58"/>
          <p:cNvSpPr/>
          <p:nvPr/>
        </p:nvSpPr>
        <p:spPr>
          <a:xfrm>
            <a:off x="265176" y="6309360"/>
            <a:ext cx="6327648" cy="0"/>
          </a:xfrm>
          <a:prstGeom prst="line">
            <a:avLst/>
          </a:prstGeom>
          <a:noFill/>
          <a:ln w="6350">
            <a:solidFill>
              <a:srgbClr val="C8DCD7"/>
            </a:solidFill>
            <a:prstDash val="solid"/>
          </a:ln>
        </p:spPr>
      </p:sp>
      <p:sp>
        <p:nvSpPr>
          <p:cNvPr id="62" name="Text 59"/>
          <p:cNvSpPr/>
          <p:nvPr/>
        </p:nvSpPr>
        <p:spPr>
          <a:xfrm>
            <a:off x="320040" y="5998464"/>
            <a:ext cx="1332015" cy="310896"/>
          </a:xfrm>
          <a:prstGeom prst="rect">
            <a:avLst/>
          </a:prstGeom>
          <a:noFill/>
          <a:ln/>
        </p:spPr>
        <p:txBody>
          <a:bodyPr wrap="square" lIns="0" tIns="0" rIns="0" bIns="0" rtlCol="0" anchor="ctr"/>
          <a:lstStyle/>
          <a:p>
            <a:pPr algn="l" indent="0" marL="0">
              <a:buNone/>
            </a:pPr>
            <a:r>
              <a:rPr lang="en-US" sz="720" b="1" dirty="0">
                <a:solidFill>
                  <a:srgbClr val="183B39"/>
                </a:solidFill>
                <a:latin typeface="Calibri" pitchFamily="34" charset="0"/>
                <a:ea typeface="Calibri" pitchFamily="34" charset="-122"/>
                <a:cs typeface="Calibri" pitchFamily="34" charset="-120"/>
              </a:rPr>
              <a:t>Metro</a:t>
            </a:r>
            <a:endParaRPr lang="en-US" sz="720" dirty="0"/>
          </a:p>
        </p:txBody>
      </p:sp>
      <p:sp>
        <p:nvSpPr>
          <p:cNvPr id="63" name="Text 60"/>
          <p:cNvSpPr/>
          <p:nvPr/>
        </p:nvSpPr>
        <p:spPr>
          <a:xfrm>
            <a:off x="1761783" y="5998464"/>
            <a:ext cx="691240" cy="310896"/>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1.84</a:t>
            </a:r>
            <a:endParaRPr lang="en-US" sz="720" dirty="0"/>
          </a:p>
        </p:txBody>
      </p:sp>
      <p:sp>
        <p:nvSpPr>
          <p:cNvPr id="64" name="Text 61"/>
          <p:cNvSpPr/>
          <p:nvPr/>
        </p:nvSpPr>
        <p:spPr>
          <a:xfrm>
            <a:off x="2562751" y="5998464"/>
            <a:ext cx="691240" cy="310896"/>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0.49</a:t>
            </a:r>
            <a:endParaRPr lang="en-US" sz="720" dirty="0"/>
          </a:p>
        </p:txBody>
      </p:sp>
      <p:sp>
        <p:nvSpPr>
          <p:cNvPr id="65" name="Text 62"/>
          <p:cNvSpPr/>
          <p:nvPr/>
        </p:nvSpPr>
        <p:spPr>
          <a:xfrm>
            <a:off x="3363719" y="5998464"/>
            <a:ext cx="651192" cy="310896"/>
          </a:xfrm>
          <a:prstGeom prst="rect">
            <a:avLst/>
          </a:prstGeom>
          <a:noFill/>
          <a:ln/>
        </p:spPr>
        <p:txBody>
          <a:bodyPr wrap="square" lIns="0" tIns="0" rIns="0" bIns="0" rtlCol="0" anchor="ctr"/>
          <a:lstStyle/>
          <a:p>
            <a:pPr algn="r" indent="0" marL="0">
              <a:buNone/>
            </a:pPr>
            <a:r>
              <a:rPr lang="en-US" sz="720" b="1" dirty="0">
                <a:solidFill>
                  <a:srgbClr val="F2B84B"/>
                </a:solidFill>
                <a:latin typeface="Calibri" pitchFamily="34" charset="0"/>
                <a:ea typeface="Calibri" pitchFamily="34" charset="-122"/>
                <a:cs typeface="Calibri" pitchFamily="34" charset="-120"/>
              </a:rPr>
              <a:t>+1.36</a:t>
            </a:r>
            <a:endParaRPr lang="en-US" sz="720" dirty="0"/>
          </a:p>
        </p:txBody>
      </p:sp>
      <p:sp>
        <p:nvSpPr>
          <p:cNvPr id="66" name="Text 63"/>
          <p:cNvSpPr/>
          <p:nvPr/>
        </p:nvSpPr>
        <p:spPr>
          <a:xfrm>
            <a:off x="4124638" y="5998464"/>
            <a:ext cx="571095" cy="310896"/>
          </a:xfrm>
          <a:prstGeom prst="rect">
            <a:avLst/>
          </a:prstGeom>
          <a:noFill/>
          <a:ln/>
        </p:spPr>
        <p:txBody>
          <a:bodyPr wrap="square" lIns="0" tIns="0" rIns="0" bIns="0" rtlCol="0" anchor="ctr"/>
          <a:lstStyle/>
          <a:p>
            <a:pPr algn="r" indent="0" marL="0">
              <a:buNone/>
            </a:pPr>
            <a:r>
              <a:rPr lang="en-US" sz="720" dirty="0">
                <a:solidFill>
                  <a:srgbClr val="D6544D"/>
                </a:solidFill>
                <a:latin typeface="Calibri" pitchFamily="34" charset="0"/>
                <a:ea typeface="Calibri" pitchFamily="34" charset="-122"/>
                <a:cs typeface="Calibri" pitchFamily="34" charset="-120"/>
              </a:rPr>
              <a:t>26.5%</a:t>
            </a:r>
            <a:endParaRPr lang="en-US" sz="720" dirty="0"/>
          </a:p>
        </p:txBody>
      </p:sp>
      <p:sp>
        <p:nvSpPr>
          <p:cNvPr id="67" name="Text 64"/>
          <p:cNvSpPr/>
          <p:nvPr/>
        </p:nvSpPr>
        <p:spPr>
          <a:xfrm>
            <a:off x="4805461" y="5998464"/>
            <a:ext cx="1732499" cy="310896"/>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Range dilution, small base</a:t>
            </a:r>
            <a:endParaRPr lang="en-US" sz="720" dirty="0"/>
          </a:p>
        </p:txBody>
      </p:sp>
      <p:sp>
        <p:nvSpPr>
          <p:cNvPr id="68" name="Shape 65"/>
          <p:cNvSpPr/>
          <p:nvPr/>
        </p:nvSpPr>
        <p:spPr>
          <a:xfrm>
            <a:off x="265176" y="6620256"/>
            <a:ext cx="6327648" cy="0"/>
          </a:xfrm>
          <a:prstGeom prst="line">
            <a:avLst/>
          </a:prstGeom>
          <a:noFill/>
          <a:ln w="6350">
            <a:solidFill>
              <a:srgbClr val="C8DCD7"/>
            </a:solidFill>
            <a:prstDash val="solid"/>
          </a:ln>
        </p:spPr>
      </p:sp>
      <p:sp>
        <p:nvSpPr>
          <p:cNvPr id="69" name="Text 66"/>
          <p:cNvSpPr/>
          <p:nvPr/>
        </p:nvSpPr>
        <p:spPr>
          <a:xfrm>
            <a:off x="320040" y="6309360"/>
            <a:ext cx="1332015" cy="310896"/>
          </a:xfrm>
          <a:prstGeom prst="rect">
            <a:avLst/>
          </a:prstGeom>
          <a:noFill/>
          <a:ln/>
        </p:spPr>
        <p:txBody>
          <a:bodyPr wrap="square" lIns="0" tIns="0" rIns="0" bIns="0" rtlCol="0" anchor="ctr"/>
          <a:lstStyle/>
          <a:p>
            <a:pPr algn="l" indent="0" marL="0">
              <a:buNone/>
            </a:pPr>
            <a:r>
              <a:rPr lang="en-US" sz="720" b="1" dirty="0">
                <a:solidFill>
                  <a:srgbClr val="183B39"/>
                </a:solidFill>
                <a:latin typeface="Calibri" pitchFamily="34" charset="0"/>
                <a:ea typeface="Calibri" pitchFamily="34" charset="-122"/>
                <a:cs typeface="Calibri" pitchFamily="34" charset="-120"/>
              </a:rPr>
              <a:t>Lulu</a:t>
            </a:r>
            <a:endParaRPr lang="en-US" sz="720" dirty="0"/>
          </a:p>
        </p:txBody>
      </p:sp>
      <p:sp>
        <p:nvSpPr>
          <p:cNvPr id="70" name="Text 67"/>
          <p:cNvSpPr/>
          <p:nvPr/>
        </p:nvSpPr>
        <p:spPr>
          <a:xfrm>
            <a:off x="1761783" y="6309360"/>
            <a:ext cx="691240" cy="310896"/>
          </a:xfrm>
          <a:prstGeom prst="rect">
            <a:avLst/>
          </a:prstGeom>
          <a:noFill/>
          <a:ln/>
        </p:spPr>
        <p:txBody>
          <a:bodyPr wrap="square" lIns="0" tIns="0" rIns="0" bIns="0" rtlCol="0" anchor="ctr"/>
          <a:lstStyle/>
          <a:p>
            <a:pPr algn="r" indent="0" marL="0">
              <a:buNone/>
            </a:pPr>
            <a:r>
              <a:rPr lang="en-US" sz="720" dirty="0">
                <a:solidFill>
                  <a:srgbClr val="F2B84B"/>
                </a:solidFill>
                <a:latin typeface="Calibri" pitchFamily="34" charset="0"/>
                <a:ea typeface="Calibri" pitchFamily="34" charset="-122"/>
                <a:cs typeface="Calibri" pitchFamily="34" charset="-120"/>
              </a:rPr>
              <a:t>0.00</a:t>
            </a:r>
            <a:endParaRPr lang="en-US" sz="720" dirty="0"/>
          </a:p>
        </p:txBody>
      </p:sp>
      <p:sp>
        <p:nvSpPr>
          <p:cNvPr id="71" name="Text 68"/>
          <p:cNvSpPr/>
          <p:nvPr/>
        </p:nvSpPr>
        <p:spPr>
          <a:xfrm>
            <a:off x="2562751" y="6309360"/>
            <a:ext cx="691240" cy="310896"/>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1.70</a:t>
            </a:r>
            <a:endParaRPr lang="en-US" sz="720" dirty="0"/>
          </a:p>
        </p:txBody>
      </p:sp>
      <p:sp>
        <p:nvSpPr>
          <p:cNvPr id="72" name="Text 69"/>
          <p:cNvSpPr/>
          <p:nvPr/>
        </p:nvSpPr>
        <p:spPr>
          <a:xfrm>
            <a:off x="3363719" y="6309360"/>
            <a:ext cx="651192" cy="310896"/>
          </a:xfrm>
          <a:prstGeom prst="rect">
            <a:avLst/>
          </a:prstGeom>
          <a:noFill/>
          <a:ln/>
        </p:spPr>
        <p:txBody>
          <a:bodyPr wrap="square" lIns="0" tIns="0" rIns="0" bIns="0" rtlCol="0" anchor="ctr"/>
          <a:lstStyle/>
          <a:p>
            <a:pPr algn="r" indent="0" marL="0">
              <a:buNone/>
            </a:pPr>
            <a:r>
              <a:rPr lang="en-US" sz="720" b="1" dirty="0">
                <a:solidFill>
                  <a:srgbClr val="F2B84B"/>
                </a:solidFill>
                <a:latin typeface="Calibri" pitchFamily="34" charset="0"/>
                <a:ea typeface="Calibri" pitchFamily="34" charset="-122"/>
                <a:cs typeface="Calibri" pitchFamily="34" charset="-120"/>
              </a:rPr>
              <a:t>−1.70</a:t>
            </a:r>
            <a:endParaRPr lang="en-US" sz="720" dirty="0"/>
          </a:p>
        </p:txBody>
      </p:sp>
      <p:sp>
        <p:nvSpPr>
          <p:cNvPr id="73" name="Text 70"/>
          <p:cNvSpPr/>
          <p:nvPr/>
        </p:nvSpPr>
        <p:spPr>
          <a:xfrm>
            <a:off x="4124638" y="6309360"/>
            <a:ext cx="571095" cy="310896"/>
          </a:xfrm>
          <a:prstGeom prst="rect">
            <a:avLst/>
          </a:prstGeom>
          <a:noFill/>
          <a:ln/>
        </p:spPr>
        <p:txBody>
          <a:bodyPr wrap="square" lIns="0" tIns="0" rIns="0" bIns="0" rtlCol="0" anchor="ctr"/>
          <a:lstStyle/>
          <a:p>
            <a:pPr algn="r" indent="0" marL="0">
              <a:buNone/>
            </a:pPr>
            <a:r>
              <a:rPr lang="en-US" sz="720" dirty="0">
                <a:solidFill>
                  <a:srgbClr val="F2B84B"/>
                </a:solidFill>
                <a:latin typeface="Calibri" pitchFamily="34" charset="0"/>
                <a:ea typeface="Calibri" pitchFamily="34" charset="-122"/>
                <a:cs typeface="Calibri" pitchFamily="34" charset="-120"/>
              </a:rPr>
              <a:t>n/a</a:t>
            </a:r>
            <a:endParaRPr lang="en-US" sz="720" dirty="0"/>
          </a:p>
        </p:txBody>
      </p:sp>
      <p:sp>
        <p:nvSpPr>
          <p:cNvPr id="74" name="Text 71"/>
          <p:cNvSpPr/>
          <p:nvPr/>
        </p:nvSpPr>
        <p:spPr>
          <a:xfrm>
            <a:off x="4805461" y="6309360"/>
            <a:ext cx="1732499" cy="310896"/>
          </a:xfrm>
          <a:prstGeom prst="rect">
            <a:avLst/>
          </a:prstGeom>
          <a:noFill/>
          <a:ln/>
        </p:spPr>
        <p:txBody>
          <a:bodyPr wrap="square" lIns="0" tIns="0" rIns="0" bIns="0" rtlCol="0" anchor="ctr"/>
          <a:lstStyle/>
          <a:p>
            <a:pPr algn="l" indent="0" marL="0">
              <a:buNone/>
            </a:pPr>
            <a:r>
              <a:rPr lang="en-US" sz="720" dirty="0">
                <a:solidFill>
                  <a:srgbClr val="F2B84B"/>
                </a:solidFill>
                <a:latin typeface="Calibri" pitchFamily="34" charset="0"/>
                <a:ea typeface="Calibri" pitchFamily="34" charset="-122"/>
                <a:cs typeface="Calibri" pitchFamily="34" charset="-120"/>
              </a:rPr>
              <a:t>Primary not mapped — cannot test</a:t>
            </a:r>
            <a:endParaRPr lang="en-US" sz="720" dirty="0"/>
          </a:p>
        </p:txBody>
      </p:sp>
      <p:sp>
        <p:nvSpPr>
          <p:cNvPr id="75" name="Shape 72"/>
          <p:cNvSpPr/>
          <p:nvPr/>
        </p:nvSpPr>
        <p:spPr>
          <a:xfrm>
            <a:off x="265176" y="6620256"/>
            <a:ext cx="6327648" cy="310896"/>
          </a:xfrm>
          <a:prstGeom prst="rect">
            <a:avLst/>
          </a:prstGeom>
          <a:solidFill>
            <a:srgbClr val="F4F9F8"/>
          </a:solidFill>
          <a:ln/>
        </p:spPr>
      </p:sp>
      <p:sp>
        <p:nvSpPr>
          <p:cNvPr id="76" name="Shape 73"/>
          <p:cNvSpPr/>
          <p:nvPr/>
        </p:nvSpPr>
        <p:spPr>
          <a:xfrm>
            <a:off x="265176" y="6931152"/>
            <a:ext cx="6327648" cy="0"/>
          </a:xfrm>
          <a:prstGeom prst="line">
            <a:avLst/>
          </a:prstGeom>
          <a:noFill/>
          <a:ln w="6350">
            <a:solidFill>
              <a:srgbClr val="C8DCD7"/>
            </a:solidFill>
            <a:prstDash val="solid"/>
          </a:ln>
        </p:spPr>
      </p:sp>
      <p:sp>
        <p:nvSpPr>
          <p:cNvPr id="77" name="Text 74"/>
          <p:cNvSpPr/>
          <p:nvPr/>
        </p:nvSpPr>
        <p:spPr>
          <a:xfrm>
            <a:off x="320040" y="6620256"/>
            <a:ext cx="1332015" cy="310896"/>
          </a:xfrm>
          <a:prstGeom prst="rect">
            <a:avLst/>
          </a:prstGeom>
          <a:noFill/>
          <a:ln/>
        </p:spPr>
        <p:txBody>
          <a:bodyPr wrap="square" lIns="0" tIns="0" rIns="0" bIns="0" rtlCol="0" anchor="ctr"/>
          <a:lstStyle/>
          <a:p>
            <a:pPr algn="l" indent="0" marL="0">
              <a:buNone/>
            </a:pPr>
            <a:r>
              <a:rPr lang="en-US" sz="720" b="1" dirty="0">
                <a:solidFill>
                  <a:srgbClr val="183B39"/>
                </a:solidFill>
                <a:latin typeface="Calibri" pitchFamily="34" charset="0"/>
                <a:ea typeface="Calibri" pitchFamily="34" charset="-122"/>
                <a:cs typeface="Calibri" pitchFamily="34" charset="-120"/>
              </a:rPr>
              <a:t>Health &amp; Glow</a:t>
            </a:r>
            <a:endParaRPr lang="en-US" sz="720" dirty="0"/>
          </a:p>
        </p:txBody>
      </p:sp>
      <p:sp>
        <p:nvSpPr>
          <p:cNvPr id="78" name="Text 75"/>
          <p:cNvSpPr/>
          <p:nvPr/>
        </p:nvSpPr>
        <p:spPr>
          <a:xfrm>
            <a:off x="1761783" y="6620256"/>
            <a:ext cx="691240" cy="310896"/>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0.22</a:t>
            </a:r>
            <a:endParaRPr lang="en-US" sz="720" dirty="0"/>
          </a:p>
        </p:txBody>
      </p:sp>
      <p:sp>
        <p:nvSpPr>
          <p:cNvPr id="79" name="Text 76"/>
          <p:cNvSpPr/>
          <p:nvPr/>
        </p:nvSpPr>
        <p:spPr>
          <a:xfrm>
            <a:off x="2562751" y="6620256"/>
            <a:ext cx="691240" cy="310896"/>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0.51</a:t>
            </a:r>
            <a:endParaRPr lang="en-US" sz="720" dirty="0"/>
          </a:p>
        </p:txBody>
      </p:sp>
      <p:sp>
        <p:nvSpPr>
          <p:cNvPr id="80" name="Text 77"/>
          <p:cNvSpPr/>
          <p:nvPr/>
        </p:nvSpPr>
        <p:spPr>
          <a:xfrm>
            <a:off x="3363719" y="6620256"/>
            <a:ext cx="651192" cy="310896"/>
          </a:xfrm>
          <a:prstGeom prst="rect">
            <a:avLst/>
          </a:prstGeom>
          <a:noFill/>
          <a:ln/>
        </p:spPr>
        <p:txBody>
          <a:bodyPr wrap="square" lIns="0" tIns="0" rIns="0" bIns="0" rtlCol="0" anchor="ctr"/>
          <a:lstStyle/>
          <a:p>
            <a:pPr algn="r" indent="0" marL="0">
              <a:buNone/>
            </a:pPr>
            <a:r>
              <a:rPr lang="en-US" sz="720" dirty="0">
                <a:solidFill>
                  <a:srgbClr val="F2B84B"/>
                </a:solidFill>
                <a:latin typeface="Calibri" pitchFamily="34" charset="0"/>
                <a:ea typeface="Calibri" pitchFamily="34" charset="-122"/>
                <a:cs typeface="Calibri" pitchFamily="34" charset="-120"/>
              </a:rPr>
              <a:t>−0.29</a:t>
            </a:r>
            <a:endParaRPr lang="en-US" sz="720" dirty="0"/>
          </a:p>
        </p:txBody>
      </p:sp>
      <p:sp>
        <p:nvSpPr>
          <p:cNvPr id="81" name="Text 78"/>
          <p:cNvSpPr/>
          <p:nvPr/>
        </p:nvSpPr>
        <p:spPr>
          <a:xfrm>
            <a:off x="4124638" y="6620256"/>
            <a:ext cx="571095" cy="310896"/>
          </a:xfrm>
          <a:prstGeom prst="rect">
            <a:avLst/>
          </a:prstGeom>
          <a:noFill/>
          <a:ln/>
        </p:spPr>
        <p:txBody>
          <a:bodyPr wrap="square" lIns="0" tIns="0" rIns="0" bIns="0" rtlCol="0" anchor="ctr"/>
          <a:lstStyle/>
          <a:p>
            <a:pPr algn="r" indent="0" marL="0">
              <a:buNone/>
            </a:pPr>
            <a:r>
              <a:rPr lang="en-US" sz="720" dirty="0">
                <a:solidFill>
                  <a:srgbClr val="F2B84B"/>
                </a:solidFill>
                <a:latin typeface="Calibri" pitchFamily="34" charset="0"/>
                <a:ea typeface="Calibri" pitchFamily="34" charset="-122"/>
                <a:cs typeface="Calibri" pitchFamily="34" charset="-120"/>
              </a:rPr>
              <a:t>n/a</a:t>
            </a:r>
            <a:endParaRPr lang="en-US" sz="720" dirty="0"/>
          </a:p>
        </p:txBody>
      </p:sp>
      <p:sp>
        <p:nvSpPr>
          <p:cNvPr id="82" name="Text 79"/>
          <p:cNvSpPr/>
          <p:nvPr/>
        </p:nvSpPr>
        <p:spPr>
          <a:xfrm>
            <a:off x="4805461" y="6620256"/>
            <a:ext cx="1732499" cy="310896"/>
          </a:xfrm>
          <a:prstGeom prst="rect">
            <a:avLst/>
          </a:prstGeom>
          <a:noFill/>
          <a:ln/>
        </p:spPr>
        <p:txBody>
          <a:bodyPr wrap="square" lIns="0" tIns="0" rIns="0" bIns="0" rtlCol="0" anchor="ctr"/>
          <a:lstStyle/>
          <a:p>
            <a:pPr algn="l" indent="0" marL="0">
              <a:buNone/>
            </a:pPr>
            <a:r>
              <a:rPr lang="en-US" sz="720" dirty="0">
                <a:solidFill>
                  <a:srgbClr val="F2B84B"/>
                </a:solidFill>
                <a:latin typeface="Calibri" pitchFamily="34" charset="0"/>
                <a:ea typeface="Calibri" pitchFamily="34" charset="-122"/>
                <a:cs typeface="Calibri" pitchFamily="34" charset="-120"/>
              </a:rPr>
              <a:t>Primary route incomplete</a:t>
            </a:r>
            <a:endParaRPr lang="en-US" sz="720" dirty="0"/>
          </a:p>
        </p:txBody>
      </p:sp>
      <p:sp>
        <p:nvSpPr>
          <p:cNvPr id="83" name="Shape 80"/>
          <p:cNvSpPr/>
          <p:nvPr/>
        </p:nvSpPr>
        <p:spPr>
          <a:xfrm>
            <a:off x="265176" y="7242048"/>
            <a:ext cx="6327648" cy="0"/>
          </a:xfrm>
          <a:prstGeom prst="line">
            <a:avLst/>
          </a:prstGeom>
          <a:noFill/>
          <a:ln w="6350">
            <a:solidFill>
              <a:srgbClr val="C8DCD7"/>
            </a:solidFill>
            <a:prstDash val="solid"/>
          </a:ln>
        </p:spPr>
      </p:sp>
      <p:sp>
        <p:nvSpPr>
          <p:cNvPr id="84" name="Text 81"/>
          <p:cNvSpPr/>
          <p:nvPr/>
        </p:nvSpPr>
        <p:spPr>
          <a:xfrm>
            <a:off x="320040" y="6931152"/>
            <a:ext cx="1332015" cy="310896"/>
          </a:xfrm>
          <a:prstGeom prst="rect">
            <a:avLst/>
          </a:prstGeom>
          <a:noFill/>
          <a:ln/>
        </p:spPr>
        <p:txBody>
          <a:bodyPr wrap="square" lIns="0" tIns="0" rIns="0" bIns="0" rtlCol="0" anchor="ctr"/>
          <a:lstStyle/>
          <a:p>
            <a:pPr algn="l" indent="0" marL="0">
              <a:buNone/>
            </a:pPr>
            <a:r>
              <a:rPr lang="en-US" sz="720" b="1" dirty="0">
                <a:solidFill>
                  <a:srgbClr val="183B39"/>
                </a:solidFill>
                <a:latin typeface="Calibri" pitchFamily="34" charset="0"/>
                <a:ea typeface="Calibri" pitchFamily="34" charset="-122"/>
                <a:cs typeface="Calibri" pitchFamily="34" charset="-120"/>
              </a:rPr>
              <a:t>Wellness Forever</a:t>
            </a:r>
            <a:endParaRPr lang="en-US" sz="720" dirty="0"/>
          </a:p>
        </p:txBody>
      </p:sp>
      <p:sp>
        <p:nvSpPr>
          <p:cNvPr id="85" name="Text 82"/>
          <p:cNvSpPr/>
          <p:nvPr/>
        </p:nvSpPr>
        <p:spPr>
          <a:xfrm>
            <a:off x="1761783" y="6931152"/>
            <a:ext cx="691240" cy="310896"/>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0.49</a:t>
            </a:r>
            <a:endParaRPr lang="en-US" sz="720" dirty="0"/>
          </a:p>
        </p:txBody>
      </p:sp>
      <p:sp>
        <p:nvSpPr>
          <p:cNvPr id="86" name="Text 83"/>
          <p:cNvSpPr/>
          <p:nvPr/>
        </p:nvSpPr>
        <p:spPr>
          <a:xfrm>
            <a:off x="2562751" y="6931152"/>
            <a:ext cx="691240" cy="310896"/>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0.72</a:t>
            </a:r>
            <a:endParaRPr lang="en-US" sz="720" dirty="0"/>
          </a:p>
        </p:txBody>
      </p:sp>
      <p:sp>
        <p:nvSpPr>
          <p:cNvPr id="87" name="Text 84"/>
          <p:cNvSpPr/>
          <p:nvPr/>
        </p:nvSpPr>
        <p:spPr>
          <a:xfrm>
            <a:off x="3363719" y="6931152"/>
            <a:ext cx="651192" cy="310896"/>
          </a:xfrm>
          <a:prstGeom prst="rect">
            <a:avLst/>
          </a:prstGeom>
          <a:noFill/>
          <a:ln/>
        </p:spPr>
        <p:txBody>
          <a:bodyPr wrap="square" lIns="0" tIns="0" rIns="0" bIns="0" rtlCol="0" anchor="ctr"/>
          <a:lstStyle/>
          <a:p>
            <a:pPr algn="r" indent="0" marL="0">
              <a:buNone/>
            </a:pPr>
            <a:r>
              <a:rPr lang="en-US" sz="720" dirty="0">
                <a:solidFill>
                  <a:srgbClr val="F2B84B"/>
                </a:solidFill>
                <a:latin typeface="Calibri" pitchFamily="34" charset="0"/>
                <a:ea typeface="Calibri" pitchFamily="34" charset="-122"/>
                <a:cs typeface="Calibri" pitchFamily="34" charset="-120"/>
              </a:rPr>
              <a:t>−0.24</a:t>
            </a:r>
            <a:endParaRPr lang="en-US" sz="720" dirty="0"/>
          </a:p>
        </p:txBody>
      </p:sp>
      <p:sp>
        <p:nvSpPr>
          <p:cNvPr id="88" name="Text 85"/>
          <p:cNvSpPr/>
          <p:nvPr/>
        </p:nvSpPr>
        <p:spPr>
          <a:xfrm>
            <a:off x="4124638" y="6931152"/>
            <a:ext cx="571095" cy="310896"/>
          </a:xfrm>
          <a:prstGeom prst="rect">
            <a:avLst/>
          </a:prstGeom>
          <a:noFill/>
          <a:ln/>
        </p:spPr>
        <p:txBody>
          <a:bodyPr wrap="square" lIns="0" tIns="0" rIns="0" bIns="0" rtlCol="0" anchor="ctr"/>
          <a:lstStyle/>
          <a:p>
            <a:pPr algn="r" indent="0" marL="0">
              <a:buNone/>
            </a:pPr>
            <a:r>
              <a:rPr lang="en-US" sz="720" dirty="0">
                <a:solidFill>
                  <a:srgbClr val="F2B84B"/>
                </a:solidFill>
                <a:latin typeface="Calibri" pitchFamily="34" charset="0"/>
                <a:ea typeface="Calibri" pitchFamily="34" charset="-122"/>
                <a:cs typeface="Calibri" pitchFamily="34" charset="-120"/>
              </a:rPr>
              <a:t>n/a</a:t>
            </a:r>
            <a:endParaRPr lang="en-US" sz="720" dirty="0"/>
          </a:p>
        </p:txBody>
      </p:sp>
      <p:sp>
        <p:nvSpPr>
          <p:cNvPr id="89" name="Text 86"/>
          <p:cNvSpPr/>
          <p:nvPr/>
        </p:nvSpPr>
        <p:spPr>
          <a:xfrm>
            <a:off x="4805461" y="6931152"/>
            <a:ext cx="1732499" cy="310896"/>
          </a:xfrm>
          <a:prstGeom prst="rect">
            <a:avLst/>
          </a:prstGeom>
          <a:noFill/>
          <a:ln/>
        </p:spPr>
        <p:txBody>
          <a:bodyPr wrap="square" lIns="0" tIns="0" rIns="0" bIns="0" rtlCol="0" anchor="ctr"/>
          <a:lstStyle/>
          <a:p>
            <a:pPr algn="l" indent="0" marL="0">
              <a:buNone/>
            </a:pPr>
            <a:r>
              <a:rPr lang="en-US" sz="720" dirty="0">
                <a:solidFill>
                  <a:srgbClr val="F2B84B"/>
                </a:solidFill>
                <a:latin typeface="Calibri" pitchFamily="34" charset="0"/>
                <a:ea typeface="Calibri" pitchFamily="34" charset="-122"/>
                <a:cs typeface="Calibri" pitchFamily="34" charset="-120"/>
              </a:rPr>
              <a:t>Primary route incomplete</a:t>
            </a:r>
            <a:endParaRPr lang="en-US" sz="720" dirty="0"/>
          </a:p>
        </p:txBody>
      </p:sp>
      <p:sp>
        <p:nvSpPr>
          <p:cNvPr id="90" name="Shape 87"/>
          <p:cNvSpPr/>
          <p:nvPr/>
        </p:nvSpPr>
        <p:spPr>
          <a:xfrm>
            <a:off x="265176" y="7388352"/>
            <a:ext cx="3090672" cy="1060704"/>
          </a:xfrm>
          <a:prstGeom prst="roundRect">
            <a:avLst>
              <a:gd name="adj" fmla="val 1724"/>
            </a:avLst>
          </a:prstGeom>
          <a:solidFill>
            <a:srgbClr val="FFFFFF"/>
          </a:solidFill>
          <a:ln w="9525">
            <a:solidFill>
              <a:srgbClr val="C8DCD7"/>
            </a:solidFill>
            <a:prstDash val="solid"/>
          </a:ln>
        </p:spPr>
      </p:sp>
      <p:sp>
        <p:nvSpPr>
          <p:cNvPr id="91" name="Shape 88"/>
          <p:cNvSpPr/>
          <p:nvPr/>
        </p:nvSpPr>
        <p:spPr>
          <a:xfrm>
            <a:off x="265176" y="7388352"/>
            <a:ext cx="3090672" cy="274320"/>
          </a:xfrm>
          <a:prstGeom prst="rect">
            <a:avLst/>
          </a:prstGeom>
          <a:solidFill>
            <a:srgbClr val="D6544D"/>
          </a:solidFill>
          <a:ln/>
        </p:spPr>
      </p:sp>
      <p:sp>
        <p:nvSpPr>
          <p:cNvPr id="92" name="Text 89"/>
          <p:cNvSpPr/>
          <p:nvPr/>
        </p:nvSpPr>
        <p:spPr>
          <a:xfrm>
            <a:off x="347472" y="7406640"/>
            <a:ext cx="2926080"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GROSS POSITIVE GAP</a:t>
            </a:r>
            <a:endParaRPr lang="en-US" sz="700" dirty="0"/>
          </a:p>
        </p:txBody>
      </p:sp>
      <p:sp>
        <p:nvSpPr>
          <p:cNvPr id="93" name="Text 90"/>
          <p:cNvSpPr/>
          <p:nvPr/>
        </p:nvSpPr>
        <p:spPr>
          <a:xfrm>
            <a:off x="356616" y="7754112"/>
            <a:ext cx="2907792" cy="310896"/>
          </a:xfrm>
          <a:prstGeom prst="rect">
            <a:avLst/>
          </a:prstGeom>
          <a:noFill/>
          <a:ln/>
        </p:spPr>
        <p:txBody>
          <a:bodyPr wrap="square" lIns="0" tIns="0" rIns="0" bIns="0" rtlCol="0" anchor="t"/>
          <a:lstStyle/>
          <a:p>
            <a:pPr algn="ctr" indent="0" marL="0">
              <a:buNone/>
            </a:pPr>
            <a:r>
              <a:rPr lang="en-US" sz="1600" b="1" dirty="0">
                <a:solidFill>
                  <a:srgbClr val="D6544D"/>
                </a:solidFill>
                <a:latin typeface="Calibri Light" pitchFamily="34" charset="0"/>
                <a:ea typeface="Calibri Light" pitchFamily="34" charset="-122"/>
                <a:cs typeface="Calibri Light" pitchFamily="34" charset="-120"/>
              </a:rPr>
              <a:t>₹13.27 Cr</a:t>
            </a:r>
            <a:endParaRPr lang="en-US" sz="1600" dirty="0"/>
          </a:p>
        </p:txBody>
      </p:sp>
      <p:sp>
        <p:nvSpPr>
          <p:cNvPr id="94" name="Text 91"/>
          <p:cNvSpPr/>
          <p:nvPr/>
        </p:nvSpPr>
        <p:spPr>
          <a:xfrm>
            <a:off x="393192" y="8101584"/>
            <a:ext cx="2834640" cy="329184"/>
          </a:xfrm>
          <a:prstGeom prst="rect">
            <a:avLst/>
          </a:prstGeom>
          <a:noFill/>
          <a:ln/>
        </p:spPr>
        <p:txBody>
          <a:bodyPr wrap="square" lIns="0" tIns="0" rIns="0" bIns="0" rtlCol="0" anchor="t"/>
          <a:lstStyle/>
          <a:p>
            <a:pPr algn="ctr" indent="0" marL="0">
              <a:lnSpc>
                <a:spcPct val="92000"/>
              </a:lnSpc>
              <a:buNone/>
            </a:pPr>
            <a:r>
              <a:rPr lang="en-US" sz="680" dirty="0">
                <a:solidFill>
                  <a:srgbClr val="5F716E"/>
                </a:solidFill>
                <a:latin typeface="Calibri" pitchFamily="34" charset="0"/>
                <a:ea typeface="Calibri" pitchFamily="34" charset="-122"/>
                <a:cs typeface="Calibri" pitchFamily="34" charset="-120"/>
              </a:rPr>
              <a:t>Billed but not yet sold through, in three chains. This is the recoverable pool — 90.7% of it in DMart and Reliance alone.</a:t>
            </a:r>
            <a:endParaRPr lang="en-US" sz="680" dirty="0"/>
          </a:p>
        </p:txBody>
      </p:sp>
      <p:sp>
        <p:nvSpPr>
          <p:cNvPr id="95" name="Shape 92"/>
          <p:cNvSpPr/>
          <p:nvPr/>
        </p:nvSpPr>
        <p:spPr>
          <a:xfrm>
            <a:off x="3502152" y="7388352"/>
            <a:ext cx="3090672" cy="1060704"/>
          </a:xfrm>
          <a:prstGeom prst="roundRect">
            <a:avLst>
              <a:gd name="adj" fmla="val 1724"/>
            </a:avLst>
          </a:prstGeom>
          <a:solidFill>
            <a:srgbClr val="FFFFFF"/>
          </a:solidFill>
          <a:ln w="9525">
            <a:solidFill>
              <a:srgbClr val="C8DCD7"/>
            </a:solidFill>
            <a:prstDash val="solid"/>
          </a:ln>
        </p:spPr>
      </p:sp>
      <p:sp>
        <p:nvSpPr>
          <p:cNvPr id="96" name="Shape 93"/>
          <p:cNvSpPr/>
          <p:nvPr/>
        </p:nvSpPr>
        <p:spPr>
          <a:xfrm>
            <a:off x="3502152" y="7388352"/>
            <a:ext cx="3090672" cy="274320"/>
          </a:xfrm>
          <a:prstGeom prst="rect">
            <a:avLst/>
          </a:prstGeom>
          <a:solidFill>
            <a:srgbClr val="F2B84B"/>
          </a:solidFill>
          <a:ln/>
        </p:spPr>
      </p:sp>
      <p:sp>
        <p:nvSpPr>
          <p:cNvPr id="97" name="Text 94"/>
          <p:cNvSpPr/>
          <p:nvPr/>
        </p:nvSpPr>
        <p:spPr>
          <a:xfrm>
            <a:off x="3584448" y="7406640"/>
            <a:ext cx="2926080"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GROSS NEGATIVE GAP</a:t>
            </a:r>
            <a:endParaRPr lang="en-US" sz="700" dirty="0"/>
          </a:p>
        </p:txBody>
      </p:sp>
      <p:sp>
        <p:nvSpPr>
          <p:cNvPr id="98" name="Text 95"/>
          <p:cNvSpPr/>
          <p:nvPr/>
        </p:nvSpPr>
        <p:spPr>
          <a:xfrm>
            <a:off x="3593592" y="7754112"/>
            <a:ext cx="2907792" cy="310896"/>
          </a:xfrm>
          <a:prstGeom prst="rect">
            <a:avLst/>
          </a:prstGeom>
          <a:noFill/>
          <a:ln/>
        </p:spPr>
        <p:txBody>
          <a:bodyPr wrap="square" lIns="0" tIns="0" rIns="0" bIns="0" rtlCol="0" anchor="t"/>
          <a:lstStyle/>
          <a:p>
            <a:pPr algn="ctr" indent="0" marL="0">
              <a:buNone/>
            </a:pPr>
            <a:r>
              <a:rPr lang="en-US" sz="1600" b="1" dirty="0">
                <a:solidFill>
                  <a:srgbClr val="F2B84B"/>
                </a:solidFill>
                <a:latin typeface="Calibri Light" pitchFamily="34" charset="0"/>
                <a:ea typeface="Calibri Light" pitchFamily="34" charset="-122"/>
                <a:cs typeface="Calibri Light" pitchFamily="34" charset="-120"/>
              </a:rPr>
              <a:t>₹2.23 Cr</a:t>
            </a:r>
            <a:endParaRPr lang="en-US" sz="1600" dirty="0"/>
          </a:p>
        </p:txBody>
      </p:sp>
      <p:sp>
        <p:nvSpPr>
          <p:cNvPr id="99" name="Text 96"/>
          <p:cNvSpPr/>
          <p:nvPr/>
        </p:nvSpPr>
        <p:spPr>
          <a:xfrm>
            <a:off x="3630168" y="8101584"/>
            <a:ext cx="2834640" cy="329184"/>
          </a:xfrm>
          <a:prstGeom prst="rect">
            <a:avLst/>
          </a:prstGeom>
          <a:noFill/>
          <a:ln/>
        </p:spPr>
        <p:txBody>
          <a:bodyPr wrap="square" lIns="0" tIns="0" rIns="0" bIns="0" rtlCol="0" anchor="t"/>
          <a:lstStyle/>
          <a:p>
            <a:pPr algn="ctr" indent="0" marL="0">
              <a:lnSpc>
                <a:spcPct val="92000"/>
              </a:lnSpc>
              <a:buNone/>
            </a:pPr>
            <a:r>
              <a:rPr lang="en-US" sz="680" dirty="0">
                <a:solidFill>
                  <a:srgbClr val="5F716E"/>
                </a:solidFill>
                <a:latin typeface="Calibri" pitchFamily="34" charset="0"/>
                <a:ea typeface="Calibri" pitchFamily="34" charset="-122"/>
                <a:cs typeface="Calibri" pitchFamily="34" charset="-120"/>
              </a:rPr>
              <a:t>Sold with no primary joined, in three chains. Not performance — a mapping defect that was previously netted against the pool above.</a:t>
            </a:r>
            <a:endParaRPr lang="en-US" sz="680" dirty="0"/>
          </a:p>
        </p:txBody>
      </p:sp>
      <p:sp>
        <p:nvSpPr>
          <p:cNvPr id="100" name="Shape 97"/>
          <p:cNvSpPr/>
          <p:nvPr/>
        </p:nvSpPr>
        <p:spPr>
          <a:xfrm>
            <a:off x="265176" y="8595360"/>
            <a:ext cx="6327648" cy="256032"/>
          </a:xfrm>
          <a:prstGeom prst="rect">
            <a:avLst/>
          </a:prstGeom>
          <a:solidFill>
            <a:srgbClr val="116F68"/>
          </a:solidFill>
          <a:ln/>
        </p:spPr>
      </p:sp>
      <p:sp>
        <p:nvSpPr>
          <p:cNvPr id="101" name="Text 98"/>
          <p:cNvSpPr/>
          <p:nvPr/>
        </p:nvSpPr>
        <p:spPr>
          <a:xfrm>
            <a:off x="374904" y="8613648"/>
            <a:ext cx="6108192" cy="219456"/>
          </a:xfrm>
          <a:prstGeom prst="rect">
            <a:avLst/>
          </a:prstGeom>
          <a:noFill/>
          <a:ln/>
        </p:spPr>
        <p:txBody>
          <a:bodyPr wrap="square" lIns="0" tIns="0" rIns="0" bIns="0" rtlCol="0" anchor="ctr"/>
          <a:lstStyle/>
          <a:p>
            <a:pPr indent="0" marL="0">
              <a:buNone/>
            </a:pPr>
            <a:r>
              <a:rPr lang="en-US" sz="720" b="1" spc="60" kern="0" dirty="0">
                <a:solidFill>
                  <a:srgbClr val="FFFFFF"/>
                </a:solidFill>
                <a:latin typeface="Calibri" pitchFamily="34" charset="0"/>
                <a:ea typeface="Calibri" pitchFamily="34" charset="-122"/>
                <a:cs typeface="Calibri" pitchFamily="34" charset="-120"/>
              </a:rPr>
              <a:t>ACCOUNT PLAN</a:t>
            </a:r>
            <a:endParaRPr lang="en-US" sz="720" dirty="0"/>
          </a:p>
        </p:txBody>
      </p:sp>
      <p:sp>
        <p:nvSpPr>
          <p:cNvPr id="102" name="Shape 99"/>
          <p:cNvSpPr/>
          <p:nvPr/>
        </p:nvSpPr>
        <p:spPr>
          <a:xfrm>
            <a:off x="356616" y="9011412"/>
            <a:ext cx="50292" cy="50292"/>
          </a:xfrm>
          <a:prstGeom prst="ellipse">
            <a:avLst/>
          </a:prstGeom>
          <a:solidFill>
            <a:srgbClr val="28A596"/>
          </a:solidFill>
          <a:ln/>
        </p:spPr>
      </p:sp>
      <p:sp>
        <p:nvSpPr>
          <p:cNvPr id="103" name="Text 100"/>
          <p:cNvSpPr/>
          <p:nvPr/>
        </p:nvSpPr>
        <p:spPr>
          <a:xfrm>
            <a:off x="475488" y="8961120"/>
            <a:ext cx="6025896" cy="347472"/>
          </a:xfrm>
          <a:prstGeom prst="rect">
            <a:avLst/>
          </a:prstGeom>
          <a:noFill/>
          <a:ln/>
        </p:spPr>
        <p:txBody>
          <a:bodyPr wrap="square" lIns="0" tIns="0" rIns="0" bIns="0" rtlCol="0" anchor="t"/>
          <a:lstStyle/>
          <a:p>
            <a:pPr indent="0" marL="0">
              <a:lnSpc>
                <a:spcPct val="92000"/>
              </a:lnSpc>
              <a:buNone/>
            </a:pPr>
            <a:r>
              <a:rPr lang="en-US" sz="740" b="1" dirty="0">
                <a:solidFill>
                  <a:srgbClr val="183B39"/>
                </a:solidFill>
                <a:latin typeface="Calibri" pitchFamily="34" charset="0"/>
                <a:ea typeface="Calibri" pitchFamily="34" charset="-122"/>
                <a:cs typeface="Calibri" pitchFamily="34" charset="-120"/>
              </a:rPr>
              <a:t>Reliance: attack North and East first — ₹3.92 Cr recoverable at DMart parity. Convert billed inventory through hero-SKU visibility and replenishment, not new loading.</a:t>
            </a:r>
            <a:endParaRPr lang="en-US" sz="740" dirty="0"/>
          </a:p>
        </p:txBody>
      </p:sp>
      <p:sp>
        <p:nvSpPr>
          <p:cNvPr id="104" name="Shape 101"/>
          <p:cNvSpPr/>
          <p:nvPr/>
        </p:nvSpPr>
        <p:spPr>
          <a:xfrm>
            <a:off x="356616" y="9377172"/>
            <a:ext cx="50292" cy="50292"/>
          </a:xfrm>
          <a:prstGeom prst="ellipse">
            <a:avLst/>
          </a:prstGeom>
          <a:solidFill>
            <a:srgbClr val="28A596"/>
          </a:solidFill>
          <a:ln/>
        </p:spPr>
      </p:sp>
      <p:sp>
        <p:nvSpPr>
          <p:cNvPr id="105" name="Text 102"/>
          <p:cNvSpPr/>
          <p:nvPr/>
        </p:nvSpPr>
        <p:spPr>
          <a:xfrm>
            <a:off x="475488" y="9326880"/>
            <a:ext cx="6025896" cy="347472"/>
          </a:xfrm>
          <a:prstGeom prst="rect">
            <a:avLst/>
          </a:prstGeom>
          <a:noFill/>
          <a:ln/>
        </p:spPr>
        <p:txBody>
          <a:bodyPr wrap="square" lIns="0" tIns="0" rIns="0" bIns="0" rtlCol="0" anchor="t"/>
          <a:lstStyle/>
          <a:p>
            <a:pPr indent="0" marL="0">
              <a:lnSpc>
                <a:spcPct val="92000"/>
              </a:lnSpc>
              <a:buNone/>
            </a:pPr>
            <a:r>
              <a:rPr lang="en-US" sz="740" dirty="0">
                <a:solidFill>
                  <a:srgbClr val="183B39"/>
                </a:solidFill>
                <a:latin typeface="Calibri" pitchFamily="34" charset="0"/>
                <a:ea typeface="Calibri" pitchFamily="34" charset="-122"/>
                <a:cs typeface="Calibri" pitchFamily="34" charset="-120"/>
              </a:rPr>
              <a:t>DMart: attack South-2 first, then North. Review top-SKU store availability and DC-to-store fill; West and Central prove the account can run above 94%.</a:t>
            </a:r>
            <a:endParaRPr lang="en-US" sz="740" dirty="0"/>
          </a:p>
        </p:txBody>
      </p:sp>
      <p:sp>
        <p:nvSpPr>
          <p:cNvPr id="106" name="Shape 103"/>
          <p:cNvSpPr/>
          <p:nvPr/>
        </p:nvSpPr>
        <p:spPr>
          <a:xfrm>
            <a:off x="356616" y="9742932"/>
            <a:ext cx="50292" cy="50292"/>
          </a:xfrm>
          <a:prstGeom prst="ellipse">
            <a:avLst/>
          </a:prstGeom>
          <a:solidFill>
            <a:srgbClr val="28A596"/>
          </a:solidFill>
          <a:ln/>
        </p:spPr>
      </p:sp>
      <p:sp>
        <p:nvSpPr>
          <p:cNvPr id="107" name="Text 104"/>
          <p:cNvSpPr/>
          <p:nvPr/>
        </p:nvSpPr>
        <p:spPr>
          <a:xfrm>
            <a:off x="475488" y="9692640"/>
            <a:ext cx="6025896" cy="347472"/>
          </a:xfrm>
          <a:prstGeom prst="rect">
            <a:avLst/>
          </a:prstGeom>
          <a:noFill/>
          <a:ln/>
        </p:spPr>
        <p:txBody>
          <a:bodyPr wrap="square" lIns="0" tIns="0" rIns="0" bIns="0" rtlCol="0" anchor="t"/>
          <a:lstStyle/>
          <a:p>
            <a:pPr indent="0" marL="0">
              <a:lnSpc>
                <a:spcPct val="92000"/>
              </a:lnSpc>
              <a:buNone/>
            </a:pPr>
            <a:r>
              <a:rPr lang="en-US" sz="740" dirty="0">
                <a:solidFill>
                  <a:srgbClr val="183B39"/>
                </a:solidFill>
                <a:latin typeface="Calibri" pitchFamily="34" charset="0"/>
                <a:ea typeface="Calibri" pitchFamily="34" charset="-122"/>
                <a:cs typeface="Calibri" pitchFamily="34" charset="-120"/>
              </a:rPr>
              <a:t>Apollo: protect the cadence and reconcile zone-level opening stock so the 99.7% national figure becomes quotable.</a:t>
            </a:r>
            <a:endParaRPr lang="en-US" sz="740" dirty="0"/>
          </a:p>
        </p:txBody>
      </p:sp>
      <p:sp>
        <p:nvSpPr>
          <p:cNvPr id="108" name="Shape 105"/>
          <p:cNvSpPr/>
          <p:nvPr/>
        </p:nvSpPr>
        <p:spPr>
          <a:xfrm>
            <a:off x="356616" y="10108692"/>
            <a:ext cx="50292" cy="50292"/>
          </a:xfrm>
          <a:prstGeom prst="ellipse">
            <a:avLst/>
          </a:prstGeom>
          <a:solidFill>
            <a:srgbClr val="F2B84B"/>
          </a:solidFill>
          <a:ln/>
        </p:spPr>
      </p:sp>
      <p:sp>
        <p:nvSpPr>
          <p:cNvPr id="109" name="Text 106"/>
          <p:cNvSpPr/>
          <p:nvPr/>
        </p:nvSpPr>
        <p:spPr>
          <a:xfrm>
            <a:off x="475488" y="10058400"/>
            <a:ext cx="6025896" cy="347472"/>
          </a:xfrm>
          <a:prstGeom prst="rect">
            <a:avLst/>
          </a:prstGeom>
          <a:noFill/>
          <a:ln/>
        </p:spPr>
        <p:txBody>
          <a:bodyPr wrap="square" lIns="0" tIns="0" rIns="0" bIns="0" rtlCol="0" anchor="t"/>
          <a:lstStyle/>
          <a:p>
            <a:pPr indent="0" marL="0">
              <a:lnSpc>
                <a:spcPct val="92000"/>
              </a:lnSpc>
              <a:buNone/>
            </a:pPr>
            <a:r>
              <a:rPr lang="en-US" sz="740" dirty="0">
                <a:solidFill>
                  <a:srgbClr val="183B39"/>
                </a:solidFill>
                <a:latin typeface="Calibri" pitchFamily="34" charset="0"/>
                <a:ea typeface="Calibri" pitchFamily="34" charset="-122"/>
                <a:cs typeface="Calibri" pitchFamily="34" charset="-120"/>
              </a:rPr>
              <a:t>Lulu, Health &amp; Glow, Wellness Forever: map primary before any commercial conclusion. Three chains and ₹2.23 Cr are currently unreadable.</a:t>
            </a:r>
            <a:endParaRPr lang="en-US" sz="74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A"/>
        </a:solidFill>
      </p:bgPr>
    </p:bg>
    <p:spTree>
      <p:nvGrpSpPr>
        <p:cNvPr id="1" name=""/>
        <p:cNvGrpSpPr/>
        <p:nvPr/>
      </p:nvGrpSpPr>
      <p:grpSpPr>
        <a:xfrm>
          <a:off x="0" y="0"/>
          <a:ext cx="0" cy="0"/>
          <a:chOff x="0" y="0"/>
          <a:chExt cx="0" cy="0"/>
        </a:xfrm>
      </p:grpSpPr>
      <p:sp>
        <p:nvSpPr>
          <p:cNvPr id="2" name="Shape 0"/>
          <p:cNvSpPr/>
          <p:nvPr/>
        </p:nvSpPr>
        <p:spPr>
          <a:xfrm>
            <a:off x="0" y="0"/>
            <a:ext cx="6858000" cy="1133856"/>
          </a:xfrm>
          <a:prstGeom prst="rect">
            <a:avLst/>
          </a:prstGeom>
          <a:solidFill>
            <a:srgbClr val="116F68"/>
          </a:solidFill>
          <a:ln/>
        </p:spPr>
      </p:sp>
      <p:sp>
        <p:nvSpPr>
          <p:cNvPr id="3" name="Text 1"/>
          <p:cNvSpPr/>
          <p:nvPr/>
        </p:nvSpPr>
        <p:spPr>
          <a:xfrm>
            <a:off x="365760" y="182880"/>
            <a:ext cx="5641848" cy="548640"/>
          </a:xfrm>
          <a:prstGeom prst="rect">
            <a:avLst/>
          </a:prstGeom>
          <a:noFill/>
          <a:ln/>
        </p:spPr>
        <p:txBody>
          <a:bodyPr wrap="square" lIns="0" tIns="0" rIns="0" bIns="0" rtlCol="0" anchor="ctr"/>
          <a:lstStyle/>
          <a:p>
            <a:pPr indent="0" marL="0">
              <a:lnSpc>
                <a:spcPct val="92000"/>
              </a:lnSpc>
              <a:buNone/>
            </a:pPr>
            <a:r>
              <a:rPr lang="en-US" sz="1450" b="1" dirty="0">
                <a:solidFill>
                  <a:srgbClr val="FFFFFF"/>
                </a:solidFill>
                <a:latin typeface="Calibri Light" pitchFamily="34" charset="0"/>
                <a:ea typeface="Calibri Light" pitchFamily="34" charset="-122"/>
                <a:cs typeface="Calibri Light" pitchFamily="34" charset="-120"/>
              </a:rPr>
              <a:t>Two brands carry 98.4% of offtake; Face Cleanser alone carries a third</a:t>
            </a:r>
            <a:endParaRPr lang="en-US" sz="1450" dirty="0"/>
          </a:p>
        </p:txBody>
      </p:sp>
      <p:sp>
        <p:nvSpPr>
          <p:cNvPr id="4" name="Text 2"/>
          <p:cNvSpPr/>
          <p:nvPr/>
        </p:nvSpPr>
        <p:spPr>
          <a:xfrm>
            <a:off x="384048" y="786384"/>
            <a:ext cx="5641848" cy="237744"/>
          </a:xfrm>
          <a:prstGeom prst="rect">
            <a:avLst/>
          </a:prstGeom>
          <a:noFill/>
          <a:ln/>
        </p:spPr>
        <p:txBody>
          <a:bodyPr wrap="square" lIns="0" tIns="0" rIns="0" bIns="0" rtlCol="0" anchor="ctr"/>
          <a:lstStyle/>
          <a:p>
            <a:pPr indent="0" marL="0">
              <a:buNone/>
            </a:pPr>
            <a:r>
              <a:rPr lang="en-US" sz="850" dirty="0">
                <a:solidFill>
                  <a:srgbClr val="BFDCD7"/>
                </a:solidFill>
                <a:latin typeface="Calibri" pitchFamily="34" charset="0"/>
                <a:ea typeface="Calibri" pitchFamily="34" charset="-122"/>
                <a:cs typeface="Calibri" pitchFamily="34" charset="-120"/>
              </a:rPr>
              <a:t>Brand and sub-category architecture | July 2026</a:t>
            </a:r>
            <a:endParaRPr lang="en-US" sz="850" dirty="0"/>
          </a:p>
        </p:txBody>
      </p:sp>
      <p:sp>
        <p:nvSpPr>
          <p:cNvPr id="5" name="Text 3"/>
          <p:cNvSpPr/>
          <p:nvPr/>
        </p:nvSpPr>
        <p:spPr>
          <a:xfrm>
            <a:off x="6117336" y="365760"/>
            <a:ext cx="402336" cy="237744"/>
          </a:xfrm>
          <a:prstGeom prst="rect">
            <a:avLst/>
          </a:prstGeom>
          <a:noFill/>
          <a:ln/>
        </p:spPr>
        <p:txBody>
          <a:bodyPr wrap="square" lIns="0" tIns="0" rIns="0" bIns="0" rtlCol="0" anchor="t"/>
          <a:lstStyle/>
          <a:p>
            <a:pPr algn="r" indent="0" marL="0">
              <a:buNone/>
            </a:pPr>
            <a:r>
              <a:rPr lang="en-US" sz="950" b="1" dirty="0">
                <a:solidFill>
                  <a:srgbClr val="8FC4BD"/>
                </a:solidFill>
                <a:latin typeface="Calibri" pitchFamily="34" charset="0"/>
                <a:ea typeface="Calibri" pitchFamily="34" charset="-122"/>
                <a:cs typeface="Calibri" pitchFamily="34" charset="-120"/>
              </a:rPr>
              <a:t>20</a:t>
            </a:r>
            <a:endParaRPr lang="en-US" sz="950" dirty="0"/>
          </a:p>
        </p:txBody>
      </p:sp>
      <p:sp>
        <p:nvSpPr>
          <p:cNvPr id="6" name="Shape 4"/>
          <p:cNvSpPr/>
          <p:nvPr/>
        </p:nvSpPr>
        <p:spPr>
          <a:xfrm>
            <a:off x="265176" y="11375136"/>
            <a:ext cx="6327648" cy="420624"/>
          </a:xfrm>
          <a:prstGeom prst="roundRect">
            <a:avLst>
              <a:gd name="adj" fmla="val 6522"/>
            </a:avLst>
          </a:prstGeom>
          <a:solidFill>
            <a:srgbClr val="DFF2ED"/>
          </a:solidFill>
          <a:ln w="9525">
            <a:solidFill>
              <a:srgbClr val="C8DCD7"/>
            </a:solidFill>
            <a:prstDash val="solid"/>
          </a:ln>
        </p:spPr>
      </p:sp>
      <p:sp>
        <p:nvSpPr>
          <p:cNvPr id="7" name="Text 5"/>
          <p:cNvSpPr/>
          <p:nvPr/>
        </p:nvSpPr>
        <p:spPr>
          <a:xfrm>
            <a:off x="374904"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EVIDENCE</a:t>
            </a:r>
            <a:endParaRPr lang="en-US" sz="650" dirty="0"/>
          </a:p>
        </p:txBody>
      </p:sp>
      <p:sp>
        <p:nvSpPr>
          <p:cNvPr id="8" name="Text 6"/>
          <p:cNvSpPr/>
          <p:nvPr/>
        </p:nvSpPr>
        <p:spPr>
          <a:xfrm>
            <a:off x="374904"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moved</a:t>
            </a:r>
            <a:endParaRPr lang="en-US" sz="700" dirty="0"/>
          </a:p>
        </p:txBody>
      </p:sp>
      <p:sp>
        <p:nvSpPr>
          <p:cNvPr id="9" name="Text 7"/>
          <p:cNvSpPr/>
          <p:nvPr/>
        </p:nvSpPr>
        <p:spPr>
          <a:xfrm>
            <a:off x="1901952"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IMPLICATION</a:t>
            </a:r>
            <a:endParaRPr lang="en-US" sz="650" dirty="0"/>
          </a:p>
        </p:txBody>
      </p:sp>
      <p:sp>
        <p:nvSpPr>
          <p:cNvPr id="10" name="Text 8"/>
          <p:cNvSpPr/>
          <p:nvPr/>
        </p:nvSpPr>
        <p:spPr>
          <a:xfrm>
            <a:off x="1901952"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Why it matters</a:t>
            </a:r>
            <a:endParaRPr lang="en-US" sz="700" dirty="0"/>
          </a:p>
        </p:txBody>
      </p:sp>
      <p:sp>
        <p:nvSpPr>
          <p:cNvPr id="11" name="Shape 9"/>
          <p:cNvSpPr/>
          <p:nvPr/>
        </p:nvSpPr>
        <p:spPr>
          <a:xfrm>
            <a:off x="1819656" y="11457432"/>
            <a:ext cx="0" cy="265176"/>
          </a:xfrm>
          <a:prstGeom prst="line">
            <a:avLst/>
          </a:prstGeom>
          <a:noFill/>
          <a:ln w="9525">
            <a:solidFill>
              <a:srgbClr val="C8DCD7"/>
            </a:solidFill>
            <a:prstDash val="solid"/>
          </a:ln>
        </p:spPr>
      </p:sp>
      <p:sp>
        <p:nvSpPr>
          <p:cNvPr id="12" name="Text 10"/>
          <p:cNvSpPr/>
          <p:nvPr/>
        </p:nvSpPr>
        <p:spPr>
          <a:xfrm>
            <a:off x="3429000"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ACTION</a:t>
            </a:r>
            <a:endParaRPr lang="en-US" sz="650" dirty="0"/>
          </a:p>
        </p:txBody>
      </p:sp>
      <p:sp>
        <p:nvSpPr>
          <p:cNvPr id="13" name="Text 11"/>
          <p:cNvSpPr/>
          <p:nvPr/>
        </p:nvSpPr>
        <p:spPr>
          <a:xfrm>
            <a:off x="3429000"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changes now</a:t>
            </a:r>
            <a:endParaRPr lang="en-US" sz="700" dirty="0"/>
          </a:p>
        </p:txBody>
      </p:sp>
      <p:sp>
        <p:nvSpPr>
          <p:cNvPr id="14" name="Shape 12"/>
          <p:cNvSpPr/>
          <p:nvPr/>
        </p:nvSpPr>
        <p:spPr>
          <a:xfrm>
            <a:off x="3346704" y="11457432"/>
            <a:ext cx="0" cy="265176"/>
          </a:xfrm>
          <a:prstGeom prst="line">
            <a:avLst/>
          </a:prstGeom>
          <a:noFill/>
          <a:ln w="9525">
            <a:solidFill>
              <a:srgbClr val="C8DCD7"/>
            </a:solidFill>
            <a:prstDash val="solid"/>
          </a:ln>
        </p:spPr>
      </p:sp>
      <p:sp>
        <p:nvSpPr>
          <p:cNvPr id="15" name="Text 13"/>
          <p:cNvSpPr/>
          <p:nvPr/>
        </p:nvSpPr>
        <p:spPr>
          <a:xfrm>
            <a:off x="4956048"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OWNER</a:t>
            </a:r>
            <a:endParaRPr lang="en-US" sz="650" dirty="0"/>
          </a:p>
        </p:txBody>
      </p:sp>
      <p:sp>
        <p:nvSpPr>
          <p:cNvPr id="16" name="Text 14"/>
          <p:cNvSpPr/>
          <p:nvPr/>
        </p:nvSpPr>
        <p:spPr>
          <a:xfrm>
            <a:off x="4956048"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Who closes it</a:t>
            </a:r>
            <a:endParaRPr lang="en-US" sz="700" dirty="0"/>
          </a:p>
        </p:txBody>
      </p:sp>
      <p:sp>
        <p:nvSpPr>
          <p:cNvPr id="17" name="Shape 15"/>
          <p:cNvSpPr/>
          <p:nvPr/>
        </p:nvSpPr>
        <p:spPr>
          <a:xfrm>
            <a:off x="4873752" y="11457432"/>
            <a:ext cx="0" cy="265176"/>
          </a:xfrm>
          <a:prstGeom prst="line">
            <a:avLst/>
          </a:prstGeom>
          <a:noFill/>
          <a:ln w="9525">
            <a:solidFill>
              <a:srgbClr val="C8DCD7"/>
            </a:solidFill>
            <a:prstDash val="solid"/>
          </a:ln>
        </p:spPr>
      </p:sp>
      <p:sp>
        <p:nvSpPr>
          <p:cNvPr id="18" name="Text 16"/>
          <p:cNvSpPr/>
          <p:nvPr/>
        </p:nvSpPr>
        <p:spPr>
          <a:xfrm>
            <a:off x="301752" y="11887200"/>
            <a:ext cx="6254496" cy="201168"/>
          </a:xfrm>
          <a:prstGeom prst="rect">
            <a:avLst/>
          </a:prstGeom>
          <a:noFill/>
          <a:ln/>
        </p:spPr>
        <p:txBody>
          <a:bodyPr wrap="square" lIns="0" tIns="0" rIns="0" bIns="0" rtlCol="0" anchor="t"/>
          <a:lstStyle/>
          <a:p>
            <a:pPr algn="ctr" indent="0" marL="0">
              <a:buNone/>
            </a:pPr>
            <a:r>
              <a:rPr lang="en-US" sz="650" dirty="0">
                <a:solidFill>
                  <a:srgbClr val="5F716E"/>
                </a:solidFill>
                <a:latin typeface="Calibri" pitchFamily="34" charset="0"/>
                <a:ea typeface="Calibri" pitchFamily="34" charset="-122"/>
                <a:cs typeface="Calibri" pitchFamily="34" charset="-120"/>
              </a:rPr>
              <a:t>July Compiled Offtake (Sheet1) · July'26 primary and distributor secondary · values in ₹ Cr · Zone performance represents Modern Trade accounts only. eB2B and SIS channels are excluded from MT zone sales and reported separately.</a:t>
            </a:r>
            <a:endParaRPr lang="en-US" sz="650" dirty="0"/>
          </a:p>
        </p:txBody>
      </p:sp>
      <p:sp>
        <p:nvSpPr>
          <p:cNvPr id="19" name="Text 17"/>
          <p:cNvSpPr/>
          <p:nvPr/>
        </p:nvSpPr>
        <p:spPr>
          <a:xfrm>
            <a:off x="265176" y="1261872"/>
            <a:ext cx="3840480"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Primary vs offtake, the two engine brands (₹ Cr)</a:t>
            </a:r>
            <a:endParaRPr lang="en-US" sz="720" dirty="0"/>
          </a:p>
        </p:txBody>
      </p:sp>
      <p:graphicFrame>
        <p:nvGraphicFramePr>
          <p:cNvPr id="20" name="Chart 0" descr=""/>
          <p:cNvGraphicFramePr/>
          <p:nvPr/>
        </p:nvGraphicFramePr>
        <p:xfrm>
          <a:off x="246888" y="1481328"/>
          <a:ext cx="3840480" cy="1700784"/>
        </p:xfrm>
        <a:graphic xmlns:a="http://schemas.openxmlformats.org/drawingml/2006/main">
          <a:graphicData uri="http://schemas.openxmlformats.org/drawingml/2006/chart">
            <c:chart xmlns:c="http://schemas.openxmlformats.org/drawingml/2006/chart" r:id="rId1"/>
          </a:graphicData>
        </a:graphic>
      </p:graphicFrame>
      <p:sp>
        <p:nvSpPr>
          <p:cNvPr id="21" name="Shape 18"/>
          <p:cNvSpPr/>
          <p:nvPr/>
        </p:nvSpPr>
        <p:spPr>
          <a:xfrm>
            <a:off x="4251960" y="1261872"/>
            <a:ext cx="2340864" cy="2066544"/>
          </a:xfrm>
          <a:prstGeom prst="roundRect">
            <a:avLst>
              <a:gd name="adj" fmla="val 885"/>
            </a:avLst>
          </a:prstGeom>
          <a:solidFill>
            <a:srgbClr val="FFFFFF"/>
          </a:solidFill>
          <a:ln w="9525">
            <a:solidFill>
              <a:srgbClr val="C8DCD7"/>
            </a:solidFill>
            <a:prstDash val="solid"/>
          </a:ln>
        </p:spPr>
      </p:sp>
      <p:sp>
        <p:nvSpPr>
          <p:cNvPr id="22" name="Shape 19"/>
          <p:cNvSpPr/>
          <p:nvPr/>
        </p:nvSpPr>
        <p:spPr>
          <a:xfrm>
            <a:off x="4251960" y="1261872"/>
            <a:ext cx="2340864" cy="274320"/>
          </a:xfrm>
          <a:prstGeom prst="rect">
            <a:avLst/>
          </a:prstGeom>
          <a:solidFill>
            <a:srgbClr val="D6544D"/>
          </a:solidFill>
          <a:ln/>
        </p:spPr>
      </p:sp>
      <p:sp>
        <p:nvSpPr>
          <p:cNvPr id="23" name="Text 20"/>
          <p:cNvSpPr/>
          <p:nvPr/>
        </p:nvSpPr>
        <p:spPr>
          <a:xfrm>
            <a:off x="4334256" y="1280160"/>
            <a:ext cx="21762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THE SAME GAP, TWICE</a:t>
            </a:r>
            <a:endParaRPr lang="en-US" sz="700" dirty="0"/>
          </a:p>
        </p:txBody>
      </p:sp>
      <p:sp>
        <p:nvSpPr>
          <p:cNvPr id="24" name="Text 21"/>
          <p:cNvSpPr/>
          <p:nvPr/>
        </p:nvSpPr>
        <p:spPr>
          <a:xfrm>
            <a:off x="4343400" y="1627632"/>
            <a:ext cx="2157984" cy="329184"/>
          </a:xfrm>
          <a:prstGeom prst="rect">
            <a:avLst/>
          </a:prstGeom>
          <a:noFill/>
          <a:ln/>
        </p:spPr>
        <p:txBody>
          <a:bodyPr wrap="square" lIns="0" tIns="0" rIns="0" bIns="0" rtlCol="0" anchor="t"/>
          <a:lstStyle/>
          <a:p>
            <a:pPr algn="ctr" indent="0" marL="0">
              <a:buNone/>
            </a:pPr>
            <a:r>
              <a:rPr lang="en-US" sz="1600" b="1" dirty="0">
                <a:solidFill>
                  <a:srgbClr val="D6544D"/>
                </a:solidFill>
                <a:latin typeface="Calibri Light" pitchFamily="34" charset="0"/>
                <a:ea typeface="Calibri Light" pitchFamily="34" charset="-122"/>
                <a:cs typeface="Calibri Light" pitchFamily="34" charset="-120"/>
              </a:rPr>
              <a:t>₹13.05 Cr</a:t>
            </a:r>
            <a:endParaRPr lang="en-US" sz="1600" dirty="0"/>
          </a:p>
        </p:txBody>
      </p:sp>
      <p:sp>
        <p:nvSpPr>
          <p:cNvPr id="25" name="Text 22"/>
          <p:cNvSpPr/>
          <p:nvPr/>
        </p:nvSpPr>
        <p:spPr>
          <a:xfrm>
            <a:off x="4343400" y="1975104"/>
            <a:ext cx="2157984" cy="164592"/>
          </a:xfrm>
          <a:prstGeom prst="rect">
            <a:avLst/>
          </a:prstGeom>
          <a:noFill/>
          <a:ln/>
        </p:spPr>
        <p:txBody>
          <a:bodyPr wrap="square" lIns="0" tIns="0" rIns="0" bIns="0" rtlCol="0" anchor="t"/>
          <a:lstStyle/>
          <a:p>
            <a:pPr algn="ctr" indent="0" marL="0">
              <a:buNone/>
            </a:pPr>
            <a:r>
              <a:rPr lang="en-US" sz="680" dirty="0">
                <a:solidFill>
                  <a:srgbClr val="5F716E"/>
                </a:solidFill>
                <a:latin typeface="Calibri" pitchFamily="34" charset="0"/>
                <a:ea typeface="Calibri" pitchFamily="34" charset="-122"/>
                <a:cs typeface="Calibri" pitchFamily="34" charset="-120"/>
              </a:rPr>
              <a:t>combined gap across both engines</a:t>
            </a:r>
            <a:endParaRPr lang="en-US" sz="680" dirty="0"/>
          </a:p>
        </p:txBody>
      </p:sp>
      <p:sp>
        <p:nvSpPr>
          <p:cNvPr id="26" name="Shape 23"/>
          <p:cNvSpPr/>
          <p:nvPr/>
        </p:nvSpPr>
        <p:spPr>
          <a:xfrm>
            <a:off x="4361688" y="2244852"/>
            <a:ext cx="50292" cy="50292"/>
          </a:xfrm>
          <a:prstGeom prst="ellipse">
            <a:avLst/>
          </a:prstGeom>
          <a:solidFill>
            <a:srgbClr val="D6544D"/>
          </a:solidFill>
          <a:ln/>
        </p:spPr>
      </p:sp>
      <p:sp>
        <p:nvSpPr>
          <p:cNvPr id="27" name="Text 24"/>
          <p:cNvSpPr/>
          <p:nvPr/>
        </p:nvSpPr>
        <p:spPr>
          <a:xfrm>
            <a:off x="4480560" y="2194560"/>
            <a:ext cx="2002536" cy="347472"/>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Mamaearth ₹8.89 Cr at 73.4% conversion.</a:t>
            </a:r>
            <a:endParaRPr lang="en-US" sz="700" dirty="0"/>
          </a:p>
        </p:txBody>
      </p:sp>
      <p:sp>
        <p:nvSpPr>
          <p:cNvPr id="28" name="Shape 25"/>
          <p:cNvSpPr/>
          <p:nvPr/>
        </p:nvSpPr>
        <p:spPr>
          <a:xfrm>
            <a:off x="4361688" y="2610612"/>
            <a:ext cx="50292" cy="50292"/>
          </a:xfrm>
          <a:prstGeom prst="ellipse">
            <a:avLst/>
          </a:prstGeom>
          <a:solidFill>
            <a:srgbClr val="D6544D"/>
          </a:solidFill>
          <a:ln/>
        </p:spPr>
      </p:sp>
      <p:sp>
        <p:nvSpPr>
          <p:cNvPr id="29" name="Text 26"/>
          <p:cNvSpPr/>
          <p:nvPr/>
        </p:nvSpPr>
        <p:spPr>
          <a:xfrm>
            <a:off x="4480560" y="2560320"/>
            <a:ext cx="2002536" cy="347472"/>
          </a:xfrm>
          <a:prstGeom prst="rect">
            <a:avLst/>
          </a:prstGeom>
          <a:noFill/>
          <a:ln/>
        </p:spPr>
        <p:txBody>
          <a:bodyPr wrap="square" lIns="0" tIns="0" rIns="0" bIns="0" rtlCol="0" anchor="t"/>
          <a:lstStyle/>
          <a:p>
            <a:pPr indent="0" marL="0">
              <a:lnSpc>
                <a:spcPct val="92000"/>
              </a:lnSpc>
              <a:buNone/>
            </a:pPr>
            <a:r>
              <a:rPr lang="en-US" sz="700" dirty="0">
                <a:solidFill>
                  <a:srgbClr val="183B39"/>
                </a:solidFill>
                <a:latin typeface="Calibri" pitchFamily="34" charset="0"/>
                <a:ea typeface="Calibri" pitchFamily="34" charset="-122"/>
                <a:cs typeface="Calibri" pitchFamily="34" charset="-120"/>
              </a:rPr>
              <a:t>The Derma Co. ₹4.16 Cr at 72.6%.</a:t>
            </a:r>
            <a:endParaRPr lang="en-US" sz="700" dirty="0"/>
          </a:p>
        </p:txBody>
      </p:sp>
      <p:sp>
        <p:nvSpPr>
          <p:cNvPr id="30" name="Shape 27"/>
          <p:cNvSpPr/>
          <p:nvPr/>
        </p:nvSpPr>
        <p:spPr>
          <a:xfrm>
            <a:off x="4361688" y="2976372"/>
            <a:ext cx="50292" cy="50292"/>
          </a:xfrm>
          <a:prstGeom prst="ellipse">
            <a:avLst/>
          </a:prstGeom>
          <a:solidFill>
            <a:srgbClr val="D6544D"/>
          </a:solidFill>
          <a:ln/>
        </p:spPr>
      </p:sp>
      <p:sp>
        <p:nvSpPr>
          <p:cNvPr id="31" name="Text 28"/>
          <p:cNvSpPr/>
          <p:nvPr/>
        </p:nvSpPr>
        <p:spPr>
          <a:xfrm>
            <a:off x="4480560" y="2926080"/>
            <a:ext cx="2002536" cy="347472"/>
          </a:xfrm>
          <a:prstGeom prst="rect">
            <a:avLst/>
          </a:prstGeom>
          <a:noFill/>
          <a:ln/>
        </p:spPr>
        <p:txBody>
          <a:bodyPr wrap="square" lIns="0" tIns="0" rIns="0" bIns="0" rtlCol="0" anchor="t"/>
          <a:lstStyle/>
          <a:p>
            <a:pPr indent="0" marL="0">
              <a:lnSpc>
                <a:spcPct val="92000"/>
              </a:lnSpc>
              <a:buNone/>
            </a:pPr>
            <a:r>
              <a:rPr lang="en-US" sz="700" b="1" dirty="0">
                <a:solidFill>
                  <a:srgbClr val="183B39"/>
                </a:solidFill>
                <a:latin typeface="Calibri" pitchFamily="34" charset="0"/>
                <a:ea typeface="Calibri" pitchFamily="34" charset="-122"/>
                <a:cs typeface="Calibri" pitchFamily="34" charset="-120"/>
              </a:rPr>
              <a:t>Within 0.8 pp of each other — the constraint is the channel, not the brand.</a:t>
            </a:r>
            <a:endParaRPr lang="en-US" sz="700" dirty="0"/>
          </a:p>
        </p:txBody>
      </p:sp>
      <p:sp>
        <p:nvSpPr>
          <p:cNvPr id="32" name="Shape 29"/>
          <p:cNvSpPr/>
          <p:nvPr/>
        </p:nvSpPr>
        <p:spPr>
          <a:xfrm>
            <a:off x="265176" y="3456432"/>
            <a:ext cx="6327648" cy="256032"/>
          </a:xfrm>
          <a:prstGeom prst="rect">
            <a:avLst/>
          </a:prstGeom>
          <a:solidFill>
            <a:srgbClr val="116F68"/>
          </a:solidFill>
          <a:ln/>
        </p:spPr>
      </p:sp>
      <p:sp>
        <p:nvSpPr>
          <p:cNvPr id="33" name="Text 30"/>
          <p:cNvSpPr/>
          <p:nvPr/>
        </p:nvSpPr>
        <p:spPr>
          <a:xfrm>
            <a:off x="320040" y="3474720"/>
            <a:ext cx="1322947" cy="219456"/>
          </a:xfrm>
          <a:prstGeom prst="rect">
            <a:avLst/>
          </a:prstGeom>
          <a:noFill/>
          <a:ln/>
        </p:spPr>
        <p:txBody>
          <a:bodyPr wrap="square" lIns="0" tIns="0" rIns="0" bIns="0" rtlCol="0" anchor="ctr"/>
          <a:lstStyle/>
          <a:p>
            <a:pPr algn="l" indent="0" marL="0">
              <a:buNone/>
            </a:pPr>
            <a:r>
              <a:rPr lang="en-US" sz="660" b="1" spc="40" kern="0" dirty="0">
                <a:solidFill>
                  <a:srgbClr val="FFFFFF"/>
                </a:solidFill>
                <a:latin typeface="Calibri" pitchFamily="34" charset="0"/>
                <a:ea typeface="Calibri" pitchFamily="34" charset="-122"/>
                <a:cs typeface="Calibri" pitchFamily="34" charset="-120"/>
              </a:rPr>
              <a:t>BRAND</a:t>
            </a:r>
            <a:endParaRPr lang="en-US" sz="660" dirty="0"/>
          </a:p>
        </p:txBody>
      </p:sp>
      <p:sp>
        <p:nvSpPr>
          <p:cNvPr id="34" name="Text 31"/>
          <p:cNvSpPr/>
          <p:nvPr/>
        </p:nvSpPr>
        <p:spPr>
          <a:xfrm>
            <a:off x="1752715" y="3474720"/>
            <a:ext cx="686203"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PRIMARY</a:t>
            </a:r>
            <a:endParaRPr lang="en-US" sz="660" dirty="0"/>
          </a:p>
        </p:txBody>
      </p:sp>
      <p:sp>
        <p:nvSpPr>
          <p:cNvPr id="35" name="Text 32"/>
          <p:cNvSpPr/>
          <p:nvPr/>
        </p:nvSpPr>
        <p:spPr>
          <a:xfrm>
            <a:off x="2548646" y="3474720"/>
            <a:ext cx="686203"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OFFTAKE</a:t>
            </a:r>
            <a:endParaRPr lang="en-US" sz="660" dirty="0"/>
          </a:p>
        </p:txBody>
      </p:sp>
      <p:sp>
        <p:nvSpPr>
          <p:cNvPr id="36" name="Text 33"/>
          <p:cNvSpPr/>
          <p:nvPr/>
        </p:nvSpPr>
        <p:spPr>
          <a:xfrm>
            <a:off x="3344576" y="3474720"/>
            <a:ext cx="566813"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CONV.</a:t>
            </a:r>
            <a:endParaRPr lang="en-US" sz="660" dirty="0"/>
          </a:p>
        </p:txBody>
      </p:sp>
      <p:sp>
        <p:nvSpPr>
          <p:cNvPr id="37" name="Text 34"/>
          <p:cNvSpPr/>
          <p:nvPr/>
        </p:nvSpPr>
        <p:spPr>
          <a:xfrm>
            <a:off x="4021117" y="3474720"/>
            <a:ext cx="924982"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SHARE OF OFFTAKE</a:t>
            </a:r>
            <a:endParaRPr lang="en-US" sz="660" dirty="0"/>
          </a:p>
        </p:txBody>
      </p:sp>
      <p:sp>
        <p:nvSpPr>
          <p:cNvPr id="38" name="Text 35"/>
          <p:cNvSpPr/>
          <p:nvPr/>
        </p:nvSpPr>
        <p:spPr>
          <a:xfrm>
            <a:off x="5055827" y="3474720"/>
            <a:ext cx="1482133" cy="219456"/>
          </a:xfrm>
          <a:prstGeom prst="rect">
            <a:avLst/>
          </a:prstGeom>
          <a:noFill/>
          <a:ln/>
        </p:spPr>
        <p:txBody>
          <a:bodyPr wrap="square" lIns="0" tIns="0" rIns="0" bIns="0" rtlCol="0" anchor="ctr"/>
          <a:lstStyle/>
          <a:p>
            <a:pPr algn="l" indent="0" marL="0">
              <a:buNone/>
            </a:pPr>
            <a:r>
              <a:rPr lang="en-US" sz="660" b="1" spc="40" kern="0" dirty="0">
                <a:solidFill>
                  <a:srgbClr val="FFFFFF"/>
                </a:solidFill>
                <a:latin typeface="Calibri" pitchFamily="34" charset="0"/>
                <a:ea typeface="Calibri" pitchFamily="34" charset="-122"/>
                <a:cs typeface="Calibri" pitchFamily="34" charset="-120"/>
              </a:rPr>
              <a:t>READ</a:t>
            </a:r>
            <a:endParaRPr lang="en-US" sz="660" dirty="0"/>
          </a:p>
        </p:txBody>
      </p:sp>
      <p:sp>
        <p:nvSpPr>
          <p:cNvPr id="39" name="Shape 36"/>
          <p:cNvSpPr/>
          <p:nvPr/>
        </p:nvSpPr>
        <p:spPr>
          <a:xfrm>
            <a:off x="265176" y="3712464"/>
            <a:ext cx="6327648" cy="274320"/>
          </a:xfrm>
          <a:prstGeom prst="rect">
            <a:avLst/>
          </a:prstGeom>
          <a:solidFill>
            <a:srgbClr val="F4F9F8"/>
          </a:solidFill>
          <a:ln/>
        </p:spPr>
      </p:sp>
      <p:sp>
        <p:nvSpPr>
          <p:cNvPr id="40" name="Shape 37"/>
          <p:cNvSpPr/>
          <p:nvPr/>
        </p:nvSpPr>
        <p:spPr>
          <a:xfrm>
            <a:off x="265176" y="3986784"/>
            <a:ext cx="6327648" cy="0"/>
          </a:xfrm>
          <a:prstGeom prst="line">
            <a:avLst/>
          </a:prstGeom>
          <a:noFill/>
          <a:ln w="6350">
            <a:solidFill>
              <a:srgbClr val="C8DCD7"/>
            </a:solidFill>
            <a:prstDash val="solid"/>
          </a:ln>
        </p:spPr>
      </p:sp>
      <p:sp>
        <p:nvSpPr>
          <p:cNvPr id="41" name="Text 38"/>
          <p:cNvSpPr/>
          <p:nvPr/>
        </p:nvSpPr>
        <p:spPr>
          <a:xfrm>
            <a:off x="320040" y="3712464"/>
            <a:ext cx="1322947" cy="274320"/>
          </a:xfrm>
          <a:prstGeom prst="rect">
            <a:avLst/>
          </a:prstGeom>
          <a:noFill/>
          <a:ln/>
        </p:spPr>
        <p:txBody>
          <a:bodyPr wrap="square" lIns="0" tIns="0" rIns="0" bIns="0" rtlCol="0" anchor="ctr"/>
          <a:lstStyle/>
          <a:p>
            <a:pPr algn="l" indent="0" marL="0">
              <a:buNone/>
            </a:pPr>
            <a:r>
              <a:rPr lang="en-US" sz="700" b="1" dirty="0">
                <a:solidFill>
                  <a:srgbClr val="183B39"/>
                </a:solidFill>
                <a:latin typeface="Calibri" pitchFamily="34" charset="0"/>
                <a:ea typeface="Calibri" pitchFamily="34" charset="-122"/>
                <a:cs typeface="Calibri" pitchFamily="34" charset="-120"/>
              </a:rPr>
              <a:t>Mamaearth</a:t>
            </a:r>
            <a:endParaRPr lang="en-US" sz="700" dirty="0"/>
          </a:p>
        </p:txBody>
      </p:sp>
      <p:sp>
        <p:nvSpPr>
          <p:cNvPr id="42" name="Text 39"/>
          <p:cNvSpPr/>
          <p:nvPr/>
        </p:nvSpPr>
        <p:spPr>
          <a:xfrm>
            <a:off x="1752715" y="3712464"/>
            <a:ext cx="686203" cy="274320"/>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33.38</a:t>
            </a:r>
            <a:endParaRPr lang="en-US" sz="700" dirty="0"/>
          </a:p>
        </p:txBody>
      </p:sp>
      <p:sp>
        <p:nvSpPr>
          <p:cNvPr id="43" name="Text 40"/>
          <p:cNvSpPr/>
          <p:nvPr/>
        </p:nvSpPr>
        <p:spPr>
          <a:xfrm>
            <a:off x="2548646" y="3712464"/>
            <a:ext cx="686203" cy="274320"/>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24.49</a:t>
            </a:r>
            <a:endParaRPr lang="en-US" sz="700" dirty="0"/>
          </a:p>
        </p:txBody>
      </p:sp>
      <p:sp>
        <p:nvSpPr>
          <p:cNvPr id="44" name="Text 41"/>
          <p:cNvSpPr/>
          <p:nvPr/>
        </p:nvSpPr>
        <p:spPr>
          <a:xfrm>
            <a:off x="3344576" y="3712464"/>
            <a:ext cx="566813" cy="274320"/>
          </a:xfrm>
          <a:prstGeom prst="rect">
            <a:avLst/>
          </a:prstGeom>
          <a:noFill/>
          <a:ln/>
        </p:spPr>
        <p:txBody>
          <a:bodyPr wrap="square" lIns="0" tIns="0" rIns="0" bIns="0" rtlCol="0" anchor="ctr"/>
          <a:lstStyle/>
          <a:p>
            <a:pPr algn="r" indent="0" marL="0">
              <a:buNone/>
            </a:pPr>
            <a:r>
              <a:rPr lang="en-US" sz="700" b="1" dirty="0">
                <a:solidFill>
                  <a:srgbClr val="F2B84B"/>
                </a:solidFill>
                <a:latin typeface="Calibri" pitchFamily="34" charset="0"/>
                <a:ea typeface="Calibri" pitchFamily="34" charset="-122"/>
                <a:cs typeface="Calibri" pitchFamily="34" charset="-120"/>
              </a:rPr>
              <a:t>73.4%</a:t>
            </a:r>
            <a:endParaRPr lang="en-US" sz="700" dirty="0"/>
          </a:p>
        </p:txBody>
      </p:sp>
      <p:sp>
        <p:nvSpPr>
          <p:cNvPr id="45" name="Text 42"/>
          <p:cNvSpPr/>
          <p:nvPr/>
        </p:nvSpPr>
        <p:spPr>
          <a:xfrm>
            <a:off x="4021117" y="3712464"/>
            <a:ext cx="924982" cy="274320"/>
          </a:xfrm>
          <a:prstGeom prst="rect">
            <a:avLst/>
          </a:prstGeom>
          <a:noFill/>
          <a:ln/>
        </p:spPr>
        <p:txBody>
          <a:bodyPr wrap="square" lIns="0" tIns="0" rIns="0" bIns="0" rtlCol="0" anchor="ctr"/>
          <a:lstStyle/>
          <a:p>
            <a:pPr algn="r" indent="0" marL="0">
              <a:buNone/>
            </a:pPr>
            <a:r>
              <a:rPr lang="en-US" sz="700" b="1" dirty="0">
                <a:solidFill>
                  <a:srgbClr val="183B39"/>
                </a:solidFill>
                <a:latin typeface="Calibri" pitchFamily="34" charset="0"/>
                <a:ea typeface="Calibri" pitchFamily="34" charset="-122"/>
                <a:cs typeface="Calibri" pitchFamily="34" charset="-120"/>
              </a:rPr>
              <a:t>67.8%</a:t>
            </a:r>
            <a:endParaRPr lang="en-US" sz="700" dirty="0"/>
          </a:p>
        </p:txBody>
      </p:sp>
      <p:sp>
        <p:nvSpPr>
          <p:cNvPr id="46" name="Text 43"/>
          <p:cNvSpPr/>
          <p:nvPr/>
        </p:nvSpPr>
        <p:spPr>
          <a:xfrm>
            <a:off x="5055827" y="3712464"/>
            <a:ext cx="1482133" cy="274320"/>
          </a:xfrm>
          <a:prstGeom prst="rect">
            <a:avLst/>
          </a:prstGeom>
          <a:noFill/>
          <a:ln/>
        </p:spPr>
        <p:txBody>
          <a:bodyPr wrap="square" lIns="0" tIns="0" rIns="0" bIns="0" rtlCol="0" anchor="ctr"/>
          <a:lstStyle/>
          <a:p>
            <a:pPr algn="l" indent="0" marL="0">
              <a:buNone/>
            </a:pPr>
            <a:r>
              <a:rPr lang="en-US" sz="700" dirty="0">
                <a:solidFill>
                  <a:srgbClr val="183B39"/>
                </a:solidFill>
                <a:latin typeface="Calibri" pitchFamily="34" charset="0"/>
                <a:ea typeface="Calibri" pitchFamily="34" charset="-122"/>
                <a:cs typeface="Calibri" pitchFamily="34" charset="-120"/>
              </a:rPr>
              <a:t>Engine — protect hero EANs</a:t>
            </a:r>
            <a:endParaRPr lang="en-US" sz="700" dirty="0"/>
          </a:p>
        </p:txBody>
      </p:sp>
      <p:sp>
        <p:nvSpPr>
          <p:cNvPr id="47" name="Shape 44"/>
          <p:cNvSpPr/>
          <p:nvPr/>
        </p:nvSpPr>
        <p:spPr>
          <a:xfrm>
            <a:off x="265176" y="4261104"/>
            <a:ext cx="6327648" cy="0"/>
          </a:xfrm>
          <a:prstGeom prst="line">
            <a:avLst/>
          </a:prstGeom>
          <a:noFill/>
          <a:ln w="6350">
            <a:solidFill>
              <a:srgbClr val="C8DCD7"/>
            </a:solidFill>
            <a:prstDash val="solid"/>
          </a:ln>
        </p:spPr>
      </p:sp>
      <p:sp>
        <p:nvSpPr>
          <p:cNvPr id="48" name="Text 45"/>
          <p:cNvSpPr/>
          <p:nvPr/>
        </p:nvSpPr>
        <p:spPr>
          <a:xfrm>
            <a:off x="320040" y="3986784"/>
            <a:ext cx="1322947" cy="274320"/>
          </a:xfrm>
          <a:prstGeom prst="rect">
            <a:avLst/>
          </a:prstGeom>
          <a:noFill/>
          <a:ln/>
        </p:spPr>
        <p:txBody>
          <a:bodyPr wrap="square" lIns="0" tIns="0" rIns="0" bIns="0" rtlCol="0" anchor="ctr"/>
          <a:lstStyle/>
          <a:p>
            <a:pPr algn="l" indent="0" marL="0">
              <a:buNone/>
            </a:pPr>
            <a:r>
              <a:rPr lang="en-US" sz="700" b="1" dirty="0">
                <a:solidFill>
                  <a:srgbClr val="183B39"/>
                </a:solidFill>
                <a:latin typeface="Calibri" pitchFamily="34" charset="0"/>
                <a:ea typeface="Calibri" pitchFamily="34" charset="-122"/>
                <a:cs typeface="Calibri" pitchFamily="34" charset="-120"/>
              </a:rPr>
              <a:t>The Derma Co.</a:t>
            </a:r>
            <a:endParaRPr lang="en-US" sz="700" dirty="0"/>
          </a:p>
        </p:txBody>
      </p:sp>
      <p:sp>
        <p:nvSpPr>
          <p:cNvPr id="49" name="Text 46"/>
          <p:cNvSpPr/>
          <p:nvPr/>
        </p:nvSpPr>
        <p:spPr>
          <a:xfrm>
            <a:off x="1752715" y="3986784"/>
            <a:ext cx="686203" cy="274320"/>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15.19</a:t>
            </a:r>
            <a:endParaRPr lang="en-US" sz="700" dirty="0"/>
          </a:p>
        </p:txBody>
      </p:sp>
      <p:sp>
        <p:nvSpPr>
          <p:cNvPr id="50" name="Text 47"/>
          <p:cNvSpPr/>
          <p:nvPr/>
        </p:nvSpPr>
        <p:spPr>
          <a:xfrm>
            <a:off x="2548646" y="3986784"/>
            <a:ext cx="686203" cy="274320"/>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11.03</a:t>
            </a:r>
            <a:endParaRPr lang="en-US" sz="700" dirty="0"/>
          </a:p>
        </p:txBody>
      </p:sp>
      <p:sp>
        <p:nvSpPr>
          <p:cNvPr id="51" name="Text 48"/>
          <p:cNvSpPr/>
          <p:nvPr/>
        </p:nvSpPr>
        <p:spPr>
          <a:xfrm>
            <a:off x="3344576" y="3986784"/>
            <a:ext cx="566813" cy="274320"/>
          </a:xfrm>
          <a:prstGeom prst="rect">
            <a:avLst/>
          </a:prstGeom>
          <a:noFill/>
          <a:ln/>
        </p:spPr>
        <p:txBody>
          <a:bodyPr wrap="square" lIns="0" tIns="0" rIns="0" bIns="0" rtlCol="0" anchor="ctr"/>
          <a:lstStyle/>
          <a:p>
            <a:pPr algn="r" indent="0" marL="0">
              <a:buNone/>
            </a:pPr>
            <a:r>
              <a:rPr lang="en-US" sz="700" b="1" dirty="0">
                <a:solidFill>
                  <a:srgbClr val="F2B84B"/>
                </a:solidFill>
                <a:latin typeface="Calibri" pitchFamily="34" charset="0"/>
                <a:ea typeface="Calibri" pitchFamily="34" charset="-122"/>
                <a:cs typeface="Calibri" pitchFamily="34" charset="-120"/>
              </a:rPr>
              <a:t>72.6%</a:t>
            </a:r>
            <a:endParaRPr lang="en-US" sz="700" dirty="0"/>
          </a:p>
        </p:txBody>
      </p:sp>
      <p:sp>
        <p:nvSpPr>
          <p:cNvPr id="52" name="Text 49"/>
          <p:cNvSpPr/>
          <p:nvPr/>
        </p:nvSpPr>
        <p:spPr>
          <a:xfrm>
            <a:off x="4021117" y="3986784"/>
            <a:ext cx="924982" cy="274320"/>
          </a:xfrm>
          <a:prstGeom prst="rect">
            <a:avLst/>
          </a:prstGeom>
          <a:noFill/>
          <a:ln/>
        </p:spPr>
        <p:txBody>
          <a:bodyPr wrap="square" lIns="0" tIns="0" rIns="0" bIns="0" rtlCol="0" anchor="ctr"/>
          <a:lstStyle/>
          <a:p>
            <a:pPr algn="r" indent="0" marL="0">
              <a:buNone/>
            </a:pPr>
            <a:r>
              <a:rPr lang="en-US" sz="700" b="1" dirty="0">
                <a:solidFill>
                  <a:srgbClr val="183B39"/>
                </a:solidFill>
                <a:latin typeface="Calibri" pitchFamily="34" charset="0"/>
                <a:ea typeface="Calibri" pitchFamily="34" charset="-122"/>
                <a:cs typeface="Calibri" pitchFamily="34" charset="-120"/>
              </a:rPr>
              <a:t>30.6%</a:t>
            </a:r>
            <a:endParaRPr lang="en-US" sz="700" dirty="0"/>
          </a:p>
        </p:txBody>
      </p:sp>
      <p:sp>
        <p:nvSpPr>
          <p:cNvPr id="53" name="Text 50"/>
          <p:cNvSpPr/>
          <p:nvPr/>
        </p:nvSpPr>
        <p:spPr>
          <a:xfrm>
            <a:off x="5055827" y="3986784"/>
            <a:ext cx="1482133" cy="274320"/>
          </a:xfrm>
          <a:prstGeom prst="rect">
            <a:avLst/>
          </a:prstGeom>
          <a:noFill/>
          <a:ln/>
        </p:spPr>
        <p:txBody>
          <a:bodyPr wrap="square" lIns="0" tIns="0" rIns="0" bIns="0" rtlCol="0" anchor="ctr"/>
          <a:lstStyle/>
          <a:p>
            <a:pPr algn="l" indent="0" marL="0">
              <a:buNone/>
            </a:pPr>
            <a:r>
              <a:rPr lang="en-US" sz="700" dirty="0">
                <a:solidFill>
                  <a:srgbClr val="183B39"/>
                </a:solidFill>
                <a:latin typeface="Calibri" pitchFamily="34" charset="0"/>
                <a:ea typeface="Calibri" pitchFamily="34" charset="-122"/>
                <a:cs typeface="Calibri" pitchFamily="34" charset="-120"/>
              </a:rPr>
              <a:t>₹4.16 Cr gap — same flow problem</a:t>
            </a:r>
            <a:endParaRPr lang="en-US" sz="700" dirty="0"/>
          </a:p>
        </p:txBody>
      </p:sp>
      <p:sp>
        <p:nvSpPr>
          <p:cNvPr id="54" name="Shape 51"/>
          <p:cNvSpPr/>
          <p:nvPr/>
        </p:nvSpPr>
        <p:spPr>
          <a:xfrm>
            <a:off x="265176" y="4261104"/>
            <a:ext cx="6327648" cy="274320"/>
          </a:xfrm>
          <a:prstGeom prst="rect">
            <a:avLst/>
          </a:prstGeom>
          <a:solidFill>
            <a:srgbClr val="F4F9F8"/>
          </a:solidFill>
          <a:ln/>
        </p:spPr>
      </p:sp>
      <p:sp>
        <p:nvSpPr>
          <p:cNvPr id="55" name="Shape 52"/>
          <p:cNvSpPr/>
          <p:nvPr/>
        </p:nvSpPr>
        <p:spPr>
          <a:xfrm>
            <a:off x="265176" y="4535424"/>
            <a:ext cx="6327648" cy="0"/>
          </a:xfrm>
          <a:prstGeom prst="line">
            <a:avLst/>
          </a:prstGeom>
          <a:noFill/>
          <a:ln w="6350">
            <a:solidFill>
              <a:srgbClr val="C8DCD7"/>
            </a:solidFill>
            <a:prstDash val="solid"/>
          </a:ln>
        </p:spPr>
      </p:sp>
      <p:sp>
        <p:nvSpPr>
          <p:cNvPr id="56" name="Text 53"/>
          <p:cNvSpPr/>
          <p:nvPr/>
        </p:nvSpPr>
        <p:spPr>
          <a:xfrm>
            <a:off x="320040" y="4261104"/>
            <a:ext cx="1322947" cy="274320"/>
          </a:xfrm>
          <a:prstGeom prst="rect">
            <a:avLst/>
          </a:prstGeom>
          <a:noFill/>
          <a:ln/>
        </p:spPr>
        <p:txBody>
          <a:bodyPr wrap="square" lIns="0" tIns="0" rIns="0" bIns="0" rtlCol="0" anchor="ctr"/>
          <a:lstStyle/>
          <a:p>
            <a:pPr algn="l" indent="0" marL="0">
              <a:buNone/>
            </a:pPr>
            <a:r>
              <a:rPr lang="en-US" sz="700" dirty="0">
                <a:solidFill>
                  <a:srgbClr val="183B39"/>
                </a:solidFill>
                <a:latin typeface="Calibri" pitchFamily="34" charset="0"/>
                <a:ea typeface="Calibri" pitchFamily="34" charset="-122"/>
                <a:cs typeface="Calibri" pitchFamily="34" charset="-120"/>
              </a:rPr>
              <a:t>Aqualogica</a:t>
            </a:r>
            <a:endParaRPr lang="en-US" sz="700" dirty="0"/>
          </a:p>
        </p:txBody>
      </p:sp>
      <p:sp>
        <p:nvSpPr>
          <p:cNvPr id="57" name="Text 54"/>
          <p:cNvSpPr/>
          <p:nvPr/>
        </p:nvSpPr>
        <p:spPr>
          <a:xfrm>
            <a:off x="1752715" y="4261104"/>
            <a:ext cx="686203" cy="274320"/>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0.41</a:t>
            </a:r>
            <a:endParaRPr lang="en-US" sz="700" dirty="0"/>
          </a:p>
        </p:txBody>
      </p:sp>
      <p:sp>
        <p:nvSpPr>
          <p:cNvPr id="58" name="Text 55"/>
          <p:cNvSpPr/>
          <p:nvPr/>
        </p:nvSpPr>
        <p:spPr>
          <a:xfrm>
            <a:off x="2548646" y="4261104"/>
            <a:ext cx="686203" cy="274320"/>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0.48</a:t>
            </a:r>
            <a:endParaRPr lang="en-US" sz="700" dirty="0"/>
          </a:p>
        </p:txBody>
      </p:sp>
      <p:sp>
        <p:nvSpPr>
          <p:cNvPr id="59" name="Text 56"/>
          <p:cNvSpPr/>
          <p:nvPr/>
        </p:nvSpPr>
        <p:spPr>
          <a:xfrm>
            <a:off x="3344576" y="4261104"/>
            <a:ext cx="566813" cy="274320"/>
          </a:xfrm>
          <a:prstGeom prst="rect">
            <a:avLst/>
          </a:prstGeom>
          <a:noFill/>
          <a:ln/>
        </p:spPr>
        <p:txBody>
          <a:bodyPr wrap="square" lIns="0" tIns="0" rIns="0" bIns="0" rtlCol="0" anchor="ctr"/>
          <a:lstStyle/>
          <a:p>
            <a:pPr algn="r" indent="0" marL="0">
              <a:buNone/>
            </a:pPr>
            <a:r>
              <a:rPr lang="en-US" sz="700" dirty="0">
                <a:solidFill>
                  <a:srgbClr val="F2B84B"/>
                </a:solidFill>
                <a:latin typeface="Calibri" pitchFamily="34" charset="0"/>
                <a:ea typeface="Calibri" pitchFamily="34" charset="-122"/>
                <a:cs typeface="Calibri" pitchFamily="34" charset="-120"/>
              </a:rPr>
              <a:t>over 100%</a:t>
            </a:r>
            <a:endParaRPr lang="en-US" sz="700" dirty="0"/>
          </a:p>
        </p:txBody>
      </p:sp>
      <p:sp>
        <p:nvSpPr>
          <p:cNvPr id="60" name="Text 57"/>
          <p:cNvSpPr/>
          <p:nvPr/>
        </p:nvSpPr>
        <p:spPr>
          <a:xfrm>
            <a:off x="4021117" y="4261104"/>
            <a:ext cx="924982" cy="274320"/>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1.3%</a:t>
            </a:r>
            <a:endParaRPr lang="en-US" sz="700" dirty="0"/>
          </a:p>
        </p:txBody>
      </p:sp>
      <p:sp>
        <p:nvSpPr>
          <p:cNvPr id="61" name="Text 58"/>
          <p:cNvSpPr/>
          <p:nvPr/>
        </p:nvSpPr>
        <p:spPr>
          <a:xfrm>
            <a:off x="5055827" y="4261104"/>
            <a:ext cx="1482133" cy="274320"/>
          </a:xfrm>
          <a:prstGeom prst="rect">
            <a:avLst/>
          </a:prstGeom>
          <a:noFill/>
          <a:ln/>
        </p:spPr>
        <p:txBody>
          <a:bodyPr wrap="square" lIns="0" tIns="0" rIns="0" bIns="0" rtlCol="0" anchor="ctr"/>
          <a:lstStyle/>
          <a:p>
            <a:pPr algn="l" indent="0" marL="0">
              <a:buNone/>
            </a:pPr>
            <a:r>
              <a:rPr lang="en-US" sz="700" dirty="0">
                <a:solidFill>
                  <a:srgbClr val="F2B84B"/>
                </a:solidFill>
                <a:latin typeface="Calibri" pitchFamily="34" charset="0"/>
                <a:ea typeface="Calibri" pitchFamily="34" charset="-122"/>
                <a:cs typeface="Calibri" pitchFamily="34" charset="-120"/>
              </a:rPr>
              <a:t>Stock or timing — validate</a:t>
            </a:r>
            <a:endParaRPr lang="en-US" sz="700" dirty="0"/>
          </a:p>
        </p:txBody>
      </p:sp>
      <p:sp>
        <p:nvSpPr>
          <p:cNvPr id="62" name="Shape 59"/>
          <p:cNvSpPr/>
          <p:nvPr/>
        </p:nvSpPr>
        <p:spPr>
          <a:xfrm>
            <a:off x="265176" y="4809744"/>
            <a:ext cx="6327648" cy="0"/>
          </a:xfrm>
          <a:prstGeom prst="line">
            <a:avLst/>
          </a:prstGeom>
          <a:noFill/>
          <a:ln w="6350">
            <a:solidFill>
              <a:srgbClr val="C8DCD7"/>
            </a:solidFill>
            <a:prstDash val="solid"/>
          </a:ln>
        </p:spPr>
      </p:sp>
      <p:sp>
        <p:nvSpPr>
          <p:cNvPr id="63" name="Text 60"/>
          <p:cNvSpPr/>
          <p:nvPr/>
        </p:nvSpPr>
        <p:spPr>
          <a:xfrm>
            <a:off x="320040" y="4535424"/>
            <a:ext cx="1322947" cy="274320"/>
          </a:xfrm>
          <a:prstGeom prst="rect">
            <a:avLst/>
          </a:prstGeom>
          <a:noFill/>
          <a:ln/>
        </p:spPr>
        <p:txBody>
          <a:bodyPr wrap="square" lIns="0" tIns="0" rIns="0" bIns="0" rtlCol="0" anchor="ctr"/>
          <a:lstStyle/>
          <a:p>
            <a:pPr algn="l" indent="0" marL="0">
              <a:buNone/>
            </a:pPr>
            <a:r>
              <a:rPr lang="en-US" sz="700" dirty="0">
                <a:solidFill>
                  <a:srgbClr val="183B39"/>
                </a:solidFill>
                <a:latin typeface="Calibri" pitchFamily="34" charset="0"/>
                <a:ea typeface="Calibri" pitchFamily="34" charset="-122"/>
                <a:cs typeface="Calibri" pitchFamily="34" charset="-120"/>
              </a:rPr>
              <a:t>BBLUNT</a:t>
            </a:r>
            <a:endParaRPr lang="en-US" sz="700" dirty="0"/>
          </a:p>
        </p:txBody>
      </p:sp>
      <p:sp>
        <p:nvSpPr>
          <p:cNvPr id="64" name="Text 61"/>
          <p:cNvSpPr/>
          <p:nvPr/>
        </p:nvSpPr>
        <p:spPr>
          <a:xfrm>
            <a:off x="1752715" y="4535424"/>
            <a:ext cx="686203" cy="274320"/>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0.18</a:t>
            </a:r>
            <a:endParaRPr lang="en-US" sz="700" dirty="0"/>
          </a:p>
        </p:txBody>
      </p:sp>
      <p:sp>
        <p:nvSpPr>
          <p:cNvPr id="65" name="Text 62"/>
          <p:cNvSpPr/>
          <p:nvPr/>
        </p:nvSpPr>
        <p:spPr>
          <a:xfrm>
            <a:off x="2548646" y="4535424"/>
            <a:ext cx="686203" cy="274320"/>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0.06</a:t>
            </a:r>
            <a:endParaRPr lang="en-US" sz="700" dirty="0"/>
          </a:p>
        </p:txBody>
      </p:sp>
      <p:sp>
        <p:nvSpPr>
          <p:cNvPr id="66" name="Text 63"/>
          <p:cNvSpPr/>
          <p:nvPr/>
        </p:nvSpPr>
        <p:spPr>
          <a:xfrm>
            <a:off x="3344576" y="4535424"/>
            <a:ext cx="566813" cy="274320"/>
          </a:xfrm>
          <a:prstGeom prst="rect">
            <a:avLst/>
          </a:prstGeom>
          <a:noFill/>
          <a:ln/>
        </p:spPr>
        <p:txBody>
          <a:bodyPr wrap="square" lIns="0" tIns="0" rIns="0" bIns="0" rtlCol="0" anchor="ctr"/>
          <a:lstStyle/>
          <a:p>
            <a:pPr algn="r" indent="0" marL="0">
              <a:buNone/>
            </a:pPr>
            <a:r>
              <a:rPr lang="en-US" sz="700" dirty="0">
                <a:solidFill>
                  <a:srgbClr val="D6544D"/>
                </a:solidFill>
                <a:latin typeface="Calibri" pitchFamily="34" charset="0"/>
                <a:ea typeface="Calibri" pitchFamily="34" charset="-122"/>
                <a:cs typeface="Calibri" pitchFamily="34" charset="-120"/>
              </a:rPr>
              <a:t>35.2%</a:t>
            </a:r>
            <a:endParaRPr lang="en-US" sz="700" dirty="0"/>
          </a:p>
        </p:txBody>
      </p:sp>
      <p:sp>
        <p:nvSpPr>
          <p:cNvPr id="67" name="Text 64"/>
          <p:cNvSpPr/>
          <p:nvPr/>
        </p:nvSpPr>
        <p:spPr>
          <a:xfrm>
            <a:off x="4021117" y="4535424"/>
            <a:ext cx="924982" cy="274320"/>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0.2%</a:t>
            </a:r>
            <a:endParaRPr lang="en-US" sz="700" dirty="0"/>
          </a:p>
        </p:txBody>
      </p:sp>
      <p:sp>
        <p:nvSpPr>
          <p:cNvPr id="68" name="Text 65"/>
          <p:cNvSpPr/>
          <p:nvPr/>
        </p:nvSpPr>
        <p:spPr>
          <a:xfrm>
            <a:off x="5055827" y="4535424"/>
            <a:ext cx="1482133" cy="274320"/>
          </a:xfrm>
          <a:prstGeom prst="rect">
            <a:avLst/>
          </a:prstGeom>
          <a:noFill/>
          <a:ln/>
        </p:spPr>
        <p:txBody>
          <a:bodyPr wrap="square" lIns="0" tIns="0" rIns="0" bIns="0" rtlCol="0" anchor="ctr"/>
          <a:lstStyle/>
          <a:p>
            <a:pPr algn="l" indent="0" marL="0">
              <a:buNone/>
            </a:pPr>
            <a:r>
              <a:rPr lang="en-US" sz="700" dirty="0">
                <a:solidFill>
                  <a:srgbClr val="5F716E"/>
                </a:solidFill>
                <a:latin typeface="Calibri" pitchFamily="34" charset="0"/>
                <a:ea typeface="Calibri" pitchFamily="34" charset="-122"/>
                <a:cs typeface="Calibri" pitchFamily="34" charset="-120"/>
              </a:rPr>
              <a:t>Below materiality floor</a:t>
            </a:r>
            <a:endParaRPr lang="en-US" sz="700" dirty="0"/>
          </a:p>
        </p:txBody>
      </p:sp>
      <p:sp>
        <p:nvSpPr>
          <p:cNvPr id="69" name="Shape 66"/>
          <p:cNvSpPr/>
          <p:nvPr/>
        </p:nvSpPr>
        <p:spPr>
          <a:xfrm>
            <a:off x="265176" y="4809744"/>
            <a:ext cx="6327648" cy="274320"/>
          </a:xfrm>
          <a:prstGeom prst="rect">
            <a:avLst/>
          </a:prstGeom>
          <a:solidFill>
            <a:srgbClr val="F4F9F8"/>
          </a:solidFill>
          <a:ln/>
        </p:spPr>
      </p:sp>
      <p:sp>
        <p:nvSpPr>
          <p:cNvPr id="70" name="Shape 67"/>
          <p:cNvSpPr/>
          <p:nvPr/>
        </p:nvSpPr>
        <p:spPr>
          <a:xfrm>
            <a:off x="265176" y="5084064"/>
            <a:ext cx="6327648" cy="0"/>
          </a:xfrm>
          <a:prstGeom prst="line">
            <a:avLst/>
          </a:prstGeom>
          <a:noFill/>
          <a:ln w="6350">
            <a:solidFill>
              <a:srgbClr val="C8DCD7"/>
            </a:solidFill>
            <a:prstDash val="solid"/>
          </a:ln>
        </p:spPr>
      </p:sp>
      <p:sp>
        <p:nvSpPr>
          <p:cNvPr id="71" name="Text 68"/>
          <p:cNvSpPr/>
          <p:nvPr/>
        </p:nvSpPr>
        <p:spPr>
          <a:xfrm>
            <a:off x="320040" y="4809744"/>
            <a:ext cx="1322947" cy="274320"/>
          </a:xfrm>
          <a:prstGeom prst="rect">
            <a:avLst/>
          </a:prstGeom>
          <a:noFill/>
          <a:ln/>
        </p:spPr>
        <p:txBody>
          <a:bodyPr wrap="square" lIns="0" tIns="0" rIns="0" bIns="0" rtlCol="0" anchor="ctr"/>
          <a:lstStyle/>
          <a:p>
            <a:pPr algn="l" indent="0" marL="0">
              <a:buNone/>
            </a:pPr>
            <a:r>
              <a:rPr lang="en-US" sz="700" dirty="0">
                <a:solidFill>
                  <a:srgbClr val="183B39"/>
                </a:solidFill>
                <a:latin typeface="Calibri" pitchFamily="34" charset="0"/>
                <a:ea typeface="Calibri" pitchFamily="34" charset="-122"/>
                <a:cs typeface="Calibri" pitchFamily="34" charset="-120"/>
              </a:rPr>
              <a:t>Dr. Sheth's</a:t>
            </a:r>
            <a:endParaRPr lang="en-US" sz="700" dirty="0"/>
          </a:p>
        </p:txBody>
      </p:sp>
      <p:sp>
        <p:nvSpPr>
          <p:cNvPr id="72" name="Text 69"/>
          <p:cNvSpPr/>
          <p:nvPr/>
        </p:nvSpPr>
        <p:spPr>
          <a:xfrm>
            <a:off x="1752715" y="4809744"/>
            <a:ext cx="686203" cy="274320"/>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0.00</a:t>
            </a:r>
            <a:endParaRPr lang="en-US" sz="700" dirty="0"/>
          </a:p>
        </p:txBody>
      </p:sp>
      <p:sp>
        <p:nvSpPr>
          <p:cNvPr id="73" name="Text 70"/>
          <p:cNvSpPr/>
          <p:nvPr/>
        </p:nvSpPr>
        <p:spPr>
          <a:xfrm>
            <a:off x="2548646" y="4809744"/>
            <a:ext cx="686203" cy="274320"/>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0.03</a:t>
            </a:r>
            <a:endParaRPr lang="en-US" sz="700" dirty="0"/>
          </a:p>
        </p:txBody>
      </p:sp>
      <p:sp>
        <p:nvSpPr>
          <p:cNvPr id="74" name="Text 71"/>
          <p:cNvSpPr/>
          <p:nvPr/>
        </p:nvSpPr>
        <p:spPr>
          <a:xfrm>
            <a:off x="3344576" y="4809744"/>
            <a:ext cx="566813" cy="274320"/>
          </a:xfrm>
          <a:prstGeom prst="rect">
            <a:avLst/>
          </a:prstGeom>
          <a:noFill/>
          <a:ln/>
        </p:spPr>
        <p:txBody>
          <a:bodyPr wrap="square" lIns="0" tIns="0" rIns="0" bIns="0" rtlCol="0" anchor="ctr"/>
          <a:lstStyle/>
          <a:p>
            <a:pPr algn="r" indent="0" marL="0">
              <a:buNone/>
            </a:pPr>
            <a:r>
              <a:rPr lang="en-US" sz="700" dirty="0">
                <a:solidFill>
                  <a:srgbClr val="F2B84B"/>
                </a:solidFill>
                <a:latin typeface="Calibri" pitchFamily="34" charset="0"/>
                <a:ea typeface="Calibri" pitchFamily="34" charset="-122"/>
                <a:cs typeface="Calibri" pitchFamily="34" charset="-120"/>
              </a:rPr>
              <a:t>n/a</a:t>
            </a:r>
            <a:endParaRPr lang="en-US" sz="700" dirty="0"/>
          </a:p>
        </p:txBody>
      </p:sp>
      <p:sp>
        <p:nvSpPr>
          <p:cNvPr id="75" name="Text 72"/>
          <p:cNvSpPr/>
          <p:nvPr/>
        </p:nvSpPr>
        <p:spPr>
          <a:xfrm>
            <a:off x="4021117" y="4809744"/>
            <a:ext cx="924982" cy="274320"/>
          </a:xfrm>
          <a:prstGeom prst="rect">
            <a:avLst/>
          </a:prstGeom>
          <a:noFill/>
          <a:ln/>
        </p:spPr>
        <p:txBody>
          <a:bodyPr wrap="square" lIns="0" tIns="0" rIns="0" bIns="0" rtlCol="0" anchor="ctr"/>
          <a:lstStyle/>
          <a:p>
            <a:pPr algn="r" indent="0" marL="0">
              <a:buNone/>
            </a:pPr>
            <a:r>
              <a:rPr lang="en-US" sz="700" dirty="0">
                <a:solidFill>
                  <a:srgbClr val="183B39"/>
                </a:solidFill>
                <a:latin typeface="Calibri" pitchFamily="34" charset="0"/>
                <a:ea typeface="Calibri" pitchFamily="34" charset="-122"/>
                <a:cs typeface="Calibri" pitchFamily="34" charset="-120"/>
              </a:rPr>
              <a:t>0.1%</a:t>
            </a:r>
            <a:endParaRPr lang="en-US" sz="700" dirty="0"/>
          </a:p>
        </p:txBody>
      </p:sp>
      <p:sp>
        <p:nvSpPr>
          <p:cNvPr id="76" name="Text 73"/>
          <p:cNvSpPr/>
          <p:nvPr/>
        </p:nvSpPr>
        <p:spPr>
          <a:xfrm>
            <a:off x="5055827" y="4809744"/>
            <a:ext cx="1482133" cy="274320"/>
          </a:xfrm>
          <a:prstGeom prst="rect">
            <a:avLst/>
          </a:prstGeom>
          <a:noFill/>
          <a:ln/>
        </p:spPr>
        <p:txBody>
          <a:bodyPr wrap="square" lIns="0" tIns="0" rIns="0" bIns="0" rtlCol="0" anchor="ctr"/>
          <a:lstStyle/>
          <a:p>
            <a:pPr algn="l" indent="0" marL="0">
              <a:buNone/>
            </a:pPr>
            <a:r>
              <a:rPr lang="en-US" sz="700" dirty="0">
                <a:solidFill>
                  <a:srgbClr val="F2B84B"/>
                </a:solidFill>
                <a:latin typeface="Calibri" pitchFamily="34" charset="0"/>
                <a:ea typeface="Calibri" pitchFamily="34" charset="-122"/>
                <a:cs typeface="Calibri" pitchFamily="34" charset="-120"/>
              </a:rPr>
              <a:t>No mapped primary</a:t>
            </a:r>
            <a:endParaRPr lang="en-US" sz="700" dirty="0"/>
          </a:p>
        </p:txBody>
      </p:sp>
      <p:sp>
        <p:nvSpPr>
          <p:cNvPr id="77" name="Text 74"/>
          <p:cNvSpPr/>
          <p:nvPr/>
        </p:nvSpPr>
        <p:spPr>
          <a:xfrm>
            <a:off x="265176" y="5266944"/>
            <a:ext cx="3090672"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Mamaearth top 3 sub-categories (₹ Cr, Feb–Jul)</a:t>
            </a:r>
            <a:endParaRPr lang="en-US" sz="720" dirty="0"/>
          </a:p>
        </p:txBody>
      </p:sp>
      <p:graphicFrame>
        <p:nvGraphicFramePr>
          <p:cNvPr id="78" name="Chart 1" descr=""/>
          <p:cNvGraphicFramePr/>
          <p:nvPr/>
        </p:nvGraphicFramePr>
        <p:xfrm>
          <a:off x="246888" y="5468112"/>
          <a:ext cx="3090672" cy="1389888"/>
        </p:xfrm>
        <a:graphic xmlns:a="http://schemas.openxmlformats.org/drawingml/2006/main">
          <a:graphicData uri="http://schemas.openxmlformats.org/drawingml/2006/chart">
            <c:chart xmlns:c="http://schemas.openxmlformats.org/drawingml/2006/chart" r:id="rId2"/>
          </a:graphicData>
        </a:graphic>
      </p:graphicFrame>
      <p:sp>
        <p:nvSpPr>
          <p:cNvPr id="79" name="Text 75"/>
          <p:cNvSpPr/>
          <p:nvPr/>
        </p:nvSpPr>
        <p:spPr>
          <a:xfrm>
            <a:off x="3502152" y="5266944"/>
            <a:ext cx="3090672" cy="182880"/>
          </a:xfrm>
          <a:prstGeom prst="rect">
            <a:avLst/>
          </a:prstGeom>
          <a:noFill/>
          <a:ln/>
        </p:spPr>
        <p:txBody>
          <a:bodyPr wrap="square" lIns="0" tIns="0" rIns="0" bIns="0" rtlCol="0" anchor="t"/>
          <a:lstStyle/>
          <a:p>
            <a:pPr indent="0" marL="0">
              <a:buNone/>
            </a:pPr>
            <a:r>
              <a:rPr lang="en-US" sz="720" b="1" dirty="0">
                <a:solidFill>
                  <a:srgbClr val="183B39"/>
                </a:solidFill>
                <a:latin typeface="Calibri" pitchFamily="34" charset="0"/>
                <a:ea typeface="Calibri" pitchFamily="34" charset="-122"/>
                <a:cs typeface="Calibri" pitchFamily="34" charset="-120"/>
              </a:rPr>
              <a:t>The Derma Co. top 3 sub-categories (₹ Cr, Feb–Jul)</a:t>
            </a:r>
            <a:endParaRPr lang="en-US" sz="720" dirty="0"/>
          </a:p>
        </p:txBody>
      </p:sp>
      <p:graphicFrame>
        <p:nvGraphicFramePr>
          <p:cNvPr id="80" name="Chart 2" descr=""/>
          <p:cNvGraphicFramePr/>
          <p:nvPr/>
        </p:nvGraphicFramePr>
        <p:xfrm>
          <a:off x="3483864" y="5468112"/>
          <a:ext cx="3090672" cy="1389888"/>
        </p:xfrm>
        <a:graphic xmlns:a="http://schemas.openxmlformats.org/drawingml/2006/main">
          <a:graphicData uri="http://schemas.openxmlformats.org/drawingml/2006/chart">
            <c:chart xmlns:c="http://schemas.openxmlformats.org/drawingml/2006/chart" r:id="rId3"/>
          </a:graphicData>
        </a:graphic>
      </p:graphicFrame>
      <p:sp>
        <p:nvSpPr>
          <p:cNvPr id="81" name="Shape 76"/>
          <p:cNvSpPr/>
          <p:nvPr/>
        </p:nvSpPr>
        <p:spPr>
          <a:xfrm>
            <a:off x="265176" y="6967728"/>
            <a:ext cx="6327648" cy="256032"/>
          </a:xfrm>
          <a:prstGeom prst="rect">
            <a:avLst/>
          </a:prstGeom>
          <a:solidFill>
            <a:srgbClr val="116F68"/>
          </a:solidFill>
          <a:ln/>
        </p:spPr>
      </p:sp>
      <p:sp>
        <p:nvSpPr>
          <p:cNvPr id="82" name="Text 77"/>
          <p:cNvSpPr/>
          <p:nvPr/>
        </p:nvSpPr>
        <p:spPr>
          <a:xfrm>
            <a:off x="374904" y="6986016"/>
            <a:ext cx="6108192" cy="219456"/>
          </a:xfrm>
          <a:prstGeom prst="rect">
            <a:avLst/>
          </a:prstGeom>
          <a:noFill/>
          <a:ln/>
        </p:spPr>
        <p:txBody>
          <a:bodyPr wrap="square" lIns="0" tIns="0" rIns="0" bIns="0" rtlCol="0" anchor="ctr"/>
          <a:lstStyle/>
          <a:p>
            <a:pPr indent="0" marL="0">
              <a:buNone/>
            </a:pPr>
            <a:r>
              <a:rPr lang="en-US" sz="720" b="1" spc="60" kern="0" dirty="0">
                <a:solidFill>
                  <a:srgbClr val="FFFFFF"/>
                </a:solidFill>
                <a:latin typeface="Calibri" pitchFamily="34" charset="0"/>
                <a:ea typeface="Calibri" pitchFamily="34" charset="-122"/>
                <a:cs typeface="Calibri" pitchFamily="34" charset="-120"/>
              </a:rPr>
              <a:t>PORTFOLIO IMPLICATIONS</a:t>
            </a:r>
            <a:endParaRPr lang="en-US" sz="720" dirty="0"/>
          </a:p>
        </p:txBody>
      </p:sp>
      <p:sp>
        <p:nvSpPr>
          <p:cNvPr id="83" name="Shape 78"/>
          <p:cNvSpPr/>
          <p:nvPr/>
        </p:nvSpPr>
        <p:spPr>
          <a:xfrm>
            <a:off x="356616" y="7383780"/>
            <a:ext cx="50292" cy="50292"/>
          </a:xfrm>
          <a:prstGeom prst="ellipse">
            <a:avLst/>
          </a:prstGeom>
          <a:solidFill>
            <a:srgbClr val="28A596"/>
          </a:solidFill>
          <a:ln/>
        </p:spPr>
      </p:sp>
      <p:sp>
        <p:nvSpPr>
          <p:cNvPr id="84" name="Text 79"/>
          <p:cNvSpPr/>
          <p:nvPr/>
        </p:nvSpPr>
        <p:spPr>
          <a:xfrm>
            <a:off x="475488" y="7333488"/>
            <a:ext cx="6025896" cy="347472"/>
          </a:xfrm>
          <a:prstGeom prst="rect">
            <a:avLst/>
          </a:prstGeom>
          <a:noFill/>
          <a:ln/>
        </p:spPr>
        <p:txBody>
          <a:bodyPr wrap="square" lIns="0" tIns="0" rIns="0" bIns="0" rtlCol="0" anchor="t"/>
          <a:lstStyle/>
          <a:p>
            <a:pPr indent="0" marL="0">
              <a:lnSpc>
                <a:spcPct val="92000"/>
              </a:lnSpc>
              <a:buNone/>
            </a:pPr>
            <a:r>
              <a:rPr lang="en-US" sz="740" b="1" dirty="0">
                <a:solidFill>
                  <a:srgbClr val="183B39"/>
                </a:solidFill>
                <a:latin typeface="Calibri" pitchFamily="34" charset="0"/>
                <a:ea typeface="Calibri" pitchFamily="34" charset="-122"/>
                <a:cs typeface="Calibri" pitchFamily="34" charset="-120"/>
              </a:rPr>
              <a:t>Both engines convert at the same rate — 73.4% and 72.6%. The flow problem is channel-wide, not brand-specific, so it will not be fixed by brand-level action.</a:t>
            </a:r>
            <a:endParaRPr lang="en-US" sz="740" dirty="0"/>
          </a:p>
        </p:txBody>
      </p:sp>
      <p:sp>
        <p:nvSpPr>
          <p:cNvPr id="85" name="Shape 80"/>
          <p:cNvSpPr/>
          <p:nvPr/>
        </p:nvSpPr>
        <p:spPr>
          <a:xfrm>
            <a:off x="356616" y="7749540"/>
            <a:ext cx="50292" cy="50292"/>
          </a:xfrm>
          <a:prstGeom prst="ellipse">
            <a:avLst/>
          </a:prstGeom>
          <a:solidFill>
            <a:srgbClr val="28A596"/>
          </a:solidFill>
          <a:ln/>
        </p:spPr>
      </p:sp>
      <p:sp>
        <p:nvSpPr>
          <p:cNvPr id="86" name="Text 81"/>
          <p:cNvSpPr/>
          <p:nvPr/>
        </p:nvSpPr>
        <p:spPr>
          <a:xfrm>
            <a:off x="475488" y="7699248"/>
            <a:ext cx="6025896" cy="347472"/>
          </a:xfrm>
          <a:prstGeom prst="rect">
            <a:avLst/>
          </a:prstGeom>
          <a:noFill/>
          <a:ln/>
        </p:spPr>
        <p:txBody>
          <a:bodyPr wrap="square" lIns="0" tIns="0" rIns="0" bIns="0" rtlCol="0" anchor="t"/>
          <a:lstStyle/>
          <a:p>
            <a:pPr indent="0" marL="0">
              <a:lnSpc>
                <a:spcPct val="92000"/>
              </a:lnSpc>
              <a:buNone/>
            </a:pPr>
            <a:r>
              <a:rPr lang="en-US" sz="740" dirty="0">
                <a:solidFill>
                  <a:srgbClr val="183B39"/>
                </a:solidFill>
                <a:latin typeface="Calibri" pitchFamily="34" charset="0"/>
                <a:ea typeface="Calibri" pitchFamily="34" charset="-122"/>
                <a:cs typeface="Calibri" pitchFamily="34" charset="-120"/>
              </a:rPr>
              <a:t>Mamaearth Face Cleanser closed July at ₹8.53 Cr and The Derma Co. Face Cleanser at ₹7.13 Cr. One sub-category is ₹15.66 Cr — 43% of all Modern Trade offtake.</a:t>
            </a:r>
            <a:endParaRPr lang="en-US" sz="740" dirty="0"/>
          </a:p>
        </p:txBody>
      </p:sp>
      <p:sp>
        <p:nvSpPr>
          <p:cNvPr id="87" name="Shape 82"/>
          <p:cNvSpPr/>
          <p:nvPr/>
        </p:nvSpPr>
        <p:spPr>
          <a:xfrm>
            <a:off x="356616" y="8115300"/>
            <a:ext cx="50292" cy="50292"/>
          </a:xfrm>
          <a:prstGeom prst="ellipse">
            <a:avLst/>
          </a:prstGeom>
          <a:solidFill>
            <a:srgbClr val="28A596"/>
          </a:solidFill>
          <a:ln/>
        </p:spPr>
      </p:sp>
      <p:sp>
        <p:nvSpPr>
          <p:cNvPr id="88" name="Text 83"/>
          <p:cNvSpPr/>
          <p:nvPr/>
        </p:nvSpPr>
        <p:spPr>
          <a:xfrm>
            <a:off x="475488" y="8065008"/>
            <a:ext cx="6025896" cy="347472"/>
          </a:xfrm>
          <a:prstGeom prst="rect">
            <a:avLst/>
          </a:prstGeom>
          <a:noFill/>
          <a:ln/>
        </p:spPr>
        <p:txBody>
          <a:bodyPr wrap="square" lIns="0" tIns="0" rIns="0" bIns="0" rtlCol="0" anchor="t"/>
          <a:lstStyle/>
          <a:p>
            <a:pPr indent="0" marL="0">
              <a:lnSpc>
                <a:spcPct val="92000"/>
              </a:lnSpc>
              <a:buNone/>
            </a:pPr>
            <a:r>
              <a:rPr lang="en-US" sz="740" dirty="0">
                <a:solidFill>
                  <a:srgbClr val="183B39"/>
                </a:solidFill>
                <a:latin typeface="Calibri" pitchFamily="34" charset="0"/>
                <a:ea typeface="Calibri" pitchFamily="34" charset="-122"/>
                <a:cs typeface="Calibri" pitchFamily="34" charset="-120"/>
              </a:rPr>
              <a:t>The Derma Co. Face Cleanser has climbed every month since February and accelerated sharply into July; Mamaearth Sun Care has turned down since May.</a:t>
            </a:r>
            <a:endParaRPr lang="en-US" sz="740" dirty="0"/>
          </a:p>
        </p:txBody>
      </p:sp>
      <p:sp>
        <p:nvSpPr>
          <p:cNvPr id="89" name="Shape 84"/>
          <p:cNvSpPr/>
          <p:nvPr/>
        </p:nvSpPr>
        <p:spPr>
          <a:xfrm>
            <a:off x="356616" y="8481060"/>
            <a:ext cx="50292" cy="50292"/>
          </a:xfrm>
          <a:prstGeom prst="ellipse">
            <a:avLst/>
          </a:prstGeom>
          <a:solidFill>
            <a:srgbClr val="F2B84B"/>
          </a:solidFill>
          <a:ln/>
        </p:spPr>
      </p:sp>
      <p:sp>
        <p:nvSpPr>
          <p:cNvPr id="90" name="Text 85"/>
          <p:cNvSpPr/>
          <p:nvPr/>
        </p:nvSpPr>
        <p:spPr>
          <a:xfrm>
            <a:off x="475488" y="8430768"/>
            <a:ext cx="6025896" cy="347472"/>
          </a:xfrm>
          <a:prstGeom prst="rect">
            <a:avLst/>
          </a:prstGeom>
          <a:noFill/>
          <a:ln/>
        </p:spPr>
        <p:txBody>
          <a:bodyPr wrap="square" lIns="0" tIns="0" rIns="0" bIns="0" rtlCol="0" anchor="t"/>
          <a:lstStyle/>
          <a:p>
            <a:pPr indent="0" marL="0">
              <a:lnSpc>
                <a:spcPct val="92000"/>
              </a:lnSpc>
              <a:buNone/>
            </a:pPr>
            <a:r>
              <a:rPr lang="en-US" sz="740" dirty="0">
                <a:solidFill>
                  <a:srgbClr val="183B39"/>
                </a:solidFill>
                <a:latin typeface="Calibri" pitchFamily="34" charset="0"/>
                <a:ea typeface="Calibri" pitchFamily="34" charset="-122"/>
                <a:cs typeface="Calibri" pitchFamily="34" charset="-120"/>
              </a:rPr>
              <a:t>Aqualogica shows offtake above primary and Dr. Sheth's has no mapped primary; BBLUNT at ₹0.06 Cr sits below the materiality floor. All three are exception-report only.</a:t>
            </a:r>
            <a:endParaRPr lang="en-US" sz="740" dirty="0"/>
          </a:p>
        </p:txBody>
      </p:sp>
      <p:sp>
        <p:nvSpPr>
          <p:cNvPr id="91" name="Shape 86"/>
          <p:cNvSpPr/>
          <p:nvPr/>
        </p:nvSpPr>
        <p:spPr>
          <a:xfrm>
            <a:off x="265176" y="8906256"/>
            <a:ext cx="6327648" cy="256032"/>
          </a:xfrm>
          <a:prstGeom prst="rect">
            <a:avLst/>
          </a:prstGeom>
          <a:solidFill>
            <a:srgbClr val="F2B84B"/>
          </a:solidFill>
          <a:ln/>
        </p:spPr>
      </p:sp>
      <p:sp>
        <p:nvSpPr>
          <p:cNvPr id="92" name="Text 87"/>
          <p:cNvSpPr/>
          <p:nvPr/>
        </p:nvSpPr>
        <p:spPr>
          <a:xfrm>
            <a:off x="374904" y="8924544"/>
            <a:ext cx="6108192" cy="219456"/>
          </a:xfrm>
          <a:prstGeom prst="rect">
            <a:avLst/>
          </a:prstGeom>
          <a:noFill/>
          <a:ln/>
        </p:spPr>
        <p:txBody>
          <a:bodyPr wrap="square" lIns="0" tIns="0" rIns="0" bIns="0" rtlCol="0" anchor="ctr"/>
          <a:lstStyle/>
          <a:p>
            <a:pPr indent="0" marL="0">
              <a:buNone/>
            </a:pPr>
            <a:r>
              <a:rPr lang="en-US" sz="720" b="1" spc="60" kern="0" dirty="0">
                <a:solidFill>
                  <a:srgbClr val="FFFFFF"/>
                </a:solidFill>
                <a:latin typeface="Calibri" pitchFamily="34" charset="0"/>
                <a:ea typeface="Calibri" pitchFamily="34" charset="-122"/>
                <a:cs typeface="Calibri" pitchFamily="34" charset="-120"/>
              </a:rPr>
              <a:t>CONCENTRATION — WHAT THIS PORTFOLIO SHAPE MEANS</a:t>
            </a:r>
            <a:endParaRPr lang="en-US" sz="720" dirty="0"/>
          </a:p>
        </p:txBody>
      </p:sp>
      <p:sp>
        <p:nvSpPr>
          <p:cNvPr id="93" name="Shape 88"/>
          <p:cNvSpPr/>
          <p:nvPr/>
        </p:nvSpPr>
        <p:spPr>
          <a:xfrm>
            <a:off x="265176" y="9253728"/>
            <a:ext cx="2036064" cy="1591056"/>
          </a:xfrm>
          <a:prstGeom prst="roundRect">
            <a:avLst>
              <a:gd name="adj" fmla="val 1149"/>
            </a:avLst>
          </a:prstGeom>
          <a:solidFill>
            <a:srgbClr val="FFFFFF"/>
          </a:solidFill>
          <a:ln w="9525">
            <a:solidFill>
              <a:srgbClr val="C8DCD7"/>
            </a:solidFill>
            <a:prstDash val="solid"/>
          </a:ln>
        </p:spPr>
      </p:sp>
      <p:sp>
        <p:nvSpPr>
          <p:cNvPr id="94" name="Shape 89"/>
          <p:cNvSpPr/>
          <p:nvPr/>
        </p:nvSpPr>
        <p:spPr>
          <a:xfrm>
            <a:off x="265176" y="9253728"/>
            <a:ext cx="2036064" cy="274320"/>
          </a:xfrm>
          <a:prstGeom prst="rect">
            <a:avLst/>
          </a:prstGeom>
          <a:solidFill>
            <a:srgbClr val="F2B84B"/>
          </a:solidFill>
          <a:ln/>
        </p:spPr>
      </p:sp>
      <p:sp>
        <p:nvSpPr>
          <p:cNvPr id="95" name="Text 90"/>
          <p:cNvSpPr/>
          <p:nvPr/>
        </p:nvSpPr>
        <p:spPr>
          <a:xfrm>
            <a:off x="347472" y="9272016"/>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TWO BRANDS</a:t>
            </a:r>
            <a:endParaRPr lang="en-US" sz="700" dirty="0"/>
          </a:p>
        </p:txBody>
      </p:sp>
      <p:sp>
        <p:nvSpPr>
          <p:cNvPr id="96" name="Text 91"/>
          <p:cNvSpPr/>
          <p:nvPr/>
        </p:nvSpPr>
        <p:spPr>
          <a:xfrm>
            <a:off x="356616" y="9619488"/>
            <a:ext cx="1853184" cy="310896"/>
          </a:xfrm>
          <a:prstGeom prst="rect">
            <a:avLst/>
          </a:prstGeom>
          <a:noFill/>
          <a:ln/>
        </p:spPr>
        <p:txBody>
          <a:bodyPr wrap="square" lIns="0" tIns="0" rIns="0" bIns="0" rtlCol="0" anchor="t"/>
          <a:lstStyle/>
          <a:p>
            <a:pPr algn="ctr" indent="0" marL="0">
              <a:buNone/>
            </a:pPr>
            <a:r>
              <a:rPr lang="en-US" sz="1500" b="1" dirty="0">
                <a:solidFill>
                  <a:srgbClr val="F2B84B"/>
                </a:solidFill>
                <a:latin typeface="Calibri Light" pitchFamily="34" charset="0"/>
                <a:ea typeface="Calibri Light" pitchFamily="34" charset="-122"/>
                <a:cs typeface="Calibri Light" pitchFamily="34" charset="-120"/>
              </a:rPr>
              <a:t>98.4%</a:t>
            </a:r>
            <a:endParaRPr lang="en-US" sz="1500" dirty="0"/>
          </a:p>
        </p:txBody>
      </p:sp>
      <p:sp>
        <p:nvSpPr>
          <p:cNvPr id="97" name="Text 92"/>
          <p:cNvSpPr/>
          <p:nvPr/>
        </p:nvSpPr>
        <p:spPr>
          <a:xfrm>
            <a:off x="356616" y="9948672"/>
            <a:ext cx="1853184" cy="164592"/>
          </a:xfrm>
          <a:prstGeom prst="rect">
            <a:avLst/>
          </a:prstGeom>
          <a:noFill/>
          <a:ln/>
        </p:spPr>
        <p:txBody>
          <a:bodyPr wrap="square" lIns="0" tIns="0" rIns="0" bIns="0" rtlCol="0" anchor="t"/>
          <a:lstStyle/>
          <a:p>
            <a:pPr algn="ctr" indent="0" marL="0">
              <a:buNone/>
            </a:pPr>
            <a:r>
              <a:rPr lang="en-US" sz="660" dirty="0">
                <a:solidFill>
                  <a:srgbClr val="5F716E"/>
                </a:solidFill>
                <a:latin typeface="Calibri" pitchFamily="34" charset="0"/>
                <a:ea typeface="Calibri" pitchFamily="34" charset="-122"/>
                <a:cs typeface="Calibri" pitchFamily="34" charset="-120"/>
              </a:rPr>
              <a:t>of offtake</a:t>
            </a:r>
            <a:endParaRPr lang="en-US" sz="660" dirty="0"/>
          </a:p>
        </p:txBody>
      </p:sp>
      <p:sp>
        <p:nvSpPr>
          <p:cNvPr id="98" name="Shape 93"/>
          <p:cNvSpPr/>
          <p:nvPr/>
        </p:nvSpPr>
        <p:spPr>
          <a:xfrm>
            <a:off x="374904" y="10200132"/>
            <a:ext cx="50292" cy="50292"/>
          </a:xfrm>
          <a:prstGeom prst="ellipse">
            <a:avLst/>
          </a:prstGeom>
          <a:solidFill>
            <a:srgbClr val="F2B84B"/>
          </a:solidFill>
          <a:ln/>
        </p:spPr>
      </p:sp>
      <p:sp>
        <p:nvSpPr>
          <p:cNvPr id="99" name="Text 94"/>
          <p:cNvSpPr/>
          <p:nvPr/>
        </p:nvSpPr>
        <p:spPr>
          <a:xfrm>
            <a:off x="493776" y="10149840"/>
            <a:ext cx="1697736" cy="329184"/>
          </a:xfrm>
          <a:prstGeom prst="rect">
            <a:avLst/>
          </a:prstGeom>
          <a:noFill/>
          <a:ln/>
        </p:spPr>
        <p:txBody>
          <a:bodyPr wrap="square" lIns="0" tIns="0" rIns="0" bIns="0" rtlCol="0" anchor="t"/>
          <a:lstStyle/>
          <a:p>
            <a:pPr indent="0" marL="0">
              <a:lnSpc>
                <a:spcPct val="92000"/>
              </a:lnSpc>
              <a:buNone/>
            </a:pPr>
            <a:r>
              <a:rPr lang="en-US" sz="670" b="1" dirty="0">
                <a:solidFill>
                  <a:srgbClr val="183B39"/>
                </a:solidFill>
                <a:latin typeface="Calibri" pitchFamily="34" charset="0"/>
                <a:ea typeface="Calibri" pitchFamily="34" charset="-122"/>
                <a:cs typeface="Calibri" pitchFamily="34" charset="-120"/>
              </a:rPr>
              <a:t>The three remaining brands total ₹0.57 Cr — 1.6%.</a:t>
            </a:r>
            <a:endParaRPr lang="en-US" sz="670" dirty="0"/>
          </a:p>
        </p:txBody>
      </p:sp>
      <p:sp>
        <p:nvSpPr>
          <p:cNvPr id="100" name="Shape 95"/>
          <p:cNvSpPr/>
          <p:nvPr/>
        </p:nvSpPr>
        <p:spPr>
          <a:xfrm>
            <a:off x="374904" y="10547604"/>
            <a:ext cx="50292" cy="50292"/>
          </a:xfrm>
          <a:prstGeom prst="ellipse">
            <a:avLst/>
          </a:prstGeom>
          <a:solidFill>
            <a:srgbClr val="F2B84B"/>
          </a:solidFill>
          <a:ln/>
        </p:spPr>
      </p:sp>
      <p:sp>
        <p:nvSpPr>
          <p:cNvPr id="101" name="Text 96"/>
          <p:cNvSpPr/>
          <p:nvPr/>
        </p:nvSpPr>
        <p:spPr>
          <a:xfrm>
            <a:off x="493776" y="10497312"/>
            <a:ext cx="1697736" cy="329184"/>
          </a:xfrm>
          <a:prstGeom prst="rect">
            <a:avLst/>
          </a:prstGeom>
          <a:noFill/>
          <a:ln/>
        </p:spPr>
        <p:txBody>
          <a:bodyPr wrap="square" lIns="0" tIns="0" rIns="0" bIns="0" rtlCol="0" anchor="t"/>
          <a:lstStyle/>
          <a:p>
            <a:pPr indent="0" marL="0">
              <a:lnSpc>
                <a:spcPct val="92000"/>
              </a:lnSpc>
              <a:buNone/>
            </a:pPr>
            <a:r>
              <a:rPr lang="en-US" sz="670" dirty="0">
                <a:solidFill>
                  <a:srgbClr val="183B39"/>
                </a:solidFill>
                <a:latin typeface="Calibri" pitchFamily="34" charset="0"/>
                <a:ea typeface="Calibri" pitchFamily="34" charset="-122"/>
                <a:cs typeface="Calibri" pitchFamily="34" charset="-120"/>
              </a:rPr>
              <a:t>Any shock to either engine is a channel-level shock.</a:t>
            </a:r>
            <a:endParaRPr lang="en-US" sz="670" dirty="0"/>
          </a:p>
        </p:txBody>
      </p:sp>
      <p:sp>
        <p:nvSpPr>
          <p:cNvPr id="102" name="Shape 97"/>
          <p:cNvSpPr/>
          <p:nvPr/>
        </p:nvSpPr>
        <p:spPr>
          <a:xfrm>
            <a:off x="2410968" y="9253728"/>
            <a:ext cx="2036064" cy="1591056"/>
          </a:xfrm>
          <a:prstGeom prst="roundRect">
            <a:avLst>
              <a:gd name="adj" fmla="val 1149"/>
            </a:avLst>
          </a:prstGeom>
          <a:solidFill>
            <a:srgbClr val="FFFFFF"/>
          </a:solidFill>
          <a:ln w="9525">
            <a:solidFill>
              <a:srgbClr val="C8DCD7"/>
            </a:solidFill>
            <a:prstDash val="solid"/>
          </a:ln>
        </p:spPr>
      </p:sp>
      <p:sp>
        <p:nvSpPr>
          <p:cNvPr id="103" name="Shape 98"/>
          <p:cNvSpPr/>
          <p:nvPr/>
        </p:nvSpPr>
        <p:spPr>
          <a:xfrm>
            <a:off x="2410968" y="9253728"/>
            <a:ext cx="2036064" cy="274320"/>
          </a:xfrm>
          <a:prstGeom prst="rect">
            <a:avLst/>
          </a:prstGeom>
          <a:solidFill>
            <a:srgbClr val="D6544D"/>
          </a:solidFill>
          <a:ln/>
        </p:spPr>
      </p:sp>
      <p:sp>
        <p:nvSpPr>
          <p:cNvPr id="104" name="Text 99"/>
          <p:cNvSpPr/>
          <p:nvPr/>
        </p:nvSpPr>
        <p:spPr>
          <a:xfrm>
            <a:off x="2493264" y="9272016"/>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ONE SUB-CATEGORY</a:t>
            </a:r>
            <a:endParaRPr lang="en-US" sz="700" dirty="0"/>
          </a:p>
        </p:txBody>
      </p:sp>
      <p:sp>
        <p:nvSpPr>
          <p:cNvPr id="105" name="Text 100"/>
          <p:cNvSpPr/>
          <p:nvPr/>
        </p:nvSpPr>
        <p:spPr>
          <a:xfrm>
            <a:off x="2502408" y="9619488"/>
            <a:ext cx="1853184" cy="310896"/>
          </a:xfrm>
          <a:prstGeom prst="rect">
            <a:avLst/>
          </a:prstGeom>
          <a:noFill/>
          <a:ln/>
        </p:spPr>
        <p:txBody>
          <a:bodyPr wrap="square" lIns="0" tIns="0" rIns="0" bIns="0" rtlCol="0" anchor="t"/>
          <a:lstStyle/>
          <a:p>
            <a:pPr algn="ctr" indent="0" marL="0">
              <a:buNone/>
            </a:pPr>
            <a:r>
              <a:rPr lang="en-US" sz="1500" b="1" dirty="0">
                <a:solidFill>
                  <a:srgbClr val="D6544D"/>
                </a:solidFill>
                <a:latin typeface="Calibri Light" pitchFamily="34" charset="0"/>
                <a:ea typeface="Calibri Light" pitchFamily="34" charset="-122"/>
                <a:cs typeface="Calibri Light" pitchFamily="34" charset="-120"/>
              </a:rPr>
              <a:t>43%</a:t>
            </a:r>
            <a:endParaRPr lang="en-US" sz="1500" dirty="0"/>
          </a:p>
        </p:txBody>
      </p:sp>
      <p:sp>
        <p:nvSpPr>
          <p:cNvPr id="106" name="Text 101"/>
          <p:cNvSpPr/>
          <p:nvPr/>
        </p:nvSpPr>
        <p:spPr>
          <a:xfrm>
            <a:off x="2502408" y="9948672"/>
            <a:ext cx="1853184" cy="164592"/>
          </a:xfrm>
          <a:prstGeom prst="rect">
            <a:avLst/>
          </a:prstGeom>
          <a:noFill/>
          <a:ln/>
        </p:spPr>
        <p:txBody>
          <a:bodyPr wrap="square" lIns="0" tIns="0" rIns="0" bIns="0" rtlCol="0" anchor="t"/>
          <a:lstStyle/>
          <a:p>
            <a:pPr algn="ctr" indent="0" marL="0">
              <a:buNone/>
            </a:pPr>
            <a:r>
              <a:rPr lang="en-US" sz="660" dirty="0">
                <a:solidFill>
                  <a:srgbClr val="5F716E"/>
                </a:solidFill>
                <a:latin typeface="Calibri" pitchFamily="34" charset="0"/>
                <a:ea typeface="Calibri" pitchFamily="34" charset="-122"/>
                <a:cs typeface="Calibri" pitchFamily="34" charset="-120"/>
              </a:rPr>
              <a:t>Face Cleanser share of offtake</a:t>
            </a:r>
            <a:endParaRPr lang="en-US" sz="660" dirty="0"/>
          </a:p>
        </p:txBody>
      </p:sp>
      <p:sp>
        <p:nvSpPr>
          <p:cNvPr id="107" name="Shape 102"/>
          <p:cNvSpPr/>
          <p:nvPr/>
        </p:nvSpPr>
        <p:spPr>
          <a:xfrm>
            <a:off x="2520696" y="10200132"/>
            <a:ext cx="50292" cy="50292"/>
          </a:xfrm>
          <a:prstGeom prst="ellipse">
            <a:avLst/>
          </a:prstGeom>
          <a:solidFill>
            <a:srgbClr val="D6544D"/>
          </a:solidFill>
          <a:ln/>
        </p:spPr>
      </p:sp>
      <p:sp>
        <p:nvSpPr>
          <p:cNvPr id="108" name="Text 103"/>
          <p:cNvSpPr/>
          <p:nvPr/>
        </p:nvSpPr>
        <p:spPr>
          <a:xfrm>
            <a:off x="2639568" y="10149840"/>
            <a:ext cx="1697736" cy="329184"/>
          </a:xfrm>
          <a:prstGeom prst="rect">
            <a:avLst/>
          </a:prstGeom>
          <a:noFill/>
          <a:ln/>
        </p:spPr>
        <p:txBody>
          <a:bodyPr wrap="square" lIns="0" tIns="0" rIns="0" bIns="0" rtlCol="0" anchor="t"/>
          <a:lstStyle/>
          <a:p>
            <a:pPr indent="0" marL="0">
              <a:lnSpc>
                <a:spcPct val="92000"/>
              </a:lnSpc>
              <a:buNone/>
            </a:pPr>
            <a:r>
              <a:rPr lang="en-US" sz="670" b="1" dirty="0">
                <a:solidFill>
                  <a:srgbClr val="183B39"/>
                </a:solidFill>
                <a:latin typeface="Calibri" pitchFamily="34" charset="0"/>
                <a:ea typeface="Calibri" pitchFamily="34" charset="-122"/>
                <a:cs typeface="Calibri" pitchFamily="34" charset="-120"/>
              </a:rPr>
              <a:t>₹15.66 Cr across both brands in one sub-category.</a:t>
            </a:r>
            <a:endParaRPr lang="en-US" sz="670" dirty="0"/>
          </a:p>
        </p:txBody>
      </p:sp>
      <p:sp>
        <p:nvSpPr>
          <p:cNvPr id="109" name="Shape 104"/>
          <p:cNvSpPr/>
          <p:nvPr/>
        </p:nvSpPr>
        <p:spPr>
          <a:xfrm>
            <a:off x="2520696" y="10547604"/>
            <a:ext cx="50292" cy="50292"/>
          </a:xfrm>
          <a:prstGeom prst="ellipse">
            <a:avLst/>
          </a:prstGeom>
          <a:solidFill>
            <a:srgbClr val="D6544D"/>
          </a:solidFill>
          <a:ln/>
        </p:spPr>
      </p:sp>
      <p:sp>
        <p:nvSpPr>
          <p:cNvPr id="110" name="Text 105"/>
          <p:cNvSpPr/>
          <p:nvPr/>
        </p:nvSpPr>
        <p:spPr>
          <a:xfrm>
            <a:off x="2639568" y="10497312"/>
            <a:ext cx="1697736" cy="329184"/>
          </a:xfrm>
          <a:prstGeom prst="rect">
            <a:avLst/>
          </a:prstGeom>
          <a:noFill/>
          <a:ln/>
        </p:spPr>
        <p:txBody>
          <a:bodyPr wrap="square" lIns="0" tIns="0" rIns="0" bIns="0" rtlCol="0" anchor="t"/>
          <a:lstStyle/>
          <a:p>
            <a:pPr indent="0" marL="0">
              <a:lnSpc>
                <a:spcPct val="92000"/>
              </a:lnSpc>
              <a:buNone/>
            </a:pPr>
            <a:r>
              <a:rPr lang="en-US" sz="670" dirty="0">
                <a:solidFill>
                  <a:srgbClr val="183B39"/>
                </a:solidFill>
                <a:latin typeface="Calibri" pitchFamily="34" charset="0"/>
                <a:ea typeface="Calibri" pitchFamily="34" charset="-122"/>
                <a:cs typeface="Calibri" pitchFamily="34" charset="-120"/>
              </a:rPr>
              <a:t>Category risk is higher than the brand split suggests.</a:t>
            </a:r>
            <a:endParaRPr lang="en-US" sz="670" dirty="0"/>
          </a:p>
        </p:txBody>
      </p:sp>
      <p:sp>
        <p:nvSpPr>
          <p:cNvPr id="111" name="Shape 106"/>
          <p:cNvSpPr/>
          <p:nvPr/>
        </p:nvSpPr>
        <p:spPr>
          <a:xfrm>
            <a:off x="4556760" y="9253728"/>
            <a:ext cx="2036064" cy="1591056"/>
          </a:xfrm>
          <a:prstGeom prst="roundRect">
            <a:avLst>
              <a:gd name="adj" fmla="val 1149"/>
            </a:avLst>
          </a:prstGeom>
          <a:solidFill>
            <a:srgbClr val="FFFFFF"/>
          </a:solidFill>
          <a:ln w="9525">
            <a:solidFill>
              <a:srgbClr val="C8DCD7"/>
            </a:solidFill>
            <a:prstDash val="solid"/>
          </a:ln>
        </p:spPr>
      </p:sp>
      <p:sp>
        <p:nvSpPr>
          <p:cNvPr id="112" name="Shape 107"/>
          <p:cNvSpPr/>
          <p:nvPr/>
        </p:nvSpPr>
        <p:spPr>
          <a:xfrm>
            <a:off x="4556760" y="9253728"/>
            <a:ext cx="2036064" cy="274320"/>
          </a:xfrm>
          <a:prstGeom prst="rect">
            <a:avLst/>
          </a:prstGeom>
          <a:solidFill>
            <a:srgbClr val="116F68"/>
          </a:solidFill>
          <a:ln/>
        </p:spPr>
      </p:sp>
      <p:sp>
        <p:nvSpPr>
          <p:cNvPr id="113" name="Text 108"/>
          <p:cNvSpPr/>
          <p:nvPr/>
        </p:nvSpPr>
        <p:spPr>
          <a:xfrm>
            <a:off x="4639056" y="9272016"/>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THE DIVERGENCE TO WATCH</a:t>
            </a:r>
            <a:endParaRPr lang="en-US" sz="700" dirty="0"/>
          </a:p>
        </p:txBody>
      </p:sp>
      <p:sp>
        <p:nvSpPr>
          <p:cNvPr id="114" name="Text 109"/>
          <p:cNvSpPr/>
          <p:nvPr/>
        </p:nvSpPr>
        <p:spPr>
          <a:xfrm>
            <a:off x="4648200" y="9619488"/>
            <a:ext cx="1853184" cy="310896"/>
          </a:xfrm>
          <a:prstGeom prst="rect">
            <a:avLst/>
          </a:prstGeom>
          <a:noFill/>
          <a:ln/>
        </p:spPr>
        <p:txBody>
          <a:bodyPr wrap="square" lIns="0" tIns="0" rIns="0" bIns="0" rtlCol="0" anchor="t"/>
          <a:lstStyle/>
          <a:p>
            <a:pPr algn="ctr" indent="0" marL="0">
              <a:buNone/>
            </a:pPr>
            <a:r>
              <a:rPr lang="en-US" sz="1500" b="1" dirty="0">
                <a:solidFill>
                  <a:srgbClr val="116F68"/>
                </a:solidFill>
                <a:latin typeface="Calibri Light" pitchFamily="34" charset="0"/>
                <a:ea typeface="Calibri Light" pitchFamily="34" charset="-122"/>
                <a:cs typeface="Calibri Light" pitchFamily="34" charset="-120"/>
              </a:rPr>
              <a:t>Opposite ways</a:t>
            </a:r>
            <a:endParaRPr lang="en-US" sz="1500" dirty="0"/>
          </a:p>
        </p:txBody>
      </p:sp>
      <p:sp>
        <p:nvSpPr>
          <p:cNvPr id="115" name="Text 110"/>
          <p:cNvSpPr/>
          <p:nvPr/>
        </p:nvSpPr>
        <p:spPr>
          <a:xfrm>
            <a:off x="4648200" y="9948672"/>
            <a:ext cx="1853184" cy="164592"/>
          </a:xfrm>
          <a:prstGeom prst="rect">
            <a:avLst/>
          </a:prstGeom>
          <a:noFill/>
          <a:ln/>
        </p:spPr>
        <p:txBody>
          <a:bodyPr wrap="square" lIns="0" tIns="0" rIns="0" bIns="0" rtlCol="0" anchor="t"/>
          <a:lstStyle/>
          <a:p>
            <a:pPr algn="ctr" indent="0" marL="0">
              <a:buNone/>
            </a:pPr>
            <a:r>
              <a:rPr lang="en-US" sz="660" dirty="0">
                <a:solidFill>
                  <a:srgbClr val="5F716E"/>
                </a:solidFill>
                <a:latin typeface="Calibri" pitchFamily="34" charset="0"/>
                <a:ea typeface="Calibri" pitchFamily="34" charset="-122"/>
                <a:cs typeface="Calibri" pitchFamily="34" charset="-120"/>
              </a:rPr>
              <a:t>since May</a:t>
            </a:r>
            <a:endParaRPr lang="en-US" sz="660" dirty="0"/>
          </a:p>
        </p:txBody>
      </p:sp>
      <p:sp>
        <p:nvSpPr>
          <p:cNvPr id="116" name="Shape 111"/>
          <p:cNvSpPr/>
          <p:nvPr/>
        </p:nvSpPr>
        <p:spPr>
          <a:xfrm>
            <a:off x="4666488" y="10200132"/>
            <a:ext cx="50292" cy="50292"/>
          </a:xfrm>
          <a:prstGeom prst="ellipse">
            <a:avLst/>
          </a:prstGeom>
          <a:solidFill>
            <a:srgbClr val="116F68"/>
          </a:solidFill>
          <a:ln/>
        </p:spPr>
      </p:sp>
      <p:sp>
        <p:nvSpPr>
          <p:cNvPr id="117" name="Text 112"/>
          <p:cNvSpPr/>
          <p:nvPr/>
        </p:nvSpPr>
        <p:spPr>
          <a:xfrm>
            <a:off x="4785360" y="10149840"/>
            <a:ext cx="1697736" cy="329184"/>
          </a:xfrm>
          <a:prstGeom prst="rect">
            <a:avLst/>
          </a:prstGeom>
          <a:noFill/>
          <a:ln/>
        </p:spPr>
        <p:txBody>
          <a:bodyPr wrap="square" lIns="0" tIns="0" rIns="0" bIns="0" rtlCol="0" anchor="t"/>
          <a:lstStyle/>
          <a:p>
            <a:pPr indent="0" marL="0">
              <a:lnSpc>
                <a:spcPct val="92000"/>
              </a:lnSpc>
              <a:buNone/>
            </a:pPr>
            <a:r>
              <a:rPr lang="en-US" sz="670" b="1" dirty="0">
                <a:solidFill>
                  <a:srgbClr val="183B39"/>
                </a:solidFill>
                <a:latin typeface="Calibri" pitchFamily="34" charset="0"/>
                <a:ea typeface="Calibri" pitchFamily="34" charset="-122"/>
                <a:cs typeface="Calibri" pitchFamily="34" charset="-120"/>
              </a:rPr>
              <a:t>TDC Face Cleanser has accelerated every month to ₹7.13 Cr.</a:t>
            </a:r>
            <a:endParaRPr lang="en-US" sz="670" dirty="0"/>
          </a:p>
        </p:txBody>
      </p:sp>
      <p:sp>
        <p:nvSpPr>
          <p:cNvPr id="118" name="Shape 113"/>
          <p:cNvSpPr/>
          <p:nvPr/>
        </p:nvSpPr>
        <p:spPr>
          <a:xfrm>
            <a:off x="4666488" y="10547604"/>
            <a:ext cx="50292" cy="50292"/>
          </a:xfrm>
          <a:prstGeom prst="ellipse">
            <a:avLst/>
          </a:prstGeom>
          <a:solidFill>
            <a:srgbClr val="116F68"/>
          </a:solidFill>
          <a:ln/>
        </p:spPr>
      </p:sp>
      <p:sp>
        <p:nvSpPr>
          <p:cNvPr id="119" name="Text 114"/>
          <p:cNvSpPr/>
          <p:nvPr/>
        </p:nvSpPr>
        <p:spPr>
          <a:xfrm>
            <a:off x="4785360" y="10497312"/>
            <a:ext cx="1697736" cy="329184"/>
          </a:xfrm>
          <a:prstGeom prst="rect">
            <a:avLst/>
          </a:prstGeom>
          <a:noFill/>
          <a:ln/>
        </p:spPr>
        <p:txBody>
          <a:bodyPr wrap="square" lIns="0" tIns="0" rIns="0" bIns="0" rtlCol="0" anchor="t"/>
          <a:lstStyle/>
          <a:p>
            <a:pPr indent="0" marL="0">
              <a:lnSpc>
                <a:spcPct val="92000"/>
              </a:lnSpc>
              <a:buNone/>
            </a:pPr>
            <a:r>
              <a:rPr lang="en-US" sz="670" dirty="0">
                <a:solidFill>
                  <a:srgbClr val="183B39"/>
                </a:solidFill>
                <a:latin typeface="Calibri" pitchFamily="34" charset="0"/>
                <a:ea typeface="Calibri" pitchFamily="34" charset="-122"/>
                <a:cs typeface="Calibri" pitchFamily="34" charset="-120"/>
              </a:rPr>
              <a:t>Confirm Mamaearth Sun Care's fall is seasonal before cutting range.</a:t>
            </a:r>
            <a:endParaRPr lang="en-US" sz="67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A"/>
        </a:solidFill>
      </p:bgPr>
    </p:bg>
    <p:spTree>
      <p:nvGrpSpPr>
        <p:cNvPr id="1" name=""/>
        <p:cNvGrpSpPr/>
        <p:nvPr/>
      </p:nvGrpSpPr>
      <p:grpSpPr>
        <a:xfrm>
          <a:off x="0" y="0"/>
          <a:ext cx="0" cy="0"/>
          <a:chOff x="0" y="0"/>
          <a:chExt cx="0" cy="0"/>
        </a:xfrm>
      </p:grpSpPr>
      <p:sp>
        <p:nvSpPr>
          <p:cNvPr id="2" name="Shape 0"/>
          <p:cNvSpPr/>
          <p:nvPr/>
        </p:nvSpPr>
        <p:spPr>
          <a:xfrm>
            <a:off x="0" y="0"/>
            <a:ext cx="6858000" cy="1133856"/>
          </a:xfrm>
          <a:prstGeom prst="rect">
            <a:avLst/>
          </a:prstGeom>
          <a:solidFill>
            <a:srgbClr val="116F68"/>
          </a:solidFill>
          <a:ln/>
        </p:spPr>
      </p:sp>
      <p:sp>
        <p:nvSpPr>
          <p:cNvPr id="3" name="Text 1"/>
          <p:cNvSpPr/>
          <p:nvPr/>
        </p:nvSpPr>
        <p:spPr>
          <a:xfrm>
            <a:off x="365760" y="182880"/>
            <a:ext cx="5641848" cy="548640"/>
          </a:xfrm>
          <a:prstGeom prst="rect">
            <a:avLst/>
          </a:prstGeom>
          <a:noFill/>
          <a:ln/>
        </p:spPr>
        <p:txBody>
          <a:bodyPr wrap="square" lIns="0" tIns="0" rIns="0" bIns="0" rtlCol="0" anchor="ctr"/>
          <a:lstStyle/>
          <a:p>
            <a:pPr indent="0" marL="0">
              <a:lnSpc>
                <a:spcPct val="92000"/>
              </a:lnSpc>
              <a:buNone/>
            </a:pPr>
            <a:r>
              <a:rPr lang="en-US" sz="1450" b="1" dirty="0">
                <a:solidFill>
                  <a:srgbClr val="FFFFFF"/>
                </a:solidFill>
                <a:latin typeface="Calibri Light" pitchFamily="34" charset="0"/>
                <a:ea typeface="Calibri Light" pitchFamily="34" charset="-122"/>
                <a:cs typeface="Calibri Light" pitchFamily="34" charset="-120"/>
              </a:rPr>
              <a:t>A 90-day cadence that converts ₹6.22 Cr without loading a single extra case</a:t>
            </a:r>
            <a:endParaRPr lang="en-US" sz="1450" dirty="0"/>
          </a:p>
        </p:txBody>
      </p:sp>
      <p:sp>
        <p:nvSpPr>
          <p:cNvPr id="4" name="Text 2"/>
          <p:cNvSpPr/>
          <p:nvPr/>
        </p:nvSpPr>
        <p:spPr>
          <a:xfrm>
            <a:off x="384048" y="786384"/>
            <a:ext cx="5641848" cy="237744"/>
          </a:xfrm>
          <a:prstGeom prst="rect">
            <a:avLst/>
          </a:prstGeom>
          <a:noFill/>
          <a:ln/>
        </p:spPr>
        <p:txBody>
          <a:bodyPr wrap="square" lIns="0" tIns="0" rIns="0" bIns="0" rtlCol="0" anchor="ctr"/>
          <a:lstStyle/>
          <a:p>
            <a:pPr indent="0" marL="0">
              <a:buNone/>
            </a:pPr>
            <a:r>
              <a:rPr lang="en-US" sz="850" dirty="0">
                <a:solidFill>
                  <a:srgbClr val="BFDCD7"/>
                </a:solidFill>
                <a:latin typeface="Calibri" pitchFamily="34" charset="0"/>
                <a:ea typeface="Calibri" pitchFamily="34" charset="-122"/>
                <a:cs typeface="Calibri" pitchFamily="34" charset="-120"/>
              </a:rPr>
              <a:t>Sales uplift plan | actions ranked by value at stake, with owners and proof points</a:t>
            </a:r>
            <a:endParaRPr lang="en-US" sz="850" dirty="0"/>
          </a:p>
        </p:txBody>
      </p:sp>
      <p:sp>
        <p:nvSpPr>
          <p:cNvPr id="5" name="Text 3"/>
          <p:cNvSpPr/>
          <p:nvPr/>
        </p:nvSpPr>
        <p:spPr>
          <a:xfrm>
            <a:off x="6117336" y="365760"/>
            <a:ext cx="402336" cy="237744"/>
          </a:xfrm>
          <a:prstGeom prst="rect">
            <a:avLst/>
          </a:prstGeom>
          <a:noFill/>
          <a:ln/>
        </p:spPr>
        <p:txBody>
          <a:bodyPr wrap="square" lIns="0" tIns="0" rIns="0" bIns="0" rtlCol="0" anchor="t"/>
          <a:lstStyle/>
          <a:p>
            <a:pPr algn="r" indent="0" marL="0">
              <a:buNone/>
            </a:pPr>
            <a:r>
              <a:rPr lang="en-US" sz="950" b="1" dirty="0">
                <a:solidFill>
                  <a:srgbClr val="8FC4BD"/>
                </a:solidFill>
                <a:latin typeface="Calibri" pitchFamily="34" charset="0"/>
                <a:ea typeface="Calibri" pitchFamily="34" charset="-122"/>
                <a:cs typeface="Calibri" pitchFamily="34" charset="-120"/>
              </a:rPr>
              <a:t>21</a:t>
            </a:r>
            <a:endParaRPr lang="en-US" sz="950" dirty="0"/>
          </a:p>
        </p:txBody>
      </p:sp>
      <p:sp>
        <p:nvSpPr>
          <p:cNvPr id="6" name="Shape 4"/>
          <p:cNvSpPr/>
          <p:nvPr/>
        </p:nvSpPr>
        <p:spPr>
          <a:xfrm>
            <a:off x="265176" y="11375136"/>
            <a:ext cx="6327648" cy="420624"/>
          </a:xfrm>
          <a:prstGeom prst="roundRect">
            <a:avLst>
              <a:gd name="adj" fmla="val 6522"/>
            </a:avLst>
          </a:prstGeom>
          <a:solidFill>
            <a:srgbClr val="DFF2ED"/>
          </a:solidFill>
          <a:ln w="9525">
            <a:solidFill>
              <a:srgbClr val="C8DCD7"/>
            </a:solidFill>
            <a:prstDash val="solid"/>
          </a:ln>
        </p:spPr>
      </p:sp>
      <p:sp>
        <p:nvSpPr>
          <p:cNvPr id="7" name="Text 5"/>
          <p:cNvSpPr/>
          <p:nvPr/>
        </p:nvSpPr>
        <p:spPr>
          <a:xfrm>
            <a:off x="374904"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EVIDENCE</a:t>
            </a:r>
            <a:endParaRPr lang="en-US" sz="650" dirty="0"/>
          </a:p>
        </p:txBody>
      </p:sp>
      <p:sp>
        <p:nvSpPr>
          <p:cNvPr id="8" name="Text 6"/>
          <p:cNvSpPr/>
          <p:nvPr/>
        </p:nvSpPr>
        <p:spPr>
          <a:xfrm>
            <a:off x="374904"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moved</a:t>
            </a:r>
            <a:endParaRPr lang="en-US" sz="700" dirty="0"/>
          </a:p>
        </p:txBody>
      </p:sp>
      <p:sp>
        <p:nvSpPr>
          <p:cNvPr id="9" name="Text 7"/>
          <p:cNvSpPr/>
          <p:nvPr/>
        </p:nvSpPr>
        <p:spPr>
          <a:xfrm>
            <a:off x="1901952"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IMPLICATION</a:t>
            </a:r>
            <a:endParaRPr lang="en-US" sz="650" dirty="0"/>
          </a:p>
        </p:txBody>
      </p:sp>
      <p:sp>
        <p:nvSpPr>
          <p:cNvPr id="10" name="Text 8"/>
          <p:cNvSpPr/>
          <p:nvPr/>
        </p:nvSpPr>
        <p:spPr>
          <a:xfrm>
            <a:off x="1901952"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Why it matters</a:t>
            </a:r>
            <a:endParaRPr lang="en-US" sz="700" dirty="0"/>
          </a:p>
        </p:txBody>
      </p:sp>
      <p:sp>
        <p:nvSpPr>
          <p:cNvPr id="11" name="Shape 9"/>
          <p:cNvSpPr/>
          <p:nvPr/>
        </p:nvSpPr>
        <p:spPr>
          <a:xfrm>
            <a:off x="1819656" y="11457432"/>
            <a:ext cx="0" cy="265176"/>
          </a:xfrm>
          <a:prstGeom prst="line">
            <a:avLst/>
          </a:prstGeom>
          <a:noFill/>
          <a:ln w="9525">
            <a:solidFill>
              <a:srgbClr val="C8DCD7"/>
            </a:solidFill>
            <a:prstDash val="solid"/>
          </a:ln>
        </p:spPr>
      </p:sp>
      <p:sp>
        <p:nvSpPr>
          <p:cNvPr id="12" name="Text 10"/>
          <p:cNvSpPr/>
          <p:nvPr/>
        </p:nvSpPr>
        <p:spPr>
          <a:xfrm>
            <a:off x="3429000"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ACTION</a:t>
            </a:r>
            <a:endParaRPr lang="en-US" sz="650" dirty="0"/>
          </a:p>
        </p:txBody>
      </p:sp>
      <p:sp>
        <p:nvSpPr>
          <p:cNvPr id="13" name="Text 11"/>
          <p:cNvSpPr/>
          <p:nvPr/>
        </p:nvSpPr>
        <p:spPr>
          <a:xfrm>
            <a:off x="3429000"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changes now</a:t>
            </a:r>
            <a:endParaRPr lang="en-US" sz="700" dirty="0"/>
          </a:p>
        </p:txBody>
      </p:sp>
      <p:sp>
        <p:nvSpPr>
          <p:cNvPr id="14" name="Shape 12"/>
          <p:cNvSpPr/>
          <p:nvPr/>
        </p:nvSpPr>
        <p:spPr>
          <a:xfrm>
            <a:off x="3346704" y="11457432"/>
            <a:ext cx="0" cy="265176"/>
          </a:xfrm>
          <a:prstGeom prst="line">
            <a:avLst/>
          </a:prstGeom>
          <a:noFill/>
          <a:ln w="9525">
            <a:solidFill>
              <a:srgbClr val="C8DCD7"/>
            </a:solidFill>
            <a:prstDash val="solid"/>
          </a:ln>
        </p:spPr>
      </p:sp>
      <p:sp>
        <p:nvSpPr>
          <p:cNvPr id="15" name="Text 13"/>
          <p:cNvSpPr/>
          <p:nvPr/>
        </p:nvSpPr>
        <p:spPr>
          <a:xfrm>
            <a:off x="4956048"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OWNER</a:t>
            </a:r>
            <a:endParaRPr lang="en-US" sz="650" dirty="0"/>
          </a:p>
        </p:txBody>
      </p:sp>
      <p:sp>
        <p:nvSpPr>
          <p:cNvPr id="16" name="Text 14"/>
          <p:cNvSpPr/>
          <p:nvPr/>
        </p:nvSpPr>
        <p:spPr>
          <a:xfrm>
            <a:off x="4956048"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Who closes it</a:t>
            </a:r>
            <a:endParaRPr lang="en-US" sz="700" dirty="0"/>
          </a:p>
        </p:txBody>
      </p:sp>
      <p:sp>
        <p:nvSpPr>
          <p:cNvPr id="17" name="Shape 15"/>
          <p:cNvSpPr/>
          <p:nvPr/>
        </p:nvSpPr>
        <p:spPr>
          <a:xfrm>
            <a:off x="4873752" y="11457432"/>
            <a:ext cx="0" cy="265176"/>
          </a:xfrm>
          <a:prstGeom prst="line">
            <a:avLst/>
          </a:prstGeom>
          <a:noFill/>
          <a:ln w="9525">
            <a:solidFill>
              <a:srgbClr val="C8DCD7"/>
            </a:solidFill>
            <a:prstDash val="solid"/>
          </a:ln>
        </p:spPr>
      </p:sp>
      <p:sp>
        <p:nvSpPr>
          <p:cNvPr id="18" name="Text 16"/>
          <p:cNvSpPr/>
          <p:nvPr/>
        </p:nvSpPr>
        <p:spPr>
          <a:xfrm>
            <a:off x="301752" y="11887200"/>
            <a:ext cx="6254496" cy="201168"/>
          </a:xfrm>
          <a:prstGeom prst="rect">
            <a:avLst/>
          </a:prstGeom>
          <a:noFill/>
          <a:ln/>
        </p:spPr>
        <p:txBody>
          <a:bodyPr wrap="square" lIns="0" tIns="0" rIns="0" bIns="0" rtlCol="0" anchor="t"/>
          <a:lstStyle/>
          <a:p>
            <a:pPr algn="ctr" indent="0" marL="0">
              <a:buNone/>
            </a:pPr>
            <a:r>
              <a:rPr lang="en-US" sz="650" dirty="0">
                <a:solidFill>
                  <a:srgbClr val="5F716E"/>
                </a:solidFill>
                <a:latin typeface="Calibri" pitchFamily="34" charset="0"/>
                <a:ea typeface="Calibri" pitchFamily="34" charset="-122"/>
                <a:cs typeface="Calibri" pitchFamily="34" charset="-120"/>
              </a:rPr>
              <a:t>July Compiled Offtake (Sheet1) · July'26 primary and distributor secondary · values in ₹ Cr · Zone performance represents Modern Trade accounts only. eB2B and SIS channels are excluded from MT zone sales and reported separately.</a:t>
            </a:r>
            <a:endParaRPr lang="en-US" sz="650" dirty="0"/>
          </a:p>
        </p:txBody>
      </p:sp>
      <p:sp>
        <p:nvSpPr>
          <p:cNvPr id="19" name="Shape 17"/>
          <p:cNvSpPr/>
          <p:nvPr/>
        </p:nvSpPr>
        <p:spPr>
          <a:xfrm>
            <a:off x="265176" y="1261872"/>
            <a:ext cx="6327648" cy="658368"/>
          </a:xfrm>
          <a:prstGeom prst="roundRect">
            <a:avLst>
              <a:gd name="adj" fmla="val 4167"/>
            </a:avLst>
          </a:prstGeom>
          <a:solidFill>
            <a:srgbClr val="DFF2ED"/>
          </a:solidFill>
          <a:ln w="12700">
            <a:solidFill>
              <a:srgbClr val="28A596"/>
            </a:solidFill>
            <a:prstDash val="solid"/>
          </a:ln>
        </p:spPr>
      </p:sp>
      <p:sp>
        <p:nvSpPr>
          <p:cNvPr id="20" name="Text 18"/>
          <p:cNvSpPr/>
          <p:nvPr/>
        </p:nvSpPr>
        <p:spPr>
          <a:xfrm>
            <a:off x="411480" y="1335024"/>
            <a:ext cx="6035040" cy="256032"/>
          </a:xfrm>
          <a:prstGeom prst="rect">
            <a:avLst/>
          </a:prstGeom>
          <a:noFill/>
          <a:ln/>
        </p:spPr>
        <p:txBody>
          <a:bodyPr wrap="square" lIns="0" tIns="0" rIns="0" bIns="0" rtlCol="0" anchor="ctr"/>
          <a:lstStyle/>
          <a:p>
            <a:pPr algn="ctr" indent="0" marL="0">
              <a:buNone/>
            </a:pPr>
            <a:r>
              <a:rPr lang="en-US" sz="950" b="1" dirty="0">
                <a:solidFill>
                  <a:srgbClr val="116F68"/>
                </a:solidFill>
                <a:latin typeface="Calibri Light" pitchFamily="34" charset="0"/>
                <a:ea typeface="Calibri Light" pitchFamily="34" charset="-122"/>
                <a:cs typeface="Calibri Light" pitchFamily="34" charset="-120"/>
              </a:rPr>
              <a:t>Every action below is priced. Anything that cannot be priced is a hygiene task, not a growth action.</a:t>
            </a:r>
            <a:endParaRPr lang="en-US" sz="950" dirty="0"/>
          </a:p>
        </p:txBody>
      </p:sp>
      <p:sp>
        <p:nvSpPr>
          <p:cNvPr id="21" name="Text 19"/>
          <p:cNvSpPr/>
          <p:nvPr/>
        </p:nvSpPr>
        <p:spPr>
          <a:xfrm>
            <a:off x="411480" y="1627632"/>
            <a:ext cx="6035040" cy="219456"/>
          </a:xfrm>
          <a:prstGeom prst="rect">
            <a:avLst/>
          </a:prstGeom>
          <a:noFill/>
          <a:ln/>
        </p:spPr>
        <p:txBody>
          <a:bodyPr wrap="square" lIns="0" tIns="0" rIns="0" bIns="0" rtlCol="0" anchor="t"/>
          <a:lstStyle/>
          <a:p>
            <a:pPr algn="ctr" indent="0" marL="0">
              <a:buNone/>
            </a:pPr>
            <a:r>
              <a:rPr lang="en-US" sz="720" dirty="0">
                <a:solidFill>
                  <a:srgbClr val="5F716E"/>
                </a:solidFill>
                <a:latin typeface="Calibri" pitchFamily="34" charset="0"/>
                <a:ea typeface="Calibri" pitchFamily="34" charset="-122"/>
                <a:cs typeface="Calibri" pitchFamily="34" charset="-120"/>
              </a:rPr>
              <a:t>Baseline: do nothing and July repeats — ₹36.10 Cr offtake at 73.4% conversion, with ₹13.27 Cr billed and unsold.</a:t>
            </a:r>
            <a:endParaRPr lang="en-US" sz="720" dirty="0"/>
          </a:p>
        </p:txBody>
      </p:sp>
      <p:sp>
        <p:nvSpPr>
          <p:cNvPr id="22" name="Shape 20"/>
          <p:cNvSpPr/>
          <p:nvPr/>
        </p:nvSpPr>
        <p:spPr>
          <a:xfrm>
            <a:off x="265176" y="2066544"/>
            <a:ext cx="6327648" cy="256032"/>
          </a:xfrm>
          <a:prstGeom prst="rect">
            <a:avLst/>
          </a:prstGeom>
          <a:solidFill>
            <a:srgbClr val="D6544D"/>
          </a:solidFill>
          <a:ln/>
        </p:spPr>
      </p:sp>
      <p:sp>
        <p:nvSpPr>
          <p:cNvPr id="23" name="Text 21"/>
          <p:cNvSpPr/>
          <p:nvPr/>
        </p:nvSpPr>
        <p:spPr>
          <a:xfrm>
            <a:off x="374904" y="2084832"/>
            <a:ext cx="6108192" cy="219456"/>
          </a:xfrm>
          <a:prstGeom prst="rect">
            <a:avLst/>
          </a:prstGeom>
          <a:noFill/>
          <a:ln/>
        </p:spPr>
        <p:txBody>
          <a:bodyPr wrap="square" lIns="0" tIns="0" rIns="0" bIns="0" rtlCol="0" anchor="ctr"/>
          <a:lstStyle/>
          <a:p>
            <a:pPr indent="0" marL="0">
              <a:buNone/>
            </a:pPr>
            <a:r>
              <a:rPr lang="en-US" sz="720" b="1" spc="60" kern="0" dirty="0">
                <a:solidFill>
                  <a:srgbClr val="FFFFFF"/>
                </a:solidFill>
                <a:latin typeface="Calibri" pitchFamily="34" charset="0"/>
                <a:ea typeface="Calibri" pitchFamily="34" charset="-122"/>
                <a:cs typeface="Calibri" pitchFamily="34" charset="-120"/>
              </a:rPr>
              <a:t>ACTIONS RANKED BY VALUE AT STAKE</a:t>
            </a:r>
            <a:endParaRPr lang="en-US" sz="720" dirty="0"/>
          </a:p>
        </p:txBody>
      </p:sp>
      <p:sp>
        <p:nvSpPr>
          <p:cNvPr id="24" name="Shape 22"/>
          <p:cNvSpPr/>
          <p:nvPr/>
        </p:nvSpPr>
        <p:spPr>
          <a:xfrm>
            <a:off x="265176" y="2414016"/>
            <a:ext cx="6327648" cy="256032"/>
          </a:xfrm>
          <a:prstGeom prst="rect">
            <a:avLst/>
          </a:prstGeom>
          <a:solidFill>
            <a:srgbClr val="116F68"/>
          </a:solidFill>
          <a:ln/>
        </p:spPr>
      </p:sp>
      <p:sp>
        <p:nvSpPr>
          <p:cNvPr id="25" name="Text 23"/>
          <p:cNvSpPr/>
          <p:nvPr/>
        </p:nvSpPr>
        <p:spPr>
          <a:xfrm>
            <a:off x="320040" y="2432304"/>
            <a:ext cx="123302"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a:t>
            </a:r>
            <a:endParaRPr lang="en-US" sz="660" dirty="0"/>
          </a:p>
        </p:txBody>
      </p:sp>
      <p:sp>
        <p:nvSpPr>
          <p:cNvPr id="26" name="Text 24"/>
          <p:cNvSpPr/>
          <p:nvPr/>
        </p:nvSpPr>
        <p:spPr>
          <a:xfrm>
            <a:off x="553070" y="2432304"/>
            <a:ext cx="3027208" cy="219456"/>
          </a:xfrm>
          <a:prstGeom prst="rect">
            <a:avLst/>
          </a:prstGeom>
          <a:noFill/>
          <a:ln/>
        </p:spPr>
        <p:txBody>
          <a:bodyPr wrap="square" lIns="0" tIns="0" rIns="0" bIns="0" rtlCol="0" anchor="ctr"/>
          <a:lstStyle/>
          <a:p>
            <a:pPr algn="l" indent="0" marL="0">
              <a:buNone/>
            </a:pPr>
            <a:r>
              <a:rPr lang="en-US" sz="660" b="1" spc="40" kern="0" dirty="0">
                <a:solidFill>
                  <a:srgbClr val="FFFFFF"/>
                </a:solidFill>
                <a:latin typeface="Calibri" pitchFamily="34" charset="0"/>
                <a:ea typeface="Calibri" pitchFamily="34" charset="-122"/>
                <a:cs typeface="Calibri" pitchFamily="34" charset="-120"/>
              </a:rPr>
              <a:t>ACTION</a:t>
            </a:r>
            <a:endParaRPr lang="en-US" sz="660" dirty="0"/>
          </a:p>
        </p:txBody>
      </p:sp>
      <p:sp>
        <p:nvSpPr>
          <p:cNvPr id="27" name="Text 25"/>
          <p:cNvSpPr/>
          <p:nvPr/>
        </p:nvSpPr>
        <p:spPr>
          <a:xfrm>
            <a:off x="3690006" y="2432304"/>
            <a:ext cx="696913"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AT STAKE</a:t>
            </a:r>
            <a:endParaRPr lang="en-US" sz="660" dirty="0"/>
          </a:p>
        </p:txBody>
      </p:sp>
      <p:sp>
        <p:nvSpPr>
          <p:cNvPr id="28" name="Text 26"/>
          <p:cNvSpPr/>
          <p:nvPr/>
        </p:nvSpPr>
        <p:spPr>
          <a:xfrm>
            <a:off x="4496646" y="2432304"/>
            <a:ext cx="607286" cy="219456"/>
          </a:xfrm>
          <a:prstGeom prst="rect">
            <a:avLst/>
          </a:prstGeom>
          <a:noFill/>
          <a:ln/>
        </p:spPr>
        <p:txBody>
          <a:bodyPr wrap="square" lIns="0" tIns="0" rIns="0" bIns="0" rtlCol="0" anchor="ctr"/>
          <a:lstStyle/>
          <a:p>
            <a:pPr algn="l" indent="0" marL="0">
              <a:buNone/>
            </a:pPr>
            <a:r>
              <a:rPr lang="en-US" sz="660" b="1" spc="40" kern="0" dirty="0">
                <a:solidFill>
                  <a:srgbClr val="FFFFFF"/>
                </a:solidFill>
                <a:latin typeface="Calibri" pitchFamily="34" charset="0"/>
                <a:ea typeface="Calibri" pitchFamily="34" charset="-122"/>
                <a:cs typeface="Calibri" pitchFamily="34" charset="-120"/>
              </a:rPr>
              <a:t>WINDOW</a:t>
            </a:r>
            <a:endParaRPr lang="en-US" sz="660" dirty="0"/>
          </a:p>
        </p:txBody>
      </p:sp>
      <p:sp>
        <p:nvSpPr>
          <p:cNvPr id="29" name="Text 27"/>
          <p:cNvSpPr/>
          <p:nvPr/>
        </p:nvSpPr>
        <p:spPr>
          <a:xfrm>
            <a:off x="5213660" y="2432304"/>
            <a:ext cx="1324300" cy="219456"/>
          </a:xfrm>
          <a:prstGeom prst="rect">
            <a:avLst/>
          </a:prstGeom>
          <a:noFill/>
          <a:ln/>
        </p:spPr>
        <p:txBody>
          <a:bodyPr wrap="square" lIns="0" tIns="0" rIns="0" bIns="0" rtlCol="0" anchor="ctr"/>
          <a:lstStyle/>
          <a:p>
            <a:pPr algn="l" indent="0" marL="0">
              <a:buNone/>
            </a:pPr>
            <a:r>
              <a:rPr lang="en-US" sz="660" b="1" spc="40" kern="0" dirty="0">
                <a:solidFill>
                  <a:srgbClr val="FFFFFF"/>
                </a:solidFill>
                <a:latin typeface="Calibri" pitchFamily="34" charset="0"/>
                <a:ea typeface="Calibri" pitchFamily="34" charset="-122"/>
                <a:cs typeface="Calibri" pitchFamily="34" charset="-120"/>
              </a:rPr>
              <a:t>OWNER</a:t>
            </a:r>
            <a:endParaRPr lang="en-US" sz="660" dirty="0"/>
          </a:p>
        </p:txBody>
      </p:sp>
      <p:sp>
        <p:nvSpPr>
          <p:cNvPr id="30" name="Shape 28"/>
          <p:cNvSpPr/>
          <p:nvPr/>
        </p:nvSpPr>
        <p:spPr>
          <a:xfrm>
            <a:off x="265176" y="2670048"/>
            <a:ext cx="6327648" cy="365760"/>
          </a:xfrm>
          <a:prstGeom prst="rect">
            <a:avLst/>
          </a:prstGeom>
          <a:solidFill>
            <a:srgbClr val="F4F9F8"/>
          </a:solidFill>
          <a:ln/>
        </p:spPr>
      </p:sp>
      <p:sp>
        <p:nvSpPr>
          <p:cNvPr id="31" name="Shape 29"/>
          <p:cNvSpPr/>
          <p:nvPr/>
        </p:nvSpPr>
        <p:spPr>
          <a:xfrm>
            <a:off x="265176" y="3035808"/>
            <a:ext cx="6327648" cy="0"/>
          </a:xfrm>
          <a:prstGeom prst="line">
            <a:avLst/>
          </a:prstGeom>
          <a:noFill/>
          <a:ln w="6350">
            <a:solidFill>
              <a:srgbClr val="C8DCD7"/>
            </a:solidFill>
            <a:prstDash val="solid"/>
          </a:ln>
        </p:spPr>
      </p:sp>
      <p:sp>
        <p:nvSpPr>
          <p:cNvPr id="32" name="Text 30"/>
          <p:cNvSpPr/>
          <p:nvPr/>
        </p:nvSpPr>
        <p:spPr>
          <a:xfrm>
            <a:off x="320040" y="2670048"/>
            <a:ext cx="123302" cy="365760"/>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1</a:t>
            </a:r>
            <a:endParaRPr lang="en-US" sz="720" dirty="0"/>
          </a:p>
        </p:txBody>
      </p:sp>
      <p:sp>
        <p:nvSpPr>
          <p:cNvPr id="33" name="Text 31"/>
          <p:cNvSpPr/>
          <p:nvPr/>
        </p:nvSpPr>
        <p:spPr>
          <a:xfrm>
            <a:off x="553070" y="2670048"/>
            <a:ext cx="3027208" cy="365760"/>
          </a:xfrm>
          <a:prstGeom prst="rect">
            <a:avLst/>
          </a:prstGeom>
          <a:noFill/>
          <a:ln/>
        </p:spPr>
        <p:txBody>
          <a:bodyPr wrap="square" lIns="0" tIns="0" rIns="0" bIns="0" rtlCol="0" anchor="ctr"/>
          <a:lstStyle/>
          <a:p>
            <a:pPr algn="l" indent="0" marL="0">
              <a:buNone/>
            </a:pPr>
            <a:r>
              <a:rPr lang="en-US" sz="720" b="1" dirty="0">
                <a:solidFill>
                  <a:srgbClr val="183B39"/>
                </a:solidFill>
                <a:latin typeface="Calibri" pitchFamily="34" charset="0"/>
                <a:ea typeface="Calibri" pitchFamily="34" charset="-122"/>
                <a:cs typeface="Calibri" pitchFamily="34" charset="-120"/>
              </a:rPr>
              <a:t>Reliance recovery loop — halt loading, hero-EAN OSA audit across North, East, Central</a:t>
            </a:r>
            <a:endParaRPr lang="en-US" sz="720" dirty="0"/>
          </a:p>
        </p:txBody>
      </p:sp>
      <p:sp>
        <p:nvSpPr>
          <p:cNvPr id="34" name="Text 32"/>
          <p:cNvSpPr/>
          <p:nvPr/>
        </p:nvSpPr>
        <p:spPr>
          <a:xfrm>
            <a:off x="3690006" y="2670048"/>
            <a:ext cx="696913" cy="365760"/>
          </a:xfrm>
          <a:prstGeom prst="rect">
            <a:avLst/>
          </a:prstGeom>
          <a:noFill/>
          <a:ln/>
        </p:spPr>
        <p:txBody>
          <a:bodyPr wrap="square" lIns="0" tIns="0" rIns="0" bIns="0" rtlCol="0" anchor="ctr"/>
          <a:lstStyle/>
          <a:p>
            <a:pPr algn="r" indent="0" marL="0">
              <a:buNone/>
            </a:pPr>
            <a:r>
              <a:rPr lang="en-US" sz="720" b="1" dirty="0">
                <a:solidFill>
                  <a:srgbClr val="D6544D"/>
                </a:solidFill>
                <a:latin typeface="Calibri" pitchFamily="34" charset="0"/>
                <a:ea typeface="Calibri" pitchFamily="34" charset="-122"/>
                <a:cs typeface="Calibri" pitchFamily="34" charset="-120"/>
              </a:rPr>
              <a:t>₹3.92 Cr</a:t>
            </a:r>
            <a:endParaRPr lang="en-US" sz="720" dirty="0"/>
          </a:p>
        </p:txBody>
      </p:sp>
      <p:sp>
        <p:nvSpPr>
          <p:cNvPr id="35" name="Text 33"/>
          <p:cNvSpPr/>
          <p:nvPr/>
        </p:nvSpPr>
        <p:spPr>
          <a:xfrm>
            <a:off x="4496646" y="2670048"/>
            <a:ext cx="607286" cy="365760"/>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0–30d</a:t>
            </a:r>
            <a:endParaRPr lang="en-US" sz="720" dirty="0"/>
          </a:p>
        </p:txBody>
      </p:sp>
      <p:sp>
        <p:nvSpPr>
          <p:cNvPr id="36" name="Text 34"/>
          <p:cNvSpPr/>
          <p:nvPr/>
        </p:nvSpPr>
        <p:spPr>
          <a:xfrm>
            <a:off x="5213660" y="2670048"/>
            <a:ext cx="1324300" cy="365760"/>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NKAM Reliance + Supply</a:t>
            </a:r>
            <a:endParaRPr lang="en-US" sz="720" dirty="0"/>
          </a:p>
        </p:txBody>
      </p:sp>
      <p:sp>
        <p:nvSpPr>
          <p:cNvPr id="37" name="Shape 35"/>
          <p:cNvSpPr/>
          <p:nvPr/>
        </p:nvSpPr>
        <p:spPr>
          <a:xfrm>
            <a:off x="265176" y="3401568"/>
            <a:ext cx="6327648" cy="0"/>
          </a:xfrm>
          <a:prstGeom prst="line">
            <a:avLst/>
          </a:prstGeom>
          <a:noFill/>
          <a:ln w="6350">
            <a:solidFill>
              <a:srgbClr val="C8DCD7"/>
            </a:solidFill>
            <a:prstDash val="solid"/>
          </a:ln>
        </p:spPr>
      </p:sp>
      <p:sp>
        <p:nvSpPr>
          <p:cNvPr id="38" name="Text 36"/>
          <p:cNvSpPr/>
          <p:nvPr/>
        </p:nvSpPr>
        <p:spPr>
          <a:xfrm>
            <a:off x="320040" y="3035808"/>
            <a:ext cx="123302" cy="365760"/>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2</a:t>
            </a:r>
            <a:endParaRPr lang="en-US" sz="720" dirty="0"/>
          </a:p>
        </p:txBody>
      </p:sp>
      <p:sp>
        <p:nvSpPr>
          <p:cNvPr id="39" name="Text 37"/>
          <p:cNvSpPr/>
          <p:nvPr/>
        </p:nvSpPr>
        <p:spPr>
          <a:xfrm>
            <a:off x="553070" y="3035808"/>
            <a:ext cx="3027208" cy="365760"/>
          </a:xfrm>
          <a:prstGeom prst="rect">
            <a:avLst/>
          </a:prstGeom>
          <a:noFill/>
          <a:ln/>
        </p:spPr>
        <p:txBody>
          <a:bodyPr wrap="square" lIns="0" tIns="0" rIns="0" bIns="0" rtlCol="0" anchor="ctr"/>
          <a:lstStyle/>
          <a:p>
            <a:pPr algn="l" indent="0" marL="0">
              <a:buNone/>
            </a:pPr>
            <a:r>
              <a:rPr lang="en-US" sz="720" b="1" dirty="0">
                <a:solidFill>
                  <a:srgbClr val="183B39"/>
                </a:solidFill>
                <a:latin typeface="Calibri" pitchFamily="34" charset="0"/>
                <a:ea typeface="Calibri" pitchFamily="34" charset="-122"/>
                <a:cs typeface="Calibri" pitchFamily="34" charset="-120"/>
              </a:rPr>
              <a:t>DMart South-2 DC-to-store fill audit against the West benchmark</a:t>
            </a:r>
            <a:endParaRPr lang="en-US" sz="720" dirty="0"/>
          </a:p>
        </p:txBody>
      </p:sp>
      <p:sp>
        <p:nvSpPr>
          <p:cNvPr id="40" name="Text 38"/>
          <p:cNvSpPr/>
          <p:nvPr/>
        </p:nvSpPr>
        <p:spPr>
          <a:xfrm>
            <a:off x="3690006" y="3035808"/>
            <a:ext cx="696913" cy="365760"/>
          </a:xfrm>
          <a:prstGeom prst="rect">
            <a:avLst/>
          </a:prstGeom>
          <a:noFill/>
          <a:ln/>
        </p:spPr>
        <p:txBody>
          <a:bodyPr wrap="square" lIns="0" tIns="0" rIns="0" bIns="0" rtlCol="0" anchor="ctr"/>
          <a:lstStyle/>
          <a:p>
            <a:pPr algn="r" indent="0" marL="0">
              <a:buNone/>
            </a:pPr>
            <a:r>
              <a:rPr lang="en-US" sz="720" b="1" dirty="0">
                <a:solidFill>
                  <a:srgbClr val="D6544D"/>
                </a:solidFill>
                <a:latin typeface="Calibri" pitchFamily="34" charset="0"/>
                <a:ea typeface="Calibri" pitchFamily="34" charset="-122"/>
                <a:cs typeface="Calibri" pitchFamily="34" charset="-120"/>
              </a:rPr>
              <a:t>₹0.89 Cr</a:t>
            </a:r>
            <a:endParaRPr lang="en-US" sz="720" dirty="0"/>
          </a:p>
        </p:txBody>
      </p:sp>
      <p:sp>
        <p:nvSpPr>
          <p:cNvPr id="41" name="Text 39"/>
          <p:cNvSpPr/>
          <p:nvPr/>
        </p:nvSpPr>
        <p:spPr>
          <a:xfrm>
            <a:off x="4496646" y="3035808"/>
            <a:ext cx="607286" cy="365760"/>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0–30d</a:t>
            </a:r>
            <a:endParaRPr lang="en-US" sz="720" dirty="0"/>
          </a:p>
        </p:txBody>
      </p:sp>
      <p:sp>
        <p:nvSpPr>
          <p:cNvPr id="42" name="Text 40"/>
          <p:cNvSpPr/>
          <p:nvPr/>
        </p:nvSpPr>
        <p:spPr>
          <a:xfrm>
            <a:off x="5213660" y="3035808"/>
            <a:ext cx="1324300" cy="365760"/>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NKAM DMart + Supply</a:t>
            </a:r>
            <a:endParaRPr lang="en-US" sz="720" dirty="0"/>
          </a:p>
        </p:txBody>
      </p:sp>
      <p:sp>
        <p:nvSpPr>
          <p:cNvPr id="43" name="Shape 41"/>
          <p:cNvSpPr/>
          <p:nvPr/>
        </p:nvSpPr>
        <p:spPr>
          <a:xfrm>
            <a:off x="265176" y="3401568"/>
            <a:ext cx="6327648" cy="365760"/>
          </a:xfrm>
          <a:prstGeom prst="rect">
            <a:avLst/>
          </a:prstGeom>
          <a:solidFill>
            <a:srgbClr val="F4F9F8"/>
          </a:solidFill>
          <a:ln/>
        </p:spPr>
      </p:sp>
      <p:sp>
        <p:nvSpPr>
          <p:cNvPr id="44" name="Shape 42"/>
          <p:cNvSpPr/>
          <p:nvPr/>
        </p:nvSpPr>
        <p:spPr>
          <a:xfrm>
            <a:off x="265176" y="3767328"/>
            <a:ext cx="6327648" cy="0"/>
          </a:xfrm>
          <a:prstGeom prst="line">
            <a:avLst/>
          </a:prstGeom>
          <a:noFill/>
          <a:ln w="6350">
            <a:solidFill>
              <a:srgbClr val="C8DCD7"/>
            </a:solidFill>
            <a:prstDash val="solid"/>
          </a:ln>
        </p:spPr>
      </p:sp>
      <p:sp>
        <p:nvSpPr>
          <p:cNvPr id="45" name="Text 43"/>
          <p:cNvSpPr/>
          <p:nvPr/>
        </p:nvSpPr>
        <p:spPr>
          <a:xfrm>
            <a:off x="320040" y="3401568"/>
            <a:ext cx="123302" cy="365760"/>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3</a:t>
            </a:r>
            <a:endParaRPr lang="en-US" sz="720" dirty="0"/>
          </a:p>
        </p:txBody>
      </p:sp>
      <p:sp>
        <p:nvSpPr>
          <p:cNvPr id="46" name="Text 44"/>
          <p:cNvSpPr/>
          <p:nvPr/>
        </p:nvSpPr>
        <p:spPr>
          <a:xfrm>
            <a:off x="553070" y="3401568"/>
            <a:ext cx="3027208" cy="365760"/>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Cap East and North primary at trailing three-month offtake until gaps close</a:t>
            </a:r>
            <a:endParaRPr lang="en-US" sz="720" dirty="0"/>
          </a:p>
        </p:txBody>
      </p:sp>
      <p:sp>
        <p:nvSpPr>
          <p:cNvPr id="47" name="Text 45"/>
          <p:cNvSpPr/>
          <p:nvPr/>
        </p:nvSpPr>
        <p:spPr>
          <a:xfrm>
            <a:off x="3690006" y="3401568"/>
            <a:ext cx="696913" cy="365760"/>
          </a:xfrm>
          <a:prstGeom prst="rect">
            <a:avLst/>
          </a:prstGeom>
          <a:noFill/>
          <a:ln/>
        </p:spPr>
        <p:txBody>
          <a:bodyPr wrap="square" lIns="0" tIns="0" rIns="0" bIns="0" rtlCol="0" anchor="ctr"/>
          <a:lstStyle/>
          <a:p>
            <a:pPr algn="r" indent="0" marL="0">
              <a:buNone/>
            </a:pPr>
            <a:r>
              <a:rPr lang="en-US" sz="720" b="1" dirty="0">
                <a:solidFill>
                  <a:srgbClr val="F2B84B"/>
                </a:solidFill>
                <a:latin typeface="Calibri" pitchFamily="34" charset="0"/>
                <a:ea typeface="Calibri" pitchFamily="34" charset="-122"/>
                <a:cs typeface="Calibri" pitchFamily="34" charset="-120"/>
              </a:rPr>
              <a:t>₹2.54 Cr</a:t>
            </a:r>
            <a:endParaRPr lang="en-US" sz="720" dirty="0"/>
          </a:p>
        </p:txBody>
      </p:sp>
      <p:sp>
        <p:nvSpPr>
          <p:cNvPr id="48" name="Text 46"/>
          <p:cNvSpPr/>
          <p:nvPr/>
        </p:nvSpPr>
        <p:spPr>
          <a:xfrm>
            <a:off x="4496646" y="3401568"/>
            <a:ext cx="607286" cy="365760"/>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0–30d</a:t>
            </a:r>
            <a:endParaRPr lang="en-US" sz="720" dirty="0"/>
          </a:p>
        </p:txBody>
      </p:sp>
      <p:sp>
        <p:nvSpPr>
          <p:cNvPr id="49" name="Text 47"/>
          <p:cNvSpPr/>
          <p:nvPr/>
        </p:nvSpPr>
        <p:spPr>
          <a:xfrm>
            <a:off x="5213660" y="3401568"/>
            <a:ext cx="1324300" cy="365760"/>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Supply + Sales lead</a:t>
            </a:r>
            <a:endParaRPr lang="en-US" sz="720" dirty="0"/>
          </a:p>
        </p:txBody>
      </p:sp>
      <p:sp>
        <p:nvSpPr>
          <p:cNvPr id="50" name="Shape 48"/>
          <p:cNvSpPr/>
          <p:nvPr/>
        </p:nvSpPr>
        <p:spPr>
          <a:xfrm>
            <a:off x="265176" y="4133088"/>
            <a:ext cx="6327648" cy="0"/>
          </a:xfrm>
          <a:prstGeom prst="line">
            <a:avLst/>
          </a:prstGeom>
          <a:noFill/>
          <a:ln w="6350">
            <a:solidFill>
              <a:srgbClr val="C8DCD7"/>
            </a:solidFill>
            <a:prstDash val="solid"/>
          </a:ln>
        </p:spPr>
      </p:sp>
      <p:sp>
        <p:nvSpPr>
          <p:cNvPr id="51" name="Text 49"/>
          <p:cNvSpPr/>
          <p:nvPr/>
        </p:nvSpPr>
        <p:spPr>
          <a:xfrm>
            <a:off x="320040" y="3767328"/>
            <a:ext cx="123302" cy="365760"/>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4</a:t>
            </a:r>
            <a:endParaRPr lang="en-US" sz="720" dirty="0"/>
          </a:p>
        </p:txBody>
      </p:sp>
      <p:sp>
        <p:nvSpPr>
          <p:cNvPr id="52" name="Text 50"/>
          <p:cNvSpPr/>
          <p:nvPr/>
        </p:nvSpPr>
        <p:spPr>
          <a:xfrm>
            <a:off x="553070" y="3767328"/>
            <a:ext cx="3027208" cy="365760"/>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Map Lulu, Wellness Forever and Health &amp; Glow primary routes</a:t>
            </a:r>
            <a:endParaRPr lang="en-US" sz="720" dirty="0"/>
          </a:p>
        </p:txBody>
      </p:sp>
      <p:sp>
        <p:nvSpPr>
          <p:cNvPr id="53" name="Text 51"/>
          <p:cNvSpPr/>
          <p:nvPr/>
        </p:nvSpPr>
        <p:spPr>
          <a:xfrm>
            <a:off x="3690006" y="3767328"/>
            <a:ext cx="696913" cy="365760"/>
          </a:xfrm>
          <a:prstGeom prst="rect">
            <a:avLst/>
          </a:prstGeom>
          <a:noFill/>
          <a:ln/>
        </p:spPr>
        <p:txBody>
          <a:bodyPr wrap="square" lIns="0" tIns="0" rIns="0" bIns="0" rtlCol="0" anchor="ctr"/>
          <a:lstStyle/>
          <a:p>
            <a:pPr algn="r" indent="0" marL="0">
              <a:buNone/>
            </a:pPr>
            <a:r>
              <a:rPr lang="en-US" sz="720" b="1" dirty="0">
                <a:solidFill>
                  <a:srgbClr val="F2B84B"/>
                </a:solidFill>
                <a:latin typeface="Calibri" pitchFamily="34" charset="0"/>
                <a:ea typeface="Calibri" pitchFamily="34" charset="-122"/>
                <a:cs typeface="Calibri" pitchFamily="34" charset="-120"/>
              </a:rPr>
              <a:t>₹2.23 Cr</a:t>
            </a:r>
            <a:endParaRPr lang="en-US" sz="720" dirty="0"/>
          </a:p>
        </p:txBody>
      </p:sp>
      <p:sp>
        <p:nvSpPr>
          <p:cNvPr id="54" name="Text 52"/>
          <p:cNvSpPr/>
          <p:nvPr/>
        </p:nvSpPr>
        <p:spPr>
          <a:xfrm>
            <a:off x="4496646" y="3767328"/>
            <a:ext cx="607286" cy="365760"/>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0–15d</a:t>
            </a:r>
            <a:endParaRPr lang="en-US" sz="720" dirty="0"/>
          </a:p>
        </p:txBody>
      </p:sp>
      <p:sp>
        <p:nvSpPr>
          <p:cNvPr id="55" name="Text 53"/>
          <p:cNvSpPr/>
          <p:nvPr/>
        </p:nvSpPr>
        <p:spPr>
          <a:xfrm>
            <a:off x="5213660" y="3767328"/>
            <a:ext cx="1324300" cy="365760"/>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Analyst</a:t>
            </a:r>
            <a:endParaRPr lang="en-US" sz="720" dirty="0"/>
          </a:p>
        </p:txBody>
      </p:sp>
      <p:sp>
        <p:nvSpPr>
          <p:cNvPr id="56" name="Shape 54"/>
          <p:cNvSpPr/>
          <p:nvPr/>
        </p:nvSpPr>
        <p:spPr>
          <a:xfrm>
            <a:off x="265176" y="4133088"/>
            <a:ext cx="6327648" cy="365760"/>
          </a:xfrm>
          <a:prstGeom prst="rect">
            <a:avLst/>
          </a:prstGeom>
          <a:solidFill>
            <a:srgbClr val="F4F9F8"/>
          </a:solidFill>
          <a:ln/>
        </p:spPr>
      </p:sp>
      <p:sp>
        <p:nvSpPr>
          <p:cNvPr id="57" name="Shape 55"/>
          <p:cNvSpPr/>
          <p:nvPr/>
        </p:nvSpPr>
        <p:spPr>
          <a:xfrm>
            <a:off x="265176" y="4498848"/>
            <a:ext cx="6327648" cy="0"/>
          </a:xfrm>
          <a:prstGeom prst="line">
            <a:avLst/>
          </a:prstGeom>
          <a:noFill/>
          <a:ln w="6350">
            <a:solidFill>
              <a:srgbClr val="C8DCD7"/>
            </a:solidFill>
            <a:prstDash val="solid"/>
          </a:ln>
        </p:spPr>
      </p:sp>
      <p:sp>
        <p:nvSpPr>
          <p:cNvPr id="58" name="Text 56"/>
          <p:cNvSpPr/>
          <p:nvPr/>
        </p:nvSpPr>
        <p:spPr>
          <a:xfrm>
            <a:off x="320040" y="4133088"/>
            <a:ext cx="123302" cy="365760"/>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5</a:t>
            </a:r>
            <a:endParaRPr lang="en-US" sz="720" dirty="0"/>
          </a:p>
        </p:txBody>
      </p:sp>
      <p:sp>
        <p:nvSpPr>
          <p:cNvPr id="59" name="Text 57"/>
          <p:cNvSpPr/>
          <p:nvPr/>
        </p:nvSpPr>
        <p:spPr>
          <a:xfrm>
            <a:off x="553070" y="4133088"/>
            <a:ext cx="3027208" cy="365760"/>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Freeze incremental NPI into East and North until conversion thresholds clear</a:t>
            </a:r>
            <a:endParaRPr lang="en-US" sz="720" dirty="0"/>
          </a:p>
        </p:txBody>
      </p:sp>
      <p:sp>
        <p:nvSpPr>
          <p:cNvPr id="60" name="Text 58"/>
          <p:cNvSpPr/>
          <p:nvPr/>
        </p:nvSpPr>
        <p:spPr>
          <a:xfrm>
            <a:off x="3690006" y="4133088"/>
            <a:ext cx="696913" cy="365760"/>
          </a:xfrm>
          <a:prstGeom prst="rect">
            <a:avLst/>
          </a:prstGeom>
          <a:noFill/>
          <a:ln/>
        </p:spPr>
        <p:txBody>
          <a:bodyPr wrap="square" lIns="0" tIns="0" rIns="0" bIns="0" rtlCol="0" anchor="ctr"/>
          <a:lstStyle/>
          <a:p>
            <a:pPr algn="r" indent="0" marL="0">
              <a:buNone/>
            </a:pPr>
            <a:r>
              <a:rPr lang="en-US" sz="720" dirty="0">
                <a:solidFill>
                  <a:srgbClr val="F2B84B"/>
                </a:solidFill>
                <a:latin typeface="Calibri" pitchFamily="34" charset="0"/>
                <a:ea typeface="Calibri" pitchFamily="34" charset="-122"/>
                <a:cs typeface="Calibri" pitchFamily="34" charset="-120"/>
              </a:rPr>
              <a:t>₹0.65 Cr</a:t>
            </a:r>
            <a:endParaRPr lang="en-US" sz="720" dirty="0"/>
          </a:p>
        </p:txBody>
      </p:sp>
      <p:sp>
        <p:nvSpPr>
          <p:cNvPr id="61" name="Text 59"/>
          <p:cNvSpPr/>
          <p:nvPr/>
        </p:nvSpPr>
        <p:spPr>
          <a:xfrm>
            <a:off x="4496646" y="4133088"/>
            <a:ext cx="607286" cy="365760"/>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0–30d</a:t>
            </a:r>
            <a:endParaRPr lang="en-US" sz="720" dirty="0"/>
          </a:p>
        </p:txBody>
      </p:sp>
      <p:sp>
        <p:nvSpPr>
          <p:cNvPr id="62" name="Text 60"/>
          <p:cNvSpPr/>
          <p:nvPr/>
        </p:nvSpPr>
        <p:spPr>
          <a:xfrm>
            <a:off x="5213660" y="4133088"/>
            <a:ext cx="1324300" cy="365760"/>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Category + Supply</a:t>
            </a:r>
            <a:endParaRPr lang="en-US" sz="720" dirty="0"/>
          </a:p>
        </p:txBody>
      </p:sp>
      <p:sp>
        <p:nvSpPr>
          <p:cNvPr id="63" name="Shape 61"/>
          <p:cNvSpPr/>
          <p:nvPr/>
        </p:nvSpPr>
        <p:spPr>
          <a:xfrm>
            <a:off x="265176" y="4864608"/>
            <a:ext cx="6327648" cy="0"/>
          </a:xfrm>
          <a:prstGeom prst="line">
            <a:avLst/>
          </a:prstGeom>
          <a:noFill/>
          <a:ln w="6350">
            <a:solidFill>
              <a:srgbClr val="C8DCD7"/>
            </a:solidFill>
            <a:prstDash val="solid"/>
          </a:ln>
        </p:spPr>
      </p:sp>
      <p:sp>
        <p:nvSpPr>
          <p:cNvPr id="64" name="Text 62"/>
          <p:cNvSpPr/>
          <p:nvPr/>
        </p:nvSpPr>
        <p:spPr>
          <a:xfrm>
            <a:off x="320040" y="4498848"/>
            <a:ext cx="123302" cy="365760"/>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6</a:t>
            </a:r>
            <a:endParaRPr lang="en-US" sz="720" dirty="0"/>
          </a:p>
        </p:txBody>
      </p:sp>
      <p:sp>
        <p:nvSpPr>
          <p:cNvPr id="65" name="Text 63"/>
          <p:cNvSpPr/>
          <p:nvPr/>
        </p:nvSpPr>
        <p:spPr>
          <a:xfrm>
            <a:off x="553070" y="4498848"/>
            <a:ext cx="3027208" cy="365760"/>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Publish the chain × state × hero-EAN exception list weekly</a:t>
            </a:r>
            <a:endParaRPr lang="en-US" sz="720" dirty="0"/>
          </a:p>
        </p:txBody>
      </p:sp>
      <p:sp>
        <p:nvSpPr>
          <p:cNvPr id="66" name="Text 64"/>
          <p:cNvSpPr/>
          <p:nvPr/>
        </p:nvSpPr>
        <p:spPr>
          <a:xfrm>
            <a:off x="3690006" y="4498848"/>
            <a:ext cx="696913" cy="365760"/>
          </a:xfrm>
          <a:prstGeom prst="rect">
            <a:avLst/>
          </a:prstGeom>
          <a:noFill/>
          <a:ln/>
        </p:spPr>
        <p:txBody>
          <a:bodyPr wrap="square" lIns="0" tIns="0" rIns="0" bIns="0" rtlCol="0" anchor="ctr"/>
          <a:lstStyle/>
          <a:p>
            <a:pPr algn="r" indent="0" marL="0">
              <a:buNone/>
            </a:pPr>
            <a:r>
              <a:rPr lang="en-US" sz="720" dirty="0">
                <a:solidFill>
                  <a:srgbClr val="5F716E"/>
                </a:solidFill>
                <a:latin typeface="Calibri" pitchFamily="34" charset="0"/>
                <a:ea typeface="Calibri" pitchFamily="34" charset="-122"/>
                <a:cs typeface="Calibri" pitchFamily="34" charset="-120"/>
              </a:rPr>
              <a:t>enabler</a:t>
            </a:r>
            <a:endParaRPr lang="en-US" sz="720" dirty="0"/>
          </a:p>
        </p:txBody>
      </p:sp>
      <p:sp>
        <p:nvSpPr>
          <p:cNvPr id="67" name="Text 65"/>
          <p:cNvSpPr/>
          <p:nvPr/>
        </p:nvSpPr>
        <p:spPr>
          <a:xfrm>
            <a:off x="4496646" y="4498848"/>
            <a:ext cx="607286" cy="365760"/>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0–30d</a:t>
            </a:r>
            <a:endParaRPr lang="en-US" sz="720" dirty="0"/>
          </a:p>
        </p:txBody>
      </p:sp>
      <p:sp>
        <p:nvSpPr>
          <p:cNvPr id="68" name="Text 66"/>
          <p:cNvSpPr/>
          <p:nvPr/>
        </p:nvSpPr>
        <p:spPr>
          <a:xfrm>
            <a:off x="5213660" y="4498848"/>
            <a:ext cx="1324300" cy="365760"/>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Analyst</a:t>
            </a:r>
            <a:endParaRPr lang="en-US" sz="720" dirty="0"/>
          </a:p>
        </p:txBody>
      </p:sp>
      <p:sp>
        <p:nvSpPr>
          <p:cNvPr id="69" name="Shape 67"/>
          <p:cNvSpPr/>
          <p:nvPr/>
        </p:nvSpPr>
        <p:spPr>
          <a:xfrm>
            <a:off x="265176" y="4864608"/>
            <a:ext cx="6327648" cy="365760"/>
          </a:xfrm>
          <a:prstGeom prst="rect">
            <a:avLst/>
          </a:prstGeom>
          <a:solidFill>
            <a:srgbClr val="F4F9F8"/>
          </a:solidFill>
          <a:ln/>
        </p:spPr>
      </p:sp>
      <p:sp>
        <p:nvSpPr>
          <p:cNvPr id="70" name="Shape 68"/>
          <p:cNvSpPr/>
          <p:nvPr/>
        </p:nvSpPr>
        <p:spPr>
          <a:xfrm>
            <a:off x="265176" y="5230368"/>
            <a:ext cx="6327648" cy="0"/>
          </a:xfrm>
          <a:prstGeom prst="line">
            <a:avLst/>
          </a:prstGeom>
          <a:noFill/>
          <a:ln w="6350">
            <a:solidFill>
              <a:srgbClr val="C8DCD7"/>
            </a:solidFill>
            <a:prstDash val="solid"/>
          </a:ln>
        </p:spPr>
      </p:sp>
      <p:sp>
        <p:nvSpPr>
          <p:cNvPr id="71" name="Text 69"/>
          <p:cNvSpPr/>
          <p:nvPr/>
        </p:nvSpPr>
        <p:spPr>
          <a:xfrm>
            <a:off x="320040" y="4864608"/>
            <a:ext cx="123302" cy="365760"/>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7</a:t>
            </a:r>
            <a:endParaRPr lang="en-US" sz="720" dirty="0"/>
          </a:p>
        </p:txBody>
      </p:sp>
      <p:sp>
        <p:nvSpPr>
          <p:cNvPr id="72" name="Text 70"/>
          <p:cNvSpPr/>
          <p:nvPr/>
        </p:nvSpPr>
        <p:spPr>
          <a:xfrm>
            <a:off x="553070" y="4864608"/>
            <a:ext cx="3027208" cy="365760"/>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Extract the Apollo order-cadence template and score two accounts against it</a:t>
            </a:r>
            <a:endParaRPr lang="en-US" sz="720" dirty="0"/>
          </a:p>
        </p:txBody>
      </p:sp>
      <p:sp>
        <p:nvSpPr>
          <p:cNvPr id="73" name="Text 71"/>
          <p:cNvSpPr/>
          <p:nvPr/>
        </p:nvSpPr>
        <p:spPr>
          <a:xfrm>
            <a:off x="3690006" y="4864608"/>
            <a:ext cx="696913" cy="365760"/>
          </a:xfrm>
          <a:prstGeom prst="rect">
            <a:avLst/>
          </a:prstGeom>
          <a:noFill/>
          <a:ln/>
        </p:spPr>
        <p:txBody>
          <a:bodyPr wrap="square" lIns="0" tIns="0" rIns="0" bIns="0" rtlCol="0" anchor="ctr"/>
          <a:lstStyle/>
          <a:p>
            <a:pPr algn="r" indent="0" marL="0">
              <a:buNone/>
            </a:pPr>
            <a:r>
              <a:rPr lang="en-US" sz="720" dirty="0">
                <a:solidFill>
                  <a:srgbClr val="5F716E"/>
                </a:solidFill>
                <a:latin typeface="Calibri" pitchFamily="34" charset="0"/>
                <a:ea typeface="Calibri" pitchFamily="34" charset="-122"/>
                <a:cs typeface="Calibri" pitchFamily="34" charset="-120"/>
              </a:rPr>
              <a:t>enabler</a:t>
            </a:r>
            <a:endParaRPr lang="en-US" sz="720" dirty="0"/>
          </a:p>
        </p:txBody>
      </p:sp>
      <p:sp>
        <p:nvSpPr>
          <p:cNvPr id="74" name="Text 72"/>
          <p:cNvSpPr/>
          <p:nvPr/>
        </p:nvSpPr>
        <p:spPr>
          <a:xfrm>
            <a:off x="4496646" y="4864608"/>
            <a:ext cx="607286" cy="365760"/>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31–60d</a:t>
            </a:r>
            <a:endParaRPr lang="en-US" sz="720" dirty="0"/>
          </a:p>
        </p:txBody>
      </p:sp>
      <p:sp>
        <p:nvSpPr>
          <p:cNvPr id="75" name="Text 73"/>
          <p:cNvSpPr/>
          <p:nvPr/>
        </p:nvSpPr>
        <p:spPr>
          <a:xfrm>
            <a:off x="5213660" y="4864608"/>
            <a:ext cx="1324300" cy="365760"/>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Analyst + NKAM Apollo</a:t>
            </a:r>
            <a:endParaRPr lang="en-US" sz="720" dirty="0"/>
          </a:p>
        </p:txBody>
      </p:sp>
      <p:sp>
        <p:nvSpPr>
          <p:cNvPr id="76" name="Shape 74"/>
          <p:cNvSpPr/>
          <p:nvPr/>
        </p:nvSpPr>
        <p:spPr>
          <a:xfrm>
            <a:off x="265176" y="5596128"/>
            <a:ext cx="6327648" cy="0"/>
          </a:xfrm>
          <a:prstGeom prst="line">
            <a:avLst/>
          </a:prstGeom>
          <a:noFill/>
          <a:ln w="6350">
            <a:solidFill>
              <a:srgbClr val="C8DCD7"/>
            </a:solidFill>
            <a:prstDash val="solid"/>
          </a:ln>
        </p:spPr>
      </p:sp>
      <p:sp>
        <p:nvSpPr>
          <p:cNvPr id="77" name="Text 75"/>
          <p:cNvSpPr/>
          <p:nvPr/>
        </p:nvSpPr>
        <p:spPr>
          <a:xfrm>
            <a:off x="320040" y="5230368"/>
            <a:ext cx="123302" cy="365760"/>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8</a:t>
            </a:r>
            <a:endParaRPr lang="en-US" sz="720" dirty="0"/>
          </a:p>
        </p:txBody>
      </p:sp>
      <p:sp>
        <p:nvSpPr>
          <p:cNvPr id="78" name="Text 76"/>
          <p:cNvSpPr/>
          <p:nvPr/>
        </p:nvSpPr>
        <p:spPr>
          <a:xfrm>
            <a:off x="553070" y="5230368"/>
            <a:ext cx="3027208" cy="365760"/>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Shampoo rate-recovery pilot in South-1 — velocity per store, not listings added</a:t>
            </a:r>
            <a:endParaRPr lang="en-US" sz="720" dirty="0"/>
          </a:p>
        </p:txBody>
      </p:sp>
      <p:sp>
        <p:nvSpPr>
          <p:cNvPr id="79" name="Text 77"/>
          <p:cNvSpPr/>
          <p:nvPr/>
        </p:nvSpPr>
        <p:spPr>
          <a:xfrm>
            <a:off x="3690006" y="5230368"/>
            <a:ext cx="696913" cy="365760"/>
          </a:xfrm>
          <a:prstGeom prst="rect">
            <a:avLst/>
          </a:prstGeom>
          <a:noFill/>
          <a:ln/>
        </p:spPr>
        <p:txBody>
          <a:bodyPr wrap="square" lIns="0" tIns="0" rIns="0" bIns="0" rtlCol="0" anchor="ctr"/>
          <a:lstStyle/>
          <a:p>
            <a:pPr algn="r" indent="0" marL="0">
              <a:buNone/>
            </a:pPr>
            <a:r>
              <a:rPr lang="en-US" sz="720" dirty="0">
                <a:solidFill>
                  <a:srgbClr val="5F716E"/>
                </a:solidFill>
                <a:latin typeface="Calibri" pitchFamily="34" charset="0"/>
                <a:ea typeface="Calibri" pitchFamily="34" charset="-122"/>
                <a:cs typeface="Calibri" pitchFamily="34" charset="-120"/>
              </a:rPr>
              <a:t>test</a:t>
            </a:r>
            <a:endParaRPr lang="en-US" sz="720" dirty="0"/>
          </a:p>
        </p:txBody>
      </p:sp>
      <p:sp>
        <p:nvSpPr>
          <p:cNvPr id="80" name="Text 78"/>
          <p:cNvSpPr/>
          <p:nvPr/>
        </p:nvSpPr>
        <p:spPr>
          <a:xfrm>
            <a:off x="4496646" y="5230368"/>
            <a:ext cx="607286" cy="365760"/>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31–60d</a:t>
            </a:r>
            <a:endParaRPr lang="en-US" sz="720" dirty="0"/>
          </a:p>
        </p:txBody>
      </p:sp>
      <p:sp>
        <p:nvSpPr>
          <p:cNvPr id="81" name="Text 79"/>
          <p:cNvSpPr/>
          <p:nvPr/>
        </p:nvSpPr>
        <p:spPr>
          <a:xfrm>
            <a:off x="5213660" y="5230368"/>
            <a:ext cx="1324300" cy="365760"/>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Category + South-1 RKAM</a:t>
            </a:r>
            <a:endParaRPr lang="en-US" sz="720" dirty="0"/>
          </a:p>
        </p:txBody>
      </p:sp>
      <p:sp>
        <p:nvSpPr>
          <p:cNvPr id="82" name="Shape 80"/>
          <p:cNvSpPr/>
          <p:nvPr/>
        </p:nvSpPr>
        <p:spPr>
          <a:xfrm>
            <a:off x="265176" y="5596128"/>
            <a:ext cx="6327648" cy="365760"/>
          </a:xfrm>
          <a:prstGeom prst="rect">
            <a:avLst/>
          </a:prstGeom>
          <a:solidFill>
            <a:srgbClr val="F4F9F8"/>
          </a:solidFill>
          <a:ln/>
        </p:spPr>
      </p:sp>
      <p:sp>
        <p:nvSpPr>
          <p:cNvPr id="83" name="Shape 81"/>
          <p:cNvSpPr/>
          <p:nvPr/>
        </p:nvSpPr>
        <p:spPr>
          <a:xfrm>
            <a:off x="265176" y="5961888"/>
            <a:ext cx="6327648" cy="0"/>
          </a:xfrm>
          <a:prstGeom prst="line">
            <a:avLst/>
          </a:prstGeom>
          <a:noFill/>
          <a:ln w="6350">
            <a:solidFill>
              <a:srgbClr val="C8DCD7"/>
            </a:solidFill>
            <a:prstDash val="solid"/>
          </a:ln>
        </p:spPr>
      </p:sp>
      <p:sp>
        <p:nvSpPr>
          <p:cNvPr id="84" name="Text 82"/>
          <p:cNvSpPr/>
          <p:nvPr/>
        </p:nvSpPr>
        <p:spPr>
          <a:xfrm>
            <a:off x="320040" y="5596128"/>
            <a:ext cx="123302" cy="365760"/>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9</a:t>
            </a:r>
            <a:endParaRPr lang="en-US" sz="720" dirty="0"/>
          </a:p>
        </p:txBody>
      </p:sp>
      <p:sp>
        <p:nvSpPr>
          <p:cNvPr id="85" name="Text 83"/>
          <p:cNvSpPr/>
          <p:nvPr/>
        </p:nvSpPr>
        <p:spPr>
          <a:xfrm>
            <a:off x="553070" y="5596128"/>
            <a:ext cx="3027208" cy="365760"/>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Reset loading rules by verified conversion; retire dead packs before adding new</a:t>
            </a:r>
            <a:endParaRPr lang="en-US" sz="720" dirty="0"/>
          </a:p>
        </p:txBody>
      </p:sp>
      <p:sp>
        <p:nvSpPr>
          <p:cNvPr id="86" name="Text 84"/>
          <p:cNvSpPr/>
          <p:nvPr/>
        </p:nvSpPr>
        <p:spPr>
          <a:xfrm>
            <a:off x="3690006" y="5596128"/>
            <a:ext cx="696913" cy="365760"/>
          </a:xfrm>
          <a:prstGeom prst="rect">
            <a:avLst/>
          </a:prstGeom>
          <a:noFill/>
          <a:ln/>
        </p:spPr>
        <p:txBody>
          <a:bodyPr wrap="square" lIns="0" tIns="0" rIns="0" bIns="0" rtlCol="0" anchor="ctr"/>
          <a:lstStyle/>
          <a:p>
            <a:pPr algn="r" indent="0" marL="0">
              <a:buNone/>
            </a:pPr>
            <a:r>
              <a:rPr lang="en-US" sz="720" dirty="0">
                <a:solidFill>
                  <a:srgbClr val="5F716E"/>
                </a:solidFill>
                <a:latin typeface="Calibri" pitchFamily="34" charset="0"/>
                <a:ea typeface="Calibri" pitchFamily="34" charset="-122"/>
                <a:cs typeface="Calibri" pitchFamily="34" charset="-120"/>
              </a:rPr>
              <a:t>structural</a:t>
            </a:r>
            <a:endParaRPr lang="en-US" sz="720" dirty="0"/>
          </a:p>
        </p:txBody>
      </p:sp>
      <p:sp>
        <p:nvSpPr>
          <p:cNvPr id="87" name="Text 85"/>
          <p:cNvSpPr/>
          <p:nvPr/>
        </p:nvSpPr>
        <p:spPr>
          <a:xfrm>
            <a:off x="4496646" y="5596128"/>
            <a:ext cx="607286" cy="365760"/>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61–90d</a:t>
            </a:r>
            <a:endParaRPr lang="en-US" sz="720" dirty="0"/>
          </a:p>
        </p:txBody>
      </p:sp>
      <p:sp>
        <p:nvSpPr>
          <p:cNvPr id="88" name="Text 86"/>
          <p:cNvSpPr/>
          <p:nvPr/>
        </p:nvSpPr>
        <p:spPr>
          <a:xfrm>
            <a:off x="5213660" y="5596128"/>
            <a:ext cx="1324300" cy="365760"/>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Sales lead + Category</a:t>
            </a:r>
            <a:endParaRPr lang="en-US" sz="720" dirty="0"/>
          </a:p>
        </p:txBody>
      </p:sp>
      <p:sp>
        <p:nvSpPr>
          <p:cNvPr id="89" name="Shape 87"/>
          <p:cNvSpPr/>
          <p:nvPr/>
        </p:nvSpPr>
        <p:spPr>
          <a:xfrm>
            <a:off x="265176" y="6144768"/>
            <a:ext cx="2036064" cy="2267712"/>
          </a:xfrm>
          <a:prstGeom prst="roundRect">
            <a:avLst>
              <a:gd name="adj" fmla="val 898"/>
            </a:avLst>
          </a:prstGeom>
          <a:solidFill>
            <a:srgbClr val="FFFFFF"/>
          </a:solidFill>
          <a:ln w="9525">
            <a:solidFill>
              <a:srgbClr val="C8DCD7"/>
            </a:solidFill>
            <a:prstDash val="solid"/>
          </a:ln>
        </p:spPr>
      </p:sp>
      <p:sp>
        <p:nvSpPr>
          <p:cNvPr id="90" name="Shape 88"/>
          <p:cNvSpPr/>
          <p:nvPr/>
        </p:nvSpPr>
        <p:spPr>
          <a:xfrm>
            <a:off x="265176" y="6144768"/>
            <a:ext cx="2036064" cy="274320"/>
          </a:xfrm>
          <a:prstGeom prst="rect">
            <a:avLst/>
          </a:prstGeom>
          <a:solidFill>
            <a:srgbClr val="D6544D"/>
          </a:solidFill>
          <a:ln/>
        </p:spPr>
      </p:sp>
      <p:sp>
        <p:nvSpPr>
          <p:cNvPr id="91" name="Text 89"/>
          <p:cNvSpPr/>
          <p:nvPr/>
        </p:nvSpPr>
        <p:spPr>
          <a:xfrm>
            <a:off x="347472" y="6163056"/>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0–30 DAYS</a:t>
            </a:r>
            <a:endParaRPr lang="en-US" sz="700" dirty="0"/>
          </a:p>
        </p:txBody>
      </p:sp>
      <p:sp>
        <p:nvSpPr>
          <p:cNvPr id="92" name="Text 90"/>
          <p:cNvSpPr/>
          <p:nvPr/>
        </p:nvSpPr>
        <p:spPr>
          <a:xfrm>
            <a:off x="356616" y="6510528"/>
            <a:ext cx="1853184" cy="274320"/>
          </a:xfrm>
          <a:prstGeom prst="rect">
            <a:avLst/>
          </a:prstGeom>
          <a:noFill/>
          <a:ln/>
        </p:spPr>
        <p:txBody>
          <a:bodyPr wrap="square" lIns="0" tIns="0" rIns="0" bIns="0" rtlCol="0" anchor="t"/>
          <a:lstStyle/>
          <a:p>
            <a:pPr algn="ctr" indent="0" marL="0">
              <a:buNone/>
            </a:pPr>
            <a:r>
              <a:rPr lang="en-US" sz="1150" b="1" dirty="0">
                <a:solidFill>
                  <a:srgbClr val="D6544D"/>
                </a:solidFill>
                <a:latin typeface="Calibri Light" pitchFamily="34" charset="0"/>
                <a:ea typeface="Calibri Light" pitchFamily="34" charset="-122"/>
                <a:cs typeface="Calibri Light" pitchFamily="34" charset="-120"/>
              </a:rPr>
              <a:t>Stop the leak</a:t>
            </a:r>
            <a:endParaRPr lang="en-US" sz="1150" dirty="0"/>
          </a:p>
        </p:txBody>
      </p:sp>
      <p:sp>
        <p:nvSpPr>
          <p:cNvPr id="93" name="Shape 91"/>
          <p:cNvSpPr/>
          <p:nvPr/>
        </p:nvSpPr>
        <p:spPr>
          <a:xfrm>
            <a:off x="374904" y="6926580"/>
            <a:ext cx="50292" cy="50292"/>
          </a:xfrm>
          <a:prstGeom prst="ellipse">
            <a:avLst/>
          </a:prstGeom>
          <a:solidFill>
            <a:srgbClr val="D6544D"/>
          </a:solidFill>
          <a:ln/>
        </p:spPr>
      </p:sp>
      <p:sp>
        <p:nvSpPr>
          <p:cNvPr id="94" name="Text 92"/>
          <p:cNvSpPr/>
          <p:nvPr/>
        </p:nvSpPr>
        <p:spPr>
          <a:xfrm>
            <a:off x="493776" y="6876288"/>
            <a:ext cx="1697736" cy="347472"/>
          </a:xfrm>
          <a:prstGeom prst="rect">
            <a:avLst/>
          </a:prstGeom>
          <a:noFill/>
          <a:ln/>
        </p:spPr>
        <p:txBody>
          <a:bodyPr wrap="square" lIns="0" tIns="0" rIns="0" bIns="0" rtlCol="0" anchor="t"/>
          <a:lstStyle/>
          <a:p>
            <a:pPr indent="0" marL="0">
              <a:lnSpc>
                <a:spcPct val="92000"/>
              </a:lnSpc>
              <a:buNone/>
            </a:pPr>
            <a:r>
              <a:rPr lang="en-US" sz="690" b="1" dirty="0">
                <a:solidFill>
                  <a:srgbClr val="183B39"/>
                </a:solidFill>
                <a:latin typeface="Calibri" pitchFamily="34" charset="0"/>
                <a:ea typeface="Calibri" pitchFamily="34" charset="-122"/>
                <a:cs typeface="Calibri" pitchFamily="34" charset="-120"/>
              </a:rPr>
              <a:t>Halt Reliance loading below 65% conversion.</a:t>
            </a:r>
            <a:endParaRPr lang="en-US" sz="690" dirty="0"/>
          </a:p>
        </p:txBody>
      </p:sp>
      <p:sp>
        <p:nvSpPr>
          <p:cNvPr id="95" name="Shape 93"/>
          <p:cNvSpPr/>
          <p:nvPr/>
        </p:nvSpPr>
        <p:spPr>
          <a:xfrm>
            <a:off x="374904" y="7292340"/>
            <a:ext cx="50292" cy="50292"/>
          </a:xfrm>
          <a:prstGeom prst="ellipse">
            <a:avLst/>
          </a:prstGeom>
          <a:solidFill>
            <a:srgbClr val="D6544D"/>
          </a:solidFill>
          <a:ln/>
        </p:spPr>
      </p:sp>
      <p:sp>
        <p:nvSpPr>
          <p:cNvPr id="96" name="Text 94"/>
          <p:cNvSpPr/>
          <p:nvPr/>
        </p:nvSpPr>
        <p:spPr>
          <a:xfrm>
            <a:off x="493776" y="7242048"/>
            <a:ext cx="1697736"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Cap North and East primary at trailing offtake.</a:t>
            </a:r>
            <a:endParaRPr lang="en-US" sz="690" dirty="0"/>
          </a:p>
        </p:txBody>
      </p:sp>
      <p:sp>
        <p:nvSpPr>
          <p:cNvPr id="97" name="Shape 95"/>
          <p:cNvSpPr/>
          <p:nvPr/>
        </p:nvSpPr>
        <p:spPr>
          <a:xfrm>
            <a:off x="374904" y="7658100"/>
            <a:ext cx="50292" cy="50292"/>
          </a:xfrm>
          <a:prstGeom prst="ellipse">
            <a:avLst/>
          </a:prstGeom>
          <a:solidFill>
            <a:srgbClr val="D6544D"/>
          </a:solidFill>
          <a:ln/>
        </p:spPr>
      </p:sp>
      <p:sp>
        <p:nvSpPr>
          <p:cNvPr id="98" name="Text 96"/>
          <p:cNvSpPr/>
          <p:nvPr/>
        </p:nvSpPr>
        <p:spPr>
          <a:xfrm>
            <a:off x="493776" y="7607808"/>
            <a:ext cx="1697736"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Close the three primary-mapping gaps.</a:t>
            </a:r>
            <a:endParaRPr lang="en-US" sz="690" dirty="0"/>
          </a:p>
        </p:txBody>
      </p:sp>
      <p:sp>
        <p:nvSpPr>
          <p:cNvPr id="99" name="Shape 97"/>
          <p:cNvSpPr/>
          <p:nvPr/>
        </p:nvSpPr>
        <p:spPr>
          <a:xfrm>
            <a:off x="374904" y="8023860"/>
            <a:ext cx="50292" cy="50292"/>
          </a:xfrm>
          <a:prstGeom prst="ellipse">
            <a:avLst/>
          </a:prstGeom>
          <a:solidFill>
            <a:srgbClr val="D6544D"/>
          </a:solidFill>
          <a:ln/>
        </p:spPr>
      </p:sp>
      <p:sp>
        <p:nvSpPr>
          <p:cNvPr id="100" name="Text 98"/>
          <p:cNvSpPr/>
          <p:nvPr/>
        </p:nvSpPr>
        <p:spPr>
          <a:xfrm>
            <a:off x="493776" y="7973568"/>
            <a:ext cx="1697736"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Publish the first exception list.</a:t>
            </a:r>
            <a:endParaRPr lang="en-US" sz="690" dirty="0"/>
          </a:p>
        </p:txBody>
      </p:sp>
      <p:sp>
        <p:nvSpPr>
          <p:cNvPr id="101" name="Shape 99"/>
          <p:cNvSpPr/>
          <p:nvPr/>
        </p:nvSpPr>
        <p:spPr>
          <a:xfrm>
            <a:off x="2410968" y="6144768"/>
            <a:ext cx="2036064" cy="2267712"/>
          </a:xfrm>
          <a:prstGeom prst="roundRect">
            <a:avLst>
              <a:gd name="adj" fmla="val 898"/>
            </a:avLst>
          </a:prstGeom>
          <a:solidFill>
            <a:srgbClr val="FFFFFF"/>
          </a:solidFill>
          <a:ln w="9525">
            <a:solidFill>
              <a:srgbClr val="C8DCD7"/>
            </a:solidFill>
            <a:prstDash val="solid"/>
          </a:ln>
        </p:spPr>
      </p:sp>
      <p:sp>
        <p:nvSpPr>
          <p:cNvPr id="102" name="Shape 100"/>
          <p:cNvSpPr/>
          <p:nvPr/>
        </p:nvSpPr>
        <p:spPr>
          <a:xfrm>
            <a:off x="2410968" y="6144768"/>
            <a:ext cx="2036064" cy="274320"/>
          </a:xfrm>
          <a:prstGeom prst="rect">
            <a:avLst/>
          </a:prstGeom>
          <a:solidFill>
            <a:srgbClr val="F2B84B"/>
          </a:solidFill>
          <a:ln/>
        </p:spPr>
      </p:sp>
      <p:sp>
        <p:nvSpPr>
          <p:cNvPr id="103" name="Text 101"/>
          <p:cNvSpPr/>
          <p:nvPr/>
        </p:nvSpPr>
        <p:spPr>
          <a:xfrm>
            <a:off x="2493264" y="6163056"/>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31–60 DAYS</a:t>
            </a:r>
            <a:endParaRPr lang="en-US" sz="700" dirty="0"/>
          </a:p>
        </p:txBody>
      </p:sp>
      <p:sp>
        <p:nvSpPr>
          <p:cNvPr id="104" name="Text 102"/>
          <p:cNvSpPr/>
          <p:nvPr/>
        </p:nvSpPr>
        <p:spPr>
          <a:xfrm>
            <a:off x="2502408" y="6510528"/>
            <a:ext cx="1853184" cy="274320"/>
          </a:xfrm>
          <a:prstGeom prst="rect">
            <a:avLst/>
          </a:prstGeom>
          <a:noFill/>
          <a:ln/>
        </p:spPr>
        <p:txBody>
          <a:bodyPr wrap="square" lIns="0" tIns="0" rIns="0" bIns="0" rtlCol="0" anchor="t"/>
          <a:lstStyle/>
          <a:p>
            <a:pPr algn="ctr" indent="0" marL="0">
              <a:buNone/>
            </a:pPr>
            <a:r>
              <a:rPr lang="en-US" sz="1150" b="1" dirty="0">
                <a:solidFill>
                  <a:srgbClr val="F2B84B"/>
                </a:solidFill>
                <a:latin typeface="Calibri Light" pitchFamily="34" charset="0"/>
                <a:ea typeface="Calibri Light" pitchFamily="34" charset="-122"/>
                <a:cs typeface="Calibri Light" pitchFamily="34" charset="-120"/>
              </a:rPr>
              <a:t>Prove the fix</a:t>
            </a:r>
            <a:endParaRPr lang="en-US" sz="1150" dirty="0"/>
          </a:p>
        </p:txBody>
      </p:sp>
      <p:sp>
        <p:nvSpPr>
          <p:cNvPr id="105" name="Shape 103"/>
          <p:cNvSpPr/>
          <p:nvPr/>
        </p:nvSpPr>
        <p:spPr>
          <a:xfrm>
            <a:off x="2520696" y="6926580"/>
            <a:ext cx="50292" cy="50292"/>
          </a:xfrm>
          <a:prstGeom prst="ellipse">
            <a:avLst/>
          </a:prstGeom>
          <a:solidFill>
            <a:srgbClr val="F2B84B"/>
          </a:solidFill>
          <a:ln/>
        </p:spPr>
      </p:sp>
      <p:sp>
        <p:nvSpPr>
          <p:cNvPr id="106" name="Text 104"/>
          <p:cNvSpPr/>
          <p:nvPr/>
        </p:nvSpPr>
        <p:spPr>
          <a:xfrm>
            <a:off x="2639568" y="6876288"/>
            <a:ext cx="1697736" cy="347472"/>
          </a:xfrm>
          <a:prstGeom prst="rect">
            <a:avLst/>
          </a:prstGeom>
          <a:noFill/>
          <a:ln/>
        </p:spPr>
        <p:txBody>
          <a:bodyPr wrap="square" lIns="0" tIns="0" rIns="0" bIns="0" rtlCol="0" anchor="t"/>
          <a:lstStyle/>
          <a:p>
            <a:pPr indent="0" marL="0">
              <a:lnSpc>
                <a:spcPct val="92000"/>
              </a:lnSpc>
              <a:buNone/>
            </a:pPr>
            <a:r>
              <a:rPr lang="en-US" sz="690" b="1" dirty="0">
                <a:solidFill>
                  <a:srgbClr val="183B39"/>
                </a:solidFill>
                <a:latin typeface="Calibri" pitchFamily="34" charset="0"/>
                <a:ea typeface="Calibri" pitchFamily="34" charset="-122"/>
                <a:cs typeface="Calibri" pitchFamily="34" charset="-120"/>
              </a:rPr>
              <a:t>Score accounts against the Apollo cadence template.</a:t>
            </a:r>
            <a:endParaRPr lang="en-US" sz="690" dirty="0"/>
          </a:p>
        </p:txBody>
      </p:sp>
      <p:sp>
        <p:nvSpPr>
          <p:cNvPr id="107" name="Shape 105"/>
          <p:cNvSpPr/>
          <p:nvPr/>
        </p:nvSpPr>
        <p:spPr>
          <a:xfrm>
            <a:off x="2520696" y="7292340"/>
            <a:ext cx="50292" cy="50292"/>
          </a:xfrm>
          <a:prstGeom prst="ellipse">
            <a:avLst/>
          </a:prstGeom>
          <a:solidFill>
            <a:srgbClr val="F2B84B"/>
          </a:solidFill>
          <a:ln/>
        </p:spPr>
      </p:sp>
      <p:sp>
        <p:nvSpPr>
          <p:cNvPr id="108" name="Text 106"/>
          <p:cNvSpPr/>
          <p:nvPr/>
        </p:nvSpPr>
        <p:spPr>
          <a:xfrm>
            <a:off x="2639568" y="7242048"/>
            <a:ext cx="1697736"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Run the South-1 shampoo rate pilot.</a:t>
            </a:r>
            <a:endParaRPr lang="en-US" sz="690" dirty="0"/>
          </a:p>
        </p:txBody>
      </p:sp>
      <p:sp>
        <p:nvSpPr>
          <p:cNvPr id="109" name="Shape 107"/>
          <p:cNvSpPr/>
          <p:nvPr/>
        </p:nvSpPr>
        <p:spPr>
          <a:xfrm>
            <a:off x="2520696" y="7658100"/>
            <a:ext cx="50292" cy="50292"/>
          </a:xfrm>
          <a:prstGeom prst="ellipse">
            <a:avLst/>
          </a:prstGeom>
          <a:solidFill>
            <a:srgbClr val="F2B84B"/>
          </a:solidFill>
          <a:ln/>
        </p:spPr>
      </p:sp>
      <p:sp>
        <p:nvSpPr>
          <p:cNvPr id="110" name="Text 108"/>
          <p:cNvSpPr/>
          <p:nvPr/>
        </p:nvSpPr>
        <p:spPr>
          <a:xfrm>
            <a:off x="2639568" y="7607808"/>
            <a:ext cx="1697736"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Size distribution white space in ₹ using stores × PDO.</a:t>
            </a:r>
            <a:endParaRPr lang="en-US" sz="690" dirty="0"/>
          </a:p>
        </p:txBody>
      </p:sp>
      <p:sp>
        <p:nvSpPr>
          <p:cNvPr id="111" name="Shape 109"/>
          <p:cNvSpPr/>
          <p:nvPr/>
        </p:nvSpPr>
        <p:spPr>
          <a:xfrm>
            <a:off x="2520696" y="8023860"/>
            <a:ext cx="50292" cy="50292"/>
          </a:xfrm>
          <a:prstGeom prst="ellipse">
            <a:avLst/>
          </a:prstGeom>
          <a:solidFill>
            <a:srgbClr val="F2B84B"/>
          </a:solidFill>
          <a:ln/>
        </p:spPr>
      </p:sp>
      <p:sp>
        <p:nvSpPr>
          <p:cNvPr id="112" name="Text 110"/>
          <p:cNvSpPr/>
          <p:nvPr/>
        </p:nvSpPr>
        <p:spPr>
          <a:xfrm>
            <a:off x="2639568" y="7973568"/>
            <a:ext cx="1697736"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Test the FSN delisting hypothesis.</a:t>
            </a:r>
            <a:endParaRPr lang="en-US" sz="690" dirty="0"/>
          </a:p>
        </p:txBody>
      </p:sp>
      <p:sp>
        <p:nvSpPr>
          <p:cNvPr id="113" name="Shape 111"/>
          <p:cNvSpPr/>
          <p:nvPr/>
        </p:nvSpPr>
        <p:spPr>
          <a:xfrm>
            <a:off x="4556760" y="6144768"/>
            <a:ext cx="2036064" cy="2267712"/>
          </a:xfrm>
          <a:prstGeom prst="roundRect">
            <a:avLst>
              <a:gd name="adj" fmla="val 898"/>
            </a:avLst>
          </a:prstGeom>
          <a:solidFill>
            <a:srgbClr val="FFFFFF"/>
          </a:solidFill>
          <a:ln w="9525">
            <a:solidFill>
              <a:srgbClr val="C8DCD7"/>
            </a:solidFill>
            <a:prstDash val="solid"/>
          </a:ln>
        </p:spPr>
      </p:sp>
      <p:sp>
        <p:nvSpPr>
          <p:cNvPr id="114" name="Shape 112"/>
          <p:cNvSpPr/>
          <p:nvPr/>
        </p:nvSpPr>
        <p:spPr>
          <a:xfrm>
            <a:off x="4556760" y="6144768"/>
            <a:ext cx="2036064" cy="274320"/>
          </a:xfrm>
          <a:prstGeom prst="rect">
            <a:avLst/>
          </a:prstGeom>
          <a:solidFill>
            <a:srgbClr val="2B9A66"/>
          </a:solidFill>
          <a:ln/>
        </p:spPr>
      </p:sp>
      <p:sp>
        <p:nvSpPr>
          <p:cNvPr id="115" name="Text 113"/>
          <p:cNvSpPr/>
          <p:nvPr/>
        </p:nvSpPr>
        <p:spPr>
          <a:xfrm>
            <a:off x="4639056" y="6163056"/>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61–90 DAYS</a:t>
            </a:r>
            <a:endParaRPr lang="en-US" sz="700" dirty="0"/>
          </a:p>
        </p:txBody>
      </p:sp>
      <p:sp>
        <p:nvSpPr>
          <p:cNvPr id="116" name="Text 114"/>
          <p:cNvSpPr/>
          <p:nvPr/>
        </p:nvSpPr>
        <p:spPr>
          <a:xfrm>
            <a:off x="4648200" y="6510528"/>
            <a:ext cx="1853184" cy="274320"/>
          </a:xfrm>
          <a:prstGeom prst="rect">
            <a:avLst/>
          </a:prstGeom>
          <a:noFill/>
          <a:ln/>
        </p:spPr>
        <p:txBody>
          <a:bodyPr wrap="square" lIns="0" tIns="0" rIns="0" bIns="0" rtlCol="0" anchor="t"/>
          <a:lstStyle/>
          <a:p>
            <a:pPr algn="ctr" indent="0" marL="0">
              <a:buNone/>
            </a:pPr>
            <a:r>
              <a:rPr lang="en-US" sz="1150" b="1" dirty="0">
                <a:solidFill>
                  <a:srgbClr val="2B9A66"/>
                </a:solidFill>
                <a:latin typeface="Calibri Light" pitchFamily="34" charset="0"/>
                <a:ea typeface="Calibri Light" pitchFamily="34" charset="-122"/>
                <a:cs typeface="Calibri Light" pitchFamily="34" charset="-120"/>
              </a:rPr>
              <a:t>Lock it in</a:t>
            </a:r>
            <a:endParaRPr lang="en-US" sz="1150" dirty="0"/>
          </a:p>
        </p:txBody>
      </p:sp>
      <p:sp>
        <p:nvSpPr>
          <p:cNvPr id="117" name="Shape 115"/>
          <p:cNvSpPr/>
          <p:nvPr/>
        </p:nvSpPr>
        <p:spPr>
          <a:xfrm>
            <a:off x="4666488" y="6926580"/>
            <a:ext cx="50292" cy="50292"/>
          </a:xfrm>
          <a:prstGeom prst="ellipse">
            <a:avLst/>
          </a:prstGeom>
          <a:solidFill>
            <a:srgbClr val="2B9A66"/>
          </a:solidFill>
          <a:ln/>
        </p:spPr>
      </p:sp>
      <p:sp>
        <p:nvSpPr>
          <p:cNvPr id="118" name="Text 116"/>
          <p:cNvSpPr/>
          <p:nvPr/>
        </p:nvSpPr>
        <p:spPr>
          <a:xfrm>
            <a:off x="4785360" y="6876288"/>
            <a:ext cx="1697736" cy="347472"/>
          </a:xfrm>
          <a:prstGeom prst="rect">
            <a:avLst/>
          </a:prstGeom>
          <a:noFill/>
          <a:ln/>
        </p:spPr>
        <p:txBody>
          <a:bodyPr wrap="square" lIns="0" tIns="0" rIns="0" bIns="0" rtlCol="0" anchor="t"/>
          <a:lstStyle/>
          <a:p>
            <a:pPr indent="0" marL="0">
              <a:lnSpc>
                <a:spcPct val="92000"/>
              </a:lnSpc>
              <a:buNone/>
            </a:pPr>
            <a:r>
              <a:rPr lang="en-US" sz="690" b="1" dirty="0">
                <a:solidFill>
                  <a:srgbClr val="183B39"/>
                </a:solidFill>
                <a:latin typeface="Calibri" pitchFamily="34" charset="0"/>
                <a:ea typeface="Calibri" pitchFamily="34" charset="-122"/>
                <a:cs typeface="Calibri" pitchFamily="34" charset="-120"/>
              </a:rPr>
              <a:t>Reset loading rules by verified conversion.</a:t>
            </a:r>
            <a:endParaRPr lang="en-US" sz="690" dirty="0"/>
          </a:p>
        </p:txBody>
      </p:sp>
      <p:sp>
        <p:nvSpPr>
          <p:cNvPr id="119" name="Shape 117"/>
          <p:cNvSpPr/>
          <p:nvPr/>
        </p:nvSpPr>
        <p:spPr>
          <a:xfrm>
            <a:off x="4666488" y="7292340"/>
            <a:ext cx="50292" cy="50292"/>
          </a:xfrm>
          <a:prstGeom prst="ellipse">
            <a:avLst/>
          </a:prstGeom>
          <a:solidFill>
            <a:srgbClr val="2B9A66"/>
          </a:solidFill>
          <a:ln/>
        </p:spPr>
      </p:sp>
      <p:sp>
        <p:nvSpPr>
          <p:cNvPr id="120" name="Text 118"/>
          <p:cNvSpPr/>
          <p:nvPr/>
        </p:nvSpPr>
        <p:spPr>
          <a:xfrm>
            <a:off x="4785360" y="7242048"/>
            <a:ext cx="1697736"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Rationalise dead and low-productivity packs.</a:t>
            </a:r>
            <a:endParaRPr lang="en-US" sz="690" dirty="0"/>
          </a:p>
        </p:txBody>
      </p:sp>
      <p:sp>
        <p:nvSpPr>
          <p:cNvPr id="121" name="Shape 119"/>
          <p:cNvSpPr/>
          <p:nvPr/>
        </p:nvSpPr>
        <p:spPr>
          <a:xfrm>
            <a:off x="4666488" y="7658100"/>
            <a:ext cx="50292" cy="50292"/>
          </a:xfrm>
          <a:prstGeom prst="ellipse">
            <a:avLst/>
          </a:prstGeom>
          <a:solidFill>
            <a:srgbClr val="2B9A66"/>
          </a:solidFill>
          <a:ln/>
        </p:spPr>
      </p:sp>
      <p:sp>
        <p:nvSpPr>
          <p:cNvPr id="122" name="Text 120"/>
          <p:cNvSpPr/>
          <p:nvPr/>
        </p:nvSpPr>
        <p:spPr>
          <a:xfrm>
            <a:off x="4785360" y="7607808"/>
            <a:ext cx="1697736"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Scale only what offtake has proven.</a:t>
            </a:r>
            <a:endParaRPr lang="en-US" sz="690" dirty="0"/>
          </a:p>
        </p:txBody>
      </p:sp>
      <p:sp>
        <p:nvSpPr>
          <p:cNvPr id="123" name="Shape 121"/>
          <p:cNvSpPr/>
          <p:nvPr/>
        </p:nvSpPr>
        <p:spPr>
          <a:xfrm>
            <a:off x="4666488" y="8023860"/>
            <a:ext cx="50292" cy="50292"/>
          </a:xfrm>
          <a:prstGeom prst="ellipse">
            <a:avLst/>
          </a:prstGeom>
          <a:solidFill>
            <a:srgbClr val="2B9A66"/>
          </a:solidFill>
          <a:ln/>
        </p:spPr>
      </p:sp>
      <p:sp>
        <p:nvSpPr>
          <p:cNvPr id="124" name="Text 122"/>
          <p:cNvSpPr/>
          <p:nvPr/>
        </p:nvSpPr>
        <p:spPr>
          <a:xfrm>
            <a:off x="4785360" y="7973568"/>
            <a:ext cx="1697736"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Embed weekly owner and action receipts.</a:t>
            </a:r>
            <a:endParaRPr lang="en-US" sz="690" dirty="0"/>
          </a:p>
        </p:txBody>
      </p:sp>
      <p:sp>
        <p:nvSpPr>
          <p:cNvPr id="125" name="Shape 123"/>
          <p:cNvSpPr/>
          <p:nvPr/>
        </p:nvSpPr>
        <p:spPr>
          <a:xfrm>
            <a:off x="265176" y="8558784"/>
            <a:ext cx="6327648" cy="256032"/>
          </a:xfrm>
          <a:prstGeom prst="rect">
            <a:avLst/>
          </a:prstGeom>
          <a:solidFill>
            <a:srgbClr val="116F68"/>
          </a:solidFill>
          <a:ln/>
        </p:spPr>
      </p:sp>
      <p:sp>
        <p:nvSpPr>
          <p:cNvPr id="126" name="Text 124"/>
          <p:cNvSpPr/>
          <p:nvPr/>
        </p:nvSpPr>
        <p:spPr>
          <a:xfrm>
            <a:off x="374904" y="8577072"/>
            <a:ext cx="6108192" cy="219456"/>
          </a:xfrm>
          <a:prstGeom prst="rect">
            <a:avLst/>
          </a:prstGeom>
          <a:noFill/>
          <a:ln/>
        </p:spPr>
        <p:txBody>
          <a:bodyPr wrap="square" lIns="0" tIns="0" rIns="0" bIns="0" rtlCol="0" anchor="ctr"/>
          <a:lstStyle/>
          <a:p>
            <a:pPr indent="0" marL="0">
              <a:buNone/>
            </a:pPr>
            <a:r>
              <a:rPr lang="en-US" sz="720" b="1" spc="60" kern="0" dirty="0">
                <a:solidFill>
                  <a:srgbClr val="FFFFFF"/>
                </a:solidFill>
                <a:latin typeface="Calibri" pitchFamily="34" charset="0"/>
                <a:ea typeface="Calibri" pitchFamily="34" charset="-122"/>
                <a:cs typeface="Calibri" pitchFamily="34" charset="-120"/>
              </a:rPr>
              <a:t>WEEKLY MANAGEMENT SCOREBOARD</a:t>
            </a:r>
            <a:endParaRPr lang="en-US" sz="720" dirty="0"/>
          </a:p>
        </p:txBody>
      </p:sp>
      <p:sp>
        <p:nvSpPr>
          <p:cNvPr id="127" name="Shape 125"/>
          <p:cNvSpPr/>
          <p:nvPr/>
        </p:nvSpPr>
        <p:spPr>
          <a:xfrm>
            <a:off x="265176" y="8906256"/>
            <a:ext cx="6327648" cy="256032"/>
          </a:xfrm>
          <a:prstGeom prst="rect">
            <a:avLst/>
          </a:prstGeom>
          <a:solidFill>
            <a:srgbClr val="116F68"/>
          </a:solidFill>
          <a:ln/>
        </p:spPr>
      </p:sp>
      <p:sp>
        <p:nvSpPr>
          <p:cNvPr id="128" name="Text 126"/>
          <p:cNvSpPr/>
          <p:nvPr/>
        </p:nvSpPr>
        <p:spPr>
          <a:xfrm>
            <a:off x="320040" y="8924544"/>
            <a:ext cx="2143955" cy="219456"/>
          </a:xfrm>
          <a:prstGeom prst="rect">
            <a:avLst/>
          </a:prstGeom>
          <a:noFill/>
          <a:ln/>
        </p:spPr>
        <p:txBody>
          <a:bodyPr wrap="square" lIns="0" tIns="0" rIns="0" bIns="0" rtlCol="0" anchor="ctr"/>
          <a:lstStyle/>
          <a:p>
            <a:pPr algn="l" indent="0" marL="0">
              <a:buNone/>
            </a:pPr>
            <a:r>
              <a:rPr lang="en-US" sz="660" b="1" spc="40" kern="0" dirty="0">
                <a:solidFill>
                  <a:srgbClr val="FFFFFF"/>
                </a:solidFill>
                <a:latin typeface="Calibri" pitchFamily="34" charset="0"/>
                <a:ea typeface="Calibri" pitchFamily="34" charset="-122"/>
                <a:cs typeface="Calibri" pitchFamily="34" charset="-120"/>
              </a:rPr>
              <a:t>MEASURE</a:t>
            </a:r>
            <a:endParaRPr lang="en-US" sz="660" dirty="0"/>
          </a:p>
        </p:txBody>
      </p:sp>
      <p:sp>
        <p:nvSpPr>
          <p:cNvPr id="129" name="Text 127"/>
          <p:cNvSpPr/>
          <p:nvPr/>
        </p:nvSpPr>
        <p:spPr>
          <a:xfrm>
            <a:off x="2573723" y="8924544"/>
            <a:ext cx="1277154"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TARGET</a:t>
            </a:r>
            <a:endParaRPr lang="en-US" sz="660" dirty="0"/>
          </a:p>
        </p:txBody>
      </p:sp>
      <p:sp>
        <p:nvSpPr>
          <p:cNvPr id="130" name="Text 128"/>
          <p:cNvSpPr/>
          <p:nvPr/>
        </p:nvSpPr>
        <p:spPr>
          <a:xfrm>
            <a:off x="3960605" y="8924544"/>
            <a:ext cx="1363834" cy="219456"/>
          </a:xfrm>
          <a:prstGeom prst="rect">
            <a:avLst/>
          </a:prstGeom>
          <a:noFill/>
          <a:ln/>
        </p:spPr>
        <p:txBody>
          <a:bodyPr wrap="square" lIns="0" tIns="0" rIns="0" bIns="0" rtlCol="0" anchor="ctr"/>
          <a:lstStyle/>
          <a:p>
            <a:pPr algn="l" indent="0" marL="0">
              <a:buNone/>
            </a:pPr>
            <a:r>
              <a:rPr lang="en-US" sz="660" b="1" spc="40" kern="0" dirty="0">
                <a:solidFill>
                  <a:srgbClr val="FFFFFF"/>
                </a:solidFill>
                <a:latin typeface="Calibri" pitchFamily="34" charset="0"/>
                <a:ea typeface="Calibri" pitchFamily="34" charset="-122"/>
                <a:cs typeface="Calibri" pitchFamily="34" charset="-120"/>
              </a:rPr>
              <a:t>OWNER</a:t>
            </a:r>
            <a:endParaRPr lang="en-US" sz="660" dirty="0"/>
          </a:p>
        </p:txBody>
      </p:sp>
      <p:sp>
        <p:nvSpPr>
          <p:cNvPr id="131" name="Text 129"/>
          <p:cNvSpPr/>
          <p:nvPr/>
        </p:nvSpPr>
        <p:spPr>
          <a:xfrm>
            <a:off x="5434166" y="8924544"/>
            <a:ext cx="1103794"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STATUS AT JULY</a:t>
            </a:r>
            <a:endParaRPr lang="en-US" sz="660" dirty="0"/>
          </a:p>
        </p:txBody>
      </p:sp>
      <p:sp>
        <p:nvSpPr>
          <p:cNvPr id="132" name="Shape 130"/>
          <p:cNvSpPr/>
          <p:nvPr/>
        </p:nvSpPr>
        <p:spPr>
          <a:xfrm>
            <a:off x="265176" y="9162288"/>
            <a:ext cx="6327648" cy="329184"/>
          </a:xfrm>
          <a:prstGeom prst="rect">
            <a:avLst/>
          </a:prstGeom>
          <a:solidFill>
            <a:srgbClr val="F4F9F8"/>
          </a:solidFill>
          <a:ln/>
        </p:spPr>
      </p:sp>
      <p:sp>
        <p:nvSpPr>
          <p:cNvPr id="133" name="Shape 131"/>
          <p:cNvSpPr/>
          <p:nvPr/>
        </p:nvSpPr>
        <p:spPr>
          <a:xfrm>
            <a:off x="265176" y="9491472"/>
            <a:ext cx="6327648" cy="0"/>
          </a:xfrm>
          <a:prstGeom prst="line">
            <a:avLst/>
          </a:prstGeom>
          <a:noFill/>
          <a:ln w="6350">
            <a:solidFill>
              <a:srgbClr val="C8DCD7"/>
            </a:solidFill>
            <a:prstDash val="solid"/>
          </a:ln>
        </p:spPr>
      </p:sp>
      <p:sp>
        <p:nvSpPr>
          <p:cNvPr id="134" name="Text 132"/>
          <p:cNvSpPr/>
          <p:nvPr/>
        </p:nvSpPr>
        <p:spPr>
          <a:xfrm>
            <a:off x="320040" y="9162288"/>
            <a:ext cx="2143955" cy="329184"/>
          </a:xfrm>
          <a:prstGeom prst="rect">
            <a:avLst/>
          </a:prstGeom>
          <a:noFill/>
          <a:ln/>
        </p:spPr>
        <p:txBody>
          <a:bodyPr wrap="square" lIns="0" tIns="0" rIns="0" bIns="0" rtlCol="0" anchor="ctr"/>
          <a:lstStyle/>
          <a:p>
            <a:pPr algn="l" indent="0" marL="0">
              <a:buNone/>
            </a:pPr>
            <a:r>
              <a:rPr lang="en-US" sz="720" b="1" dirty="0">
                <a:solidFill>
                  <a:srgbClr val="183B39"/>
                </a:solidFill>
                <a:latin typeface="Calibri" pitchFamily="34" charset="0"/>
                <a:ea typeface="Calibri" pitchFamily="34" charset="-122"/>
                <a:cs typeface="Calibri" pitchFamily="34" charset="-120"/>
              </a:rPr>
              <a:t>Flow conversion — the one metric</a:t>
            </a:r>
            <a:endParaRPr lang="en-US" sz="720" dirty="0"/>
          </a:p>
        </p:txBody>
      </p:sp>
      <p:sp>
        <p:nvSpPr>
          <p:cNvPr id="135" name="Text 133"/>
          <p:cNvSpPr/>
          <p:nvPr/>
        </p:nvSpPr>
        <p:spPr>
          <a:xfrm>
            <a:off x="2573723" y="9162288"/>
            <a:ext cx="1277154" cy="329184"/>
          </a:xfrm>
          <a:prstGeom prst="rect">
            <a:avLst/>
          </a:prstGeom>
          <a:noFill/>
          <a:ln/>
        </p:spPr>
        <p:txBody>
          <a:bodyPr wrap="square" lIns="0" tIns="0" rIns="0" bIns="0" rtlCol="0" anchor="ctr"/>
          <a:lstStyle/>
          <a:p>
            <a:pPr algn="r" indent="0" marL="0">
              <a:buNone/>
            </a:pPr>
            <a:r>
              <a:rPr lang="en-US" sz="720" b="1" dirty="0">
                <a:solidFill>
                  <a:srgbClr val="2B9A66"/>
                </a:solidFill>
                <a:latin typeface="Calibri" pitchFamily="34" charset="0"/>
                <a:ea typeface="Calibri" pitchFamily="34" charset="-122"/>
                <a:cs typeface="Calibri" pitchFamily="34" charset="-120"/>
              </a:rPr>
              <a:t>above 85%</a:t>
            </a:r>
            <a:endParaRPr lang="en-US" sz="720" dirty="0"/>
          </a:p>
        </p:txBody>
      </p:sp>
      <p:sp>
        <p:nvSpPr>
          <p:cNvPr id="136" name="Text 134"/>
          <p:cNvSpPr/>
          <p:nvPr/>
        </p:nvSpPr>
        <p:spPr>
          <a:xfrm>
            <a:off x="3960605" y="9162288"/>
            <a:ext cx="1363834" cy="329184"/>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Sales lead</a:t>
            </a:r>
            <a:endParaRPr lang="en-US" sz="720" dirty="0"/>
          </a:p>
        </p:txBody>
      </p:sp>
      <p:sp>
        <p:nvSpPr>
          <p:cNvPr id="137" name="Text 135"/>
          <p:cNvSpPr/>
          <p:nvPr/>
        </p:nvSpPr>
        <p:spPr>
          <a:xfrm>
            <a:off x="5434166" y="9162288"/>
            <a:ext cx="1103794" cy="329184"/>
          </a:xfrm>
          <a:prstGeom prst="rect">
            <a:avLst/>
          </a:prstGeom>
          <a:noFill/>
          <a:ln/>
        </p:spPr>
        <p:txBody>
          <a:bodyPr wrap="square" lIns="0" tIns="0" rIns="0" bIns="0" rtlCol="0" anchor="ctr"/>
          <a:lstStyle/>
          <a:p>
            <a:pPr algn="r" indent="0" marL="0">
              <a:buNone/>
            </a:pPr>
            <a:r>
              <a:rPr lang="en-US" sz="720" dirty="0">
                <a:solidFill>
                  <a:srgbClr val="D6544D"/>
                </a:solidFill>
                <a:latin typeface="Calibri" pitchFamily="34" charset="0"/>
                <a:ea typeface="Calibri" pitchFamily="34" charset="-122"/>
                <a:cs typeface="Calibri" pitchFamily="34" charset="-120"/>
              </a:rPr>
              <a:t>73.4%</a:t>
            </a:r>
            <a:endParaRPr lang="en-US" sz="720" dirty="0"/>
          </a:p>
        </p:txBody>
      </p:sp>
      <p:sp>
        <p:nvSpPr>
          <p:cNvPr id="138" name="Shape 136"/>
          <p:cNvSpPr/>
          <p:nvPr/>
        </p:nvSpPr>
        <p:spPr>
          <a:xfrm>
            <a:off x="265176" y="9820656"/>
            <a:ext cx="6327648" cy="0"/>
          </a:xfrm>
          <a:prstGeom prst="line">
            <a:avLst/>
          </a:prstGeom>
          <a:noFill/>
          <a:ln w="6350">
            <a:solidFill>
              <a:srgbClr val="C8DCD7"/>
            </a:solidFill>
            <a:prstDash val="solid"/>
          </a:ln>
        </p:spPr>
      </p:sp>
      <p:sp>
        <p:nvSpPr>
          <p:cNvPr id="139" name="Text 137"/>
          <p:cNvSpPr/>
          <p:nvPr/>
        </p:nvSpPr>
        <p:spPr>
          <a:xfrm>
            <a:off x="320040" y="9491472"/>
            <a:ext cx="2143955" cy="329184"/>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North gap vs benchmark</a:t>
            </a:r>
            <a:endParaRPr lang="en-US" sz="720" dirty="0"/>
          </a:p>
        </p:txBody>
      </p:sp>
      <p:sp>
        <p:nvSpPr>
          <p:cNvPr id="140" name="Text 138"/>
          <p:cNvSpPr/>
          <p:nvPr/>
        </p:nvSpPr>
        <p:spPr>
          <a:xfrm>
            <a:off x="2573723" y="9491472"/>
            <a:ext cx="1277154" cy="329184"/>
          </a:xfrm>
          <a:prstGeom prst="rect">
            <a:avLst/>
          </a:prstGeom>
          <a:noFill/>
          <a:ln/>
        </p:spPr>
        <p:txBody>
          <a:bodyPr wrap="square" lIns="0" tIns="0" rIns="0" bIns="0" rtlCol="0" anchor="ctr"/>
          <a:lstStyle/>
          <a:p>
            <a:pPr algn="r" indent="0" marL="0">
              <a:buNone/>
            </a:pPr>
            <a:r>
              <a:rPr lang="en-US" sz="720" dirty="0">
                <a:solidFill>
                  <a:srgbClr val="2B9A66"/>
                </a:solidFill>
                <a:latin typeface="Calibri" pitchFamily="34" charset="0"/>
                <a:ea typeface="Calibri" pitchFamily="34" charset="-122"/>
                <a:cs typeface="Calibri" pitchFamily="34" charset="-120"/>
              </a:rPr>
              <a:t>falling weekly</a:t>
            </a:r>
            <a:endParaRPr lang="en-US" sz="720" dirty="0"/>
          </a:p>
        </p:txBody>
      </p:sp>
      <p:sp>
        <p:nvSpPr>
          <p:cNvPr id="141" name="Text 139"/>
          <p:cNvSpPr/>
          <p:nvPr/>
        </p:nvSpPr>
        <p:spPr>
          <a:xfrm>
            <a:off x="3960605" y="9491472"/>
            <a:ext cx="1363834" cy="329184"/>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North ZSM</a:t>
            </a:r>
            <a:endParaRPr lang="en-US" sz="720" dirty="0"/>
          </a:p>
        </p:txBody>
      </p:sp>
      <p:sp>
        <p:nvSpPr>
          <p:cNvPr id="142" name="Text 140"/>
          <p:cNvSpPr/>
          <p:nvPr/>
        </p:nvSpPr>
        <p:spPr>
          <a:xfrm>
            <a:off x="5434166" y="9491472"/>
            <a:ext cx="1103794" cy="329184"/>
          </a:xfrm>
          <a:prstGeom prst="rect">
            <a:avLst/>
          </a:prstGeom>
          <a:noFill/>
          <a:ln/>
        </p:spPr>
        <p:txBody>
          <a:bodyPr wrap="square" lIns="0" tIns="0" rIns="0" bIns="0" rtlCol="0" anchor="ctr"/>
          <a:lstStyle/>
          <a:p>
            <a:pPr algn="r" indent="0" marL="0">
              <a:buNone/>
            </a:pPr>
            <a:r>
              <a:rPr lang="en-US" sz="720" dirty="0">
                <a:solidFill>
                  <a:srgbClr val="D6544D"/>
                </a:solidFill>
                <a:latin typeface="Calibri" pitchFamily="34" charset="0"/>
                <a:ea typeface="Calibri" pitchFamily="34" charset="-122"/>
                <a:cs typeface="Calibri" pitchFamily="34" charset="-120"/>
              </a:rPr>
              <a:t>−₹2.78 Cr</a:t>
            </a:r>
            <a:endParaRPr lang="en-US" sz="720" dirty="0"/>
          </a:p>
        </p:txBody>
      </p:sp>
      <p:sp>
        <p:nvSpPr>
          <p:cNvPr id="143" name="Shape 141"/>
          <p:cNvSpPr/>
          <p:nvPr/>
        </p:nvSpPr>
        <p:spPr>
          <a:xfrm>
            <a:off x="265176" y="9820656"/>
            <a:ext cx="6327648" cy="329184"/>
          </a:xfrm>
          <a:prstGeom prst="rect">
            <a:avLst/>
          </a:prstGeom>
          <a:solidFill>
            <a:srgbClr val="F4F9F8"/>
          </a:solidFill>
          <a:ln/>
        </p:spPr>
      </p:sp>
      <p:sp>
        <p:nvSpPr>
          <p:cNvPr id="144" name="Shape 142"/>
          <p:cNvSpPr/>
          <p:nvPr/>
        </p:nvSpPr>
        <p:spPr>
          <a:xfrm>
            <a:off x="265176" y="10149840"/>
            <a:ext cx="6327648" cy="0"/>
          </a:xfrm>
          <a:prstGeom prst="line">
            <a:avLst/>
          </a:prstGeom>
          <a:noFill/>
          <a:ln w="6350">
            <a:solidFill>
              <a:srgbClr val="C8DCD7"/>
            </a:solidFill>
            <a:prstDash val="solid"/>
          </a:ln>
        </p:spPr>
      </p:sp>
      <p:sp>
        <p:nvSpPr>
          <p:cNvPr id="145" name="Text 143"/>
          <p:cNvSpPr/>
          <p:nvPr/>
        </p:nvSpPr>
        <p:spPr>
          <a:xfrm>
            <a:off x="320040" y="9820656"/>
            <a:ext cx="2143955" cy="329184"/>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East gap vs benchmark</a:t>
            </a:r>
            <a:endParaRPr lang="en-US" sz="720" dirty="0"/>
          </a:p>
        </p:txBody>
      </p:sp>
      <p:sp>
        <p:nvSpPr>
          <p:cNvPr id="146" name="Text 144"/>
          <p:cNvSpPr/>
          <p:nvPr/>
        </p:nvSpPr>
        <p:spPr>
          <a:xfrm>
            <a:off x="2573723" y="9820656"/>
            <a:ext cx="1277154" cy="329184"/>
          </a:xfrm>
          <a:prstGeom prst="rect">
            <a:avLst/>
          </a:prstGeom>
          <a:noFill/>
          <a:ln/>
        </p:spPr>
        <p:txBody>
          <a:bodyPr wrap="square" lIns="0" tIns="0" rIns="0" bIns="0" rtlCol="0" anchor="ctr"/>
          <a:lstStyle/>
          <a:p>
            <a:pPr algn="r" indent="0" marL="0">
              <a:buNone/>
            </a:pPr>
            <a:r>
              <a:rPr lang="en-US" sz="720" dirty="0">
                <a:solidFill>
                  <a:srgbClr val="2B9A66"/>
                </a:solidFill>
                <a:latin typeface="Calibri" pitchFamily="34" charset="0"/>
                <a:ea typeface="Calibri" pitchFamily="34" charset="-122"/>
                <a:cs typeface="Calibri" pitchFamily="34" charset="-120"/>
              </a:rPr>
              <a:t>falling weekly</a:t>
            </a:r>
            <a:endParaRPr lang="en-US" sz="720" dirty="0"/>
          </a:p>
        </p:txBody>
      </p:sp>
      <p:sp>
        <p:nvSpPr>
          <p:cNvPr id="147" name="Text 145"/>
          <p:cNvSpPr/>
          <p:nvPr/>
        </p:nvSpPr>
        <p:spPr>
          <a:xfrm>
            <a:off x="3960605" y="9820656"/>
            <a:ext cx="1363834" cy="329184"/>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East ZSM</a:t>
            </a:r>
            <a:endParaRPr lang="en-US" sz="720" dirty="0"/>
          </a:p>
        </p:txBody>
      </p:sp>
      <p:sp>
        <p:nvSpPr>
          <p:cNvPr id="148" name="Text 146"/>
          <p:cNvSpPr/>
          <p:nvPr/>
        </p:nvSpPr>
        <p:spPr>
          <a:xfrm>
            <a:off x="5434166" y="9820656"/>
            <a:ext cx="1103794" cy="329184"/>
          </a:xfrm>
          <a:prstGeom prst="rect">
            <a:avLst/>
          </a:prstGeom>
          <a:noFill/>
          <a:ln/>
        </p:spPr>
        <p:txBody>
          <a:bodyPr wrap="square" lIns="0" tIns="0" rIns="0" bIns="0" rtlCol="0" anchor="ctr"/>
          <a:lstStyle/>
          <a:p>
            <a:pPr algn="r" indent="0" marL="0">
              <a:buNone/>
            </a:pPr>
            <a:r>
              <a:rPr lang="en-US" sz="720" dirty="0">
                <a:solidFill>
                  <a:srgbClr val="D6544D"/>
                </a:solidFill>
                <a:latin typeface="Calibri" pitchFamily="34" charset="0"/>
                <a:ea typeface="Calibri" pitchFamily="34" charset="-122"/>
                <a:cs typeface="Calibri" pitchFamily="34" charset="-120"/>
              </a:rPr>
              <a:t>−₹2.54 Cr</a:t>
            </a:r>
            <a:endParaRPr lang="en-US" sz="720" dirty="0"/>
          </a:p>
        </p:txBody>
      </p:sp>
      <p:sp>
        <p:nvSpPr>
          <p:cNvPr id="149" name="Shape 147"/>
          <p:cNvSpPr/>
          <p:nvPr/>
        </p:nvSpPr>
        <p:spPr>
          <a:xfrm>
            <a:off x="265176" y="10479024"/>
            <a:ext cx="6327648" cy="0"/>
          </a:xfrm>
          <a:prstGeom prst="line">
            <a:avLst/>
          </a:prstGeom>
          <a:noFill/>
          <a:ln w="6350">
            <a:solidFill>
              <a:srgbClr val="C8DCD7"/>
            </a:solidFill>
            <a:prstDash val="solid"/>
          </a:ln>
        </p:spPr>
      </p:sp>
      <p:sp>
        <p:nvSpPr>
          <p:cNvPr id="150" name="Text 148"/>
          <p:cNvSpPr/>
          <p:nvPr/>
        </p:nvSpPr>
        <p:spPr>
          <a:xfrm>
            <a:off x="320040" y="10149840"/>
            <a:ext cx="2143955" cy="329184"/>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Hero-SKU OSA, priority stores</a:t>
            </a:r>
            <a:endParaRPr lang="en-US" sz="720" dirty="0"/>
          </a:p>
        </p:txBody>
      </p:sp>
      <p:sp>
        <p:nvSpPr>
          <p:cNvPr id="151" name="Text 149"/>
          <p:cNvSpPr/>
          <p:nvPr/>
        </p:nvSpPr>
        <p:spPr>
          <a:xfrm>
            <a:off x="2573723" y="10149840"/>
            <a:ext cx="1277154" cy="329184"/>
          </a:xfrm>
          <a:prstGeom prst="rect">
            <a:avLst/>
          </a:prstGeom>
          <a:noFill/>
          <a:ln/>
        </p:spPr>
        <p:txBody>
          <a:bodyPr wrap="square" lIns="0" tIns="0" rIns="0" bIns="0" rtlCol="0" anchor="ctr"/>
          <a:lstStyle/>
          <a:p>
            <a:pPr algn="r" indent="0" marL="0">
              <a:buNone/>
            </a:pPr>
            <a:r>
              <a:rPr lang="en-US" sz="720" dirty="0">
                <a:solidFill>
                  <a:srgbClr val="2B9A66"/>
                </a:solidFill>
                <a:latin typeface="Calibri" pitchFamily="34" charset="0"/>
                <a:ea typeface="Calibri" pitchFamily="34" charset="-122"/>
                <a:cs typeface="Calibri" pitchFamily="34" charset="-120"/>
              </a:rPr>
              <a:t>above 95%</a:t>
            </a:r>
            <a:endParaRPr lang="en-US" sz="720" dirty="0"/>
          </a:p>
        </p:txBody>
      </p:sp>
      <p:sp>
        <p:nvSpPr>
          <p:cNvPr id="152" name="Text 150"/>
          <p:cNvSpPr/>
          <p:nvPr/>
        </p:nvSpPr>
        <p:spPr>
          <a:xfrm>
            <a:off x="3960605" y="10149840"/>
            <a:ext cx="1363834" cy="329184"/>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KAM + Supply</a:t>
            </a:r>
            <a:endParaRPr lang="en-US" sz="720" dirty="0"/>
          </a:p>
        </p:txBody>
      </p:sp>
      <p:sp>
        <p:nvSpPr>
          <p:cNvPr id="153" name="Text 151"/>
          <p:cNvSpPr/>
          <p:nvPr/>
        </p:nvSpPr>
        <p:spPr>
          <a:xfrm>
            <a:off x="5434166" y="10149840"/>
            <a:ext cx="1103794" cy="329184"/>
          </a:xfrm>
          <a:prstGeom prst="rect">
            <a:avLst/>
          </a:prstGeom>
          <a:noFill/>
          <a:ln/>
        </p:spPr>
        <p:txBody>
          <a:bodyPr wrap="square" lIns="0" tIns="0" rIns="0" bIns="0" rtlCol="0" anchor="ctr"/>
          <a:lstStyle/>
          <a:p>
            <a:pPr algn="r" indent="0" marL="0">
              <a:buNone/>
            </a:pPr>
            <a:r>
              <a:rPr lang="en-US" sz="720" dirty="0">
                <a:solidFill>
                  <a:srgbClr val="F2B84B"/>
                </a:solidFill>
                <a:latin typeface="Calibri" pitchFamily="34" charset="0"/>
                <a:ea typeface="Calibri" pitchFamily="34" charset="-122"/>
                <a:cs typeface="Calibri" pitchFamily="34" charset="-120"/>
              </a:rPr>
              <a:t>not measured</a:t>
            </a:r>
            <a:endParaRPr lang="en-US" sz="720" dirty="0"/>
          </a:p>
        </p:txBody>
      </p:sp>
      <p:sp>
        <p:nvSpPr>
          <p:cNvPr id="154" name="Shape 152"/>
          <p:cNvSpPr/>
          <p:nvPr/>
        </p:nvSpPr>
        <p:spPr>
          <a:xfrm>
            <a:off x="265176" y="10479024"/>
            <a:ext cx="6327648" cy="329184"/>
          </a:xfrm>
          <a:prstGeom prst="rect">
            <a:avLst/>
          </a:prstGeom>
          <a:solidFill>
            <a:srgbClr val="F4F9F8"/>
          </a:solidFill>
          <a:ln/>
        </p:spPr>
      </p:sp>
      <p:sp>
        <p:nvSpPr>
          <p:cNvPr id="155" name="Shape 153"/>
          <p:cNvSpPr/>
          <p:nvPr/>
        </p:nvSpPr>
        <p:spPr>
          <a:xfrm>
            <a:off x="265176" y="10808208"/>
            <a:ext cx="6327648" cy="0"/>
          </a:xfrm>
          <a:prstGeom prst="line">
            <a:avLst/>
          </a:prstGeom>
          <a:noFill/>
          <a:ln w="6350">
            <a:solidFill>
              <a:srgbClr val="C8DCD7"/>
            </a:solidFill>
            <a:prstDash val="solid"/>
          </a:ln>
        </p:spPr>
      </p:sp>
      <p:sp>
        <p:nvSpPr>
          <p:cNvPr id="156" name="Text 154"/>
          <p:cNvSpPr/>
          <p:nvPr/>
        </p:nvSpPr>
        <p:spPr>
          <a:xfrm>
            <a:off x="320040" y="10479024"/>
            <a:ext cx="2143955" cy="329184"/>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Reliance conversion</a:t>
            </a:r>
            <a:endParaRPr lang="en-US" sz="720" dirty="0"/>
          </a:p>
        </p:txBody>
      </p:sp>
      <p:sp>
        <p:nvSpPr>
          <p:cNvPr id="157" name="Text 155"/>
          <p:cNvSpPr/>
          <p:nvPr/>
        </p:nvSpPr>
        <p:spPr>
          <a:xfrm>
            <a:off x="2573723" y="10479024"/>
            <a:ext cx="1277154" cy="329184"/>
          </a:xfrm>
          <a:prstGeom prst="rect">
            <a:avLst/>
          </a:prstGeom>
          <a:noFill/>
          <a:ln/>
        </p:spPr>
        <p:txBody>
          <a:bodyPr wrap="square" lIns="0" tIns="0" rIns="0" bIns="0" rtlCol="0" anchor="ctr"/>
          <a:lstStyle/>
          <a:p>
            <a:pPr algn="r" indent="0" marL="0">
              <a:buNone/>
            </a:pPr>
            <a:r>
              <a:rPr lang="en-US" sz="720" dirty="0">
                <a:solidFill>
                  <a:srgbClr val="2B9A66"/>
                </a:solidFill>
                <a:latin typeface="Calibri" pitchFamily="34" charset="0"/>
                <a:ea typeface="Calibri" pitchFamily="34" charset="-122"/>
                <a:cs typeface="Calibri" pitchFamily="34" charset="-120"/>
              </a:rPr>
              <a:t>above 65%</a:t>
            </a:r>
            <a:endParaRPr lang="en-US" sz="720" dirty="0"/>
          </a:p>
        </p:txBody>
      </p:sp>
      <p:sp>
        <p:nvSpPr>
          <p:cNvPr id="158" name="Text 156"/>
          <p:cNvSpPr/>
          <p:nvPr/>
        </p:nvSpPr>
        <p:spPr>
          <a:xfrm>
            <a:off x="3960605" y="10479024"/>
            <a:ext cx="1363834" cy="329184"/>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NKAM Reliance</a:t>
            </a:r>
            <a:endParaRPr lang="en-US" sz="720" dirty="0"/>
          </a:p>
        </p:txBody>
      </p:sp>
      <p:sp>
        <p:nvSpPr>
          <p:cNvPr id="159" name="Text 157"/>
          <p:cNvSpPr/>
          <p:nvPr/>
        </p:nvSpPr>
        <p:spPr>
          <a:xfrm>
            <a:off x="5434166" y="10479024"/>
            <a:ext cx="1103794" cy="329184"/>
          </a:xfrm>
          <a:prstGeom prst="rect">
            <a:avLst/>
          </a:prstGeom>
          <a:noFill/>
          <a:ln/>
        </p:spPr>
        <p:txBody>
          <a:bodyPr wrap="square" lIns="0" tIns="0" rIns="0" bIns="0" rtlCol="0" anchor="ctr"/>
          <a:lstStyle/>
          <a:p>
            <a:pPr algn="r" indent="0" marL="0">
              <a:buNone/>
            </a:pPr>
            <a:r>
              <a:rPr lang="en-US" sz="720" dirty="0">
                <a:solidFill>
                  <a:srgbClr val="D6544D"/>
                </a:solidFill>
                <a:latin typeface="Calibri" pitchFamily="34" charset="0"/>
                <a:ea typeface="Calibri" pitchFamily="34" charset="-122"/>
                <a:cs typeface="Calibri" pitchFamily="34" charset="-120"/>
              </a:rPr>
              <a:t>51.4%</a:t>
            </a:r>
            <a:endParaRPr lang="en-US" sz="720" dirty="0"/>
          </a:p>
        </p:txBody>
      </p:sp>
      <p:sp>
        <p:nvSpPr>
          <p:cNvPr id="160" name="Shape 158"/>
          <p:cNvSpPr/>
          <p:nvPr/>
        </p:nvSpPr>
        <p:spPr>
          <a:xfrm>
            <a:off x="265176" y="11137392"/>
            <a:ext cx="6327648" cy="0"/>
          </a:xfrm>
          <a:prstGeom prst="line">
            <a:avLst/>
          </a:prstGeom>
          <a:noFill/>
          <a:ln w="6350">
            <a:solidFill>
              <a:srgbClr val="C8DCD7"/>
            </a:solidFill>
            <a:prstDash val="solid"/>
          </a:ln>
        </p:spPr>
      </p:sp>
      <p:sp>
        <p:nvSpPr>
          <p:cNvPr id="161" name="Text 159"/>
          <p:cNvSpPr/>
          <p:nvPr/>
        </p:nvSpPr>
        <p:spPr>
          <a:xfrm>
            <a:off x="320040" y="10808208"/>
            <a:ext cx="2143955" cy="329184"/>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Chains with unmapped primary</a:t>
            </a:r>
            <a:endParaRPr lang="en-US" sz="720" dirty="0"/>
          </a:p>
        </p:txBody>
      </p:sp>
      <p:sp>
        <p:nvSpPr>
          <p:cNvPr id="162" name="Text 160"/>
          <p:cNvSpPr/>
          <p:nvPr/>
        </p:nvSpPr>
        <p:spPr>
          <a:xfrm>
            <a:off x="2573723" y="10808208"/>
            <a:ext cx="1277154" cy="329184"/>
          </a:xfrm>
          <a:prstGeom prst="rect">
            <a:avLst/>
          </a:prstGeom>
          <a:noFill/>
          <a:ln/>
        </p:spPr>
        <p:txBody>
          <a:bodyPr wrap="square" lIns="0" tIns="0" rIns="0" bIns="0" rtlCol="0" anchor="ctr"/>
          <a:lstStyle/>
          <a:p>
            <a:pPr algn="r" indent="0" marL="0">
              <a:buNone/>
            </a:pPr>
            <a:r>
              <a:rPr lang="en-US" sz="720" dirty="0">
                <a:solidFill>
                  <a:srgbClr val="2B9A66"/>
                </a:solidFill>
                <a:latin typeface="Calibri" pitchFamily="34" charset="0"/>
                <a:ea typeface="Calibri" pitchFamily="34" charset="-122"/>
                <a:cs typeface="Calibri" pitchFamily="34" charset="-120"/>
              </a:rPr>
              <a:t>zero</a:t>
            </a:r>
            <a:endParaRPr lang="en-US" sz="720" dirty="0"/>
          </a:p>
        </p:txBody>
      </p:sp>
      <p:sp>
        <p:nvSpPr>
          <p:cNvPr id="163" name="Text 161"/>
          <p:cNvSpPr/>
          <p:nvPr/>
        </p:nvSpPr>
        <p:spPr>
          <a:xfrm>
            <a:off x="3960605" y="10808208"/>
            <a:ext cx="1363834" cy="329184"/>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Analyst</a:t>
            </a:r>
            <a:endParaRPr lang="en-US" sz="720" dirty="0"/>
          </a:p>
        </p:txBody>
      </p:sp>
      <p:sp>
        <p:nvSpPr>
          <p:cNvPr id="164" name="Text 162"/>
          <p:cNvSpPr/>
          <p:nvPr/>
        </p:nvSpPr>
        <p:spPr>
          <a:xfrm>
            <a:off x="5434166" y="10808208"/>
            <a:ext cx="1103794" cy="329184"/>
          </a:xfrm>
          <a:prstGeom prst="rect">
            <a:avLst/>
          </a:prstGeom>
          <a:noFill/>
          <a:ln/>
        </p:spPr>
        <p:txBody>
          <a:bodyPr wrap="square" lIns="0" tIns="0" rIns="0" bIns="0" rtlCol="0" anchor="ctr"/>
          <a:lstStyle/>
          <a:p>
            <a:pPr algn="r" indent="0" marL="0">
              <a:buNone/>
            </a:pPr>
            <a:r>
              <a:rPr lang="en-US" sz="720" dirty="0">
                <a:solidFill>
                  <a:srgbClr val="D6544D"/>
                </a:solidFill>
                <a:latin typeface="Calibri" pitchFamily="34" charset="0"/>
                <a:ea typeface="Calibri" pitchFamily="34" charset="-122"/>
                <a:cs typeface="Calibri" pitchFamily="34" charset="-120"/>
              </a:rPr>
              <a:t>3 chains</a:t>
            </a:r>
            <a:endParaRPr lang="en-US" sz="7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A"/>
        </a:solidFill>
      </p:bgPr>
    </p:bg>
    <p:spTree>
      <p:nvGrpSpPr>
        <p:cNvPr id="1" name=""/>
        <p:cNvGrpSpPr/>
        <p:nvPr/>
      </p:nvGrpSpPr>
      <p:grpSpPr>
        <a:xfrm>
          <a:off x="0" y="0"/>
          <a:ext cx="0" cy="0"/>
          <a:chOff x="0" y="0"/>
          <a:chExt cx="0" cy="0"/>
        </a:xfrm>
      </p:grpSpPr>
      <p:sp>
        <p:nvSpPr>
          <p:cNvPr id="2" name="Shape 0"/>
          <p:cNvSpPr/>
          <p:nvPr/>
        </p:nvSpPr>
        <p:spPr>
          <a:xfrm>
            <a:off x="0" y="0"/>
            <a:ext cx="6858000" cy="1133856"/>
          </a:xfrm>
          <a:prstGeom prst="rect">
            <a:avLst/>
          </a:prstGeom>
          <a:solidFill>
            <a:srgbClr val="116F68"/>
          </a:solidFill>
          <a:ln/>
        </p:spPr>
      </p:sp>
      <p:sp>
        <p:nvSpPr>
          <p:cNvPr id="3" name="Text 1"/>
          <p:cNvSpPr/>
          <p:nvPr/>
        </p:nvSpPr>
        <p:spPr>
          <a:xfrm>
            <a:off x="365760" y="182880"/>
            <a:ext cx="5641848" cy="548640"/>
          </a:xfrm>
          <a:prstGeom prst="rect">
            <a:avLst/>
          </a:prstGeom>
          <a:noFill/>
          <a:ln/>
        </p:spPr>
        <p:txBody>
          <a:bodyPr wrap="square" lIns="0" tIns="0" rIns="0" bIns="0" rtlCol="0" anchor="ctr"/>
          <a:lstStyle/>
          <a:p>
            <a:pPr indent="0" marL="0">
              <a:lnSpc>
                <a:spcPct val="92000"/>
              </a:lnSpc>
              <a:buNone/>
            </a:pPr>
            <a:r>
              <a:rPr lang="en-US" sz="1450" b="1" dirty="0">
                <a:solidFill>
                  <a:srgbClr val="FFFFFF"/>
                </a:solidFill>
                <a:latin typeface="Calibri Light" pitchFamily="34" charset="0"/>
                <a:ea typeface="Calibri Light" pitchFamily="34" charset="-122"/>
                <a:cs typeface="Calibri Light" pitchFamily="34" charset="-120"/>
              </a:rPr>
              <a:t>Decision-safe definitions, quality gates and authority boundaries</a:t>
            </a:r>
            <a:endParaRPr lang="en-US" sz="1450" dirty="0"/>
          </a:p>
        </p:txBody>
      </p:sp>
      <p:sp>
        <p:nvSpPr>
          <p:cNvPr id="4" name="Text 2"/>
          <p:cNvSpPr/>
          <p:nvPr/>
        </p:nvSpPr>
        <p:spPr>
          <a:xfrm>
            <a:off x="384048" y="786384"/>
            <a:ext cx="5641848" cy="237744"/>
          </a:xfrm>
          <a:prstGeom prst="rect">
            <a:avLst/>
          </a:prstGeom>
          <a:noFill/>
          <a:ln/>
        </p:spPr>
        <p:txBody>
          <a:bodyPr wrap="square" lIns="0" tIns="0" rIns="0" bIns="0" rtlCol="0" anchor="ctr"/>
          <a:lstStyle/>
          <a:p>
            <a:pPr indent="0" marL="0">
              <a:buNone/>
            </a:pPr>
            <a:r>
              <a:rPr lang="en-US" sz="850" dirty="0">
                <a:solidFill>
                  <a:srgbClr val="BFDCD7"/>
                </a:solidFill>
                <a:latin typeface="Calibri" pitchFamily="34" charset="0"/>
                <a:ea typeface="Calibri" pitchFamily="34" charset="-122"/>
                <a:cs typeface="Calibri" pitchFamily="34" charset="-120"/>
              </a:rPr>
              <a:t>Audit command centre | grain, conformity, coverage and controlled execution</a:t>
            </a:r>
            <a:endParaRPr lang="en-US" sz="850" dirty="0"/>
          </a:p>
        </p:txBody>
      </p:sp>
      <p:sp>
        <p:nvSpPr>
          <p:cNvPr id="5" name="Text 3"/>
          <p:cNvSpPr/>
          <p:nvPr/>
        </p:nvSpPr>
        <p:spPr>
          <a:xfrm>
            <a:off x="6117336" y="365760"/>
            <a:ext cx="402336" cy="237744"/>
          </a:xfrm>
          <a:prstGeom prst="rect">
            <a:avLst/>
          </a:prstGeom>
          <a:noFill/>
          <a:ln/>
        </p:spPr>
        <p:txBody>
          <a:bodyPr wrap="square" lIns="0" tIns="0" rIns="0" bIns="0" rtlCol="0" anchor="t"/>
          <a:lstStyle/>
          <a:p>
            <a:pPr algn="r" indent="0" marL="0">
              <a:buNone/>
            </a:pPr>
            <a:r>
              <a:rPr lang="en-US" sz="950" b="1" dirty="0">
                <a:solidFill>
                  <a:srgbClr val="8FC4BD"/>
                </a:solidFill>
                <a:latin typeface="Calibri" pitchFamily="34" charset="0"/>
                <a:ea typeface="Calibri" pitchFamily="34" charset="-122"/>
                <a:cs typeface="Calibri" pitchFamily="34" charset="-120"/>
              </a:rPr>
              <a:t>22</a:t>
            </a:r>
            <a:endParaRPr lang="en-US" sz="950" dirty="0"/>
          </a:p>
        </p:txBody>
      </p:sp>
      <p:sp>
        <p:nvSpPr>
          <p:cNvPr id="6" name="Shape 4"/>
          <p:cNvSpPr/>
          <p:nvPr/>
        </p:nvSpPr>
        <p:spPr>
          <a:xfrm>
            <a:off x="265176" y="11375136"/>
            <a:ext cx="6327648" cy="420624"/>
          </a:xfrm>
          <a:prstGeom prst="roundRect">
            <a:avLst>
              <a:gd name="adj" fmla="val 6522"/>
            </a:avLst>
          </a:prstGeom>
          <a:solidFill>
            <a:srgbClr val="DFF2ED"/>
          </a:solidFill>
          <a:ln w="9525">
            <a:solidFill>
              <a:srgbClr val="C8DCD7"/>
            </a:solidFill>
            <a:prstDash val="solid"/>
          </a:ln>
        </p:spPr>
      </p:sp>
      <p:sp>
        <p:nvSpPr>
          <p:cNvPr id="7" name="Text 5"/>
          <p:cNvSpPr/>
          <p:nvPr/>
        </p:nvSpPr>
        <p:spPr>
          <a:xfrm>
            <a:off x="374904"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EVIDENCE</a:t>
            </a:r>
            <a:endParaRPr lang="en-US" sz="650" dirty="0"/>
          </a:p>
        </p:txBody>
      </p:sp>
      <p:sp>
        <p:nvSpPr>
          <p:cNvPr id="8" name="Text 6"/>
          <p:cNvSpPr/>
          <p:nvPr/>
        </p:nvSpPr>
        <p:spPr>
          <a:xfrm>
            <a:off x="374904"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moved</a:t>
            </a:r>
            <a:endParaRPr lang="en-US" sz="700" dirty="0"/>
          </a:p>
        </p:txBody>
      </p:sp>
      <p:sp>
        <p:nvSpPr>
          <p:cNvPr id="9" name="Text 7"/>
          <p:cNvSpPr/>
          <p:nvPr/>
        </p:nvSpPr>
        <p:spPr>
          <a:xfrm>
            <a:off x="1901952"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IMPLICATION</a:t>
            </a:r>
            <a:endParaRPr lang="en-US" sz="650" dirty="0"/>
          </a:p>
        </p:txBody>
      </p:sp>
      <p:sp>
        <p:nvSpPr>
          <p:cNvPr id="10" name="Text 8"/>
          <p:cNvSpPr/>
          <p:nvPr/>
        </p:nvSpPr>
        <p:spPr>
          <a:xfrm>
            <a:off x="1901952"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Why it matters</a:t>
            </a:r>
            <a:endParaRPr lang="en-US" sz="700" dirty="0"/>
          </a:p>
        </p:txBody>
      </p:sp>
      <p:sp>
        <p:nvSpPr>
          <p:cNvPr id="11" name="Shape 9"/>
          <p:cNvSpPr/>
          <p:nvPr/>
        </p:nvSpPr>
        <p:spPr>
          <a:xfrm>
            <a:off x="1819656" y="11457432"/>
            <a:ext cx="0" cy="265176"/>
          </a:xfrm>
          <a:prstGeom prst="line">
            <a:avLst/>
          </a:prstGeom>
          <a:noFill/>
          <a:ln w="9525">
            <a:solidFill>
              <a:srgbClr val="C8DCD7"/>
            </a:solidFill>
            <a:prstDash val="solid"/>
          </a:ln>
        </p:spPr>
      </p:sp>
      <p:sp>
        <p:nvSpPr>
          <p:cNvPr id="12" name="Text 10"/>
          <p:cNvSpPr/>
          <p:nvPr/>
        </p:nvSpPr>
        <p:spPr>
          <a:xfrm>
            <a:off x="3429000"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ACTION</a:t>
            </a:r>
            <a:endParaRPr lang="en-US" sz="650" dirty="0"/>
          </a:p>
        </p:txBody>
      </p:sp>
      <p:sp>
        <p:nvSpPr>
          <p:cNvPr id="13" name="Text 11"/>
          <p:cNvSpPr/>
          <p:nvPr/>
        </p:nvSpPr>
        <p:spPr>
          <a:xfrm>
            <a:off x="3429000"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What changes now</a:t>
            </a:r>
            <a:endParaRPr lang="en-US" sz="700" dirty="0"/>
          </a:p>
        </p:txBody>
      </p:sp>
      <p:sp>
        <p:nvSpPr>
          <p:cNvPr id="14" name="Shape 12"/>
          <p:cNvSpPr/>
          <p:nvPr/>
        </p:nvSpPr>
        <p:spPr>
          <a:xfrm>
            <a:off x="3346704" y="11457432"/>
            <a:ext cx="0" cy="265176"/>
          </a:xfrm>
          <a:prstGeom prst="line">
            <a:avLst/>
          </a:prstGeom>
          <a:noFill/>
          <a:ln w="9525">
            <a:solidFill>
              <a:srgbClr val="C8DCD7"/>
            </a:solidFill>
            <a:prstDash val="solid"/>
          </a:ln>
        </p:spPr>
      </p:sp>
      <p:sp>
        <p:nvSpPr>
          <p:cNvPr id="15" name="Text 13"/>
          <p:cNvSpPr/>
          <p:nvPr/>
        </p:nvSpPr>
        <p:spPr>
          <a:xfrm>
            <a:off x="4956048" y="11430000"/>
            <a:ext cx="1453896" cy="146304"/>
          </a:xfrm>
          <a:prstGeom prst="rect">
            <a:avLst/>
          </a:prstGeom>
          <a:noFill/>
          <a:ln/>
        </p:spPr>
        <p:txBody>
          <a:bodyPr wrap="square" lIns="0" tIns="0" rIns="0" bIns="0" rtlCol="0" anchor="t"/>
          <a:lstStyle/>
          <a:p>
            <a:pPr indent="0" marL="0">
              <a:buNone/>
            </a:pPr>
            <a:r>
              <a:rPr lang="en-US" sz="650" b="1" spc="60" kern="0" dirty="0">
                <a:solidFill>
                  <a:srgbClr val="116F68"/>
                </a:solidFill>
                <a:latin typeface="Calibri" pitchFamily="34" charset="0"/>
                <a:ea typeface="Calibri" pitchFamily="34" charset="-122"/>
                <a:cs typeface="Calibri" pitchFamily="34" charset="-120"/>
              </a:rPr>
              <a:t>OWNER</a:t>
            </a:r>
            <a:endParaRPr lang="en-US" sz="650" dirty="0"/>
          </a:p>
        </p:txBody>
      </p:sp>
      <p:sp>
        <p:nvSpPr>
          <p:cNvPr id="16" name="Text 14"/>
          <p:cNvSpPr/>
          <p:nvPr/>
        </p:nvSpPr>
        <p:spPr>
          <a:xfrm>
            <a:off x="4956048" y="11585448"/>
            <a:ext cx="1453896" cy="164592"/>
          </a:xfrm>
          <a:prstGeom prst="rect">
            <a:avLst/>
          </a:prstGeom>
          <a:noFill/>
          <a:ln/>
        </p:spPr>
        <p:txBody>
          <a:bodyPr wrap="square" lIns="0" tIns="0" rIns="0" bIns="0" rtlCol="0" anchor="t"/>
          <a:lstStyle/>
          <a:p>
            <a:pPr indent="0" marL="0">
              <a:buNone/>
            </a:pPr>
            <a:r>
              <a:rPr lang="en-US" sz="700" dirty="0">
                <a:solidFill>
                  <a:srgbClr val="5F716E"/>
                </a:solidFill>
                <a:latin typeface="Calibri" pitchFamily="34" charset="0"/>
                <a:ea typeface="Calibri" pitchFamily="34" charset="-122"/>
                <a:cs typeface="Calibri" pitchFamily="34" charset="-120"/>
              </a:rPr>
              <a:t>Who closes it</a:t>
            </a:r>
            <a:endParaRPr lang="en-US" sz="700" dirty="0"/>
          </a:p>
        </p:txBody>
      </p:sp>
      <p:sp>
        <p:nvSpPr>
          <p:cNvPr id="17" name="Shape 15"/>
          <p:cNvSpPr/>
          <p:nvPr/>
        </p:nvSpPr>
        <p:spPr>
          <a:xfrm>
            <a:off x="4873752" y="11457432"/>
            <a:ext cx="0" cy="265176"/>
          </a:xfrm>
          <a:prstGeom prst="line">
            <a:avLst/>
          </a:prstGeom>
          <a:noFill/>
          <a:ln w="9525">
            <a:solidFill>
              <a:srgbClr val="C8DCD7"/>
            </a:solidFill>
            <a:prstDash val="solid"/>
          </a:ln>
        </p:spPr>
      </p:sp>
      <p:sp>
        <p:nvSpPr>
          <p:cNvPr id="18" name="Text 16"/>
          <p:cNvSpPr/>
          <p:nvPr/>
        </p:nvSpPr>
        <p:spPr>
          <a:xfrm>
            <a:off x="301752" y="11887200"/>
            <a:ext cx="6254496" cy="201168"/>
          </a:xfrm>
          <a:prstGeom prst="rect">
            <a:avLst/>
          </a:prstGeom>
          <a:noFill/>
          <a:ln/>
        </p:spPr>
        <p:txBody>
          <a:bodyPr wrap="square" lIns="0" tIns="0" rIns="0" bIns="0" rtlCol="0" anchor="t"/>
          <a:lstStyle/>
          <a:p>
            <a:pPr algn="ctr" indent="0" marL="0">
              <a:buNone/>
            </a:pPr>
            <a:r>
              <a:rPr lang="en-US" sz="650" dirty="0">
                <a:solidFill>
                  <a:srgbClr val="5F716E"/>
                </a:solidFill>
                <a:latin typeface="Calibri" pitchFamily="34" charset="0"/>
                <a:ea typeface="Calibri" pitchFamily="34" charset="-122"/>
                <a:cs typeface="Calibri" pitchFamily="34" charset="-120"/>
              </a:rPr>
              <a:t>July Compiled Offtake (Sheet1) · July'26 primary and distributor secondary · values in ₹ Cr · Zone performance represents Modern Trade accounts only. eB2B and SIS channels are excluded from MT zone sales and reported separately.</a:t>
            </a:r>
            <a:endParaRPr lang="en-US" sz="650" dirty="0"/>
          </a:p>
        </p:txBody>
      </p:sp>
      <p:sp>
        <p:nvSpPr>
          <p:cNvPr id="19" name="Shape 17"/>
          <p:cNvSpPr/>
          <p:nvPr/>
        </p:nvSpPr>
        <p:spPr>
          <a:xfrm>
            <a:off x="265176" y="1261872"/>
            <a:ext cx="6327648" cy="786384"/>
          </a:xfrm>
          <a:prstGeom prst="roundRect">
            <a:avLst>
              <a:gd name="adj" fmla="val 3488"/>
            </a:avLst>
          </a:prstGeom>
          <a:solidFill>
            <a:srgbClr val="DFF2ED"/>
          </a:solidFill>
          <a:ln w="12700">
            <a:solidFill>
              <a:srgbClr val="28A596"/>
            </a:solidFill>
            <a:prstDash val="solid"/>
          </a:ln>
        </p:spPr>
      </p:sp>
      <p:sp>
        <p:nvSpPr>
          <p:cNvPr id="20" name="Text 18"/>
          <p:cNvSpPr/>
          <p:nvPr/>
        </p:nvSpPr>
        <p:spPr>
          <a:xfrm>
            <a:off x="429768" y="1353312"/>
            <a:ext cx="5998464" cy="329184"/>
          </a:xfrm>
          <a:prstGeom prst="rect">
            <a:avLst/>
          </a:prstGeom>
          <a:noFill/>
          <a:ln/>
        </p:spPr>
        <p:txBody>
          <a:bodyPr wrap="square" lIns="0" tIns="0" rIns="0" bIns="0" rtlCol="0" anchor="ctr"/>
          <a:lstStyle/>
          <a:p>
            <a:pPr algn="ctr" indent="0" marL="0">
              <a:buNone/>
            </a:pPr>
            <a:r>
              <a:rPr lang="en-US" sz="950" b="1" dirty="0">
                <a:solidFill>
                  <a:srgbClr val="116F68"/>
                </a:solidFill>
                <a:latin typeface="Calibri Light" pitchFamily="34" charset="0"/>
                <a:ea typeface="Calibri Light" pitchFamily="34" charset="-122"/>
                <a:cs typeface="Calibri Light" pitchFamily="34" charset="-120"/>
              </a:rPr>
              <a:t>Use this pack to prioritise investigation and owner action — not to infer inventory, causality or autonomous execution.</a:t>
            </a:r>
            <a:endParaRPr lang="en-US" sz="950" dirty="0"/>
          </a:p>
        </p:txBody>
      </p:sp>
      <p:sp>
        <p:nvSpPr>
          <p:cNvPr id="21" name="Text 19"/>
          <p:cNvSpPr/>
          <p:nvPr/>
        </p:nvSpPr>
        <p:spPr>
          <a:xfrm>
            <a:off x="429768" y="1719072"/>
            <a:ext cx="5998464" cy="219456"/>
          </a:xfrm>
          <a:prstGeom prst="rect">
            <a:avLst/>
          </a:prstGeom>
          <a:noFill/>
          <a:ln/>
        </p:spPr>
        <p:txBody>
          <a:bodyPr wrap="square" lIns="0" tIns="0" rIns="0" bIns="0" rtlCol="0" anchor="t"/>
          <a:lstStyle/>
          <a:p>
            <a:pPr algn="ctr" indent="0" marL="0">
              <a:buNone/>
            </a:pPr>
            <a:r>
              <a:rPr lang="en-US" sz="720" dirty="0">
                <a:solidFill>
                  <a:srgbClr val="5F716E"/>
                </a:solidFill>
                <a:latin typeface="Calibri" pitchFamily="34" charset="0"/>
                <a:ea typeface="Calibri" pitchFamily="34" charset="-122"/>
                <a:cs typeface="Calibri" pitchFamily="34" charset="-120"/>
              </a:rPr>
              <a:t>Every consequential commercial change remains subject to named human approval.</a:t>
            </a:r>
            <a:endParaRPr lang="en-US" sz="720" dirty="0"/>
          </a:p>
        </p:txBody>
      </p:sp>
      <p:sp>
        <p:nvSpPr>
          <p:cNvPr id="22" name="Shape 20"/>
          <p:cNvSpPr/>
          <p:nvPr/>
        </p:nvSpPr>
        <p:spPr>
          <a:xfrm>
            <a:off x="265176" y="2194560"/>
            <a:ext cx="6327648" cy="256032"/>
          </a:xfrm>
          <a:prstGeom prst="rect">
            <a:avLst/>
          </a:prstGeom>
          <a:solidFill>
            <a:srgbClr val="D6544D"/>
          </a:solidFill>
          <a:ln/>
        </p:spPr>
      </p:sp>
      <p:sp>
        <p:nvSpPr>
          <p:cNvPr id="23" name="Text 21"/>
          <p:cNvSpPr/>
          <p:nvPr/>
        </p:nvSpPr>
        <p:spPr>
          <a:xfrm>
            <a:off x="374904" y="2212848"/>
            <a:ext cx="6108192" cy="219456"/>
          </a:xfrm>
          <a:prstGeom prst="rect">
            <a:avLst/>
          </a:prstGeom>
          <a:noFill/>
          <a:ln/>
        </p:spPr>
        <p:txBody>
          <a:bodyPr wrap="square" lIns="0" tIns="0" rIns="0" bIns="0" rtlCol="0" anchor="ctr"/>
          <a:lstStyle/>
          <a:p>
            <a:pPr indent="0" marL="0">
              <a:buNone/>
            </a:pPr>
            <a:r>
              <a:rPr lang="en-US" sz="720" b="1" spc="60" kern="0" dirty="0">
                <a:solidFill>
                  <a:srgbClr val="FFFFFF"/>
                </a:solidFill>
                <a:latin typeface="Calibri" pitchFamily="34" charset="0"/>
                <a:ea typeface="Calibri" pitchFamily="34" charset="-122"/>
                <a:cs typeface="Calibri" pitchFamily="34" charset="-120"/>
              </a:rPr>
              <a:t>THE GRAIN — ONE STATED BASE, NO NETTING</a:t>
            </a:r>
            <a:endParaRPr lang="en-US" sz="720" dirty="0"/>
          </a:p>
        </p:txBody>
      </p:sp>
      <p:sp>
        <p:nvSpPr>
          <p:cNvPr id="24" name="Shape 22"/>
          <p:cNvSpPr/>
          <p:nvPr/>
        </p:nvSpPr>
        <p:spPr>
          <a:xfrm>
            <a:off x="265176" y="2542032"/>
            <a:ext cx="6327648" cy="256032"/>
          </a:xfrm>
          <a:prstGeom prst="rect">
            <a:avLst/>
          </a:prstGeom>
          <a:solidFill>
            <a:srgbClr val="116F68"/>
          </a:solidFill>
          <a:ln/>
        </p:spPr>
      </p:sp>
      <p:sp>
        <p:nvSpPr>
          <p:cNvPr id="25" name="Text 23"/>
          <p:cNvSpPr/>
          <p:nvPr/>
        </p:nvSpPr>
        <p:spPr>
          <a:xfrm>
            <a:off x="320040" y="2560320"/>
            <a:ext cx="1638701" cy="219456"/>
          </a:xfrm>
          <a:prstGeom prst="rect">
            <a:avLst/>
          </a:prstGeom>
          <a:noFill/>
          <a:ln/>
        </p:spPr>
        <p:txBody>
          <a:bodyPr wrap="square" lIns="0" tIns="0" rIns="0" bIns="0" rtlCol="0" anchor="ctr"/>
          <a:lstStyle/>
          <a:p>
            <a:pPr algn="l" indent="0" marL="0">
              <a:buNone/>
            </a:pPr>
            <a:r>
              <a:rPr lang="en-US" sz="660" b="1" spc="40" kern="0" dirty="0">
                <a:solidFill>
                  <a:srgbClr val="FFFFFF"/>
                </a:solidFill>
                <a:latin typeface="Calibri" pitchFamily="34" charset="0"/>
                <a:ea typeface="Calibri" pitchFamily="34" charset="-122"/>
                <a:cs typeface="Calibri" pitchFamily="34" charset="-120"/>
              </a:rPr>
              <a:t>MEASURE</a:t>
            </a:r>
            <a:endParaRPr lang="en-US" sz="660" dirty="0"/>
          </a:p>
        </p:txBody>
      </p:sp>
      <p:sp>
        <p:nvSpPr>
          <p:cNvPr id="26" name="Text 24"/>
          <p:cNvSpPr/>
          <p:nvPr/>
        </p:nvSpPr>
        <p:spPr>
          <a:xfrm>
            <a:off x="2068469" y="2560320"/>
            <a:ext cx="806116" cy="219456"/>
          </a:xfrm>
          <a:prstGeom prst="rect">
            <a:avLst/>
          </a:prstGeom>
          <a:noFill/>
          <a:ln/>
        </p:spPr>
        <p:txBody>
          <a:bodyPr wrap="square" lIns="0" tIns="0" rIns="0" bIns="0" rtlCol="0" anchor="ctr"/>
          <a:lstStyle/>
          <a:p>
            <a:pPr algn="r" indent="0" marL="0">
              <a:buNone/>
            </a:pPr>
            <a:r>
              <a:rPr lang="en-US" sz="660" b="1" spc="40" kern="0" dirty="0">
                <a:solidFill>
                  <a:srgbClr val="FFFFFF"/>
                </a:solidFill>
                <a:latin typeface="Calibri" pitchFamily="34" charset="0"/>
                <a:ea typeface="Calibri" pitchFamily="34" charset="-122"/>
                <a:cs typeface="Calibri" pitchFamily="34" charset="-120"/>
              </a:rPr>
              <a:t>VALUE</a:t>
            </a:r>
            <a:endParaRPr lang="en-US" sz="660" dirty="0"/>
          </a:p>
        </p:txBody>
      </p:sp>
      <p:sp>
        <p:nvSpPr>
          <p:cNvPr id="27" name="Text 25"/>
          <p:cNvSpPr/>
          <p:nvPr/>
        </p:nvSpPr>
        <p:spPr>
          <a:xfrm>
            <a:off x="2984313" y="2560320"/>
            <a:ext cx="1472184" cy="219456"/>
          </a:xfrm>
          <a:prstGeom prst="rect">
            <a:avLst/>
          </a:prstGeom>
          <a:noFill/>
          <a:ln/>
        </p:spPr>
        <p:txBody>
          <a:bodyPr wrap="square" lIns="0" tIns="0" rIns="0" bIns="0" rtlCol="0" anchor="ctr"/>
          <a:lstStyle/>
          <a:p>
            <a:pPr algn="l" indent="0" marL="0">
              <a:buNone/>
            </a:pPr>
            <a:r>
              <a:rPr lang="en-US" sz="660" b="1" spc="40" kern="0" dirty="0">
                <a:solidFill>
                  <a:srgbClr val="FFFFFF"/>
                </a:solidFill>
                <a:latin typeface="Calibri" pitchFamily="34" charset="0"/>
                <a:ea typeface="Calibri" pitchFamily="34" charset="-122"/>
                <a:cs typeface="Calibri" pitchFamily="34" charset="-120"/>
              </a:rPr>
              <a:t>GRAIN</a:t>
            </a:r>
            <a:endParaRPr lang="en-US" sz="660" dirty="0"/>
          </a:p>
        </p:txBody>
      </p:sp>
      <p:sp>
        <p:nvSpPr>
          <p:cNvPr id="28" name="Text 26"/>
          <p:cNvSpPr/>
          <p:nvPr/>
        </p:nvSpPr>
        <p:spPr>
          <a:xfrm>
            <a:off x="4566225" y="2560320"/>
            <a:ext cx="1971735" cy="219456"/>
          </a:xfrm>
          <a:prstGeom prst="rect">
            <a:avLst/>
          </a:prstGeom>
          <a:noFill/>
          <a:ln/>
        </p:spPr>
        <p:txBody>
          <a:bodyPr wrap="square" lIns="0" tIns="0" rIns="0" bIns="0" rtlCol="0" anchor="ctr"/>
          <a:lstStyle/>
          <a:p>
            <a:pPr algn="l" indent="0" marL="0">
              <a:buNone/>
            </a:pPr>
            <a:r>
              <a:rPr lang="en-US" sz="660" b="1" spc="40" kern="0" dirty="0">
                <a:solidFill>
                  <a:srgbClr val="FFFFFF"/>
                </a:solidFill>
                <a:latin typeface="Calibri" pitchFamily="34" charset="0"/>
                <a:ea typeface="Calibri" pitchFamily="34" charset="-122"/>
                <a:cs typeface="Calibri" pitchFamily="34" charset="-120"/>
              </a:rPr>
              <a:t>RULE</a:t>
            </a:r>
            <a:endParaRPr lang="en-US" sz="660" dirty="0"/>
          </a:p>
        </p:txBody>
      </p:sp>
      <p:sp>
        <p:nvSpPr>
          <p:cNvPr id="29" name="Shape 27"/>
          <p:cNvSpPr/>
          <p:nvPr/>
        </p:nvSpPr>
        <p:spPr>
          <a:xfrm>
            <a:off x="265176" y="2798064"/>
            <a:ext cx="6327648" cy="310896"/>
          </a:xfrm>
          <a:prstGeom prst="rect">
            <a:avLst/>
          </a:prstGeom>
          <a:solidFill>
            <a:srgbClr val="F4F9F8"/>
          </a:solidFill>
          <a:ln/>
        </p:spPr>
      </p:sp>
      <p:sp>
        <p:nvSpPr>
          <p:cNvPr id="30" name="Shape 28"/>
          <p:cNvSpPr/>
          <p:nvPr/>
        </p:nvSpPr>
        <p:spPr>
          <a:xfrm>
            <a:off x="265176" y="3108960"/>
            <a:ext cx="6327648" cy="0"/>
          </a:xfrm>
          <a:prstGeom prst="line">
            <a:avLst/>
          </a:prstGeom>
          <a:noFill/>
          <a:ln w="6350">
            <a:solidFill>
              <a:srgbClr val="C8DCD7"/>
            </a:solidFill>
            <a:prstDash val="solid"/>
          </a:ln>
        </p:spPr>
      </p:sp>
      <p:sp>
        <p:nvSpPr>
          <p:cNvPr id="31" name="Text 29"/>
          <p:cNvSpPr/>
          <p:nvPr/>
        </p:nvSpPr>
        <p:spPr>
          <a:xfrm>
            <a:off x="320040" y="2798064"/>
            <a:ext cx="1638701" cy="310896"/>
          </a:xfrm>
          <a:prstGeom prst="rect">
            <a:avLst/>
          </a:prstGeom>
          <a:noFill/>
          <a:ln/>
        </p:spPr>
        <p:txBody>
          <a:bodyPr wrap="square" lIns="0" tIns="0" rIns="0" bIns="0" rtlCol="0" anchor="ctr"/>
          <a:lstStyle/>
          <a:p>
            <a:pPr algn="l" indent="0" marL="0">
              <a:buNone/>
            </a:pPr>
            <a:r>
              <a:rPr lang="en-US" sz="720" b="1" dirty="0">
                <a:solidFill>
                  <a:srgbClr val="183B39"/>
                </a:solidFill>
                <a:latin typeface="Calibri" pitchFamily="34" charset="0"/>
                <a:ea typeface="Calibri" pitchFamily="34" charset="-122"/>
                <a:cs typeface="Calibri" pitchFamily="34" charset="-120"/>
              </a:rPr>
              <a:t>Primary</a:t>
            </a:r>
            <a:endParaRPr lang="en-US" sz="720" dirty="0"/>
          </a:p>
        </p:txBody>
      </p:sp>
      <p:sp>
        <p:nvSpPr>
          <p:cNvPr id="32" name="Text 30"/>
          <p:cNvSpPr/>
          <p:nvPr/>
        </p:nvSpPr>
        <p:spPr>
          <a:xfrm>
            <a:off x="2068469" y="2798064"/>
            <a:ext cx="806116" cy="310896"/>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₹49.21 Cr</a:t>
            </a:r>
            <a:endParaRPr lang="en-US" sz="720" dirty="0"/>
          </a:p>
        </p:txBody>
      </p:sp>
      <p:sp>
        <p:nvSpPr>
          <p:cNvPr id="33" name="Text 31"/>
          <p:cNvSpPr/>
          <p:nvPr/>
        </p:nvSpPr>
        <p:spPr>
          <a:xfrm>
            <a:off x="2984313" y="2798064"/>
            <a:ext cx="1472184" cy="310896"/>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invoice net value, zone</a:t>
            </a:r>
            <a:endParaRPr lang="en-US" sz="720" dirty="0"/>
          </a:p>
        </p:txBody>
      </p:sp>
      <p:sp>
        <p:nvSpPr>
          <p:cNvPr id="34" name="Text 32"/>
          <p:cNvSpPr/>
          <p:nvPr/>
        </p:nvSpPr>
        <p:spPr>
          <a:xfrm>
            <a:off x="4566225" y="2798064"/>
            <a:ext cx="1971735" cy="310896"/>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July primary sheet, converted to ₹ Cr</a:t>
            </a:r>
            <a:endParaRPr lang="en-US" sz="720" dirty="0"/>
          </a:p>
        </p:txBody>
      </p:sp>
      <p:sp>
        <p:nvSpPr>
          <p:cNvPr id="35" name="Shape 33"/>
          <p:cNvSpPr/>
          <p:nvPr/>
        </p:nvSpPr>
        <p:spPr>
          <a:xfrm>
            <a:off x="265176" y="3419856"/>
            <a:ext cx="6327648" cy="0"/>
          </a:xfrm>
          <a:prstGeom prst="line">
            <a:avLst/>
          </a:prstGeom>
          <a:noFill/>
          <a:ln w="6350">
            <a:solidFill>
              <a:srgbClr val="C8DCD7"/>
            </a:solidFill>
            <a:prstDash val="solid"/>
          </a:ln>
        </p:spPr>
      </p:sp>
      <p:sp>
        <p:nvSpPr>
          <p:cNvPr id="36" name="Text 34"/>
          <p:cNvSpPr/>
          <p:nvPr/>
        </p:nvSpPr>
        <p:spPr>
          <a:xfrm>
            <a:off x="320040" y="3108960"/>
            <a:ext cx="1638701" cy="310896"/>
          </a:xfrm>
          <a:prstGeom prst="rect">
            <a:avLst/>
          </a:prstGeom>
          <a:noFill/>
          <a:ln/>
        </p:spPr>
        <p:txBody>
          <a:bodyPr wrap="square" lIns="0" tIns="0" rIns="0" bIns="0" rtlCol="0" anchor="ctr"/>
          <a:lstStyle/>
          <a:p>
            <a:pPr algn="l" indent="0" marL="0">
              <a:buNone/>
            </a:pPr>
            <a:r>
              <a:rPr lang="en-US" sz="720" b="1" dirty="0">
                <a:solidFill>
                  <a:srgbClr val="183B39"/>
                </a:solidFill>
                <a:latin typeface="Calibri" pitchFamily="34" charset="0"/>
                <a:ea typeface="Calibri" pitchFamily="34" charset="-122"/>
                <a:cs typeface="Calibri" pitchFamily="34" charset="-120"/>
              </a:rPr>
              <a:t>Offtake</a:t>
            </a:r>
            <a:endParaRPr lang="en-US" sz="720" dirty="0"/>
          </a:p>
        </p:txBody>
      </p:sp>
      <p:sp>
        <p:nvSpPr>
          <p:cNvPr id="37" name="Text 35"/>
          <p:cNvSpPr/>
          <p:nvPr/>
        </p:nvSpPr>
        <p:spPr>
          <a:xfrm>
            <a:off x="2068469" y="3108960"/>
            <a:ext cx="806116" cy="310896"/>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₹36.10 Cr</a:t>
            </a:r>
            <a:endParaRPr lang="en-US" sz="720" dirty="0"/>
          </a:p>
        </p:txBody>
      </p:sp>
      <p:sp>
        <p:nvSpPr>
          <p:cNvPr id="38" name="Text 36"/>
          <p:cNvSpPr/>
          <p:nvPr/>
        </p:nvSpPr>
        <p:spPr>
          <a:xfrm>
            <a:off x="2984313" y="3108960"/>
            <a:ext cx="1472184" cy="310896"/>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transaction NSV, store</a:t>
            </a:r>
            <a:endParaRPr lang="en-US" sz="720" dirty="0"/>
          </a:p>
        </p:txBody>
      </p:sp>
      <p:sp>
        <p:nvSpPr>
          <p:cNvPr id="39" name="Text 37"/>
          <p:cNvSpPr/>
          <p:nvPr/>
        </p:nvSpPr>
        <p:spPr>
          <a:xfrm>
            <a:off x="4566225" y="3108960"/>
            <a:ext cx="1971735" cy="310896"/>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Consumer-facing flow measure</a:t>
            </a:r>
            <a:endParaRPr lang="en-US" sz="720" dirty="0"/>
          </a:p>
        </p:txBody>
      </p:sp>
      <p:sp>
        <p:nvSpPr>
          <p:cNvPr id="40" name="Shape 38"/>
          <p:cNvSpPr/>
          <p:nvPr/>
        </p:nvSpPr>
        <p:spPr>
          <a:xfrm>
            <a:off x="265176" y="3419856"/>
            <a:ext cx="6327648" cy="310896"/>
          </a:xfrm>
          <a:prstGeom prst="rect">
            <a:avLst/>
          </a:prstGeom>
          <a:solidFill>
            <a:srgbClr val="F4F9F8"/>
          </a:solidFill>
          <a:ln/>
        </p:spPr>
      </p:sp>
      <p:sp>
        <p:nvSpPr>
          <p:cNvPr id="41" name="Shape 39"/>
          <p:cNvSpPr/>
          <p:nvPr/>
        </p:nvSpPr>
        <p:spPr>
          <a:xfrm>
            <a:off x="265176" y="3730752"/>
            <a:ext cx="6327648" cy="0"/>
          </a:xfrm>
          <a:prstGeom prst="line">
            <a:avLst/>
          </a:prstGeom>
          <a:noFill/>
          <a:ln w="6350">
            <a:solidFill>
              <a:srgbClr val="C8DCD7"/>
            </a:solidFill>
            <a:prstDash val="solid"/>
          </a:ln>
        </p:spPr>
      </p:sp>
      <p:sp>
        <p:nvSpPr>
          <p:cNvPr id="42" name="Text 40"/>
          <p:cNvSpPr/>
          <p:nvPr/>
        </p:nvSpPr>
        <p:spPr>
          <a:xfrm>
            <a:off x="320040" y="3419856"/>
            <a:ext cx="1638701" cy="310896"/>
          </a:xfrm>
          <a:prstGeom prst="rect">
            <a:avLst/>
          </a:prstGeom>
          <a:noFill/>
          <a:ln/>
        </p:spPr>
        <p:txBody>
          <a:bodyPr wrap="square" lIns="0" tIns="0" rIns="0" bIns="0" rtlCol="0" anchor="ctr"/>
          <a:lstStyle/>
          <a:p>
            <a:pPr algn="l" indent="0" marL="0">
              <a:buNone/>
            </a:pPr>
            <a:r>
              <a:rPr lang="en-US" sz="720" b="1" dirty="0">
                <a:solidFill>
                  <a:srgbClr val="183B39"/>
                </a:solidFill>
                <a:latin typeface="Calibri" pitchFamily="34" charset="0"/>
                <a:ea typeface="Calibri" pitchFamily="34" charset="-122"/>
                <a:cs typeface="Calibri" pitchFamily="34" charset="-120"/>
              </a:rPr>
              <a:t>Gross positive gap</a:t>
            </a:r>
            <a:endParaRPr lang="en-US" sz="720" dirty="0"/>
          </a:p>
        </p:txBody>
      </p:sp>
      <p:sp>
        <p:nvSpPr>
          <p:cNvPr id="43" name="Text 41"/>
          <p:cNvSpPr/>
          <p:nvPr/>
        </p:nvSpPr>
        <p:spPr>
          <a:xfrm>
            <a:off x="2068469" y="3419856"/>
            <a:ext cx="806116" cy="310896"/>
          </a:xfrm>
          <a:prstGeom prst="rect">
            <a:avLst/>
          </a:prstGeom>
          <a:noFill/>
          <a:ln/>
        </p:spPr>
        <p:txBody>
          <a:bodyPr wrap="square" lIns="0" tIns="0" rIns="0" bIns="0" rtlCol="0" anchor="ctr"/>
          <a:lstStyle/>
          <a:p>
            <a:pPr algn="r" indent="0" marL="0">
              <a:buNone/>
            </a:pPr>
            <a:r>
              <a:rPr lang="en-US" sz="720" b="1" dirty="0">
                <a:solidFill>
                  <a:srgbClr val="D6544D"/>
                </a:solidFill>
                <a:latin typeface="Calibri" pitchFamily="34" charset="0"/>
                <a:ea typeface="Calibri" pitchFamily="34" charset="-122"/>
                <a:cs typeface="Calibri" pitchFamily="34" charset="-120"/>
              </a:rPr>
              <a:t>₹13.27 Cr</a:t>
            </a:r>
            <a:endParaRPr lang="en-US" sz="720" dirty="0"/>
          </a:p>
        </p:txBody>
      </p:sp>
      <p:sp>
        <p:nvSpPr>
          <p:cNvPr id="44" name="Text 42"/>
          <p:cNvSpPr/>
          <p:nvPr/>
        </p:nvSpPr>
        <p:spPr>
          <a:xfrm>
            <a:off x="2984313" y="3419856"/>
            <a:ext cx="1472184" cy="310896"/>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chain, mapped only</a:t>
            </a:r>
            <a:endParaRPr lang="en-US" sz="720" dirty="0"/>
          </a:p>
        </p:txBody>
      </p:sp>
      <p:sp>
        <p:nvSpPr>
          <p:cNvPr id="45" name="Text 43"/>
          <p:cNvSpPr/>
          <p:nvPr/>
        </p:nvSpPr>
        <p:spPr>
          <a:xfrm>
            <a:off x="4566225" y="3419856"/>
            <a:ext cx="1971735" cy="310896"/>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Billed and unsold — the recoverable pool</a:t>
            </a:r>
            <a:endParaRPr lang="en-US" sz="720" dirty="0"/>
          </a:p>
        </p:txBody>
      </p:sp>
      <p:sp>
        <p:nvSpPr>
          <p:cNvPr id="46" name="Shape 44"/>
          <p:cNvSpPr/>
          <p:nvPr/>
        </p:nvSpPr>
        <p:spPr>
          <a:xfrm>
            <a:off x="265176" y="4041648"/>
            <a:ext cx="6327648" cy="0"/>
          </a:xfrm>
          <a:prstGeom prst="line">
            <a:avLst/>
          </a:prstGeom>
          <a:noFill/>
          <a:ln w="6350">
            <a:solidFill>
              <a:srgbClr val="C8DCD7"/>
            </a:solidFill>
            <a:prstDash val="solid"/>
          </a:ln>
        </p:spPr>
      </p:sp>
      <p:sp>
        <p:nvSpPr>
          <p:cNvPr id="47" name="Text 45"/>
          <p:cNvSpPr/>
          <p:nvPr/>
        </p:nvSpPr>
        <p:spPr>
          <a:xfrm>
            <a:off x="320040" y="3730752"/>
            <a:ext cx="1638701" cy="310896"/>
          </a:xfrm>
          <a:prstGeom prst="rect">
            <a:avLst/>
          </a:prstGeom>
          <a:noFill/>
          <a:ln/>
        </p:spPr>
        <p:txBody>
          <a:bodyPr wrap="square" lIns="0" tIns="0" rIns="0" bIns="0" rtlCol="0" anchor="ctr"/>
          <a:lstStyle/>
          <a:p>
            <a:pPr algn="l" indent="0" marL="0">
              <a:buNone/>
            </a:pPr>
            <a:r>
              <a:rPr lang="en-US" sz="720" b="1" dirty="0">
                <a:solidFill>
                  <a:srgbClr val="183B39"/>
                </a:solidFill>
                <a:latin typeface="Calibri" pitchFamily="34" charset="0"/>
                <a:ea typeface="Calibri" pitchFamily="34" charset="-122"/>
                <a:cs typeface="Calibri" pitchFamily="34" charset="-120"/>
              </a:rPr>
              <a:t>Gross negative gap</a:t>
            </a:r>
            <a:endParaRPr lang="en-US" sz="720" dirty="0"/>
          </a:p>
        </p:txBody>
      </p:sp>
      <p:sp>
        <p:nvSpPr>
          <p:cNvPr id="48" name="Text 46"/>
          <p:cNvSpPr/>
          <p:nvPr/>
        </p:nvSpPr>
        <p:spPr>
          <a:xfrm>
            <a:off x="2068469" y="3730752"/>
            <a:ext cx="806116" cy="310896"/>
          </a:xfrm>
          <a:prstGeom prst="rect">
            <a:avLst/>
          </a:prstGeom>
          <a:noFill/>
          <a:ln/>
        </p:spPr>
        <p:txBody>
          <a:bodyPr wrap="square" lIns="0" tIns="0" rIns="0" bIns="0" rtlCol="0" anchor="ctr"/>
          <a:lstStyle/>
          <a:p>
            <a:pPr algn="r" indent="0" marL="0">
              <a:buNone/>
            </a:pPr>
            <a:r>
              <a:rPr lang="en-US" sz="720" b="1" dirty="0">
                <a:solidFill>
                  <a:srgbClr val="F2B84B"/>
                </a:solidFill>
                <a:latin typeface="Calibri" pitchFamily="34" charset="0"/>
                <a:ea typeface="Calibri" pitchFamily="34" charset="-122"/>
                <a:cs typeface="Calibri" pitchFamily="34" charset="-120"/>
              </a:rPr>
              <a:t>₹2.23 Cr</a:t>
            </a:r>
            <a:endParaRPr lang="en-US" sz="720" dirty="0"/>
          </a:p>
        </p:txBody>
      </p:sp>
      <p:sp>
        <p:nvSpPr>
          <p:cNvPr id="49" name="Text 47"/>
          <p:cNvSpPr/>
          <p:nvPr/>
        </p:nvSpPr>
        <p:spPr>
          <a:xfrm>
            <a:off x="2984313" y="3730752"/>
            <a:ext cx="1472184" cy="310896"/>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chain, unmapped primary</a:t>
            </a:r>
            <a:endParaRPr lang="en-US" sz="720" dirty="0"/>
          </a:p>
        </p:txBody>
      </p:sp>
      <p:sp>
        <p:nvSpPr>
          <p:cNvPr id="50" name="Text 48"/>
          <p:cNvSpPr/>
          <p:nvPr/>
        </p:nvSpPr>
        <p:spPr>
          <a:xfrm>
            <a:off x="4566225" y="3730752"/>
            <a:ext cx="1971735" cy="310896"/>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A join defect — never netted against the pool</a:t>
            </a:r>
            <a:endParaRPr lang="en-US" sz="720" dirty="0"/>
          </a:p>
        </p:txBody>
      </p:sp>
      <p:sp>
        <p:nvSpPr>
          <p:cNvPr id="51" name="Shape 49"/>
          <p:cNvSpPr/>
          <p:nvPr/>
        </p:nvSpPr>
        <p:spPr>
          <a:xfrm>
            <a:off x="265176" y="4041648"/>
            <a:ext cx="6327648" cy="310896"/>
          </a:xfrm>
          <a:prstGeom prst="rect">
            <a:avLst/>
          </a:prstGeom>
          <a:solidFill>
            <a:srgbClr val="F4F9F8"/>
          </a:solidFill>
          <a:ln/>
        </p:spPr>
      </p:sp>
      <p:sp>
        <p:nvSpPr>
          <p:cNvPr id="52" name="Shape 50"/>
          <p:cNvSpPr/>
          <p:nvPr/>
        </p:nvSpPr>
        <p:spPr>
          <a:xfrm>
            <a:off x="265176" y="4352544"/>
            <a:ext cx="6327648" cy="0"/>
          </a:xfrm>
          <a:prstGeom prst="line">
            <a:avLst/>
          </a:prstGeom>
          <a:noFill/>
          <a:ln w="6350">
            <a:solidFill>
              <a:srgbClr val="C8DCD7"/>
            </a:solidFill>
            <a:prstDash val="solid"/>
          </a:ln>
        </p:spPr>
      </p:sp>
      <p:sp>
        <p:nvSpPr>
          <p:cNvPr id="53" name="Text 51"/>
          <p:cNvSpPr/>
          <p:nvPr/>
        </p:nvSpPr>
        <p:spPr>
          <a:xfrm>
            <a:off x="320040" y="4041648"/>
            <a:ext cx="1638701" cy="310896"/>
          </a:xfrm>
          <a:prstGeom prst="rect">
            <a:avLst/>
          </a:prstGeom>
          <a:noFill/>
          <a:ln/>
        </p:spPr>
        <p:txBody>
          <a:bodyPr wrap="square" lIns="0" tIns="0" rIns="0" bIns="0" rtlCol="0" anchor="ctr"/>
          <a:lstStyle/>
          <a:p>
            <a:pPr algn="l" indent="0" marL="0">
              <a:buNone/>
            </a:pPr>
            <a:r>
              <a:rPr lang="en-US" sz="720" b="1" dirty="0">
                <a:solidFill>
                  <a:srgbClr val="183B39"/>
                </a:solidFill>
                <a:latin typeface="Calibri" pitchFamily="34" charset="0"/>
                <a:ea typeface="Calibri" pitchFamily="34" charset="-122"/>
                <a:cs typeface="Calibri" pitchFamily="34" charset="-120"/>
              </a:rPr>
              <a:t>Zone gap, summed</a:t>
            </a:r>
            <a:endParaRPr lang="en-US" sz="720" dirty="0"/>
          </a:p>
        </p:txBody>
      </p:sp>
      <p:sp>
        <p:nvSpPr>
          <p:cNvPr id="54" name="Text 52"/>
          <p:cNvSpPr/>
          <p:nvPr/>
        </p:nvSpPr>
        <p:spPr>
          <a:xfrm>
            <a:off x="2068469" y="4041648"/>
            <a:ext cx="806116" cy="310896"/>
          </a:xfrm>
          <a:prstGeom prst="rect">
            <a:avLst/>
          </a:prstGeom>
          <a:noFill/>
          <a:ln/>
        </p:spPr>
        <p:txBody>
          <a:bodyPr wrap="square" lIns="0" tIns="0" rIns="0" bIns="0" rtlCol="0" anchor="ctr"/>
          <a:lstStyle/>
          <a:p>
            <a:pPr algn="r" indent="0" marL="0">
              <a:buNone/>
            </a:pPr>
            <a:r>
              <a:rPr lang="en-US" sz="720" b="1" dirty="0">
                <a:solidFill>
                  <a:srgbClr val="D6544D"/>
                </a:solidFill>
                <a:latin typeface="Calibri" pitchFamily="34" charset="0"/>
                <a:ea typeface="Calibri" pitchFamily="34" charset="-122"/>
                <a:cs typeface="Calibri" pitchFamily="34" charset="-120"/>
              </a:rPr>
              <a:t>₹13.06 Cr</a:t>
            </a:r>
            <a:endParaRPr lang="en-US" sz="720" dirty="0"/>
          </a:p>
        </p:txBody>
      </p:sp>
      <p:sp>
        <p:nvSpPr>
          <p:cNvPr id="55" name="Text 53"/>
          <p:cNvSpPr/>
          <p:nvPr/>
        </p:nvSpPr>
        <p:spPr>
          <a:xfrm>
            <a:off x="2984313" y="4041648"/>
            <a:ext cx="1472184" cy="310896"/>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six geographic zones</a:t>
            </a:r>
            <a:endParaRPr lang="en-US" sz="720" dirty="0"/>
          </a:p>
        </p:txBody>
      </p:sp>
      <p:sp>
        <p:nvSpPr>
          <p:cNvPr id="56" name="Text 54"/>
          <p:cNvSpPr/>
          <p:nvPr/>
        </p:nvSpPr>
        <p:spPr>
          <a:xfrm>
            <a:off x="4566225" y="4041648"/>
            <a:ext cx="1971735" cy="310896"/>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Excludes Pan India, which has no primary</a:t>
            </a:r>
            <a:endParaRPr lang="en-US" sz="720" dirty="0"/>
          </a:p>
        </p:txBody>
      </p:sp>
      <p:sp>
        <p:nvSpPr>
          <p:cNvPr id="57" name="Shape 55"/>
          <p:cNvSpPr/>
          <p:nvPr/>
        </p:nvSpPr>
        <p:spPr>
          <a:xfrm>
            <a:off x="265176" y="4663440"/>
            <a:ext cx="6327648" cy="0"/>
          </a:xfrm>
          <a:prstGeom prst="line">
            <a:avLst/>
          </a:prstGeom>
          <a:noFill/>
          <a:ln w="6350">
            <a:solidFill>
              <a:srgbClr val="C8DCD7"/>
            </a:solidFill>
            <a:prstDash val="solid"/>
          </a:ln>
        </p:spPr>
      </p:sp>
      <p:sp>
        <p:nvSpPr>
          <p:cNvPr id="58" name="Text 56"/>
          <p:cNvSpPr/>
          <p:nvPr/>
        </p:nvSpPr>
        <p:spPr>
          <a:xfrm>
            <a:off x="320040" y="4352544"/>
            <a:ext cx="1638701" cy="310896"/>
          </a:xfrm>
          <a:prstGeom prst="rect">
            <a:avLst/>
          </a:prstGeom>
          <a:noFill/>
          <a:ln/>
        </p:spPr>
        <p:txBody>
          <a:bodyPr wrap="square" lIns="0" tIns="0" rIns="0" bIns="0" rtlCol="0" anchor="ctr"/>
          <a:lstStyle/>
          <a:p>
            <a:pPr algn="l" indent="0" marL="0">
              <a:buNone/>
            </a:pPr>
            <a:r>
              <a:rPr lang="en-US" sz="720" b="1" dirty="0">
                <a:solidFill>
                  <a:srgbClr val="183B39"/>
                </a:solidFill>
                <a:latin typeface="Calibri" pitchFamily="34" charset="0"/>
                <a:ea typeface="Calibri" pitchFamily="34" charset="-122"/>
                <a:cs typeface="Calibri" pitchFamily="34" charset="-120"/>
              </a:rPr>
              <a:t>Flow conversion</a:t>
            </a:r>
            <a:endParaRPr lang="en-US" sz="720" dirty="0"/>
          </a:p>
        </p:txBody>
      </p:sp>
      <p:sp>
        <p:nvSpPr>
          <p:cNvPr id="59" name="Text 57"/>
          <p:cNvSpPr/>
          <p:nvPr/>
        </p:nvSpPr>
        <p:spPr>
          <a:xfrm>
            <a:off x="2068469" y="4352544"/>
            <a:ext cx="806116" cy="310896"/>
          </a:xfrm>
          <a:prstGeom prst="rect">
            <a:avLst/>
          </a:prstGeom>
          <a:noFill/>
          <a:ln/>
        </p:spPr>
        <p:txBody>
          <a:bodyPr wrap="square" lIns="0" tIns="0" rIns="0" bIns="0" rtlCol="0" anchor="ctr"/>
          <a:lstStyle/>
          <a:p>
            <a:pPr algn="r" indent="0" marL="0">
              <a:buNone/>
            </a:pPr>
            <a:r>
              <a:rPr lang="en-US" sz="720" dirty="0">
                <a:solidFill>
                  <a:srgbClr val="183B39"/>
                </a:solidFill>
                <a:latin typeface="Calibri" pitchFamily="34" charset="0"/>
                <a:ea typeface="Calibri" pitchFamily="34" charset="-122"/>
                <a:cs typeface="Calibri" pitchFamily="34" charset="-120"/>
              </a:rPr>
              <a:t>73.4%</a:t>
            </a:r>
            <a:endParaRPr lang="en-US" sz="720" dirty="0"/>
          </a:p>
        </p:txBody>
      </p:sp>
      <p:sp>
        <p:nvSpPr>
          <p:cNvPr id="60" name="Text 58"/>
          <p:cNvSpPr/>
          <p:nvPr/>
        </p:nvSpPr>
        <p:spPr>
          <a:xfrm>
            <a:off x="2984313" y="4352544"/>
            <a:ext cx="1472184" cy="310896"/>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non-additive ratio</a:t>
            </a:r>
            <a:endParaRPr lang="en-US" sz="720" dirty="0"/>
          </a:p>
        </p:txBody>
      </p:sp>
      <p:sp>
        <p:nvSpPr>
          <p:cNvPr id="61" name="Text 59"/>
          <p:cNvSpPr/>
          <p:nvPr/>
        </p:nvSpPr>
        <p:spPr>
          <a:xfrm>
            <a:off x="4566225" y="4352544"/>
            <a:ext cx="1971735" cy="310896"/>
          </a:xfrm>
          <a:prstGeom prst="rect">
            <a:avLst/>
          </a:prstGeom>
          <a:noFill/>
          <a:ln/>
        </p:spPr>
        <p:txBody>
          <a:bodyPr wrap="square" lIns="0" tIns="0" rIns="0" bIns="0" rtlCol="0" anchor="ctr"/>
          <a:lstStyle/>
          <a:p>
            <a:pPr algn="l" indent="0" marL="0">
              <a:buNone/>
            </a:pPr>
            <a:r>
              <a:rPr lang="en-US" sz="720" dirty="0">
                <a:solidFill>
                  <a:srgbClr val="183B39"/>
                </a:solidFill>
                <a:latin typeface="Calibri" pitchFamily="34" charset="0"/>
                <a:ea typeface="Calibri" pitchFamily="34" charset="-122"/>
                <a:cs typeface="Calibri" pitchFamily="34" charset="-120"/>
              </a:rPr>
              <a:t>Recompute from sums — never average zones</a:t>
            </a:r>
            <a:endParaRPr lang="en-US" sz="720" dirty="0"/>
          </a:p>
        </p:txBody>
      </p:sp>
      <p:sp>
        <p:nvSpPr>
          <p:cNvPr id="62" name="Shape 60"/>
          <p:cNvSpPr/>
          <p:nvPr/>
        </p:nvSpPr>
        <p:spPr>
          <a:xfrm>
            <a:off x="265176" y="4828032"/>
            <a:ext cx="2036064" cy="2395728"/>
          </a:xfrm>
          <a:prstGeom prst="roundRect">
            <a:avLst>
              <a:gd name="adj" fmla="val 898"/>
            </a:avLst>
          </a:prstGeom>
          <a:solidFill>
            <a:srgbClr val="FFFFFF"/>
          </a:solidFill>
          <a:ln w="9525">
            <a:solidFill>
              <a:srgbClr val="C8DCD7"/>
            </a:solidFill>
            <a:prstDash val="solid"/>
          </a:ln>
        </p:spPr>
      </p:sp>
      <p:sp>
        <p:nvSpPr>
          <p:cNvPr id="63" name="Shape 61"/>
          <p:cNvSpPr/>
          <p:nvPr/>
        </p:nvSpPr>
        <p:spPr>
          <a:xfrm>
            <a:off x="265176" y="4828032"/>
            <a:ext cx="2036064" cy="274320"/>
          </a:xfrm>
          <a:prstGeom prst="rect">
            <a:avLst/>
          </a:prstGeom>
          <a:solidFill>
            <a:srgbClr val="D6544D"/>
          </a:solidFill>
          <a:ln/>
        </p:spPr>
      </p:sp>
      <p:sp>
        <p:nvSpPr>
          <p:cNvPr id="64" name="Text 62"/>
          <p:cNvSpPr/>
          <p:nvPr/>
        </p:nvSpPr>
        <p:spPr>
          <a:xfrm>
            <a:off x="347472" y="484632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CONFORMED DIMENSIONS</a:t>
            </a:r>
            <a:endParaRPr lang="en-US" sz="700" dirty="0"/>
          </a:p>
        </p:txBody>
      </p:sp>
      <p:sp>
        <p:nvSpPr>
          <p:cNvPr id="65" name="Text 63"/>
          <p:cNvSpPr/>
          <p:nvPr/>
        </p:nvSpPr>
        <p:spPr>
          <a:xfrm>
            <a:off x="356616" y="5193792"/>
            <a:ext cx="1853184" cy="310896"/>
          </a:xfrm>
          <a:prstGeom prst="rect">
            <a:avLst/>
          </a:prstGeom>
          <a:noFill/>
          <a:ln/>
        </p:spPr>
        <p:txBody>
          <a:bodyPr wrap="square" lIns="0" tIns="0" rIns="0" bIns="0" rtlCol="0" anchor="ctr"/>
          <a:lstStyle/>
          <a:p>
            <a:pPr algn="ctr" indent="0" marL="0">
              <a:buNone/>
            </a:pPr>
            <a:r>
              <a:rPr lang="en-US" sz="1300" b="1" dirty="0">
                <a:solidFill>
                  <a:srgbClr val="D6544D"/>
                </a:solidFill>
                <a:latin typeface="Calibri Light" pitchFamily="34" charset="0"/>
                <a:ea typeface="Calibri Light" pitchFamily="34" charset="-122"/>
                <a:cs typeface="Calibri Light" pitchFamily="34" charset="-120"/>
              </a:rPr>
              <a:t>3 breaks</a:t>
            </a:r>
            <a:endParaRPr lang="en-US" sz="1300" dirty="0"/>
          </a:p>
        </p:txBody>
      </p:sp>
      <p:sp>
        <p:nvSpPr>
          <p:cNvPr id="66" name="Shape 64"/>
          <p:cNvSpPr/>
          <p:nvPr/>
        </p:nvSpPr>
        <p:spPr>
          <a:xfrm>
            <a:off x="374904" y="5628132"/>
            <a:ext cx="50292" cy="50292"/>
          </a:xfrm>
          <a:prstGeom prst="ellipse">
            <a:avLst/>
          </a:prstGeom>
          <a:solidFill>
            <a:srgbClr val="D6544D"/>
          </a:solidFill>
          <a:ln/>
        </p:spPr>
      </p:sp>
      <p:sp>
        <p:nvSpPr>
          <p:cNvPr id="67" name="Text 65"/>
          <p:cNvSpPr/>
          <p:nvPr/>
        </p:nvSpPr>
        <p:spPr>
          <a:xfrm>
            <a:off x="493776" y="5577840"/>
            <a:ext cx="1697736" cy="347472"/>
          </a:xfrm>
          <a:prstGeom prst="rect">
            <a:avLst/>
          </a:prstGeom>
          <a:noFill/>
          <a:ln/>
        </p:spPr>
        <p:txBody>
          <a:bodyPr wrap="square" lIns="0" tIns="0" rIns="0" bIns="0" rtlCol="0" anchor="t"/>
          <a:lstStyle/>
          <a:p>
            <a:pPr indent="0" marL="0">
              <a:lnSpc>
                <a:spcPct val="92000"/>
              </a:lnSpc>
              <a:buNone/>
            </a:pPr>
            <a:r>
              <a:rPr lang="en-US" sz="690" b="1" dirty="0">
                <a:solidFill>
                  <a:srgbClr val="183B39"/>
                </a:solidFill>
                <a:latin typeface="Calibri" pitchFamily="34" charset="0"/>
                <a:ea typeface="Calibri" pitchFamily="34" charset="-122"/>
                <a:cs typeface="Calibri" pitchFamily="34" charset="-120"/>
              </a:rPr>
              <a:t>Lulu, Wellness Forever, Health &amp; Glow appear in offtake, not in primary.</a:t>
            </a:r>
            <a:endParaRPr lang="en-US" sz="690" dirty="0"/>
          </a:p>
        </p:txBody>
      </p:sp>
      <p:sp>
        <p:nvSpPr>
          <p:cNvPr id="68" name="Shape 66"/>
          <p:cNvSpPr/>
          <p:nvPr/>
        </p:nvSpPr>
        <p:spPr>
          <a:xfrm>
            <a:off x="374904" y="5993892"/>
            <a:ext cx="50292" cy="50292"/>
          </a:xfrm>
          <a:prstGeom prst="ellipse">
            <a:avLst/>
          </a:prstGeom>
          <a:solidFill>
            <a:srgbClr val="D6544D"/>
          </a:solidFill>
          <a:ln/>
        </p:spPr>
      </p:sp>
      <p:sp>
        <p:nvSpPr>
          <p:cNvPr id="69" name="Text 67"/>
          <p:cNvSpPr/>
          <p:nvPr/>
        </p:nvSpPr>
        <p:spPr>
          <a:xfrm>
            <a:off x="493776" y="5943600"/>
            <a:ext cx="1697736"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FSN and Nykaa SS are combined at article level and cannot be separated.</a:t>
            </a:r>
            <a:endParaRPr lang="en-US" sz="690" dirty="0"/>
          </a:p>
        </p:txBody>
      </p:sp>
      <p:sp>
        <p:nvSpPr>
          <p:cNvPr id="70" name="Shape 68"/>
          <p:cNvSpPr/>
          <p:nvPr/>
        </p:nvSpPr>
        <p:spPr>
          <a:xfrm>
            <a:off x="374904" y="6359652"/>
            <a:ext cx="50292" cy="50292"/>
          </a:xfrm>
          <a:prstGeom prst="ellipse">
            <a:avLst/>
          </a:prstGeom>
          <a:solidFill>
            <a:srgbClr val="D6544D"/>
          </a:solidFill>
          <a:ln/>
        </p:spPr>
      </p:sp>
      <p:sp>
        <p:nvSpPr>
          <p:cNvPr id="71" name="Text 69"/>
          <p:cNvSpPr/>
          <p:nvPr/>
        </p:nvSpPr>
        <p:spPr>
          <a:xfrm>
            <a:off x="493776" y="6309360"/>
            <a:ext cx="1697736"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Pan India carries no geographic primary by design.</a:t>
            </a:r>
            <a:endParaRPr lang="en-US" sz="690" dirty="0"/>
          </a:p>
        </p:txBody>
      </p:sp>
      <p:sp>
        <p:nvSpPr>
          <p:cNvPr id="72" name="Shape 70"/>
          <p:cNvSpPr/>
          <p:nvPr/>
        </p:nvSpPr>
        <p:spPr>
          <a:xfrm>
            <a:off x="374904" y="6725412"/>
            <a:ext cx="50292" cy="50292"/>
          </a:xfrm>
          <a:prstGeom prst="ellipse">
            <a:avLst/>
          </a:prstGeom>
          <a:solidFill>
            <a:srgbClr val="D6544D"/>
          </a:solidFill>
          <a:ln/>
        </p:spPr>
      </p:sp>
      <p:sp>
        <p:nvSpPr>
          <p:cNvPr id="73" name="Text 71"/>
          <p:cNvSpPr/>
          <p:nvPr/>
        </p:nvSpPr>
        <p:spPr>
          <a:xfrm>
            <a:off x="493776" y="6675120"/>
            <a:ext cx="1697736"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A validated outer merge surfaces all of these automatically.</a:t>
            </a:r>
            <a:endParaRPr lang="en-US" sz="690" dirty="0"/>
          </a:p>
        </p:txBody>
      </p:sp>
      <p:sp>
        <p:nvSpPr>
          <p:cNvPr id="74" name="Shape 72"/>
          <p:cNvSpPr/>
          <p:nvPr/>
        </p:nvSpPr>
        <p:spPr>
          <a:xfrm>
            <a:off x="2410968" y="4828032"/>
            <a:ext cx="2036064" cy="2395728"/>
          </a:xfrm>
          <a:prstGeom prst="roundRect">
            <a:avLst>
              <a:gd name="adj" fmla="val 898"/>
            </a:avLst>
          </a:prstGeom>
          <a:solidFill>
            <a:srgbClr val="FFFFFF"/>
          </a:solidFill>
          <a:ln w="9525">
            <a:solidFill>
              <a:srgbClr val="C8DCD7"/>
            </a:solidFill>
            <a:prstDash val="solid"/>
          </a:ln>
        </p:spPr>
      </p:sp>
      <p:sp>
        <p:nvSpPr>
          <p:cNvPr id="75" name="Shape 73"/>
          <p:cNvSpPr/>
          <p:nvPr/>
        </p:nvSpPr>
        <p:spPr>
          <a:xfrm>
            <a:off x="2410968" y="4828032"/>
            <a:ext cx="2036064" cy="274320"/>
          </a:xfrm>
          <a:prstGeom prst="rect">
            <a:avLst/>
          </a:prstGeom>
          <a:solidFill>
            <a:srgbClr val="F2B84B"/>
          </a:solidFill>
          <a:ln/>
        </p:spPr>
      </p:sp>
      <p:sp>
        <p:nvSpPr>
          <p:cNvPr id="76" name="Text 74"/>
          <p:cNvSpPr/>
          <p:nvPr/>
        </p:nvSpPr>
        <p:spPr>
          <a:xfrm>
            <a:off x="2493264" y="484632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NON-ADDITIVE FACTS</a:t>
            </a:r>
            <a:endParaRPr lang="en-US" sz="700" dirty="0"/>
          </a:p>
        </p:txBody>
      </p:sp>
      <p:sp>
        <p:nvSpPr>
          <p:cNvPr id="77" name="Text 75"/>
          <p:cNvSpPr/>
          <p:nvPr/>
        </p:nvSpPr>
        <p:spPr>
          <a:xfrm>
            <a:off x="2502408" y="5193792"/>
            <a:ext cx="1853184" cy="310896"/>
          </a:xfrm>
          <a:prstGeom prst="rect">
            <a:avLst/>
          </a:prstGeom>
          <a:noFill/>
          <a:ln/>
        </p:spPr>
        <p:txBody>
          <a:bodyPr wrap="square" lIns="0" tIns="0" rIns="0" bIns="0" rtlCol="0" anchor="ctr"/>
          <a:lstStyle/>
          <a:p>
            <a:pPr algn="ctr" indent="0" marL="0">
              <a:buNone/>
            </a:pPr>
            <a:r>
              <a:rPr lang="en-US" sz="1300" b="1" dirty="0">
                <a:solidFill>
                  <a:srgbClr val="F2B84B"/>
                </a:solidFill>
                <a:latin typeface="Calibri Light" pitchFamily="34" charset="0"/>
                <a:ea typeface="Calibri Light" pitchFamily="34" charset="-122"/>
                <a:cs typeface="Calibri Light" pitchFamily="34" charset="-120"/>
              </a:rPr>
              <a:t>Ratios never sum</a:t>
            </a:r>
            <a:endParaRPr lang="en-US" sz="1300" dirty="0"/>
          </a:p>
        </p:txBody>
      </p:sp>
      <p:sp>
        <p:nvSpPr>
          <p:cNvPr id="78" name="Shape 76"/>
          <p:cNvSpPr/>
          <p:nvPr/>
        </p:nvSpPr>
        <p:spPr>
          <a:xfrm>
            <a:off x="2520696" y="5628132"/>
            <a:ext cx="50292" cy="50292"/>
          </a:xfrm>
          <a:prstGeom prst="ellipse">
            <a:avLst/>
          </a:prstGeom>
          <a:solidFill>
            <a:srgbClr val="F2B84B"/>
          </a:solidFill>
          <a:ln/>
        </p:spPr>
      </p:sp>
      <p:sp>
        <p:nvSpPr>
          <p:cNvPr id="79" name="Text 77"/>
          <p:cNvSpPr/>
          <p:nvPr/>
        </p:nvSpPr>
        <p:spPr>
          <a:xfrm>
            <a:off x="2639568" y="5577840"/>
            <a:ext cx="1697736" cy="347472"/>
          </a:xfrm>
          <a:prstGeom prst="rect">
            <a:avLst/>
          </a:prstGeom>
          <a:noFill/>
          <a:ln/>
        </p:spPr>
        <p:txBody>
          <a:bodyPr wrap="square" lIns="0" tIns="0" rIns="0" bIns="0" rtlCol="0" anchor="t"/>
          <a:lstStyle/>
          <a:p>
            <a:pPr indent="0" marL="0">
              <a:lnSpc>
                <a:spcPct val="92000"/>
              </a:lnSpc>
              <a:buNone/>
            </a:pPr>
            <a:r>
              <a:rPr lang="en-US" sz="690" b="1" dirty="0">
                <a:solidFill>
                  <a:srgbClr val="183B39"/>
                </a:solidFill>
                <a:latin typeface="Calibri" pitchFamily="34" charset="0"/>
                <a:ea typeface="Calibri" pitchFamily="34" charset="-122"/>
                <a:cs typeface="Calibri" pitchFamily="34" charset="-120"/>
              </a:rPr>
              <a:t>Apollo national reads 99.7%; zones read 121%, 138% and 149%.</a:t>
            </a:r>
            <a:endParaRPr lang="en-US" sz="690" dirty="0"/>
          </a:p>
        </p:txBody>
      </p:sp>
      <p:sp>
        <p:nvSpPr>
          <p:cNvPr id="80" name="Shape 78"/>
          <p:cNvSpPr/>
          <p:nvPr/>
        </p:nvSpPr>
        <p:spPr>
          <a:xfrm>
            <a:off x="2520696" y="5993892"/>
            <a:ext cx="50292" cy="50292"/>
          </a:xfrm>
          <a:prstGeom prst="ellipse">
            <a:avLst/>
          </a:prstGeom>
          <a:solidFill>
            <a:srgbClr val="F2B84B"/>
          </a:solidFill>
          <a:ln/>
        </p:spPr>
      </p:sp>
      <p:sp>
        <p:nvSpPr>
          <p:cNvPr id="81" name="Text 79"/>
          <p:cNvSpPr/>
          <p:nvPr/>
        </p:nvSpPr>
        <p:spPr>
          <a:xfrm>
            <a:off x="2639568" y="5943600"/>
            <a:ext cx="1697736"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The national figure is averaging error, not measured parity.</a:t>
            </a:r>
            <a:endParaRPr lang="en-US" sz="690" dirty="0"/>
          </a:p>
        </p:txBody>
      </p:sp>
      <p:sp>
        <p:nvSpPr>
          <p:cNvPr id="82" name="Shape 80"/>
          <p:cNvSpPr/>
          <p:nvPr/>
        </p:nvSpPr>
        <p:spPr>
          <a:xfrm>
            <a:off x="2520696" y="6359652"/>
            <a:ext cx="50292" cy="50292"/>
          </a:xfrm>
          <a:prstGeom prst="ellipse">
            <a:avLst/>
          </a:prstGeom>
          <a:solidFill>
            <a:srgbClr val="F2B84B"/>
          </a:solidFill>
          <a:ln/>
        </p:spPr>
      </p:sp>
      <p:sp>
        <p:nvSpPr>
          <p:cNvPr id="83" name="Text 81"/>
          <p:cNvSpPr/>
          <p:nvPr/>
        </p:nvSpPr>
        <p:spPr>
          <a:xfrm>
            <a:off x="2639568" y="6309360"/>
            <a:ext cx="1697736"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Any conversion above 100% is stock or timing, never performance.</a:t>
            </a:r>
            <a:endParaRPr lang="en-US" sz="690" dirty="0"/>
          </a:p>
        </p:txBody>
      </p:sp>
      <p:sp>
        <p:nvSpPr>
          <p:cNvPr id="84" name="Shape 82"/>
          <p:cNvSpPr/>
          <p:nvPr/>
        </p:nvSpPr>
        <p:spPr>
          <a:xfrm>
            <a:off x="2520696" y="6725412"/>
            <a:ext cx="50292" cy="50292"/>
          </a:xfrm>
          <a:prstGeom prst="ellipse">
            <a:avLst/>
          </a:prstGeom>
          <a:solidFill>
            <a:srgbClr val="F2B84B"/>
          </a:solidFill>
          <a:ln/>
        </p:spPr>
      </p:sp>
      <p:sp>
        <p:nvSpPr>
          <p:cNvPr id="85" name="Text 83"/>
          <p:cNvSpPr/>
          <p:nvPr/>
        </p:nvSpPr>
        <p:spPr>
          <a:xfrm>
            <a:off x="2639568" y="6675120"/>
            <a:ext cx="1697736"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Do not quote a ratio without stating its denominator.</a:t>
            </a:r>
            <a:endParaRPr lang="en-US" sz="690" dirty="0"/>
          </a:p>
        </p:txBody>
      </p:sp>
      <p:sp>
        <p:nvSpPr>
          <p:cNvPr id="86" name="Shape 84"/>
          <p:cNvSpPr/>
          <p:nvPr/>
        </p:nvSpPr>
        <p:spPr>
          <a:xfrm>
            <a:off x="4556760" y="4828032"/>
            <a:ext cx="2036064" cy="2395728"/>
          </a:xfrm>
          <a:prstGeom prst="roundRect">
            <a:avLst>
              <a:gd name="adj" fmla="val 898"/>
            </a:avLst>
          </a:prstGeom>
          <a:solidFill>
            <a:srgbClr val="FFFFFF"/>
          </a:solidFill>
          <a:ln w="9525">
            <a:solidFill>
              <a:srgbClr val="C8DCD7"/>
            </a:solidFill>
            <a:prstDash val="solid"/>
          </a:ln>
        </p:spPr>
      </p:sp>
      <p:sp>
        <p:nvSpPr>
          <p:cNvPr id="87" name="Shape 85"/>
          <p:cNvSpPr/>
          <p:nvPr/>
        </p:nvSpPr>
        <p:spPr>
          <a:xfrm>
            <a:off x="4556760" y="4828032"/>
            <a:ext cx="2036064" cy="274320"/>
          </a:xfrm>
          <a:prstGeom prst="rect">
            <a:avLst/>
          </a:prstGeom>
          <a:solidFill>
            <a:srgbClr val="116F68"/>
          </a:solidFill>
          <a:ln/>
        </p:spPr>
      </p:sp>
      <p:sp>
        <p:nvSpPr>
          <p:cNvPr id="88" name="Text 86"/>
          <p:cNvSpPr/>
          <p:nvPr/>
        </p:nvSpPr>
        <p:spPr>
          <a:xfrm>
            <a:off x="4639056" y="4846320"/>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COVERAGE</a:t>
            </a:r>
            <a:endParaRPr lang="en-US" sz="700" dirty="0"/>
          </a:p>
        </p:txBody>
      </p:sp>
      <p:sp>
        <p:nvSpPr>
          <p:cNvPr id="89" name="Text 87"/>
          <p:cNvSpPr/>
          <p:nvPr/>
        </p:nvSpPr>
        <p:spPr>
          <a:xfrm>
            <a:off x="4648200" y="5193792"/>
            <a:ext cx="1853184" cy="310896"/>
          </a:xfrm>
          <a:prstGeom prst="rect">
            <a:avLst/>
          </a:prstGeom>
          <a:noFill/>
          <a:ln/>
        </p:spPr>
        <p:txBody>
          <a:bodyPr wrap="square" lIns="0" tIns="0" rIns="0" bIns="0" rtlCol="0" anchor="ctr"/>
          <a:lstStyle/>
          <a:p>
            <a:pPr algn="ctr" indent="0" marL="0">
              <a:buNone/>
            </a:pPr>
            <a:r>
              <a:rPr lang="en-US" sz="1300" b="1" dirty="0">
                <a:solidFill>
                  <a:srgbClr val="116F68"/>
                </a:solidFill>
                <a:latin typeface="Calibri Light" pitchFamily="34" charset="0"/>
                <a:ea typeface="Calibri Light" pitchFamily="34" charset="-122"/>
                <a:cs typeface="Calibri Light" pitchFamily="34" charset="-120"/>
              </a:rPr>
              <a:t>79.2%</a:t>
            </a:r>
            <a:endParaRPr lang="en-US" sz="1300" dirty="0"/>
          </a:p>
        </p:txBody>
      </p:sp>
      <p:sp>
        <p:nvSpPr>
          <p:cNvPr id="90" name="Shape 88"/>
          <p:cNvSpPr/>
          <p:nvPr/>
        </p:nvSpPr>
        <p:spPr>
          <a:xfrm>
            <a:off x="4666488" y="5628132"/>
            <a:ext cx="50292" cy="50292"/>
          </a:xfrm>
          <a:prstGeom prst="ellipse">
            <a:avLst/>
          </a:prstGeom>
          <a:solidFill>
            <a:srgbClr val="116F68"/>
          </a:solidFill>
          <a:ln/>
        </p:spPr>
      </p:sp>
      <p:sp>
        <p:nvSpPr>
          <p:cNvPr id="91" name="Text 89"/>
          <p:cNvSpPr/>
          <p:nvPr/>
        </p:nvSpPr>
        <p:spPr>
          <a:xfrm>
            <a:off x="4785360" y="5577840"/>
            <a:ext cx="1697736" cy="347472"/>
          </a:xfrm>
          <a:prstGeom prst="rect">
            <a:avLst/>
          </a:prstGeom>
          <a:noFill/>
          <a:ln/>
        </p:spPr>
        <p:txBody>
          <a:bodyPr wrap="square" lIns="0" tIns="0" rIns="0" bIns="0" rtlCol="0" anchor="t"/>
          <a:lstStyle/>
          <a:p>
            <a:pPr indent="0" marL="0">
              <a:lnSpc>
                <a:spcPct val="92000"/>
              </a:lnSpc>
              <a:buNone/>
            </a:pPr>
            <a:r>
              <a:rPr lang="en-US" sz="690" b="1" dirty="0">
                <a:solidFill>
                  <a:srgbClr val="183B39"/>
                </a:solidFill>
                <a:latin typeface="Calibri" pitchFamily="34" charset="0"/>
                <a:ea typeface="Calibri" pitchFamily="34" charset="-122"/>
                <a:cs typeface="Calibri" pitchFamily="34" charset="-120"/>
              </a:rPr>
              <a:t>Chain scorecard covers ₹26.90 Cr of ₹33.96 Cr national MT offtake.</a:t>
            </a:r>
            <a:endParaRPr lang="en-US" sz="690" dirty="0"/>
          </a:p>
        </p:txBody>
      </p:sp>
      <p:sp>
        <p:nvSpPr>
          <p:cNvPr id="92" name="Shape 90"/>
          <p:cNvSpPr/>
          <p:nvPr/>
        </p:nvSpPr>
        <p:spPr>
          <a:xfrm>
            <a:off x="4666488" y="5993892"/>
            <a:ext cx="50292" cy="50292"/>
          </a:xfrm>
          <a:prstGeom prst="ellipse">
            <a:avLst/>
          </a:prstGeom>
          <a:solidFill>
            <a:srgbClr val="116F68"/>
          </a:solidFill>
          <a:ln/>
        </p:spPr>
      </p:sp>
      <p:sp>
        <p:nvSpPr>
          <p:cNvPr id="93" name="Text 91"/>
          <p:cNvSpPr/>
          <p:nvPr/>
        </p:nvSpPr>
        <p:spPr>
          <a:xfrm>
            <a:off x="4785360" y="5943600"/>
            <a:ext cx="1697736"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31,355 of 1,97,740 primary and offtake rows are matched.</a:t>
            </a:r>
            <a:endParaRPr lang="en-US" sz="690" dirty="0"/>
          </a:p>
        </p:txBody>
      </p:sp>
      <p:sp>
        <p:nvSpPr>
          <p:cNvPr id="94" name="Shape 92"/>
          <p:cNvSpPr/>
          <p:nvPr/>
        </p:nvSpPr>
        <p:spPr>
          <a:xfrm>
            <a:off x="4666488" y="6359652"/>
            <a:ext cx="50292" cy="50292"/>
          </a:xfrm>
          <a:prstGeom prst="ellipse">
            <a:avLst/>
          </a:prstGeom>
          <a:solidFill>
            <a:srgbClr val="116F68"/>
          </a:solidFill>
          <a:ln/>
        </p:spPr>
      </p:sp>
      <p:sp>
        <p:nvSpPr>
          <p:cNvPr id="95" name="Text 93"/>
          <p:cNvSpPr/>
          <p:nvPr/>
        </p:nvSpPr>
        <p:spPr>
          <a:xfrm>
            <a:off x="4785360" y="6309360"/>
            <a:ext cx="1697736"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Missing zone rows: 0. Period: July 2026.</a:t>
            </a:r>
            <a:endParaRPr lang="en-US" sz="690" dirty="0"/>
          </a:p>
        </p:txBody>
      </p:sp>
      <p:sp>
        <p:nvSpPr>
          <p:cNvPr id="96" name="Shape 94"/>
          <p:cNvSpPr/>
          <p:nvPr/>
        </p:nvSpPr>
        <p:spPr>
          <a:xfrm>
            <a:off x="4666488" y="6725412"/>
            <a:ext cx="50292" cy="50292"/>
          </a:xfrm>
          <a:prstGeom prst="ellipse">
            <a:avLst/>
          </a:prstGeom>
          <a:solidFill>
            <a:srgbClr val="116F68"/>
          </a:solidFill>
          <a:ln/>
        </p:spPr>
      </p:sp>
      <p:sp>
        <p:nvSpPr>
          <p:cNvPr id="97" name="Text 95"/>
          <p:cNvSpPr/>
          <p:nvPr/>
        </p:nvSpPr>
        <p:spPr>
          <a:xfrm>
            <a:off x="4785360" y="6675120"/>
            <a:ext cx="1697736"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Chains with missing July feeds are data gaps, not de-growth.</a:t>
            </a:r>
            <a:endParaRPr lang="en-US" sz="690" dirty="0"/>
          </a:p>
        </p:txBody>
      </p:sp>
      <p:sp>
        <p:nvSpPr>
          <p:cNvPr id="98" name="Shape 96"/>
          <p:cNvSpPr/>
          <p:nvPr/>
        </p:nvSpPr>
        <p:spPr>
          <a:xfrm>
            <a:off x="265176" y="7351776"/>
            <a:ext cx="2036064" cy="2395728"/>
          </a:xfrm>
          <a:prstGeom prst="roundRect">
            <a:avLst>
              <a:gd name="adj" fmla="val 898"/>
            </a:avLst>
          </a:prstGeom>
          <a:solidFill>
            <a:srgbClr val="FFFFFF"/>
          </a:solidFill>
          <a:ln w="9525">
            <a:solidFill>
              <a:srgbClr val="C8DCD7"/>
            </a:solidFill>
            <a:prstDash val="solid"/>
          </a:ln>
        </p:spPr>
      </p:sp>
      <p:sp>
        <p:nvSpPr>
          <p:cNvPr id="99" name="Shape 97"/>
          <p:cNvSpPr/>
          <p:nvPr/>
        </p:nvSpPr>
        <p:spPr>
          <a:xfrm>
            <a:off x="265176" y="7351776"/>
            <a:ext cx="2036064" cy="274320"/>
          </a:xfrm>
          <a:prstGeom prst="rect">
            <a:avLst/>
          </a:prstGeom>
          <a:solidFill>
            <a:srgbClr val="F2B84B"/>
          </a:solidFill>
          <a:ln/>
        </p:spPr>
      </p:sp>
      <p:sp>
        <p:nvSpPr>
          <p:cNvPr id="100" name="Text 98"/>
          <p:cNvSpPr/>
          <p:nvPr/>
        </p:nvSpPr>
        <p:spPr>
          <a:xfrm>
            <a:off x="347472" y="7370064"/>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MATERIALITY FLOOR</a:t>
            </a:r>
            <a:endParaRPr lang="en-US" sz="700" dirty="0"/>
          </a:p>
        </p:txBody>
      </p:sp>
      <p:sp>
        <p:nvSpPr>
          <p:cNvPr id="101" name="Text 99"/>
          <p:cNvSpPr/>
          <p:nvPr/>
        </p:nvSpPr>
        <p:spPr>
          <a:xfrm>
            <a:off x="356616" y="7717536"/>
            <a:ext cx="1853184" cy="310896"/>
          </a:xfrm>
          <a:prstGeom prst="rect">
            <a:avLst/>
          </a:prstGeom>
          <a:noFill/>
          <a:ln/>
        </p:spPr>
        <p:txBody>
          <a:bodyPr wrap="square" lIns="0" tIns="0" rIns="0" bIns="0" rtlCol="0" anchor="ctr"/>
          <a:lstStyle/>
          <a:p>
            <a:pPr algn="ctr" indent="0" marL="0">
              <a:buNone/>
            </a:pPr>
            <a:r>
              <a:rPr lang="en-US" sz="1300" b="1" dirty="0">
                <a:solidFill>
                  <a:srgbClr val="F2B84B"/>
                </a:solidFill>
                <a:latin typeface="Calibri Light" pitchFamily="34" charset="0"/>
                <a:ea typeface="Calibri Light" pitchFamily="34" charset="-122"/>
                <a:cs typeface="Calibri Light" pitchFamily="34" charset="-120"/>
              </a:rPr>
              <a:t>₹0.25 Cr</a:t>
            </a:r>
            <a:endParaRPr lang="en-US" sz="1300" dirty="0"/>
          </a:p>
        </p:txBody>
      </p:sp>
      <p:sp>
        <p:nvSpPr>
          <p:cNvPr id="102" name="Shape 100"/>
          <p:cNvSpPr/>
          <p:nvPr/>
        </p:nvSpPr>
        <p:spPr>
          <a:xfrm>
            <a:off x="374904" y="8151876"/>
            <a:ext cx="50292" cy="50292"/>
          </a:xfrm>
          <a:prstGeom prst="ellipse">
            <a:avLst/>
          </a:prstGeom>
          <a:solidFill>
            <a:srgbClr val="F2B84B"/>
          </a:solidFill>
          <a:ln/>
        </p:spPr>
      </p:sp>
      <p:sp>
        <p:nvSpPr>
          <p:cNvPr id="103" name="Text 101"/>
          <p:cNvSpPr/>
          <p:nvPr/>
        </p:nvSpPr>
        <p:spPr>
          <a:xfrm>
            <a:off x="493776" y="8101584"/>
            <a:ext cx="1697736" cy="347472"/>
          </a:xfrm>
          <a:prstGeom prst="rect">
            <a:avLst/>
          </a:prstGeom>
          <a:noFill/>
          <a:ln/>
        </p:spPr>
        <p:txBody>
          <a:bodyPr wrap="square" lIns="0" tIns="0" rIns="0" bIns="0" rtlCol="0" anchor="t"/>
          <a:lstStyle/>
          <a:p>
            <a:pPr indent="0" marL="0">
              <a:lnSpc>
                <a:spcPct val="92000"/>
              </a:lnSpc>
              <a:buNone/>
            </a:pPr>
            <a:r>
              <a:rPr lang="en-US" sz="690" b="1" dirty="0">
                <a:solidFill>
                  <a:srgbClr val="183B39"/>
                </a:solidFill>
                <a:latin typeface="Calibri" pitchFamily="34" charset="0"/>
                <a:ea typeface="Calibri" pitchFamily="34" charset="-122"/>
                <a:cs typeface="Calibri" pitchFamily="34" charset="-120"/>
              </a:rPr>
              <a:t>No % shown, ranked or coloured below this base.</a:t>
            </a:r>
            <a:endParaRPr lang="en-US" sz="690" dirty="0"/>
          </a:p>
        </p:txBody>
      </p:sp>
      <p:sp>
        <p:nvSpPr>
          <p:cNvPr id="104" name="Shape 102"/>
          <p:cNvSpPr/>
          <p:nvPr/>
        </p:nvSpPr>
        <p:spPr>
          <a:xfrm>
            <a:off x="374904" y="8517636"/>
            <a:ext cx="50292" cy="50292"/>
          </a:xfrm>
          <a:prstGeom prst="ellipse">
            <a:avLst/>
          </a:prstGeom>
          <a:solidFill>
            <a:srgbClr val="F2B84B"/>
          </a:solidFill>
          <a:ln/>
        </p:spPr>
      </p:sp>
      <p:sp>
        <p:nvSpPr>
          <p:cNvPr id="105" name="Text 103"/>
          <p:cNvSpPr/>
          <p:nvPr/>
        </p:nvSpPr>
        <p:spPr>
          <a:xfrm>
            <a:off x="493776" y="8467344"/>
            <a:ext cx="1697736"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Removes 10 of 13 chains from the scorecard ranking.</a:t>
            </a:r>
            <a:endParaRPr lang="en-US" sz="690" dirty="0"/>
          </a:p>
        </p:txBody>
      </p:sp>
      <p:sp>
        <p:nvSpPr>
          <p:cNvPr id="106" name="Shape 104"/>
          <p:cNvSpPr/>
          <p:nvPr/>
        </p:nvSpPr>
        <p:spPr>
          <a:xfrm>
            <a:off x="374904" y="8883396"/>
            <a:ext cx="50292" cy="50292"/>
          </a:xfrm>
          <a:prstGeom prst="ellipse">
            <a:avLst/>
          </a:prstGeom>
          <a:solidFill>
            <a:srgbClr val="F2B84B"/>
          </a:solidFill>
          <a:ln/>
        </p:spPr>
      </p:sp>
      <p:sp>
        <p:nvSpPr>
          <p:cNvPr id="107" name="Text 105"/>
          <p:cNvSpPr/>
          <p:nvPr/>
        </p:nvSpPr>
        <p:spPr>
          <a:xfrm>
            <a:off x="493776" y="8833104"/>
            <a:ext cx="1697736"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Central zone recovery (₹0.11 Cr) falls below it.</a:t>
            </a:r>
            <a:endParaRPr lang="en-US" sz="690" dirty="0"/>
          </a:p>
        </p:txBody>
      </p:sp>
      <p:sp>
        <p:nvSpPr>
          <p:cNvPr id="108" name="Shape 106"/>
          <p:cNvSpPr/>
          <p:nvPr/>
        </p:nvSpPr>
        <p:spPr>
          <a:xfrm>
            <a:off x="374904" y="9249156"/>
            <a:ext cx="50292" cy="50292"/>
          </a:xfrm>
          <a:prstGeom prst="ellipse">
            <a:avLst/>
          </a:prstGeom>
          <a:solidFill>
            <a:srgbClr val="F2B84B"/>
          </a:solidFill>
          <a:ln/>
        </p:spPr>
      </p:sp>
      <p:sp>
        <p:nvSpPr>
          <p:cNvPr id="109" name="Text 107"/>
          <p:cNvSpPr/>
          <p:nvPr/>
        </p:nvSpPr>
        <p:spPr>
          <a:xfrm>
            <a:off x="493776" y="9198864"/>
            <a:ext cx="1697736"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Below the floor, report the absolute ₹ change only.</a:t>
            </a:r>
            <a:endParaRPr lang="en-US" sz="690" dirty="0"/>
          </a:p>
        </p:txBody>
      </p:sp>
      <p:sp>
        <p:nvSpPr>
          <p:cNvPr id="110" name="Shape 108"/>
          <p:cNvSpPr/>
          <p:nvPr/>
        </p:nvSpPr>
        <p:spPr>
          <a:xfrm>
            <a:off x="2410968" y="7351776"/>
            <a:ext cx="2036064" cy="2395728"/>
          </a:xfrm>
          <a:prstGeom prst="roundRect">
            <a:avLst>
              <a:gd name="adj" fmla="val 898"/>
            </a:avLst>
          </a:prstGeom>
          <a:solidFill>
            <a:srgbClr val="FFFFFF"/>
          </a:solidFill>
          <a:ln w="9525">
            <a:solidFill>
              <a:srgbClr val="C8DCD7"/>
            </a:solidFill>
            <a:prstDash val="solid"/>
          </a:ln>
        </p:spPr>
      </p:sp>
      <p:sp>
        <p:nvSpPr>
          <p:cNvPr id="111" name="Shape 109"/>
          <p:cNvSpPr/>
          <p:nvPr/>
        </p:nvSpPr>
        <p:spPr>
          <a:xfrm>
            <a:off x="2410968" y="7351776"/>
            <a:ext cx="2036064" cy="274320"/>
          </a:xfrm>
          <a:prstGeom prst="rect">
            <a:avLst/>
          </a:prstGeom>
          <a:solidFill>
            <a:srgbClr val="5F716E"/>
          </a:solidFill>
          <a:ln/>
        </p:spPr>
      </p:sp>
      <p:sp>
        <p:nvSpPr>
          <p:cNvPr id="112" name="Text 110"/>
          <p:cNvSpPr/>
          <p:nvPr/>
        </p:nvSpPr>
        <p:spPr>
          <a:xfrm>
            <a:off x="2493264" y="7370064"/>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STILL TO RECONCILE</a:t>
            </a:r>
            <a:endParaRPr lang="en-US" sz="700" dirty="0"/>
          </a:p>
        </p:txBody>
      </p:sp>
      <p:sp>
        <p:nvSpPr>
          <p:cNvPr id="113" name="Text 111"/>
          <p:cNvSpPr/>
          <p:nvPr/>
        </p:nvSpPr>
        <p:spPr>
          <a:xfrm>
            <a:off x="2502408" y="7717536"/>
            <a:ext cx="1853184" cy="310896"/>
          </a:xfrm>
          <a:prstGeom prst="rect">
            <a:avLst/>
          </a:prstGeom>
          <a:noFill/>
          <a:ln/>
        </p:spPr>
        <p:txBody>
          <a:bodyPr wrap="square" lIns="0" tIns="0" rIns="0" bIns="0" rtlCol="0" anchor="ctr"/>
          <a:lstStyle/>
          <a:p>
            <a:pPr algn="ctr" indent="0" marL="0">
              <a:buNone/>
            </a:pPr>
            <a:r>
              <a:rPr lang="en-US" sz="1300" b="1" dirty="0">
                <a:solidFill>
                  <a:srgbClr val="5F716E"/>
                </a:solidFill>
                <a:latin typeface="Calibri Light" pitchFamily="34" charset="0"/>
                <a:ea typeface="Calibri Light" pitchFamily="34" charset="-122"/>
                <a:cs typeface="Calibri Light" pitchFamily="34" charset="-120"/>
              </a:rPr>
              <a:t>Five fields</a:t>
            </a:r>
            <a:endParaRPr lang="en-US" sz="1300" dirty="0"/>
          </a:p>
        </p:txBody>
      </p:sp>
      <p:sp>
        <p:nvSpPr>
          <p:cNvPr id="114" name="Shape 112"/>
          <p:cNvSpPr/>
          <p:nvPr/>
        </p:nvSpPr>
        <p:spPr>
          <a:xfrm>
            <a:off x="2520696" y="8151876"/>
            <a:ext cx="50292" cy="50292"/>
          </a:xfrm>
          <a:prstGeom prst="ellipse">
            <a:avLst/>
          </a:prstGeom>
          <a:solidFill>
            <a:srgbClr val="5F716E"/>
          </a:solidFill>
          <a:ln/>
        </p:spPr>
      </p:sp>
      <p:sp>
        <p:nvSpPr>
          <p:cNvPr id="115" name="Text 113"/>
          <p:cNvSpPr/>
          <p:nvPr/>
        </p:nvSpPr>
        <p:spPr>
          <a:xfrm>
            <a:off x="2639568" y="8101584"/>
            <a:ext cx="1697736" cy="347472"/>
          </a:xfrm>
          <a:prstGeom prst="rect">
            <a:avLst/>
          </a:prstGeom>
          <a:noFill/>
          <a:ln/>
        </p:spPr>
        <p:txBody>
          <a:bodyPr wrap="square" lIns="0" tIns="0" rIns="0" bIns="0" rtlCol="0" anchor="t"/>
          <a:lstStyle/>
          <a:p>
            <a:pPr indent="0" marL="0">
              <a:lnSpc>
                <a:spcPct val="92000"/>
              </a:lnSpc>
              <a:buNone/>
            </a:pPr>
            <a:r>
              <a:rPr lang="en-US" sz="690" b="1" dirty="0">
                <a:solidFill>
                  <a:srgbClr val="183B39"/>
                </a:solidFill>
                <a:latin typeface="Calibri" pitchFamily="34" charset="0"/>
                <a:ea typeface="Calibri" pitchFamily="34" charset="-122"/>
                <a:cs typeface="Calibri" pitchFamily="34" charset="-120"/>
              </a:rPr>
              <a:t>SAH, weighted distribution by chain, PDO, OOS, closing stock.</a:t>
            </a:r>
            <a:endParaRPr lang="en-US" sz="690" dirty="0"/>
          </a:p>
        </p:txBody>
      </p:sp>
      <p:sp>
        <p:nvSpPr>
          <p:cNvPr id="116" name="Shape 114"/>
          <p:cNvSpPr/>
          <p:nvPr/>
        </p:nvSpPr>
        <p:spPr>
          <a:xfrm>
            <a:off x="2520696" y="8517636"/>
            <a:ext cx="50292" cy="50292"/>
          </a:xfrm>
          <a:prstGeom prst="ellipse">
            <a:avLst/>
          </a:prstGeom>
          <a:solidFill>
            <a:srgbClr val="5F716E"/>
          </a:solidFill>
          <a:ln/>
        </p:spPr>
      </p:sp>
      <p:sp>
        <p:nvSpPr>
          <p:cNvPr id="117" name="Text 115"/>
          <p:cNvSpPr/>
          <p:nvPr/>
        </p:nvSpPr>
        <p:spPr>
          <a:xfrm>
            <a:off x="2639568" y="8467344"/>
            <a:ext cx="1697736"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Until these tie, cause is inferred and not measured.</a:t>
            </a:r>
            <a:endParaRPr lang="en-US" sz="690" dirty="0"/>
          </a:p>
        </p:txBody>
      </p:sp>
      <p:sp>
        <p:nvSpPr>
          <p:cNvPr id="118" name="Shape 116"/>
          <p:cNvSpPr/>
          <p:nvPr/>
        </p:nvSpPr>
        <p:spPr>
          <a:xfrm>
            <a:off x="2520696" y="8883396"/>
            <a:ext cx="50292" cy="50292"/>
          </a:xfrm>
          <a:prstGeom prst="ellipse">
            <a:avLst/>
          </a:prstGeom>
          <a:solidFill>
            <a:srgbClr val="5F716E"/>
          </a:solidFill>
          <a:ln/>
        </p:spPr>
      </p:sp>
      <p:sp>
        <p:nvSpPr>
          <p:cNvPr id="119" name="Text 117"/>
          <p:cNvSpPr/>
          <p:nvPr/>
        </p:nvSpPr>
        <p:spPr>
          <a:xfrm>
            <a:off x="2639568" y="8833104"/>
            <a:ext cx="1697736"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No SAH × share diagnosis is claimed in this pack.</a:t>
            </a:r>
            <a:endParaRPr lang="en-US" sz="690" dirty="0"/>
          </a:p>
        </p:txBody>
      </p:sp>
      <p:sp>
        <p:nvSpPr>
          <p:cNvPr id="120" name="Shape 118"/>
          <p:cNvSpPr/>
          <p:nvPr/>
        </p:nvSpPr>
        <p:spPr>
          <a:xfrm>
            <a:off x="2520696" y="9249156"/>
            <a:ext cx="50292" cy="50292"/>
          </a:xfrm>
          <a:prstGeom prst="ellipse">
            <a:avLst/>
          </a:prstGeom>
          <a:solidFill>
            <a:srgbClr val="5F716E"/>
          </a:solidFill>
          <a:ln/>
        </p:spPr>
      </p:sp>
      <p:sp>
        <p:nvSpPr>
          <p:cNvPr id="121" name="Text 119"/>
          <p:cNvSpPr/>
          <p:nvPr/>
        </p:nvSpPr>
        <p:spPr>
          <a:xfrm>
            <a:off x="2639568" y="9198864"/>
            <a:ext cx="1697736"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Stock pressure and turnover remain out of scope.</a:t>
            </a:r>
            <a:endParaRPr lang="en-US" sz="690" dirty="0"/>
          </a:p>
        </p:txBody>
      </p:sp>
      <p:sp>
        <p:nvSpPr>
          <p:cNvPr id="122" name="Shape 120"/>
          <p:cNvSpPr/>
          <p:nvPr/>
        </p:nvSpPr>
        <p:spPr>
          <a:xfrm>
            <a:off x="4556760" y="7351776"/>
            <a:ext cx="2036064" cy="2395728"/>
          </a:xfrm>
          <a:prstGeom prst="roundRect">
            <a:avLst>
              <a:gd name="adj" fmla="val 898"/>
            </a:avLst>
          </a:prstGeom>
          <a:solidFill>
            <a:srgbClr val="FFFFFF"/>
          </a:solidFill>
          <a:ln w="9525">
            <a:solidFill>
              <a:srgbClr val="C8DCD7"/>
            </a:solidFill>
            <a:prstDash val="solid"/>
          </a:ln>
        </p:spPr>
      </p:sp>
      <p:sp>
        <p:nvSpPr>
          <p:cNvPr id="123" name="Shape 121"/>
          <p:cNvSpPr/>
          <p:nvPr/>
        </p:nvSpPr>
        <p:spPr>
          <a:xfrm>
            <a:off x="4556760" y="7351776"/>
            <a:ext cx="2036064" cy="274320"/>
          </a:xfrm>
          <a:prstGeom prst="rect">
            <a:avLst/>
          </a:prstGeom>
          <a:solidFill>
            <a:srgbClr val="116F68"/>
          </a:solidFill>
          <a:ln/>
        </p:spPr>
      </p:sp>
      <p:sp>
        <p:nvSpPr>
          <p:cNvPr id="124" name="Text 122"/>
          <p:cNvSpPr/>
          <p:nvPr/>
        </p:nvSpPr>
        <p:spPr>
          <a:xfrm>
            <a:off x="4639056" y="7370064"/>
            <a:ext cx="1871472" cy="237744"/>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Calibri" pitchFamily="34" charset="0"/>
                <a:ea typeface="Calibri" pitchFamily="34" charset="-122"/>
                <a:cs typeface="Calibri" pitchFamily="34" charset="-120"/>
              </a:rPr>
              <a:t>AUTHORITY</a:t>
            </a:r>
            <a:endParaRPr lang="en-US" sz="700" dirty="0"/>
          </a:p>
        </p:txBody>
      </p:sp>
      <p:sp>
        <p:nvSpPr>
          <p:cNvPr id="125" name="Text 123"/>
          <p:cNvSpPr/>
          <p:nvPr/>
        </p:nvSpPr>
        <p:spPr>
          <a:xfrm>
            <a:off x="4648200" y="7717536"/>
            <a:ext cx="1853184" cy="310896"/>
          </a:xfrm>
          <a:prstGeom prst="rect">
            <a:avLst/>
          </a:prstGeom>
          <a:noFill/>
          <a:ln/>
        </p:spPr>
        <p:txBody>
          <a:bodyPr wrap="square" lIns="0" tIns="0" rIns="0" bIns="0" rtlCol="0" anchor="ctr"/>
          <a:lstStyle/>
          <a:p>
            <a:pPr algn="ctr" indent="0" marL="0">
              <a:buNone/>
            </a:pPr>
            <a:r>
              <a:rPr lang="en-US" sz="1300" b="1" dirty="0">
                <a:solidFill>
                  <a:srgbClr val="116F68"/>
                </a:solidFill>
                <a:latin typeface="Calibri Light" pitchFamily="34" charset="0"/>
                <a:ea typeface="Calibri Light" pitchFamily="34" charset="-122"/>
                <a:cs typeface="Calibri Light" pitchFamily="34" charset="-120"/>
              </a:rPr>
              <a:t>Ask first</a:t>
            </a:r>
            <a:endParaRPr lang="en-US" sz="1300" dirty="0"/>
          </a:p>
        </p:txBody>
      </p:sp>
      <p:sp>
        <p:nvSpPr>
          <p:cNvPr id="126" name="Shape 124"/>
          <p:cNvSpPr/>
          <p:nvPr/>
        </p:nvSpPr>
        <p:spPr>
          <a:xfrm>
            <a:off x="4666488" y="8151876"/>
            <a:ext cx="50292" cy="50292"/>
          </a:xfrm>
          <a:prstGeom prst="ellipse">
            <a:avLst/>
          </a:prstGeom>
          <a:solidFill>
            <a:srgbClr val="116F68"/>
          </a:solidFill>
          <a:ln/>
        </p:spPr>
      </p:sp>
      <p:sp>
        <p:nvSpPr>
          <p:cNvPr id="127" name="Text 125"/>
          <p:cNvSpPr/>
          <p:nvPr/>
        </p:nvSpPr>
        <p:spPr>
          <a:xfrm>
            <a:off x="4785360" y="8101584"/>
            <a:ext cx="1697736" cy="347472"/>
          </a:xfrm>
          <a:prstGeom prst="rect">
            <a:avLst/>
          </a:prstGeom>
          <a:noFill/>
          <a:ln/>
        </p:spPr>
        <p:txBody>
          <a:bodyPr wrap="square" lIns="0" tIns="0" rIns="0" bIns="0" rtlCol="0" anchor="t"/>
          <a:lstStyle/>
          <a:p>
            <a:pPr indent="0" marL="0">
              <a:lnSpc>
                <a:spcPct val="92000"/>
              </a:lnSpc>
              <a:buNone/>
            </a:pPr>
            <a:r>
              <a:rPr lang="en-US" sz="690" b="1" dirty="0">
                <a:solidFill>
                  <a:srgbClr val="183B39"/>
                </a:solidFill>
                <a:latin typeface="Calibri" pitchFamily="34" charset="0"/>
                <a:ea typeface="Calibri" pitchFamily="34" charset="-122"/>
                <a:cs typeface="Calibri" pitchFamily="34" charset="-120"/>
              </a:rPr>
              <a:t>Analysis recommends and sizes; it does not decide.</a:t>
            </a:r>
            <a:endParaRPr lang="en-US" sz="690" dirty="0"/>
          </a:p>
        </p:txBody>
      </p:sp>
      <p:sp>
        <p:nvSpPr>
          <p:cNvPr id="128" name="Shape 126"/>
          <p:cNvSpPr/>
          <p:nvPr/>
        </p:nvSpPr>
        <p:spPr>
          <a:xfrm>
            <a:off x="4666488" y="8517636"/>
            <a:ext cx="50292" cy="50292"/>
          </a:xfrm>
          <a:prstGeom prst="ellipse">
            <a:avLst/>
          </a:prstGeom>
          <a:solidFill>
            <a:srgbClr val="116F68"/>
          </a:solidFill>
          <a:ln/>
        </p:spPr>
      </p:sp>
      <p:sp>
        <p:nvSpPr>
          <p:cNvPr id="129" name="Text 127"/>
          <p:cNvSpPr/>
          <p:nvPr/>
        </p:nvSpPr>
        <p:spPr>
          <a:xfrm>
            <a:off x="4785360" y="8467344"/>
            <a:ext cx="1697736"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NKAM, RKAM and KAM approve loading, range and distribution.</a:t>
            </a:r>
            <a:endParaRPr lang="en-US" sz="690" dirty="0"/>
          </a:p>
        </p:txBody>
      </p:sp>
      <p:sp>
        <p:nvSpPr>
          <p:cNvPr id="130" name="Shape 128"/>
          <p:cNvSpPr/>
          <p:nvPr/>
        </p:nvSpPr>
        <p:spPr>
          <a:xfrm>
            <a:off x="4666488" y="8883396"/>
            <a:ext cx="50292" cy="50292"/>
          </a:xfrm>
          <a:prstGeom prst="ellipse">
            <a:avLst/>
          </a:prstGeom>
          <a:solidFill>
            <a:srgbClr val="116F68"/>
          </a:solidFill>
          <a:ln/>
        </p:spPr>
      </p:sp>
      <p:sp>
        <p:nvSpPr>
          <p:cNvPr id="131" name="Text 129"/>
          <p:cNvSpPr/>
          <p:nvPr/>
        </p:nvSpPr>
        <p:spPr>
          <a:xfrm>
            <a:off x="4785360" y="8833104"/>
            <a:ext cx="1697736"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Record what changed, the evidence, the owner and the date.</a:t>
            </a:r>
            <a:endParaRPr lang="en-US" sz="690" dirty="0"/>
          </a:p>
        </p:txBody>
      </p:sp>
      <p:sp>
        <p:nvSpPr>
          <p:cNvPr id="132" name="Shape 130"/>
          <p:cNvSpPr/>
          <p:nvPr/>
        </p:nvSpPr>
        <p:spPr>
          <a:xfrm>
            <a:off x="4666488" y="9249156"/>
            <a:ext cx="50292" cy="50292"/>
          </a:xfrm>
          <a:prstGeom prst="ellipse">
            <a:avLst/>
          </a:prstGeom>
          <a:solidFill>
            <a:srgbClr val="116F68"/>
          </a:solidFill>
          <a:ln/>
        </p:spPr>
      </p:sp>
      <p:sp>
        <p:nvSpPr>
          <p:cNvPr id="133" name="Text 131"/>
          <p:cNvSpPr/>
          <p:nvPr/>
        </p:nvSpPr>
        <p:spPr>
          <a:xfrm>
            <a:off x="4785360" y="9198864"/>
            <a:ext cx="1697736" cy="347472"/>
          </a:xfrm>
          <a:prstGeom prst="rect">
            <a:avLst/>
          </a:prstGeom>
          <a:noFill/>
          <a:ln/>
        </p:spPr>
        <p:txBody>
          <a:bodyPr wrap="square" lIns="0" tIns="0" rIns="0" bIns="0" rtlCol="0" anchor="t"/>
          <a:lstStyle/>
          <a:p>
            <a:pPr indent="0" marL="0">
              <a:lnSpc>
                <a:spcPct val="92000"/>
              </a:lnSpc>
              <a:buNone/>
            </a:pPr>
            <a:r>
              <a:rPr lang="en-US" sz="690" dirty="0">
                <a:solidFill>
                  <a:srgbClr val="183B39"/>
                </a:solidFill>
                <a:latin typeface="Calibri" pitchFamily="34" charset="0"/>
                <a:ea typeface="Calibri" pitchFamily="34" charset="-122"/>
                <a:cs typeface="Calibri" pitchFamily="34" charset="-120"/>
              </a:rPr>
              <a:t>Revoke or stop when the proof point fails.</a:t>
            </a:r>
            <a:endParaRPr lang="en-US" sz="690" dirty="0"/>
          </a:p>
        </p:txBody>
      </p:sp>
      <p:sp>
        <p:nvSpPr>
          <p:cNvPr id="134" name="Shape 132"/>
          <p:cNvSpPr/>
          <p:nvPr/>
        </p:nvSpPr>
        <p:spPr>
          <a:xfrm>
            <a:off x="265176" y="9930384"/>
            <a:ext cx="6327648" cy="475488"/>
          </a:xfrm>
          <a:prstGeom prst="roundRect">
            <a:avLst>
              <a:gd name="adj" fmla="val 3846"/>
            </a:avLst>
          </a:prstGeom>
          <a:solidFill>
            <a:srgbClr val="FBEDEC"/>
          </a:solidFill>
          <a:ln w="9525">
            <a:solidFill>
              <a:srgbClr val="D6544D"/>
            </a:solidFill>
            <a:prstDash val="solid"/>
          </a:ln>
        </p:spPr>
      </p:sp>
      <p:sp>
        <p:nvSpPr>
          <p:cNvPr id="135" name="Text 133"/>
          <p:cNvSpPr/>
          <p:nvPr/>
        </p:nvSpPr>
        <p:spPr>
          <a:xfrm>
            <a:off x="374904" y="9985248"/>
            <a:ext cx="6108192" cy="384048"/>
          </a:xfrm>
          <a:prstGeom prst="rect">
            <a:avLst/>
          </a:prstGeom>
          <a:noFill/>
          <a:ln/>
        </p:spPr>
        <p:txBody>
          <a:bodyPr wrap="square" lIns="0" tIns="0" rIns="0" bIns="0" rtlCol="0" anchor="t"/>
          <a:lstStyle/>
          <a:p>
            <a:pPr indent="0" marL="0">
              <a:lnSpc>
                <a:spcPct val="94000"/>
              </a:lnSpc>
              <a:buNone/>
            </a:pPr>
            <a:r>
              <a:rPr lang="en-US" sz="680" b="1" dirty="0">
                <a:solidFill>
                  <a:srgbClr val="D6544D"/>
                </a:solidFill>
                <a:latin typeface="Calibri" pitchFamily="34" charset="0"/>
                <a:ea typeface="Calibri" pitchFamily="34" charset="-122"/>
                <a:cs typeface="Calibri" pitchFamily="34" charset="-120"/>
              </a:rPr>
              <a:t>CHANGED SINCE THE PREVIOUS PACK   </a:t>
            </a:r>
            <a:pPr indent="0" marL="0">
              <a:lnSpc>
                <a:spcPct val="94000"/>
              </a:lnSpc>
              <a:buNone/>
            </a:pPr>
            <a:r>
              <a:rPr lang="en-US" sz="700" dirty="0">
                <a:solidFill>
                  <a:srgbClr val="183B39"/>
                </a:solidFill>
                <a:latin typeface="Calibri" pitchFamily="34" charset="0"/>
                <a:ea typeface="Calibri" pitchFamily="34" charset="-122"/>
                <a:cs typeface="Calibri" pitchFamily="34" charset="-120"/>
              </a:rPr>
              <a:t>Zone sales are now Modern Trade only. eB2B (₹2.20 Cr primary) and SIS are reported as their own channels, cut from the full July source with Channel == MT applied before aggregation. MT primary ₹47.02 Cr, MT offtake ₹33.96 Cr, gap ₹13.06 Cr — and national MT offtake now ties exactly to the sum of the six MT zones.</a:t>
            </a:r>
            <a:endParaRPr lang="en-US" sz="6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July 2026 Modern Trade Growth Command Centre</dc:title>
  <dc:subject>PptxGenJS Presentation</dc:subject>
  <dc:creator>Modern Trade Analytics</dc:creator>
  <cp:lastModifiedBy>Modern Trade Analytics</cp:lastModifiedBy>
  <cp:revision>1</cp:revision>
  <dcterms:created xsi:type="dcterms:W3CDTF">2026-08-16T15:46:32Z</dcterms:created>
  <dcterms:modified xsi:type="dcterms:W3CDTF">2026-08-16T15:46:32Z</dcterms:modified>
</cp:coreProperties>
</file>