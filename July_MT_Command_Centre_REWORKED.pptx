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6858000" cy="12191695"/>
  <p:notesSz cx="12191695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West</c:v>
                  </c:pt>
                  <c:pt idx="1">
                    <c:v>S-1</c:v>
                  </c:pt>
                  <c:pt idx="2">
                    <c:v>North</c:v>
                  </c:pt>
                  <c:pt idx="3">
                    <c:v>S-2</c:v>
                  </c:pt>
                  <c:pt idx="4">
                    <c:v>East</c:v>
                  </c:pt>
                  <c:pt idx="5">
                    <c:v>Central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10.0524</c:v>
                </c:pt>
                <c:pt idx="1">
                  <c:v>9.7986</c:v>
                </c:pt>
                <c:pt idx="2">
                  <c:v>11.9527</c:v>
                </c:pt>
                <c:pt idx="3">
                  <c:v>6.8914</c:v>
                </c:pt>
                <c:pt idx="4">
                  <c:v>7.8306</c:v>
                </c:pt>
                <c:pt idx="5">
                  <c:v>2.6873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West</c:v>
                  </c:pt>
                  <c:pt idx="1">
                    <c:v>S-1</c:v>
                  </c:pt>
                  <c:pt idx="2">
                    <c:v>North</c:v>
                  </c:pt>
                  <c:pt idx="3">
                    <c:v>S-2</c:v>
                  </c:pt>
                  <c:pt idx="4">
                    <c:v>East</c:v>
                  </c:pt>
                  <c:pt idx="5">
                    <c:v>Central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8.2769</c:v>
                </c:pt>
                <c:pt idx="1">
                  <c:v>8.1886</c:v>
                </c:pt>
                <c:pt idx="2">
                  <c:v>6.9873</c:v>
                </c:pt>
                <c:pt idx="3">
                  <c:v>4.9102</c:v>
                </c:pt>
                <c:pt idx="4">
                  <c:v>3.5511</c:v>
                </c:pt>
                <c:pt idx="5">
                  <c:v>2.1177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Recoverable</c:v>
                </c:pt>
              </c:strCache>
            </c:strRef>
          </c:tx>
          <c:spPr>
            <a:solidFill>
              <a:srgbClr val="2B9A6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60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Central</c:v>
                  </c:pt>
                  <c:pt idx="1">
                    <c:v>South-2</c:v>
                  </c:pt>
                  <c:pt idx="2">
                    <c:v>North</c:v>
                  </c:pt>
                  <c:pt idx="3">
                    <c:v>East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0.11</c:v>
                </c:pt>
                <c:pt idx="1">
                  <c:v>0.81</c:v>
                </c:pt>
                <c:pt idx="2">
                  <c:v>2.92</c:v>
                </c:pt>
                <c:pt idx="3">
                  <c:v>2.94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600" u="none">
                  <a:solidFill>
                    <a:srgbClr val="183B3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6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 share</c:v>
                </c:pt>
              </c:strCache>
            </c:strRef>
          </c:tx>
          <c:spPr>
            <a:solidFill>
              <a:srgbClr val="9DC9C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66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C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DC9C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DC9C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8A59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Himalaya</c:v>
                  </c:pt>
                  <c:pt idx="1">
                    <c:v>Garnier</c:v>
                  </c:pt>
                  <c:pt idx="2">
                    <c:v>Pond's</c:v>
                  </c:pt>
                  <c:pt idx="3">
                    <c:v>Mamaearth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22.6</c:v>
                </c:pt>
                <c:pt idx="1">
                  <c:v>14.2</c:v>
                </c:pt>
                <c:pt idx="2">
                  <c:v>13.8</c:v>
                </c:pt>
                <c:pt idx="3">
                  <c:v>10.5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660" u="none">
                  <a:solidFill>
                    <a:srgbClr val="183B3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 share</c:v>
                </c:pt>
              </c:strCache>
            </c:strRef>
          </c:tx>
          <c:spPr>
            <a:solidFill>
              <a:srgbClr val="A9C4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66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C4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C4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7DA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Dove</c:v>
                  </c:pt>
                  <c:pt idx="1">
                    <c:v>H&amp;S</c:v>
                  </c:pt>
                  <c:pt idx="2">
                    <c:v>Mamaearth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16.6</c:v>
                </c:pt>
                <c:pt idx="1">
                  <c:v>13</c:v>
                </c:pt>
                <c:pt idx="2">
                  <c:v>3.7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660" u="none">
                  <a:solidFill>
                    <a:srgbClr val="183B3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2.0929</c:v>
                </c:pt>
                <c:pt idx="1">
                  <c:v>2.454</c:v>
                </c:pt>
                <c:pt idx="2">
                  <c:v>2.423</c:v>
                </c:pt>
                <c:pt idx="3">
                  <c:v>2.726</c:v>
                </c:pt>
                <c:pt idx="4">
                  <c:v>2.8988</c:v>
                </c:pt>
                <c:pt idx="5">
                  <c:v>2.3895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1.3295</c:v>
                </c:pt>
                <c:pt idx="1">
                  <c:v>1.5493</c:v>
                </c:pt>
                <c:pt idx="2">
                  <c:v>1.5924</c:v>
                </c:pt>
                <c:pt idx="3">
                  <c:v>1.6361</c:v>
                </c:pt>
                <c:pt idx="4">
                  <c:v>1.7881</c:v>
                </c:pt>
                <c:pt idx="5">
                  <c:v>1.5283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0.4378</c:v>
                </c:pt>
                <c:pt idx="1">
                  <c:v>1.0265</c:v>
                </c:pt>
                <c:pt idx="2">
                  <c:v>0.9663</c:v>
                </c:pt>
                <c:pt idx="3">
                  <c:v>0.815</c:v>
                </c:pt>
                <c:pt idx="4">
                  <c:v>0.4599</c:v>
                </c:pt>
                <c:pt idx="5">
                  <c:v>0.219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1.1237</c:v>
                </c:pt>
                <c:pt idx="1">
                  <c:v>1.3265</c:v>
                </c:pt>
                <c:pt idx="2">
                  <c:v>1.4203</c:v>
                </c:pt>
                <c:pt idx="3">
                  <c:v>2.0396</c:v>
                </c:pt>
                <c:pt idx="4">
                  <c:v>2.1851</c:v>
                </c:pt>
                <c:pt idx="5">
                  <c:v>2.8436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0.3484</c:v>
                </c:pt>
                <c:pt idx="1">
                  <c:v>0.6647</c:v>
                </c:pt>
                <c:pt idx="2">
                  <c:v>0.728</c:v>
                </c:pt>
                <c:pt idx="3">
                  <c:v>1.0665</c:v>
                </c:pt>
                <c:pt idx="4">
                  <c:v>0.6722</c:v>
                </c:pt>
                <c:pt idx="5">
                  <c:v>0.5503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0.1706</c:v>
                </c:pt>
                <c:pt idx="1">
                  <c:v>0.1715</c:v>
                </c:pt>
                <c:pt idx="2">
                  <c:v>0.1977</c:v>
                </c:pt>
                <c:pt idx="3">
                  <c:v>0.1672</c:v>
                </c:pt>
                <c:pt idx="4">
                  <c:v>0.1629</c:v>
                </c:pt>
                <c:pt idx="5">
                  <c:v>0.2181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0.9362</c:v>
                </c:pt>
                <c:pt idx="1">
                  <c:v>1.0264</c:v>
                </c:pt>
                <c:pt idx="2">
                  <c:v>1.0769</c:v>
                </c:pt>
                <c:pt idx="3">
                  <c:v>1.2856</c:v>
                </c:pt>
                <c:pt idx="4">
                  <c:v>1.1223</c:v>
                </c:pt>
                <c:pt idx="5">
                  <c:v>1.1188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0.8603</c:v>
                </c:pt>
                <c:pt idx="1">
                  <c:v>0.9523</c:v>
                </c:pt>
                <c:pt idx="2">
                  <c:v>0.9632</c:v>
                </c:pt>
                <c:pt idx="3">
                  <c:v>1.2141</c:v>
                </c:pt>
                <c:pt idx="4">
                  <c:v>1.2798</c:v>
                </c:pt>
                <c:pt idx="5">
                  <c:v>1.2277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0.2641</c:v>
                </c:pt>
                <c:pt idx="1">
                  <c:v>0.3788</c:v>
                </c:pt>
                <c:pt idx="2">
                  <c:v>0.4567</c:v>
                </c:pt>
                <c:pt idx="3">
                  <c:v>0.4755</c:v>
                </c:pt>
                <c:pt idx="4">
                  <c:v>0.3346</c:v>
                </c:pt>
                <c:pt idx="5">
                  <c:v>0.3219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0.3679</c:v>
                </c:pt>
                <c:pt idx="1">
                  <c:v>0.3982</c:v>
                </c:pt>
                <c:pt idx="2">
                  <c:v>0.5194</c:v>
                </c:pt>
                <c:pt idx="3">
                  <c:v>0.7716</c:v>
                </c:pt>
                <c:pt idx="4">
                  <c:v>0.7147</c:v>
                </c:pt>
                <c:pt idx="5">
                  <c:v>1.1802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0.2529</c:v>
                </c:pt>
                <c:pt idx="1">
                  <c:v>0.4333</c:v>
                </c:pt>
                <c:pt idx="2">
                  <c:v>0.6458</c:v>
                </c:pt>
                <c:pt idx="3">
                  <c:v>0.8138</c:v>
                </c:pt>
                <c:pt idx="4">
                  <c:v>0.5066</c:v>
                </c:pt>
                <c:pt idx="5">
                  <c:v>0.607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0.1424</c:v>
                </c:pt>
                <c:pt idx="1">
                  <c:v>0.1456</c:v>
                </c:pt>
                <c:pt idx="2">
                  <c:v>0.1665</c:v>
                </c:pt>
                <c:pt idx="3">
                  <c:v>0.1917</c:v>
                </c:pt>
                <c:pt idx="4">
                  <c:v>0.1937</c:v>
                </c:pt>
                <c:pt idx="5">
                  <c:v>0.1866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1.7192</c:v>
                </c:pt>
                <c:pt idx="1">
                  <c:v>2.0835</c:v>
                </c:pt>
                <c:pt idx="2">
                  <c:v>2.232</c:v>
                </c:pt>
                <c:pt idx="3">
                  <c:v>2.4319</c:v>
                </c:pt>
                <c:pt idx="4">
                  <c:v>2.2778</c:v>
                </c:pt>
                <c:pt idx="5">
                  <c:v>2.0919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1.2172</c:v>
                </c:pt>
                <c:pt idx="1">
                  <c:v>1.3299</c:v>
                </c:pt>
                <c:pt idx="2">
                  <c:v>1.6309</c:v>
                </c:pt>
                <c:pt idx="3">
                  <c:v>1.7503</c:v>
                </c:pt>
                <c:pt idx="4">
                  <c:v>1.6847</c:v>
                </c:pt>
                <c:pt idx="5">
                  <c:v>1.6785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0.386</c:v>
                </c:pt>
                <c:pt idx="1">
                  <c:v>0.6555</c:v>
                </c:pt>
                <c:pt idx="2">
                  <c:v>0.7694</c:v>
                </c:pt>
                <c:pt idx="3">
                  <c:v>0.79</c:v>
                </c:pt>
                <c:pt idx="4">
                  <c:v>0.5647</c:v>
                </c:pt>
                <c:pt idx="5">
                  <c:v>0.3459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0.4877</c:v>
                </c:pt>
                <c:pt idx="1">
                  <c:v>0.664</c:v>
                </c:pt>
                <c:pt idx="2">
                  <c:v>0.7389</c:v>
                </c:pt>
                <c:pt idx="3">
                  <c:v>1.0867</c:v>
                </c:pt>
                <c:pt idx="4">
                  <c:v>1.1125</c:v>
                </c:pt>
                <c:pt idx="5">
                  <c:v>1.4139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0.2136</c:v>
                </c:pt>
                <c:pt idx="1">
                  <c:v>0.4238</c:v>
                </c:pt>
                <c:pt idx="2">
                  <c:v>0.478</c:v>
                </c:pt>
                <c:pt idx="3">
                  <c:v>0.7077</c:v>
                </c:pt>
                <c:pt idx="4">
                  <c:v>0.511</c:v>
                </c:pt>
                <c:pt idx="5">
                  <c:v>0.3638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0.0733</c:v>
                </c:pt>
                <c:pt idx="1">
                  <c:v>0.1001</c:v>
                </c:pt>
                <c:pt idx="2">
                  <c:v>0.1125</c:v>
                </c:pt>
                <c:pt idx="3">
                  <c:v>0.1097</c:v>
                </c:pt>
                <c:pt idx="4">
                  <c:v>0.0996</c:v>
                </c:pt>
                <c:pt idx="5">
                  <c:v>0.1021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0.7289</c:v>
                </c:pt>
                <c:pt idx="1">
                  <c:v>0.8852</c:v>
                </c:pt>
                <c:pt idx="2">
                  <c:v>0.8872</c:v>
                </c:pt>
                <c:pt idx="3">
                  <c:v>1.0779</c:v>
                </c:pt>
                <c:pt idx="4">
                  <c:v>1.227</c:v>
                </c:pt>
                <c:pt idx="5">
                  <c:v>1.0426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0.6614</c:v>
                </c:pt>
                <c:pt idx="1">
                  <c:v>0.7824</c:v>
                </c:pt>
                <c:pt idx="2">
                  <c:v>0.8401</c:v>
                </c:pt>
                <c:pt idx="3">
                  <c:v>0.8741</c:v>
                </c:pt>
                <c:pt idx="4">
                  <c:v>0.9952</c:v>
                </c:pt>
                <c:pt idx="5">
                  <c:v>0.9423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0.121</c:v>
                </c:pt>
                <c:pt idx="1">
                  <c:v>0.247</c:v>
                </c:pt>
                <c:pt idx="2">
                  <c:v>0.2813</c:v>
                </c:pt>
                <c:pt idx="3">
                  <c:v>0.2857</c:v>
                </c:pt>
                <c:pt idx="4">
                  <c:v>0.2002</c:v>
                </c:pt>
                <c:pt idx="5">
                  <c:v>0.1361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0.1124</c:v>
                </c:pt>
                <c:pt idx="1">
                  <c:v>0.1877</c:v>
                </c:pt>
                <c:pt idx="2">
                  <c:v>0.2935</c:v>
                </c:pt>
                <c:pt idx="3">
                  <c:v>0.4778</c:v>
                </c:pt>
                <c:pt idx="4">
                  <c:v>0.503</c:v>
                </c:pt>
                <c:pt idx="5">
                  <c:v>0.5594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0.0861</c:v>
                </c:pt>
                <c:pt idx="1">
                  <c:v>0.1261</c:v>
                </c:pt>
                <c:pt idx="2">
                  <c:v>0.1731</c:v>
                </c:pt>
                <c:pt idx="3">
                  <c:v>0.363</c:v>
                </c:pt>
                <c:pt idx="4">
                  <c:v>0.2045</c:v>
                </c:pt>
                <c:pt idx="5">
                  <c:v>0.1963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0.04</c:v>
                </c:pt>
                <c:pt idx="1">
                  <c:v>0.0385</c:v>
                </c:pt>
                <c:pt idx="2">
                  <c:v>0.0454</c:v>
                </c:pt>
                <c:pt idx="3">
                  <c:v>0.0486</c:v>
                </c:pt>
                <c:pt idx="4">
                  <c:v>0.0433</c:v>
                </c:pt>
                <c:pt idx="5">
                  <c:v>0.0516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0.8135</c:v>
                </c:pt>
                <c:pt idx="1">
                  <c:v>0.9932</c:v>
                </c:pt>
                <c:pt idx="2">
                  <c:v>1.0007</c:v>
                </c:pt>
                <c:pt idx="3">
                  <c:v>1.148</c:v>
                </c:pt>
                <c:pt idx="4">
                  <c:v>1.049</c:v>
                </c:pt>
                <c:pt idx="5">
                  <c:v>1.3383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0.6235</c:v>
                </c:pt>
                <c:pt idx="1">
                  <c:v>0.6621</c:v>
                </c:pt>
                <c:pt idx="2">
                  <c:v>0.9505</c:v>
                </c:pt>
                <c:pt idx="3">
                  <c:v>1.0708</c:v>
                </c:pt>
                <c:pt idx="4">
                  <c:v>0.9618</c:v>
                </c:pt>
                <c:pt idx="5">
                  <c:v>1.1755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0.1535</c:v>
                </c:pt>
                <c:pt idx="1">
                  <c:v>0.1634</c:v>
                </c:pt>
                <c:pt idx="2">
                  <c:v>0.2517</c:v>
                </c:pt>
                <c:pt idx="3">
                  <c:v>0.302</c:v>
                </c:pt>
                <c:pt idx="4">
                  <c:v>0.1904</c:v>
                </c:pt>
                <c:pt idx="5">
                  <c:v>0.1893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0.0606</c:v>
                </c:pt>
                <c:pt idx="1">
                  <c:v>0.0795</c:v>
                </c:pt>
                <c:pt idx="2">
                  <c:v>0.1159</c:v>
                </c:pt>
                <c:pt idx="3">
                  <c:v>0.1131</c:v>
                </c:pt>
                <c:pt idx="4">
                  <c:v>0.1543</c:v>
                </c:pt>
                <c:pt idx="5">
                  <c:v>0.473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0.0552</c:v>
                </c:pt>
                <c:pt idx="1">
                  <c:v>0.0585</c:v>
                </c:pt>
                <c:pt idx="2">
                  <c:v>0.0855</c:v>
                </c:pt>
                <c:pt idx="3">
                  <c:v>0.1036</c:v>
                </c:pt>
                <c:pt idx="4">
                  <c:v>0.0671</c:v>
                </c:pt>
                <c:pt idx="5">
                  <c:v>0.0933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0.0366</c:v>
                </c:pt>
                <c:pt idx="1">
                  <c:v>0.0307</c:v>
                </c:pt>
                <c:pt idx="2">
                  <c:v>0.0403</c:v>
                </c:pt>
                <c:pt idx="3">
                  <c:v>0.0458</c:v>
                </c:pt>
                <c:pt idx="4">
                  <c:v>0.0702</c:v>
                </c:pt>
                <c:pt idx="5">
                  <c:v>0.0517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0.5446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0.3981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0.0918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0.6611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0.1806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0.0184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1.6358</c:v>
                </c:pt>
                <c:pt idx="1">
                  <c:v>1.6812</c:v>
                </c:pt>
                <c:pt idx="2">
                  <c:v>1.7321</c:v>
                </c:pt>
                <c:pt idx="3">
                  <c:v>2.2883</c:v>
                </c:pt>
                <c:pt idx="4">
                  <c:v>2.0787</c:v>
                </c:pt>
                <c:pt idx="5">
                  <c:v>2.1667</c:v>
                </c:pt>
                <c:pt idx="6">
                  <c:v>2.0664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solidFill>
              <a:srgbClr val="F2B84B"/>
            </a:solidFill>
            <a:ln w="25400" cap="flat">
              <a:solidFill>
                <a:srgbClr val="F2B84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222</c:v>
                </c:pt>
                <c:pt idx="1">
                  <c:v>217</c:v>
                </c:pt>
                <c:pt idx="2">
                  <c:v>203</c:v>
                </c:pt>
                <c:pt idx="3">
                  <c:v>196</c:v>
                </c:pt>
                <c:pt idx="4">
                  <c:v>190</c:v>
                </c:pt>
                <c:pt idx="5">
                  <c:v>200</c:v>
                </c:pt>
                <c:pt idx="6">
                  <c:v>198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ln w="2857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600" u="none">
                    <a:solidFill>
                      <a:srgbClr val="5F716E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1.6358</c:v>
                </c:pt>
                <c:pt idx="1">
                  <c:v>1.6812</c:v>
                </c:pt>
                <c:pt idx="2">
                  <c:v>1.7321</c:v>
                </c:pt>
                <c:pt idx="3">
                  <c:v>2.2883</c:v>
                </c:pt>
                <c:pt idx="4">
                  <c:v>2.0787</c:v>
                </c:pt>
                <c:pt idx="5">
                  <c:v>2.1667</c:v>
                </c:pt>
                <c:pt idx="6">
                  <c:v>2.0664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600" u="none">
                  <a:solidFill>
                    <a:srgbClr val="5F716E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solidFill>
              <a:srgbClr val="F2B84B"/>
            </a:solidFill>
            <a:ln w="28575" cap="flat">
              <a:solidFill>
                <a:srgbClr val="F2B84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00" u="none">
                    <a:solidFill>
                      <a:srgbClr val="5F716E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222</c:v>
                </c:pt>
                <c:pt idx="1">
                  <c:v>217</c:v>
                </c:pt>
                <c:pt idx="2">
                  <c:v>203</c:v>
                </c:pt>
                <c:pt idx="3">
                  <c:v>196</c:v>
                </c:pt>
                <c:pt idx="4">
                  <c:v>190</c:v>
                </c:pt>
                <c:pt idx="5">
                  <c:v>200</c:v>
                </c:pt>
                <c:pt idx="6">
                  <c:v>198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600" u="none">
                  <a:solidFill>
                    <a:srgbClr val="5F716E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NPI mix %</c:v>
                </c:pt>
              </c:strCache>
            </c:strRef>
          </c:tx>
          <c:spPr>
            <a:solidFill>
              <a:srgbClr val="F2B84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62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2B84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B9A6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B9A6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B9A6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6544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6544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South-2</c:v>
                  </c:pt>
                  <c:pt idx="1">
                    <c:v>West</c:v>
                  </c:pt>
                  <c:pt idx="2">
                    <c:v>South-1</c:v>
                  </c:pt>
                  <c:pt idx="3">
                    <c:v>Central</c:v>
                  </c:pt>
                  <c:pt idx="4">
                    <c:v>North</c:v>
                  </c:pt>
                  <c:pt idx="5">
                    <c:v>East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6.37</c:v>
                </c:pt>
                <c:pt idx="1">
                  <c:v>6.58</c:v>
                </c:pt>
                <c:pt idx="2">
                  <c:v>7.88</c:v>
                </c:pt>
                <c:pt idx="3">
                  <c:v>8.54</c:v>
                </c:pt>
                <c:pt idx="4">
                  <c:v>9.24</c:v>
                </c:pt>
                <c:pt idx="5">
                  <c:v>10.23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620" u="none">
                  <a:solidFill>
                    <a:srgbClr val="183B3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NPI offtake</c:v>
                </c:pt>
              </c:strCache>
            </c:strRef>
          </c:tx>
          <c:spPr>
            <a:solidFill>
              <a:srgbClr val="5F716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62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F71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F71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F71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F71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F716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F716E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F2B84B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6544D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Sancus</c:v>
                  </c:pt>
                  <c:pt idx="1">
                    <c:v>Wellness</c:v>
                  </c:pt>
                  <c:pt idx="2">
                    <c:v>Metro</c:v>
                  </c:pt>
                  <c:pt idx="3">
                    <c:v>Health &amp; Glow</c:v>
                  </c:pt>
                  <c:pt idx="4">
                    <c:v>FSN / Nykaa</c:v>
                  </c:pt>
                  <c:pt idx="5">
                    <c:v>Lulu</c:v>
                  </c:pt>
                  <c:pt idx="6">
                    <c:v>DMart</c:v>
                  </c:pt>
                  <c:pt idx="7">
                    <c:v>Reliance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0.03</c:v>
                </c:pt>
                <c:pt idx="1">
                  <c:v>0.04</c:v>
                </c:pt>
                <c:pt idx="2">
                  <c:v>0.05</c:v>
                </c:pt>
                <c:pt idx="3">
                  <c:v>0.06</c:v>
                </c:pt>
                <c:pt idx="4">
                  <c:v>0.13</c:v>
                </c:pt>
                <c:pt idx="5">
                  <c:v>0.18</c:v>
                </c:pt>
                <c:pt idx="6">
                  <c:v>0.98</c:v>
                </c:pt>
                <c:pt idx="7">
                  <c:v>1.3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620" u="none">
                  <a:solidFill>
                    <a:srgbClr val="183B3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6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DMart</c:v>
                  </c:pt>
                  <c:pt idx="1">
                    <c:v>Reliance</c:v>
                  </c:pt>
                  <c:pt idx="2">
                    <c:v>Apollo</c:v>
                  </c:pt>
                  <c:pt idx="3">
                    <c:v>FSN / Nykaa</c:v>
                  </c:pt>
                  <c:pt idx="4">
                    <c:v>Lulu</c:v>
                  </c:pt>
                  <c:pt idx="5">
                    <c:v>Wellness Forever</c:v>
                  </c:pt>
                  <c:pt idx="6">
                    <c:v>Health &amp; Glow</c:v>
                  </c:pt>
                  <c:pt idx="7">
                    <c:v>Metro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18.2536</c:v>
                </c:pt>
                <c:pt idx="1">
                  <c:v>15.6615</c:v>
                </c:pt>
                <c:pt idx="2">
                  <c:v>7.2003</c:v>
                </c:pt>
                <c:pt idx="3">
                  <c:v>2.079</c:v>
                </c:pt>
                <c:pt idx="4">
                  <c:v>0</c:v>
                </c:pt>
                <c:pt idx="5">
                  <c:v>0.4855</c:v>
                </c:pt>
                <c:pt idx="6">
                  <c:v>0.2203</c:v>
                </c:pt>
                <c:pt idx="7">
                  <c:v>1.8449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DMart</c:v>
                  </c:pt>
                  <c:pt idx="1">
                    <c:v>Reliance</c:v>
                  </c:pt>
                  <c:pt idx="2">
                    <c:v>Apollo</c:v>
                  </c:pt>
                  <c:pt idx="3">
                    <c:v>FSN / Nykaa</c:v>
                  </c:pt>
                  <c:pt idx="4">
                    <c:v>Lulu</c:v>
                  </c:pt>
                  <c:pt idx="5">
                    <c:v>Wellness Forever</c:v>
                  </c:pt>
                  <c:pt idx="6">
                    <c:v>Health &amp; Glow</c:v>
                  </c:pt>
                  <c:pt idx="7">
                    <c:v>Metro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13.9672</c:v>
                </c:pt>
                <c:pt idx="1">
                  <c:v>8.0564</c:v>
                </c:pt>
                <c:pt idx="2">
                  <c:v>7.1816</c:v>
                </c:pt>
                <c:pt idx="3">
                  <c:v>2.0664</c:v>
                </c:pt>
                <c:pt idx="4">
                  <c:v>1.6977</c:v>
                </c:pt>
                <c:pt idx="5">
                  <c:v>0.7209</c:v>
                </c:pt>
                <c:pt idx="6">
                  <c:v>0.5081</c:v>
                </c:pt>
                <c:pt idx="7">
                  <c:v>0.4858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66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Mamaearth</c:v>
                  </c:pt>
                  <c:pt idx="1">
                    <c:v>The Derma Co.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33.38</c:v>
                </c:pt>
                <c:pt idx="1">
                  <c:v>15.19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66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Mamaearth</c:v>
                  </c:pt>
                  <c:pt idx="1">
                    <c:v>The Derma Co.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24.49</c:v>
                </c:pt>
                <c:pt idx="1">
                  <c:v>11.03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660" u="none">
                  <a:solidFill>
                    <a:srgbClr val="183B3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7.0274</c:v>
                </c:pt>
                <c:pt idx="1">
                  <c:v>8.1685</c:v>
                </c:pt>
                <c:pt idx="2">
                  <c:v>8.5475</c:v>
                </c:pt>
                <c:pt idx="3">
                  <c:v>9.6257</c:v>
                </c:pt>
                <c:pt idx="4">
                  <c:v>9.6513</c:v>
                </c:pt>
                <c:pt idx="5">
                  <c:v>8.5257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solidFill>
              <a:srgbClr val="2E7DA8"/>
            </a:solidFill>
            <a:ln w="25400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4.8066</c:v>
                </c:pt>
                <c:pt idx="1">
                  <c:v>5.3825</c:v>
                </c:pt>
                <c:pt idx="2">
                  <c:v>6.1125</c:v>
                </c:pt>
                <c:pt idx="3">
                  <c:v>6.6803</c:v>
                </c:pt>
                <c:pt idx="4">
                  <c:v>6.8695</c:v>
                </c:pt>
                <c:pt idx="5">
                  <c:v>6.9504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D6544D"/>
            </a:solidFill>
            <a:ln w="25400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1.5518</c:v>
                </c:pt>
                <c:pt idx="1">
                  <c:v>2.7323</c:v>
                </c:pt>
                <c:pt idx="2">
                  <c:v>3.095</c:v>
                </c:pt>
                <c:pt idx="3">
                  <c:v>2.9543</c:v>
                </c:pt>
                <c:pt idx="4">
                  <c:v>1.991</c:v>
                </c:pt>
                <c:pt idx="5">
                  <c:v>1.304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2.2515</c:v>
                </c:pt>
                <c:pt idx="1">
                  <c:v>2.7532</c:v>
                </c:pt>
                <c:pt idx="2">
                  <c:v>3.2367</c:v>
                </c:pt>
                <c:pt idx="3">
                  <c:v>4.6282</c:v>
                </c:pt>
                <c:pt idx="4">
                  <c:v>4.8318</c:v>
                </c:pt>
                <c:pt idx="5">
                  <c:v>7.1312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2E7DA8"/>
            </a:solidFill>
            <a:ln w="25400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1.0422</c:v>
                </c:pt>
                <c:pt idx="1">
                  <c:v>1.8094</c:v>
                </c:pt>
                <c:pt idx="2">
                  <c:v>2.274</c:v>
                </c:pt>
                <c:pt idx="3">
                  <c:v>3.1776</c:v>
                </c:pt>
                <c:pt idx="4">
                  <c:v>2.0479</c:v>
                </c:pt>
                <c:pt idx="5">
                  <c:v>1.9915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solidFill>
              <a:srgbClr val="D6544D"/>
            </a:solidFill>
            <a:ln w="25400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0.5635</c:v>
                </c:pt>
                <c:pt idx="1">
                  <c:v>0.5748</c:v>
                </c:pt>
                <c:pt idx="2">
                  <c:v>0.6938</c:v>
                </c:pt>
                <c:pt idx="3">
                  <c:v>0.6607</c:v>
                </c:pt>
                <c:pt idx="4">
                  <c:v>0.6635</c:v>
                </c:pt>
                <c:pt idx="5">
                  <c:v>0.6285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chart" Target="/ppt/charts/chart1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chart" Target="/ppt/charts/chart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chart" Target="/ppt/charts/chart2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chart" Target="/ppt/charts/chart25.xml"/><Relationship Id="rId3" Type="http://schemas.openxmlformats.org/officeDocument/2006/relationships/chart" Target="/ppt/charts/chart26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Modern Trade Growth Command Centre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Honasa Consumer | Primary, offtake, portfolio and execution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365760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FC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gap = primary − offtake on comparable mapped cuts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265176" y="1261872"/>
            <a:ext cx="6327648" cy="1005840"/>
          </a:xfrm>
          <a:prstGeom prst="roundRect">
            <a:avLst>
              <a:gd name="adj" fmla="val 2727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1353312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₹5.87 Cr of July offtake is recoverable at your own internal benchmark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" y="1700784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₹36.10 Cr offtake  •  73.4% conversion  •  ₹15.17 Cr gross gap  •  76% of it in North and East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84632" y="1938528"/>
            <a:ext cx="5888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North and East converted at the rate West and South-1 already achieve, national conversion moves 73.4% → 85.3% with no additional primary. That is the mandate: convert what is already billed, not bill more.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5176" y="241401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5" name="Text 23"/>
          <p:cNvSpPr/>
          <p:nvPr/>
        </p:nvSpPr>
        <p:spPr>
          <a:xfrm>
            <a:off x="347472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FLOW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56616" y="2779776"/>
            <a:ext cx="1834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zone (₹ Cr)</a:t>
            </a:r>
            <a:endParaRPr lang="en-US" sz="72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338328" y="2980944"/>
          <a:ext cx="1871472" cy="13898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8" name="Text 25"/>
          <p:cNvSpPr/>
          <p:nvPr/>
        </p:nvSpPr>
        <p:spPr>
          <a:xfrm>
            <a:off x="356616" y="4535424"/>
            <a:ext cx="1834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and South-1 convert 82–84%. North and East convert 46–59% on more primary.</a:t>
            </a:r>
            <a:endParaRPr lang="en-US" sz="680" dirty="0"/>
          </a:p>
        </p:txBody>
      </p:sp>
      <p:sp>
        <p:nvSpPr>
          <p:cNvPr id="29" name="Shape 26"/>
          <p:cNvSpPr/>
          <p:nvPr/>
        </p:nvSpPr>
        <p:spPr>
          <a:xfrm>
            <a:off x="2420112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420112" y="2414016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31" name="Text 28"/>
          <p:cNvSpPr/>
          <p:nvPr/>
        </p:nvSpPr>
        <p:spPr>
          <a:xfrm>
            <a:off x="2502408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GAP, GROSS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511552" y="2779776"/>
            <a:ext cx="1834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₹15.17 Cr</a:t>
            </a:r>
            <a:endParaRPr lang="en-US" sz="1900" dirty="0"/>
          </a:p>
        </p:txBody>
      </p:sp>
      <p:sp>
        <p:nvSpPr>
          <p:cNvPr id="33" name="Text 30"/>
          <p:cNvSpPr/>
          <p:nvPr/>
        </p:nvSpPr>
        <p:spPr>
          <a:xfrm>
            <a:off x="2529840" y="3163824"/>
            <a:ext cx="1798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zone gap — the pack previously reported ₹13.11 Cr</a:t>
            </a:r>
            <a:endParaRPr lang="en-US" sz="680" dirty="0"/>
          </a:p>
        </p:txBody>
      </p:sp>
      <p:sp>
        <p:nvSpPr>
          <p:cNvPr id="34" name="Shape 31"/>
          <p:cNvSpPr/>
          <p:nvPr/>
        </p:nvSpPr>
        <p:spPr>
          <a:xfrm>
            <a:off x="2529840" y="357987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35" name="Text 32"/>
          <p:cNvSpPr/>
          <p:nvPr/>
        </p:nvSpPr>
        <p:spPr>
          <a:xfrm>
            <a:off x="2648712" y="352958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gap ₹13.27 Cr sits in DMart, Reliance and Metro.</a:t>
            </a:r>
            <a:endParaRPr lang="en-US" sz="690" dirty="0"/>
          </a:p>
        </p:txBody>
      </p:sp>
      <p:sp>
        <p:nvSpPr>
          <p:cNvPr id="36" name="Shape 33"/>
          <p:cNvSpPr/>
          <p:nvPr/>
        </p:nvSpPr>
        <p:spPr>
          <a:xfrm>
            <a:off x="2529840" y="396392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37" name="Text 34"/>
          <p:cNvSpPr/>
          <p:nvPr/>
        </p:nvSpPr>
        <p:spPr>
          <a:xfrm>
            <a:off x="2648712" y="391363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gap ₹2.23 Cr is three chains with unmapped primary.</a:t>
            </a:r>
            <a:endParaRPr lang="en-US" sz="690" dirty="0"/>
          </a:p>
        </p:txBody>
      </p:sp>
      <p:sp>
        <p:nvSpPr>
          <p:cNvPr id="38" name="Shape 35"/>
          <p:cNvSpPr/>
          <p:nvPr/>
        </p:nvSpPr>
        <p:spPr>
          <a:xfrm>
            <a:off x="2529840" y="434797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39" name="Text 36"/>
          <p:cNvSpPr/>
          <p:nvPr/>
        </p:nvSpPr>
        <p:spPr>
          <a:xfrm>
            <a:off x="2648712" y="429768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Netting the two hid ₹2.06 Cr of recoverable value.</a:t>
            </a:r>
            <a:endParaRPr lang="en-US" sz="690" dirty="0"/>
          </a:p>
        </p:txBody>
      </p:sp>
      <p:sp>
        <p:nvSpPr>
          <p:cNvPr id="40" name="Shape 37"/>
          <p:cNvSpPr/>
          <p:nvPr/>
        </p:nvSpPr>
        <p:spPr>
          <a:xfrm>
            <a:off x="4575048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575048" y="2414016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42" name="Text 39"/>
          <p:cNvSpPr/>
          <p:nvPr/>
        </p:nvSpPr>
        <p:spPr>
          <a:xfrm>
            <a:off x="4657344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PRIZE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4666488" y="2779776"/>
            <a:ext cx="1834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₹5.87 Cr</a:t>
            </a:r>
            <a:endParaRPr lang="en-US" sz="1900" dirty="0"/>
          </a:p>
        </p:txBody>
      </p:sp>
      <p:sp>
        <p:nvSpPr>
          <p:cNvPr id="44" name="Text 41"/>
          <p:cNvSpPr/>
          <p:nvPr/>
        </p:nvSpPr>
        <p:spPr>
          <a:xfrm>
            <a:off x="4666488" y="3163824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month, no extra primary</a:t>
            </a:r>
            <a:endParaRPr lang="en-US" sz="680" dirty="0"/>
          </a:p>
        </p:txBody>
      </p:sp>
      <p:sp>
        <p:nvSpPr>
          <p:cNvPr id="45" name="Text 42"/>
          <p:cNvSpPr/>
          <p:nvPr/>
        </p:nvSpPr>
        <p:spPr>
          <a:xfrm>
            <a:off x="4666488" y="3383280"/>
            <a:ext cx="1834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Recoverable by zone (₹ Cr)</a:t>
            </a:r>
            <a:endParaRPr lang="en-US" sz="720" dirty="0"/>
          </a:p>
        </p:txBody>
      </p:sp>
      <p:graphicFrame>
        <p:nvGraphicFramePr>
          <p:cNvPr id="46" name="Chart 1" descr=""/>
          <p:cNvGraphicFramePr/>
          <p:nvPr/>
        </p:nvGraphicFramePr>
        <p:xfrm>
          <a:off x="4593336" y="3584448"/>
          <a:ext cx="1944624" cy="10607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" name="Text 43"/>
          <p:cNvSpPr/>
          <p:nvPr/>
        </p:nvSpPr>
        <p:spPr>
          <a:xfrm>
            <a:off x="4666488" y="4663440"/>
            <a:ext cx="1834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+0.06 and South-1 −0.06 are below the materiality floor.</a:t>
            </a:r>
            <a:endParaRPr lang="en-US" sz="620" dirty="0"/>
          </a:p>
        </p:txBody>
      </p:sp>
      <p:sp>
        <p:nvSpPr>
          <p:cNvPr id="48" name="Shape 44"/>
          <p:cNvSpPr/>
          <p:nvPr/>
        </p:nvSpPr>
        <p:spPr>
          <a:xfrm>
            <a:off x="265176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265176" y="5175504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50" name="Text 46"/>
          <p:cNvSpPr/>
          <p:nvPr/>
        </p:nvSpPr>
        <p:spPr>
          <a:xfrm>
            <a:off x="347472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ONE-ACCOUNT MONTH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356616" y="5541264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−₹1.42 Cr</a:t>
            </a:r>
            <a:endParaRPr lang="en-US" sz="1700" dirty="0"/>
          </a:p>
        </p:txBody>
      </p:sp>
      <p:sp>
        <p:nvSpPr>
          <p:cNvPr id="52" name="Text 48"/>
          <p:cNvSpPr/>
          <p:nvPr/>
        </p:nvSpPr>
        <p:spPr>
          <a:xfrm>
            <a:off x="356616" y="5888736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June → July</a:t>
            </a:r>
            <a:endParaRPr lang="en-US" sz="680" dirty="0"/>
          </a:p>
        </p:txBody>
      </p:sp>
      <p:sp>
        <p:nvSpPr>
          <p:cNvPr id="53" name="Shape 49"/>
          <p:cNvSpPr/>
          <p:nvPr/>
        </p:nvSpPr>
        <p:spPr>
          <a:xfrm>
            <a:off x="374904" y="61767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54" name="Text 50"/>
          <p:cNvSpPr/>
          <p:nvPr/>
        </p:nvSpPr>
        <p:spPr>
          <a:xfrm>
            <a:off x="493776" y="612648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fell ₹1.29 Cr month on month.</a:t>
            </a:r>
            <a:endParaRPr lang="en-US" sz="690" dirty="0"/>
          </a:p>
        </p:txBody>
      </p:sp>
      <p:sp>
        <p:nvSpPr>
          <p:cNvPr id="55" name="Shape 51"/>
          <p:cNvSpPr/>
          <p:nvPr/>
        </p:nvSpPr>
        <p:spPr>
          <a:xfrm>
            <a:off x="374904" y="656082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56" name="Text 52"/>
          <p:cNvSpPr/>
          <p:nvPr/>
        </p:nvSpPr>
        <p:spPr>
          <a:xfrm>
            <a:off x="493776" y="65105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comparable chain, combined, grew ₹0.13 Cr.</a:t>
            </a:r>
            <a:endParaRPr lang="en-US" sz="690" dirty="0"/>
          </a:p>
        </p:txBody>
      </p:sp>
      <p:sp>
        <p:nvSpPr>
          <p:cNvPr id="57" name="Shape 53"/>
          <p:cNvSpPr/>
          <p:nvPr/>
        </p:nvSpPr>
        <p:spPr>
          <a:xfrm>
            <a:off x="374904" y="694486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58" name="Text 54"/>
          <p:cNvSpPr/>
          <p:nvPr/>
        </p:nvSpPr>
        <p:spPr>
          <a:xfrm>
            <a:off x="493776" y="68945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broad softening — it is one account.</a:t>
            </a:r>
            <a:endParaRPr lang="en-US" sz="690" dirty="0"/>
          </a:p>
        </p:txBody>
      </p:sp>
      <p:sp>
        <p:nvSpPr>
          <p:cNvPr id="59" name="Shape 55"/>
          <p:cNvSpPr/>
          <p:nvPr/>
        </p:nvSpPr>
        <p:spPr>
          <a:xfrm>
            <a:off x="2420112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2420112" y="5175504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61" name="Text 57"/>
          <p:cNvSpPr/>
          <p:nvPr/>
        </p:nvSpPr>
        <p:spPr>
          <a:xfrm>
            <a:off x="2502408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IS MIS-TARGETED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11552" y="5541264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82.4%</a:t>
            </a:r>
            <a:endParaRPr lang="en-US" sz="1700" dirty="0"/>
          </a:p>
        </p:txBody>
      </p:sp>
      <p:sp>
        <p:nvSpPr>
          <p:cNvPr id="63" name="Text 59"/>
          <p:cNvSpPr/>
          <p:nvPr/>
        </p:nvSpPr>
        <p:spPr>
          <a:xfrm>
            <a:off x="2529840" y="5888736"/>
            <a:ext cx="179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NPI value sits in the two worst-converting accounts</a:t>
            </a:r>
            <a:endParaRPr lang="en-US" sz="680" dirty="0"/>
          </a:p>
        </p:txBody>
      </p:sp>
      <p:sp>
        <p:nvSpPr>
          <p:cNvPr id="64" name="Shape 60"/>
          <p:cNvSpPr/>
          <p:nvPr/>
        </p:nvSpPr>
        <p:spPr>
          <a:xfrm>
            <a:off x="2529840" y="62682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5" name="Text 61"/>
          <p:cNvSpPr/>
          <p:nvPr/>
        </p:nvSpPr>
        <p:spPr>
          <a:xfrm>
            <a:off x="2648712" y="6217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alone holds 47.1% of NPI at 51.4% conversion.</a:t>
            </a:r>
            <a:endParaRPr lang="en-US" sz="690" dirty="0"/>
          </a:p>
        </p:txBody>
      </p:sp>
      <p:sp>
        <p:nvSpPr>
          <p:cNvPr id="66" name="Shape 62"/>
          <p:cNvSpPr/>
          <p:nvPr/>
        </p:nvSpPr>
        <p:spPr>
          <a:xfrm>
            <a:off x="2529840" y="663397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7" name="Text 63"/>
          <p:cNvSpPr/>
          <p:nvPr/>
        </p:nvSpPr>
        <p:spPr>
          <a:xfrm>
            <a:off x="2648712" y="6583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runs the highest NPI mix (10.2%) on the worst flow (45.3%).</a:t>
            </a:r>
            <a:endParaRPr lang="en-US" sz="690" dirty="0"/>
          </a:p>
        </p:txBody>
      </p:sp>
      <p:sp>
        <p:nvSpPr>
          <p:cNvPr id="68" name="Shape 64"/>
          <p:cNvSpPr/>
          <p:nvPr/>
        </p:nvSpPr>
        <p:spPr>
          <a:xfrm>
            <a:off x="2529840" y="69997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69" name="Text 65"/>
          <p:cNvSpPr/>
          <p:nvPr/>
        </p:nvSpPr>
        <p:spPr>
          <a:xfrm>
            <a:off x="2648712" y="6949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Launches will read as product failure when they are flow failure.</a:t>
            </a:r>
            <a:endParaRPr lang="en-US" sz="690" dirty="0"/>
          </a:p>
        </p:txBody>
      </p:sp>
      <p:sp>
        <p:nvSpPr>
          <p:cNvPr id="70" name="Shape 66"/>
          <p:cNvSpPr/>
          <p:nvPr/>
        </p:nvSpPr>
        <p:spPr>
          <a:xfrm>
            <a:off x="4575048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4575048" y="5175504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72" name="Text 68"/>
          <p:cNvSpPr/>
          <p:nvPr/>
        </p:nvSpPr>
        <p:spPr>
          <a:xfrm>
            <a:off x="4657344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ENGINES</a:t>
            </a:r>
            <a:endParaRPr lang="en-US" sz="700" dirty="0"/>
          </a:p>
        </p:txBody>
      </p:sp>
      <p:sp>
        <p:nvSpPr>
          <p:cNvPr id="73" name="Shape 69"/>
          <p:cNvSpPr/>
          <p:nvPr/>
        </p:nvSpPr>
        <p:spPr>
          <a:xfrm>
            <a:off x="4684776" y="562813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74" name="Text 70"/>
          <p:cNvSpPr/>
          <p:nvPr/>
        </p:nvSpPr>
        <p:spPr>
          <a:xfrm>
            <a:off x="4803648" y="55778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₹8.28 Cr at 82.3% — national benchmark.</a:t>
            </a:r>
            <a:endParaRPr lang="en-US" sz="700" dirty="0"/>
          </a:p>
        </p:txBody>
      </p:sp>
      <p:sp>
        <p:nvSpPr>
          <p:cNvPr id="75" name="Shape 71"/>
          <p:cNvSpPr/>
          <p:nvPr/>
        </p:nvSpPr>
        <p:spPr>
          <a:xfrm>
            <a:off x="4684776" y="599389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76" name="Text 72"/>
          <p:cNvSpPr/>
          <p:nvPr/>
        </p:nvSpPr>
        <p:spPr>
          <a:xfrm>
            <a:off x="4803648" y="594360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₹8.19 Cr at 83.6% — best flow in the country.</a:t>
            </a:r>
            <a:endParaRPr lang="en-US" sz="700" dirty="0"/>
          </a:p>
        </p:txBody>
      </p:sp>
      <p:sp>
        <p:nvSpPr>
          <p:cNvPr id="77" name="Shape 73"/>
          <p:cNvSpPr/>
          <p:nvPr/>
        </p:nvSpPr>
        <p:spPr>
          <a:xfrm>
            <a:off x="4684776" y="63596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78" name="Text 74"/>
          <p:cNvSpPr/>
          <p:nvPr/>
        </p:nvSpPr>
        <p:spPr>
          <a:xfrm>
            <a:off x="4803648" y="63093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₹4.97 Cr gap — largest recovery pool.</a:t>
            </a:r>
            <a:endParaRPr lang="en-US" sz="700" dirty="0"/>
          </a:p>
        </p:txBody>
      </p:sp>
      <p:sp>
        <p:nvSpPr>
          <p:cNvPr id="79" name="Shape 75"/>
          <p:cNvSpPr/>
          <p:nvPr/>
        </p:nvSpPr>
        <p:spPr>
          <a:xfrm>
            <a:off x="4684776" y="67254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80" name="Text 76"/>
          <p:cNvSpPr/>
          <p:nvPr/>
        </p:nvSpPr>
        <p:spPr>
          <a:xfrm>
            <a:off x="4803648" y="66751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45.3% conversion — weakest flow, highest NPI mix.</a:t>
            </a:r>
            <a:endParaRPr lang="en-US" sz="700" dirty="0"/>
          </a:p>
        </p:txBody>
      </p:sp>
      <p:sp>
        <p:nvSpPr>
          <p:cNvPr id="81" name="Shape 77"/>
          <p:cNvSpPr/>
          <p:nvPr/>
        </p:nvSpPr>
        <p:spPr>
          <a:xfrm>
            <a:off x="4684776" y="709117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82" name="Text 78"/>
          <p:cNvSpPr/>
          <p:nvPr/>
        </p:nvSpPr>
        <p:spPr>
          <a:xfrm>
            <a:off x="4803648" y="70408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is below the materiality floor; report by exception.</a:t>
            </a:r>
            <a:endParaRPr lang="en-US" sz="700" dirty="0"/>
          </a:p>
        </p:txBody>
      </p:sp>
      <p:sp>
        <p:nvSpPr>
          <p:cNvPr id="83" name="Shape 79"/>
          <p:cNvSpPr/>
          <p:nvPr/>
        </p:nvSpPr>
        <p:spPr>
          <a:xfrm>
            <a:off x="265176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4" name="Shape 80"/>
          <p:cNvSpPr/>
          <p:nvPr/>
        </p:nvSpPr>
        <p:spPr>
          <a:xfrm>
            <a:off x="265176" y="793699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85" name="Text 81"/>
          <p:cNvSpPr/>
          <p:nvPr/>
        </p:nvSpPr>
        <p:spPr>
          <a:xfrm>
            <a:off x="347472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MOVES</a:t>
            </a:r>
            <a:endParaRPr lang="en-US" sz="700" dirty="0"/>
          </a:p>
        </p:txBody>
      </p:sp>
      <p:sp>
        <p:nvSpPr>
          <p:cNvPr id="86" name="Shape 82"/>
          <p:cNvSpPr/>
          <p:nvPr/>
        </p:nvSpPr>
        <p:spPr>
          <a:xfrm>
            <a:off x="374904" y="838962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87" name="Text 83"/>
          <p:cNvSpPr/>
          <p:nvPr/>
        </p:nvSpPr>
        <p:spPr>
          <a:xfrm>
            <a:off x="493776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0–30d: map Lulu, Wellness and H&amp;G primary — ₹2.23 Cr blind.</a:t>
            </a:r>
            <a:endParaRPr lang="en-US" sz="700" dirty="0"/>
          </a:p>
        </p:txBody>
      </p:sp>
      <p:sp>
        <p:nvSpPr>
          <p:cNvPr id="88" name="Shape 84"/>
          <p:cNvSpPr/>
          <p:nvPr/>
        </p:nvSpPr>
        <p:spPr>
          <a:xfrm>
            <a:off x="374904" y="8773668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89" name="Text 85"/>
          <p:cNvSpPr/>
          <p:nvPr/>
        </p:nvSpPr>
        <p:spPr>
          <a:xfrm>
            <a:off x="493776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0–30d: cap East and North primary at trailing 3-month offtake.</a:t>
            </a:r>
            <a:endParaRPr lang="en-US" sz="700" dirty="0"/>
          </a:p>
        </p:txBody>
      </p:sp>
      <p:sp>
        <p:nvSpPr>
          <p:cNvPr id="90" name="Shape 86"/>
          <p:cNvSpPr/>
          <p:nvPr/>
        </p:nvSpPr>
        <p:spPr>
          <a:xfrm>
            <a:off x="374904" y="915771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91" name="Text 87"/>
          <p:cNvSpPr/>
          <p:nvPr/>
        </p:nvSpPr>
        <p:spPr>
          <a:xfrm>
            <a:off x="493776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31–60d: Reliance recovery loop across North, East and Central.</a:t>
            </a:r>
            <a:endParaRPr lang="en-US" sz="700" dirty="0"/>
          </a:p>
        </p:txBody>
      </p:sp>
      <p:sp>
        <p:nvSpPr>
          <p:cNvPr id="92" name="Shape 88"/>
          <p:cNvSpPr/>
          <p:nvPr/>
        </p:nvSpPr>
        <p:spPr>
          <a:xfrm>
            <a:off x="374904" y="954176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93" name="Text 89"/>
          <p:cNvSpPr/>
          <p:nvPr/>
        </p:nvSpPr>
        <p:spPr>
          <a:xfrm>
            <a:off x="493776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61–90d: reset loading rules by verified conversion, not by target.</a:t>
            </a:r>
            <a:endParaRPr lang="en-US" sz="700" dirty="0"/>
          </a:p>
        </p:txBody>
      </p:sp>
      <p:sp>
        <p:nvSpPr>
          <p:cNvPr id="94" name="Shape 90"/>
          <p:cNvSpPr/>
          <p:nvPr/>
        </p:nvSpPr>
        <p:spPr>
          <a:xfrm>
            <a:off x="374904" y="99258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95" name="Text 91"/>
          <p:cNvSpPr/>
          <p:nvPr/>
        </p:nvSpPr>
        <p:spPr>
          <a:xfrm>
            <a:off x="493776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only what offtake has already proven.</a:t>
            </a:r>
            <a:endParaRPr lang="en-US" sz="700" dirty="0"/>
          </a:p>
        </p:txBody>
      </p:sp>
      <p:sp>
        <p:nvSpPr>
          <p:cNvPr id="96" name="Shape 92"/>
          <p:cNvSpPr/>
          <p:nvPr/>
        </p:nvSpPr>
        <p:spPr>
          <a:xfrm>
            <a:off x="2420112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2420112" y="793699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98" name="Text 94"/>
          <p:cNvSpPr/>
          <p:nvPr/>
        </p:nvSpPr>
        <p:spPr>
          <a:xfrm>
            <a:off x="2502408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SCOREBOARD</a:t>
            </a:r>
            <a:endParaRPr lang="en-US" sz="700" dirty="0"/>
          </a:p>
        </p:txBody>
      </p:sp>
      <p:sp>
        <p:nvSpPr>
          <p:cNvPr id="99" name="Shape 95"/>
          <p:cNvSpPr/>
          <p:nvPr/>
        </p:nvSpPr>
        <p:spPr>
          <a:xfrm>
            <a:off x="2529840" y="838962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00" name="Text 96"/>
          <p:cNvSpPr/>
          <p:nvPr/>
        </p:nvSpPr>
        <p:spPr>
          <a:xfrm>
            <a:off x="2648712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 — the one metric. 73.4% → 85.3%.</a:t>
            </a:r>
            <a:endParaRPr lang="en-US" sz="700" dirty="0"/>
          </a:p>
        </p:txBody>
      </p:sp>
      <p:sp>
        <p:nvSpPr>
          <p:cNvPr id="101" name="Shape 97"/>
          <p:cNvSpPr/>
          <p:nvPr/>
        </p:nvSpPr>
        <p:spPr>
          <a:xfrm>
            <a:off x="2529840" y="8773668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02" name="Text 98"/>
          <p:cNvSpPr/>
          <p:nvPr/>
        </p:nvSpPr>
        <p:spPr>
          <a:xfrm>
            <a:off x="2648712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gap: −₹2.92 Cr against benchmark, weekly.</a:t>
            </a:r>
            <a:endParaRPr lang="en-US" sz="700" dirty="0"/>
          </a:p>
        </p:txBody>
      </p:sp>
      <p:sp>
        <p:nvSpPr>
          <p:cNvPr id="103" name="Shape 99"/>
          <p:cNvSpPr/>
          <p:nvPr/>
        </p:nvSpPr>
        <p:spPr>
          <a:xfrm>
            <a:off x="2529840" y="915771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04" name="Text 100"/>
          <p:cNvSpPr/>
          <p:nvPr/>
        </p:nvSpPr>
        <p:spPr>
          <a:xfrm>
            <a:off x="2648712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gap: −₹2.94 Cr against benchmark, weekly.</a:t>
            </a:r>
            <a:endParaRPr lang="en-US" sz="700" dirty="0"/>
          </a:p>
        </p:txBody>
      </p:sp>
      <p:sp>
        <p:nvSpPr>
          <p:cNvPr id="105" name="Shape 101"/>
          <p:cNvSpPr/>
          <p:nvPr/>
        </p:nvSpPr>
        <p:spPr>
          <a:xfrm>
            <a:off x="2529840" y="954176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06" name="Text 102"/>
          <p:cNvSpPr/>
          <p:nvPr/>
        </p:nvSpPr>
        <p:spPr>
          <a:xfrm>
            <a:off x="2648712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 above 95% in priority stores.</a:t>
            </a:r>
            <a:endParaRPr lang="en-US" sz="700" dirty="0"/>
          </a:p>
        </p:txBody>
      </p:sp>
      <p:sp>
        <p:nvSpPr>
          <p:cNvPr id="107" name="Shape 103"/>
          <p:cNvSpPr/>
          <p:nvPr/>
        </p:nvSpPr>
        <p:spPr>
          <a:xfrm>
            <a:off x="2529840" y="99258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08" name="Text 104"/>
          <p:cNvSpPr/>
          <p:nvPr/>
        </p:nvSpPr>
        <p:spPr>
          <a:xfrm>
            <a:off x="2648712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Unmapped chains: zero before the August pack ships.</a:t>
            </a:r>
            <a:endParaRPr lang="en-US" sz="700" dirty="0"/>
          </a:p>
        </p:txBody>
      </p:sp>
      <p:sp>
        <p:nvSpPr>
          <p:cNvPr id="109" name="Shape 105"/>
          <p:cNvSpPr/>
          <p:nvPr/>
        </p:nvSpPr>
        <p:spPr>
          <a:xfrm>
            <a:off x="4575048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0" name="Shape 106"/>
          <p:cNvSpPr/>
          <p:nvPr/>
        </p:nvSpPr>
        <p:spPr>
          <a:xfrm>
            <a:off x="4575048" y="7936992"/>
            <a:ext cx="2017776" cy="274320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111" name="Text 107"/>
          <p:cNvSpPr/>
          <p:nvPr/>
        </p:nvSpPr>
        <p:spPr>
          <a:xfrm>
            <a:off x="4657344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SAFEGUARDS</a:t>
            </a:r>
            <a:endParaRPr lang="en-US" sz="700" dirty="0"/>
          </a:p>
        </p:txBody>
      </p:sp>
      <p:sp>
        <p:nvSpPr>
          <p:cNvPr id="112" name="Shape 108"/>
          <p:cNvSpPr/>
          <p:nvPr/>
        </p:nvSpPr>
        <p:spPr>
          <a:xfrm>
            <a:off x="4684776" y="838962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3" name="Text 109"/>
          <p:cNvSpPr/>
          <p:nvPr/>
        </p:nvSpPr>
        <p:spPr>
          <a:xfrm>
            <a:off x="4803648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gap is not inventory or stock cover — it is unconverted billing.</a:t>
            </a:r>
            <a:endParaRPr lang="en-US" sz="700" dirty="0"/>
          </a:p>
        </p:txBody>
      </p:sp>
      <p:sp>
        <p:nvSpPr>
          <p:cNvPr id="114" name="Shape 110"/>
          <p:cNvSpPr/>
          <p:nvPr/>
        </p:nvSpPr>
        <p:spPr>
          <a:xfrm>
            <a:off x="4684776" y="877366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5" name="Text 111"/>
          <p:cNvSpPr/>
          <p:nvPr/>
        </p:nvSpPr>
        <p:spPr>
          <a:xfrm>
            <a:off x="4803648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above 100% is a timing or stock signal, never a success.</a:t>
            </a:r>
            <a:endParaRPr lang="en-US" sz="700" dirty="0"/>
          </a:p>
        </p:txBody>
      </p:sp>
      <p:sp>
        <p:nvSpPr>
          <p:cNvPr id="116" name="Shape 112"/>
          <p:cNvSpPr/>
          <p:nvPr/>
        </p:nvSpPr>
        <p:spPr>
          <a:xfrm>
            <a:off x="4684776" y="915771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7" name="Text 113"/>
          <p:cNvSpPr/>
          <p:nvPr/>
        </p:nvSpPr>
        <p:spPr>
          <a:xfrm>
            <a:off x="4803648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% is shown below a ₹0.25 Cr materiality floor.</a:t>
            </a:r>
            <a:endParaRPr lang="en-US" sz="700" dirty="0"/>
          </a:p>
        </p:txBody>
      </p:sp>
      <p:sp>
        <p:nvSpPr>
          <p:cNvPr id="118" name="Shape 114"/>
          <p:cNvSpPr/>
          <p:nvPr/>
        </p:nvSpPr>
        <p:spPr>
          <a:xfrm>
            <a:off x="4684776" y="9541764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9" name="Text 115"/>
          <p:cNvSpPr/>
          <p:nvPr/>
        </p:nvSpPr>
        <p:spPr>
          <a:xfrm>
            <a:off x="4803648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national 99.7% averages 121–149% zone errors — do not quote it.</a:t>
            </a:r>
            <a:endParaRPr lang="en-US" sz="700" dirty="0"/>
          </a:p>
        </p:txBody>
      </p:sp>
      <p:sp>
        <p:nvSpPr>
          <p:cNvPr id="120" name="Shape 116"/>
          <p:cNvSpPr/>
          <p:nvPr/>
        </p:nvSpPr>
        <p:spPr>
          <a:xfrm>
            <a:off x="4684776" y="992581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21" name="Text 117"/>
          <p:cNvSpPr/>
          <p:nvPr/>
        </p:nvSpPr>
        <p:spPr>
          <a:xfrm>
            <a:off x="4803648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YoY or target claim without a matched comparator.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Convert reporting into a State × Chain × SKU growth engine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framework | measures in force now, and the fields still to be reconciled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365760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FC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gap = primary − offtake on comparable mapped cuts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265176" y="1261872"/>
            <a:ext cx="6327648" cy="841248"/>
          </a:xfrm>
          <a:prstGeom prst="roundRect">
            <a:avLst>
              <a:gd name="adj" fmla="val 3261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" y="1371600"/>
            <a:ext cx="5998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decision is not "push more primary" — it is "find proven demand constrained by execution."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4632" y="1737360"/>
            <a:ext cx="5888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rules below are live on July data. SAH, PDO, OOS and stock fields join only after reconciliation — they are named as gaps, not quoted as findings.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265176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5176" y="223113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4" name="Text 22"/>
          <p:cNvSpPr/>
          <p:nvPr/>
        </p:nvSpPr>
        <p:spPr>
          <a:xfrm>
            <a:off x="347472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METRIC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56616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Flow conversion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74904" y="30312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÷ primary on comparable mapped cuts.</a:t>
            </a:r>
            <a:endParaRPr lang="en-US" sz="690" dirty="0"/>
          </a:p>
        </p:txBody>
      </p:sp>
      <p:sp>
        <p:nvSpPr>
          <p:cNvPr id="28" name="Shape 26"/>
          <p:cNvSpPr/>
          <p:nvPr/>
        </p:nvSpPr>
        <p:spPr>
          <a:xfrm>
            <a:off x="374904" y="33969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29" name="Text 27"/>
          <p:cNvSpPr/>
          <p:nvPr/>
        </p:nvSpPr>
        <p:spPr>
          <a:xfrm>
            <a:off x="493776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KPI is supporting, not equal.</a:t>
            </a:r>
            <a:endParaRPr lang="en-US" sz="690" dirty="0"/>
          </a:p>
        </p:txBody>
      </p:sp>
      <p:sp>
        <p:nvSpPr>
          <p:cNvPr id="30" name="Shape 28"/>
          <p:cNvSpPr/>
          <p:nvPr/>
        </p:nvSpPr>
        <p:spPr>
          <a:xfrm>
            <a:off x="374904" y="37627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31" name="Text 29"/>
          <p:cNvSpPr/>
          <p:nvPr/>
        </p:nvSpPr>
        <p:spPr>
          <a:xfrm>
            <a:off x="493776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73.4% → above 85% this quarter.</a:t>
            </a:r>
            <a:endParaRPr lang="en-US" sz="690" dirty="0"/>
          </a:p>
        </p:txBody>
      </p:sp>
      <p:sp>
        <p:nvSpPr>
          <p:cNvPr id="32" name="Shape 30"/>
          <p:cNvSpPr/>
          <p:nvPr/>
        </p:nvSpPr>
        <p:spPr>
          <a:xfrm>
            <a:off x="374904" y="412851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33" name="Text 31"/>
          <p:cNvSpPr/>
          <p:nvPr/>
        </p:nvSpPr>
        <p:spPr>
          <a:xfrm>
            <a:off x="493776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by zone and chain — never as a national average alone.</a:t>
            </a:r>
            <a:endParaRPr lang="en-US" sz="690" dirty="0"/>
          </a:p>
        </p:txBody>
      </p:sp>
      <p:sp>
        <p:nvSpPr>
          <p:cNvPr id="34" name="Shape 32"/>
          <p:cNvSpPr/>
          <p:nvPr/>
        </p:nvSpPr>
        <p:spPr>
          <a:xfrm>
            <a:off x="2420112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420112" y="2231136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36" name="Text 34"/>
          <p:cNvSpPr/>
          <p:nvPr/>
        </p:nvSpPr>
        <p:spPr>
          <a:xfrm>
            <a:off x="2502408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MATERIALITY FLOOR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511552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₹0.25 Cr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2529840" y="30312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39" name="Text 37"/>
          <p:cNvSpPr/>
          <p:nvPr/>
        </p:nvSpPr>
        <p:spPr>
          <a:xfrm>
            <a:off x="2648712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growth % is shown, ranked or coloured below this base.</a:t>
            </a:r>
            <a:endParaRPr lang="en-US" sz="690" dirty="0"/>
          </a:p>
        </p:txBody>
      </p:sp>
      <p:sp>
        <p:nvSpPr>
          <p:cNvPr id="40" name="Shape 38"/>
          <p:cNvSpPr/>
          <p:nvPr/>
        </p:nvSpPr>
        <p:spPr>
          <a:xfrm>
            <a:off x="2529840" y="339699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41" name="Text 39"/>
          <p:cNvSpPr/>
          <p:nvPr/>
        </p:nvSpPr>
        <p:spPr>
          <a:xfrm>
            <a:off x="2648712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floor, report the absolute ₹ change only.</a:t>
            </a:r>
            <a:endParaRPr lang="en-US" sz="690" dirty="0"/>
          </a:p>
        </p:txBody>
      </p:sp>
      <p:sp>
        <p:nvSpPr>
          <p:cNvPr id="42" name="Shape 40"/>
          <p:cNvSpPr/>
          <p:nvPr/>
        </p:nvSpPr>
        <p:spPr>
          <a:xfrm>
            <a:off x="2529840" y="376275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43" name="Text 41"/>
          <p:cNvSpPr/>
          <p:nvPr/>
        </p:nvSpPr>
        <p:spPr>
          <a:xfrm>
            <a:off x="2648712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8 of 13 rows from the chain scorecard.</a:t>
            </a:r>
            <a:endParaRPr lang="en-US" sz="690" dirty="0"/>
          </a:p>
        </p:txBody>
      </p:sp>
      <p:sp>
        <p:nvSpPr>
          <p:cNvPr id="44" name="Shape 42"/>
          <p:cNvSpPr/>
          <p:nvPr/>
        </p:nvSpPr>
        <p:spPr>
          <a:xfrm>
            <a:off x="2529840" y="412851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45" name="Text 43"/>
          <p:cNvSpPr/>
          <p:nvPr/>
        </p:nvSpPr>
        <p:spPr>
          <a:xfrm>
            <a:off x="2648712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a ₹1 lakh move outranking a ₹1.42 Cr decline.</a:t>
            </a:r>
            <a:endParaRPr lang="en-US" sz="690" dirty="0"/>
          </a:p>
        </p:txBody>
      </p:sp>
      <p:sp>
        <p:nvSpPr>
          <p:cNvPr id="46" name="Shape 44"/>
          <p:cNvSpPr/>
          <p:nvPr/>
        </p:nvSpPr>
        <p:spPr>
          <a:xfrm>
            <a:off x="4575048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75048" y="223113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8" name="Text 46"/>
          <p:cNvSpPr/>
          <p:nvPr/>
        </p:nvSpPr>
        <p:spPr>
          <a:xfrm>
            <a:off x="4657344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PRODUCTIVITY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4666488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SPD = share ÷ WD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4684776" y="30312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51" name="Text 49"/>
          <p:cNvSpPr/>
          <p:nvPr/>
        </p:nvSpPr>
        <p:spPr>
          <a:xfrm>
            <a:off x="4803648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per point of weighted distribution.</a:t>
            </a:r>
            <a:endParaRPr lang="en-US" sz="690" dirty="0"/>
          </a:p>
        </p:txBody>
      </p:sp>
      <p:sp>
        <p:nvSpPr>
          <p:cNvPr id="52" name="Shape 50"/>
          <p:cNvSpPr/>
          <p:nvPr/>
        </p:nvSpPr>
        <p:spPr>
          <a:xfrm>
            <a:off x="4684776" y="33969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53" name="Text 51"/>
          <p:cNvSpPr/>
          <p:nvPr/>
        </p:nvSpPr>
        <p:spPr>
          <a:xfrm>
            <a:off x="4803648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 0.118 · Shampoo 0.045 · TDC FW 0.015.</a:t>
            </a:r>
            <a:endParaRPr lang="en-US" sz="690" dirty="0"/>
          </a:p>
        </p:txBody>
      </p:sp>
      <p:sp>
        <p:nvSpPr>
          <p:cNvPr id="54" name="Shape 52"/>
          <p:cNvSpPr/>
          <p:nvPr/>
        </p:nvSpPr>
        <p:spPr>
          <a:xfrm>
            <a:off x="4684776" y="37627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55" name="Text 53"/>
          <p:cNvSpPr/>
          <p:nvPr/>
        </p:nvSpPr>
        <p:spPr>
          <a:xfrm>
            <a:off x="4803648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SPD on wide WD means fix the shelf, not add doors.</a:t>
            </a:r>
            <a:endParaRPr lang="en-US" sz="690" dirty="0"/>
          </a:p>
        </p:txBody>
      </p:sp>
      <p:sp>
        <p:nvSpPr>
          <p:cNvPr id="56" name="Shape 54"/>
          <p:cNvSpPr/>
          <p:nvPr/>
        </p:nvSpPr>
        <p:spPr>
          <a:xfrm>
            <a:off x="4684776" y="412851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57" name="Text 55"/>
          <p:cNvSpPr/>
          <p:nvPr/>
        </p:nvSpPr>
        <p:spPr>
          <a:xfrm>
            <a:off x="4803648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with PDO once store-count fields reconcile.</a:t>
            </a:r>
            <a:endParaRPr lang="en-US" sz="690" dirty="0"/>
          </a:p>
        </p:txBody>
      </p:sp>
      <p:sp>
        <p:nvSpPr>
          <p:cNvPr id="58" name="Shape 56"/>
          <p:cNvSpPr/>
          <p:nvPr/>
        </p:nvSpPr>
        <p:spPr>
          <a:xfrm>
            <a:off x="265176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65176" y="4809744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60" name="Text 58"/>
          <p:cNvSpPr/>
          <p:nvPr/>
        </p:nvSpPr>
        <p:spPr>
          <a:xfrm>
            <a:off x="347472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GROSS, NEVER NET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356616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gap lines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374904" y="560984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3" name="Text 61"/>
          <p:cNvSpPr/>
          <p:nvPr/>
        </p:nvSpPr>
        <p:spPr>
          <a:xfrm>
            <a:off x="493776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gap = billed but unsold. ₹13.27 Cr.</a:t>
            </a:r>
            <a:endParaRPr lang="en-US" sz="690" dirty="0"/>
          </a:p>
        </p:txBody>
      </p:sp>
      <p:sp>
        <p:nvSpPr>
          <p:cNvPr id="64" name="Shape 62"/>
          <p:cNvSpPr/>
          <p:nvPr/>
        </p:nvSpPr>
        <p:spPr>
          <a:xfrm>
            <a:off x="374904" y="597560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5" name="Text 63"/>
          <p:cNvSpPr/>
          <p:nvPr/>
        </p:nvSpPr>
        <p:spPr>
          <a:xfrm>
            <a:off x="493776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gap = sold but unmapped. ₹2.23 Cr.</a:t>
            </a:r>
            <a:endParaRPr lang="en-US" sz="690" dirty="0"/>
          </a:p>
        </p:txBody>
      </p:sp>
      <p:sp>
        <p:nvSpPr>
          <p:cNvPr id="66" name="Shape 64"/>
          <p:cNvSpPr/>
          <p:nvPr/>
        </p:nvSpPr>
        <p:spPr>
          <a:xfrm>
            <a:off x="374904" y="634136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7" name="Text 65"/>
          <p:cNvSpPr/>
          <p:nvPr/>
        </p:nvSpPr>
        <p:spPr>
          <a:xfrm>
            <a:off x="493776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Netting them hid ₹2.06 Cr of recoverable value.</a:t>
            </a:r>
            <a:endParaRPr lang="en-US" sz="690" dirty="0"/>
          </a:p>
        </p:txBody>
      </p:sp>
      <p:sp>
        <p:nvSpPr>
          <p:cNvPr id="68" name="Shape 66"/>
          <p:cNvSpPr/>
          <p:nvPr/>
        </p:nvSpPr>
        <p:spPr>
          <a:xfrm>
            <a:off x="374904" y="670712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9" name="Text 67"/>
          <p:cNvSpPr/>
          <p:nvPr/>
        </p:nvSpPr>
        <p:spPr>
          <a:xfrm>
            <a:off x="493776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and zone gaps must share one stated base.</a:t>
            </a:r>
            <a:endParaRPr lang="en-US" sz="690" dirty="0"/>
          </a:p>
        </p:txBody>
      </p:sp>
      <p:sp>
        <p:nvSpPr>
          <p:cNvPr id="70" name="Shape 68"/>
          <p:cNvSpPr/>
          <p:nvPr/>
        </p:nvSpPr>
        <p:spPr>
          <a:xfrm>
            <a:off x="2420112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420112" y="4809744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72" name="Text 70"/>
          <p:cNvSpPr/>
          <p:nvPr/>
        </p:nvSpPr>
        <p:spPr>
          <a:xfrm>
            <a:off x="2502408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× FLOW RULE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2511552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Scale / Fix / Hold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2529840" y="560984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75" name="Text 73"/>
          <p:cNvSpPr/>
          <p:nvPr/>
        </p:nvSpPr>
        <p:spPr>
          <a:xfrm>
            <a:off x="2648712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up + offtake up → scale.</a:t>
            </a:r>
            <a:endParaRPr lang="en-US" sz="690" dirty="0"/>
          </a:p>
        </p:txBody>
      </p:sp>
      <p:sp>
        <p:nvSpPr>
          <p:cNvPr id="76" name="Shape 74"/>
          <p:cNvSpPr/>
          <p:nvPr/>
        </p:nvSpPr>
        <p:spPr>
          <a:xfrm>
            <a:off x="2529840" y="597560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77" name="Text 75"/>
          <p:cNvSpPr/>
          <p:nvPr/>
        </p:nvSpPr>
        <p:spPr>
          <a:xfrm>
            <a:off x="2648712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up + offtake weak → stop loading.</a:t>
            </a:r>
            <a:endParaRPr lang="en-US" sz="690" dirty="0"/>
          </a:p>
        </p:txBody>
      </p:sp>
      <p:sp>
        <p:nvSpPr>
          <p:cNvPr id="78" name="Shape 76"/>
          <p:cNvSpPr/>
          <p:nvPr/>
        </p:nvSpPr>
        <p:spPr>
          <a:xfrm>
            <a:off x="2529840" y="634136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79" name="Text 77"/>
          <p:cNvSpPr/>
          <p:nvPr/>
        </p:nvSpPr>
        <p:spPr>
          <a:xfrm>
            <a:off x="2648712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up + supply weak → replenish.</a:t>
            </a:r>
            <a:endParaRPr lang="en-US" sz="690" dirty="0"/>
          </a:p>
        </p:txBody>
      </p:sp>
      <p:sp>
        <p:nvSpPr>
          <p:cNvPr id="80" name="Shape 78"/>
          <p:cNvSpPr/>
          <p:nvPr/>
        </p:nvSpPr>
        <p:spPr>
          <a:xfrm>
            <a:off x="2529840" y="670712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81" name="Text 79"/>
          <p:cNvSpPr/>
          <p:nvPr/>
        </p:nvSpPr>
        <p:spPr>
          <a:xfrm>
            <a:off x="2648712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down → validate competitor or OOS transfer first.</a:t>
            </a:r>
            <a:endParaRPr lang="en-US" sz="690" dirty="0"/>
          </a:p>
        </p:txBody>
      </p:sp>
      <p:sp>
        <p:nvSpPr>
          <p:cNvPr id="82" name="Shape 80"/>
          <p:cNvSpPr/>
          <p:nvPr/>
        </p:nvSpPr>
        <p:spPr>
          <a:xfrm>
            <a:off x="4575048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4575048" y="4809744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84" name="Text 82"/>
          <p:cNvSpPr/>
          <p:nvPr/>
        </p:nvSpPr>
        <p:spPr>
          <a:xfrm>
            <a:off x="4657344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BEFORE YOU ACT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4666488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Expected value</a:t>
            </a:r>
            <a:endParaRPr lang="en-US" sz="1150" dirty="0"/>
          </a:p>
        </p:txBody>
      </p:sp>
      <p:sp>
        <p:nvSpPr>
          <p:cNvPr id="86" name="Shape 84"/>
          <p:cNvSpPr/>
          <p:nvPr/>
        </p:nvSpPr>
        <p:spPr>
          <a:xfrm>
            <a:off x="4684776" y="560984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87" name="Text 85"/>
          <p:cNvSpPr/>
          <p:nvPr/>
        </p:nvSpPr>
        <p:spPr>
          <a:xfrm>
            <a:off x="4803648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every action by ₹ at stake × likelihood × cost.</a:t>
            </a:r>
            <a:endParaRPr lang="en-US" sz="690" dirty="0"/>
          </a:p>
        </p:txBody>
      </p:sp>
      <p:sp>
        <p:nvSpPr>
          <p:cNvPr id="88" name="Shape 86"/>
          <p:cNvSpPr/>
          <p:nvPr/>
        </p:nvSpPr>
        <p:spPr>
          <a:xfrm>
            <a:off x="4684776" y="597560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89" name="Text 87"/>
          <p:cNvSpPr/>
          <p:nvPr/>
        </p:nvSpPr>
        <p:spPr>
          <a:xfrm>
            <a:off x="4803648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against a zone that already performs, not a target.</a:t>
            </a:r>
            <a:endParaRPr lang="en-US" sz="690" dirty="0"/>
          </a:p>
        </p:txBody>
      </p:sp>
      <p:sp>
        <p:nvSpPr>
          <p:cNvPr id="90" name="Shape 88"/>
          <p:cNvSpPr/>
          <p:nvPr/>
        </p:nvSpPr>
        <p:spPr>
          <a:xfrm>
            <a:off x="4684776" y="634136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91" name="Text 89"/>
          <p:cNvSpPr/>
          <p:nvPr/>
        </p:nvSpPr>
        <p:spPr>
          <a:xfrm>
            <a:off x="4803648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do-nothing baseline so an action can be killed.</a:t>
            </a:r>
            <a:endParaRPr lang="en-US" sz="690" dirty="0"/>
          </a:p>
        </p:txBody>
      </p:sp>
      <p:sp>
        <p:nvSpPr>
          <p:cNvPr id="92" name="Shape 90"/>
          <p:cNvSpPr/>
          <p:nvPr/>
        </p:nvSpPr>
        <p:spPr>
          <a:xfrm>
            <a:off x="4684776" y="670712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93" name="Text 91"/>
          <p:cNvSpPr/>
          <p:nvPr/>
        </p:nvSpPr>
        <p:spPr>
          <a:xfrm>
            <a:off x="4803648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 only after a controlled pilot.</a:t>
            </a:r>
            <a:endParaRPr lang="en-US" sz="690" dirty="0"/>
          </a:p>
        </p:txBody>
      </p:sp>
      <p:sp>
        <p:nvSpPr>
          <p:cNvPr id="94" name="Shape 92"/>
          <p:cNvSpPr/>
          <p:nvPr/>
        </p:nvSpPr>
        <p:spPr>
          <a:xfrm>
            <a:off x="265176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265176" y="738835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96" name="Text 94"/>
          <p:cNvSpPr/>
          <p:nvPr/>
        </p:nvSpPr>
        <p:spPr>
          <a:xfrm>
            <a:off x="347472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AVAILABILITY</a:t>
            </a:r>
            <a:endParaRPr lang="en-US" sz="700" dirty="0"/>
          </a:p>
        </p:txBody>
      </p:sp>
      <p:sp>
        <p:nvSpPr>
          <p:cNvPr id="97" name="Text 95"/>
          <p:cNvSpPr/>
          <p:nvPr/>
        </p:nvSpPr>
        <p:spPr>
          <a:xfrm>
            <a:off x="356616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Must-stock first</a:t>
            </a:r>
            <a:endParaRPr lang="en-US" sz="1150" dirty="0"/>
          </a:p>
        </p:txBody>
      </p:sp>
      <p:sp>
        <p:nvSpPr>
          <p:cNvPr id="98" name="Shape 96"/>
          <p:cNvSpPr/>
          <p:nvPr/>
        </p:nvSpPr>
        <p:spPr>
          <a:xfrm>
            <a:off x="374904" y="81884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99" name="Text 97"/>
          <p:cNvSpPr/>
          <p:nvPr/>
        </p:nvSpPr>
        <p:spPr>
          <a:xfrm>
            <a:off x="493776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hero availability %, not SKU count.</a:t>
            </a:r>
            <a:endParaRPr lang="en-US" sz="690" dirty="0"/>
          </a:p>
        </p:txBody>
      </p:sp>
      <p:sp>
        <p:nvSpPr>
          <p:cNvPr id="100" name="Shape 98"/>
          <p:cNvSpPr/>
          <p:nvPr/>
        </p:nvSpPr>
        <p:spPr>
          <a:xfrm>
            <a:off x="374904" y="85542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01" name="Text 99"/>
          <p:cNvSpPr/>
          <p:nvPr/>
        </p:nvSpPr>
        <p:spPr>
          <a:xfrm>
            <a:off x="493776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#1 hero should fail the assortment score outright.</a:t>
            </a:r>
            <a:endParaRPr lang="en-US" sz="690" dirty="0"/>
          </a:p>
        </p:txBody>
      </p:sp>
      <p:sp>
        <p:nvSpPr>
          <p:cNvPr id="102" name="Shape 100"/>
          <p:cNvSpPr/>
          <p:nvPr/>
        </p:nvSpPr>
        <p:spPr>
          <a:xfrm>
            <a:off x="374904" y="891997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03" name="Text 101"/>
          <p:cNvSpPr/>
          <p:nvPr/>
        </p:nvSpPr>
        <p:spPr>
          <a:xfrm>
            <a:off x="493776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tail follows proven heroes — never leads them.</a:t>
            </a:r>
            <a:endParaRPr lang="en-US" sz="690" dirty="0"/>
          </a:p>
        </p:txBody>
      </p:sp>
      <p:sp>
        <p:nvSpPr>
          <p:cNvPr id="104" name="Shape 102"/>
          <p:cNvSpPr/>
          <p:nvPr/>
        </p:nvSpPr>
        <p:spPr>
          <a:xfrm>
            <a:off x="374904" y="92857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05" name="Text 103"/>
          <p:cNvSpPr/>
          <p:nvPr/>
        </p:nvSpPr>
        <p:spPr>
          <a:xfrm>
            <a:off x="493776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availability before any discounting.</a:t>
            </a:r>
            <a:endParaRPr lang="en-US" sz="690" dirty="0"/>
          </a:p>
        </p:txBody>
      </p:sp>
      <p:sp>
        <p:nvSpPr>
          <p:cNvPr id="106" name="Shape 104"/>
          <p:cNvSpPr/>
          <p:nvPr/>
        </p:nvSpPr>
        <p:spPr>
          <a:xfrm>
            <a:off x="2420112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420112" y="738835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08" name="Text 106"/>
          <p:cNvSpPr/>
          <p:nvPr/>
        </p:nvSpPr>
        <p:spPr>
          <a:xfrm>
            <a:off x="2502408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ARCHITECTURE</a:t>
            </a:r>
            <a:endParaRPr lang="en-US" sz="700" dirty="0"/>
          </a:p>
        </p:txBody>
      </p:sp>
      <p:sp>
        <p:nvSpPr>
          <p:cNvPr id="109" name="Text 107"/>
          <p:cNvSpPr/>
          <p:nvPr/>
        </p:nvSpPr>
        <p:spPr>
          <a:xfrm>
            <a:off x="2511552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 pack roles</a:t>
            </a:r>
            <a:endParaRPr lang="en-US" sz="1150" dirty="0"/>
          </a:p>
        </p:txBody>
      </p:sp>
      <p:sp>
        <p:nvSpPr>
          <p:cNvPr id="110" name="Shape 108"/>
          <p:cNvSpPr/>
          <p:nvPr/>
        </p:nvSpPr>
        <p:spPr>
          <a:xfrm>
            <a:off x="2529840" y="81884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11" name="Text 109"/>
          <p:cNvSpPr/>
          <p:nvPr/>
        </p:nvSpPr>
        <p:spPr>
          <a:xfrm>
            <a:off x="2648712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· core-volume · premium upgrade · dead.</a:t>
            </a:r>
            <a:endParaRPr lang="en-US" sz="690" dirty="0"/>
          </a:p>
        </p:txBody>
      </p:sp>
      <p:sp>
        <p:nvSpPr>
          <p:cNvPr id="112" name="Shape 110"/>
          <p:cNvSpPr/>
          <p:nvPr/>
        </p:nvSpPr>
        <p:spPr>
          <a:xfrm>
            <a:off x="2529840" y="85542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13" name="Text 111"/>
          <p:cNvSpPr/>
          <p:nvPr/>
        </p:nvSpPr>
        <p:spPr>
          <a:xfrm>
            <a:off x="2648712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format gets every pack.</a:t>
            </a:r>
            <a:endParaRPr lang="en-US" sz="690" dirty="0"/>
          </a:p>
        </p:txBody>
      </p:sp>
      <p:sp>
        <p:nvSpPr>
          <p:cNvPr id="114" name="Shape 112"/>
          <p:cNvSpPr/>
          <p:nvPr/>
        </p:nvSpPr>
        <p:spPr>
          <a:xfrm>
            <a:off x="2529840" y="891997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15" name="Text 113"/>
          <p:cNvSpPr/>
          <p:nvPr/>
        </p:nvSpPr>
        <p:spPr>
          <a:xfrm>
            <a:off x="2648712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dead packs before adding new ones.</a:t>
            </a:r>
            <a:endParaRPr lang="en-US" sz="690" dirty="0"/>
          </a:p>
        </p:txBody>
      </p:sp>
      <p:sp>
        <p:nvSpPr>
          <p:cNvPr id="116" name="Shape 114"/>
          <p:cNvSpPr/>
          <p:nvPr/>
        </p:nvSpPr>
        <p:spPr>
          <a:xfrm>
            <a:off x="2529840" y="92857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17" name="Text 115"/>
          <p:cNvSpPr/>
          <p:nvPr/>
        </p:nvSpPr>
        <p:spPr>
          <a:xfrm>
            <a:off x="2648712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 pack on sales per store, not listings won.</a:t>
            </a:r>
            <a:endParaRPr lang="en-US" sz="690" dirty="0"/>
          </a:p>
        </p:txBody>
      </p:sp>
      <p:sp>
        <p:nvSpPr>
          <p:cNvPr id="118" name="Shape 116"/>
          <p:cNvSpPr/>
          <p:nvPr/>
        </p:nvSpPr>
        <p:spPr>
          <a:xfrm>
            <a:off x="4575048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4575048" y="7388352"/>
            <a:ext cx="2017776" cy="274320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120" name="Text 118"/>
          <p:cNvSpPr/>
          <p:nvPr/>
        </p:nvSpPr>
        <p:spPr>
          <a:xfrm>
            <a:off x="4657344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FIELDS STILL MISSING</a:t>
            </a:r>
            <a:endParaRPr lang="en-US" sz="700" dirty="0"/>
          </a:p>
        </p:txBody>
      </p:sp>
      <p:sp>
        <p:nvSpPr>
          <p:cNvPr id="121" name="Text 119"/>
          <p:cNvSpPr/>
          <p:nvPr/>
        </p:nvSpPr>
        <p:spPr>
          <a:xfrm>
            <a:off x="4666488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Reconcile first</a:t>
            </a:r>
            <a:endParaRPr lang="en-US" sz="1150" dirty="0"/>
          </a:p>
        </p:txBody>
      </p:sp>
      <p:sp>
        <p:nvSpPr>
          <p:cNvPr id="122" name="Shape 120"/>
          <p:cNvSpPr/>
          <p:nvPr/>
        </p:nvSpPr>
        <p:spPr>
          <a:xfrm>
            <a:off x="4684776" y="818845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23" name="Text 121"/>
          <p:cNvSpPr/>
          <p:nvPr/>
        </p:nvSpPr>
        <p:spPr>
          <a:xfrm>
            <a:off x="4803648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SAH, weighted distribution by chain, PDO, OOS, closing stock.</a:t>
            </a:r>
            <a:endParaRPr lang="en-US" sz="690" dirty="0"/>
          </a:p>
        </p:txBody>
      </p:sp>
      <p:sp>
        <p:nvSpPr>
          <p:cNvPr id="124" name="Shape 122"/>
          <p:cNvSpPr/>
          <p:nvPr/>
        </p:nvSpPr>
        <p:spPr>
          <a:xfrm>
            <a:off x="4684776" y="855421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25" name="Text 123"/>
          <p:cNvSpPr/>
          <p:nvPr/>
        </p:nvSpPr>
        <p:spPr>
          <a:xfrm>
            <a:off x="4803648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them, cause is inferred and not measured.</a:t>
            </a:r>
            <a:endParaRPr lang="en-US" sz="690" dirty="0"/>
          </a:p>
        </p:txBody>
      </p:sp>
      <p:sp>
        <p:nvSpPr>
          <p:cNvPr id="126" name="Shape 124"/>
          <p:cNvSpPr/>
          <p:nvPr/>
        </p:nvSpPr>
        <p:spPr>
          <a:xfrm>
            <a:off x="4684776" y="891997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27" name="Text 125"/>
          <p:cNvSpPr/>
          <p:nvPr/>
        </p:nvSpPr>
        <p:spPr>
          <a:xfrm>
            <a:off x="4803648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factless store × article × month table supplies the denominator.</a:t>
            </a:r>
            <a:endParaRPr lang="en-US" sz="690" dirty="0"/>
          </a:p>
        </p:txBody>
      </p:sp>
      <p:sp>
        <p:nvSpPr>
          <p:cNvPr id="128" name="Shape 126"/>
          <p:cNvSpPr/>
          <p:nvPr/>
        </p:nvSpPr>
        <p:spPr>
          <a:xfrm>
            <a:off x="4684776" y="928573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29" name="Text 127"/>
          <p:cNvSpPr/>
          <p:nvPr/>
        </p:nvSpPr>
        <p:spPr>
          <a:xfrm>
            <a:off x="4803648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causal claim until these tie to source.</a:t>
            </a:r>
            <a:endParaRPr lang="en-US" sz="69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Mamaearth is gaining share — but shampoo is a productivity problem, not a width problem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market share | Nielsen RMS value share and weighted distribution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365760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FC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RMS June 2026 value share · Market_Share_By_PackSize_June26 · share-per-point derived as value share ÷ weighted distribution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265176" y="1261872"/>
            <a:ext cx="203606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5176" y="1261872"/>
            <a:ext cx="64008" cy="841248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1" name="Text 19"/>
          <p:cNvSpPr/>
          <p:nvPr/>
        </p:nvSpPr>
        <p:spPr>
          <a:xfrm>
            <a:off x="420624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 SHARE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420624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10.5%</a:t>
            </a:r>
            <a:endParaRPr lang="en-US" sz="1750" dirty="0"/>
          </a:p>
        </p:txBody>
      </p:sp>
      <p:sp>
        <p:nvSpPr>
          <p:cNvPr id="23" name="Text 21"/>
          <p:cNvSpPr/>
          <p:nvPr/>
        </p:nvSpPr>
        <p:spPr>
          <a:xfrm>
            <a:off x="420624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 | +3.1 pp YoY | 89.0% WD</a:t>
            </a:r>
            <a:endParaRPr lang="en-US" sz="680" dirty="0"/>
          </a:p>
        </p:txBody>
      </p:sp>
      <p:sp>
        <p:nvSpPr>
          <p:cNvPr id="24" name="Shape 22"/>
          <p:cNvSpPr/>
          <p:nvPr/>
        </p:nvSpPr>
        <p:spPr>
          <a:xfrm>
            <a:off x="2410968" y="1261872"/>
            <a:ext cx="203606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10968" y="1261872"/>
            <a:ext cx="64008" cy="841248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6" name="Text 24"/>
          <p:cNvSpPr/>
          <p:nvPr/>
        </p:nvSpPr>
        <p:spPr>
          <a:xfrm>
            <a:off x="2566416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SHARE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566416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3.7%</a:t>
            </a:r>
            <a:endParaRPr lang="en-US" sz="1750" dirty="0"/>
          </a:p>
        </p:txBody>
      </p:sp>
      <p:sp>
        <p:nvSpPr>
          <p:cNvPr id="28" name="Text 26"/>
          <p:cNvSpPr/>
          <p:nvPr/>
        </p:nvSpPr>
        <p:spPr>
          <a:xfrm>
            <a:off x="2566416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+1.2 pp YoY | 81.5% WD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4556760" y="1261872"/>
            <a:ext cx="203606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56760" y="1261872"/>
            <a:ext cx="64008" cy="8412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31" name="Text 29"/>
          <p:cNvSpPr/>
          <p:nvPr/>
        </p:nvSpPr>
        <p:spPr>
          <a:xfrm>
            <a:off x="4712208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FACE WASH</a:t>
            </a:r>
            <a:endParaRPr lang="en-US" sz="680" dirty="0"/>
          </a:p>
        </p:txBody>
      </p:sp>
      <p:sp>
        <p:nvSpPr>
          <p:cNvPr id="32" name="Text 30"/>
          <p:cNvSpPr/>
          <p:nvPr/>
        </p:nvSpPr>
        <p:spPr>
          <a:xfrm>
            <a:off x="4712208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0.4%</a:t>
            </a:r>
            <a:endParaRPr lang="en-US" sz="1750" dirty="0"/>
          </a:p>
        </p:txBody>
      </p:sp>
      <p:sp>
        <p:nvSpPr>
          <p:cNvPr id="33" name="Text 31"/>
          <p:cNvSpPr/>
          <p:nvPr/>
        </p:nvSpPr>
        <p:spPr>
          <a:xfrm>
            <a:off x="4712208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+0.3 pp YoY | 27.3% WD</a:t>
            </a:r>
            <a:endParaRPr lang="en-US" sz="680" dirty="0"/>
          </a:p>
        </p:txBody>
      </p:sp>
      <p:sp>
        <p:nvSpPr>
          <p:cNvPr id="34" name="Text 32"/>
          <p:cNvSpPr/>
          <p:nvPr/>
        </p:nvSpPr>
        <p:spPr>
          <a:xfrm>
            <a:off x="265176" y="22311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 value share (%) — June 2026</a:t>
            </a:r>
            <a:endParaRPr lang="en-US" sz="720" dirty="0"/>
          </a:p>
        </p:txBody>
      </p:sp>
      <p:graphicFrame>
        <p:nvGraphicFramePr>
          <p:cNvPr id="35" name="Chart 0" descr=""/>
          <p:cNvGraphicFramePr/>
          <p:nvPr/>
        </p:nvGraphicFramePr>
        <p:xfrm>
          <a:off x="246888" y="2432304"/>
          <a:ext cx="3090672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6" name="Text 33"/>
          <p:cNvSpPr/>
          <p:nvPr/>
        </p:nvSpPr>
        <p:spPr>
          <a:xfrm>
            <a:off x="3502152" y="22311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value share (%) — June 2026</a:t>
            </a:r>
            <a:endParaRPr lang="en-US" sz="720" dirty="0"/>
          </a:p>
        </p:txBody>
      </p:sp>
      <p:graphicFrame>
        <p:nvGraphicFramePr>
          <p:cNvPr id="37" name="Chart 1" descr=""/>
          <p:cNvGraphicFramePr/>
          <p:nvPr/>
        </p:nvGraphicFramePr>
        <p:xfrm>
          <a:off x="3483864" y="2432304"/>
          <a:ext cx="3090672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8" name="Shape 34"/>
          <p:cNvSpPr/>
          <p:nvPr/>
        </p:nvSpPr>
        <p:spPr>
          <a:xfrm>
            <a:off x="265176" y="460857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9" name="Text 35"/>
          <p:cNvSpPr/>
          <p:nvPr/>
        </p:nvSpPr>
        <p:spPr>
          <a:xfrm>
            <a:off x="374904" y="462686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PER DISTRIBUTION POINT — THE MEASURE THAT CHANGES THE PACK DECISION</a:t>
            </a:r>
            <a:endParaRPr lang="en-US" sz="720" dirty="0"/>
          </a:p>
        </p:txBody>
      </p:sp>
      <p:sp>
        <p:nvSpPr>
          <p:cNvPr id="40" name="Shape 36"/>
          <p:cNvSpPr/>
          <p:nvPr/>
        </p:nvSpPr>
        <p:spPr>
          <a:xfrm>
            <a:off x="265176" y="495604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1" name="Text 37"/>
          <p:cNvSpPr/>
          <p:nvPr/>
        </p:nvSpPr>
        <p:spPr>
          <a:xfrm>
            <a:off x="320040" y="4974336"/>
            <a:ext cx="17885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CATEGORY</a:t>
            </a:r>
            <a:endParaRPr lang="en-US" sz="660" dirty="0"/>
          </a:p>
        </p:txBody>
      </p:sp>
      <p:sp>
        <p:nvSpPr>
          <p:cNvPr id="42" name="Text 38"/>
          <p:cNvSpPr/>
          <p:nvPr/>
        </p:nvSpPr>
        <p:spPr>
          <a:xfrm>
            <a:off x="2218334" y="4974336"/>
            <a:ext cx="7603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SHARE</a:t>
            </a:r>
            <a:endParaRPr lang="en-US" sz="660" dirty="0"/>
          </a:p>
        </p:txBody>
      </p:sp>
      <p:sp>
        <p:nvSpPr>
          <p:cNvPr id="43" name="Text 39"/>
          <p:cNvSpPr/>
          <p:nvPr/>
        </p:nvSpPr>
        <p:spPr>
          <a:xfrm>
            <a:off x="3088386" y="4974336"/>
            <a:ext cx="8394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DIST.</a:t>
            </a:r>
            <a:endParaRPr lang="en-US" sz="660" dirty="0"/>
          </a:p>
        </p:txBody>
      </p:sp>
      <p:sp>
        <p:nvSpPr>
          <p:cNvPr id="44" name="Text 40"/>
          <p:cNvSpPr/>
          <p:nvPr/>
        </p:nvSpPr>
        <p:spPr>
          <a:xfrm>
            <a:off x="4037533" y="4974336"/>
            <a:ext cx="9185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PER POINT</a:t>
            </a:r>
            <a:endParaRPr lang="en-US" sz="660" dirty="0"/>
          </a:p>
        </p:txBody>
      </p:sp>
      <p:sp>
        <p:nvSpPr>
          <p:cNvPr id="45" name="Text 41"/>
          <p:cNvSpPr/>
          <p:nvPr/>
        </p:nvSpPr>
        <p:spPr>
          <a:xfrm>
            <a:off x="5065776" y="4974336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46" name="Shape 42"/>
          <p:cNvSpPr/>
          <p:nvPr/>
        </p:nvSpPr>
        <p:spPr>
          <a:xfrm>
            <a:off x="265176" y="5212080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47" name="Shape 43"/>
          <p:cNvSpPr/>
          <p:nvPr/>
        </p:nvSpPr>
        <p:spPr>
          <a:xfrm>
            <a:off x="265176" y="55046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320040" y="5212080"/>
            <a:ext cx="17885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Face Wash</a:t>
            </a:r>
            <a:endParaRPr lang="en-US" sz="720" dirty="0"/>
          </a:p>
        </p:txBody>
      </p:sp>
      <p:sp>
        <p:nvSpPr>
          <p:cNvPr id="49" name="Text 45"/>
          <p:cNvSpPr/>
          <p:nvPr/>
        </p:nvSpPr>
        <p:spPr>
          <a:xfrm>
            <a:off x="2218334" y="5212080"/>
            <a:ext cx="7603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10.5%</a:t>
            </a:r>
            <a:endParaRPr lang="en-US" sz="720" dirty="0"/>
          </a:p>
        </p:txBody>
      </p:sp>
      <p:sp>
        <p:nvSpPr>
          <p:cNvPr id="50" name="Text 46"/>
          <p:cNvSpPr/>
          <p:nvPr/>
        </p:nvSpPr>
        <p:spPr>
          <a:xfrm>
            <a:off x="3088386" y="5212080"/>
            <a:ext cx="8394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89.0%</a:t>
            </a:r>
            <a:endParaRPr lang="en-US" sz="720" dirty="0"/>
          </a:p>
        </p:txBody>
      </p:sp>
      <p:sp>
        <p:nvSpPr>
          <p:cNvPr id="51" name="Text 47"/>
          <p:cNvSpPr/>
          <p:nvPr/>
        </p:nvSpPr>
        <p:spPr>
          <a:xfrm>
            <a:off x="4037533" y="5212080"/>
            <a:ext cx="9185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0.118</a:t>
            </a:r>
            <a:endParaRPr lang="en-US" sz="720" dirty="0"/>
          </a:p>
        </p:txBody>
      </p:sp>
      <p:sp>
        <p:nvSpPr>
          <p:cNvPr id="52" name="Text 48"/>
          <p:cNvSpPr/>
          <p:nvPr/>
        </p:nvSpPr>
        <p:spPr>
          <a:xfrm>
            <a:off x="5065776" y="521208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Productive shelf — defend it</a:t>
            </a:r>
            <a:endParaRPr lang="en-US" sz="720" dirty="0"/>
          </a:p>
        </p:txBody>
      </p:sp>
      <p:sp>
        <p:nvSpPr>
          <p:cNvPr id="53" name="Shape 49"/>
          <p:cNvSpPr/>
          <p:nvPr/>
        </p:nvSpPr>
        <p:spPr>
          <a:xfrm>
            <a:off x="265176" y="579729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320040" y="5504688"/>
            <a:ext cx="17885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</a:t>
            </a:r>
            <a:endParaRPr lang="en-US" sz="720" dirty="0"/>
          </a:p>
        </p:txBody>
      </p:sp>
      <p:sp>
        <p:nvSpPr>
          <p:cNvPr id="55" name="Text 51"/>
          <p:cNvSpPr/>
          <p:nvPr/>
        </p:nvSpPr>
        <p:spPr>
          <a:xfrm>
            <a:off x="2218334" y="5504688"/>
            <a:ext cx="7603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3.7%</a:t>
            </a:r>
            <a:endParaRPr lang="en-US" sz="720" dirty="0"/>
          </a:p>
        </p:txBody>
      </p:sp>
      <p:sp>
        <p:nvSpPr>
          <p:cNvPr id="56" name="Text 52"/>
          <p:cNvSpPr/>
          <p:nvPr/>
        </p:nvSpPr>
        <p:spPr>
          <a:xfrm>
            <a:off x="3088386" y="5504688"/>
            <a:ext cx="8394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81.5%</a:t>
            </a:r>
            <a:endParaRPr lang="en-US" sz="720" dirty="0"/>
          </a:p>
        </p:txBody>
      </p:sp>
      <p:sp>
        <p:nvSpPr>
          <p:cNvPr id="57" name="Text 53"/>
          <p:cNvSpPr/>
          <p:nvPr/>
        </p:nvSpPr>
        <p:spPr>
          <a:xfrm>
            <a:off x="4037533" y="5504688"/>
            <a:ext cx="9185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0.045</a:t>
            </a:r>
            <a:endParaRPr lang="en-US" sz="720" dirty="0"/>
          </a:p>
        </p:txBody>
      </p:sp>
      <p:sp>
        <p:nvSpPr>
          <p:cNvPr id="58" name="Text 54"/>
          <p:cNvSpPr/>
          <p:nvPr/>
        </p:nvSpPr>
        <p:spPr>
          <a:xfrm>
            <a:off x="5065776" y="5504688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 as productive per point</a:t>
            </a:r>
            <a:endParaRPr lang="en-US" sz="720" dirty="0"/>
          </a:p>
        </p:txBody>
      </p:sp>
      <p:sp>
        <p:nvSpPr>
          <p:cNvPr id="59" name="Shape 55"/>
          <p:cNvSpPr/>
          <p:nvPr/>
        </p:nvSpPr>
        <p:spPr>
          <a:xfrm>
            <a:off x="265176" y="5797296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60" name="Shape 56"/>
          <p:cNvSpPr/>
          <p:nvPr/>
        </p:nvSpPr>
        <p:spPr>
          <a:xfrm>
            <a:off x="265176" y="60899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1" name="Text 57"/>
          <p:cNvSpPr/>
          <p:nvPr/>
        </p:nvSpPr>
        <p:spPr>
          <a:xfrm>
            <a:off x="320040" y="5797296"/>
            <a:ext cx="17885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Wash</a:t>
            </a:r>
            <a:endParaRPr lang="en-US" sz="720" dirty="0"/>
          </a:p>
        </p:txBody>
      </p:sp>
      <p:sp>
        <p:nvSpPr>
          <p:cNvPr id="62" name="Text 58"/>
          <p:cNvSpPr/>
          <p:nvPr/>
        </p:nvSpPr>
        <p:spPr>
          <a:xfrm>
            <a:off x="2218334" y="5797296"/>
            <a:ext cx="7603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0.4%</a:t>
            </a:r>
            <a:endParaRPr lang="en-US" sz="720" dirty="0"/>
          </a:p>
        </p:txBody>
      </p:sp>
      <p:sp>
        <p:nvSpPr>
          <p:cNvPr id="63" name="Text 59"/>
          <p:cNvSpPr/>
          <p:nvPr/>
        </p:nvSpPr>
        <p:spPr>
          <a:xfrm>
            <a:off x="3088386" y="5797296"/>
            <a:ext cx="8394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27.3%</a:t>
            </a:r>
            <a:endParaRPr lang="en-US" sz="720" dirty="0"/>
          </a:p>
        </p:txBody>
      </p:sp>
      <p:sp>
        <p:nvSpPr>
          <p:cNvPr id="64" name="Text 60"/>
          <p:cNvSpPr/>
          <p:nvPr/>
        </p:nvSpPr>
        <p:spPr>
          <a:xfrm>
            <a:off x="4037533" y="5797296"/>
            <a:ext cx="9185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0.015</a:t>
            </a:r>
            <a:endParaRPr lang="en-US" sz="720" dirty="0"/>
          </a:p>
        </p:txBody>
      </p:sp>
      <p:sp>
        <p:nvSpPr>
          <p:cNvPr id="65" name="Text 61"/>
          <p:cNvSpPr/>
          <p:nvPr/>
        </p:nvSpPr>
        <p:spPr>
          <a:xfrm>
            <a:off x="5065776" y="5797296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 width gap — expand</a:t>
            </a:r>
            <a:endParaRPr lang="en-US" sz="720" dirty="0"/>
          </a:p>
        </p:txBody>
      </p:sp>
      <p:sp>
        <p:nvSpPr>
          <p:cNvPr id="66" name="Shape 62"/>
          <p:cNvSpPr/>
          <p:nvPr/>
        </p:nvSpPr>
        <p:spPr>
          <a:xfrm>
            <a:off x="265176" y="6272784"/>
            <a:ext cx="3090672" cy="164592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265176" y="6272784"/>
            <a:ext cx="3090672" cy="274320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68" name="Text 64"/>
          <p:cNvSpPr/>
          <p:nvPr/>
        </p:nvSpPr>
        <p:spPr>
          <a:xfrm>
            <a:off x="347472" y="62910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PACK-SIZE ANALYSIS SAID</a:t>
            </a:r>
            <a:endParaRPr lang="en-US" sz="700" dirty="0"/>
          </a:p>
        </p:txBody>
      </p:sp>
      <p:sp>
        <p:nvSpPr>
          <p:cNvPr id="69" name="Shape 65"/>
          <p:cNvSpPr/>
          <p:nvPr/>
        </p:nvSpPr>
        <p:spPr>
          <a:xfrm>
            <a:off x="374904" y="672541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70" name="Text 66"/>
          <p:cNvSpPr/>
          <p:nvPr/>
        </p:nvSpPr>
        <p:spPr>
          <a:xfrm>
            <a:off x="493776" y="6675120"/>
            <a:ext cx="2752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misses 12 of 16 formats — 66% of category value.</a:t>
            </a:r>
            <a:endParaRPr lang="en-US" sz="720" dirty="0"/>
          </a:p>
        </p:txBody>
      </p:sp>
      <p:sp>
        <p:nvSpPr>
          <p:cNvPr id="71" name="Shape 67"/>
          <p:cNvSpPr/>
          <p:nvPr/>
        </p:nvSpPr>
        <p:spPr>
          <a:xfrm>
            <a:off x="374904" y="709117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72" name="Text 68"/>
          <p:cNvSpPr/>
          <p:nvPr/>
        </p:nvSpPr>
        <p:spPr>
          <a:xfrm>
            <a:off x="493776" y="7040880"/>
            <a:ext cx="2752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 misses 7 of 16 formats — 5% of category value.</a:t>
            </a:r>
            <a:endParaRPr lang="en-US" sz="720" dirty="0"/>
          </a:p>
        </p:txBody>
      </p:sp>
      <p:sp>
        <p:nvSpPr>
          <p:cNvPr id="73" name="Shape 69"/>
          <p:cNvSpPr/>
          <p:nvPr/>
        </p:nvSpPr>
        <p:spPr>
          <a:xfrm>
            <a:off x="374904" y="745693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74" name="Text 70"/>
          <p:cNvSpPr/>
          <p:nvPr/>
        </p:nvSpPr>
        <p:spPr>
          <a:xfrm>
            <a:off x="493776" y="7406640"/>
            <a:ext cx="2752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pilot the largest missing shampoo formats.</a:t>
            </a:r>
            <a:endParaRPr lang="en-US" sz="720" dirty="0"/>
          </a:p>
        </p:txBody>
      </p:sp>
      <p:sp>
        <p:nvSpPr>
          <p:cNvPr id="75" name="Shape 71"/>
          <p:cNvSpPr/>
          <p:nvPr/>
        </p:nvSpPr>
        <p:spPr>
          <a:xfrm>
            <a:off x="3502152" y="6272784"/>
            <a:ext cx="3090672" cy="164592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3502152" y="6272784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77" name="Text 73"/>
          <p:cNvSpPr/>
          <p:nvPr/>
        </p:nvSpPr>
        <p:spPr>
          <a:xfrm>
            <a:off x="3584448" y="62910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SHARE-PER-POINT SAYS INSTEAD</a:t>
            </a:r>
            <a:endParaRPr lang="en-US" sz="700" dirty="0"/>
          </a:p>
        </p:txBody>
      </p:sp>
      <p:sp>
        <p:nvSpPr>
          <p:cNvPr id="78" name="Shape 74"/>
          <p:cNvSpPr/>
          <p:nvPr/>
        </p:nvSpPr>
        <p:spPr>
          <a:xfrm>
            <a:off x="3611880" y="67254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79" name="Text 75"/>
          <p:cNvSpPr/>
          <p:nvPr/>
        </p:nvSpPr>
        <p:spPr>
          <a:xfrm>
            <a:off x="3730752" y="6675120"/>
            <a:ext cx="2752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already holds 81.5% of the shelf and under-earns on it.</a:t>
            </a:r>
            <a:endParaRPr lang="en-US" sz="720" dirty="0"/>
          </a:p>
        </p:txBody>
      </p:sp>
      <p:sp>
        <p:nvSpPr>
          <p:cNvPr id="80" name="Shape 76"/>
          <p:cNvSpPr/>
          <p:nvPr/>
        </p:nvSpPr>
        <p:spPr>
          <a:xfrm>
            <a:off x="3611880" y="709117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81" name="Text 77"/>
          <p:cNvSpPr/>
          <p:nvPr/>
        </p:nvSpPr>
        <p:spPr>
          <a:xfrm>
            <a:off x="3730752" y="7040880"/>
            <a:ext cx="2752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formats spends listing fees to dilute an already-thin rate.</a:t>
            </a:r>
            <a:endParaRPr lang="en-US" sz="720" dirty="0"/>
          </a:p>
        </p:txBody>
      </p:sp>
      <p:sp>
        <p:nvSpPr>
          <p:cNvPr id="82" name="Shape 78"/>
          <p:cNvSpPr/>
          <p:nvPr/>
        </p:nvSpPr>
        <p:spPr>
          <a:xfrm>
            <a:off x="3611880" y="745693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83" name="Text 79"/>
          <p:cNvSpPr/>
          <p:nvPr/>
        </p:nvSpPr>
        <p:spPr>
          <a:xfrm>
            <a:off x="3730752" y="7406640"/>
            <a:ext cx="2752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rate first: velocity, facing quality, hero availability.</a:t>
            </a:r>
            <a:endParaRPr lang="en-US" sz="720" dirty="0"/>
          </a:p>
        </p:txBody>
      </p:sp>
      <p:sp>
        <p:nvSpPr>
          <p:cNvPr id="84" name="Shape 80"/>
          <p:cNvSpPr/>
          <p:nvPr/>
        </p:nvSpPr>
        <p:spPr>
          <a:xfrm>
            <a:off x="265176" y="8046720"/>
            <a:ext cx="6327648" cy="566928"/>
          </a:xfrm>
          <a:prstGeom prst="roundRect">
            <a:avLst>
              <a:gd name="adj" fmla="val 4839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85" name="Text 81"/>
          <p:cNvSpPr/>
          <p:nvPr/>
        </p:nvSpPr>
        <p:spPr>
          <a:xfrm>
            <a:off x="393192" y="8119872"/>
            <a:ext cx="607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  </a:t>
            </a:r>
            <a:pPr indent="0" marL="0">
              <a:lnSpc>
                <a:spcPct val="94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 Mamaearth Face Wash — +58.2% L3M growth on a productive shelf. Hold the shampoo pack rollout and run a rate-recovery pilot in South-1, the only zone where shampoo out-sells cleanser. Expand The Derma Co. Face Wash, where 27.3% weighted distribution is a genuine width gap.</a:t>
            </a:r>
            <a:endParaRPr lang="en-US" sz="700" dirty="0"/>
          </a:p>
        </p:txBody>
      </p:sp>
      <p:sp>
        <p:nvSpPr>
          <p:cNvPr id="86" name="Shape 82"/>
          <p:cNvSpPr/>
          <p:nvPr/>
        </p:nvSpPr>
        <p:spPr>
          <a:xfrm>
            <a:off x="265176" y="8759952"/>
            <a:ext cx="6327648" cy="256032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87" name="Text 83"/>
          <p:cNvSpPr/>
          <p:nvPr/>
        </p:nvSpPr>
        <p:spPr>
          <a:xfrm>
            <a:off x="374904" y="877824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PACK DECISION — FIELDS THAT MUST RECONCILE</a:t>
            </a:r>
            <a:endParaRPr lang="en-US" sz="720" dirty="0"/>
          </a:p>
        </p:txBody>
      </p:sp>
      <p:sp>
        <p:nvSpPr>
          <p:cNvPr id="88" name="Shape 84"/>
          <p:cNvSpPr/>
          <p:nvPr/>
        </p:nvSpPr>
        <p:spPr>
          <a:xfrm>
            <a:off x="265176" y="9107424"/>
            <a:ext cx="2036064" cy="1481328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265176" y="9107424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90" name="Text 86"/>
          <p:cNvSpPr/>
          <p:nvPr/>
        </p:nvSpPr>
        <p:spPr>
          <a:xfrm>
            <a:off x="347472" y="912571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DISTRIBUTION BY CHAIN</a:t>
            </a:r>
            <a:endParaRPr lang="en-US" sz="700" dirty="0"/>
          </a:p>
        </p:txBody>
      </p:sp>
      <p:sp>
        <p:nvSpPr>
          <p:cNvPr id="91" name="Shape 87"/>
          <p:cNvSpPr/>
          <p:nvPr/>
        </p:nvSpPr>
        <p:spPr>
          <a:xfrm>
            <a:off x="374904" y="954176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92" name="Text 88"/>
          <p:cNvSpPr/>
          <p:nvPr/>
        </p:nvSpPr>
        <p:spPr>
          <a:xfrm>
            <a:off x="493776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gives national WD only. Share per point cannot yet be cut by chain.</a:t>
            </a:r>
            <a:endParaRPr lang="en-US" sz="690" dirty="0"/>
          </a:p>
        </p:txBody>
      </p:sp>
      <p:sp>
        <p:nvSpPr>
          <p:cNvPr id="93" name="Shape 89"/>
          <p:cNvSpPr/>
          <p:nvPr/>
        </p:nvSpPr>
        <p:spPr>
          <a:xfrm>
            <a:off x="374904" y="98892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94" name="Text 90"/>
          <p:cNvSpPr/>
          <p:nvPr/>
        </p:nvSpPr>
        <p:spPr>
          <a:xfrm>
            <a:off x="493776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it, "which account is the shelf under-earning in" stays unanswerable.</a:t>
            </a:r>
            <a:endParaRPr lang="en-US" sz="690" dirty="0"/>
          </a:p>
        </p:txBody>
      </p:sp>
      <p:sp>
        <p:nvSpPr>
          <p:cNvPr id="95" name="Shape 91"/>
          <p:cNvSpPr/>
          <p:nvPr/>
        </p:nvSpPr>
        <p:spPr>
          <a:xfrm>
            <a:off x="374904" y="10236708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96" name="Text 92"/>
          <p:cNvSpPr/>
          <p:nvPr/>
        </p:nvSpPr>
        <p:spPr>
          <a:xfrm>
            <a:off x="493776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Nielsen chain-level RMS extract.</a:t>
            </a:r>
            <a:endParaRPr lang="en-US" sz="690" dirty="0"/>
          </a:p>
        </p:txBody>
      </p:sp>
      <p:sp>
        <p:nvSpPr>
          <p:cNvPr id="97" name="Shape 93"/>
          <p:cNvSpPr/>
          <p:nvPr/>
        </p:nvSpPr>
        <p:spPr>
          <a:xfrm>
            <a:off x="2410968" y="9107424"/>
            <a:ext cx="2036064" cy="1481328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2410968" y="9107424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99" name="Text 95"/>
          <p:cNvSpPr/>
          <p:nvPr/>
        </p:nvSpPr>
        <p:spPr>
          <a:xfrm>
            <a:off x="2493264" y="912571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 DISTRIBUTION POINT</a:t>
            </a:r>
            <a:endParaRPr lang="en-US" sz="700" dirty="0"/>
          </a:p>
        </p:txBody>
      </p:sp>
      <p:sp>
        <p:nvSpPr>
          <p:cNvPr id="100" name="Shape 96"/>
          <p:cNvSpPr/>
          <p:nvPr/>
        </p:nvSpPr>
        <p:spPr>
          <a:xfrm>
            <a:off x="2520696" y="954176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01" name="Text 97"/>
          <p:cNvSpPr/>
          <p:nvPr/>
        </p:nvSpPr>
        <p:spPr>
          <a:xfrm>
            <a:off x="2639568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PDO = offtake ÷ productive stores, by article and chain.</a:t>
            </a:r>
            <a:endParaRPr lang="en-US" sz="690" dirty="0"/>
          </a:p>
        </p:txBody>
      </p:sp>
      <p:sp>
        <p:nvSpPr>
          <p:cNvPr id="102" name="Shape 98"/>
          <p:cNvSpPr/>
          <p:nvPr/>
        </p:nvSpPr>
        <p:spPr>
          <a:xfrm>
            <a:off x="2520696" y="98892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03" name="Text 99"/>
          <p:cNvSpPr/>
          <p:nvPr/>
        </p:nvSpPr>
        <p:spPr>
          <a:xfrm>
            <a:off x="2639568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white space into a ₹ number: potential stores × benchmark PDO.</a:t>
            </a:r>
            <a:endParaRPr lang="en-US" sz="690" dirty="0"/>
          </a:p>
        </p:txBody>
      </p:sp>
      <p:sp>
        <p:nvSpPr>
          <p:cNvPr id="104" name="Shape 100"/>
          <p:cNvSpPr/>
          <p:nvPr/>
        </p:nvSpPr>
        <p:spPr>
          <a:xfrm>
            <a:off x="2520696" y="10236708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05" name="Text 101"/>
          <p:cNvSpPr/>
          <p:nvPr/>
        </p:nvSpPr>
        <p:spPr>
          <a:xfrm>
            <a:off x="2639568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store × article × month listing table.</a:t>
            </a:r>
            <a:endParaRPr lang="en-US" sz="690" dirty="0"/>
          </a:p>
        </p:txBody>
      </p:sp>
      <p:sp>
        <p:nvSpPr>
          <p:cNvPr id="106" name="Shape 102"/>
          <p:cNvSpPr/>
          <p:nvPr/>
        </p:nvSpPr>
        <p:spPr>
          <a:xfrm>
            <a:off x="4556760" y="9107424"/>
            <a:ext cx="2036064" cy="1481328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4556760" y="9107424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08" name="Text 104"/>
          <p:cNvSpPr/>
          <p:nvPr/>
        </p:nvSpPr>
        <p:spPr>
          <a:xfrm>
            <a:off x="4639056" y="912571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 DISTRIBUTION</a:t>
            </a:r>
            <a:endParaRPr lang="en-US" sz="700" dirty="0"/>
          </a:p>
        </p:txBody>
      </p:sp>
      <p:sp>
        <p:nvSpPr>
          <p:cNvPr id="109" name="Shape 105"/>
          <p:cNvSpPr/>
          <p:nvPr/>
        </p:nvSpPr>
        <p:spPr>
          <a:xfrm>
            <a:off x="4666488" y="954176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10" name="Text 106"/>
          <p:cNvSpPr/>
          <p:nvPr/>
        </p:nvSpPr>
        <p:spPr>
          <a:xfrm>
            <a:off x="4785360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Himalaya, Garnier, Dove and H&amp;S WD are not in the current cut.</a:t>
            </a:r>
            <a:endParaRPr lang="en-US" sz="690" dirty="0"/>
          </a:p>
        </p:txBody>
      </p:sp>
      <p:sp>
        <p:nvSpPr>
          <p:cNvPr id="111" name="Shape 107"/>
          <p:cNvSpPr/>
          <p:nvPr/>
        </p:nvSpPr>
        <p:spPr>
          <a:xfrm>
            <a:off x="4666488" y="98892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12" name="Text 108"/>
          <p:cNvSpPr/>
          <p:nvPr/>
        </p:nvSpPr>
        <p:spPr>
          <a:xfrm>
            <a:off x="4785360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SPD can only be compared to itself until they are.</a:t>
            </a:r>
            <a:endParaRPr lang="en-US" sz="690" dirty="0"/>
          </a:p>
        </p:txBody>
      </p:sp>
      <p:sp>
        <p:nvSpPr>
          <p:cNvPr id="113" name="Shape 109"/>
          <p:cNvSpPr/>
          <p:nvPr/>
        </p:nvSpPr>
        <p:spPr>
          <a:xfrm>
            <a:off x="4666488" y="10236708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14" name="Text 110"/>
          <p:cNvSpPr/>
          <p:nvPr/>
        </p:nvSpPr>
        <p:spPr>
          <a:xfrm>
            <a:off x="4785360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Nielsen competitive distribution panel.</a:t>
            </a:r>
            <a:endParaRPr lang="en-US" sz="69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zones already convert at 83% — that rate is worth ₹5.87 Cr applied to North and East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portfolio | contribution, conversion and recoverable value at the internal benchmark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365760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FC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gap = primary − offtake on comparable mapped cuts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265176" y="12618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0" name="Text 18"/>
          <p:cNvSpPr/>
          <p:nvPr/>
        </p:nvSpPr>
        <p:spPr>
          <a:xfrm>
            <a:off x="374904" y="12801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SCORECARD — RANKED BY RECOVERABLE VALUE, NOT BY SIZE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265176" y="160934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2" name="Text 20"/>
          <p:cNvSpPr/>
          <p:nvPr/>
        </p:nvSpPr>
        <p:spPr>
          <a:xfrm>
            <a:off x="320040" y="1627632"/>
            <a:ext cx="8953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23" name="Text 21"/>
          <p:cNvSpPr/>
          <p:nvPr/>
        </p:nvSpPr>
        <p:spPr>
          <a:xfrm>
            <a:off x="1325122" y="1627632"/>
            <a:ext cx="676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24" name="Text 22"/>
          <p:cNvSpPr/>
          <p:nvPr/>
        </p:nvSpPr>
        <p:spPr>
          <a:xfrm>
            <a:off x="2111708" y="1627632"/>
            <a:ext cx="676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25" name="Text 23"/>
          <p:cNvSpPr/>
          <p:nvPr/>
        </p:nvSpPr>
        <p:spPr>
          <a:xfrm>
            <a:off x="2898294" y="1627632"/>
            <a:ext cx="5195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26" name="Text 24"/>
          <p:cNvSpPr/>
          <p:nvPr/>
        </p:nvSpPr>
        <p:spPr>
          <a:xfrm>
            <a:off x="3527563" y="1627632"/>
            <a:ext cx="5719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4209271" y="1627632"/>
            <a:ext cx="5719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4890979" y="1627632"/>
            <a:ext cx="8953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5896061" y="1627632"/>
            <a:ext cx="6418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265176" y="1865376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31" name="Shape 29"/>
          <p:cNvSpPr/>
          <p:nvPr/>
        </p:nvSpPr>
        <p:spPr>
          <a:xfrm>
            <a:off x="265176" y="22128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0040" y="186537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33" name="Text 31"/>
          <p:cNvSpPr/>
          <p:nvPr/>
        </p:nvSpPr>
        <p:spPr>
          <a:xfrm>
            <a:off x="1325122" y="186537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7.83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2111708" y="186537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3.55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2898294" y="1865376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9.8%</a:t>
            </a:r>
            <a:endParaRPr lang="en-US" sz="740" dirty="0"/>
          </a:p>
        </p:txBody>
      </p:sp>
      <p:sp>
        <p:nvSpPr>
          <p:cNvPr id="36" name="Text 34"/>
          <p:cNvSpPr/>
          <p:nvPr/>
        </p:nvSpPr>
        <p:spPr>
          <a:xfrm>
            <a:off x="3527563" y="186537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45.3%</a:t>
            </a:r>
            <a:endParaRPr lang="en-US" sz="740" dirty="0"/>
          </a:p>
        </p:txBody>
      </p:sp>
      <p:sp>
        <p:nvSpPr>
          <p:cNvPr id="37" name="Text 35"/>
          <p:cNvSpPr/>
          <p:nvPr/>
        </p:nvSpPr>
        <p:spPr>
          <a:xfrm>
            <a:off x="4209271" y="186537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4.28</a:t>
            </a:r>
            <a:endParaRPr lang="en-US" sz="740" dirty="0"/>
          </a:p>
        </p:txBody>
      </p:sp>
      <p:sp>
        <p:nvSpPr>
          <p:cNvPr id="38" name="Text 36"/>
          <p:cNvSpPr/>
          <p:nvPr/>
        </p:nvSpPr>
        <p:spPr>
          <a:xfrm>
            <a:off x="4890979" y="186537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+2.94 Cr</a:t>
            </a:r>
            <a:endParaRPr lang="en-US" sz="740" dirty="0"/>
          </a:p>
        </p:txBody>
      </p:sp>
      <p:sp>
        <p:nvSpPr>
          <p:cNvPr id="39" name="Text 37"/>
          <p:cNvSpPr/>
          <p:nvPr/>
        </p:nvSpPr>
        <p:spPr>
          <a:xfrm>
            <a:off x="5896061" y="1865376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40" name="Shape 38"/>
          <p:cNvSpPr/>
          <p:nvPr/>
        </p:nvSpPr>
        <p:spPr>
          <a:xfrm>
            <a:off x="265176" y="256032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0040" y="2212848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42" name="Text 40"/>
          <p:cNvSpPr/>
          <p:nvPr/>
        </p:nvSpPr>
        <p:spPr>
          <a:xfrm>
            <a:off x="1325122" y="2212848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11.95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111708" y="2212848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6.99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2898294" y="2212848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19.4%</a:t>
            </a:r>
            <a:endParaRPr lang="en-US" sz="740" dirty="0"/>
          </a:p>
        </p:txBody>
      </p:sp>
      <p:sp>
        <p:nvSpPr>
          <p:cNvPr id="45" name="Text 43"/>
          <p:cNvSpPr/>
          <p:nvPr/>
        </p:nvSpPr>
        <p:spPr>
          <a:xfrm>
            <a:off x="3527563" y="2212848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58.5%</a:t>
            </a:r>
            <a:endParaRPr lang="en-US" sz="740" dirty="0"/>
          </a:p>
        </p:txBody>
      </p:sp>
      <p:sp>
        <p:nvSpPr>
          <p:cNvPr id="46" name="Text 44"/>
          <p:cNvSpPr/>
          <p:nvPr/>
        </p:nvSpPr>
        <p:spPr>
          <a:xfrm>
            <a:off x="4209271" y="2212848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4.97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4890979" y="2212848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+2.92 Cr</a:t>
            </a:r>
            <a:endParaRPr lang="en-US" sz="740" dirty="0"/>
          </a:p>
        </p:txBody>
      </p:sp>
      <p:sp>
        <p:nvSpPr>
          <p:cNvPr id="48" name="Text 46"/>
          <p:cNvSpPr/>
          <p:nvPr/>
        </p:nvSpPr>
        <p:spPr>
          <a:xfrm>
            <a:off x="5896061" y="2212848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49" name="Shape 47"/>
          <p:cNvSpPr/>
          <p:nvPr/>
        </p:nvSpPr>
        <p:spPr>
          <a:xfrm>
            <a:off x="265176" y="2560320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0" name="Shape 48"/>
          <p:cNvSpPr/>
          <p:nvPr/>
        </p:nvSpPr>
        <p:spPr>
          <a:xfrm>
            <a:off x="265176" y="29077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0040" y="2560320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52" name="Text 50"/>
          <p:cNvSpPr/>
          <p:nvPr/>
        </p:nvSpPr>
        <p:spPr>
          <a:xfrm>
            <a:off x="1325122" y="2560320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6.89</a:t>
            </a:r>
            <a:endParaRPr lang="en-US" sz="740" dirty="0"/>
          </a:p>
        </p:txBody>
      </p:sp>
      <p:sp>
        <p:nvSpPr>
          <p:cNvPr id="53" name="Text 51"/>
          <p:cNvSpPr/>
          <p:nvPr/>
        </p:nvSpPr>
        <p:spPr>
          <a:xfrm>
            <a:off x="2111708" y="2560320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4.91</a:t>
            </a:r>
            <a:endParaRPr lang="en-US" sz="740" dirty="0"/>
          </a:p>
        </p:txBody>
      </p:sp>
      <p:sp>
        <p:nvSpPr>
          <p:cNvPr id="54" name="Text 52"/>
          <p:cNvSpPr/>
          <p:nvPr/>
        </p:nvSpPr>
        <p:spPr>
          <a:xfrm>
            <a:off x="2898294" y="2560320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13.6%</a:t>
            </a:r>
            <a:endParaRPr lang="en-US" sz="740" dirty="0"/>
          </a:p>
        </p:txBody>
      </p:sp>
      <p:sp>
        <p:nvSpPr>
          <p:cNvPr id="55" name="Text 53"/>
          <p:cNvSpPr/>
          <p:nvPr/>
        </p:nvSpPr>
        <p:spPr>
          <a:xfrm>
            <a:off x="3527563" y="2560320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71.3%</a:t>
            </a:r>
            <a:endParaRPr lang="en-US" sz="740" dirty="0"/>
          </a:p>
        </p:txBody>
      </p:sp>
      <p:sp>
        <p:nvSpPr>
          <p:cNvPr id="56" name="Text 54"/>
          <p:cNvSpPr/>
          <p:nvPr/>
        </p:nvSpPr>
        <p:spPr>
          <a:xfrm>
            <a:off x="4209271" y="2560320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</a:t>
            </a:r>
            <a:endParaRPr lang="en-US" sz="740" dirty="0"/>
          </a:p>
        </p:txBody>
      </p:sp>
      <p:sp>
        <p:nvSpPr>
          <p:cNvPr id="57" name="Text 55"/>
          <p:cNvSpPr/>
          <p:nvPr/>
        </p:nvSpPr>
        <p:spPr>
          <a:xfrm>
            <a:off x="4890979" y="2560320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+0.81 Cr</a:t>
            </a:r>
            <a:endParaRPr lang="en-US" sz="740" dirty="0"/>
          </a:p>
        </p:txBody>
      </p:sp>
      <p:sp>
        <p:nvSpPr>
          <p:cNvPr id="58" name="Text 56"/>
          <p:cNvSpPr/>
          <p:nvPr/>
        </p:nvSpPr>
        <p:spPr>
          <a:xfrm>
            <a:off x="5896061" y="2560320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59" name="Shape 57"/>
          <p:cNvSpPr/>
          <p:nvPr/>
        </p:nvSpPr>
        <p:spPr>
          <a:xfrm>
            <a:off x="265176" y="32552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20040" y="2907792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</a:t>
            </a:r>
            <a:endParaRPr lang="en-US" sz="740" dirty="0"/>
          </a:p>
        </p:txBody>
      </p:sp>
      <p:sp>
        <p:nvSpPr>
          <p:cNvPr id="61" name="Text 59"/>
          <p:cNvSpPr/>
          <p:nvPr/>
        </p:nvSpPr>
        <p:spPr>
          <a:xfrm>
            <a:off x="1325122" y="2907792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2.69</a:t>
            </a:r>
            <a:endParaRPr lang="en-US" sz="740" dirty="0"/>
          </a:p>
        </p:txBody>
      </p:sp>
      <p:sp>
        <p:nvSpPr>
          <p:cNvPr id="62" name="Text 60"/>
          <p:cNvSpPr/>
          <p:nvPr/>
        </p:nvSpPr>
        <p:spPr>
          <a:xfrm>
            <a:off x="2111708" y="2907792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2.12</a:t>
            </a:r>
            <a:endParaRPr lang="en-US" sz="740" dirty="0"/>
          </a:p>
        </p:txBody>
      </p:sp>
      <p:sp>
        <p:nvSpPr>
          <p:cNvPr id="63" name="Text 61"/>
          <p:cNvSpPr/>
          <p:nvPr/>
        </p:nvSpPr>
        <p:spPr>
          <a:xfrm>
            <a:off x="2898294" y="2907792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5.9%</a:t>
            </a:r>
            <a:endParaRPr lang="en-US" sz="740" dirty="0"/>
          </a:p>
        </p:txBody>
      </p:sp>
      <p:sp>
        <p:nvSpPr>
          <p:cNvPr id="64" name="Text 62"/>
          <p:cNvSpPr/>
          <p:nvPr/>
        </p:nvSpPr>
        <p:spPr>
          <a:xfrm>
            <a:off x="3527563" y="2907792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78.8%</a:t>
            </a:r>
            <a:endParaRPr lang="en-US" sz="740" dirty="0"/>
          </a:p>
        </p:txBody>
      </p:sp>
      <p:sp>
        <p:nvSpPr>
          <p:cNvPr id="65" name="Text 63"/>
          <p:cNvSpPr/>
          <p:nvPr/>
        </p:nvSpPr>
        <p:spPr>
          <a:xfrm>
            <a:off x="4209271" y="2907792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0.57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4890979" y="2907792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67" name="Text 65"/>
          <p:cNvSpPr/>
          <p:nvPr/>
        </p:nvSpPr>
        <p:spPr>
          <a:xfrm>
            <a:off x="5896061" y="2907792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68" name="Shape 66"/>
          <p:cNvSpPr/>
          <p:nvPr/>
        </p:nvSpPr>
        <p:spPr>
          <a:xfrm>
            <a:off x="265176" y="3255264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69" name="Shape 67"/>
          <p:cNvSpPr/>
          <p:nvPr/>
        </p:nvSpPr>
        <p:spPr>
          <a:xfrm>
            <a:off x="265176" y="360273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20040" y="3255264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71" name="Text 69"/>
          <p:cNvSpPr/>
          <p:nvPr/>
        </p:nvSpPr>
        <p:spPr>
          <a:xfrm>
            <a:off x="1325122" y="3255264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10.05</a:t>
            </a:r>
            <a:endParaRPr lang="en-US" sz="740" dirty="0"/>
          </a:p>
        </p:txBody>
      </p:sp>
      <p:sp>
        <p:nvSpPr>
          <p:cNvPr id="72" name="Text 70"/>
          <p:cNvSpPr/>
          <p:nvPr/>
        </p:nvSpPr>
        <p:spPr>
          <a:xfrm>
            <a:off x="2111708" y="3255264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8.28</a:t>
            </a:r>
            <a:endParaRPr lang="en-US" sz="740" dirty="0"/>
          </a:p>
        </p:txBody>
      </p:sp>
      <p:sp>
        <p:nvSpPr>
          <p:cNvPr id="73" name="Text 71"/>
          <p:cNvSpPr/>
          <p:nvPr/>
        </p:nvSpPr>
        <p:spPr>
          <a:xfrm>
            <a:off x="2898294" y="3255264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22.9%</a:t>
            </a:r>
            <a:endParaRPr lang="en-US" sz="740" dirty="0"/>
          </a:p>
        </p:txBody>
      </p:sp>
      <p:sp>
        <p:nvSpPr>
          <p:cNvPr id="74" name="Text 72"/>
          <p:cNvSpPr/>
          <p:nvPr/>
        </p:nvSpPr>
        <p:spPr>
          <a:xfrm>
            <a:off x="3527563" y="3255264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82.3%</a:t>
            </a:r>
            <a:endParaRPr lang="en-US" sz="740" dirty="0"/>
          </a:p>
        </p:txBody>
      </p:sp>
      <p:sp>
        <p:nvSpPr>
          <p:cNvPr id="75" name="Text 73"/>
          <p:cNvSpPr/>
          <p:nvPr/>
        </p:nvSpPr>
        <p:spPr>
          <a:xfrm>
            <a:off x="4209271" y="3255264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1.78</a:t>
            </a:r>
            <a:endParaRPr lang="en-US" sz="740" dirty="0"/>
          </a:p>
        </p:txBody>
      </p:sp>
      <p:sp>
        <p:nvSpPr>
          <p:cNvPr id="76" name="Text 74"/>
          <p:cNvSpPr/>
          <p:nvPr/>
        </p:nvSpPr>
        <p:spPr>
          <a:xfrm>
            <a:off x="4890979" y="3255264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77" name="Text 75"/>
          <p:cNvSpPr/>
          <p:nvPr/>
        </p:nvSpPr>
        <p:spPr>
          <a:xfrm>
            <a:off x="5896061" y="3255264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78" name="Shape 76"/>
          <p:cNvSpPr/>
          <p:nvPr/>
        </p:nvSpPr>
        <p:spPr>
          <a:xfrm>
            <a:off x="265176" y="3950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20040" y="360273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80" name="Text 78"/>
          <p:cNvSpPr/>
          <p:nvPr/>
        </p:nvSpPr>
        <p:spPr>
          <a:xfrm>
            <a:off x="1325122" y="360273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9.80</a:t>
            </a:r>
            <a:endParaRPr lang="en-US" sz="740" dirty="0"/>
          </a:p>
        </p:txBody>
      </p:sp>
      <p:sp>
        <p:nvSpPr>
          <p:cNvPr id="81" name="Text 79"/>
          <p:cNvSpPr/>
          <p:nvPr/>
        </p:nvSpPr>
        <p:spPr>
          <a:xfrm>
            <a:off x="2111708" y="360273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8.19</a:t>
            </a:r>
            <a:endParaRPr lang="en-US" sz="740" dirty="0"/>
          </a:p>
        </p:txBody>
      </p:sp>
      <p:sp>
        <p:nvSpPr>
          <p:cNvPr id="82" name="Text 80"/>
          <p:cNvSpPr/>
          <p:nvPr/>
        </p:nvSpPr>
        <p:spPr>
          <a:xfrm>
            <a:off x="2898294" y="3602736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22.7%</a:t>
            </a:r>
            <a:endParaRPr lang="en-US" sz="740" dirty="0"/>
          </a:p>
        </p:txBody>
      </p:sp>
      <p:sp>
        <p:nvSpPr>
          <p:cNvPr id="83" name="Text 81"/>
          <p:cNvSpPr/>
          <p:nvPr/>
        </p:nvSpPr>
        <p:spPr>
          <a:xfrm>
            <a:off x="3527563" y="360273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83.6%</a:t>
            </a:r>
            <a:endParaRPr lang="en-US" sz="740" dirty="0"/>
          </a:p>
        </p:txBody>
      </p:sp>
      <p:sp>
        <p:nvSpPr>
          <p:cNvPr id="84" name="Text 82"/>
          <p:cNvSpPr/>
          <p:nvPr/>
        </p:nvSpPr>
        <p:spPr>
          <a:xfrm>
            <a:off x="4209271" y="360273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1.61</a:t>
            </a:r>
            <a:endParaRPr lang="en-US" sz="740" dirty="0"/>
          </a:p>
        </p:txBody>
      </p:sp>
      <p:sp>
        <p:nvSpPr>
          <p:cNvPr id="85" name="Text 83"/>
          <p:cNvSpPr/>
          <p:nvPr/>
        </p:nvSpPr>
        <p:spPr>
          <a:xfrm>
            <a:off x="4890979" y="360273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86" name="Text 84"/>
          <p:cNvSpPr/>
          <p:nvPr/>
        </p:nvSpPr>
        <p:spPr>
          <a:xfrm>
            <a:off x="5896061" y="3602736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87" name="Text 85"/>
          <p:cNvSpPr/>
          <p:nvPr/>
        </p:nvSpPr>
        <p:spPr>
          <a:xfrm>
            <a:off x="265176" y="4023360"/>
            <a:ext cx="6327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= 82.95%, the average of West (82.3%) and South-1 (83.6%). Recoverable = primary × benchmark − actual offtake, holding primary flat; components are rounded to two decimals while the ₹5.87 Cr pool is computed on unrounded values. Zone gaps sum to ₹15.17 Cr — the ₹13.11 Cr previously headlined netted off ₹2.07 Cr of Pan India offtake that carries no mapped primary.</a:t>
            </a:r>
            <a:endParaRPr lang="en-US" sz="660" dirty="0"/>
          </a:p>
        </p:txBody>
      </p:sp>
      <p:sp>
        <p:nvSpPr>
          <p:cNvPr id="88" name="Shape 86"/>
          <p:cNvSpPr/>
          <p:nvPr/>
        </p:nvSpPr>
        <p:spPr>
          <a:xfrm>
            <a:off x="265176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65176" y="4480560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0" name="Text 88"/>
          <p:cNvSpPr/>
          <p:nvPr/>
        </p:nvSpPr>
        <p:spPr>
          <a:xfrm>
            <a:off x="347472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THE POOL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356616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₹5.87 Cr</a:t>
            </a:r>
            <a:endParaRPr lang="en-US" sz="1600" dirty="0"/>
          </a:p>
        </p:txBody>
      </p:sp>
      <p:sp>
        <p:nvSpPr>
          <p:cNvPr id="92" name="Text 90"/>
          <p:cNvSpPr/>
          <p:nvPr/>
        </p:nvSpPr>
        <p:spPr>
          <a:xfrm>
            <a:off x="356616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+ East at benchmark</a:t>
            </a:r>
            <a:endParaRPr lang="en-US" sz="680" dirty="0"/>
          </a:p>
        </p:txBody>
      </p:sp>
      <p:sp>
        <p:nvSpPr>
          <p:cNvPr id="93" name="Shape 91"/>
          <p:cNvSpPr/>
          <p:nvPr/>
        </p:nvSpPr>
        <p:spPr>
          <a:xfrm>
            <a:off x="374904" y="546354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94" name="Text 92"/>
          <p:cNvSpPr/>
          <p:nvPr/>
        </p:nvSpPr>
        <p:spPr>
          <a:xfrm>
            <a:off x="493776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₹2.92 Cr — highest primary, third-worst flow.</a:t>
            </a:r>
            <a:endParaRPr lang="en-US" sz="690" dirty="0"/>
          </a:p>
        </p:txBody>
      </p:sp>
      <p:sp>
        <p:nvSpPr>
          <p:cNvPr id="95" name="Shape 93"/>
          <p:cNvSpPr/>
          <p:nvPr/>
        </p:nvSpPr>
        <p:spPr>
          <a:xfrm>
            <a:off x="374904" y="58110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96" name="Text 94"/>
          <p:cNvSpPr/>
          <p:nvPr/>
        </p:nvSpPr>
        <p:spPr>
          <a:xfrm>
            <a:off x="493776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₹2.94 Cr — worst flow, highest NPI mix.</a:t>
            </a:r>
            <a:endParaRPr lang="en-US" sz="690" dirty="0"/>
          </a:p>
        </p:txBody>
      </p:sp>
      <p:sp>
        <p:nvSpPr>
          <p:cNvPr id="97" name="Shape 95"/>
          <p:cNvSpPr/>
          <p:nvPr/>
        </p:nvSpPr>
        <p:spPr>
          <a:xfrm>
            <a:off x="374904" y="615848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98" name="Text 96"/>
          <p:cNvSpPr/>
          <p:nvPr/>
        </p:nvSpPr>
        <p:spPr>
          <a:xfrm>
            <a:off x="493776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Together: 76% of the national recovery pool.</a:t>
            </a:r>
            <a:endParaRPr lang="en-US" sz="690" dirty="0"/>
          </a:p>
        </p:txBody>
      </p:sp>
      <p:sp>
        <p:nvSpPr>
          <p:cNvPr id="99" name="Shape 97"/>
          <p:cNvSpPr/>
          <p:nvPr/>
        </p:nvSpPr>
        <p:spPr>
          <a:xfrm>
            <a:off x="2420112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420112" y="4480560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101" name="Text 99"/>
          <p:cNvSpPr/>
          <p:nvPr/>
        </p:nvSpPr>
        <p:spPr>
          <a:xfrm>
            <a:off x="2502408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— THE ENGINES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2511552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₹16.47 Cr</a:t>
            </a:r>
            <a:endParaRPr lang="en-US" sz="1600" dirty="0"/>
          </a:p>
        </p:txBody>
      </p:sp>
      <p:sp>
        <p:nvSpPr>
          <p:cNvPr id="103" name="Text 101"/>
          <p:cNvSpPr/>
          <p:nvPr/>
        </p:nvSpPr>
        <p:spPr>
          <a:xfrm>
            <a:off x="2511552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+ South-1 offtake</a:t>
            </a:r>
            <a:endParaRPr lang="en-US" sz="680" dirty="0"/>
          </a:p>
        </p:txBody>
      </p:sp>
      <p:sp>
        <p:nvSpPr>
          <p:cNvPr id="104" name="Shape 102"/>
          <p:cNvSpPr/>
          <p:nvPr/>
        </p:nvSpPr>
        <p:spPr>
          <a:xfrm>
            <a:off x="2529840" y="546354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05" name="Text 103"/>
          <p:cNvSpPr/>
          <p:nvPr/>
        </p:nvSpPr>
        <p:spPr>
          <a:xfrm>
            <a:off x="2648712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45.6% of national offtake at 82–84% conversion.</a:t>
            </a:r>
            <a:endParaRPr lang="en-US" sz="690" dirty="0"/>
          </a:p>
        </p:txBody>
      </p:sp>
      <p:sp>
        <p:nvSpPr>
          <p:cNvPr id="106" name="Shape 104"/>
          <p:cNvSpPr/>
          <p:nvPr/>
        </p:nvSpPr>
        <p:spPr>
          <a:xfrm>
            <a:off x="2529840" y="58110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07" name="Text 105"/>
          <p:cNvSpPr/>
          <p:nvPr/>
        </p:nvSpPr>
        <p:spPr>
          <a:xfrm>
            <a:off x="2648712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recovery pool here — the rate is already the benchmark.</a:t>
            </a:r>
            <a:endParaRPr lang="en-US" sz="690" dirty="0"/>
          </a:p>
        </p:txBody>
      </p:sp>
      <p:sp>
        <p:nvSpPr>
          <p:cNvPr id="108" name="Shape 106"/>
          <p:cNvSpPr/>
          <p:nvPr/>
        </p:nvSpPr>
        <p:spPr>
          <a:xfrm>
            <a:off x="2529840" y="615848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09" name="Text 107"/>
          <p:cNvSpPr/>
          <p:nvPr/>
        </p:nvSpPr>
        <p:spPr>
          <a:xfrm>
            <a:off x="2648712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spend flat; redirect field capacity to North.</a:t>
            </a:r>
            <a:endParaRPr lang="en-US" sz="690" dirty="0"/>
          </a:p>
        </p:txBody>
      </p:sp>
      <p:sp>
        <p:nvSpPr>
          <p:cNvPr id="110" name="Shape 108"/>
          <p:cNvSpPr/>
          <p:nvPr/>
        </p:nvSpPr>
        <p:spPr>
          <a:xfrm>
            <a:off x="4575048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4575048" y="4480560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12" name="Text 110"/>
          <p:cNvSpPr/>
          <p:nvPr/>
        </p:nvSpPr>
        <p:spPr>
          <a:xfrm>
            <a:off x="4657344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— ONE CELL</a:t>
            </a:r>
            <a:endParaRPr lang="en-US" sz="700" dirty="0"/>
          </a:p>
        </p:txBody>
      </p:sp>
      <p:sp>
        <p:nvSpPr>
          <p:cNvPr id="113" name="Text 111"/>
          <p:cNvSpPr/>
          <p:nvPr/>
        </p:nvSpPr>
        <p:spPr>
          <a:xfrm>
            <a:off x="4666488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₹0.81 Cr</a:t>
            </a:r>
            <a:endParaRPr lang="en-US" sz="1600" dirty="0"/>
          </a:p>
        </p:txBody>
      </p:sp>
      <p:sp>
        <p:nvSpPr>
          <p:cNvPr id="114" name="Text 112"/>
          <p:cNvSpPr/>
          <p:nvPr/>
        </p:nvSpPr>
        <p:spPr>
          <a:xfrm>
            <a:off x="4666488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South-2, almost all DMart</a:t>
            </a:r>
            <a:endParaRPr lang="en-US" sz="680" dirty="0"/>
          </a:p>
        </p:txBody>
      </p:sp>
      <p:sp>
        <p:nvSpPr>
          <p:cNvPr id="115" name="Shape 113"/>
          <p:cNvSpPr/>
          <p:nvPr/>
        </p:nvSpPr>
        <p:spPr>
          <a:xfrm>
            <a:off x="4684776" y="546354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16" name="Text 114"/>
          <p:cNvSpPr/>
          <p:nvPr/>
        </p:nvSpPr>
        <p:spPr>
          <a:xfrm>
            <a:off x="4803648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converts 45.1% against 94–95% in West and Central.</a:t>
            </a:r>
            <a:endParaRPr lang="en-US" sz="690" dirty="0"/>
          </a:p>
        </p:txBody>
      </p:sp>
      <p:sp>
        <p:nvSpPr>
          <p:cNvPr id="117" name="Shape 115"/>
          <p:cNvSpPr/>
          <p:nvPr/>
        </p:nvSpPr>
        <p:spPr>
          <a:xfrm>
            <a:off x="4684776" y="58110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18" name="Text 116"/>
          <p:cNvSpPr/>
          <p:nvPr/>
        </p:nvSpPr>
        <p:spPr>
          <a:xfrm>
            <a:off x="4803648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DC or fill problem, not a chain relationship problem.</a:t>
            </a:r>
            <a:endParaRPr lang="en-US" sz="690" dirty="0"/>
          </a:p>
        </p:txBody>
      </p:sp>
      <p:sp>
        <p:nvSpPr>
          <p:cNvPr id="119" name="Shape 117"/>
          <p:cNvSpPr/>
          <p:nvPr/>
        </p:nvSpPr>
        <p:spPr>
          <a:xfrm>
            <a:off x="4684776" y="615848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20" name="Text 118"/>
          <p:cNvSpPr/>
          <p:nvPr/>
        </p:nvSpPr>
        <p:spPr>
          <a:xfrm>
            <a:off x="4803648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as a single-account audit, not a zone programme.</a:t>
            </a:r>
            <a:endParaRPr lang="en-US" sz="690" dirty="0"/>
          </a:p>
        </p:txBody>
      </p:sp>
      <p:sp>
        <p:nvSpPr>
          <p:cNvPr id="121" name="Shape 119"/>
          <p:cNvSpPr/>
          <p:nvPr/>
        </p:nvSpPr>
        <p:spPr>
          <a:xfrm>
            <a:off x="265176" y="654710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4904" y="656539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ACTIONS</a:t>
            </a:r>
            <a:endParaRPr lang="en-US" sz="720" dirty="0"/>
          </a:p>
        </p:txBody>
      </p:sp>
      <p:sp>
        <p:nvSpPr>
          <p:cNvPr id="123" name="Shape 121"/>
          <p:cNvSpPr/>
          <p:nvPr/>
        </p:nvSpPr>
        <p:spPr>
          <a:xfrm>
            <a:off x="356616" y="6963156"/>
            <a:ext cx="50292" cy="50292"/>
          </a:xfrm>
          <a:prstGeom prst="ellipse">
            <a:avLst/>
          </a:prstGeom>
          <a:solidFill>
            <a:srgbClr val="183B39"/>
          </a:solidFill>
          <a:ln/>
        </p:spPr>
      </p:sp>
      <p:sp>
        <p:nvSpPr>
          <p:cNvPr id="124" name="Text 122"/>
          <p:cNvSpPr/>
          <p:nvPr/>
        </p:nvSpPr>
        <p:spPr>
          <a:xfrm>
            <a:off x="475488" y="691286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North and East: weekly chain × state × hero-EAN gap closure against a ₹2.92 Cr and ₹2.94 Cr target. Owner: zone ZSMs.</a:t>
            </a:r>
            <a:endParaRPr lang="en-US" sz="760" dirty="0"/>
          </a:p>
        </p:txBody>
      </p:sp>
      <p:sp>
        <p:nvSpPr>
          <p:cNvPr id="125" name="Shape 123"/>
          <p:cNvSpPr/>
          <p:nvPr/>
        </p:nvSpPr>
        <p:spPr>
          <a:xfrm>
            <a:off x="356616" y="734720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26" name="Text 124"/>
          <p:cNvSpPr/>
          <p:nvPr/>
        </p:nvSpPr>
        <p:spPr>
          <a:xfrm>
            <a:off x="475488" y="729691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— South-2: audit DMart DC-to-store fill against the West benchmark. Owner: NKAM DMart + Supply, 22 Aug.</a:t>
            </a:r>
            <a:endParaRPr lang="en-US" sz="760" dirty="0"/>
          </a:p>
        </p:txBody>
      </p:sp>
      <p:sp>
        <p:nvSpPr>
          <p:cNvPr id="127" name="Shape 125"/>
          <p:cNvSpPr/>
          <p:nvPr/>
        </p:nvSpPr>
        <p:spPr>
          <a:xfrm>
            <a:off x="356616" y="773125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28" name="Text 126"/>
          <p:cNvSpPr/>
          <p:nvPr/>
        </p:nvSpPr>
        <p:spPr>
          <a:xfrm>
            <a:off x="475488" y="768096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— West, South-1: hold hero-SKU OSA, avoid unnecessary loading, document DMart West cadence as the national template.</a:t>
            </a:r>
            <a:endParaRPr lang="en-US" sz="760" dirty="0"/>
          </a:p>
        </p:txBody>
      </p:sp>
      <p:sp>
        <p:nvSpPr>
          <p:cNvPr id="129" name="Shape 127"/>
          <p:cNvSpPr/>
          <p:nvPr/>
        </p:nvSpPr>
        <p:spPr>
          <a:xfrm>
            <a:off x="356616" y="811530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30" name="Text 128"/>
          <p:cNvSpPr/>
          <p:nvPr/>
        </p:nvSpPr>
        <p:spPr>
          <a:xfrm>
            <a:off x="475488" y="806500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Exception-report — Central: ₹0.11 Cr recoverable is below the materiality floor; drop it from the weekly review.</a:t>
            </a:r>
            <a:endParaRPr lang="en-US" sz="760" dirty="0"/>
          </a:p>
        </p:txBody>
      </p:sp>
      <p:sp>
        <p:nvSpPr>
          <p:cNvPr id="131" name="Shape 129"/>
          <p:cNvSpPr/>
          <p:nvPr/>
        </p:nvSpPr>
        <p:spPr>
          <a:xfrm>
            <a:off x="356616" y="849934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</p:sp>
      <p:sp>
        <p:nvSpPr>
          <p:cNvPr id="132" name="Text 130"/>
          <p:cNvSpPr/>
          <p:nvPr/>
        </p:nvSpPr>
        <p:spPr>
          <a:xfrm>
            <a:off x="475488" y="8449056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— Pan India / FSN: report outside geographic gap arithmetic; it has no mapped primary and distorts the national base.</a:t>
            </a:r>
            <a:endParaRPr lang="en-US" sz="760" dirty="0"/>
          </a:p>
        </p:txBody>
      </p:sp>
      <p:sp>
        <p:nvSpPr>
          <p:cNvPr id="133" name="Shape 131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134" name="Text 132"/>
          <p:cNvSpPr/>
          <p:nvPr/>
        </p:nvSpPr>
        <p:spPr>
          <a:xfrm>
            <a:off x="374904" y="892454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A CONVERSION PROBLEM AND NOT A DEMAND PROBLEM</a:t>
            </a:r>
            <a:endParaRPr lang="en-US" sz="720" dirty="0"/>
          </a:p>
        </p:txBody>
      </p:sp>
      <p:sp>
        <p:nvSpPr>
          <p:cNvPr id="135" name="Shape 133"/>
          <p:cNvSpPr/>
          <p:nvPr/>
        </p:nvSpPr>
        <p:spPr>
          <a:xfrm>
            <a:off x="265176" y="9253728"/>
            <a:ext cx="3090672" cy="1517904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265176" y="9253728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137" name="Text 135"/>
          <p:cNvSpPr/>
          <p:nvPr/>
        </p:nvSpPr>
        <p:spPr>
          <a:xfrm>
            <a:off x="347472" y="927201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PORTFOLIO, SIX DIFFERENT OUTCOMES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374904" y="970635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39" name="Text 137"/>
          <p:cNvSpPr/>
          <p:nvPr/>
        </p:nvSpPr>
        <p:spPr>
          <a:xfrm>
            <a:off x="493776" y="9656064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zone sells the same brands, packs and price list.</a:t>
            </a:r>
            <a:endParaRPr lang="en-US" sz="710" dirty="0"/>
          </a:p>
        </p:txBody>
      </p:sp>
      <p:sp>
        <p:nvSpPr>
          <p:cNvPr id="140" name="Shape 138"/>
          <p:cNvSpPr/>
          <p:nvPr/>
        </p:nvSpPr>
        <p:spPr>
          <a:xfrm>
            <a:off x="374904" y="1005382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41" name="Text 139"/>
          <p:cNvSpPr/>
          <p:nvPr/>
        </p:nvSpPr>
        <p:spPr>
          <a:xfrm>
            <a:off x="493776" y="10003536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still ranges from 45.3% to 83.6% — a 38-point spread.</a:t>
            </a:r>
            <a:endParaRPr lang="en-US" sz="710" dirty="0"/>
          </a:p>
        </p:txBody>
      </p:sp>
      <p:sp>
        <p:nvSpPr>
          <p:cNvPr id="142" name="Shape 140"/>
          <p:cNvSpPr/>
          <p:nvPr/>
        </p:nvSpPr>
        <p:spPr>
          <a:xfrm>
            <a:off x="374904" y="1040130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43" name="Text 141"/>
          <p:cNvSpPr/>
          <p:nvPr/>
        </p:nvSpPr>
        <p:spPr>
          <a:xfrm>
            <a:off x="493776" y="10351008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rules out product, pricing and proposition, and leaves execution.</a:t>
            </a:r>
            <a:endParaRPr lang="en-US" sz="710" dirty="0"/>
          </a:p>
        </p:txBody>
      </p:sp>
      <p:sp>
        <p:nvSpPr>
          <p:cNvPr id="144" name="Shape 142"/>
          <p:cNvSpPr/>
          <p:nvPr/>
        </p:nvSpPr>
        <p:spPr>
          <a:xfrm>
            <a:off x="3502152" y="9253728"/>
            <a:ext cx="3090672" cy="1517904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3502152" y="9253728"/>
            <a:ext cx="3090672" cy="274320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146" name="Text 144"/>
          <p:cNvSpPr/>
          <p:nvPr/>
        </p:nvSpPr>
        <p:spPr>
          <a:xfrm>
            <a:off x="3584448" y="927201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CHANGE THIS READ</a:t>
            </a:r>
            <a:endParaRPr lang="en-US" sz="700" dirty="0"/>
          </a:p>
        </p:txBody>
      </p:sp>
      <p:sp>
        <p:nvSpPr>
          <p:cNvPr id="147" name="Shape 145"/>
          <p:cNvSpPr/>
          <p:nvPr/>
        </p:nvSpPr>
        <p:spPr>
          <a:xfrm>
            <a:off x="3611880" y="97063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48" name="Text 146"/>
          <p:cNvSpPr/>
          <p:nvPr/>
        </p:nvSpPr>
        <p:spPr>
          <a:xfrm>
            <a:off x="3730752" y="9656064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stock by chain — a gap can also be trade inventory in transit.</a:t>
            </a:r>
            <a:endParaRPr lang="en-US" sz="710" dirty="0"/>
          </a:p>
        </p:txBody>
      </p:sp>
      <p:sp>
        <p:nvSpPr>
          <p:cNvPr id="149" name="Shape 147"/>
          <p:cNvSpPr/>
          <p:nvPr/>
        </p:nvSpPr>
        <p:spPr>
          <a:xfrm>
            <a:off x="3611880" y="1005382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50" name="Text 148"/>
          <p:cNvSpPr/>
          <p:nvPr/>
        </p:nvSpPr>
        <p:spPr>
          <a:xfrm>
            <a:off x="3730752" y="10003536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OOS and OSA by store — the direct test of the execution hypothesis.</a:t>
            </a:r>
            <a:endParaRPr lang="en-US" sz="710" dirty="0"/>
          </a:p>
        </p:txBody>
      </p:sp>
      <p:sp>
        <p:nvSpPr>
          <p:cNvPr id="151" name="Shape 149"/>
          <p:cNvSpPr/>
          <p:nvPr/>
        </p:nvSpPr>
        <p:spPr>
          <a:xfrm>
            <a:off x="3611880" y="1040130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52" name="Text 150"/>
          <p:cNvSpPr/>
          <p:nvPr/>
        </p:nvSpPr>
        <p:spPr>
          <a:xfrm>
            <a:off x="3730752" y="10351008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both reconcile, this page sizes an opportunity; it does not prove a cause.</a:t>
            </a:r>
            <a:endParaRPr lang="en-US" sz="71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West: Protect and convert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deep dive | July 2026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365760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FC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gap = primary − offtake on comparable mapped cuts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1" name="Text 19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₹10.05 Cr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4" name="Shape 22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6" name="Text 24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₹8.28 Cr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22.9% mix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1" name="Text 29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2" name="Text 30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82.3%</a:t>
            </a:r>
            <a:endParaRPr lang="en-US" sz="1750" dirty="0"/>
          </a:p>
        </p:txBody>
      </p:sp>
      <p:sp>
        <p:nvSpPr>
          <p:cNvPr id="33" name="Text 31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4" name="Shape 32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6" name="Text 34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7" name="Text 35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₹1.78 Cr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39" name="Shape 37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1" name="Text 39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DMart execution as the national template • Reliance is the only weak cell</a:t>
            </a:r>
            <a:endParaRPr lang="en-US" sz="740" dirty="0"/>
          </a:p>
        </p:txBody>
      </p:sp>
      <p:sp>
        <p:nvSpPr>
          <p:cNvPr id="42" name="Text 40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3" name="Chart 0" descr=""/>
          <p:cNvGraphicFramePr/>
          <p:nvPr/>
        </p:nvGraphicFramePr>
        <p:xfrm>
          <a:off x="246888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4" name="Text 41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5" name="Chart 1" descr=""/>
          <p:cNvGraphicFramePr/>
          <p:nvPr/>
        </p:nvGraphicFramePr>
        <p:xfrm>
          <a:off x="3483864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Shape 42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8" name="Text 44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49" name="Text 45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₹5.76 Cr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94.2%</a:t>
            </a:r>
            <a:endParaRPr lang="en-US" sz="620" dirty="0"/>
          </a:p>
        </p:txBody>
      </p:sp>
      <p:sp>
        <p:nvSpPr>
          <p:cNvPr id="52" name="Text 48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3" name="Text 49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 Cr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54.5%</a:t>
            </a:r>
            <a:endParaRPr lang="en-US" sz="620" dirty="0"/>
          </a:p>
        </p:txBody>
      </p:sp>
      <p:sp>
        <p:nvSpPr>
          <p:cNvPr id="55" name="Text 51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Wellness Forever</a:t>
            </a:r>
            <a:endParaRPr lang="en-US" sz="700" dirty="0"/>
          </a:p>
        </p:txBody>
      </p:sp>
      <p:sp>
        <p:nvSpPr>
          <p:cNvPr id="56" name="Text 52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8" name="Shape 54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60" name="Text 56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1" name="Text 57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Maharashtra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Gujarat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₹2.57 Cr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Mumbai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₹2.28 Cr</a:t>
            </a:r>
            <a:endParaRPr lang="en-US" sz="700" dirty="0"/>
          </a:p>
        </p:txBody>
      </p:sp>
      <p:sp>
        <p:nvSpPr>
          <p:cNvPr id="67" name="Shape 63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69" name="Text 65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0" name="Text 66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₹4.97 Cr</a:t>
            </a:r>
            <a:endParaRPr lang="en-US" sz="680" dirty="0"/>
          </a:p>
        </p:txBody>
      </p:sp>
      <p:sp>
        <p:nvSpPr>
          <p:cNvPr id="71" name="Text 67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2" name="Text 68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₹2.39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₹3.24 Cr</a:t>
            </a:r>
            <a:endParaRPr lang="en-US" sz="680" dirty="0"/>
          </a:p>
        </p:txBody>
      </p:sp>
      <p:sp>
        <p:nvSpPr>
          <p:cNvPr id="78" name="Text 74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9" name="Text 75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₹0.55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84" name="Shape 80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</p:sp>
      <p:sp>
        <p:nvSpPr>
          <p:cNvPr id="85" name="Text 81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pPr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 Cr · 6.6% of zone — lowest NPI mix of any zone</a:t>
            </a:r>
            <a:endParaRPr lang="en-US" sz="660" dirty="0"/>
          </a:p>
        </p:txBody>
      </p:sp>
      <p:sp>
        <p:nvSpPr>
          <p:cNvPr id="86" name="Shape 82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87" name="Text 83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8" name="Shape 84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90" name="Text 86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1" name="Text 87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West converts at 94.2% on ₹5.76 Cr</a:t>
            </a:r>
            <a:endParaRPr lang="en-US" sz="740" dirty="0"/>
          </a:p>
        </p:txBody>
      </p:sp>
      <p:sp>
        <p:nvSpPr>
          <p:cNvPr id="92" name="Text 88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chain-zone conversion at material scale anywhere in the pack. This is the cadence North and East are being asked to reach.</a:t>
            </a:r>
            <a:endParaRPr lang="en-US" sz="650" dirty="0"/>
          </a:p>
        </p:txBody>
      </p:sp>
      <p:sp>
        <p:nvSpPr>
          <p:cNvPr id="93" name="Shape 89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4" name="Text 90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DMart West order and replenishment rhythm as the national standard.</a:t>
            </a:r>
            <a:endParaRPr lang="en-US" sz="600" dirty="0"/>
          </a:p>
        </p:txBody>
      </p:sp>
      <p:sp>
        <p:nvSpPr>
          <p:cNvPr id="95" name="Text 91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with West RKAM · 20 Aug</a:t>
            </a:r>
            <a:endParaRPr lang="en-US" sz="620" dirty="0"/>
          </a:p>
        </p:txBody>
      </p:sp>
      <p:sp>
        <p:nvSpPr>
          <p:cNvPr id="96" name="Shape 92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8" name="Text 94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99" name="Text 95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West converts at 54.5% on ₹1.23 Cr</a:t>
            </a:r>
            <a:endParaRPr lang="en-US" sz="740" dirty="0"/>
          </a:p>
        </p:txBody>
      </p:sp>
      <p:sp>
        <p:nvSpPr>
          <p:cNvPr id="100" name="Text 96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weak cell in an otherwise healthy zone, and it matches Reliance behaviour in North, East and Central — the pattern is the account, not the geography.</a:t>
            </a:r>
            <a:endParaRPr lang="en-US" sz="650" dirty="0"/>
          </a:p>
        </p:txBody>
      </p:sp>
      <p:sp>
        <p:nvSpPr>
          <p:cNvPr id="101" name="Shape 97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2" name="Text 98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into the national Reliance recovery loop rather than running a West-specific fix.</a:t>
            </a:r>
            <a:endParaRPr lang="en-US" sz="600" dirty="0"/>
          </a:p>
        </p:txBody>
      </p:sp>
      <p:sp>
        <p:nvSpPr>
          <p:cNvPr id="103" name="Text 99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4" name="Shape 100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06" name="Text 102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7" name="Text 103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 shows ₹0.65 Cr offtake, no mapped primary</a:t>
            </a:r>
            <a:endParaRPr lang="en-US" sz="740" dirty="0"/>
          </a:p>
        </p:txBody>
      </p:sp>
      <p:sp>
        <p:nvSpPr>
          <p:cNvPr id="108" name="Text 104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deck reported this as 134.9% conversion. A ratio above 100% here is an unmapped billing route, not throughput.</a:t>
            </a:r>
            <a:endParaRPr lang="en-US" sz="650" dirty="0"/>
          </a:p>
        </p:txBody>
      </p:sp>
      <p:sp>
        <p:nvSpPr>
          <p:cNvPr id="109" name="Shape 105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0" name="Text 106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Wellness Forever billing route before the August pack is built.</a:t>
            </a:r>
            <a:endParaRPr lang="en-US" sz="600" dirty="0"/>
          </a:p>
        </p:txBody>
      </p:sp>
      <p:sp>
        <p:nvSpPr>
          <p:cNvPr id="111" name="Text 107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2" name="Shape 108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14" name="Text 110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5" name="Text 111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carry 92.5% of zone offtake</a:t>
            </a:r>
            <a:endParaRPr lang="en-US" sz="740" dirty="0"/>
          </a:p>
        </p:txBody>
      </p:sp>
      <p:sp>
        <p:nvSpPr>
          <p:cNvPr id="116" name="Text 112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is high but conversion is healthy, so this reads as focus rather than fragility. It becomes a risk only if DMart execution slips.</a:t>
            </a:r>
            <a:endParaRPr lang="en-US" sz="650" dirty="0"/>
          </a:p>
        </p:txBody>
      </p:sp>
      <p:sp>
        <p:nvSpPr>
          <p:cNvPr id="117" name="Shape 113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8" name="Text 114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DMart West weekly as a single-point-of-failure watch item.</a:t>
            </a:r>
            <a:endParaRPr lang="en-US" sz="600" dirty="0"/>
          </a:p>
        </p:txBody>
      </p:sp>
      <p:sp>
        <p:nvSpPr>
          <p:cNvPr id="119" name="Text 115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RKAM · weekly</a:t>
            </a:r>
            <a:endParaRPr lang="en-US" sz="620" dirty="0"/>
          </a:p>
        </p:txBody>
      </p:sp>
      <p:sp>
        <p:nvSpPr>
          <p:cNvPr id="120" name="Shape 116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22" name="Text 118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3" name="Text 119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at ₹2.84 Cr rivals Mamaearth</a:t>
            </a:r>
            <a:endParaRPr lang="en-US" sz="740" dirty="0"/>
          </a:p>
        </p:txBody>
      </p:sp>
      <p:sp>
        <p:nvSpPr>
          <p:cNvPr id="124" name="Text 120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₹3.24 Cr against Mamaearth's ₹4.97 Cr — the closest brand parity in any zone, driven almost entirely by one sub-category.</a:t>
            </a:r>
            <a:endParaRPr lang="en-US" sz="650" dirty="0"/>
          </a:p>
        </p:txBody>
      </p:sp>
      <p:sp>
        <p:nvSpPr>
          <p:cNvPr id="125" name="Shape 121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26" name="Text 122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TDC Face Cleanser shelf space in the DMart West planogram reset.</a:t>
            </a:r>
            <a:endParaRPr lang="en-US" sz="600" dirty="0"/>
          </a:p>
        </p:txBody>
      </p:sp>
      <p:sp>
        <p:nvSpPr>
          <p:cNvPr id="127" name="Text 123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NKAM DMart · Sep cycle</a:t>
            </a:r>
            <a:endParaRPr lang="en-US" sz="620" dirty="0"/>
          </a:p>
        </p:txBody>
      </p:sp>
      <p:sp>
        <p:nvSpPr>
          <p:cNvPr id="128" name="Shape 124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130" name="Text 126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1" name="Text 127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is already above benchmark — no recovery pool here</a:t>
            </a:r>
            <a:endParaRPr lang="en-US" sz="740" dirty="0"/>
          </a:p>
        </p:txBody>
      </p:sp>
      <p:sp>
        <p:nvSpPr>
          <p:cNvPr id="132" name="Text 128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82.3% conversion sits at the internal benchmark. Effort spent here returns less than the same effort in North or East.</a:t>
            </a:r>
            <a:endParaRPr lang="en-US" sz="650" dirty="0"/>
          </a:p>
        </p:txBody>
      </p:sp>
      <p:sp>
        <p:nvSpPr>
          <p:cNvPr id="133" name="Shape 129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34" name="Text 130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headcount and trade spend flat; redirect incremental field capacity to North.</a:t>
            </a:r>
            <a:endParaRPr lang="en-US" sz="600" dirty="0"/>
          </a:p>
        </p:txBody>
      </p:sp>
      <p:sp>
        <p:nvSpPr>
          <p:cNvPr id="135" name="Text 131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36" name="Text 132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NPI mix 6.6% | Benchmark zone — study DMart execution before copying it elsewhere</a:t>
            </a:r>
            <a:endParaRPr lang="en-US" sz="6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South-1: Protect and convert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deep dive | July 2026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365760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FC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gap = primary − offtake on comparable mapped cuts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1" name="Text 19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₹9.80 Cr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4" name="Shape 22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6" name="Text 24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₹8.19 Cr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22.7% mix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1" name="Text 29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2" name="Text 30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83.6%</a:t>
            </a:r>
            <a:endParaRPr lang="en-US" sz="1750" dirty="0"/>
          </a:p>
        </p:txBody>
      </p:sp>
      <p:sp>
        <p:nvSpPr>
          <p:cNvPr id="33" name="Text 31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4" name="Shape 32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6" name="Text 34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7" name="Text 35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₹1.61 Cr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39" name="Shape 37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1" name="Text 39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conversion in the country • Apollo cadence is the transferable asset</a:t>
            </a:r>
            <a:endParaRPr lang="en-US" sz="740" dirty="0"/>
          </a:p>
        </p:txBody>
      </p:sp>
      <p:sp>
        <p:nvSpPr>
          <p:cNvPr id="42" name="Text 40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3" name="Chart 0" descr=""/>
          <p:cNvGraphicFramePr/>
          <p:nvPr/>
        </p:nvGraphicFramePr>
        <p:xfrm>
          <a:off x="246888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4" name="Text 41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5" name="Chart 1" descr=""/>
          <p:cNvGraphicFramePr/>
          <p:nvPr/>
        </p:nvGraphicFramePr>
        <p:xfrm>
          <a:off x="3483864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Shape 42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8" name="Text 44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49" name="Text 45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Apollo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 Cr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81.0%</a:t>
            </a:r>
            <a:endParaRPr lang="en-US" sz="620" dirty="0"/>
          </a:p>
        </p:txBody>
      </p:sp>
      <p:sp>
        <p:nvSpPr>
          <p:cNvPr id="52" name="Text 48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DMart</a:t>
            </a:r>
            <a:endParaRPr lang="en-US" sz="700" dirty="0"/>
          </a:p>
        </p:txBody>
      </p:sp>
      <p:sp>
        <p:nvSpPr>
          <p:cNvPr id="53" name="Text 49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₹2.31 Cr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74.8%</a:t>
            </a:r>
            <a:endParaRPr lang="en-US" sz="620" dirty="0"/>
          </a:p>
        </p:txBody>
      </p:sp>
      <p:sp>
        <p:nvSpPr>
          <p:cNvPr id="55" name="Text 51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Lulu</a:t>
            </a:r>
            <a:endParaRPr lang="en-US" sz="700" dirty="0"/>
          </a:p>
        </p:txBody>
      </p:sp>
      <p:sp>
        <p:nvSpPr>
          <p:cNvPr id="56" name="Text 52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₹1.22 Cr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8" name="Shape 54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60" name="Text 56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1" name="Text 57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Karnataka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₹4.10 Cr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Tamil Nadu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₹2.63 Cr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Kerala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₹1.17 Cr</a:t>
            </a:r>
            <a:endParaRPr lang="en-US" sz="700" dirty="0"/>
          </a:p>
        </p:txBody>
      </p:sp>
      <p:sp>
        <p:nvSpPr>
          <p:cNvPr id="67" name="Shape 63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69" name="Text 65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0" name="Text 66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₹5.24 Cr</a:t>
            </a:r>
            <a:endParaRPr lang="en-US" sz="680" dirty="0"/>
          </a:p>
        </p:txBody>
      </p:sp>
      <p:sp>
        <p:nvSpPr>
          <p:cNvPr id="71" name="Text 67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2" name="Text 68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₹1.12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₹0.32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₹2.76 Cr</a:t>
            </a:r>
            <a:endParaRPr lang="en-US" sz="680" dirty="0"/>
          </a:p>
        </p:txBody>
      </p:sp>
      <p:sp>
        <p:nvSpPr>
          <p:cNvPr id="78" name="Text 74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9" name="Text 75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₹1.18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₹0.61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</a:t>
            </a:r>
            <a:endParaRPr lang="en-US" sz="630" dirty="0"/>
          </a:p>
        </p:txBody>
      </p:sp>
      <p:sp>
        <p:nvSpPr>
          <p:cNvPr id="84" name="Shape 80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</p:sp>
      <p:sp>
        <p:nvSpPr>
          <p:cNvPr id="85" name="Text 81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pPr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₹0.64 Cr · 7.9% of zone — highest NPI value of any zone</a:t>
            </a:r>
            <a:endParaRPr lang="en-US" sz="660" dirty="0"/>
          </a:p>
        </p:txBody>
      </p:sp>
      <p:sp>
        <p:nvSpPr>
          <p:cNvPr id="86" name="Shape 82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87" name="Text 83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8" name="Shape 84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90" name="Text 86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1" name="Text 87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83.6% conversion is the best zone in the country</a:t>
            </a:r>
            <a:endParaRPr lang="en-US" sz="740" dirty="0"/>
          </a:p>
        </p:txBody>
      </p:sp>
      <p:sp>
        <p:nvSpPr>
          <p:cNvPr id="92" name="Text 88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sets the internal benchmark used to size the national recovery pool. It is not an outlier month — chain conversion is even across all three top accounts.</a:t>
            </a:r>
            <a:endParaRPr lang="en-US" sz="650" dirty="0"/>
          </a:p>
        </p:txBody>
      </p:sp>
      <p:sp>
        <p:nvSpPr>
          <p:cNvPr id="93" name="Shape 89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4" name="Text 90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South-1 as the reference zone in every gap-closure target, not an external aspiration.</a:t>
            </a:r>
            <a:endParaRPr lang="en-US" sz="600" dirty="0"/>
          </a:p>
        </p:txBody>
      </p:sp>
      <p:sp>
        <p:nvSpPr>
          <p:cNvPr id="95" name="Text 91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96" name="Shape 92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98" name="Text 94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</a:t>
            </a:r>
            <a:endParaRPr lang="en-US" sz="620" dirty="0"/>
          </a:p>
        </p:txBody>
      </p:sp>
      <p:sp>
        <p:nvSpPr>
          <p:cNvPr id="99" name="Text 95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at ₹2.84 Cr and 81.0% is the most replicable model</a:t>
            </a:r>
            <a:endParaRPr lang="en-US" sz="740" dirty="0"/>
          </a:p>
        </p:txBody>
      </p:sp>
      <p:sp>
        <p:nvSpPr>
          <p:cNvPr id="100" name="Text 96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Pharmacy-format cadence — small, frequent, tightly assorted orders — is the mechanism behind Apollo's near-parity flow nationally.</a:t>
            </a:r>
            <a:endParaRPr lang="en-US" sz="650" dirty="0"/>
          </a:p>
        </p:txBody>
      </p:sp>
      <p:sp>
        <p:nvSpPr>
          <p:cNvPr id="101" name="Shape 97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2" name="Text 98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Apollo order-frequency and assortment-depth profile as a scoring template for other accounts.</a:t>
            </a:r>
            <a:endParaRPr lang="en-US" sz="600" dirty="0"/>
          </a:p>
        </p:txBody>
      </p:sp>
      <p:sp>
        <p:nvSpPr>
          <p:cNvPr id="103" name="Text 99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 · 31 Aug</a:t>
            </a:r>
            <a:endParaRPr lang="en-US" sz="620" dirty="0"/>
          </a:p>
        </p:txBody>
      </p:sp>
      <p:sp>
        <p:nvSpPr>
          <p:cNvPr id="104" name="Shape 100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06" name="Text 102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7" name="Text 103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₹1.22 Cr sits in the zone with no primary mapped</a:t>
            </a:r>
            <a:endParaRPr lang="en-US" sz="740" dirty="0"/>
          </a:p>
        </p:txBody>
      </p:sp>
      <p:sp>
        <p:nvSpPr>
          <p:cNvPr id="108" name="Text 104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is the account the national scorecard ranks +46.5% and marks Scale. Its primary is unmapped nationally, so that growth claim cannot be verified.</a:t>
            </a:r>
            <a:endParaRPr lang="en-US" sz="650" dirty="0"/>
          </a:p>
        </p:txBody>
      </p:sp>
      <p:sp>
        <p:nvSpPr>
          <p:cNvPr id="109" name="Shape 105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0" name="Text 106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Lulu billing mapping before any Lulu-based recommendation goes to the field.</a:t>
            </a:r>
            <a:endParaRPr lang="en-US" sz="600" dirty="0"/>
          </a:p>
        </p:txBody>
      </p:sp>
      <p:sp>
        <p:nvSpPr>
          <p:cNvPr id="111" name="Text 107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2" name="Shape 108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14" name="Text 110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15" name="Text 111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zone where Mamaearth Shampoo out-sells Face Cleanser</a:t>
            </a:r>
            <a:endParaRPr lang="en-US" sz="740" dirty="0"/>
          </a:p>
        </p:txBody>
      </p:sp>
      <p:sp>
        <p:nvSpPr>
          <p:cNvPr id="116" name="Text 112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₹1.23 Cr against Face Cleanser ₹1.12 Cr. Every other zone is cleanser-led, so South-1 is the natural proving ground for the shampoo range.</a:t>
            </a:r>
            <a:endParaRPr lang="en-US" sz="650" dirty="0"/>
          </a:p>
        </p:txBody>
      </p:sp>
      <p:sp>
        <p:nvSpPr>
          <p:cNvPr id="117" name="Shape 113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8" name="Text 114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shampoo pack pilot here first, measured on sales per store, not listings added.</a:t>
            </a:r>
            <a:endParaRPr lang="en-US" sz="600" dirty="0"/>
          </a:p>
        </p:txBody>
      </p:sp>
      <p:sp>
        <p:nvSpPr>
          <p:cNvPr id="119" name="Text 115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South-1 RKAM · Sep</a:t>
            </a:r>
            <a:endParaRPr lang="en-US" sz="620" dirty="0"/>
          </a:p>
        </p:txBody>
      </p:sp>
      <p:sp>
        <p:nvSpPr>
          <p:cNvPr id="120" name="Shape 116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122" name="Text 118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23" name="Text 119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hold 77.8% — the widest base in the country</a:t>
            </a:r>
            <a:endParaRPr lang="en-US" sz="740" dirty="0"/>
          </a:p>
        </p:txBody>
      </p:sp>
      <p:sp>
        <p:nvSpPr>
          <p:cNvPr id="124" name="Text 120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chain concentration of any zone. Demand is spread across formats rather than resting on one hypermarket relationship.</a:t>
            </a:r>
            <a:endParaRPr lang="en-US" sz="650" dirty="0"/>
          </a:p>
        </p:txBody>
      </p:sp>
      <p:sp>
        <p:nvSpPr>
          <p:cNvPr id="125" name="Shape 121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26" name="Text 122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South-1 account mix as the target shape for East rebuilding.</a:t>
            </a:r>
            <a:endParaRPr lang="en-US" sz="600" dirty="0"/>
          </a:p>
        </p:txBody>
      </p:sp>
      <p:sp>
        <p:nvSpPr>
          <p:cNvPr id="127" name="Text 123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28" name="Shape 124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130" name="Text 126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1" name="Text 127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Karnataka alone is 50.1% of zone offtake</a:t>
            </a:r>
            <a:endParaRPr lang="en-US" sz="740" dirty="0"/>
          </a:p>
        </p:txBody>
      </p:sp>
      <p:sp>
        <p:nvSpPr>
          <p:cNvPr id="132" name="Text 128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Single-state dependence is the one structural risk in an otherwise strong zone; Kerala at ₹1.17 Cr is materially under-developed against its retail base.</a:t>
            </a:r>
            <a:endParaRPr lang="en-US" sz="650" dirty="0"/>
          </a:p>
        </p:txBody>
      </p:sp>
      <p:sp>
        <p:nvSpPr>
          <p:cNvPr id="133" name="Shape 129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34" name="Text 130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the Kerala distribution white space in ₹ before the Q3 target reset.</a:t>
            </a:r>
            <a:endParaRPr lang="en-US" sz="600" dirty="0"/>
          </a:p>
        </p:txBody>
      </p:sp>
      <p:sp>
        <p:nvSpPr>
          <p:cNvPr id="135" name="Text 131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RKAM · 15 Sep</a:t>
            </a:r>
            <a:endParaRPr lang="en-US" sz="620" dirty="0"/>
          </a:p>
        </p:txBody>
      </p:sp>
      <p:sp>
        <p:nvSpPr>
          <p:cNvPr id="136" name="Text 132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NPI mix 7.9% | Highest national conversion — the cadence to export</a:t>
            </a:r>
            <a:endParaRPr lang="en-US" sz="6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North: Largest recovery pool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deep dive | July 2026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365760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FC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gap = primary − offtake on comparable mapped cuts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1" name="Text 19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₹11.95 Cr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4" name="Shape 22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6" name="Text 24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₹6.99 Cr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19.4% mix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31" name="Text 29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2" name="Text 30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58.5%</a:t>
            </a:r>
            <a:endParaRPr lang="en-US" sz="1750" dirty="0"/>
          </a:p>
        </p:txBody>
      </p:sp>
      <p:sp>
        <p:nvSpPr>
          <p:cNvPr id="33" name="Text 31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4" name="Shape 32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36" name="Text 34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7" name="Text 35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₹4.97 Cr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39" name="Shape 37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1" name="Text 39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primary in the country against the third-lowest conversion</a:t>
            </a:r>
            <a:endParaRPr lang="en-US" sz="740" dirty="0"/>
          </a:p>
        </p:txBody>
      </p:sp>
      <p:sp>
        <p:nvSpPr>
          <p:cNvPr id="42" name="Text 40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3" name="Chart 0" descr=""/>
          <p:cNvGraphicFramePr/>
          <p:nvPr/>
        </p:nvGraphicFramePr>
        <p:xfrm>
          <a:off x="246888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4" name="Text 41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5" name="Chart 1" descr=""/>
          <p:cNvGraphicFramePr/>
          <p:nvPr/>
        </p:nvGraphicFramePr>
        <p:xfrm>
          <a:off x="3483864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Shape 42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8" name="Text 44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49" name="Text 45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₹2.53 Cr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77.9%</a:t>
            </a:r>
            <a:endParaRPr lang="en-US" sz="620" dirty="0"/>
          </a:p>
        </p:txBody>
      </p:sp>
      <p:sp>
        <p:nvSpPr>
          <p:cNvPr id="52" name="Text 48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3" name="Text 49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₹2.40 Cr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44.9%</a:t>
            </a:r>
            <a:endParaRPr lang="en-US" sz="620" dirty="0"/>
          </a:p>
        </p:txBody>
      </p:sp>
      <p:sp>
        <p:nvSpPr>
          <p:cNvPr id="55" name="Text 51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Apollo</a:t>
            </a:r>
            <a:endParaRPr lang="en-US" sz="700" dirty="0"/>
          </a:p>
        </p:txBody>
      </p:sp>
      <p:sp>
        <p:nvSpPr>
          <p:cNvPr id="56" name="Text 52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₹1.16 Cr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98.3%</a:t>
            </a:r>
            <a:endParaRPr lang="en-US" sz="620" dirty="0"/>
          </a:p>
        </p:txBody>
      </p:sp>
      <p:sp>
        <p:nvSpPr>
          <p:cNvPr id="58" name="Shape 54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60" name="Text 56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1" name="Text 57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Delhi NCR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₹1.97 Cr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Rajasthan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₹1.67 Cr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Punjab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₹1.55 Cr</a:t>
            </a:r>
            <a:endParaRPr lang="en-US" sz="700" dirty="0"/>
          </a:p>
        </p:txBody>
      </p:sp>
      <p:sp>
        <p:nvSpPr>
          <p:cNvPr id="67" name="Shape 63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69" name="Text 65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0" name="Text 66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₹4.74 Cr</a:t>
            </a:r>
            <a:endParaRPr lang="en-US" sz="680" dirty="0"/>
          </a:p>
        </p:txBody>
      </p:sp>
      <p:sp>
        <p:nvSpPr>
          <p:cNvPr id="71" name="Text 67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2" name="Text 68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₹2.09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₹1.68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₹0.35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₹2.12 Cr</a:t>
            </a:r>
            <a:endParaRPr lang="en-US" sz="680" dirty="0"/>
          </a:p>
        </p:txBody>
      </p:sp>
      <p:sp>
        <p:nvSpPr>
          <p:cNvPr id="78" name="Text 74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9" name="Text 75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₹1.41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₹0.36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₹0.10</a:t>
            </a:r>
            <a:endParaRPr lang="en-US" sz="630" dirty="0"/>
          </a:p>
        </p:txBody>
      </p:sp>
      <p:sp>
        <p:nvSpPr>
          <p:cNvPr id="84" name="Shape 80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</p:sp>
      <p:sp>
        <p:nvSpPr>
          <p:cNvPr id="85" name="Text 81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pPr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 · 9.2% of zone — second-highest NPI mix on the second-worst conversion</a:t>
            </a:r>
            <a:endParaRPr lang="en-US" sz="660" dirty="0"/>
          </a:p>
        </p:txBody>
      </p:sp>
      <p:sp>
        <p:nvSpPr>
          <p:cNvPr id="86" name="Shape 82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87" name="Text 83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8" name="Shape 84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0" name="Text 86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</a:t>
            </a:r>
            <a:endParaRPr lang="en-US" sz="620" dirty="0"/>
          </a:p>
        </p:txBody>
      </p:sp>
      <p:sp>
        <p:nvSpPr>
          <p:cNvPr id="91" name="Text 87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₹2.92 Cr is recoverable at the internal benchmark</a:t>
            </a:r>
            <a:endParaRPr lang="en-US" sz="740" dirty="0"/>
          </a:p>
        </p:txBody>
      </p:sp>
      <p:sp>
        <p:nvSpPr>
          <p:cNvPr id="92" name="Text 88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bills the most primary in the country (₹11.95 Cr) and converts it worst but one. At the West / South-1 rate of 82.95% the zone would deliver ₹9.91 Cr instead of ₹6.99 Cr.</a:t>
            </a:r>
            <a:endParaRPr lang="en-US" sz="650" dirty="0"/>
          </a:p>
        </p:txBody>
      </p:sp>
      <p:sp>
        <p:nvSpPr>
          <p:cNvPr id="93" name="Shape 89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4" name="Text 90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₹2.92 Cr as the North recovery target and review it weekly against actuals.</a:t>
            </a:r>
            <a:endParaRPr lang="en-US" sz="600" dirty="0"/>
          </a:p>
        </p:txBody>
      </p:sp>
      <p:sp>
        <p:nvSpPr>
          <p:cNvPr id="95" name="Text 91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 · weekly from 18 Aug</a:t>
            </a:r>
            <a:endParaRPr lang="en-US" sz="620" dirty="0"/>
          </a:p>
        </p:txBody>
      </p:sp>
      <p:sp>
        <p:nvSpPr>
          <p:cNvPr id="96" name="Shape 92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8" name="Text 94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99" name="Text 95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North converts at 44.9% — the worst material cell</a:t>
            </a:r>
            <a:endParaRPr lang="en-US" sz="740" dirty="0"/>
          </a:p>
        </p:txBody>
      </p:sp>
      <p:sp>
        <p:nvSpPr>
          <p:cNvPr id="100" name="Text 96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₹2.40 Cr of offtake this single chain-zone cell explains the bulk of the zone shortfall. DMart North at 77.9% and Apollo at 98.3% show the geography is not the constraint.</a:t>
            </a:r>
            <a:endParaRPr lang="en-US" sz="650" dirty="0"/>
          </a:p>
        </p:txBody>
      </p:sp>
      <p:sp>
        <p:nvSpPr>
          <p:cNvPr id="101" name="Shape 97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2" name="Text 98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incremental loading into Reliance North until conversion clears 65% for two consecutive weeks.</a:t>
            </a:r>
            <a:endParaRPr lang="en-US" sz="600" dirty="0"/>
          </a:p>
        </p:txBody>
      </p:sp>
      <p:sp>
        <p:nvSpPr>
          <p:cNvPr id="103" name="Text 99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 · immediate</a:t>
            </a:r>
            <a:endParaRPr lang="en-US" sz="620" dirty="0"/>
          </a:p>
        </p:txBody>
      </p:sp>
      <p:sp>
        <p:nvSpPr>
          <p:cNvPr id="104" name="Shape 100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06" name="Text 102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620" dirty="0"/>
          </a:p>
        </p:txBody>
      </p:sp>
      <p:sp>
        <p:nvSpPr>
          <p:cNvPr id="107" name="Text 103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portfolio, three different conversion outcomes</a:t>
            </a:r>
            <a:endParaRPr lang="en-US" sz="740" dirty="0"/>
          </a:p>
        </p:txBody>
      </p:sp>
      <p:sp>
        <p:nvSpPr>
          <p:cNvPr id="108" name="Text 104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98.3%, DMart 77.9%, Reliance 44.9% — identical range in one geography. That rules out demand, pricing and assortment, and points at account-level replenishment.</a:t>
            </a:r>
            <a:endParaRPr lang="en-US" sz="650" dirty="0"/>
          </a:p>
        </p:txBody>
      </p:sp>
      <p:sp>
        <p:nvSpPr>
          <p:cNvPr id="109" name="Shape 105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0" name="Text 106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store-level OSA audit on Reliance North hero EANs; compare against Apollo North cadence.</a:t>
            </a:r>
            <a:endParaRPr lang="en-US" sz="600" dirty="0"/>
          </a:p>
        </p:txBody>
      </p:sp>
      <p:sp>
        <p:nvSpPr>
          <p:cNvPr id="111" name="Text 107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RKAM + Trade Marketing · 25 Aug</a:t>
            </a:r>
            <a:endParaRPr lang="en-US" sz="620" dirty="0"/>
          </a:p>
        </p:txBody>
      </p:sp>
      <p:sp>
        <p:nvSpPr>
          <p:cNvPr id="112" name="Shape 108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114" name="Text 110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RISK</a:t>
            </a:r>
            <a:endParaRPr lang="en-US" sz="620" dirty="0"/>
          </a:p>
        </p:txBody>
      </p:sp>
      <p:sp>
        <p:nvSpPr>
          <p:cNvPr id="115" name="Text 111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mix is 9.2% into a 58.5%-converting zone</a:t>
            </a:r>
            <a:endParaRPr lang="en-US" sz="740" dirty="0"/>
          </a:p>
        </p:txBody>
      </p:sp>
      <p:sp>
        <p:nvSpPr>
          <p:cNvPr id="116" name="Text 112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products are being placed where sell-through is weakest. NPI carries the least shelf history and the highest liquidation risk, so it is the worst payload for a weak pipe.</a:t>
            </a:r>
            <a:endParaRPr lang="en-US" sz="650" dirty="0"/>
          </a:p>
        </p:txBody>
      </p:sp>
      <p:sp>
        <p:nvSpPr>
          <p:cNvPr id="117" name="Shape 113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8" name="Text 114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further NPI allocation to North until zone conversion clears 70%.</a:t>
            </a:r>
            <a:endParaRPr lang="en-US" sz="600" dirty="0"/>
          </a:p>
        </p:txBody>
      </p:sp>
      <p:sp>
        <p:nvSpPr>
          <p:cNvPr id="119" name="Text 115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 · immediate</a:t>
            </a:r>
            <a:endParaRPr lang="en-US" sz="620" dirty="0"/>
          </a:p>
        </p:txBody>
      </p:sp>
      <p:sp>
        <p:nvSpPr>
          <p:cNvPr id="120" name="Shape 116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22" name="Text 118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23" name="Text 119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Delhi NCR, Rajasthan and Punjab are evenly matched</a:t>
            </a:r>
            <a:endParaRPr lang="en-US" sz="740" dirty="0"/>
          </a:p>
        </p:txBody>
      </p:sp>
      <p:sp>
        <p:nvSpPr>
          <p:cNvPr id="124" name="Text 120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₹1.97 / ₹1.67 / ₹1.55 Cr no single state carries the zone, so recovery has to be run per chain, not per state.</a:t>
            </a:r>
            <a:endParaRPr lang="en-US" sz="650" dirty="0"/>
          </a:p>
        </p:txBody>
      </p:sp>
      <p:sp>
        <p:nvSpPr>
          <p:cNvPr id="125" name="Shape 121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26" name="Text 122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exception list at chain × state × hero-EAN, not state level.</a:t>
            </a:r>
            <a:endParaRPr lang="en-US" sz="600" dirty="0"/>
          </a:p>
        </p:txBody>
      </p:sp>
      <p:sp>
        <p:nvSpPr>
          <p:cNvPr id="127" name="Text 123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20 Aug</a:t>
            </a:r>
            <a:endParaRPr lang="en-US" sz="620" dirty="0"/>
          </a:p>
        </p:txBody>
      </p:sp>
      <p:sp>
        <p:nvSpPr>
          <p:cNvPr id="128" name="Shape 124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30" name="Text 126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31" name="Text 127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 at ₹1.68 Cr is strongest in the country</a:t>
            </a:r>
            <a:endParaRPr lang="en-US" sz="740" dirty="0"/>
          </a:p>
        </p:txBody>
      </p:sp>
      <p:sp>
        <p:nvSpPr>
          <p:cNvPr id="132" name="Text 128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is the largest shampoo zone by value despite the conversion problem, so the demand signal is real and the loss is downstream of it.</a:t>
            </a:r>
            <a:endParaRPr lang="en-US" sz="650" dirty="0"/>
          </a:p>
        </p:txBody>
      </p:sp>
      <p:sp>
        <p:nvSpPr>
          <p:cNvPr id="133" name="Shape 129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34" name="Text 130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shampoo hero-EAN availability first when OSA effort is prioritised.</a:t>
            </a:r>
            <a:endParaRPr lang="en-US" sz="600" dirty="0"/>
          </a:p>
        </p:txBody>
      </p:sp>
      <p:sp>
        <p:nvSpPr>
          <p:cNvPr id="135" name="Text 131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+ Supply · from 18 Aug</a:t>
            </a:r>
            <a:endParaRPr lang="en-US" sz="620" dirty="0"/>
          </a:p>
        </p:txBody>
      </p:sp>
      <p:sp>
        <p:nvSpPr>
          <p:cNvPr id="136" name="Text 132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NPI mix 9.2% | ₹2.92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South-2: Isolated chain problem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deep dive | July 2026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365760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FC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gap = primary − offtake on comparable mapped cuts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1" name="Text 19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₹6.89 Cr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4" name="Shape 22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6" name="Text 24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₹4.91 Cr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13.6% mix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31" name="Text 29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2" name="Text 30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71.3%</a:t>
            </a:r>
            <a:endParaRPr lang="en-US" sz="1750" dirty="0"/>
          </a:p>
        </p:txBody>
      </p:sp>
      <p:sp>
        <p:nvSpPr>
          <p:cNvPr id="33" name="Text 31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4" name="Shape 32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36" name="Text 34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7" name="Text 35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₹1.98 Cr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39" name="Shape 37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1" name="Text 39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weak cell (DMart) inside an otherwise functioning zone</a:t>
            </a:r>
            <a:endParaRPr lang="en-US" sz="740" dirty="0"/>
          </a:p>
        </p:txBody>
      </p:sp>
      <p:sp>
        <p:nvSpPr>
          <p:cNvPr id="42" name="Text 40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3" name="Chart 0" descr=""/>
          <p:cNvGraphicFramePr/>
          <p:nvPr/>
        </p:nvGraphicFramePr>
        <p:xfrm>
          <a:off x="246888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4" name="Text 41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5" name="Chart 1" descr=""/>
          <p:cNvGraphicFramePr/>
          <p:nvPr/>
        </p:nvGraphicFramePr>
        <p:xfrm>
          <a:off x="3483864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Shape 42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8" name="Text 44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49" name="Text 45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₹1.95 Cr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45.1%</a:t>
            </a:r>
            <a:endParaRPr lang="en-US" sz="620" dirty="0"/>
          </a:p>
        </p:txBody>
      </p:sp>
      <p:sp>
        <p:nvSpPr>
          <p:cNvPr id="52" name="Text 48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Apollo</a:t>
            </a:r>
            <a:endParaRPr lang="en-US" sz="700" dirty="0"/>
          </a:p>
        </p:txBody>
      </p:sp>
      <p:sp>
        <p:nvSpPr>
          <p:cNvPr id="53" name="Text 49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₹1.64 Cr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5" name="Text 51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Reliance</a:t>
            </a:r>
            <a:endParaRPr lang="en-US" sz="700" dirty="0"/>
          </a:p>
        </p:txBody>
      </p:sp>
      <p:sp>
        <p:nvSpPr>
          <p:cNvPr id="56" name="Text 52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₹0.67 Cr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82.5%</a:t>
            </a:r>
            <a:endParaRPr lang="en-US" sz="620" dirty="0"/>
          </a:p>
        </p:txBody>
      </p:sp>
      <p:sp>
        <p:nvSpPr>
          <p:cNvPr id="58" name="Shape 54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60" name="Text 56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1" name="Text 57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Telangana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₹2.56 Cr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Andhra Pradesh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₹2.35 Cr</a:t>
            </a:r>
            <a:endParaRPr lang="en-US" sz="700" dirty="0"/>
          </a:p>
        </p:txBody>
      </p:sp>
      <p:sp>
        <p:nvSpPr>
          <p:cNvPr id="65" name="Shape 61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67" name="Text 63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8" name="Text 64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₹3.74 Cr</a:t>
            </a:r>
            <a:endParaRPr lang="en-US" sz="680" dirty="0"/>
          </a:p>
        </p:txBody>
      </p:sp>
      <p:sp>
        <p:nvSpPr>
          <p:cNvPr id="69" name="Text 65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0" name="Text 66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₹1.04</a:t>
            </a:r>
            <a:endParaRPr lang="en-US" sz="630" dirty="0"/>
          </a:p>
        </p:txBody>
      </p:sp>
      <p:sp>
        <p:nvSpPr>
          <p:cNvPr id="71" name="Text 67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2" name="Text 68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₹0.94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₹1.11 Cr</a:t>
            </a:r>
            <a:endParaRPr lang="en-US" sz="680" dirty="0"/>
          </a:p>
        </p:txBody>
      </p:sp>
      <p:sp>
        <p:nvSpPr>
          <p:cNvPr id="76" name="Text 72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₹0.56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9" name="Text 75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₹0.20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</a:t>
            </a:r>
            <a:endParaRPr lang="en-US" sz="630" dirty="0"/>
          </a:p>
        </p:txBody>
      </p:sp>
      <p:sp>
        <p:nvSpPr>
          <p:cNvPr id="82" name="Shape 78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</p:sp>
      <p:sp>
        <p:nvSpPr>
          <p:cNvPr id="83" name="Text 79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pPr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₹0.31 Cr · 6.4% of zone — lowest NPI value nationally</a:t>
            </a:r>
            <a:endParaRPr lang="en-US" sz="660" dirty="0"/>
          </a:p>
        </p:txBody>
      </p:sp>
      <p:sp>
        <p:nvSpPr>
          <p:cNvPr id="84" name="Shape 80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85" name="Text 81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6" name="Shape 82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88" name="Text 84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89" name="Text 85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converts at 45.1% — half its national rate</a:t>
            </a:r>
            <a:endParaRPr lang="en-US" sz="740" dirty="0"/>
          </a:p>
        </p:txBody>
      </p:sp>
      <p:sp>
        <p:nvSpPr>
          <p:cNvPr id="90" name="Text 86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runs 94.2% in West and 77.9% in North. At 45.1% here the account is behaving unlike itself, which points at a regional DC or fill problem rather than the chain relationship.</a:t>
            </a:r>
            <a:endParaRPr lang="en-US" sz="650" dirty="0"/>
          </a:p>
        </p:txBody>
      </p:sp>
      <p:sp>
        <p:nvSpPr>
          <p:cNvPr id="91" name="Shape 87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2" name="Text 88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DMart South-2 DC-to-store fill rate against the West benchmark.</a:t>
            </a:r>
            <a:endParaRPr lang="en-US" sz="600" dirty="0"/>
          </a:p>
        </p:txBody>
      </p:sp>
      <p:sp>
        <p:nvSpPr>
          <p:cNvPr id="93" name="Text 89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 · 22 Aug</a:t>
            </a:r>
            <a:endParaRPr lang="en-US" sz="620" dirty="0"/>
          </a:p>
        </p:txBody>
      </p:sp>
      <p:sp>
        <p:nvSpPr>
          <p:cNvPr id="94" name="Shape 90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96" name="Text 92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97" name="Text 93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South-2 reported at 148.5% conversion</a:t>
            </a:r>
            <a:endParaRPr lang="en-US" sz="740" dirty="0"/>
          </a:p>
        </p:txBody>
      </p:sp>
      <p:sp>
        <p:nvSpPr>
          <p:cNvPr id="98" name="Text 94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highest ratio in the pack. Offtake exceeding primary by half means opening stock or a billing-period mismatch, not performance — and it inflates the zone average.</a:t>
            </a:r>
            <a:endParaRPr lang="en-US" sz="650" dirty="0"/>
          </a:p>
        </p:txBody>
      </p:sp>
      <p:sp>
        <p:nvSpPr>
          <p:cNvPr id="99" name="Shape 95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0" name="Text 96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Apollo South-2 opening stock and billing cut-off before quoting zone conversion.</a:t>
            </a:r>
            <a:endParaRPr lang="en-US" sz="600" dirty="0"/>
          </a:p>
        </p:txBody>
      </p:sp>
      <p:sp>
        <p:nvSpPr>
          <p:cNvPr id="101" name="Text 97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02" name="Shape 98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04" name="Text 100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05" name="Text 101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₹0.81 Cr recoverable, almost all of it inside DMart</a:t>
            </a:r>
            <a:endParaRPr lang="en-US" sz="740" dirty="0"/>
          </a:p>
        </p:txBody>
      </p:sp>
      <p:sp>
        <p:nvSpPr>
          <p:cNvPr id="106" name="Text 102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 conversion the zone delivers ₹5.72 Cr against ₹4.91 Cr actual. The DMart cell alone accounts for the majority of the shortfall.</a:t>
            </a:r>
            <a:endParaRPr lang="en-US" sz="650" dirty="0"/>
          </a:p>
        </p:txBody>
      </p:sp>
      <p:sp>
        <p:nvSpPr>
          <p:cNvPr id="107" name="Shape 103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8" name="Text 104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the South-2 recovery as a single-account project, not a zone programme.</a:t>
            </a:r>
            <a:endParaRPr lang="en-US" sz="600" dirty="0"/>
          </a:p>
        </p:txBody>
      </p:sp>
      <p:sp>
        <p:nvSpPr>
          <p:cNvPr id="109" name="Text 105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RKAM · 25 Aug</a:t>
            </a:r>
            <a:endParaRPr lang="en-US" sz="620" dirty="0"/>
          </a:p>
        </p:txBody>
      </p:sp>
      <p:sp>
        <p:nvSpPr>
          <p:cNvPr id="110" name="Shape 106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12" name="Text 108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3" name="Text 109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two material states in the zone cut</a:t>
            </a:r>
            <a:endParaRPr lang="en-US" sz="740" dirty="0"/>
          </a:p>
        </p:txBody>
      </p:sp>
      <p:sp>
        <p:nvSpPr>
          <p:cNvPr id="114" name="Text 110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Telangana ₹2.56 Cr and Andhra Pradesh ₹2.35 Cr are the whole zone. The source pack described "top three states at 100%" while listing two — a reporting artefact worth correcting.</a:t>
            </a:r>
            <a:endParaRPr lang="en-US" sz="650" dirty="0"/>
          </a:p>
        </p:txBody>
      </p:sp>
      <p:sp>
        <p:nvSpPr>
          <p:cNvPr id="115" name="Shape 111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6" name="Text 112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the state-count logic in the build script.</a:t>
            </a:r>
            <a:endParaRPr lang="en-US" sz="600" dirty="0"/>
          </a:p>
        </p:txBody>
      </p:sp>
      <p:sp>
        <p:nvSpPr>
          <p:cNvPr id="117" name="Text 113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8" name="Shape 114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20" name="Text 116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1" name="Text 117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is under-developed at ₹1.11 Cr</a:t>
            </a:r>
            <a:endParaRPr lang="en-US" sz="740" dirty="0"/>
          </a:p>
        </p:txBody>
      </p:sp>
      <p:sp>
        <p:nvSpPr>
          <p:cNvPr id="122" name="Text 118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22.6% of zone offtake against 39.4% in West. The gap is distribution-led rather than demand-led given TDC strength in neighbouring South-1.</a:t>
            </a:r>
            <a:endParaRPr lang="en-US" sz="650" dirty="0"/>
          </a:p>
        </p:txBody>
      </p:sp>
      <p:sp>
        <p:nvSpPr>
          <p:cNvPr id="123" name="Shape 119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24" name="Text 120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the TDC listing white space in South-2 Apollo and Reliance doors.</a:t>
            </a:r>
            <a:endParaRPr lang="en-US" sz="600" dirty="0"/>
          </a:p>
        </p:txBody>
      </p:sp>
      <p:sp>
        <p:nvSpPr>
          <p:cNvPr id="125" name="Text 121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RKAM · 15 Sep</a:t>
            </a:r>
            <a:endParaRPr lang="en-US" sz="620" dirty="0"/>
          </a:p>
        </p:txBody>
      </p:sp>
      <p:sp>
        <p:nvSpPr>
          <p:cNvPr id="126" name="Shape 122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7" name="Shape 123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128" name="Text 124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</a:t>
            </a:r>
            <a:endParaRPr lang="en-US" sz="620" dirty="0"/>
          </a:p>
        </p:txBody>
      </p:sp>
      <p:sp>
        <p:nvSpPr>
          <p:cNvPr id="129" name="Text 125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NPI exposure nationally at 6.4%</a:t>
            </a:r>
            <a:endParaRPr lang="en-US" sz="740" dirty="0"/>
          </a:p>
        </p:txBody>
      </p:sp>
      <p:sp>
        <p:nvSpPr>
          <p:cNvPr id="130" name="Text 126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conversion unresolved, low new-product exposure is the correct posture — this zone is not carrying launch risk on top of a fill problem.</a:t>
            </a:r>
            <a:endParaRPr lang="en-US" sz="650" dirty="0"/>
          </a:p>
        </p:txBody>
      </p:sp>
      <p:sp>
        <p:nvSpPr>
          <p:cNvPr id="131" name="Shape 127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32" name="Text 128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NPI allocation flat until DMart fill is fixed.</a:t>
            </a:r>
            <a:endParaRPr lang="en-US" sz="600" dirty="0"/>
          </a:p>
        </p:txBody>
      </p:sp>
      <p:sp>
        <p:nvSpPr>
          <p:cNvPr id="133" name="Text 129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 review</a:t>
            </a:r>
            <a:endParaRPr lang="en-US" sz="620" dirty="0"/>
          </a:p>
        </p:txBody>
      </p:sp>
      <p:sp>
        <p:nvSpPr>
          <p:cNvPr id="134" name="Text 130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NPI mix 6.4% | ₹0.81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East: Worst flow in the country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deep dive | July 2026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365760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FC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gap = primary − offtake on comparable mapped cuts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1" name="Text 19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₹7.83 Cr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4" name="Shape 22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6" name="Text 24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₹3.55 Cr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9.8% mix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31" name="Text 29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2" name="Text 30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45.3%</a:t>
            </a:r>
            <a:endParaRPr lang="en-US" sz="1750" dirty="0"/>
          </a:p>
        </p:txBody>
      </p:sp>
      <p:sp>
        <p:nvSpPr>
          <p:cNvPr id="33" name="Text 31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4" name="Shape 32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36" name="Text 34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7" name="Text 35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₹4.28 Cr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39" name="Shape 37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1" name="Text 39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than half of billed value is reaching the consumer</a:t>
            </a:r>
            <a:endParaRPr lang="en-US" sz="740" dirty="0"/>
          </a:p>
        </p:txBody>
      </p:sp>
      <p:sp>
        <p:nvSpPr>
          <p:cNvPr id="42" name="Text 40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3" name="Chart 0" descr=""/>
          <p:cNvGraphicFramePr/>
          <p:nvPr/>
        </p:nvGraphicFramePr>
        <p:xfrm>
          <a:off x="246888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4" name="Text 41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5" name="Chart 1" descr=""/>
          <p:cNvGraphicFramePr/>
          <p:nvPr/>
        </p:nvGraphicFramePr>
        <p:xfrm>
          <a:off x="3483864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Shape 42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8" name="Text 44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49" name="Text 45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Reliance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₹2.16 Cr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52.9%</a:t>
            </a:r>
            <a:endParaRPr lang="en-US" sz="620" dirty="0"/>
          </a:p>
        </p:txBody>
      </p:sp>
      <p:sp>
        <p:nvSpPr>
          <p:cNvPr id="52" name="Text 48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Apollo</a:t>
            </a:r>
            <a:endParaRPr lang="en-US" sz="700" dirty="0"/>
          </a:p>
        </p:txBody>
      </p:sp>
      <p:sp>
        <p:nvSpPr>
          <p:cNvPr id="53" name="Text 49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₹0.80 Cr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5" name="Text 51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Vishal Mega Mart</a:t>
            </a:r>
            <a:endParaRPr lang="en-US" sz="700" dirty="0"/>
          </a:p>
        </p:txBody>
      </p:sp>
      <p:sp>
        <p:nvSpPr>
          <p:cNvPr id="56" name="Text 52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₹0.17 Cr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8" name="Shape 54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60" name="Text 56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1" name="Text 57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West Bengal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₹1.56 Cr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Odisha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₹0.60 Cr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Bihar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₹0.49 Cr</a:t>
            </a:r>
            <a:endParaRPr lang="en-US" sz="700" dirty="0"/>
          </a:p>
        </p:txBody>
      </p:sp>
      <p:sp>
        <p:nvSpPr>
          <p:cNvPr id="67" name="Shape 63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69" name="Text 65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0" name="Text 66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₹2.91 Cr</a:t>
            </a:r>
            <a:endParaRPr lang="en-US" sz="680" dirty="0"/>
          </a:p>
        </p:txBody>
      </p:sp>
      <p:sp>
        <p:nvSpPr>
          <p:cNvPr id="71" name="Text 67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2" name="Text 68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₹1.34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₹1.18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₹0.60 Cr</a:t>
            </a:r>
            <a:endParaRPr lang="en-US" sz="680" dirty="0"/>
          </a:p>
        </p:txBody>
      </p:sp>
      <p:sp>
        <p:nvSpPr>
          <p:cNvPr id="78" name="Text 74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9" name="Text 75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₹0.47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</a:t>
            </a:r>
            <a:endParaRPr lang="en-US" sz="630" dirty="0"/>
          </a:p>
        </p:txBody>
      </p:sp>
      <p:sp>
        <p:nvSpPr>
          <p:cNvPr id="84" name="Shape 80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</p:sp>
      <p:sp>
        <p:nvSpPr>
          <p:cNvPr id="85" name="Text 81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pPr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₹0.36 Cr · 10.2% of zone — the highest NPI mix on the worst conversion</a:t>
            </a:r>
            <a:endParaRPr lang="en-US" sz="660" dirty="0"/>
          </a:p>
        </p:txBody>
      </p:sp>
      <p:sp>
        <p:nvSpPr>
          <p:cNvPr id="86" name="Shape 82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87" name="Text 83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8" name="Shape 84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0" name="Text 86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</a:t>
            </a:r>
            <a:endParaRPr lang="en-US" sz="620" dirty="0"/>
          </a:p>
        </p:txBody>
      </p:sp>
      <p:sp>
        <p:nvSpPr>
          <p:cNvPr id="91" name="Text 87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₹2.94 Cr recoverable — the largest pool in the pack</a:t>
            </a:r>
            <a:endParaRPr lang="en-US" sz="740" dirty="0"/>
          </a:p>
        </p:txBody>
      </p:sp>
      <p:sp>
        <p:nvSpPr>
          <p:cNvPr id="92" name="Text 88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bills ₹7.83 Cr and sells ₹3.55 Cr. At the West / South-1 benchmark the same billing delivers ₹6.50 Cr. This single zone is half the national opportunity.</a:t>
            </a:r>
            <a:endParaRPr lang="en-US" sz="650" dirty="0"/>
          </a:p>
        </p:txBody>
      </p:sp>
      <p:sp>
        <p:nvSpPr>
          <p:cNvPr id="93" name="Shape 89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4" name="Text 90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₹2.94 Cr as the East recovery target with weekly owner review.</a:t>
            </a:r>
            <a:endParaRPr lang="en-US" sz="600" dirty="0"/>
          </a:p>
        </p:txBody>
      </p:sp>
      <p:sp>
        <p:nvSpPr>
          <p:cNvPr id="95" name="Text 91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 · weekly from 18 Aug</a:t>
            </a:r>
            <a:endParaRPr lang="en-US" sz="620" dirty="0"/>
          </a:p>
        </p:txBody>
      </p:sp>
      <p:sp>
        <p:nvSpPr>
          <p:cNvPr id="96" name="Shape 92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8" name="Text 94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99" name="Text 95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East at 52.9% carries 60.9% of the zone</a:t>
            </a:r>
            <a:endParaRPr lang="en-US" sz="740" dirty="0"/>
          </a:p>
        </p:txBody>
      </p:sp>
      <p:sp>
        <p:nvSpPr>
          <p:cNvPr id="100" name="Text 96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dominates a zone that does not convert. Reliance runs 44.9% in North and 51.2% in Central too — this is a national account pattern surfacing hardest where it has most share.</a:t>
            </a:r>
            <a:endParaRPr lang="en-US" sz="650" dirty="0"/>
          </a:p>
        </p:txBody>
      </p:sp>
      <p:sp>
        <p:nvSpPr>
          <p:cNvPr id="101" name="Shape 97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2" name="Text 98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East the lead case in the national Reliance recovery loop.</a:t>
            </a:r>
            <a:endParaRPr lang="en-US" sz="600" dirty="0"/>
          </a:p>
        </p:txBody>
      </p:sp>
      <p:sp>
        <p:nvSpPr>
          <p:cNvPr id="103" name="Text 99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4" name="Shape 100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106" name="Text 102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RISK</a:t>
            </a:r>
            <a:endParaRPr lang="en-US" sz="620" dirty="0"/>
          </a:p>
        </p:txBody>
      </p:sp>
      <p:sp>
        <p:nvSpPr>
          <p:cNvPr id="107" name="Text 103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NPI mix nationally into the worst-converting zone</a:t>
            </a:r>
            <a:endParaRPr lang="en-US" sz="740" dirty="0"/>
          </a:p>
        </p:txBody>
      </p:sp>
      <p:sp>
        <p:nvSpPr>
          <p:cNvPr id="108" name="Text 104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10.2% of East offtake is new product, against 6.4% in South-2. New products are being launched hardest where sell-through is weakest — the launch will read as a product failure when it is a flow failure.</a:t>
            </a:r>
            <a:endParaRPr lang="en-US" sz="650" dirty="0"/>
          </a:p>
        </p:txBody>
      </p:sp>
      <p:sp>
        <p:nvSpPr>
          <p:cNvPr id="109" name="Shape 105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0" name="Text 106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until conversion clears 60%; protect only listed hero EANs.</a:t>
            </a:r>
            <a:endParaRPr lang="en-US" sz="600" dirty="0"/>
          </a:p>
        </p:txBody>
      </p:sp>
      <p:sp>
        <p:nvSpPr>
          <p:cNvPr id="111" name="Text 107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 · immediate</a:t>
            </a:r>
            <a:endParaRPr lang="en-US" sz="620" dirty="0"/>
          </a:p>
        </p:txBody>
      </p:sp>
      <p:sp>
        <p:nvSpPr>
          <p:cNvPr id="112" name="Shape 108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14" name="Text 110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620" dirty="0"/>
          </a:p>
        </p:txBody>
      </p:sp>
      <p:sp>
        <p:nvSpPr>
          <p:cNvPr id="115" name="Text 111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outruns selling by more than 2:1</a:t>
            </a:r>
            <a:endParaRPr lang="en-US" sz="740" dirty="0"/>
          </a:p>
        </p:txBody>
      </p:sp>
      <p:sp>
        <p:nvSpPr>
          <p:cNvPr id="116" name="Text 112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gap this size over one month is a loading pattern, not an availability gap. Continued primary at this rate builds trade stock that will suppress future orders.</a:t>
            </a:r>
            <a:endParaRPr lang="en-US" sz="650" dirty="0"/>
          </a:p>
        </p:txBody>
      </p:sp>
      <p:sp>
        <p:nvSpPr>
          <p:cNvPr id="117" name="Shape 113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8" name="Text 114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East primary at trailing three-month offtake until the gap closes.</a:t>
            </a:r>
            <a:endParaRPr lang="en-US" sz="600" dirty="0"/>
          </a:p>
        </p:txBody>
      </p:sp>
      <p:sp>
        <p:nvSpPr>
          <p:cNvPr id="119" name="Text 115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+ Sales lead · immediate</a:t>
            </a:r>
            <a:endParaRPr lang="en-US" sz="620" dirty="0"/>
          </a:p>
        </p:txBody>
      </p:sp>
      <p:sp>
        <p:nvSpPr>
          <p:cNvPr id="120" name="Shape 116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22" name="Text 118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23" name="Text 119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three top chains cannot be flow-tested</a:t>
            </a:r>
            <a:endParaRPr lang="en-US" sz="740" dirty="0"/>
          </a:p>
        </p:txBody>
      </p:sp>
      <p:sp>
        <p:nvSpPr>
          <p:cNvPr id="124" name="Text 120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reports above 100% and Vishal Mega Mart has no mapped primary, so only Reliance in this zone has a verifiable conversion figure.</a:t>
            </a:r>
            <a:endParaRPr lang="en-US" sz="650" dirty="0"/>
          </a:p>
        </p:txBody>
      </p:sp>
      <p:sp>
        <p:nvSpPr>
          <p:cNvPr id="125" name="Shape 121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26" name="Text 122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Vishal Mega Mart billing and reconcile Apollo East opening stock.</a:t>
            </a:r>
            <a:endParaRPr lang="en-US" sz="600" dirty="0"/>
          </a:p>
        </p:txBody>
      </p:sp>
      <p:sp>
        <p:nvSpPr>
          <p:cNvPr id="127" name="Text 123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28" name="Shape 124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30" name="Text 126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31" name="Text 127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is barely present at ₹0.60 Cr</a:t>
            </a:r>
            <a:endParaRPr lang="en-US" sz="740" dirty="0"/>
          </a:p>
        </p:txBody>
      </p:sp>
      <p:sp>
        <p:nvSpPr>
          <p:cNvPr id="132" name="Text 128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is 16.9% of East offtake against 39.4% in West. Fixing flow before adding TDC distribution avoids compounding the problem.</a:t>
            </a:r>
            <a:endParaRPr lang="en-US" sz="650" dirty="0"/>
          </a:p>
        </p:txBody>
      </p:sp>
      <p:sp>
        <p:nvSpPr>
          <p:cNvPr id="133" name="Shape 129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34" name="Text 130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TDC expansion in East until zone conversion clears 60%.</a:t>
            </a:r>
            <a:endParaRPr lang="en-US" sz="600" dirty="0"/>
          </a:p>
        </p:txBody>
      </p:sp>
      <p:sp>
        <p:nvSpPr>
          <p:cNvPr id="135" name="Text 131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 review</a:t>
            </a:r>
            <a:endParaRPr lang="en-US" sz="620" dirty="0"/>
          </a:p>
        </p:txBody>
      </p:sp>
      <p:sp>
        <p:nvSpPr>
          <p:cNvPr id="136" name="Text 132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NPI mix 10.2% | ₹2.94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Central: Small and healthy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deep dive | July 2026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365760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FC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gap = primary − offtake on comparable mapped cuts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1" name="Text 19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₹2.69 Cr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4" name="Shape 22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6" name="Text 24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₹2.12 Cr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5.9% mix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1" name="Text 29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2" name="Text 30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78.8%</a:t>
            </a:r>
            <a:endParaRPr lang="en-US" sz="1750" dirty="0"/>
          </a:p>
        </p:txBody>
      </p:sp>
      <p:sp>
        <p:nvSpPr>
          <p:cNvPr id="33" name="Text 31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4" name="Shape 32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6" name="Text 34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7" name="Text 35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₹0.57 Cr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39" name="Shape 37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1" name="Text 39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zone, sound flow — manage for cost, not intervention</a:t>
            </a:r>
            <a:endParaRPr lang="en-US" sz="740" dirty="0"/>
          </a:p>
        </p:txBody>
      </p:sp>
      <p:sp>
        <p:nvSpPr>
          <p:cNvPr id="42" name="Text 40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3" name="Chart 0" descr=""/>
          <p:cNvGraphicFramePr/>
          <p:nvPr/>
        </p:nvGraphicFramePr>
        <p:xfrm>
          <a:off x="246888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4" name="Text 41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5" name="Chart 1" descr=""/>
          <p:cNvGraphicFramePr/>
          <p:nvPr/>
        </p:nvGraphicFramePr>
        <p:xfrm>
          <a:off x="3483864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Shape 42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8" name="Text 44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49" name="Text 45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₹1.41 Cr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95.3%</a:t>
            </a:r>
            <a:endParaRPr lang="en-US" sz="620" dirty="0"/>
          </a:p>
        </p:txBody>
      </p:sp>
      <p:sp>
        <p:nvSpPr>
          <p:cNvPr id="52" name="Text 48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3" name="Text 49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₹0.46 Cr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51.2%</a:t>
            </a:r>
            <a:endParaRPr lang="en-US" sz="620" dirty="0"/>
          </a:p>
        </p:txBody>
      </p:sp>
      <p:sp>
        <p:nvSpPr>
          <p:cNvPr id="55" name="Text 51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Apollo</a:t>
            </a:r>
            <a:endParaRPr lang="en-US" sz="700" dirty="0"/>
          </a:p>
        </p:txBody>
      </p:sp>
      <p:sp>
        <p:nvSpPr>
          <p:cNvPr id="56" name="Text 52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 Cr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8" name="Shape 54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60" name="Text 56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1" name="Text 57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Madhya Pradesh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₹1.68 Cr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Chhattisgarh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₹0.44 Cr</a:t>
            </a:r>
            <a:endParaRPr lang="en-US" sz="700" dirty="0"/>
          </a:p>
        </p:txBody>
      </p:sp>
      <p:sp>
        <p:nvSpPr>
          <p:cNvPr id="65" name="Shape 61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67" name="Text 63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8" name="Text 64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₹1.25 Cr</a:t>
            </a:r>
            <a:endParaRPr lang="en-US" sz="680" dirty="0"/>
          </a:p>
        </p:txBody>
      </p:sp>
      <p:sp>
        <p:nvSpPr>
          <p:cNvPr id="69" name="Text 65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0" name="Text 66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</a:t>
            </a:r>
            <a:endParaRPr lang="en-US" sz="630" dirty="0"/>
          </a:p>
        </p:txBody>
      </p:sp>
      <p:sp>
        <p:nvSpPr>
          <p:cNvPr id="71" name="Text 67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2" name="Text 68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₹0.40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₹0.82 Cr</a:t>
            </a:r>
            <a:endParaRPr lang="en-US" sz="680" dirty="0"/>
          </a:p>
        </p:txBody>
      </p:sp>
      <p:sp>
        <p:nvSpPr>
          <p:cNvPr id="76" name="Text 72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₹0.66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9" name="Text 75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₹0.18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₹0.02</a:t>
            </a:r>
            <a:endParaRPr lang="en-US" sz="630" dirty="0"/>
          </a:p>
        </p:txBody>
      </p:sp>
      <p:sp>
        <p:nvSpPr>
          <p:cNvPr id="82" name="Shape 78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</p:sp>
      <p:sp>
        <p:nvSpPr>
          <p:cNvPr id="83" name="Text 79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pPr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₹0.18 Cr · 8.5% of zone</a:t>
            </a:r>
            <a:endParaRPr lang="en-US" sz="660" dirty="0"/>
          </a:p>
        </p:txBody>
      </p:sp>
      <p:sp>
        <p:nvSpPr>
          <p:cNvPr id="84" name="Shape 80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85" name="Text 81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6" name="Shape 82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88" name="Text 84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89" name="Text 85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₹0.11 Cr recoverable — below the ₹0.25 Cr floor</a:t>
            </a:r>
            <a:endParaRPr lang="en-US" sz="740" dirty="0"/>
          </a:p>
        </p:txBody>
      </p:sp>
      <p:sp>
        <p:nvSpPr>
          <p:cNvPr id="90" name="Text 86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 conversion Central gains almost nothing. The zone is small and already flowing well, so it should not consume review time.</a:t>
            </a:r>
            <a:endParaRPr lang="en-US" sz="650" dirty="0"/>
          </a:p>
        </p:txBody>
      </p:sp>
      <p:sp>
        <p:nvSpPr>
          <p:cNvPr id="91" name="Shape 87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2" name="Text 88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Central by exception only; drop it from the weekly gap review.</a:t>
            </a:r>
            <a:endParaRPr lang="en-US" sz="600" dirty="0"/>
          </a:p>
        </p:txBody>
      </p:sp>
      <p:sp>
        <p:nvSpPr>
          <p:cNvPr id="93" name="Text 89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from Sep pack</a:t>
            </a:r>
            <a:endParaRPr lang="en-US" sz="620" dirty="0"/>
          </a:p>
        </p:txBody>
      </p:sp>
      <p:sp>
        <p:nvSpPr>
          <p:cNvPr id="94" name="Shape 90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96" name="Text 92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7" name="Text 93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Central converts at 95.3% — best in the country</a:t>
            </a:r>
            <a:endParaRPr lang="en-US" sz="740" dirty="0"/>
          </a:p>
        </p:txBody>
      </p:sp>
      <p:sp>
        <p:nvSpPr>
          <p:cNvPr id="98" name="Text 94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ahead of DMart West. Two zones now show DMart above 94%, which makes the 45.1% in South-2 clearly anomalous rather than a chain-wide characteristic.</a:t>
            </a:r>
            <a:endParaRPr lang="en-US" sz="650" dirty="0"/>
          </a:p>
        </p:txBody>
      </p:sp>
      <p:sp>
        <p:nvSpPr>
          <p:cNvPr id="99" name="Shape 95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0" name="Text 96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Central and West together when scoping the DMart South-2 fill audit.</a:t>
            </a:r>
            <a:endParaRPr lang="en-US" sz="600" dirty="0"/>
          </a:p>
        </p:txBody>
      </p:sp>
      <p:sp>
        <p:nvSpPr>
          <p:cNvPr id="101" name="Text 97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22 Aug</a:t>
            </a:r>
            <a:endParaRPr lang="en-US" sz="620" dirty="0"/>
          </a:p>
        </p:txBody>
      </p:sp>
      <p:sp>
        <p:nvSpPr>
          <p:cNvPr id="102" name="Shape 98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104" name="Text 100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5" name="Text 101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Central at 51.2% repeats the national pattern</a:t>
            </a:r>
            <a:endParaRPr lang="en-US" sz="740" dirty="0"/>
          </a:p>
        </p:txBody>
      </p:sp>
      <p:sp>
        <p:nvSpPr>
          <p:cNvPr id="106" name="Text 102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 zone where Reliance sits near 50% while other accounts in the same geography clear 78%. The consistency is the evidence.</a:t>
            </a:r>
            <a:endParaRPr lang="en-US" sz="650" dirty="0"/>
          </a:p>
        </p:txBody>
      </p:sp>
      <p:sp>
        <p:nvSpPr>
          <p:cNvPr id="107" name="Shape 103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8" name="Text 104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Central in the Reliance national loop; no separate zone action.</a:t>
            </a:r>
            <a:endParaRPr lang="en-US" sz="600" dirty="0"/>
          </a:p>
        </p:txBody>
      </p:sp>
      <p:sp>
        <p:nvSpPr>
          <p:cNvPr id="109" name="Text 105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10" name="Shape 106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12" name="Text 108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3" name="Text 109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Madhya Pradesh is 79.3% of the zone</a:t>
            </a:r>
            <a:endParaRPr lang="en-US" sz="740" dirty="0"/>
          </a:p>
        </p:txBody>
      </p:sp>
      <p:sp>
        <p:nvSpPr>
          <p:cNvPr id="114" name="Text 110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single-state-dependent zone in the pack. Chhattisgarh at ₹0.44 Cr is the only other material market.</a:t>
            </a:r>
            <a:endParaRPr lang="en-US" sz="650" dirty="0"/>
          </a:p>
        </p:txBody>
      </p:sp>
      <p:sp>
        <p:nvSpPr>
          <p:cNvPr id="115" name="Shape 111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6" name="Text 112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Central as a single-state operation for planning and route design.</a:t>
            </a:r>
            <a:endParaRPr lang="en-US" sz="600" dirty="0"/>
          </a:p>
        </p:txBody>
      </p:sp>
      <p:sp>
        <p:nvSpPr>
          <p:cNvPr id="117" name="Text 113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RKAM · Sep planning</a:t>
            </a:r>
            <a:endParaRPr lang="en-US" sz="620" dirty="0"/>
          </a:p>
        </p:txBody>
      </p:sp>
      <p:sp>
        <p:nvSpPr>
          <p:cNvPr id="118" name="Shape 114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120" name="Text 116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1" name="Text 117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TDC share of any zone at 38.7%</a:t>
            </a:r>
            <a:endParaRPr lang="en-US" sz="740" dirty="0"/>
          </a:p>
        </p:txBody>
      </p:sp>
      <p:sp>
        <p:nvSpPr>
          <p:cNvPr id="122" name="Text 118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₹0.82 Cr against Mamaearth ₹1.25 Cr. Central over-indexes on TDC Face Cleanser relative to its size.</a:t>
            </a:r>
            <a:endParaRPr lang="en-US" sz="650" dirty="0"/>
          </a:p>
        </p:txBody>
      </p:sp>
      <p:sp>
        <p:nvSpPr>
          <p:cNvPr id="123" name="Shape 119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24" name="Text 120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Central TDC assortment as the reference for South-2 TDC expansion.</a:t>
            </a:r>
            <a:endParaRPr lang="en-US" sz="600" dirty="0"/>
          </a:p>
        </p:txBody>
      </p:sp>
      <p:sp>
        <p:nvSpPr>
          <p:cNvPr id="125" name="Text 121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</a:t>
            </a:r>
            <a:endParaRPr lang="en-US" sz="620" dirty="0"/>
          </a:p>
        </p:txBody>
      </p:sp>
      <p:sp>
        <p:nvSpPr>
          <p:cNvPr id="126" name="Shape 122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7" name="Shape 123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28" name="Text 124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29" name="Text 125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Central reported at 137.7%</a:t>
            </a:r>
            <a:endParaRPr lang="en-US" sz="740" dirty="0"/>
          </a:p>
        </p:txBody>
      </p:sp>
      <p:sp>
        <p:nvSpPr>
          <p:cNvPr id="130" name="Text 126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zone where Apollo exceeds 100%. The national Apollo figure of 99.7% is an average of wide zone-level errors, not a measured parity.</a:t>
            </a:r>
            <a:endParaRPr lang="en-US" sz="650" dirty="0"/>
          </a:p>
        </p:txBody>
      </p:sp>
      <p:sp>
        <p:nvSpPr>
          <p:cNvPr id="131" name="Shape 127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32" name="Text 128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quoting Apollo national conversion until the zone figures reconcile.</a:t>
            </a:r>
            <a:endParaRPr lang="en-US" sz="600" dirty="0"/>
          </a:p>
        </p:txBody>
      </p:sp>
      <p:sp>
        <p:nvSpPr>
          <p:cNvPr id="133" name="Text 129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34" name="Text 130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NPI mix 8.5% | ₹0.11 Cr recoverable — below the materiality floor</a:t>
            </a:r>
            <a:endParaRPr lang="en-US" sz="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Pan India: National account — not a geography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deep dive | July 2026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365760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FC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gap = primary − offtake on comparable mapped cuts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1" name="Text 19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not mapped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4" name="Shape 22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6" name="Text 24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₹2.07 Cr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5.7% mix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31" name="Text 29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2" name="Text 30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n/a</a:t>
            </a:r>
            <a:endParaRPr lang="en-US" sz="1750" dirty="0"/>
          </a:p>
        </p:txBody>
      </p:sp>
      <p:sp>
        <p:nvSpPr>
          <p:cNvPr id="33" name="Text 31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4" name="Shape 32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36" name="Text 34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7" name="Text 35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n/a</a:t>
            </a:r>
            <a:endParaRPr lang="en-US" sz="1750" dirty="0"/>
          </a:p>
        </p:txBody>
      </p:sp>
      <p:sp>
        <p:nvSpPr>
          <p:cNvPr id="38" name="Text 36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39" name="Shape 37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1" name="Text 39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FSN/Nykaa on its own terms • do not net it into the national gap</a:t>
            </a:r>
            <a:endParaRPr lang="en-US" sz="740" dirty="0"/>
          </a:p>
        </p:txBody>
      </p:sp>
      <p:sp>
        <p:nvSpPr>
          <p:cNvPr id="42" name="Text 40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FSN/Nykaa offtake, Jan–Jul 2026 (₹ Cr)</a:t>
            </a:r>
            <a:endParaRPr lang="en-US" sz="720" dirty="0"/>
          </a:p>
        </p:txBody>
      </p:sp>
      <p:graphicFrame>
        <p:nvGraphicFramePr>
          <p:cNvPr id="43" name="Chart 0" descr=""/>
          <p:cNvGraphicFramePr/>
          <p:nvPr/>
        </p:nvGraphicFramePr>
        <p:xfrm>
          <a:off x="246888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4" name="Text 41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FSN/Nykaa EANs — range is contracting</a:t>
            </a:r>
            <a:endParaRPr lang="en-US" sz="720" dirty="0"/>
          </a:p>
        </p:txBody>
      </p:sp>
      <p:graphicFrame>
        <p:nvGraphicFramePr>
          <p:cNvPr id="45" name="Chart 1" descr=""/>
          <p:cNvGraphicFramePr/>
          <p:nvPr/>
        </p:nvGraphicFramePr>
        <p:xfrm>
          <a:off x="3483864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Shape 42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8" name="Text 44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49" name="Text 45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FSN / Nykaa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620" dirty="0"/>
          </a:p>
        </p:txBody>
      </p:sp>
      <p:sp>
        <p:nvSpPr>
          <p:cNvPr id="52" name="Shape 48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54" name="Text 50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Pan India</a:t>
            </a:r>
            <a:endParaRPr lang="en-US" sz="700" dirty="0"/>
          </a:p>
        </p:txBody>
      </p:sp>
      <p:sp>
        <p:nvSpPr>
          <p:cNvPr id="56" name="Text 52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700" dirty="0"/>
          </a:p>
        </p:txBody>
      </p:sp>
      <p:sp>
        <p:nvSpPr>
          <p:cNvPr id="57" name="Shape 53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59" name="Text 55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0" name="Text 56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₹1.65 Cr</a:t>
            </a:r>
            <a:endParaRPr lang="en-US" sz="680" dirty="0"/>
          </a:p>
        </p:txBody>
      </p:sp>
      <p:sp>
        <p:nvSpPr>
          <p:cNvPr id="61" name="Text 57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sub-category split</a:t>
            </a:r>
            <a:endParaRPr lang="en-US" sz="630" dirty="0"/>
          </a:p>
        </p:txBody>
      </p:sp>
      <p:sp>
        <p:nvSpPr>
          <p:cNvPr id="62" name="Text 58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630" dirty="0"/>
          </a:p>
        </p:txBody>
      </p:sp>
      <p:sp>
        <p:nvSpPr>
          <p:cNvPr id="63" name="Text 59"/>
          <p:cNvSpPr/>
          <p:nvPr/>
        </p:nvSpPr>
        <p:spPr>
          <a:xfrm>
            <a:off x="4648200" y="5294376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₹0.37 Cr</a:t>
            </a:r>
            <a:endParaRPr lang="en-US" sz="680" dirty="0"/>
          </a:p>
        </p:txBody>
      </p:sp>
      <p:sp>
        <p:nvSpPr>
          <p:cNvPr id="64" name="Text 60"/>
          <p:cNvSpPr/>
          <p:nvPr/>
        </p:nvSpPr>
        <p:spPr>
          <a:xfrm>
            <a:off x="4684776" y="5468112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sub-category split</a:t>
            </a:r>
            <a:endParaRPr lang="en-US" sz="630" dirty="0"/>
          </a:p>
        </p:txBody>
      </p:sp>
      <p:sp>
        <p:nvSpPr>
          <p:cNvPr id="65" name="Text 61"/>
          <p:cNvSpPr/>
          <p:nvPr/>
        </p:nvSpPr>
        <p:spPr>
          <a:xfrm>
            <a:off x="6007608" y="5468112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630" dirty="0"/>
          </a:p>
        </p:txBody>
      </p:sp>
      <p:sp>
        <p:nvSpPr>
          <p:cNvPr id="66" name="Shape 62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</p:sp>
      <p:sp>
        <p:nvSpPr>
          <p:cNvPr id="67" name="Text 63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pPr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₹0.13 Cr · 6.3% of account</a:t>
            </a:r>
            <a:endParaRPr lang="en-US" sz="660" dirty="0"/>
          </a:p>
        </p:txBody>
      </p:sp>
      <p:sp>
        <p:nvSpPr>
          <p:cNvPr id="68" name="Shape 64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69" name="Text 65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70" name="Shape 66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72" name="Text 68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</a:t>
            </a:r>
            <a:endParaRPr lang="en-US" sz="620" dirty="0"/>
          </a:p>
        </p:txBody>
      </p:sp>
      <p:sp>
        <p:nvSpPr>
          <p:cNvPr id="73" name="Text 69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₹2.07 Cr is what makes the headline gap wrong</a:t>
            </a:r>
            <a:endParaRPr lang="en-US" sz="740" dirty="0"/>
          </a:p>
        </p:txBody>
      </p:sp>
      <p:sp>
        <p:nvSpPr>
          <p:cNvPr id="74" name="Text 70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India offtake carries no geographic primary. Netting it into the national total pulls the reported gap from ₹15.17 Cr down to ₹13.11 Cr — a 14% understatement of the recoverable pool.</a:t>
            </a:r>
            <a:endParaRPr lang="en-US" sz="650" dirty="0"/>
          </a:p>
        </p:txBody>
      </p:sp>
      <p:sp>
        <p:nvSpPr>
          <p:cNvPr id="75" name="Shape 71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6" name="Text 72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Pan India outside the geographic gap arithmetic in every future pack.</a:t>
            </a:r>
            <a:endParaRPr lang="en-US" sz="600" dirty="0"/>
          </a:p>
        </p:txBody>
      </p:sp>
      <p:sp>
        <p:nvSpPr>
          <p:cNvPr id="77" name="Text 73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from Aug pack</a:t>
            </a:r>
            <a:endParaRPr lang="en-US" sz="620" dirty="0"/>
          </a:p>
        </p:txBody>
      </p:sp>
      <p:sp>
        <p:nvSpPr>
          <p:cNvPr id="78" name="Shape 74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80" name="Text 76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81" name="Text 77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 flow — the tightest in the portfolio</a:t>
            </a:r>
            <a:endParaRPr lang="en-US" sz="740" dirty="0"/>
          </a:p>
        </p:txBody>
      </p:sp>
      <p:sp>
        <p:nvSpPr>
          <p:cNvPr id="82" name="Text 78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replenishment runs close to real-time, so billing and selling stay in step. It is the ceiling the physical accounts are being measured against.</a:t>
            </a:r>
            <a:endParaRPr lang="en-US" sz="650" dirty="0"/>
          </a:p>
        </p:txBody>
      </p:sp>
      <p:sp>
        <p:nvSpPr>
          <p:cNvPr id="83" name="Shape 79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4" name="Text 80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FSN/Nykaa as the flow ceiling, with the caveat that its model is not directly transferable.</a:t>
            </a:r>
            <a:endParaRPr lang="en-US" sz="600" dirty="0"/>
          </a:p>
        </p:txBody>
      </p:sp>
      <p:sp>
        <p:nvSpPr>
          <p:cNvPr id="85" name="Text 81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86" name="Shape 82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88" name="Text 84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89" name="Text 85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and Nykaa SS are combined at article level</a:t>
            </a:r>
            <a:endParaRPr lang="en-US" sz="740" dirty="0"/>
          </a:p>
        </p:txBody>
      </p:sp>
      <p:sp>
        <p:nvSpPr>
          <p:cNvPr id="90" name="Text 86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entities cannot be separated in the current source, so account-level performance cannot be attributed to either.</a:t>
            </a:r>
            <a:endParaRPr lang="en-US" sz="650" dirty="0"/>
          </a:p>
        </p:txBody>
      </p:sp>
      <p:sp>
        <p:nvSpPr>
          <p:cNvPr id="91" name="Shape 87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2" name="Text 88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separated FSN and Nykaa SS feeds from the data owner.</a:t>
            </a:r>
            <a:endParaRPr lang="en-US" sz="600" dirty="0"/>
          </a:p>
        </p:txBody>
      </p:sp>
      <p:sp>
        <p:nvSpPr>
          <p:cNvPr id="93" name="Text 89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31 Aug</a:t>
            </a:r>
            <a:endParaRPr lang="en-US" sz="620" dirty="0"/>
          </a:p>
        </p:txBody>
      </p:sp>
      <p:sp>
        <p:nvSpPr>
          <p:cNvPr id="94" name="Shape 90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6" name="Text 92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97" name="Text 93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Sub-category split returns zero against ₹1.65 Cr brand total</a:t>
            </a:r>
            <a:endParaRPr lang="en-US" sz="740" dirty="0"/>
          </a:p>
        </p:txBody>
      </p:sp>
      <p:sp>
        <p:nvSpPr>
          <p:cNvPr id="98" name="Text 94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pack printed ₹0.00 Cr for all three Mamaearth sub-categories while the brand total read ₹1.65 Cr — a broken rollup, not a real result.</a:t>
            </a:r>
            <a:endParaRPr lang="en-US" sz="650" dirty="0"/>
          </a:p>
        </p:txBody>
      </p:sp>
      <p:sp>
        <p:nvSpPr>
          <p:cNvPr id="99" name="Shape 95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0" name="Text 96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Pan India sub-category rollup in the build script before publishing this page again.</a:t>
            </a:r>
            <a:endParaRPr lang="en-US" sz="600" dirty="0"/>
          </a:p>
        </p:txBody>
      </p:sp>
      <p:sp>
        <p:nvSpPr>
          <p:cNvPr id="101" name="Text 97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02" name="Shape 98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04" name="Text 100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620" dirty="0"/>
          </a:p>
        </p:txBody>
      </p:sp>
      <p:sp>
        <p:nvSpPr>
          <p:cNvPr id="105" name="Text 101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₹2.07 Cr is down 4.6% on June</a:t>
            </a:r>
            <a:endParaRPr lang="en-US" sz="740" dirty="0"/>
          </a:p>
        </p:txBody>
      </p:sp>
      <p:sp>
        <p:nvSpPr>
          <p:cNvPr id="106" name="Text 102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peaked at ₹2.29 Cr in April and has drifted since. Active EANs fell from 222 in January to 198 in July, so range contraction tracks the softness.</a:t>
            </a:r>
            <a:endParaRPr lang="en-US" sz="650" dirty="0"/>
          </a:p>
        </p:txBody>
      </p:sp>
      <p:sp>
        <p:nvSpPr>
          <p:cNvPr id="107" name="Shape 103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8" name="Text 104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whether the 24 delisted EANs explain the drift before treating it as demand.</a:t>
            </a:r>
            <a:endParaRPr lang="en-US" sz="600" dirty="0"/>
          </a:p>
        </p:txBody>
      </p:sp>
      <p:sp>
        <p:nvSpPr>
          <p:cNvPr id="109" name="Text 105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FSN · 31 Aug</a:t>
            </a:r>
            <a:endParaRPr lang="en-US" sz="620" dirty="0"/>
          </a:p>
        </p:txBody>
      </p:sp>
      <p:sp>
        <p:nvSpPr>
          <p:cNvPr id="110" name="Shape 106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12" name="Text 108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20" dirty="0"/>
          </a:p>
        </p:txBody>
      </p:sp>
      <p:sp>
        <p:nvSpPr>
          <p:cNvPr id="113" name="Text 109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as a national account with its own dashboard</a:t>
            </a:r>
            <a:endParaRPr lang="en-US" sz="740" dirty="0"/>
          </a:p>
        </p:txBody>
      </p:sp>
      <p:sp>
        <p:nvSpPr>
          <p:cNvPr id="114" name="Text 110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logic — zone targets, state splits, RKAM ownership — does not apply to this scope and produces meaningless cells when forced.</a:t>
            </a:r>
            <a:endParaRPr lang="en-US" sz="650" dirty="0"/>
          </a:p>
        </p:txBody>
      </p:sp>
      <p:sp>
        <p:nvSpPr>
          <p:cNvPr id="115" name="Shape 111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6" name="Text 112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a standalone FSN/Nykaa flow view; retire the Pan India zone page.</a:t>
            </a:r>
            <a:endParaRPr lang="en-US" sz="600" dirty="0"/>
          </a:p>
        </p:txBody>
      </p:sp>
      <p:sp>
        <p:nvSpPr>
          <p:cNvPr id="117" name="Text 113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Sep pack</a:t>
            </a:r>
            <a:endParaRPr lang="en-US" sz="620" dirty="0"/>
          </a:p>
        </p:txBody>
      </p:sp>
      <p:sp>
        <p:nvSpPr>
          <p:cNvPr id="118" name="Text 114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FSN/Nykaa 99.4% flow | Excluded from geographic gap arithmetic by design</a:t>
            </a:r>
            <a:endParaRPr lang="en-US" sz="6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is a Reliance problem — every other chain combined grew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growth and risk | June–July 2026 | ranked by ₹ change above a ₹0.25 Cr materiality floor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365760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FC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gap = primary − offtake on comparable mapped cuts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265176" y="1261872"/>
            <a:ext cx="6327648" cy="1060704"/>
          </a:xfrm>
          <a:prstGeom prst="roundRect">
            <a:avLst>
              <a:gd name="adj" fmla="val 2586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" y="1371600"/>
            <a:ext cx="5998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Modern Trade fell ₹1.29 Cr month on month. Reliance accounts for ₹1.42 Cr of it.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29768" y="1719072"/>
            <a:ext cx="5998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comparable chain, added together, grew ₹0.13 Cr.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02920" y="195681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pack ranked this table by MoM %, which put Sasta Sundar (+127.8% on a ₹1 lakh base) at the top and a ₹1.42 Cr decline in mid-table. Ranked by rupee change, the month has one story.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265176" y="2468880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4" name="Text 22"/>
          <p:cNvSpPr/>
          <p:nvPr/>
        </p:nvSpPr>
        <p:spPr>
          <a:xfrm>
            <a:off x="374904" y="248716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CHAINS — ₹0.25 Cr FLOOR, RANKED BY RUPEE CHANGE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65176" y="281635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" y="2834640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1874520" y="2834640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2788920" y="2834640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3703320" y="2834640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CHANGE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4709160" y="283464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 %</a:t>
            </a:r>
            <a:endParaRPr lang="en-US" sz="660" dirty="0"/>
          </a:p>
        </p:txBody>
      </p:sp>
      <p:sp>
        <p:nvSpPr>
          <p:cNvPr id="31" name="Text 29"/>
          <p:cNvSpPr/>
          <p:nvPr/>
        </p:nvSpPr>
        <p:spPr>
          <a:xfrm>
            <a:off x="5532120" y="283464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660" dirty="0"/>
          </a:p>
        </p:txBody>
      </p:sp>
      <p:sp>
        <p:nvSpPr>
          <p:cNvPr id="32" name="Shape 30"/>
          <p:cNvSpPr/>
          <p:nvPr/>
        </p:nvSpPr>
        <p:spPr>
          <a:xfrm>
            <a:off x="265176" y="3072384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33" name="Shape 31"/>
          <p:cNvSpPr/>
          <p:nvPr/>
        </p:nvSpPr>
        <p:spPr>
          <a:xfrm>
            <a:off x="265176" y="34381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307238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60" dirty="0"/>
          </a:p>
        </p:txBody>
      </p:sp>
      <p:sp>
        <p:nvSpPr>
          <p:cNvPr id="35" name="Text 33"/>
          <p:cNvSpPr/>
          <p:nvPr/>
        </p:nvSpPr>
        <p:spPr>
          <a:xfrm>
            <a:off x="1874520" y="307238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₹9.48 Cr</a:t>
            </a:r>
            <a:endParaRPr lang="en-US" sz="760" dirty="0"/>
          </a:p>
        </p:txBody>
      </p:sp>
      <p:sp>
        <p:nvSpPr>
          <p:cNvPr id="36" name="Text 34"/>
          <p:cNvSpPr/>
          <p:nvPr/>
        </p:nvSpPr>
        <p:spPr>
          <a:xfrm>
            <a:off x="2788920" y="307238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₹8.06 Cr</a:t>
            </a:r>
            <a:endParaRPr lang="en-US" sz="760" dirty="0"/>
          </a:p>
        </p:txBody>
      </p:sp>
      <p:sp>
        <p:nvSpPr>
          <p:cNvPr id="37" name="Text 35"/>
          <p:cNvSpPr/>
          <p:nvPr/>
        </p:nvSpPr>
        <p:spPr>
          <a:xfrm>
            <a:off x="3703320" y="307238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−1.42</a:t>
            </a:r>
            <a:endParaRPr lang="en-US" sz="760" dirty="0"/>
          </a:p>
        </p:txBody>
      </p:sp>
      <p:sp>
        <p:nvSpPr>
          <p:cNvPr id="38" name="Text 36"/>
          <p:cNvSpPr/>
          <p:nvPr/>
        </p:nvSpPr>
        <p:spPr>
          <a:xfrm>
            <a:off x="4709160" y="307238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−15.0%</a:t>
            </a:r>
            <a:endParaRPr lang="en-US" sz="760" dirty="0"/>
          </a:p>
        </p:txBody>
      </p:sp>
      <p:sp>
        <p:nvSpPr>
          <p:cNvPr id="39" name="Text 37"/>
          <p:cNvSpPr/>
          <p:nvPr/>
        </p:nvSpPr>
        <p:spPr>
          <a:xfrm>
            <a:off x="5532120" y="307238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— lead case</a:t>
            </a:r>
            <a:endParaRPr lang="en-US" sz="760" dirty="0"/>
          </a:p>
        </p:txBody>
      </p:sp>
      <p:sp>
        <p:nvSpPr>
          <p:cNvPr id="40" name="Shape 38"/>
          <p:cNvSpPr/>
          <p:nvPr/>
        </p:nvSpPr>
        <p:spPr>
          <a:xfrm>
            <a:off x="265176" y="38039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0040" y="343814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60" dirty="0"/>
          </a:p>
        </p:txBody>
      </p:sp>
      <p:sp>
        <p:nvSpPr>
          <p:cNvPr id="42" name="Text 40"/>
          <p:cNvSpPr/>
          <p:nvPr/>
        </p:nvSpPr>
        <p:spPr>
          <a:xfrm>
            <a:off x="1874520" y="343814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₹1.16 Cr</a:t>
            </a:r>
            <a:endParaRPr lang="en-US" sz="760" dirty="0"/>
          </a:p>
        </p:txBody>
      </p:sp>
      <p:sp>
        <p:nvSpPr>
          <p:cNvPr id="43" name="Text 41"/>
          <p:cNvSpPr/>
          <p:nvPr/>
        </p:nvSpPr>
        <p:spPr>
          <a:xfrm>
            <a:off x="2788920" y="343814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₹1.70 Cr</a:t>
            </a:r>
            <a:endParaRPr lang="en-US" sz="760" dirty="0"/>
          </a:p>
        </p:txBody>
      </p:sp>
      <p:sp>
        <p:nvSpPr>
          <p:cNvPr id="44" name="Text 42"/>
          <p:cNvSpPr/>
          <p:nvPr/>
        </p:nvSpPr>
        <p:spPr>
          <a:xfrm>
            <a:off x="3703320" y="343814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+0.54</a:t>
            </a:r>
            <a:endParaRPr lang="en-US" sz="760" dirty="0"/>
          </a:p>
        </p:txBody>
      </p:sp>
      <p:sp>
        <p:nvSpPr>
          <p:cNvPr id="45" name="Text 43"/>
          <p:cNvSpPr/>
          <p:nvPr/>
        </p:nvSpPr>
        <p:spPr>
          <a:xfrm>
            <a:off x="4709160" y="343814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+46.5%</a:t>
            </a:r>
            <a:endParaRPr lang="en-US" sz="760" dirty="0"/>
          </a:p>
        </p:txBody>
      </p:sp>
      <p:sp>
        <p:nvSpPr>
          <p:cNvPr id="46" name="Text 44"/>
          <p:cNvSpPr/>
          <p:nvPr/>
        </p:nvSpPr>
        <p:spPr>
          <a:xfrm>
            <a:off x="5532120" y="343814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— no mapped primary</a:t>
            </a:r>
            <a:endParaRPr lang="en-US" sz="760" dirty="0"/>
          </a:p>
        </p:txBody>
      </p:sp>
      <p:sp>
        <p:nvSpPr>
          <p:cNvPr id="47" name="Shape 45"/>
          <p:cNvSpPr/>
          <p:nvPr/>
        </p:nvSpPr>
        <p:spPr>
          <a:xfrm>
            <a:off x="265176" y="3803904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48" name="Shape 46"/>
          <p:cNvSpPr/>
          <p:nvPr/>
        </p:nvSpPr>
        <p:spPr>
          <a:xfrm>
            <a:off x="265176" y="41696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20040" y="380390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60" dirty="0"/>
          </a:p>
        </p:txBody>
      </p:sp>
      <p:sp>
        <p:nvSpPr>
          <p:cNvPr id="50" name="Text 48"/>
          <p:cNvSpPr/>
          <p:nvPr/>
        </p:nvSpPr>
        <p:spPr>
          <a:xfrm>
            <a:off x="1874520" y="380390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₹14.56 Cr</a:t>
            </a:r>
            <a:endParaRPr lang="en-US" sz="760" dirty="0"/>
          </a:p>
        </p:txBody>
      </p:sp>
      <p:sp>
        <p:nvSpPr>
          <p:cNvPr id="51" name="Text 49"/>
          <p:cNvSpPr/>
          <p:nvPr/>
        </p:nvSpPr>
        <p:spPr>
          <a:xfrm>
            <a:off x="2788920" y="380390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₹14.33 Cr</a:t>
            </a:r>
            <a:endParaRPr lang="en-US" sz="760" dirty="0"/>
          </a:p>
        </p:txBody>
      </p:sp>
      <p:sp>
        <p:nvSpPr>
          <p:cNvPr id="52" name="Text 50"/>
          <p:cNvSpPr/>
          <p:nvPr/>
        </p:nvSpPr>
        <p:spPr>
          <a:xfrm>
            <a:off x="3703320" y="380390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−0.23</a:t>
            </a:r>
            <a:endParaRPr lang="en-US" sz="760" dirty="0"/>
          </a:p>
        </p:txBody>
      </p:sp>
      <p:sp>
        <p:nvSpPr>
          <p:cNvPr id="53" name="Text 51"/>
          <p:cNvSpPr/>
          <p:nvPr/>
        </p:nvSpPr>
        <p:spPr>
          <a:xfrm>
            <a:off x="4709160" y="380390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−1.5%</a:t>
            </a:r>
            <a:endParaRPr lang="en-US" sz="760" dirty="0"/>
          </a:p>
        </p:txBody>
      </p:sp>
      <p:sp>
        <p:nvSpPr>
          <p:cNvPr id="54" name="Text 52"/>
          <p:cNvSpPr/>
          <p:nvPr/>
        </p:nvSpPr>
        <p:spPr>
          <a:xfrm>
            <a:off x="5532120" y="38039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— largest account</a:t>
            </a:r>
            <a:endParaRPr lang="en-US" sz="760" dirty="0"/>
          </a:p>
        </p:txBody>
      </p:sp>
      <p:sp>
        <p:nvSpPr>
          <p:cNvPr id="55" name="Shape 53"/>
          <p:cNvSpPr/>
          <p:nvPr/>
        </p:nvSpPr>
        <p:spPr>
          <a:xfrm>
            <a:off x="265176" y="4297680"/>
            <a:ext cx="6327648" cy="402336"/>
          </a:xfrm>
          <a:prstGeom prst="roundRect">
            <a:avLst>
              <a:gd name="adj" fmla="val 4545"/>
            </a:avLst>
          </a:prstGeom>
          <a:solidFill>
            <a:srgbClr val="F4F9F8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74904" y="4343400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66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   </a:t>
            </a:r>
            <a:pPr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chains moved less than ₹0.25 Cr and are excluded from ranking: Wellness Forever −0.08, Metro −0.12, Vishal Mega Mart +0.05, More Retail −0.03, Health &amp; Glow −0.01, V-Mart −0.01, Spencer +0.01, Arambagh −0.01, Ratandeep 0.00, Sasta Sundar +0.01, Sumo Save +0.01. Combined they moved −₹0.19 Cr.</a:t>
            </a:r>
            <a:endParaRPr lang="en-US" sz="660" dirty="0"/>
          </a:p>
        </p:txBody>
      </p:sp>
      <p:sp>
        <p:nvSpPr>
          <p:cNvPr id="57" name="Shape 55"/>
          <p:cNvSpPr/>
          <p:nvPr/>
        </p:nvSpPr>
        <p:spPr>
          <a:xfrm>
            <a:off x="265176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65176" y="4846320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59" name="Text 57"/>
          <p:cNvSpPr/>
          <p:nvPr/>
        </p:nvSpPr>
        <p:spPr>
          <a:xfrm>
            <a:off x="347472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DECLINE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356616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−₹1.42 Cr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356616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Reliance, June → July</a:t>
            </a:r>
            <a:endParaRPr lang="en-US" sz="680" dirty="0"/>
          </a:p>
        </p:txBody>
      </p:sp>
      <p:sp>
        <p:nvSpPr>
          <p:cNvPr id="62" name="Shape 60"/>
          <p:cNvSpPr/>
          <p:nvPr/>
        </p:nvSpPr>
        <p:spPr>
          <a:xfrm>
            <a:off x="374904" y="586587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3" name="Text 61"/>
          <p:cNvSpPr/>
          <p:nvPr/>
        </p:nvSpPr>
        <p:spPr>
          <a:xfrm>
            <a:off x="493776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 and Sun Care carry most of the fall.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374904" y="62682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5" name="Text 63"/>
          <p:cNvSpPr/>
          <p:nvPr/>
        </p:nvSpPr>
        <p:spPr>
          <a:xfrm>
            <a:off x="493776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converts 51.4% nationally — 44.9% in North, 52.9% in East.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374904" y="667054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7" name="Text 65"/>
          <p:cNvSpPr/>
          <p:nvPr/>
        </p:nvSpPr>
        <p:spPr>
          <a:xfrm>
            <a:off x="493776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is the pattern; the zones are where it shows.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2410968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410968" y="4846320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70" name="Text 68"/>
          <p:cNvSpPr/>
          <p:nvPr/>
        </p:nvSpPr>
        <p:spPr>
          <a:xfrm>
            <a:off x="2493264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UNVERIFIED GROWTH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2502408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+₹0.54 Cr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2502408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on ₹0 mapped primary</a:t>
            </a:r>
            <a:endParaRPr lang="en-US" sz="680" dirty="0"/>
          </a:p>
        </p:txBody>
      </p:sp>
      <p:sp>
        <p:nvSpPr>
          <p:cNvPr id="73" name="Shape 71"/>
          <p:cNvSpPr/>
          <p:nvPr/>
        </p:nvSpPr>
        <p:spPr>
          <a:xfrm>
            <a:off x="2520696" y="58658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74" name="Text 72"/>
          <p:cNvSpPr/>
          <p:nvPr/>
        </p:nvSpPr>
        <p:spPr>
          <a:xfrm>
            <a:off x="2639568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"Scale" in the source pack on a +46.5% MoM read.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2520696" y="62682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76" name="Text 74"/>
          <p:cNvSpPr/>
          <p:nvPr/>
        </p:nvSpPr>
        <p:spPr>
          <a:xfrm>
            <a:off x="2639568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 is joined to this account, so flow cannot be tested.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2520696" y="667054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78" name="Text 76"/>
          <p:cNvSpPr/>
          <p:nvPr/>
        </p:nvSpPr>
        <p:spPr>
          <a:xfrm>
            <a:off x="2639568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the recommendation until the billing route is mapped.</a:t>
            </a:r>
            <a:endParaRPr lang="en-US" sz="700" dirty="0"/>
          </a:p>
        </p:txBody>
      </p:sp>
      <p:sp>
        <p:nvSpPr>
          <p:cNvPr id="79" name="Shape 77"/>
          <p:cNvSpPr/>
          <p:nvPr/>
        </p:nvSpPr>
        <p:spPr>
          <a:xfrm>
            <a:off x="4556760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556760" y="4846320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81" name="Text 79"/>
          <p:cNvSpPr/>
          <p:nvPr/>
        </p:nvSpPr>
        <p:spPr>
          <a:xfrm>
            <a:off x="4639056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BOOK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4648200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+₹0.13 Cr</a:t>
            </a:r>
            <a:endParaRPr lang="en-US" sz="1600" dirty="0"/>
          </a:p>
        </p:txBody>
      </p:sp>
      <p:sp>
        <p:nvSpPr>
          <p:cNvPr id="83" name="Text 81"/>
          <p:cNvSpPr/>
          <p:nvPr/>
        </p:nvSpPr>
        <p:spPr>
          <a:xfrm>
            <a:off x="4648200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chains except Reliance</a:t>
            </a:r>
            <a:endParaRPr lang="en-US" sz="680" dirty="0"/>
          </a:p>
        </p:txBody>
      </p:sp>
      <p:sp>
        <p:nvSpPr>
          <p:cNvPr id="84" name="Shape 82"/>
          <p:cNvSpPr/>
          <p:nvPr/>
        </p:nvSpPr>
        <p:spPr>
          <a:xfrm>
            <a:off x="4666488" y="586587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85" name="Text 83"/>
          <p:cNvSpPr/>
          <p:nvPr/>
        </p:nvSpPr>
        <p:spPr>
          <a:xfrm>
            <a:off x="4785360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−₹0.23 Cr on a ₹14.33 Cr base is normal variation.</a:t>
            </a:r>
            <a:endParaRPr lang="en-US" sz="700" dirty="0"/>
          </a:p>
        </p:txBody>
      </p:sp>
      <p:sp>
        <p:nvSpPr>
          <p:cNvPr id="86" name="Shape 84"/>
          <p:cNvSpPr/>
          <p:nvPr/>
        </p:nvSpPr>
        <p:spPr>
          <a:xfrm>
            <a:off x="4666488" y="62682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87" name="Text 85"/>
          <p:cNvSpPr/>
          <p:nvPr/>
        </p:nvSpPr>
        <p:spPr>
          <a:xfrm>
            <a:off x="4785360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second account shows a material decline.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4666488" y="667054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89" name="Text 87"/>
          <p:cNvSpPr/>
          <p:nvPr/>
        </p:nvSpPr>
        <p:spPr>
          <a:xfrm>
            <a:off x="4785360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launch a broad recovery programme for a single-account month.</a:t>
            </a:r>
            <a:endParaRPr lang="en-US" sz="700" dirty="0"/>
          </a:p>
        </p:txBody>
      </p:sp>
      <p:sp>
        <p:nvSpPr>
          <p:cNvPr id="90" name="Shape 88"/>
          <p:cNvSpPr/>
          <p:nvPr/>
        </p:nvSpPr>
        <p:spPr>
          <a:xfrm>
            <a:off x="265176" y="724204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91" name="Text 89"/>
          <p:cNvSpPr/>
          <p:nvPr/>
        </p:nvSpPr>
        <p:spPr>
          <a:xfrm>
            <a:off x="374904" y="726033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READOUT</a:t>
            </a:r>
            <a:endParaRPr lang="en-US" sz="720" dirty="0"/>
          </a:p>
        </p:txBody>
      </p:sp>
      <p:sp>
        <p:nvSpPr>
          <p:cNvPr id="92" name="Shape 90"/>
          <p:cNvSpPr/>
          <p:nvPr/>
        </p:nvSpPr>
        <p:spPr>
          <a:xfrm>
            <a:off x="356616" y="765810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93" name="Text 91"/>
          <p:cNvSpPr/>
          <p:nvPr/>
        </p:nvSpPr>
        <p:spPr>
          <a:xfrm>
            <a:off x="475488" y="7607808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explains the month. Run a Reliance recovery loop, not a Modern Trade recovery programme.</a:t>
            </a:r>
            <a:endParaRPr lang="en-US" sz="740" dirty="0"/>
          </a:p>
        </p:txBody>
      </p:sp>
      <p:sp>
        <p:nvSpPr>
          <p:cNvPr id="94" name="Shape 92"/>
          <p:cNvSpPr/>
          <p:nvPr/>
        </p:nvSpPr>
        <p:spPr>
          <a:xfrm>
            <a:off x="356616" y="806043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95" name="Text 93"/>
          <p:cNvSpPr/>
          <p:nvPr/>
        </p:nvSpPr>
        <p:spPr>
          <a:xfrm>
            <a:off x="475488" y="8010144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comparable set covers ₹26.90 Cr of ₹36.10 Cr national offtake — 74.5%. Chains with missing July feeds are data gaps, not de-growth, and stay outside the ranking.</a:t>
            </a:r>
            <a:endParaRPr lang="en-US" sz="740" dirty="0"/>
          </a:p>
        </p:txBody>
      </p:sp>
      <p:sp>
        <p:nvSpPr>
          <p:cNvPr id="96" name="Shape 94"/>
          <p:cNvSpPr/>
          <p:nvPr/>
        </p:nvSpPr>
        <p:spPr>
          <a:xfrm>
            <a:off x="356616" y="846277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97" name="Text 95"/>
          <p:cNvSpPr/>
          <p:nvPr/>
        </p:nvSpPr>
        <p:spPr>
          <a:xfrm>
            <a:off x="475488" y="8412480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chains — Lulu, Wellness Forever, Health &amp; Glow — show offtake against unmapped primary. Their growth reads cannot be verified and must not drive field action.</a:t>
            </a:r>
            <a:endParaRPr lang="en-US" sz="740" dirty="0"/>
          </a:p>
        </p:txBody>
      </p:sp>
      <p:sp>
        <p:nvSpPr>
          <p:cNvPr id="98" name="Shape 96"/>
          <p:cNvSpPr/>
          <p:nvPr/>
        </p:nvSpPr>
        <p:spPr>
          <a:xfrm>
            <a:off x="356616" y="886510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99" name="Text 97"/>
          <p:cNvSpPr/>
          <p:nvPr/>
        </p:nvSpPr>
        <p:spPr>
          <a:xfrm>
            <a:off x="475488" y="8814816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Reinstate percentage ranking only above the ₹0.25 Cr floor; below it, report absolute change.</a:t>
            </a:r>
            <a:endParaRPr lang="en-US" sz="740" dirty="0"/>
          </a:p>
        </p:txBody>
      </p:sp>
      <p:sp>
        <p:nvSpPr>
          <p:cNvPr id="100" name="Shape 98"/>
          <p:cNvSpPr/>
          <p:nvPr/>
        </p:nvSpPr>
        <p:spPr>
          <a:xfrm>
            <a:off x="265176" y="9418320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93192" y="9500616"/>
            <a:ext cx="6071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ACTING ON THIS   </a:t>
            </a:r>
            <a:pPr indent="0" marL="0">
              <a:lnSpc>
                <a:spcPct val="94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 is not a trend. Reliance −15.0% is measured against June alone, and a single extreme month partly reverts on its own. Re-run this comparison against a rolling three-month base before committing trade spend, so the recovery programme is sized against the underlying rate rather than against one month of noise.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Fix the specific commercial loophole — not the whole account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recovery plan | evidence, action, success KPI and value at stake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365760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FC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gap = primary − offtake on comparable mapped cuts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265176" y="12618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0" name="Text 18"/>
          <p:cNvSpPr/>
          <p:nvPr/>
        </p:nvSpPr>
        <p:spPr>
          <a:xfrm>
            <a:off x="374904" y="12801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CHAIN-WISE RECOVERY LOOP — ORDERED BY VALUE AT STAKE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265176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5176" y="1609344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3" name="Text 21"/>
          <p:cNvSpPr/>
          <p:nvPr/>
        </p:nvSpPr>
        <p:spPr>
          <a:xfrm>
            <a:off x="347472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56616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failure, not demand failure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56616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₹3.92 Cr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356616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356616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51.4% nationally — 44.9% North, 52.9% East, 51.2% Central. Same weakness in every zone it operates.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356616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356616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incremental loading until conversion clears 65%; run hero-EAN OSA audit against the Apollo cadence.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356616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51.4% → 76.5% (DMart parity)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356616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 · 25 Aug</a:t>
            </a:r>
            <a:endParaRPr lang="en-US" sz="620" dirty="0"/>
          </a:p>
        </p:txBody>
      </p:sp>
      <p:sp>
        <p:nvSpPr>
          <p:cNvPr id="32" name="Shape 30"/>
          <p:cNvSpPr/>
          <p:nvPr/>
        </p:nvSpPr>
        <p:spPr>
          <a:xfrm>
            <a:off x="2410968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10968" y="1609344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34" name="Text 32"/>
          <p:cNvSpPr/>
          <p:nvPr/>
        </p:nvSpPr>
        <p:spPr>
          <a:xfrm>
            <a:off x="2493264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502408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region behaving unlike the account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502408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₹0.81 Cr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2502408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2502408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converts 94.2% in West and 95.3% in Central, but 45.1% in South-2 — a regional break, not a chain issue.</a:t>
            </a:r>
            <a:endParaRPr lang="en-US" sz="680" dirty="0"/>
          </a:p>
        </p:txBody>
      </p:sp>
      <p:sp>
        <p:nvSpPr>
          <p:cNvPr id="39" name="Text 37"/>
          <p:cNvSpPr/>
          <p:nvPr/>
        </p:nvSpPr>
        <p:spPr>
          <a:xfrm>
            <a:off x="2502408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2502408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DC-to-store fill rate and top-SKU store availability against the West benchmark.</a:t>
            </a:r>
            <a:endParaRPr lang="en-US" sz="680" dirty="0"/>
          </a:p>
        </p:txBody>
      </p:sp>
      <p:sp>
        <p:nvSpPr>
          <p:cNvPr id="41" name="Text 39"/>
          <p:cNvSpPr/>
          <p:nvPr/>
        </p:nvSpPr>
        <p:spPr>
          <a:xfrm>
            <a:off x="2502408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conversion to 80%+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2502408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 · 22 Aug</a:t>
            </a:r>
            <a:endParaRPr lang="en-US" sz="620" dirty="0"/>
          </a:p>
        </p:txBody>
      </p:sp>
      <p:sp>
        <p:nvSpPr>
          <p:cNvPr id="43" name="Shape 41"/>
          <p:cNvSpPr/>
          <p:nvPr/>
        </p:nvSpPr>
        <p:spPr>
          <a:xfrm>
            <a:off x="4556760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556760" y="1609344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45" name="Text 43"/>
          <p:cNvSpPr/>
          <p:nvPr/>
        </p:nvSpPr>
        <p:spPr>
          <a:xfrm>
            <a:off x="4639056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4648200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claim without a primary join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648200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unverified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4648200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648200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+46.5% MoM on ₹1.70 Cr offtake with zero mapped primary. The growth may be real or a mapping artefact.</a:t>
            </a:r>
            <a:endParaRPr lang="en-US" sz="680" dirty="0"/>
          </a:p>
        </p:txBody>
      </p:sp>
      <p:sp>
        <p:nvSpPr>
          <p:cNvPr id="50" name="Text 48"/>
          <p:cNvSpPr/>
          <p:nvPr/>
        </p:nvSpPr>
        <p:spPr>
          <a:xfrm>
            <a:off x="4648200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4648200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Lulu billing route before any field instruction is issued on this account.</a:t>
            </a:r>
            <a:endParaRPr lang="en-US" sz="680" dirty="0"/>
          </a:p>
        </p:txBody>
      </p:sp>
      <p:sp>
        <p:nvSpPr>
          <p:cNvPr id="52" name="Text 50"/>
          <p:cNvSpPr/>
          <p:nvPr/>
        </p:nvSpPr>
        <p:spPr>
          <a:xfrm>
            <a:off x="4648200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mapped and flow computable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4648200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54" name="Shape 52"/>
          <p:cNvSpPr/>
          <p:nvPr/>
        </p:nvSpPr>
        <p:spPr>
          <a:xfrm>
            <a:off x="265176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65176" y="440740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56" name="Text 54"/>
          <p:cNvSpPr/>
          <p:nvPr/>
        </p:nvSpPr>
        <p:spPr>
          <a:xfrm>
            <a:off x="347472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356616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dilution below the floor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356616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₹0.12 Cr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356616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356616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20.5% MoM but only ₹0.12 Cr in absolute terms — more SKUs on lower sales per SKU.</a:t>
            </a:r>
            <a:endParaRPr lang="en-US" sz="680" dirty="0"/>
          </a:p>
        </p:txBody>
      </p:sp>
      <p:sp>
        <p:nvSpPr>
          <p:cNvPr id="61" name="Text 59"/>
          <p:cNvSpPr/>
          <p:nvPr/>
        </p:nvSpPr>
        <p:spPr>
          <a:xfrm>
            <a:off x="356616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62" name="Text 60"/>
          <p:cNvSpPr/>
          <p:nvPr/>
        </p:nvSpPr>
        <p:spPr>
          <a:xfrm>
            <a:off x="356616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range expansion and remove non-productive EANs; no separate recovery programme.</a:t>
            </a:r>
            <a:endParaRPr lang="en-US" sz="680" dirty="0"/>
          </a:p>
        </p:txBody>
      </p:sp>
      <p:sp>
        <p:nvSpPr>
          <p:cNvPr id="63" name="Text 61"/>
          <p:cNvSpPr/>
          <p:nvPr/>
        </p:nvSpPr>
        <p:spPr>
          <a:xfrm>
            <a:off x="356616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 SKU and per store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356616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Metro · Sep cycle</a:t>
            </a:r>
            <a:endParaRPr lang="en-US" sz="620" dirty="0"/>
          </a:p>
        </p:txBody>
      </p:sp>
      <p:sp>
        <p:nvSpPr>
          <p:cNvPr id="65" name="Shape 63"/>
          <p:cNvSpPr/>
          <p:nvPr/>
        </p:nvSpPr>
        <p:spPr>
          <a:xfrm>
            <a:off x="2410968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410968" y="4407408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67" name="Text 65"/>
          <p:cNvSpPr/>
          <p:nvPr/>
        </p:nvSpPr>
        <p:spPr>
          <a:xfrm>
            <a:off x="2493264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2502408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cadence worth exporting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2502408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2502408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71" name="Text 69"/>
          <p:cNvSpPr/>
          <p:nvPr/>
        </p:nvSpPr>
        <p:spPr>
          <a:xfrm>
            <a:off x="2502408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Near-parity flow nationally. Zone figures read 121–149%, so the model is sound but the stock reconciliation is not.</a:t>
            </a:r>
            <a:endParaRPr lang="en-US" sz="680" dirty="0"/>
          </a:p>
        </p:txBody>
      </p:sp>
      <p:sp>
        <p:nvSpPr>
          <p:cNvPr id="72" name="Text 70"/>
          <p:cNvSpPr/>
          <p:nvPr/>
        </p:nvSpPr>
        <p:spPr>
          <a:xfrm>
            <a:off x="2502408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73" name="Text 71"/>
          <p:cNvSpPr/>
          <p:nvPr/>
        </p:nvSpPr>
        <p:spPr>
          <a:xfrm>
            <a:off x="2502408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order frequency and assortment depth as a scoring template; reconcile opening stock.</a:t>
            </a:r>
            <a:endParaRPr lang="en-US" sz="680" dirty="0"/>
          </a:p>
        </p:txBody>
      </p:sp>
      <p:sp>
        <p:nvSpPr>
          <p:cNvPr id="74" name="Text 72"/>
          <p:cNvSpPr/>
          <p:nvPr/>
        </p:nvSpPr>
        <p:spPr>
          <a:xfrm>
            <a:off x="2502408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published and applied to 2 accounts</a:t>
            </a:r>
            <a:endParaRPr lang="en-US" sz="600" dirty="0"/>
          </a:p>
        </p:txBody>
      </p:sp>
      <p:sp>
        <p:nvSpPr>
          <p:cNvPr id="75" name="Text 73"/>
          <p:cNvSpPr/>
          <p:nvPr/>
        </p:nvSpPr>
        <p:spPr>
          <a:xfrm>
            <a:off x="2502408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 · 31 Aug</a:t>
            </a:r>
            <a:endParaRPr lang="en-US" sz="620" dirty="0"/>
          </a:p>
        </p:txBody>
      </p:sp>
      <p:sp>
        <p:nvSpPr>
          <p:cNvPr id="76" name="Shape 74"/>
          <p:cNvSpPr/>
          <p:nvPr/>
        </p:nvSpPr>
        <p:spPr>
          <a:xfrm>
            <a:off x="4556760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556760" y="440740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78" name="Text 76"/>
          <p:cNvSpPr/>
          <p:nvPr/>
        </p:nvSpPr>
        <p:spPr>
          <a:xfrm>
            <a:off x="4639056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/ H&amp;G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4648200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above unmapped primary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648200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₹0.53 Cr</a:t>
            </a:r>
            <a:endParaRPr lang="en-US" sz="600" dirty="0"/>
          </a:p>
        </p:txBody>
      </p:sp>
      <p:sp>
        <p:nvSpPr>
          <p:cNvPr id="81" name="Text 79"/>
          <p:cNvSpPr/>
          <p:nvPr/>
        </p:nvSpPr>
        <p:spPr>
          <a:xfrm>
            <a:off x="4648200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82" name="Text 80"/>
          <p:cNvSpPr/>
          <p:nvPr/>
        </p:nvSpPr>
        <p:spPr>
          <a:xfrm>
            <a:off x="4648200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show more offtake than mapped primary — ₹0.24 Cr and ₹0.29 Cr of negative gap that nets against real shortfalls.</a:t>
            </a:r>
            <a:endParaRPr lang="en-US" sz="680" dirty="0"/>
          </a:p>
        </p:txBody>
      </p:sp>
      <p:sp>
        <p:nvSpPr>
          <p:cNvPr id="83" name="Text 81"/>
          <p:cNvSpPr/>
          <p:nvPr/>
        </p:nvSpPr>
        <p:spPr>
          <a:xfrm>
            <a:off x="4648200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84" name="Text 82"/>
          <p:cNvSpPr/>
          <p:nvPr/>
        </p:nvSpPr>
        <p:spPr>
          <a:xfrm>
            <a:off x="4648200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both billing routes; report gross positive and gross negative gap separately.</a:t>
            </a:r>
            <a:endParaRPr lang="en-US" sz="680" dirty="0"/>
          </a:p>
        </p:txBody>
      </p:sp>
      <p:sp>
        <p:nvSpPr>
          <p:cNvPr id="85" name="Text 83"/>
          <p:cNvSpPr/>
          <p:nvPr/>
        </p:nvSpPr>
        <p:spPr>
          <a:xfrm>
            <a:off x="4648200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unmapped material chains</a:t>
            </a:r>
            <a:endParaRPr lang="en-US" sz="600" dirty="0"/>
          </a:p>
        </p:txBody>
      </p:sp>
      <p:sp>
        <p:nvSpPr>
          <p:cNvPr id="86" name="Text 84"/>
          <p:cNvSpPr/>
          <p:nvPr/>
        </p:nvSpPr>
        <p:spPr>
          <a:xfrm>
            <a:off x="4648200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87" name="Shape 85"/>
          <p:cNvSpPr/>
          <p:nvPr/>
        </p:nvSpPr>
        <p:spPr>
          <a:xfrm>
            <a:off x="265176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65176" y="7205472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89" name="Text 87"/>
          <p:cNvSpPr/>
          <p:nvPr/>
        </p:nvSpPr>
        <p:spPr>
          <a:xfrm>
            <a:off x="347472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/ NYKAA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356616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Protect, and stop netting it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356616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600" dirty="0"/>
          </a:p>
        </p:txBody>
      </p:sp>
      <p:sp>
        <p:nvSpPr>
          <p:cNvPr id="92" name="Text 90"/>
          <p:cNvSpPr/>
          <p:nvPr/>
        </p:nvSpPr>
        <p:spPr>
          <a:xfrm>
            <a:off x="356616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93" name="Text 91"/>
          <p:cNvSpPr/>
          <p:nvPr/>
        </p:nvSpPr>
        <p:spPr>
          <a:xfrm>
            <a:off x="356616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 flow, but July down 4.6% on June and active EANs down from 222 to 198 since January.</a:t>
            </a:r>
            <a:endParaRPr lang="en-US" sz="680" dirty="0"/>
          </a:p>
        </p:txBody>
      </p:sp>
      <p:sp>
        <p:nvSpPr>
          <p:cNvPr id="94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95" name="Text 93"/>
          <p:cNvSpPr/>
          <p:nvPr/>
        </p:nvSpPr>
        <p:spPr>
          <a:xfrm>
            <a:off x="356616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whether the 24 delisted EANs explain the softness; report outside geographic gap arithmetic.</a:t>
            </a:r>
            <a:endParaRPr lang="en-US" sz="680" dirty="0"/>
          </a:p>
        </p:txBody>
      </p:sp>
      <p:sp>
        <p:nvSpPr>
          <p:cNvPr id="96" name="Text 94"/>
          <p:cNvSpPr/>
          <p:nvPr/>
        </p:nvSpPr>
        <p:spPr>
          <a:xfrm>
            <a:off x="356616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above 95%, return to ₹2.17 Cr</a:t>
            </a:r>
            <a:endParaRPr lang="en-US" sz="600" dirty="0"/>
          </a:p>
        </p:txBody>
      </p:sp>
      <p:sp>
        <p:nvSpPr>
          <p:cNvPr id="97" name="Text 95"/>
          <p:cNvSpPr/>
          <p:nvPr/>
        </p:nvSpPr>
        <p:spPr>
          <a:xfrm>
            <a:off x="356616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FSN + Analyst · 31 Aug</a:t>
            </a:r>
            <a:endParaRPr lang="en-US" sz="620" dirty="0"/>
          </a:p>
        </p:txBody>
      </p:sp>
      <p:sp>
        <p:nvSpPr>
          <p:cNvPr id="98" name="Shape 96"/>
          <p:cNvSpPr/>
          <p:nvPr/>
        </p:nvSpPr>
        <p:spPr>
          <a:xfrm>
            <a:off x="2410968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10968" y="7205472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00" name="Text 98"/>
          <p:cNvSpPr/>
          <p:nvPr/>
        </p:nvSpPr>
        <p:spPr>
          <a:xfrm>
            <a:off x="2493264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VISHAL MEGA MART</a:t>
            </a:r>
            <a:endParaRPr lang="en-US" sz="700" dirty="0"/>
          </a:p>
        </p:txBody>
      </p:sp>
      <p:sp>
        <p:nvSpPr>
          <p:cNvPr id="101" name="Text 99"/>
          <p:cNvSpPr/>
          <p:nvPr/>
        </p:nvSpPr>
        <p:spPr>
          <a:xfrm>
            <a:off x="2502408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outrunning execution</a:t>
            </a:r>
            <a:endParaRPr lang="en-US" sz="800" dirty="0"/>
          </a:p>
        </p:txBody>
      </p:sp>
      <p:sp>
        <p:nvSpPr>
          <p:cNvPr id="102" name="Text 100"/>
          <p:cNvSpPr/>
          <p:nvPr/>
        </p:nvSpPr>
        <p:spPr>
          <a:xfrm>
            <a:off x="2502408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 Cr</a:t>
            </a:r>
            <a:endParaRPr lang="en-US" sz="600" dirty="0"/>
          </a:p>
        </p:txBody>
      </p:sp>
      <p:sp>
        <p:nvSpPr>
          <p:cNvPr id="103" name="Text 101"/>
          <p:cNvSpPr/>
          <p:nvPr/>
        </p:nvSpPr>
        <p:spPr>
          <a:xfrm>
            <a:off x="2502408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104" name="Text 102"/>
          <p:cNvSpPr/>
          <p:nvPr/>
        </p:nvSpPr>
        <p:spPr>
          <a:xfrm>
            <a:off x="2502408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up 10.2% and offtake up 18.2%, but the account carries no mapped primary in the East cut.</a:t>
            </a:r>
            <a:endParaRPr lang="en-US" sz="680" dirty="0"/>
          </a:p>
        </p:txBody>
      </p:sp>
      <p:sp>
        <p:nvSpPr>
          <p:cNvPr id="105" name="Text 103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106" name="Text 104"/>
          <p:cNvSpPr/>
          <p:nvPr/>
        </p:nvSpPr>
        <p:spPr>
          <a:xfrm>
            <a:off x="2502408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fill rate before adding doors; map primary.</a:t>
            </a:r>
            <a:endParaRPr lang="en-US" sz="680" dirty="0"/>
          </a:p>
        </p:txBody>
      </p:sp>
      <p:sp>
        <p:nvSpPr>
          <p:cNvPr id="107" name="Text 105"/>
          <p:cNvSpPr/>
          <p:nvPr/>
        </p:nvSpPr>
        <p:spPr>
          <a:xfrm>
            <a:off x="2502408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OSA and sales per new door</a:t>
            </a:r>
            <a:endParaRPr lang="en-US" sz="600" dirty="0"/>
          </a:p>
        </p:txBody>
      </p:sp>
      <p:sp>
        <p:nvSpPr>
          <p:cNvPr id="108" name="Text 106"/>
          <p:cNvSpPr/>
          <p:nvPr/>
        </p:nvSpPr>
        <p:spPr>
          <a:xfrm>
            <a:off x="2502408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RKAM East · Sep cycle</a:t>
            </a:r>
            <a:endParaRPr lang="en-US" sz="620" dirty="0"/>
          </a:p>
        </p:txBody>
      </p:sp>
      <p:sp>
        <p:nvSpPr>
          <p:cNvPr id="109" name="Shape 107"/>
          <p:cNvSpPr/>
          <p:nvPr/>
        </p:nvSpPr>
        <p:spPr>
          <a:xfrm>
            <a:off x="4556760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4556760" y="7205472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111" name="Text 109"/>
          <p:cNvSpPr/>
          <p:nvPr/>
        </p:nvSpPr>
        <p:spPr>
          <a:xfrm>
            <a:off x="4639056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</a:t>
            </a:r>
            <a:endParaRPr lang="en-US" sz="700" dirty="0"/>
          </a:p>
        </p:txBody>
      </p:sp>
      <p:sp>
        <p:nvSpPr>
          <p:cNvPr id="112" name="Text 110"/>
          <p:cNvSpPr/>
          <p:nvPr/>
        </p:nvSpPr>
        <p:spPr>
          <a:xfrm>
            <a:off x="4648200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chains, ₹0.19 Cr combined</a:t>
            </a:r>
            <a:endParaRPr lang="en-US" sz="800" dirty="0"/>
          </a:p>
        </p:txBody>
      </p:sp>
      <p:sp>
        <p:nvSpPr>
          <p:cNvPr id="113" name="Text 111"/>
          <p:cNvSpPr/>
          <p:nvPr/>
        </p:nvSpPr>
        <p:spPr>
          <a:xfrm>
            <a:off x="4648200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600" dirty="0"/>
          </a:p>
        </p:txBody>
      </p:sp>
      <p:sp>
        <p:nvSpPr>
          <p:cNvPr id="114" name="Text 112"/>
          <p:cNvSpPr/>
          <p:nvPr/>
        </p:nvSpPr>
        <p:spPr>
          <a:xfrm>
            <a:off x="4648200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115" name="Text 113"/>
          <p:cNvSpPr/>
          <p:nvPr/>
        </p:nvSpPr>
        <p:spPr>
          <a:xfrm>
            <a:off x="4648200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remaining chain moved less than ₹0.25 Cr. Percentage swings here are arithmetic, not commercial signal.</a:t>
            </a:r>
            <a:endParaRPr lang="en-US" sz="680" dirty="0"/>
          </a:p>
        </p:txBody>
      </p:sp>
      <p:sp>
        <p:nvSpPr>
          <p:cNvPr id="116" name="Text 114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117" name="Text 115"/>
          <p:cNvSpPr/>
          <p:nvPr/>
        </p:nvSpPr>
        <p:spPr>
          <a:xfrm>
            <a:off x="4648200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by exception only; no named recovery action.</a:t>
            </a:r>
            <a:endParaRPr lang="en-US" sz="680" dirty="0"/>
          </a:p>
        </p:txBody>
      </p:sp>
      <p:sp>
        <p:nvSpPr>
          <p:cNvPr id="118" name="Text 116"/>
          <p:cNvSpPr/>
          <p:nvPr/>
        </p:nvSpPr>
        <p:spPr>
          <a:xfrm>
            <a:off x="4648200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from weekly review</a:t>
            </a:r>
            <a:endParaRPr lang="en-US" sz="600" dirty="0"/>
          </a:p>
        </p:txBody>
      </p:sp>
      <p:sp>
        <p:nvSpPr>
          <p:cNvPr id="119" name="Text 117"/>
          <p:cNvSpPr/>
          <p:nvPr/>
        </p:nvSpPr>
        <p:spPr>
          <a:xfrm>
            <a:off x="4648200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standing</a:t>
            </a:r>
            <a:endParaRPr lang="en-US" sz="620" dirty="0"/>
          </a:p>
        </p:txBody>
      </p:sp>
      <p:sp>
        <p:nvSpPr>
          <p:cNvPr id="120" name="Shape 118"/>
          <p:cNvSpPr/>
          <p:nvPr/>
        </p:nvSpPr>
        <p:spPr>
          <a:xfrm>
            <a:off x="265176" y="10003536"/>
            <a:ext cx="6327648" cy="402336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374904" y="10058400"/>
            <a:ext cx="6108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68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  </a:t>
            </a:r>
            <a:pPr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and DMart South-2 carry ₹4.73 Cr of the ₹5.87 Cr recovery pool between them — 81%. Both are single-account audits that can start this week. The three mapping fixes cost analyst time only and unblock everything else, so they run first.</a:t>
            </a:r>
            <a:endParaRPr lang="en-US" sz="6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FSN/Nykaa holds 99.4% flow, but its range has contracted 11% since January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FSN/Nykaa national account | January–July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365760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FC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gap = primary − offtake on comparable mapped cuts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265176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1" name="Text 19"/>
          <p:cNvSpPr/>
          <p:nvPr/>
        </p:nvSpPr>
        <p:spPr>
          <a:xfrm>
            <a:off x="420624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PRIMARY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420624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₹2.08 Cr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20624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+ Nykaa SS combined</a:t>
            </a:r>
            <a:endParaRPr lang="en-US" sz="680" dirty="0"/>
          </a:p>
        </p:txBody>
      </p:sp>
      <p:sp>
        <p:nvSpPr>
          <p:cNvPr id="24" name="Shape 22"/>
          <p:cNvSpPr/>
          <p:nvPr/>
        </p:nvSpPr>
        <p:spPr>
          <a:xfrm>
            <a:off x="2410968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10968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6" name="Text 24"/>
          <p:cNvSpPr/>
          <p:nvPr/>
        </p:nvSpPr>
        <p:spPr>
          <a:xfrm>
            <a:off x="2566416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OFFTAKE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566416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₹2.07 Cr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2566416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5.7% of national offtake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4556760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56760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1" name="Text 29"/>
          <p:cNvSpPr/>
          <p:nvPr/>
        </p:nvSpPr>
        <p:spPr>
          <a:xfrm>
            <a:off x="4712208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2" name="Text 30"/>
          <p:cNvSpPr/>
          <p:nvPr/>
        </p:nvSpPr>
        <p:spPr>
          <a:xfrm>
            <a:off x="4712208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99.4%</a:t>
            </a:r>
            <a:endParaRPr lang="en-US" sz="1750" dirty="0"/>
          </a:p>
        </p:txBody>
      </p:sp>
      <p:sp>
        <p:nvSpPr>
          <p:cNvPr id="33" name="Text 31"/>
          <p:cNvSpPr/>
          <p:nvPr/>
        </p:nvSpPr>
        <p:spPr>
          <a:xfrm>
            <a:off x="4712208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+26.0 pp vs national average</a:t>
            </a:r>
            <a:endParaRPr lang="en-US" sz="680" dirty="0"/>
          </a:p>
        </p:txBody>
      </p:sp>
      <p:sp>
        <p:nvSpPr>
          <p:cNvPr id="34" name="Text 32"/>
          <p:cNvSpPr/>
          <p:nvPr/>
        </p:nvSpPr>
        <p:spPr>
          <a:xfrm>
            <a:off x="265176" y="224942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Offtake, Jan–Jul 2026 (₹ Cr)</a:t>
            </a:r>
            <a:endParaRPr lang="en-US" sz="720" dirty="0"/>
          </a:p>
        </p:txBody>
      </p:sp>
      <p:graphicFrame>
        <p:nvGraphicFramePr>
          <p:cNvPr id="35" name="Chart 0" descr=""/>
          <p:cNvGraphicFramePr/>
          <p:nvPr/>
        </p:nvGraphicFramePr>
        <p:xfrm>
          <a:off x="246888" y="2450592"/>
          <a:ext cx="3090672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6" name="Text 33"/>
          <p:cNvSpPr/>
          <p:nvPr/>
        </p:nvSpPr>
        <p:spPr>
          <a:xfrm>
            <a:off x="3502152" y="224942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EANs — 222 in January, 198 in July</a:t>
            </a:r>
            <a:endParaRPr lang="en-US" sz="720" dirty="0"/>
          </a:p>
        </p:txBody>
      </p:sp>
      <p:graphicFrame>
        <p:nvGraphicFramePr>
          <p:cNvPr id="37" name="Chart 1" descr=""/>
          <p:cNvGraphicFramePr/>
          <p:nvPr/>
        </p:nvGraphicFramePr>
        <p:xfrm>
          <a:off x="3483864" y="2450592"/>
          <a:ext cx="3090672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8" name="Shape 34"/>
          <p:cNvSpPr/>
          <p:nvPr/>
        </p:nvSpPr>
        <p:spPr>
          <a:xfrm>
            <a:off x="265176" y="4315968"/>
            <a:ext cx="6327648" cy="548640"/>
          </a:xfrm>
          <a:prstGeom prst="roundRect">
            <a:avLst>
              <a:gd name="adj" fmla="val 5000"/>
            </a:avLst>
          </a:prstGeom>
          <a:solidFill>
            <a:srgbClr val="FDF6E6"/>
          </a:solidFill>
          <a:ln w="12700">
            <a:solidFill>
              <a:srgbClr val="F2B84B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411480" y="438912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peaked at ₹2.29 Cr in April and has drifted to ₹2.07 Cr. Across the same period the active range fell from 222 EANs to 198 — a 10.8% contraction. Test delisting before calling this a demand decline.</a:t>
            </a:r>
            <a:endParaRPr lang="en-US" sz="760" dirty="0"/>
          </a:p>
        </p:txBody>
      </p:sp>
      <p:sp>
        <p:nvSpPr>
          <p:cNvPr id="40" name="Shape 36"/>
          <p:cNvSpPr/>
          <p:nvPr/>
        </p:nvSpPr>
        <p:spPr>
          <a:xfrm>
            <a:off x="265176" y="499262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1" name="Text 37"/>
          <p:cNvSpPr/>
          <p:nvPr/>
        </p:nvSpPr>
        <p:spPr>
          <a:xfrm>
            <a:off x="374904" y="50109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ENGINES — TOP EIGHT BY JULY OFFTAKE</a:t>
            </a:r>
            <a:endParaRPr lang="en-US" sz="720" dirty="0"/>
          </a:p>
        </p:txBody>
      </p:sp>
      <p:sp>
        <p:nvSpPr>
          <p:cNvPr id="42" name="Shape 38"/>
          <p:cNvSpPr/>
          <p:nvPr/>
        </p:nvSpPr>
        <p:spPr>
          <a:xfrm>
            <a:off x="265176" y="534009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3" name="Text 39"/>
          <p:cNvSpPr/>
          <p:nvPr/>
        </p:nvSpPr>
        <p:spPr>
          <a:xfrm>
            <a:off x="320040" y="5358384"/>
            <a:ext cx="1368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44" name="Text 40"/>
          <p:cNvSpPr/>
          <p:nvPr/>
        </p:nvSpPr>
        <p:spPr>
          <a:xfrm>
            <a:off x="566572" y="5358384"/>
            <a:ext cx="37526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45" name="Text 41"/>
          <p:cNvSpPr/>
          <p:nvPr/>
        </p:nvSpPr>
        <p:spPr>
          <a:xfrm>
            <a:off x="4428902" y="5358384"/>
            <a:ext cx="876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OFFTAKE</a:t>
            </a:r>
            <a:endParaRPr lang="en-US" sz="660" dirty="0"/>
          </a:p>
        </p:txBody>
      </p:sp>
      <p:sp>
        <p:nvSpPr>
          <p:cNvPr id="46" name="Text 42"/>
          <p:cNvSpPr/>
          <p:nvPr/>
        </p:nvSpPr>
        <p:spPr>
          <a:xfrm>
            <a:off x="5415029" y="5358384"/>
            <a:ext cx="11229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660" dirty="0"/>
          </a:p>
        </p:txBody>
      </p:sp>
      <p:sp>
        <p:nvSpPr>
          <p:cNvPr id="47" name="Shape 43"/>
          <p:cNvSpPr/>
          <p:nvPr/>
        </p:nvSpPr>
        <p:spPr>
          <a:xfrm>
            <a:off x="265176" y="559612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48" name="Shape 44"/>
          <p:cNvSpPr/>
          <p:nvPr/>
        </p:nvSpPr>
        <p:spPr>
          <a:xfrm>
            <a:off x="265176" y="5907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320040" y="5596128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50" name="Text 46"/>
          <p:cNvSpPr/>
          <p:nvPr/>
        </p:nvSpPr>
        <p:spPr>
          <a:xfrm>
            <a:off x="566572" y="5596128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Face Wash 100 ml</a:t>
            </a:r>
            <a:endParaRPr lang="en-US" sz="720" dirty="0"/>
          </a:p>
        </p:txBody>
      </p:sp>
      <p:sp>
        <p:nvSpPr>
          <p:cNvPr id="51" name="Text 47"/>
          <p:cNvSpPr/>
          <p:nvPr/>
        </p:nvSpPr>
        <p:spPr>
          <a:xfrm>
            <a:off x="4428902" y="5596128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₹0.27 Cr</a:t>
            </a:r>
            <a:endParaRPr lang="en-US" sz="720" dirty="0"/>
          </a:p>
        </p:txBody>
      </p:sp>
      <p:sp>
        <p:nvSpPr>
          <p:cNvPr id="52" name="Text 48"/>
          <p:cNvSpPr/>
          <p:nvPr/>
        </p:nvSpPr>
        <p:spPr>
          <a:xfrm>
            <a:off x="5415029" y="5596128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— protect OSA</a:t>
            </a:r>
            <a:endParaRPr lang="en-US" sz="720" dirty="0"/>
          </a:p>
        </p:txBody>
      </p:sp>
      <p:sp>
        <p:nvSpPr>
          <p:cNvPr id="53" name="Shape 49"/>
          <p:cNvSpPr/>
          <p:nvPr/>
        </p:nvSpPr>
        <p:spPr>
          <a:xfrm>
            <a:off x="265176" y="621792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320040" y="5907024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55" name="Text 51"/>
          <p:cNvSpPr/>
          <p:nvPr/>
        </p:nvSpPr>
        <p:spPr>
          <a:xfrm>
            <a:off x="566572" y="5907024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Face Wash 50 ml</a:t>
            </a:r>
            <a:endParaRPr lang="en-US" sz="720" dirty="0"/>
          </a:p>
        </p:txBody>
      </p:sp>
      <p:sp>
        <p:nvSpPr>
          <p:cNvPr id="56" name="Text 52"/>
          <p:cNvSpPr/>
          <p:nvPr/>
        </p:nvSpPr>
        <p:spPr>
          <a:xfrm>
            <a:off x="4428902" y="5907024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 Cr</a:t>
            </a:r>
            <a:endParaRPr lang="en-US" sz="720" dirty="0"/>
          </a:p>
        </p:txBody>
      </p:sp>
      <p:sp>
        <p:nvSpPr>
          <p:cNvPr id="57" name="Text 53"/>
          <p:cNvSpPr/>
          <p:nvPr/>
        </p:nvSpPr>
        <p:spPr>
          <a:xfrm>
            <a:off x="5415029" y="5907024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— protect OSA</a:t>
            </a:r>
            <a:endParaRPr lang="en-US" sz="720" dirty="0"/>
          </a:p>
        </p:txBody>
      </p:sp>
      <p:sp>
        <p:nvSpPr>
          <p:cNvPr id="58" name="Shape 54"/>
          <p:cNvSpPr/>
          <p:nvPr/>
        </p:nvSpPr>
        <p:spPr>
          <a:xfrm>
            <a:off x="265176" y="6217920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9" name="Shape 55"/>
          <p:cNvSpPr/>
          <p:nvPr/>
        </p:nvSpPr>
        <p:spPr>
          <a:xfrm>
            <a:off x="265176" y="65288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0" name="Text 56"/>
          <p:cNvSpPr/>
          <p:nvPr/>
        </p:nvSpPr>
        <p:spPr>
          <a:xfrm>
            <a:off x="320040" y="6217920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61" name="Text 57"/>
          <p:cNvSpPr/>
          <p:nvPr/>
        </p:nvSpPr>
        <p:spPr>
          <a:xfrm>
            <a:off x="566572" y="6217920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Ubtan Natural Glow Face Wash with Turmeric</a:t>
            </a:r>
            <a:endParaRPr lang="en-US" sz="720" dirty="0"/>
          </a:p>
        </p:txBody>
      </p:sp>
      <p:sp>
        <p:nvSpPr>
          <p:cNvPr id="62" name="Text 58"/>
          <p:cNvSpPr/>
          <p:nvPr/>
        </p:nvSpPr>
        <p:spPr>
          <a:xfrm>
            <a:off x="4428902" y="6217920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 Cr</a:t>
            </a:r>
            <a:endParaRPr lang="en-US" sz="720" dirty="0"/>
          </a:p>
        </p:txBody>
      </p:sp>
      <p:sp>
        <p:nvSpPr>
          <p:cNvPr id="63" name="Text 59"/>
          <p:cNvSpPr/>
          <p:nvPr/>
        </p:nvSpPr>
        <p:spPr>
          <a:xfrm>
            <a:off x="5415029" y="6217920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64" name="Shape 60"/>
          <p:cNvSpPr/>
          <p:nvPr/>
        </p:nvSpPr>
        <p:spPr>
          <a:xfrm>
            <a:off x="265176" y="683971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5" name="Text 61"/>
          <p:cNvSpPr/>
          <p:nvPr/>
        </p:nvSpPr>
        <p:spPr>
          <a:xfrm>
            <a:off x="320040" y="6528816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66" name="Text 62"/>
          <p:cNvSpPr/>
          <p:nvPr/>
        </p:nvSpPr>
        <p:spPr>
          <a:xfrm>
            <a:off x="566572" y="6528816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Face Wash with Vitamin C</a:t>
            </a:r>
            <a:endParaRPr lang="en-US" sz="720" dirty="0"/>
          </a:p>
        </p:txBody>
      </p:sp>
      <p:sp>
        <p:nvSpPr>
          <p:cNvPr id="67" name="Text 63"/>
          <p:cNvSpPr/>
          <p:nvPr/>
        </p:nvSpPr>
        <p:spPr>
          <a:xfrm>
            <a:off x="4428902" y="6528816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 Cr</a:t>
            </a:r>
            <a:endParaRPr lang="en-US" sz="720" dirty="0"/>
          </a:p>
        </p:txBody>
      </p:sp>
      <p:sp>
        <p:nvSpPr>
          <p:cNvPr id="68" name="Text 64"/>
          <p:cNvSpPr/>
          <p:nvPr/>
        </p:nvSpPr>
        <p:spPr>
          <a:xfrm>
            <a:off x="5415029" y="6528816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69" name="Shape 65"/>
          <p:cNvSpPr/>
          <p:nvPr/>
        </p:nvSpPr>
        <p:spPr>
          <a:xfrm>
            <a:off x="265176" y="683971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70" name="Shape 66"/>
          <p:cNvSpPr/>
          <p:nvPr/>
        </p:nvSpPr>
        <p:spPr>
          <a:xfrm>
            <a:off x="265176" y="71506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1" name="Text 67"/>
          <p:cNvSpPr/>
          <p:nvPr/>
        </p:nvSpPr>
        <p:spPr>
          <a:xfrm>
            <a:off x="320040" y="6839712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72" name="Text 68"/>
          <p:cNvSpPr/>
          <p:nvPr/>
        </p:nvSpPr>
        <p:spPr>
          <a:xfrm>
            <a:off x="566572" y="6839712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Daily Glow Face Wash</a:t>
            </a:r>
            <a:endParaRPr lang="en-US" sz="720" dirty="0"/>
          </a:p>
        </p:txBody>
      </p:sp>
      <p:sp>
        <p:nvSpPr>
          <p:cNvPr id="73" name="Text 69"/>
          <p:cNvSpPr/>
          <p:nvPr/>
        </p:nvSpPr>
        <p:spPr>
          <a:xfrm>
            <a:off x="4428902" y="6839712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74" name="Text 70"/>
          <p:cNvSpPr/>
          <p:nvPr/>
        </p:nvSpPr>
        <p:spPr>
          <a:xfrm>
            <a:off x="5415029" y="6839712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75" name="Shape 71"/>
          <p:cNvSpPr/>
          <p:nvPr/>
        </p:nvSpPr>
        <p:spPr>
          <a:xfrm>
            <a:off x="265176" y="74615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6" name="Text 72"/>
          <p:cNvSpPr/>
          <p:nvPr/>
        </p:nvSpPr>
        <p:spPr>
          <a:xfrm>
            <a:off x="320040" y="7150608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77" name="Text 73"/>
          <p:cNvSpPr/>
          <p:nvPr/>
        </p:nvSpPr>
        <p:spPr>
          <a:xfrm>
            <a:off x="566572" y="7150608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Ubtan Natural Glow Face Wash 50 ml</a:t>
            </a:r>
            <a:endParaRPr lang="en-US" sz="720" dirty="0"/>
          </a:p>
        </p:txBody>
      </p:sp>
      <p:sp>
        <p:nvSpPr>
          <p:cNvPr id="78" name="Text 74"/>
          <p:cNvSpPr/>
          <p:nvPr/>
        </p:nvSpPr>
        <p:spPr>
          <a:xfrm>
            <a:off x="4428902" y="7150608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79" name="Text 75"/>
          <p:cNvSpPr/>
          <p:nvPr/>
        </p:nvSpPr>
        <p:spPr>
          <a:xfrm>
            <a:off x="5415029" y="7150608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pack</a:t>
            </a:r>
            <a:endParaRPr lang="en-US" sz="720" dirty="0"/>
          </a:p>
        </p:txBody>
      </p:sp>
      <p:sp>
        <p:nvSpPr>
          <p:cNvPr id="80" name="Shape 76"/>
          <p:cNvSpPr/>
          <p:nvPr/>
        </p:nvSpPr>
        <p:spPr>
          <a:xfrm>
            <a:off x="265176" y="746150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81" name="Shape 77"/>
          <p:cNvSpPr/>
          <p:nvPr/>
        </p:nvSpPr>
        <p:spPr>
          <a:xfrm>
            <a:off x="265176" y="77724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2" name="Text 78"/>
          <p:cNvSpPr/>
          <p:nvPr/>
        </p:nvSpPr>
        <p:spPr>
          <a:xfrm>
            <a:off x="320040" y="7461504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83" name="Text 79"/>
          <p:cNvSpPr/>
          <p:nvPr/>
        </p:nvSpPr>
        <p:spPr>
          <a:xfrm>
            <a:off x="566572" y="7461504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Daily Glow Sunscreen 50 g</a:t>
            </a:r>
            <a:endParaRPr lang="en-US" sz="720" dirty="0"/>
          </a:p>
        </p:txBody>
      </p:sp>
      <p:sp>
        <p:nvSpPr>
          <p:cNvPr id="84" name="Text 80"/>
          <p:cNvSpPr/>
          <p:nvPr/>
        </p:nvSpPr>
        <p:spPr>
          <a:xfrm>
            <a:off x="4428902" y="7461504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85" name="Text 81"/>
          <p:cNvSpPr/>
          <p:nvPr/>
        </p:nvSpPr>
        <p:spPr>
          <a:xfrm>
            <a:off x="5415029" y="7461504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</a:t>
            </a:r>
            <a:endParaRPr lang="en-US" sz="720" dirty="0"/>
          </a:p>
        </p:txBody>
      </p:sp>
      <p:sp>
        <p:nvSpPr>
          <p:cNvPr id="86" name="Shape 82"/>
          <p:cNvSpPr/>
          <p:nvPr/>
        </p:nvSpPr>
        <p:spPr>
          <a:xfrm>
            <a:off x="265176" y="808329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7" name="Text 83"/>
          <p:cNvSpPr/>
          <p:nvPr/>
        </p:nvSpPr>
        <p:spPr>
          <a:xfrm>
            <a:off x="320040" y="7772400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88" name="Text 84"/>
          <p:cNvSpPr/>
          <p:nvPr/>
        </p:nvSpPr>
        <p:spPr>
          <a:xfrm>
            <a:off x="566572" y="7772400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Onion Hair Fall Control Shampoo</a:t>
            </a:r>
            <a:endParaRPr lang="en-US" sz="720" dirty="0"/>
          </a:p>
        </p:txBody>
      </p:sp>
      <p:sp>
        <p:nvSpPr>
          <p:cNvPr id="89" name="Text 85"/>
          <p:cNvSpPr/>
          <p:nvPr/>
        </p:nvSpPr>
        <p:spPr>
          <a:xfrm>
            <a:off x="4428902" y="7772400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₹0.07 Cr</a:t>
            </a:r>
            <a:endParaRPr lang="en-US" sz="720" dirty="0"/>
          </a:p>
        </p:txBody>
      </p:sp>
      <p:sp>
        <p:nvSpPr>
          <p:cNvPr id="90" name="Text 86"/>
          <p:cNvSpPr/>
          <p:nvPr/>
        </p:nvSpPr>
        <p:spPr>
          <a:xfrm>
            <a:off x="5415029" y="7772400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Cross-category entry</a:t>
            </a:r>
            <a:endParaRPr lang="en-US" sz="720" dirty="0"/>
          </a:p>
        </p:txBody>
      </p:sp>
      <p:sp>
        <p:nvSpPr>
          <p:cNvPr id="91" name="Shape 87"/>
          <p:cNvSpPr/>
          <p:nvPr/>
        </p:nvSpPr>
        <p:spPr>
          <a:xfrm>
            <a:off x="265176" y="8266176"/>
            <a:ext cx="3090672" cy="1335024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>
            <a:off x="265176" y="8266176"/>
            <a:ext cx="3090672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93" name="Text 89"/>
          <p:cNvSpPr/>
          <p:nvPr/>
        </p:nvSpPr>
        <p:spPr>
          <a:xfrm>
            <a:off x="347472" y="82844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CALL</a:t>
            </a:r>
            <a:endParaRPr lang="en-US" sz="700" dirty="0"/>
          </a:p>
        </p:txBody>
      </p:sp>
      <p:sp>
        <p:nvSpPr>
          <p:cNvPr id="94" name="Shape 90"/>
          <p:cNvSpPr/>
          <p:nvPr/>
        </p:nvSpPr>
        <p:spPr>
          <a:xfrm>
            <a:off x="374904" y="870051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95" name="Text 91"/>
          <p:cNvSpPr/>
          <p:nvPr/>
        </p:nvSpPr>
        <p:spPr>
          <a:xfrm>
            <a:off x="493776" y="8650224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the two Rice Face Wash SKUs — 22% of account offtake.</a:t>
            </a:r>
            <a:endParaRPr lang="en-US" sz="720" dirty="0"/>
          </a:p>
        </p:txBody>
      </p:sp>
      <p:sp>
        <p:nvSpPr>
          <p:cNvPr id="96" name="Shape 92"/>
          <p:cNvSpPr/>
          <p:nvPr/>
        </p:nvSpPr>
        <p:spPr>
          <a:xfrm>
            <a:off x="374904" y="90114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97" name="Text 93"/>
          <p:cNvSpPr/>
          <p:nvPr/>
        </p:nvSpPr>
        <p:spPr>
          <a:xfrm>
            <a:off x="493776" y="8961120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the 4.6% June–July softness back to ₹2.17 Cr.</a:t>
            </a:r>
            <a:endParaRPr lang="en-US" sz="720" dirty="0"/>
          </a:p>
        </p:txBody>
      </p:sp>
      <p:sp>
        <p:nvSpPr>
          <p:cNvPr id="98" name="Shape 94"/>
          <p:cNvSpPr/>
          <p:nvPr/>
        </p:nvSpPr>
        <p:spPr>
          <a:xfrm>
            <a:off x="374904" y="932230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99" name="Text 95"/>
          <p:cNvSpPr/>
          <p:nvPr/>
        </p:nvSpPr>
        <p:spPr>
          <a:xfrm>
            <a:off x="493776" y="9272016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flow above 95% as the account benchmark.</a:t>
            </a:r>
            <a:endParaRPr lang="en-US" sz="720" dirty="0"/>
          </a:p>
        </p:txBody>
      </p:sp>
      <p:sp>
        <p:nvSpPr>
          <p:cNvPr id="100" name="Shape 96"/>
          <p:cNvSpPr/>
          <p:nvPr/>
        </p:nvSpPr>
        <p:spPr>
          <a:xfrm>
            <a:off x="3502152" y="8266176"/>
            <a:ext cx="3090672" cy="1335024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3502152" y="8266176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02" name="Text 98"/>
          <p:cNvSpPr/>
          <p:nvPr/>
        </p:nvSpPr>
        <p:spPr>
          <a:xfrm>
            <a:off x="3584448" y="82844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ACCOUNT CAREFULLY</a:t>
            </a:r>
            <a:endParaRPr lang="en-US" sz="700" dirty="0"/>
          </a:p>
        </p:txBody>
      </p:sp>
      <p:sp>
        <p:nvSpPr>
          <p:cNvPr id="103" name="Shape 99"/>
          <p:cNvSpPr/>
          <p:nvPr/>
        </p:nvSpPr>
        <p:spPr>
          <a:xfrm>
            <a:off x="3611880" y="870051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4" name="Text 100"/>
          <p:cNvSpPr/>
          <p:nvPr/>
        </p:nvSpPr>
        <p:spPr>
          <a:xfrm>
            <a:off x="3730752" y="8650224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and Nykaa SS are combined at article level — neither can be attributed.</a:t>
            </a:r>
            <a:endParaRPr lang="en-US" sz="720" dirty="0"/>
          </a:p>
        </p:txBody>
      </p:sp>
      <p:sp>
        <p:nvSpPr>
          <p:cNvPr id="105" name="Shape 101"/>
          <p:cNvSpPr/>
          <p:nvPr/>
        </p:nvSpPr>
        <p:spPr>
          <a:xfrm>
            <a:off x="3611880" y="90114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6" name="Text 102"/>
          <p:cNvSpPr/>
          <p:nvPr/>
        </p:nvSpPr>
        <p:spPr>
          <a:xfrm>
            <a:off x="3730752" y="8961120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replenishment is near real-time; 99.4% is not transferable to hypermarkets.</a:t>
            </a:r>
            <a:endParaRPr lang="en-US" sz="720" dirty="0"/>
          </a:p>
        </p:txBody>
      </p:sp>
      <p:sp>
        <p:nvSpPr>
          <p:cNvPr id="107" name="Shape 103"/>
          <p:cNvSpPr/>
          <p:nvPr/>
        </p:nvSpPr>
        <p:spPr>
          <a:xfrm>
            <a:off x="3611880" y="932230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8" name="Text 104"/>
          <p:cNvSpPr/>
          <p:nvPr/>
        </p:nvSpPr>
        <p:spPr>
          <a:xfrm>
            <a:off x="3730752" y="9272016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₹2.07 Cr must sit outside the geographic gap arithmetic.</a:t>
            </a:r>
            <a:endParaRPr lang="en-US" sz="7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NPI is ₹2.82 Cr — and 82% of it sits in the two accounts that convert worst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product introduction | contribution by zone and chain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365760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FC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gap = primary − offtake on comparable mapped cuts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265176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1" name="Text 19"/>
          <p:cNvSpPr/>
          <p:nvPr/>
        </p:nvSpPr>
        <p:spPr>
          <a:xfrm>
            <a:off x="420624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OFFTAKE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420624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₹2.82 Cr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20624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7.82% of July offtake</a:t>
            </a:r>
            <a:endParaRPr lang="en-US" sz="680" dirty="0"/>
          </a:p>
        </p:txBody>
      </p:sp>
      <p:sp>
        <p:nvSpPr>
          <p:cNvPr id="24" name="Shape 22"/>
          <p:cNvSpPr/>
          <p:nvPr/>
        </p:nvSpPr>
        <p:spPr>
          <a:xfrm>
            <a:off x="2410968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1096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6" name="Text 24"/>
          <p:cNvSpPr/>
          <p:nvPr/>
        </p:nvSpPr>
        <p:spPr>
          <a:xfrm>
            <a:off x="2566416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TWO ACCOUNTS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566416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82.4%</a:t>
            </a:r>
            <a:endParaRPr lang="en-US" sz="1750" dirty="0"/>
          </a:p>
        </p:txBody>
      </p:sp>
      <p:sp>
        <p:nvSpPr>
          <p:cNvPr id="28" name="Text 26"/>
          <p:cNvSpPr/>
          <p:nvPr/>
        </p:nvSpPr>
        <p:spPr>
          <a:xfrm>
            <a:off x="2566416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47.1% + DMart 35.3%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4556760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56760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31" name="Text 29"/>
          <p:cNvSpPr/>
          <p:nvPr/>
        </p:nvSpPr>
        <p:spPr>
          <a:xfrm>
            <a:off x="4712208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EANs</a:t>
            </a:r>
            <a:endParaRPr lang="en-US" sz="680" dirty="0"/>
          </a:p>
        </p:txBody>
      </p:sp>
      <p:sp>
        <p:nvSpPr>
          <p:cNvPr id="32" name="Text 30"/>
          <p:cNvSpPr/>
          <p:nvPr/>
        </p:nvSpPr>
        <p:spPr>
          <a:xfrm>
            <a:off x="4712208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58 / 60</a:t>
            </a:r>
            <a:endParaRPr lang="en-US" sz="1750" dirty="0"/>
          </a:p>
        </p:txBody>
      </p:sp>
      <p:sp>
        <p:nvSpPr>
          <p:cNvPr id="33" name="Text 31"/>
          <p:cNvSpPr/>
          <p:nvPr/>
        </p:nvSpPr>
        <p:spPr>
          <a:xfrm>
            <a:off x="4712208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finalised with zero sale</a:t>
            </a:r>
            <a:endParaRPr lang="en-US" sz="680" dirty="0"/>
          </a:p>
        </p:txBody>
      </p:sp>
      <p:sp>
        <p:nvSpPr>
          <p:cNvPr id="34" name="Shape 32"/>
          <p:cNvSpPr/>
          <p:nvPr/>
        </p:nvSpPr>
        <p:spPr>
          <a:xfrm>
            <a:off x="265176" y="2231136"/>
            <a:ext cx="6327648" cy="713232"/>
          </a:xfrm>
          <a:prstGeom prst="roundRect">
            <a:avLst>
              <a:gd name="adj" fmla="val 3846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1480" y="230428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New products are being launched through the weakest pipes in the network.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4632" y="2578608"/>
            <a:ext cx="5888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holds 47.1% of all NPI value and converts at 51.4%. East runs the highest NPI mix in the country (10.2%) on the worst flow (45.3%). A launch that fails here will be read as a product failure when it is a flow failure.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265176" y="3090672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mix by zone (%), coloured by zone flow conversion</a:t>
            </a:r>
            <a:endParaRPr lang="en-US" sz="720" dirty="0"/>
          </a:p>
        </p:txBody>
      </p:sp>
      <p:graphicFrame>
        <p:nvGraphicFramePr>
          <p:cNvPr id="38" name="Chart 0" descr=""/>
          <p:cNvGraphicFramePr/>
          <p:nvPr/>
        </p:nvGraphicFramePr>
        <p:xfrm>
          <a:off x="246888" y="3291840"/>
          <a:ext cx="3090672" cy="19751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9" name="Text 36"/>
          <p:cNvSpPr/>
          <p:nvPr/>
        </p:nvSpPr>
        <p:spPr>
          <a:xfrm>
            <a:off x="265176" y="530352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colour is zone flow conversion: green above 78%, amber 70–78%, red below 60%. The two red zones carry the highest NPI exposure.</a:t>
            </a:r>
            <a:endParaRPr lang="en-US" sz="640" dirty="0"/>
          </a:p>
        </p:txBody>
      </p:sp>
      <p:sp>
        <p:nvSpPr>
          <p:cNvPr id="40" name="Text 37"/>
          <p:cNvSpPr/>
          <p:nvPr/>
        </p:nvSpPr>
        <p:spPr>
          <a:xfrm>
            <a:off x="3502152" y="3090672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offtake by chain (₹ Cr)</a:t>
            </a:r>
            <a:endParaRPr lang="en-US" sz="720" dirty="0"/>
          </a:p>
        </p:txBody>
      </p:sp>
      <p:graphicFrame>
        <p:nvGraphicFramePr>
          <p:cNvPr id="41" name="Chart 1" descr=""/>
          <p:cNvGraphicFramePr/>
          <p:nvPr/>
        </p:nvGraphicFramePr>
        <p:xfrm>
          <a:off x="3447288" y="3291840"/>
          <a:ext cx="3127248" cy="19751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2" name="Text 38"/>
          <p:cNvSpPr/>
          <p:nvPr/>
        </p:nvSpPr>
        <p:spPr>
          <a:xfrm>
            <a:off x="3502152" y="530352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₹1.30 Cr and DMart ₹0.98 Cr together are 82.4% of all NPI value. Converted from a source series reported in ₹ lakh.</a:t>
            </a:r>
            <a:endParaRPr lang="en-US" sz="640" dirty="0"/>
          </a:p>
        </p:txBody>
      </p:sp>
      <p:sp>
        <p:nvSpPr>
          <p:cNvPr id="43" name="Shape 39"/>
          <p:cNvSpPr/>
          <p:nvPr/>
        </p:nvSpPr>
        <p:spPr>
          <a:xfrm>
            <a:off x="265176" y="56144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4" name="Text 40"/>
          <p:cNvSpPr/>
          <p:nvPr/>
        </p:nvSpPr>
        <p:spPr>
          <a:xfrm>
            <a:off x="374904" y="563270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NPI ARTICLES — FULL NAMES, JULY OFFTAKE</a:t>
            </a:r>
            <a:endParaRPr lang="en-US" sz="720" dirty="0"/>
          </a:p>
        </p:txBody>
      </p:sp>
      <p:sp>
        <p:nvSpPr>
          <p:cNvPr id="45" name="Shape 41"/>
          <p:cNvSpPr/>
          <p:nvPr/>
        </p:nvSpPr>
        <p:spPr>
          <a:xfrm>
            <a:off x="265176" y="596188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6" name="Text 42"/>
          <p:cNvSpPr/>
          <p:nvPr/>
        </p:nvSpPr>
        <p:spPr>
          <a:xfrm>
            <a:off x="320040" y="5980176"/>
            <a:ext cx="1095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47" name="Text 43"/>
          <p:cNvSpPr/>
          <p:nvPr/>
        </p:nvSpPr>
        <p:spPr>
          <a:xfrm>
            <a:off x="539315" y="5980176"/>
            <a:ext cx="2317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48" name="Text 44"/>
          <p:cNvSpPr/>
          <p:nvPr/>
        </p:nvSpPr>
        <p:spPr>
          <a:xfrm>
            <a:off x="2967002" y="5980176"/>
            <a:ext cx="4071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49" name="Text 45"/>
          <p:cNvSpPr/>
          <p:nvPr/>
        </p:nvSpPr>
        <p:spPr>
          <a:xfrm>
            <a:off x="3483864" y="5980176"/>
            <a:ext cx="1095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50" name="Text 46"/>
          <p:cNvSpPr/>
          <p:nvPr/>
        </p:nvSpPr>
        <p:spPr>
          <a:xfrm>
            <a:off x="3703139" y="5980176"/>
            <a:ext cx="2317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51" name="Text 47"/>
          <p:cNvSpPr/>
          <p:nvPr/>
        </p:nvSpPr>
        <p:spPr>
          <a:xfrm>
            <a:off x="6130826" y="5980176"/>
            <a:ext cx="4071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52" name="Shape 48"/>
          <p:cNvSpPr/>
          <p:nvPr/>
        </p:nvSpPr>
        <p:spPr>
          <a:xfrm>
            <a:off x="265176" y="6217920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3" name="Shape 49"/>
          <p:cNvSpPr/>
          <p:nvPr/>
        </p:nvSpPr>
        <p:spPr>
          <a:xfrm>
            <a:off x="265176" y="64922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320040" y="621792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539315" y="621792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Onion Hair Fall Control Shampoo</a:t>
            </a:r>
            <a:endParaRPr lang="en-US" sz="700" dirty="0"/>
          </a:p>
        </p:txBody>
      </p:sp>
      <p:sp>
        <p:nvSpPr>
          <p:cNvPr id="56" name="Text 52"/>
          <p:cNvSpPr/>
          <p:nvPr/>
        </p:nvSpPr>
        <p:spPr>
          <a:xfrm>
            <a:off x="2967002" y="621792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0.31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3483864" y="621792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3703139" y="621792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Onion Hair Oil 200 ml</a:t>
            </a:r>
            <a:endParaRPr lang="en-US" sz="700" dirty="0"/>
          </a:p>
        </p:txBody>
      </p:sp>
      <p:sp>
        <p:nvSpPr>
          <p:cNvPr id="59" name="Text 55"/>
          <p:cNvSpPr/>
          <p:nvPr/>
        </p:nvSpPr>
        <p:spPr>
          <a:xfrm>
            <a:off x="6130826" y="621792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</a:t>
            </a:r>
            <a:endParaRPr lang="en-US" sz="700" dirty="0"/>
          </a:p>
        </p:txBody>
      </p:sp>
      <p:sp>
        <p:nvSpPr>
          <p:cNvPr id="60" name="Shape 56"/>
          <p:cNvSpPr/>
          <p:nvPr/>
        </p:nvSpPr>
        <p:spPr>
          <a:xfrm>
            <a:off x="265176" y="67665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1" name="Text 57"/>
          <p:cNvSpPr/>
          <p:nvPr/>
        </p:nvSpPr>
        <p:spPr>
          <a:xfrm>
            <a:off x="320040" y="649224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539315" y="649224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Gentle Cleansing Shampoo 400 ml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2967002" y="649224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0.21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3483864" y="649224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03139" y="649224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Multani Mitti Face Wash 100 ml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6130826" y="649224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endParaRPr lang="en-US" sz="700" dirty="0"/>
          </a:p>
        </p:txBody>
      </p:sp>
      <p:sp>
        <p:nvSpPr>
          <p:cNvPr id="67" name="Shape 63"/>
          <p:cNvSpPr/>
          <p:nvPr/>
        </p:nvSpPr>
        <p:spPr>
          <a:xfrm>
            <a:off x="265176" y="6766560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68" name="Shape 64"/>
          <p:cNvSpPr/>
          <p:nvPr/>
        </p:nvSpPr>
        <p:spPr>
          <a:xfrm>
            <a:off x="265176" y="704088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9" name="Text 65"/>
          <p:cNvSpPr/>
          <p:nvPr/>
        </p:nvSpPr>
        <p:spPr>
          <a:xfrm>
            <a:off x="320040" y="676656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70" name="Text 66"/>
          <p:cNvSpPr/>
          <p:nvPr/>
        </p:nvSpPr>
        <p:spPr>
          <a:xfrm>
            <a:off x="539315" y="676656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Vitamin C Daily Glow Sunscreen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2967002" y="676656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endParaRPr lang="en-US" sz="700" dirty="0"/>
          </a:p>
        </p:txBody>
      </p:sp>
      <p:sp>
        <p:nvSpPr>
          <p:cNvPr id="72" name="Text 68"/>
          <p:cNvSpPr/>
          <p:nvPr/>
        </p:nvSpPr>
        <p:spPr>
          <a:xfrm>
            <a:off x="3483864" y="676656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00" dirty="0"/>
          </a:p>
        </p:txBody>
      </p:sp>
      <p:sp>
        <p:nvSpPr>
          <p:cNvPr id="73" name="Text 69"/>
          <p:cNvSpPr/>
          <p:nvPr/>
        </p:nvSpPr>
        <p:spPr>
          <a:xfrm>
            <a:off x="3703139" y="676656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Lemon Anti-Dandruff Shampoo</a:t>
            </a:r>
            <a:endParaRPr lang="en-US" sz="700" dirty="0"/>
          </a:p>
        </p:txBody>
      </p:sp>
      <p:sp>
        <p:nvSpPr>
          <p:cNvPr id="74" name="Text 70"/>
          <p:cNvSpPr/>
          <p:nvPr/>
        </p:nvSpPr>
        <p:spPr>
          <a:xfrm>
            <a:off x="6130826" y="676656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</a:t>
            </a:r>
            <a:endParaRPr lang="en-US" sz="700" dirty="0"/>
          </a:p>
        </p:txBody>
      </p:sp>
      <p:sp>
        <p:nvSpPr>
          <p:cNvPr id="75" name="Shape 71"/>
          <p:cNvSpPr/>
          <p:nvPr/>
        </p:nvSpPr>
        <p:spPr>
          <a:xfrm>
            <a:off x="265176" y="73152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6" name="Text 72"/>
          <p:cNvSpPr/>
          <p:nvPr/>
        </p:nvSpPr>
        <p:spPr>
          <a:xfrm>
            <a:off x="320040" y="704088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00" dirty="0"/>
          </a:p>
        </p:txBody>
      </p:sp>
      <p:sp>
        <p:nvSpPr>
          <p:cNvPr id="77" name="Text 73"/>
          <p:cNvSpPr/>
          <p:nvPr/>
        </p:nvSpPr>
        <p:spPr>
          <a:xfrm>
            <a:off x="539315" y="704088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Rosemary Anti-Hair Fall Shampoo</a:t>
            </a:r>
            <a:endParaRPr lang="en-US" sz="700" dirty="0"/>
          </a:p>
        </p:txBody>
      </p:sp>
      <p:sp>
        <p:nvSpPr>
          <p:cNvPr id="78" name="Text 74"/>
          <p:cNvSpPr/>
          <p:nvPr/>
        </p:nvSpPr>
        <p:spPr>
          <a:xfrm>
            <a:off x="2967002" y="704088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79" name="Text 75"/>
          <p:cNvSpPr/>
          <p:nvPr/>
        </p:nvSpPr>
        <p:spPr>
          <a:xfrm>
            <a:off x="3483864" y="704088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00" dirty="0"/>
          </a:p>
        </p:txBody>
      </p:sp>
      <p:sp>
        <p:nvSpPr>
          <p:cNvPr id="80" name="Text 76"/>
          <p:cNvSpPr/>
          <p:nvPr/>
        </p:nvSpPr>
        <p:spPr>
          <a:xfrm>
            <a:off x="3703139" y="704088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Rice Water Dewy Sunscreen 80 g</a:t>
            </a:r>
            <a:endParaRPr lang="en-US" sz="700" dirty="0"/>
          </a:p>
        </p:txBody>
      </p:sp>
      <p:sp>
        <p:nvSpPr>
          <p:cNvPr id="81" name="Text 77"/>
          <p:cNvSpPr/>
          <p:nvPr/>
        </p:nvSpPr>
        <p:spPr>
          <a:xfrm>
            <a:off x="6130826" y="704088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82" name="Shape 78"/>
          <p:cNvSpPr/>
          <p:nvPr/>
        </p:nvSpPr>
        <p:spPr>
          <a:xfrm>
            <a:off x="265176" y="7498080"/>
            <a:ext cx="3090672" cy="1481328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>
            <a:off x="265176" y="7498080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84" name="Text 80"/>
          <p:cNvSpPr/>
          <p:nvPr/>
        </p:nvSpPr>
        <p:spPr>
          <a:xfrm>
            <a:off x="347472" y="75163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ZERO-SALE FINALISED EANs</a:t>
            </a:r>
            <a:endParaRPr lang="en-US" sz="700" dirty="0"/>
          </a:p>
        </p:txBody>
      </p:sp>
      <p:sp>
        <p:nvSpPr>
          <p:cNvPr id="85" name="Shape 81"/>
          <p:cNvSpPr/>
          <p:nvPr/>
        </p:nvSpPr>
        <p:spPr>
          <a:xfrm>
            <a:off x="374904" y="795070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86" name="Text 82"/>
          <p:cNvSpPr/>
          <p:nvPr/>
        </p:nvSpPr>
        <p:spPr>
          <a:xfrm>
            <a:off x="493776" y="7900416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BBLUNT Cherry Red Hair Colour 130 g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374904" y="827989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88" name="Text 84"/>
          <p:cNvSpPr/>
          <p:nvPr/>
        </p:nvSpPr>
        <p:spPr>
          <a:xfrm>
            <a:off x="493776" y="8229600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20% Actives Peptide–Stem Cell Hair Serum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374904" y="860907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90" name="Text 86"/>
          <p:cNvSpPr/>
          <p:nvPr/>
        </p:nvSpPr>
        <p:spPr>
          <a:xfrm>
            <a:off x="493776" y="8558784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listing, stock receipt, OSA and launch visibility before any further loading.</a:t>
            </a:r>
            <a:endParaRPr lang="en-US" sz="720" dirty="0"/>
          </a:p>
        </p:txBody>
      </p:sp>
      <p:sp>
        <p:nvSpPr>
          <p:cNvPr id="91" name="Shape 87"/>
          <p:cNvSpPr/>
          <p:nvPr/>
        </p:nvSpPr>
        <p:spPr>
          <a:xfrm>
            <a:off x="3502152" y="7498080"/>
            <a:ext cx="3090672" cy="1481328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>
            <a:off x="3502152" y="7498080"/>
            <a:ext cx="3090672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93" name="Text 89"/>
          <p:cNvSpPr/>
          <p:nvPr/>
        </p:nvSpPr>
        <p:spPr>
          <a:xfrm>
            <a:off x="3584448" y="75163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RULE</a:t>
            </a:r>
            <a:endParaRPr lang="en-US" sz="700" dirty="0"/>
          </a:p>
        </p:txBody>
      </p:sp>
      <p:sp>
        <p:nvSpPr>
          <p:cNvPr id="94" name="Shape 90"/>
          <p:cNvSpPr/>
          <p:nvPr/>
        </p:nvSpPr>
        <p:spPr>
          <a:xfrm>
            <a:off x="3611880" y="7950708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95" name="Text 91"/>
          <p:cNvSpPr/>
          <p:nvPr/>
        </p:nvSpPr>
        <p:spPr>
          <a:xfrm>
            <a:off x="3730752" y="7900416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until conversion clears 60%.</a:t>
            </a:r>
            <a:endParaRPr lang="en-US" sz="720" dirty="0"/>
          </a:p>
        </p:txBody>
      </p:sp>
      <p:sp>
        <p:nvSpPr>
          <p:cNvPr id="96" name="Shape 92"/>
          <p:cNvSpPr/>
          <p:nvPr/>
        </p:nvSpPr>
        <p:spPr>
          <a:xfrm>
            <a:off x="3611880" y="827989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97" name="Text 93"/>
          <p:cNvSpPr/>
          <p:nvPr/>
        </p:nvSpPr>
        <p:spPr>
          <a:xfrm>
            <a:off x="3730752" y="8229600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North NPI allocation until conversion clears 70%.</a:t>
            </a:r>
            <a:endParaRPr lang="en-US" sz="720" dirty="0"/>
          </a:p>
        </p:txBody>
      </p:sp>
      <p:sp>
        <p:nvSpPr>
          <p:cNvPr id="98" name="Shape 94"/>
          <p:cNvSpPr/>
          <p:nvPr/>
        </p:nvSpPr>
        <p:spPr>
          <a:xfrm>
            <a:off x="3611880" y="860907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99" name="Text 95"/>
          <p:cNvSpPr/>
          <p:nvPr/>
        </p:nvSpPr>
        <p:spPr>
          <a:xfrm>
            <a:off x="3730752" y="8558784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new launches through West, South-1 and Apollo first — the pipes that already convert.</a:t>
            </a:r>
            <a:endParaRPr lang="en-US" sz="720" dirty="0"/>
          </a:p>
        </p:txBody>
      </p:sp>
      <p:sp>
        <p:nvSpPr>
          <p:cNvPr id="100" name="Shape 96"/>
          <p:cNvSpPr/>
          <p:nvPr/>
        </p:nvSpPr>
        <p:spPr>
          <a:xfrm>
            <a:off x="265176" y="9107424"/>
            <a:ext cx="6327648" cy="566928"/>
          </a:xfrm>
          <a:prstGeom prst="roundRect">
            <a:avLst>
              <a:gd name="adj" fmla="val 4839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101" name="Text 97"/>
          <p:cNvSpPr/>
          <p:nvPr/>
        </p:nvSpPr>
        <p:spPr>
          <a:xfrm>
            <a:off x="393192" y="9180576"/>
            <a:ext cx="607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THAT IS MISSING   </a:t>
            </a:r>
            <a:pPr indent="0" marL="0">
              <a:lnSpc>
                <a:spcPct val="94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is currently judged on offtake alone, which cannot separate a weak product from a weak pipe. Report every launch as offtake per selling store against the zone conversion it was placed into. Until that split exists, a slow NPI in East and a slow NPI in West look identical on this page — and they need opposite decisions.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Three chains hold ₹13.27 Cr of gap; three more hide ₹2.23 Cr behind unmapped primary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deep dive | gross positive and gross negative gap | July 2026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365760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FC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gap = primary − offtake on comparable mapped cuts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265176" y="1261872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chain (₹ Cr) — Lulu bills through an unmapped route</a:t>
            </a:r>
            <a:endParaRPr lang="en-US" sz="72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246888" y="1481328"/>
          <a:ext cx="6327648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Shape 18"/>
          <p:cNvSpPr/>
          <p:nvPr/>
        </p:nvSpPr>
        <p:spPr>
          <a:xfrm>
            <a:off x="265176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65176" y="3694176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3" name="Text 20"/>
          <p:cNvSpPr/>
          <p:nvPr/>
        </p:nvSpPr>
        <p:spPr>
          <a:xfrm>
            <a:off x="347472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356616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₹7.61 Cr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356616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 conversion — largest single gap</a:t>
            </a:r>
            <a:endParaRPr lang="en-US" sz="660" dirty="0"/>
          </a:p>
        </p:txBody>
      </p:sp>
      <p:sp>
        <p:nvSpPr>
          <p:cNvPr id="26" name="Shape 23"/>
          <p:cNvSpPr/>
          <p:nvPr/>
        </p:nvSpPr>
        <p:spPr>
          <a:xfrm>
            <a:off x="2410968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410968" y="36941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28" name="Text 25"/>
          <p:cNvSpPr/>
          <p:nvPr/>
        </p:nvSpPr>
        <p:spPr>
          <a:xfrm>
            <a:off x="2493264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502408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₹4.29 Cr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2502408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 conversion — concentrated in South-2</a:t>
            </a:r>
            <a:endParaRPr lang="en-US" sz="660" dirty="0"/>
          </a:p>
        </p:txBody>
      </p:sp>
      <p:sp>
        <p:nvSpPr>
          <p:cNvPr id="31" name="Shape 28"/>
          <p:cNvSpPr/>
          <p:nvPr/>
        </p:nvSpPr>
        <p:spPr>
          <a:xfrm>
            <a:off x="4556760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556760" y="3694176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3" name="Text 30"/>
          <p:cNvSpPr/>
          <p:nvPr/>
        </p:nvSpPr>
        <p:spPr>
          <a:xfrm>
            <a:off x="4639056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34" name="Text 31"/>
          <p:cNvSpPr/>
          <p:nvPr/>
        </p:nvSpPr>
        <p:spPr>
          <a:xfrm>
            <a:off x="4648200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99.7%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4648200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parity, but zone figures need reconciling</a:t>
            </a:r>
            <a:endParaRPr lang="en-US" sz="660" dirty="0"/>
          </a:p>
        </p:txBody>
      </p:sp>
      <p:sp>
        <p:nvSpPr>
          <p:cNvPr id="36" name="Shape 33"/>
          <p:cNvSpPr/>
          <p:nvPr/>
        </p:nvSpPr>
        <p:spPr>
          <a:xfrm>
            <a:off x="265176" y="4773168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37" name="Text 34"/>
          <p:cNvSpPr/>
          <p:nvPr/>
        </p:nvSpPr>
        <p:spPr>
          <a:xfrm>
            <a:off x="374904" y="479145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GAP — POSITIVE AND NEGATIVE REPORTED SEPARATELY</a:t>
            </a:r>
            <a:endParaRPr lang="en-US" sz="720" dirty="0"/>
          </a:p>
        </p:txBody>
      </p:sp>
      <p:sp>
        <p:nvSpPr>
          <p:cNvPr id="38" name="Shape 35"/>
          <p:cNvSpPr/>
          <p:nvPr/>
        </p:nvSpPr>
        <p:spPr>
          <a:xfrm>
            <a:off x="265176" y="512064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9" name="Text 36"/>
          <p:cNvSpPr/>
          <p:nvPr/>
        </p:nvSpPr>
        <p:spPr>
          <a:xfrm>
            <a:off x="320040" y="5138928"/>
            <a:ext cx="1332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40" name="Text 37"/>
          <p:cNvSpPr/>
          <p:nvPr/>
        </p:nvSpPr>
        <p:spPr>
          <a:xfrm>
            <a:off x="1761783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41" name="Text 38"/>
          <p:cNvSpPr/>
          <p:nvPr/>
        </p:nvSpPr>
        <p:spPr>
          <a:xfrm>
            <a:off x="2562751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42" name="Text 39"/>
          <p:cNvSpPr/>
          <p:nvPr/>
        </p:nvSpPr>
        <p:spPr>
          <a:xfrm>
            <a:off x="3363719" y="5138928"/>
            <a:ext cx="651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60" dirty="0"/>
          </a:p>
        </p:txBody>
      </p:sp>
      <p:sp>
        <p:nvSpPr>
          <p:cNvPr id="43" name="Text 40"/>
          <p:cNvSpPr/>
          <p:nvPr/>
        </p:nvSpPr>
        <p:spPr>
          <a:xfrm>
            <a:off x="4124638" y="5138928"/>
            <a:ext cx="571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44" name="Text 41"/>
          <p:cNvSpPr/>
          <p:nvPr/>
        </p:nvSpPr>
        <p:spPr>
          <a:xfrm>
            <a:off x="4805461" y="5138928"/>
            <a:ext cx="17324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45" name="Shape 42"/>
          <p:cNvSpPr/>
          <p:nvPr/>
        </p:nvSpPr>
        <p:spPr>
          <a:xfrm>
            <a:off x="265176" y="537667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46" name="Shape 43"/>
          <p:cNvSpPr/>
          <p:nvPr/>
        </p:nvSpPr>
        <p:spPr>
          <a:xfrm>
            <a:off x="265176" y="5687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320040" y="537667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48" name="Text 45"/>
          <p:cNvSpPr/>
          <p:nvPr/>
        </p:nvSpPr>
        <p:spPr>
          <a:xfrm>
            <a:off x="1761783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15.66</a:t>
            </a:r>
            <a:endParaRPr lang="en-US" sz="720" dirty="0"/>
          </a:p>
        </p:txBody>
      </p:sp>
      <p:sp>
        <p:nvSpPr>
          <p:cNvPr id="49" name="Text 46"/>
          <p:cNvSpPr/>
          <p:nvPr/>
        </p:nvSpPr>
        <p:spPr>
          <a:xfrm>
            <a:off x="2562751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8.06</a:t>
            </a:r>
            <a:endParaRPr lang="en-US" sz="720" dirty="0"/>
          </a:p>
        </p:txBody>
      </p:sp>
      <p:sp>
        <p:nvSpPr>
          <p:cNvPr id="50" name="Text 47"/>
          <p:cNvSpPr/>
          <p:nvPr/>
        </p:nvSpPr>
        <p:spPr>
          <a:xfrm>
            <a:off x="3363719" y="537667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+7.61</a:t>
            </a:r>
            <a:endParaRPr lang="en-US" sz="720" dirty="0"/>
          </a:p>
        </p:txBody>
      </p:sp>
      <p:sp>
        <p:nvSpPr>
          <p:cNvPr id="51" name="Text 48"/>
          <p:cNvSpPr/>
          <p:nvPr/>
        </p:nvSpPr>
        <p:spPr>
          <a:xfrm>
            <a:off x="4124638" y="537667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52" name="Text 49"/>
          <p:cNvSpPr/>
          <p:nvPr/>
        </p:nvSpPr>
        <p:spPr>
          <a:xfrm>
            <a:off x="4805461" y="537667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and unsold — recover</a:t>
            </a:r>
            <a:endParaRPr lang="en-US" sz="720" dirty="0"/>
          </a:p>
        </p:txBody>
      </p:sp>
      <p:sp>
        <p:nvSpPr>
          <p:cNvPr id="53" name="Shape 50"/>
          <p:cNvSpPr/>
          <p:nvPr/>
        </p:nvSpPr>
        <p:spPr>
          <a:xfrm>
            <a:off x="265176" y="59984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320040" y="5687568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20" dirty="0"/>
          </a:p>
        </p:txBody>
      </p:sp>
      <p:sp>
        <p:nvSpPr>
          <p:cNvPr id="55" name="Text 52"/>
          <p:cNvSpPr/>
          <p:nvPr/>
        </p:nvSpPr>
        <p:spPr>
          <a:xfrm>
            <a:off x="1761783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18.25</a:t>
            </a:r>
            <a:endParaRPr lang="en-US" sz="720" dirty="0"/>
          </a:p>
        </p:txBody>
      </p:sp>
      <p:sp>
        <p:nvSpPr>
          <p:cNvPr id="56" name="Text 53"/>
          <p:cNvSpPr/>
          <p:nvPr/>
        </p:nvSpPr>
        <p:spPr>
          <a:xfrm>
            <a:off x="2562751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13.97</a:t>
            </a:r>
            <a:endParaRPr lang="en-US" sz="720" dirty="0"/>
          </a:p>
        </p:txBody>
      </p:sp>
      <p:sp>
        <p:nvSpPr>
          <p:cNvPr id="57" name="Text 54"/>
          <p:cNvSpPr/>
          <p:nvPr/>
        </p:nvSpPr>
        <p:spPr>
          <a:xfrm>
            <a:off x="3363719" y="5687568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+4.29</a:t>
            </a:r>
            <a:endParaRPr lang="en-US" sz="720" dirty="0"/>
          </a:p>
        </p:txBody>
      </p:sp>
      <p:sp>
        <p:nvSpPr>
          <p:cNvPr id="58" name="Text 55"/>
          <p:cNvSpPr/>
          <p:nvPr/>
        </p:nvSpPr>
        <p:spPr>
          <a:xfrm>
            <a:off x="4124638" y="5687568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</a:t>
            </a:r>
            <a:endParaRPr lang="en-US" sz="720" dirty="0"/>
          </a:p>
        </p:txBody>
      </p:sp>
      <p:sp>
        <p:nvSpPr>
          <p:cNvPr id="59" name="Text 56"/>
          <p:cNvSpPr/>
          <p:nvPr/>
        </p:nvSpPr>
        <p:spPr>
          <a:xfrm>
            <a:off x="4805461" y="5687568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Recover, concentrated in South-2</a:t>
            </a:r>
            <a:endParaRPr lang="en-US" sz="720" dirty="0"/>
          </a:p>
        </p:txBody>
      </p:sp>
      <p:sp>
        <p:nvSpPr>
          <p:cNvPr id="60" name="Shape 57"/>
          <p:cNvSpPr/>
          <p:nvPr/>
        </p:nvSpPr>
        <p:spPr>
          <a:xfrm>
            <a:off x="265176" y="59984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61" name="Shape 58"/>
          <p:cNvSpPr/>
          <p:nvPr/>
        </p:nvSpPr>
        <p:spPr>
          <a:xfrm>
            <a:off x="265176" y="63093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320040" y="5998464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20" dirty="0"/>
          </a:p>
        </p:txBody>
      </p:sp>
      <p:sp>
        <p:nvSpPr>
          <p:cNvPr id="63" name="Text 60"/>
          <p:cNvSpPr/>
          <p:nvPr/>
        </p:nvSpPr>
        <p:spPr>
          <a:xfrm>
            <a:off x="1761783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1.84</a:t>
            </a:r>
            <a:endParaRPr lang="en-US" sz="720" dirty="0"/>
          </a:p>
        </p:txBody>
      </p:sp>
      <p:sp>
        <p:nvSpPr>
          <p:cNvPr id="64" name="Text 61"/>
          <p:cNvSpPr/>
          <p:nvPr/>
        </p:nvSpPr>
        <p:spPr>
          <a:xfrm>
            <a:off x="2562751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720" dirty="0"/>
          </a:p>
        </p:txBody>
      </p:sp>
      <p:sp>
        <p:nvSpPr>
          <p:cNvPr id="65" name="Text 62"/>
          <p:cNvSpPr/>
          <p:nvPr/>
        </p:nvSpPr>
        <p:spPr>
          <a:xfrm>
            <a:off x="3363719" y="5998464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+1.36</a:t>
            </a:r>
            <a:endParaRPr lang="en-US" sz="720" dirty="0"/>
          </a:p>
        </p:txBody>
      </p:sp>
      <p:sp>
        <p:nvSpPr>
          <p:cNvPr id="66" name="Text 63"/>
          <p:cNvSpPr/>
          <p:nvPr/>
        </p:nvSpPr>
        <p:spPr>
          <a:xfrm>
            <a:off x="4124638" y="5998464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26.5%</a:t>
            </a:r>
            <a:endParaRPr lang="en-US" sz="720" dirty="0"/>
          </a:p>
        </p:txBody>
      </p:sp>
      <p:sp>
        <p:nvSpPr>
          <p:cNvPr id="67" name="Text 64"/>
          <p:cNvSpPr/>
          <p:nvPr/>
        </p:nvSpPr>
        <p:spPr>
          <a:xfrm>
            <a:off x="4805461" y="5998464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dilution, small base</a:t>
            </a:r>
            <a:endParaRPr lang="en-US" sz="720" dirty="0"/>
          </a:p>
        </p:txBody>
      </p:sp>
      <p:sp>
        <p:nvSpPr>
          <p:cNvPr id="68" name="Shape 65"/>
          <p:cNvSpPr/>
          <p:nvPr/>
        </p:nvSpPr>
        <p:spPr>
          <a:xfrm>
            <a:off x="265176" y="66202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320040" y="6309360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70" name="Text 67"/>
          <p:cNvSpPr/>
          <p:nvPr/>
        </p:nvSpPr>
        <p:spPr>
          <a:xfrm>
            <a:off x="1761783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20" dirty="0"/>
          </a:p>
        </p:txBody>
      </p:sp>
      <p:sp>
        <p:nvSpPr>
          <p:cNvPr id="71" name="Text 68"/>
          <p:cNvSpPr/>
          <p:nvPr/>
        </p:nvSpPr>
        <p:spPr>
          <a:xfrm>
            <a:off x="2562751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1.70</a:t>
            </a:r>
            <a:endParaRPr lang="en-US" sz="720" dirty="0"/>
          </a:p>
        </p:txBody>
      </p:sp>
      <p:sp>
        <p:nvSpPr>
          <p:cNvPr id="72" name="Text 69"/>
          <p:cNvSpPr/>
          <p:nvPr/>
        </p:nvSpPr>
        <p:spPr>
          <a:xfrm>
            <a:off x="3363719" y="6309360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−1.70</a:t>
            </a:r>
            <a:endParaRPr lang="en-US" sz="720" dirty="0"/>
          </a:p>
        </p:txBody>
      </p:sp>
      <p:sp>
        <p:nvSpPr>
          <p:cNvPr id="73" name="Text 70"/>
          <p:cNvSpPr/>
          <p:nvPr/>
        </p:nvSpPr>
        <p:spPr>
          <a:xfrm>
            <a:off x="4124638" y="6309360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74" name="Text 71"/>
          <p:cNvSpPr/>
          <p:nvPr/>
        </p:nvSpPr>
        <p:spPr>
          <a:xfrm>
            <a:off x="4805461" y="6309360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not mapped — cannot test</a:t>
            </a:r>
            <a:endParaRPr lang="en-US" sz="720" dirty="0"/>
          </a:p>
        </p:txBody>
      </p:sp>
      <p:sp>
        <p:nvSpPr>
          <p:cNvPr id="75" name="Shape 72"/>
          <p:cNvSpPr/>
          <p:nvPr/>
        </p:nvSpPr>
        <p:spPr>
          <a:xfrm>
            <a:off x="265176" y="66202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76" name="Shape 73"/>
          <p:cNvSpPr/>
          <p:nvPr/>
        </p:nvSpPr>
        <p:spPr>
          <a:xfrm>
            <a:off x="265176" y="69311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320040" y="6620256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Glow</a:t>
            </a:r>
            <a:endParaRPr lang="en-US" sz="720" dirty="0"/>
          </a:p>
        </p:txBody>
      </p:sp>
      <p:sp>
        <p:nvSpPr>
          <p:cNvPr id="78" name="Text 75"/>
          <p:cNvSpPr/>
          <p:nvPr/>
        </p:nvSpPr>
        <p:spPr>
          <a:xfrm>
            <a:off x="1761783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</a:t>
            </a:r>
            <a:endParaRPr lang="en-US" sz="720" dirty="0"/>
          </a:p>
        </p:txBody>
      </p:sp>
      <p:sp>
        <p:nvSpPr>
          <p:cNvPr id="79" name="Text 76"/>
          <p:cNvSpPr/>
          <p:nvPr/>
        </p:nvSpPr>
        <p:spPr>
          <a:xfrm>
            <a:off x="2562751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</a:t>
            </a:r>
            <a:endParaRPr lang="en-US" sz="720" dirty="0"/>
          </a:p>
        </p:txBody>
      </p:sp>
      <p:sp>
        <p:nvSpPr>
          <p:cNvPr id="80" name="Text 77"/>
          <p:cNvSpPr/>
          <p:nvPr/>
        </p:nvSpPr>
        <p:spPr>
          <a:xfrm>
            <a:off x="3363719" y="6620256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−0.29</a:t>
            </a:r>
            <a:endParaRPr lang="en-US" sz="720" dirty="0"/>
          </a:p>
        </p:txBody>
      </p:sp>
      <p:sp>
        <p:nvSpPr>
          <p:cNvPr id="81" name="Text 78"/>
          <p:cNvSpPr/>
          <p:nvPr/>
        </p:nvSpPr>
        <p:spPr>
          <a:xfrm>
            <a:off x="4124638" y="6620256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82" name="Text 79"/>
          <p:cNvSpPr/>
          <p:nvPr/>
        </p:nvSpPr>
        <p:spPr>
          <a:xfrm>
            <a:off x="4805461" y="6620256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route incomplete</a:t>
            </a:r>
            <a:endParaRPr lang="en-US" sz="720" dirty="0"/>
          </a:p>
        </p:txBody>
      </p:sp>
      <p:sp>
        <p:nvSpPr>
          <p:cNvPr id="83" name="Shape 80"/>
          <p:cNvSpPr/>
          <p:nvPr/>
        </p:nvSpPr>
        <p:spPr>
          <a:xfrm>
            <a:off x="265176" y="72420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4" name="Text 81"/>
          <p:cNvSpPr/>
          <p:nvPr/>
        </p:nvSpPr>
        <p:spPr>
          <a:xfrm>
            <a:off x="320040" y="693115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</a:t>
            </a:r>
            <a:endParaRPr lang="en-US" sz="720" dirty="0"/>
          </a:p>
        </p:txBody>
      </p:sp>
      <p:sp>
        <p:nvSpPr>
          <p:cNvPr id="85" name="Text 82"/>
          <p:cNvSpPr/>
          <p:nvPr/>
        </p:nvSpPr>
        <p:spPr>
          <a:xfrm>
            <a:off x="1761783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720" dirty="0"/>
          </a:p>
        </p:txBody>
      </p:sp>
      <p:sp>
        <p:nvSpPr>
          <p:cNvPr id="86" name="Text 83"/>
          <p:cNvSpPr/>
          <p:nvPr/>
        </p:nvSpPr>
        <p:spPr>
          <a:xfrm>
            <a:off x="2562751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720" dirty="0"/>
          </a:p>
        </p:txBody>
      </p:sp>
      <p:sp>
        <p:nvSpPr>
          <p:cNvPr id="87" name="Text 84"/>
          <p:cNvSpPr/>
          <p:nvPr/>
        </p:nvSpPr>
        <p:spPr>
          <a:xfrm>
            <a:off x="3363719" y="693115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−0.24</a:t>
            </a:r>
            <a:endParaRPr lang="en-US" sz="720" dirty="0"/>
          </a:p>
        </p:txBody>
      </p:sp>
      <p:sp>
        <p:nvSpPr>
          <p:cNvPr id="88" name="Text 85"/>
          <p:cNvSpPr/>
          <p:nvPr/>
        </p:nvSpPr>
        <p:spPr>
          <a:xfrm>
            <a:off x="4124638" y="693115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89" name="Text 86"/>
          <p:cNvSpPr/>
          <p:nvPr/>
        </p:nvSpPr>
        <p:spPr>
          <a:xfrm>
            <a:off x="4805461" y="693115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route incomplete</a:t>
            </a:r>
            <a:endParaRPr lang="en-US" sz="720" dirty="0"/>
          </a:p>
        </p:txBody>
      </p:sp>
      <p:sp>
        <p:nvSpPr>
          <p:cNvPr id="90" name="Shape 87"/>
          <p:cNvSpPr/>
          <p:nvPr/>
        </p:nvSpPr>
        <p:spPr>
          <a:xfrm>
            <a:off x="265176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65176" y="7388352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2" name="Text 89"/>
          <p:cNvSpPr/>
          <p:nvPr/>
        </p:nvSpPr>
        <p:spPr>
          <a:xfrm>
            <a:off x="347472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POSITIVE GAP</a:t>
            </a:r>
            <a:endParaRPr lang="en-US" sz="700" dirty="0"/>
          </a:p>
        </p:txBody>
      </p:sp>
      <p:sp>
        <p:nvSpPr>
          <p:cNvPr id="93" name="Text 90"/>
          <p:cNvSpPr/>
          <p:nvPr/>
        </p:nvSpPr>
        <p:spPr>
          <a:xfrm>
            <a:off x="356616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₹13.27 Cr</a:t>
            </a:r>
            <a:endParaRPr lang="en-US" sz="1600" dirty="0"/>
          </a:p>
        </p:txBody>
      </p:sp>
      <p:sp>
        <p:nvSpPr>
          <p:cNvPr id="94" name="Text 91"/>
          <p:cNvSpPr/>
          <p:nvPr/>
        </p:nvSpPr>
        <p:spPr>
          <a:xfrm>
            <a:off x="393192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but not yet sold through, in three chains. This is the recoverable pool — 90.7% of it in DMart and Reliance alone.</a:t>
            </a:r>
            <a:endParaRPr lang="en-US" sz="680" dirty="0"/>
          </a:p>
        </p:txBody>
      </p:sp>
      <p:sp>
        <p:nvSpPr>
          <p:cNvPr id="95" name="Shape 92"/>
          <p:cNvSpPr/>
          <p:nvPr/>
        </p:nvSpPr>
        <p:spPr>
          <a:xfrm>
            <a:off x="3502152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3502152" y="7388352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97" name="Text 94"/>
          <p:cNvSpPr/>
          <p:nvPr/>
        </p:nvSpPr>
        <p:spPr>
          <a:xfrm>
            <a:off x="3584448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NEGATIVE GAP</a:t>
            </a:r>
            <a:endParaRPr lang="en-US" sz="700" dirty="0"/>
          </a:p>
        </p:txBody>
      </p:sp>
      <p:sp>
        <p:nvSpPr>
          <p:cNvPr id="98" name="Text 95"/>
          <p:cNvSpPr/>
          <p:nvPr/>
        </p:nvSpPr>
        <p:spPr>
          <a:xfrm>
            <a:off x="3593592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₹2.23 Cr</a:t>
            </a:r>
            <a:endParaRPr lang="en-US" sz="1600" dirty="0"/>
          </a:p>
        </p:txBody>
      </p:sp>
      <p:sp>
        <p:nvSpPr>
          <p:cNvPr id="99" name="Text 96"/>
          <p:cNvSpPr/>
          <p:nvPr/>
        </p:nvSpPr>
        <p:spPr>
          <a:xfrm>
            <a:off x="3630168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with no primary joined, in three chains. Not performance — a mapping defect that was previously netted against the pool above.</a:t>
            </a:r>
            <a:endParaRPr lang="en-US" sz="680" dirty="0"/>
          </a:p>
        </p:txBody>
      </p:sp>
      <p:sp>
        <p:nvSpPr>
          <p:cNvPr id="100" name="Shape 97"/>
          <p:cNvSpPr/>
          <p:nvPr/>
        </p:nvSpPr>
        <p:spPr>
          <a:xfrm>
            <a:off x="265176" y="859536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01" name="Text 98"/>
          <p:cNvSpPr/>
          <p:nvPr/>
        </p:nvSpPr>
        <p:spPr>
          <a:xfrm>
            <a:off x="374904" y="86136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PLAN</a:t>
            </a:r>
            <a:endParaRPr lang="en-US" sz="720" dirty="0"/>
          </a:p>
        </p:txBody>
      </p:sp>
      <p:sp>
        <p:nvSpPr>
          <p:cNvPr id="102" name="Shape 99"/>
          <p:cNvSpPr/>
          <p:nvPr/>
        </p:nvSpPr>
        <p:spPr>
          <a:xfrm>
            <a:off x="356616" y="90114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03" name="Text 100"/>
          <p:cNvSpPr/>
          <p:nvPr/>
        </p:nvSpPr>
        <p:spPr>
          <a:xfrm>
            <a:off x="475488" y="896112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Reliance: attack North and East first — ₹3.92 Cr recoverable at DMart parity. Convert billed inventory through hero-SKU visibility and replenishment, not new loading.</a:t>
            </a:r>
            <a:endParaRPr lang="en-US" sz="740" dirty="0"/>
          </a:p>
        </p:txBody>
      </p:sp>
      <p:sp>
        <p:nvSpPr>
          <p:cNvPr id="104" name="Shape 101"/>
          <p:cNvSpPr/>
          <p:nvPr/>
        </p:nvSpPr>
        <p:spPr>
          <a:xfrm>
            <a:off x="356616" y="93771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05" name="Text 102"/>
          <p:cNvSpPr/>
          <p:nvPr/>
        </p:nvSpPr>
        <p:spPr>
          <a:xfrm>
            <a:off x="475488" y="932688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DMart: attack South-2 first, then North. Review top-SKU store availability and DC-to-store fill; West and Central prove the account can run above 94%.</a:t>
            </a:r>
            <a:endParaRPr lang="en-US" sz="740" dirty="0"/>
          </a:p>
        </p:txBody>
      </p:sp>
      <p:sp>
        <p:nvSpPr>
          <p:cNvPr id="106" name="Shape 103"/>
          <p:cNvSpPr/>
          <p:nvPr/>
        </p:nvSpPr>
        <p:spPr>
          <a:xfrm>
            <a:off x="356616" y="97429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07" name="Text 104"/>
          <p:cNvSpPr/>
          <p:nvPr/>
        </p:nvSpPr>
        <p:spPr>
          <a:xfrm>
            <a:off x="475488" y="969264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Apollo: protect the cadence and reconcile zone-level opening stock so the 99.7% national figure becomes quotable.</a:t>
            </a:r>
            <a:endParaRPr lang="en-US" sz="740" dirty="0"/>
          </a:p>
        </p:txBody>
      </p:sp>
      <p:sp>
        <p:nvSpPr>
          <p:cNvPr id="108" name="Shape 105"/>
          <p:cNvSpPr/>
          <p:nvPr/>
        </p:nvSpPr>
        <p:spPr>
          <a:xfrm>
            <a:off x="356616" y="101086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9" name="Text 106"/>
          <p:cNvSpPr/>
          <p:nvPr/>
        </p:nvSpPr>
        <p:spPr>
          <a:xfrm>
            <a:off x="475488" y="1005840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Health &amp; Glow, Wellness Forever: map primary before any commercial conclusion. Three chains and ₹2.23 Cr are currently unreadable.</a:t>
            </a:r>
            <a:endParaRPr lang="en-US" sz="74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brands carry 98.4% of offtake; Face Cleanser alone carries a third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and sub-category architecture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365760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FC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gap = primary − offtake on comparable mapped cuts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265176" y="126187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offtake, the two engine brands (₹ Cr)</a:t>
            </a:r>
            <a:endParaRPr lang="en-US" sz="72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246888" y="1481328"/>
          <a:ext cx="3840480" cy="170078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Shape 18"/>
          <p:cNvSpPr/>
          <p:nvPr/>
        </p:nvSpPr>
        <p:spPr>
          <a:xfrm>
            <a:off x="4251960" y="1261872"/>
            <a:ext cx="2340864" cy="2066544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251960" y="1261872"/>
            <a:ext cx="23408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3" name="Text 20"/>
          <p:cNvSpPr/>
          <p:nvPr/>
        </p:nvSpPr>
        <p:spPr>
          <a:xfrm>
            <a:off x="4334256" y="128016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GAP, TWICE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4343400" y="1627632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₹13.05 Cr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343400" y="1975104"/>
            <a:ext cx="2157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gap across both engines</a:t>
            </a:r>
            <a:endParaRPr lang="en-US" sz="680" dirty="0"/>
          </a:p>
        </p:txBody>
      </p:sp>
      <p:sp>
        <p:nvSpPr>
          <p:cNvPr id="26" name="Shape 23"/>
          <p:cNvSpPr/>
          <p:nvPr/>
        </p:nvSpPr>
        <p:spPr>
          <a:xfrm>
            <a:off x="4361688" y="22448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27" name="Text 24"/>
          <p:cNvSpPr/>
          <p:nvPr/>
        </p:nvSpPr>
        <p:spPr>
          <a:xfrm>
            <a:off x="4480560" y="219456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₹8.89 Cr at 73.4% conversion.</a:t>
            </a:r>
            <a:endParaRPr lang="en-US" sz="700" dirty="0"/>
          </a:p>
        </p:txBody>
      </p:sp>
      <p:sp>
        <p:nvSpPr>
          <p:cNvPr id="28" name="Shape 25"/>
          <p:cNvSpPr/>
          <p:nvPr/>
        </p:nvSpPr>
        <p:spPr>
          <a:xfrm>
            <a:off x="4361688" y="26106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29" name="Text 26"/>
          <p:cNvSpPr/>
          <p:nvPr/>
        </p:nvSpPr>
        <p:spPr>
          <a:xfrm>
            <a:off x="4480560" y="256032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₹4.16 Cr at 72.6%.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4361688" y="297637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31" name="Text 28"/>
          <p:cNvSpPr/>
          <p:nvPr/>
        </p:nvSpPr>
        <p:spPr>
          <a:xfrm>
            <a:off x="4480560" y="292608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0.8 pp of each other — the constraint is the channel, not the brand.</a:t>
            </a:r>
            <a:endParaRPr lang="en-US" sz="700" dirty="0"/>
          </a:p>
        </p:txBody>
      </p:sp>
      <p:sp>
        <p:nvSpPr>
          <p:cNvPr id="32" name="Shape 29"/>
          <p:cNvSpPr/>
          <p:nvPr/>
        </p:nvSpPr>
        <p:spPr>
          <a:xfrm>
            <a:off x="265176" y="345643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3" name="Text 30"/>
          <p:cNvSpPr/>
          <p:nvPr/>
        </p:nvSpPr>
        <p:spPr>
          <a:xfrm>
            <a:off x="320040" y="3474720"/>
            <a:ext cx="13229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34" name="Text 31"/>
          <p:cNvSpPr/>
          <p:nvPr/>
        </p:nvSpPr>
        <p:spPr>
          <a:xfrm>
            <a:off x="1752715" y="3474720"/>
            <a:ext cx="6862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35" name="Text 32"/>
          <p:cNvSpPr/>
          <p:nvPr/>
        </p:nvSpPr>
        <p:spPr>
          <a:xfrm>
            <a:off x="2548646" y="3474720"/>
            <a:ext cx="6862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36" name="Text 33"/>
          <p:cNvSpPr/>
          <p:nvPr/>
        </p:nvSpPr>
        <p:spPr>
          <a:xfrm>
            <a:off x="3344576" y="3474720"/>
            <a:ext cx="5668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37" name="Text 34"/>
          <p:cNvSpPr/>
          <p:nvPr/>
        </p:nvSpPr>
        <p:spPr>
          <a:xfrm>
            <a:off x="4021117" y="3474720"/>
            <a:ext cx="9249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OFFTAKE</a:t>
            </a:r>
            <a:endParaRPr lang="en-US" sz="660" dirty="0"/>
          </a:p>
        </p:txBody>
      </p:sp>
      <p:sp>
        <p:nvSpPr>
          <p:cNvPr id="38" name="Text 35"/>
          <p:cNvSpPr/>
          <p:nvPr/>
        </p:nvSpPr>
        <p:spPr>
          <a:xfrm>
            <a:off x="5055827" y="3474720"/>
            <a:ext cx="148213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39" name="Shape 36"/>
          <p:cNvSpPr/>
          <p:nvPr/>
        </p:nvSpPr>
        <p:spPr>
          <a:xfrm>
            <a:off x="265176" y="371246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40" name="Shape 37"/>
          <p:cNvSpPr/>
          <p:nvPr/>
        </p:nvSpPr>
        <p:spPr>
          <a:xfrm>
            <a:off x="265176" y="398678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20040" y="371246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42" name="Text 39"/>
          <p:cNvSpPr/>
          <p:nvPr/>
        </p:nvSpPr>
        <p:spPr>
          <a:xfrm>
            <a:off x="1752715" y="371246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2548646" y="371246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24.49</a:t>
            </a:r>
            <a:endParaRPr lang="en-US" sz="700" dirty="0"/>
          </a:p>
        </p:txBody>
      </p:sp>
      <p:sp>
        <p:nvSpPr>
          <p:cNvPr id="44" name="Text 41"/>
          <p:cNvSpPr/>
          <p:nvPr/>
        </p:nvSpPr>
        <p:spPr>
          <a:xfrm>
            <a:off x="3344576" y="371246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4021117" y="371246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67.8%</a:t>
            </a:r>
            <a:endParaRPr lang="en-US" sz="700" dirty="0"/>
          </a:p>
        </p:txBody>
      </p:sp>
      <p:sp>
        <p:nvSpPr>
          <p:cNvPr id="46" name="Text 43"/>
          <p:cNvSpPr/>
          <p:nvPr/>
        </p:nvSpPr>
        <p:spPr>
          <a:xfrm>
            <a:off x="5055827" y="371246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— protect hero EANs</a:t>
            </a:r>
            <a:endParaRPr lang="en-US" sz="700" dirty="0"/>
          </a:p>
        </p:txBody>
      </p:sp>
      <p:sp>
        <p:nvSpPr>
          <p:cNvPr id="47" name="Shape 44"/>
          <p:cNvSpPr/>
          <p:nvPr/>
        </p:nvSpPr>
        <p:spPr>
          <a:xfrm>
            <a:off x="265176" y="42611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320040" y="398678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00" dirty="0"/>
          </a:p>
        </p:txBody>
      </p:sp>
      <p:sp>
        <p:nvSpPr>
          <p:cNvPr id="49" name="Text 46"/>
          <p:cNvSpPr/>
          <p:nvPr/>
        </p:nvSpPr>
        <p:spPr>
          <a:xfrm>
            <a:off x="1752715" y="398678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15.19</a:t>
            </a:r>
            <a:endParaRPr lang="en-US" sz="700" dirty="0"/>
          </a:p>
        </p:txBody>
      </p:sp>
      <p:sp>
        <p:nvSpPr>
          <p:cNvPr id="50" name="Text 47"/>
          <p:cNvSpPr/>
          <p:nvPr/>
        </p:nvSpPr>
        <p:spPr>
          <a:xfrm>
            <a:off x="2548646" y="398678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11.03</a:t>
            </a:r>
            <a:endParaRPr lang="en-US" sz="700" dirty="0"/>
          </a:p>
        </p:txBody>
      </p:sp>
      <p:sp>
        <p:nvSpPr>
          <p:cNvPr id="51" name="Text 48"/>
          <p:cNvSpPr/>
          <p:nvPr/>
        </p:nvSpPr>
        <p:spPr>
          <a:xfrm>
            <a:off x="3344576" y="398678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72.6%</a:t>
            </a:r>
            <a:endParaRPr lang="en-US" sz="700" dirty="0"/>
          </a:p>
        </p:txBody>
      </p:sp>
      <p:sp>
        <p:nvSpPr>
          <p:cNvPr id="52" name="Text 49"/>
          <p:cNvSpPr/>
          <p:nvPr/>
        </p:nvSpPr>
        <p:spPr>
          <a:xfrm>
            <a:off x="4021117" y="398678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30.6%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5055827" y="398678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₹4.16 Cr gap — same flow problem</a:t>
            </a:r>
            <a:endParaRPr lang="en-US" sz="700" dirty="0"/>
          </a:p>
        </p:txBody>
      </p:sp>
      <p:sp>
        <p:nvSpPr>
          <p:cNvPr id="54" name="Shape 51"/>
          <p:cNvSpPr/>
          <p:nvPr/>
        </p:nvSpPr>
        <p:spPr>
          <a:xfrm>
            <a:off x="265176" y="426110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5" name="Shape 52"/>
          <p:cNvSpPr/>
          <p:nvPr/>
        </p:nvSpPr>
        <p:spPr>
          <a:xfrm>
            <a:off x="265176" y="45354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320040" y="426110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</a:t>
            </a:r>
            <a:endParaRPr lang="en-US" sz="700" dirty="0"/>
          </a:p>
        </p:txBody>
      </p:sp>
      <p:sp>
        <p:nvSpPr>
          <p:cNvPr id="57" name="Text 54"/>
          <p:cNvSpPr/>
          <p:nvPr/>
        </p:nvSpPr>
        <p:spPr>
          <a:xfrm>
            <a:off x="1752715" y="426110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0.41</a:t>
            </a:r>
            <a:endParaRPr lang="en-US" sz="700" dirty="0"/>
          </a:p>
        </p:txBody>
      </p:sp>
      <p:sp>
        <p:nvSpPr>
          <p:cNvPr id="58" name="Text 55"/>
          <p:cNvSpPr/>
          <p:nvPr/>
        </p:nvSpPr>
        <p:spPr>
          <a:xfrm>
            <a:off x="2548646" y="426110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3344576" y="426110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700" dirty="0"/>
          </a:p>
        </p:txBody>
      </p:sp>
      <p:sp>
        <p:nvSpPr>
          <p:cNvPr id="60" name="Text 57"/>
          <p:cNvSpPr/>
          <p:nvPr/>
        </p:nvSpPr>
        <p:spPr>
          <a:xfrm>
            <a:off x="4021117" y="426110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1.3%</a:t>
            </a:r>
            <a:endParaRPr lang="en-US" sz="700" dirty="0"/>
          </a:p>
        </p:txBody>
      </p:sp>
      <p:sp>
        <p:nvSpPr>
          <p:cNvPr id="61" name="Text 58"/>
          <p:cNvSpPr/>
          <p:nvPr/>
        </p:nvSpPr>
        <p:spPr>
          <a:xfrm>
            <a:off x="5055827" y="426110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or timing — validate</a:t>
            </a:r>
            <a:endParaRPr lang="en-US" sz="700" dirty="0"/>
          </a:p>
        </p:txBody>
      </p:sp>
      <p:sp>
        <p:nvSpPr>
          <p:cNvPr id="62" name="Shape 59"/>
          <p:cNvSpPr/>
          <p:nvPr/>
        </p:nvSpPr>
        <p:spPr>
          <a:xfrm>
            <a:off x="265176" y="48097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320040" y="453542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BBLUNT</a:t>
            </a:r>
            <a:endParaRPr lang="en-US" sz="700" dirty="0"/>
          </a:p>
        </p:txBody>
      </p:sp>
      <p:sp>
        <p:nvSpPr>
          <p:cNvPr id="64" name="Text 61"/>
          <p:cNvSpPr/>
          <p:nvPr/>
        </p:nvSpPr>
        <p:spPr>
          <a:xfrm>
            <a:off x="1752715" y="453542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65" name="Text 62"/>
          <p:cNvSpPr/>
          <p:nvPr/>
        </p:nvSpPr>
        <p:spPr>
          <a:xfrm>
            <a:off x="2548646" y="453542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</a:t>
            </a:r>
            <a:endParaRPr lang="en-US" sz="700" dirty="0"/>
          </a:p>
        </p:txBody>
      </p:sp>
      <p:sp>
        <p:nvSpPr>
          <p:cNvPr id="66" name="Text 63"/>
          <p:cNvSpPr/>
          <p:nvPr/>
        </p:nvSpPr>
        <p:spPr>
          <a:xfrm>
            <a:off x="3344576" y="453542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35.2%</a:t>
            </a:r>
            <a:endParaRPr lang="en-US" sz="700" dirty="0"/>
          </a:p>
        </p:txBody>
      </p:sp>
      <p:sp>
        <p:nvSpPr>
          <p:cNvPr id="67" name="Text 64"/>
          <p:cNvSpPr/>
          <p:nvPr/>
        </p:nvSpPr>
        <p:spPr>
          <a:xfrm>
            <a:off x="4021117" y="453542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0.2%</a:t>
            </a:r>
            <a:endParaRPr lang="en-US" sz="700" dirty="0"/>
          </a:p>
        </p:txBody>
      </p:sp>
      <p:sp>
        <p:nvSpPr>
          <p:cNvPr id="68" name="Text 65"/>
          <p:cNvSpPr/>
          <p:nvPr/>
        </p:nvSpPr>
        <p:spPr>
          <a:xfrm>
            <a:off x="5055827" y="453542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materiality floor</a:t>
            </a:r>
            <a:endParaRPr lang="en-US" sz="700" dirty="0"/>
          </a:p>
        </p:txBody>
      </p:sp>
      <p:sp>
        <p:nvSpPr>
          <p:cNvPr id="69" name="Shape 66"/>
          <p:cNvSpPr/>
          <p:nvPr/>
        </p:nvSpPr>
        <p:spPr>
          <a:xfrm>
            <a:off x="265176" y="480974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70" name="Shape 67"/>
          <p:cNvSpPr/>
          <p:nvPr/>
        </p:nvSpPr>
        <p:spPr>
          <a:xfrm>
            <a:off x="265176" y="50840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320040" y="480974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Sheth's</a:t>
            </a:r>
            <a:endParaRPr lang="en-US" sz="700" dirty="0"/>
          </a:p>
        </p:txBody>
      </p:sp>
      <p:sp>
        <p:nvSpPr>
          <p:cNvPr id="72" name="Text 69"/>
          <p:cNvSpPr/>
          <p:nvPr/>
        </p:nvSpPr>
        <p:spPr>
          <a:xfrm>
            <a:off x="1752715" y="480974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00" dirty="0"/>
          </a:p>
        </p:txBody>
      </p:sp>
      <p:sp>
        <p:nvSpPr>
          <p:cNvPr id="73" name="Text 70"/>
          <p:cNvSpPr/>
          <p:nvPr/>
        </p:nvSpPr>
        <p:spPr>
          <a:xfrm>
            <a:off x="2548646" y="480974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</a:t>
            </a:r>
            <a:endParaRPr lang="en-US" sz="700" dirty="0"/>
          </a:p>
        </p:txBody>
      </p:sp>
      <p:sp>
        <p:nvSpPr>
          <p:cNvPr id="74" name="Text 71"/>
          <p:cNvSpPr/>
          <p:nvPr/>
        </p:nvSpPr>
        <p:spPr>
          <a:xfrm>
            <a:off x="3344576" y="480974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00" dirty="0"/>
          </a:p>
        </p:txBody>
      </p:sp>
      <p:sp>
        <p:nvSpPr>
          <p:cNvPr id="75" name="Text 72"/>
          <p:cNvSpPr/>
          <p:nvPr/>
        </p:nvSpPr>
        <p:spPr>
          <a:xfrm>
            <a:off x="4021117" y="480974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0.1%</a:t>
            </a:r>
            <a:endParaRPr lang="en-US" sz="700" dirty="0"/>
          </a:p>
        </p:txBody>
      </p:sp>
      <p:sp>
        <p:nvSpPr>
          <p:cNvPr id="76" name="Text 73"/>
          <p:cNvSpPr/>
          <p:nvPr/>
        </p:nvSpPr>
        <p:spPr>
          <a:xfrm>
            <a:off x="5055827" y="480974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mapped primary</a:t>
            </a:r>
            <a:endParaRPr lang="en-US" sz="700" dirty="0"/>
          </a:p>
        </p:txBody>
      </p:sp>
      <p:sp>
        <p:nvSpPr>
          <p:cNvPr id="77" name="Text 74"/>
          <p:cNvSpPr/>
          <p:nvPr/>
        </p:nvSpPr>
        <p:spPr>
          <a:xfrm>
            <a:off x="265176" y="52669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top 3 sub-categories (₹ Cr, Feb–Jul)</a:t>
            </a:r>
            <a:endParaRPr lang="en-US" sz="720" dirty="0"/>
          </a:p>
        </p:txBody>
      </p:sp>
      <p:graphicFrame>
        <p:nvGraphicFramePr>
          <p:cNvPr id="78" name="Chart 1" descr=""/>
          <p:cNvGraphicFramePr/>
          <p:nvPr/>
        </p:nvGraphicFramePr>
        <p:xfrm>
          <a:off x="246888" y="5468112"/>
          <a:ext cx="3090672" cy="13898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9" name="Text 75"/>
          <p:cNvSpPr/>
          <p:nvPr/>
        </p:nvSpPr>
        <p:spPr>
          <a:xfrm>
            <a:off x="3502152" y="52669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top 3 sub-categories (₹ Cr, Feb–Jul)</a:t>
            </a:r>
            <a:endParaRPr lang="en-US" sz="720" dirty="0"/>
          </a:p>
        </p:txBody>
      </p:sp>
      <p:graphicFrame>
        <p:nvGraphicFramePr>
          <p:cNvPr id="80" name="Chart 2" descr=""/>
          <p:cNvGraphicFramePr/>
          <p:nvPr/>
        </p:nvGraphicFramePr>
        <p:xfrm>
          <a:off x="3483864" y="5468112"/>
          <a:ext cx="3090672" cy="13898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1" name="Shape 76"/>
          <p:cNvSpPr/>
          <p:nvPr/>
        </p:nvSpPr>
        <p:spPr>
          <a:xfrm>
            <a:off x="265176" y="696772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82" name="Text 77"/>
          <p:cNvSpPr/>
          <p:nvPr/>
        </p:nvSpPr>
        <p:spPr>
          <a:xfrm>
            <a:off x="374904" y="698601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IMPLICATIONS</a:t>
            </a:r>
            <a:endParaRPr lang="en-US" sz="720" dirty="0"/>
          </a:p>
        </p:txBody>
      </p:sp>
      <p:sp>
        <p:nvSpPr>
          <p:cNvPr id="83" name="Shape 78"/>
          <p:cNvSpPr/>
          <p:nvPr/>
        </p:nvSpPr>
        <p:spPr>
          <a:xfrm>
            <a:off x="356616" y="738378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84" name="Text 79"/>
          <p:cNvSpPr/>
          <p:nvPr/>
        </p:nvSpPr>
        <p:spPr>
          <a:xfrm>
            <a:off x="475488" y="733348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engines convert at the same rate — 73.4% and 72.6%. The flow problem is channel-wide, not brand-specific, so it will not be fixed by brand-level action.</a:t>
            </a:r>
            <a:endParaRPr lang="en-US" sz="740" dirty="0"/>
          </a:p>
        </p:txBody>
      </p:sp>
      <p:sp>
        <p:nvSpPr>
          <p:cNvPr id="85" name="Shape 80"/>
          <p:cNvSpPr/>
          <p:nvPr/>
        </p:nvSpPr>
        <p:spPr>
          <a:xfrm>
            <a:off x="356616" y="774954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86" name="Text 81"/>
          <p:cNvSpPr/>
          <p:nvPr/>
        </p:nvSpPr>
        <p:spPr>
          <a:xfrm>
            <a:off x="475488" y="769924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Face Cleanser closed July at ₹8.53 Cr and The Derma Co. Face Cleanser at ₹7.13 Cr. One sub-category is ₹15.66 Cr — 43% of all Modern Trade offtake.</a:t>
            </a:r>
            <a:endParaRPr lang="en-US" sz="740" dirty="0"/>
          </a:p>
        </p:txBody>
      </p:sp>
      <p:sp>
        <p:nvSpPr>
          <p:cNvPr id="87" name="Shape 82"/>
          <p:cNvSpPr/>
          <p:nvPr/>
        </p:nvSpPr>
        <p:spPr>
          <a:xfrm>
            <a:off x="356616" y="811530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88" name="Text 83"/>
          <p:cNvSpPr/>
          <p:nvPr/>
        </p:nvSpPr>
        <p:spPr>
          <a:xfrm>
            <a:off x="475488" y="806500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has climbed every month since February and accelerated sharply into July; Mamaearth Sun Care has turned down since May.</a:t>
            </a:r>
            <a:endParaRPr lang="en-US" sz="740" dirty="0"/>
          </a:p>
        </p:txBody>
      </p:sp>
      <p:sp>
        <p:nvSpPr>
          <p:cNvPr id="89" name="Shape 84"/>
          <p:cNvSpPr/>
          <p:nvPr/>
        </p:nvSpPr>
        <p:spPr>
          <a:xfrm>
            <a:off x="356616" y="848106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90" name="Text 85"/>
          <p:cNvSpPr/>
          <p:nvPr/>
        </p:nvSpPr>
        <p:spPr>
          <a:xfrm>
            <a:off x="475488" y="843076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 shows offtake above primary and Dr. Sheth's has no mapped primary; BBLUNT at ₹0.06 Cr sits below the materiality floor. All three are exception-report only.</a:t>
            </a:r>
            <a:endParaRPr lang="en-US" sz="740" dirty="0"/>
          </a:p>
        </p:txBody>
      </p:sp>
      <p:sp>
        <p:nvSpPr>
          <p:cNvPr id="91" name="Shape 86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92" name="Text 87"/>
          <p:cNvSpPr/>
          <p:nvPr/>
        </p:nvSpPr>
        <p:spPr>
          <a:xfrm>
            <a:off x="374904" y="892454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— WHAT THIS PORTFOLIO SHAPE MEANS</a:t>
            </a:r>
            <a:endParaRPr lang="en-US" sz="720" dirty="0"/>
          </a:p>
        </p:txBody>
      </p:sp>
      <p:sp>
        <p:nvSpPr>
          <p:cNvPr id="93" name="Shape 88"/>
          <p:cNvSpPr/>
          <p:nvPr/>
        </p:nvSpPr>
        <p:spPr>
          <a:xfrm>
            <a:off x="265176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4" name="Shape 89"/>
          <p:cNvSpPr/>
          <p:nvPr/>
        </p:nvSpPr>
        <p:spPr>
          <a:xfrm>
            <a:off x="265176" y="925372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95" name="Text 90"/>
          <p:cNvSpPr/>
          <p:nvPr/>
        </p:nvSpPr>
        <p:spPr>
          <a:xfrm>
            <a:off x="347472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BRANDS</a:t>
            </a:r>
            <a:endParaRPr lang="en-US" sz="700" dirty="0"/>
          </a:p>
        </p:txBody>
      </p:sp>
      <p:sp>
        <p:nvSpPr>
          <p:cNvPr id="96" name="Text 91"/>
          <p:cNvSpPr/>
          <p:nvPr/>
        </p:nvSpPr>
        <p:spPr>
          <a:xfrm>
            <a:off x="356616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98.4%</a:t>
            </a:r>
            <a:endParaRPr lang="en-US" sz="1500" dirty="0"/>
          </a:p>
        </p:txBody>
      </p:sp>
      <p:sp>
        <p:nvSpPr>
          <p:cNvPr id="97" name="Text 92"/>
          <p:cNvSpPr/>
          <p:nvPr/>
        </p:nvSpPr>
        <p:spPr>
          <a:xfrm>
            <a:off x="356616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offtake</a:t>
            </a:r>
            <a:endParaRPr lang="en-US" sz="660" dirty="0"/>
          </a:p>
        </p:txBody>
      </p:sp>
      <p:sp>
        <p:nvSpPr>
          <p:cNvPr id="98" name="Shape 93"/>
          <p:cNvSpPr/>
          <p:nvPr/>
        </p:nvSpPr>
        <p:spPr>
          <a:xfrm>
            <a:off x="374904" y="1020013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99" name="Text 94"/>
          <p:cNvSpPr/>
          <p:nvPr/>
        </p:nvSpPr>
        <p:spPr>
          <a:xfrm>
            <a:off x="493776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remaining brands total ₹0.57 Cr — 1.6%.</a:t>
            </a:r>
            <a:endParaRPr lang="en-US" sz="670" dirty="0"/>
          </a:p>
        </p:txBody>
      </p:sp>
      <p:sp>
        <p:nvSpPr>
          <p:cNvPr id="100" name="Shape 95"/>
          <p:cNvSpPr/>
          <p:nvPr/>
        </p:nvSpPr>
        <p:spPr>
          <a:xfrm>
            <a:off x="374904" y="1054760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1" name="Text 96"/>
          <p:cNvSpPr/>
          <p:nvPr/>
        </p:nvSpPr>
        <p:spPr>
          <a:xfrm>
            <a:off x="493776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shock to either engine is a channel-level shock.</a:t>
            </a:r>
            <a:endParaRPr lang="en-US" sz="670" dirty="0"/>
          </a:p>
        </p:txBody>
      </p:sp>
      <p:sp>
        <p:nvSpPr>
          <p:cNvPr id="102" name="Shape 97"/>
          <p:cNvSpPr/>
          <p:nvPr/>
        </p:nvSpPr>
        <p:spPr>
          <a:xfrm>
            <a:off x="2410968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3" name="Shape 98"/>
          <p:cNvSpPr/>
          <p:nvPr/>
        </p:nvSpPr>
        <p:spPr>
          <a:xfrm>
            <a:off x="2410968" y="9253728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104" name="Text 99"/>
          <p:cNvSpPr/>
          <p:nvPr/>
        </p:nvSpPr>
        <p:spPr>
          <a:xfrm>
            <a:off x="2493264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SUB-CATEGORY</a:t>
            </a:r>
            <a:endParaRPr lang="en-US" sz="700" dirty="0"/>
          </a:p>
        </p:txBody>
      </p:sp>
      <p:sp>
        <p:nvSpPr>
          <p:cNvPr id="105" name="Text 100"/>
          <p:cNvSpPr/>
          <p:nvPr/>
        </p:nvSpPr>
        <p:spPr>
          <a:xfrm>
            <a:off x="2502408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43%</a:t>
            </a:r>
            <a:endParaRPr lang="en-US" sz="1500" dirty="0"/>
          </a:p>
        </p:txBody>
      </p:sp>
      <p:sp>
        <p:nvSpPr>
          <p:cNvPr id="106" name="Text 101"/>
          <p:cNvSpPr/>
          <p:nvPr/>
        </p:nvSpPr>
        <p:spPr>
          <a:xfrm>
            <a:off x="2502408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 share of offtake</a:t>
            </a:r>
            <a:endParaRPr lang="en-US" sz="660" dirty="0"/>
          </a:p>
        </p:txBody>
      </p:sp>
      <p:sp>
        <p:nvSpPr>
          <p:cNvPr id="107" name="Shape 102"/>
          <p:cNvSpPr/>
          <p:nvPr/>
        </p:nvSpPr>
        <p:spPr>
          <a:xfrm>
            <a:off x="2520696" y="1020013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08" name="Text 103"/>
          <p:cNvSpPr/>
          <p:nvPr/>
        </p:nvSpPr>
        <p:spPr>
          <a:xfrm>
            <a:off x="2639568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₹15.66 Cr across both brands in one sub-category.</a:t>
            </a:r>
            <a:endParaRPr lang="en-US" sz="670" dirty="0"/>
          </a:p>
        </p:txBody>
      </p:sp>
      <p:sp>
        <p:nvSpPr>
          <p:cNvPr id="109" name="Shape 104"/>
          <p:cNvSpPr/>
          <p:nvPr/>
        </p:nvSpPr>
        <p:spPr>
          <a:xfrm>
            <a:off x="2520696" y="1054760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10" name="Text 105"/>
          <p:cNvSpPr/>
          <p:nvPr/>
        </p:nvSpPr>
        <p:spPr>
          <a:xfrm>
            <a:off x="2639568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risk is higher than the brand split suggests.</a:t>
            </a:r>
            <a:endParaRPr lang="en-US" sz="670" dirty="0"/>
          </a:p>
        </p:txBody>
      </p:sp>
      <p:sp>
        <p:nvSpPr>
          <p:cNvPr id="111" name="Shape 106"/>
          <p:cNvSpPr/>
          <p:nvPr/>
        </p:nvSpPr>
        <p:spPr>
          <a:xfrm>
            <a:off x="4556760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2" name="Shape 107"/>
          <p:cNvSpPr/>
          <p:nvPr/>
        </p:nvSpPr>
        <p:spPr>
          <a:xfrm>
            <a:off x="4556760" y="9253728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13" name="Text 108"/>
          <p:cNvSpPr/>
          <p:nvPr/>
        </p:nvSpPr>
        <p:spPr>
          <a:xfrm>
            <a:off x="4639056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DIVERGENCE TO WATCH</a:t>
            </a:r>
            <a:endParaRPr lang="en-US" sz="700" dirty="0"/>
          </a:p>
        </p:txBody>
      </p:sp>
      <p:sp>
        <p:nvSpPr>
          <p:cNvPr id="114" name="Text 109"/>
          <p:cNvSpPr/>
          <p:nvPr/>
        </p:nvSpPr>
        <p:spPr>
          <a:xfrm>
            <a:off x="4648200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Opposite ways</a:t>
            </a:r>
            <a:endParaRPr lang="en-US" sz="1500" dirty="0"/>
          </a:p>
        </p:txBody>
      </p:sp>
      <p:sp>
        <p:nvSpPr>
          <p:cNvPr id="115" name="Text 110"/>
          <p:cNvSpPr/>
          <p:nvPr/>
        </p:nvSpPr>
        <p:spPr>
          <a:xfrm>
            <a:off x="4648200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May</a:t>
            </a:r>
            <a:endParaRPr lang="en-US" sz="660" dirty="0"/>
          </a:p>
        </p:txBody>
      </p:sp>
      <p:sp>
        <p:nvSpPr>
          <p:cNvPr id="116" name="Shape 111"/>
          <p:cNvSpPr/>
          <p:nvPr/>
        </p:nvSpPr>
        <p:spPr>
          <a:xfrm>
            <a:off x="4666488" y="10200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17" name="Text 112"/>
          <p:cNvSpPr/>
          <p:nvPr/>
        </p:nvSpPr>
        <p:spPr>
          <a:xfrm>
            <a:off x="4785360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Face Cleanser has accelerated every month to ₹7.13 Cr.</a:t>
            </a:r>
            <a:endParaRPr lang="en-US" sz="670" dirty="0"/>
          </a:p>
        </p:txBody>
      </p:sp>
      <p:sp>
        <p:nvSpPr>
          <p:cNvPr id="118" name="Shape 113"/>
          <p:cNvSpPr/>
          <p:nvPr/>
        </p:nvSpPr>
        <p:spPr>
          <a:xfrm>
            <a:off x="4666488" y="1054760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19" name="Text 114"/>
          <p:cNvSpPr/>
          <p:nvPr/>
        </p:nvSpPr>
        <p:spPr>
          <a:xfrm>
            <a:off x="4785360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Mamaearth Sun Care's fall is seasonal before cutting range.</a:t>
            </a:r>
            <a:endParaRPr lang="en-US" sz="67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90-day cadence that converts ₹5.87 Cr without loading a single extra case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uplift plan | actions ranked by value at stake, with owners and proof points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365760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FC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gap = primary − offtake on comparable mapped cuts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265176" y="1261872"/>
            <a:ext cx="6327648" cy="658368"/>
          </a:xfrm>
          <a:prstGeom prst="roundRect">
            <a:avLst>
              <a:gd name="adj" fmla="val 4167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133502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action below is priced. Anything that cannot be priced is a hygiene task, not a growth action.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11480" y="1627632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do nothing and July repeats — ₹36.10 Cr offtake at 73.4% conversion, with ₹13.27 Cr billed and unsold.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265176" y="206654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3" name="Text 21"/>
          <p:cNvSpPr/>
          <p:nvPr/>
        </p:nvSpPr>
        <p:spPr>
          <a:xfrm>
            <a:off x="374904" y="20848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RANKED BY VALUE AT STAKE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65176" y="24140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2432304"/>
            <a:ext cx="1233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26" name="Text 24"/>
          <p:cNvSpPr/>
          <p:nvPr/>
        </p:nvSpPr>
        <p:spPr>
          <a:xfrm>
            <a:off x="553070" y="2432304"/>
            <a:ext cx="3027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3690006" y="2432304"/>
            <a:ext cx="696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4496646" y="2432304"/>
            <a:ext cx="607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5213660" y="2432304"/>
            <a:ext cx="13243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265176" y="267004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31" name="Shape 29"/>
          <p:cNvSpPr/>
          <p:nvPr/>
        </p:nvSpPr>
        <p:spPr>
          <a:xfrm>
            <a:off x="265176" y="30358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0040" y="26700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553070" y="26700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recovery loop — halt loading, hero-EAN OSA audit across North, East, Central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3690006" y="26700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₹3.92 Cr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4496646" y="26700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5213660" y="26700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</a:t>
            </a:r>
            <a:endParaRPr lang="en-US" sz="720" dirty="0"/>
          </a:p>
        </p:txBody>
      </p:sp>
      <p:sp>
        <p:nvSpPr>
          <p:cNvPr id="37" name="Shape 35"/>
          <p:cNvSpPr/>
          <p:nvPr/>
        </p:nvSpPr>
        <p:spPr>
          <a:xfrm>
            <a:off x="265176" y="3401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30358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39" name="Text 37"/>
          <p:cNvSpPr/>
          <p:nvPr/>
        </p:nvSpPr>
        <p:spPr>
          <a:xfrm>
            <a:off x="553070" y="30358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DC-to-store fill audit against the West benchmark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3690006" y="30358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₹0.81 Cr</a:t>
            </a:r>
            <a:endParaRPr lang="en-US" sz="720" dirty="0"/>
          </a:p>
        </p:txBody>
      </p:sp>
      <p:sp>
        <p:nvSpPr>
          <p:cNvPr id="41" name="Text 39"/>
          <p:cNvSpPr/>
          <p:nvPr/>
        </p:nvSpPr>
        <p:spPr>
          <a:xfrm>
            <a:off x="4496646" y="30358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42" name="Text 40"/>
          <p:cNvSpPr/>
          <p:nvPr/>
        </p:nvSpPr>
        <p:spPr>
          <a:xfrm>
            <a:off x="5213660" y="30358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</a:t>
            </a:r>
            <a:endParaRPr lang="en-US" sz="720" dirty="0"/>
          </a:p>
        </p:txBody>
      </p:sp>
      <p:sp>
        <p:nvSpPr>
          <p:cNvPr id="43" name="Shape 41"/>
          <p:cNvSpPr/>
          <p:nvPr/>
        </p:nvSpPr>
        <p:spPr>
          <a:xfrm>
            <a:off x="265176" y="340156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44" name="Shape 42"/>
          <p:cNvSpPr/>
          <p:nvPr/>
        </p:nvSpPr>
        <p:spPr>
          <a:xfrm>
            <a:off x="265176" y="37673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0040" y="34015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46" name="Text 44"/>
          <p:cNvSpPr/>
          <p:nvPr/>
        </p:nvSpPr>
        <p:spPr>
          <a:xfrm>
            <a:off x="553070" y="34015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East and North primary at trailing three-month offtake until gaps close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3690006" y="34015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₹2.94 Cr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4496646" y="34015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5213660" y="34015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+ Sales lead</a:t>
            </a:r>
            <a:endParaRPr lang="en-US" sz="720" dirty="0"/>
          </a:p>
        </p:txBody>
      </p:sp>
      <p:sp>
        <p:nvSpPr>
          <p:cNvPr id="50" name="Shape 48"/>
          <p:cNvSpPr/>
          <p:nvPr/>
        </p:nvSpPr>
        <p:spPr>
          <a:xfrm>
            <a:off x="265176" y="41330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0040" y="37673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553070" y="37673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Lulu, Wellness Forever and Health &amp; Glow primary routes</a:t>
            </a:r>
            <a:endParaRPr lang="en-US" sz="720" dirty="0"/>
          </a:p>
        </p:txBody>
      </p:sp>
      <p:sp>
        <p:nvSpPr>
          <p:cNvPr id="53" name="Text 51"/>
          <p:cNvSpPr/>
          <p:nvPr/>
        </p:nvSpPr>
        <p:spPr>
          <a:xfrm>
            <a:off x="3690006" y="37673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₹2.23 Cr</a:t>
            </a:r>
            <a:endParaRPr lang="en-US" sz="720" dirty="0"/>
          </a:p>
        </p:txBody>
      </p:sp>
      <p:sp>
        <p:nvSpPr>
          <p:cNvPr id="54" name="Text 52"/>
          <p:cNvSpPr/>
          <p:nvPr/>
        </p:nvSpPr>
        <p:spPr>
          <a:xfrm>
            <a:off x="4496646" y="37673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0–15d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5213660" y="37673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56" name="Shape 54"/>
          <p:cNvSpPr/>
          <p:nvPr/>
        </p:nvSpPr>
        <p:spPr>
          <a:xfrm>
            <a:off x="265176" y="413308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7" name="Shape 55"/>
          <p:cNvSpPr/>
          <p:nvPr/>
        </p:nvSpPr>
        <p:spPr>
          <a:xfrm>
            <a:off x="265176" y="44988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0040" y="413308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59" name="Text 57"/>
          <p:cNvSpPr/>
          <p:nvPr/>
        </p:nvSpPr>
        <p:spPr>
          <a:xfrm>
            <a:off x="553070" y="413308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and North until conversion thresholds clear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3690006" y="413308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4496646" y="413308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2" name="Text 60"/>
          <p:cNvSpPr/>
          <p:nvPr/>
        </p:nvSpPr>
        <p:spPr>
          <a:xfrm>
            <a:off x="5213660" y="413308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265176" y="48646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20040" y="44988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65" name="Text 63"/>
          <p:cNvSpPr/>
          <p:nvPr/>
        </p:nvSpPr>
        <p:spPr>
          <a:xfrm>
            <a:off x="553070" y="44988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chain × state × hero-EAN exception list weekly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3690006" y="44988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67" name="Text 65"/>
          <p:cNvSpPr/>
          <p:nvPr/>
        </p:nvSpPr>
        <p:spPr>
          <a:xfrm>
            <a:off x="4496646" y="44988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8" name="Text 66"/>
          <p:cNvSpPr/>
          <p:nvPr/>
        </p:nvSpPr>
        <p:spPr>
          <a:xfrm>
            <a:off x="5213660" y="44988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69" name="Shape 67"/>
          <p:cNvSpPr/>
          <p:nvPr/>
        </p:nvSpPr>
        <p:spPr>
          <a:xfrm>
            <a:off x="265176" y="486460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70" name="Shape 68"/>
          <p:cNvSpPr/>
          <p:nvPr/>
        </p:nvSpPr>
        <p:spPr>
          <a:xfrm>
            <a:off x="265176" y="52303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20040" y="48646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72" name="Text 70"/>
          <p:cNvSpPr/>
          <p:nvPr/>
        </p:nvSpPr>
        <p:spPr>
          <a:xfrm>
            <a:off x="553070" y="48646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Apollo order-cadence template and score two accounts against it</a:t>
            </a:r>
            <a:endParaRPr lang="en-US" sz="720" dirty="0"/>
          </a:p>
        </p:txBody>
      </p:sp>
      <p:sp>
        <p:nvSpPr>
          <p:cNvPr id="73" name="Text 71"/>
          <p:cNvSpPr/>
          <p:nvPr/>
        </p:nvSpPr>
        <p:spPr>
          <a:xfrm>
            <a:off x="3690006" y="48646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74" name="Text 72"/>
          <p:cNvSpPr/>
          <p:nvPr/>
        </p:nvSpPr>
        <p:spPr>
          <a:xfrm>
            <a:off x="4496646" y="48646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75" name="Text 73"/>
          <p:cNvSpPr/>
          <p:nvPr/>
        </p:nvSpPr>
        <p:spPr>
          <a:xfrm>
            <a:off x="5213660" y="48646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</a:t>
            </a:r>
            <a:endParaRPr lang="en-US" sz="720" dirty="0"/>
          </a:p>
        </p:txBody>
      </p:sp>
      <p:sp>
        <p:nvSpPr>
          <p:cNvPr id="76" name="Shape 74"/>
          <p:cNvSpPr/>
          <p:nvPr/>
        </p:nvSpPr>
        <p:spPr>
          <a:xfrm>
            <a:off x="265176" y="55961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20040" y="52303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78" name="Text 76"/>
          <p:cNvSpPr/>
          <p:nvPr/>
        </p:nvSpPr>
        <p:spPr>
          <a:xfrm>
            <a:off x="553070" y="52303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rate-recovery pilot in South-1 — velocity per store, not listings added</a:t>
            </a:r>
            <a:endParaRPr lang="en-US" sz="720" dirty="0"/>
          </a:p>
        </p:txBody>
      </p:sp>
      <p:sp>
        <p:nvSpPr>
          <p:cNvPr id="79" name="Text 77"/>
          <p:cNvSpPr/>
          <p:nvPr/>
        </p:nvSpPr>
        <p:spPr>
          <a:xfrm>
            <a:off x="3690006" y="52303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720" dirty="0"/>
          </a:p>
        </p:txBody>
      </p:sp>
      <p:sp>
        <p:nvSpPr>
          <p:cNvPr id="80" name="Text 78"/>
          <p:cNvSpPr/>
          <p:nvPr/>
        </p:nvSpPr>
        <p:spPr>
          <a:xfrm>
            <a:off x="4496646" y="52303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81" name="Text 79"/>
          <p:cNvSpPr/>
          <p:nvPr/>
        </p:nvSpPr>
        <p:spPr>
          <a:xfrm>
            <a:off x="5213660" y="52303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South-1 RKAM</a:t>
            </a:r>
            <a:endParaRPr lang="en-US" sz="720" dirty="0"/>
          </a:p>
        </p:txBody>
      </p:sp>
      <p:sp>
        <p:nvSpPr>
          <p:cNvPr id="82" name="Shape 80"/>
          <p:cNvSpPr/>
          <p:nvPr/>
        </p:nvSpPr>
        <p:spPr>
          <a:xfrm>
            <a:off x="265176" y="559612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83" name="Shape 81"/>
          <p:cNvSpPr/>
          <p:nvPr/>
        </p:nvSpPr>
        <p:spPr>
          <a:xfrm>
            <a:off x="265176" y="59618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20040" y="55961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20" dirty="0"/>
          </a:p>
        </p:txBody>
      </p:sp>
      <p:sp>
        <p:nvSpPr>
          <p:cNvPr id="85" name="Text 83"/>
          <p:cNvSpPr/>
          <p:nvPr/>
        </p:nvSpPr>
        <p:spPr>
          <a:xfrm>
            <a:off x="553070" y="55961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conversion; retire dead packs before adding new</a:t>
            </a:r>
            <a:endParaRPr lang="en-US" sz="720" dirty="0"/>
          </a:p>
        </p:txBody>
      </p:sp>
      <p:sp>
        <p:nvSpPr>
          <p:cNvPr id="86" name="Text 84"/>
          <p:cNvSpPr/>
          <p:nvPr/>
        </p:nvSpPr>
        <p:spPr>
          <a:xfrm>
            <a:off x="3690006" y="55961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endParaRPr lang="en-US" sz="720" dirty="0"/>
          </a:p>
        </p:txBody>
      </p:sp>
      <p:sp>
        <p:nvSpPr>
          <p:cNvPr id="87" name="Text 85"/>
          <p:cNvSpPr/>
          <p:nvPr/>
        </p:nvSpPr>
        <p:spPr>
          <a:xfrm>
            <a:off x="4496646" y="55961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61–90d</a:t>
            </a:r>
            <a:endParaRPr lang="en-US" sz="720" dirty="0"/>
          </a:p>
        </p:txBody>
      </p:sp>
      <p:sp>
        <p:nvSpPr>
          <p:cNvPr id="88" name="Text 86"/>
          <p:cNvSpPr/>
          <p:nvPr/>
        </p:nvSpPr>
        <p:spPr>
          <a:xfrm>
            <a:off x="5213660" y="55961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+ Category</a:t>
            </a:r>
            <a:endParaRPr lang="en-US" sz="720" dirty="0"/>
          </a:p>
        </p:txBody>
      </p:sp>
      <p:sp>
        <p:nvSpPr>
          <p:cNvPr id="89" name="Shape 87"/>
          <p:cNvSpPr/>
          <p:nvPr/>
        </p:nvSpPr>
        <p:spPr>
          <a:xfrm>
            <a:off x="265176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65176" y="6144768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1" name="Text 89"/>
          <p:cNvSpPr/>
          <p:nvPr/>
        </p:nvSpPr>
        <p:spPr>
          <a:xfrm>
            <a:off x="347472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 DAYS</a:t>
            </a:r>
            <a:endParaRPr lang="en-US" sz="700" dirty="0"/>
          </a:p>
        </p:txBody>
      </p:sp>
      <p:sp>
        <p:nvSpPr>
          <p:cNvPr id="92" name="Text 90"/>
          <p:cNvSpPr/>
          <p:nvPr/>
        </p:nvSpPr>
        <p:spPr>
          <a:xfrm>
            <a:off x="356616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Stop the leak</a:t>
            </a:r>
            <a:endParaRPr lang="en-US" sz="1150" dirty="0"/>
          </a:p>
        </p:txBody>
      </p:sp>
      <p:sp>
        <p:nvSpPr>
          <p:cNvPr id="93" name="Shape 91"/>
          <p:cNvSpPr/>
          <p:nvPr/>
        </p:nvSpPr>
        <p:spPr>
          <a:xfrm>
            <a:off x="374904" y="692658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94" name="Text 92"/>
          <p:cNvSpPr/>
          <p:nvPr/>
        </p:nvSpPr>
        <p:spPr>
          <a:xfrm>
            <a:off x="493776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Reliance loading below 65% conversion.</a:t>
            </a:r>
            <a:endParaRPr lang="en-US" sz="690" dirty="0"/>
          </a:p>
        </p:txBody>
      </p:sp>
      <p:sp>
        <p:nvSpPr>
          <p:cNvPr id="95" name="Shape 93"/>
          <p:cNvSpPr/>
          <p:nvPr/>
        </p:nvSpPr>
        <p:spPr>
          <a:xfrm>
            <a:off x="374904" y="729234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96" name="Text 94"/>
          <p:cNvSpPr/>
          <p:nvPr/>
        </p:nvSpPr>
        <p:spPr>
          <a:xfrm>
            <a:off x="493776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North and East primary at trailing offtake.</a:t>
            </a:r>
            <a:endParaRPr lang="en-US" sz="690" dirty="0"/>
          </a:p>
        </p:txBody>
      </p:sp>
      <p:sp>
        <p:nvSpPr>
          <p:cNvPr id="97" name="Shape 95"/>
          <p:cNvSpPr/>
          <p:nvPr/>
        </p:nvSpPr>
        <p:spPr>
          <a:xfrm>
            <a:off x="374904" y="765810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98" name="Text 96"/>
          <p:cNvSpPr/>
          <p:nvPr/>
        </p:nvSpPr>
        <p:spPr>
          <a:xfrm>
            <a:off x="493776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three primary-mapping gaps.</a:t>
            </a:r>
            <a:endParaRPr lang="en-US" sz="690" dirty="0"/>
          </a:p>
        </p:txBody>
      </p:sp>
      <p:sp>
        <p:nvSpPr>
          <p:cNvPr id="99" name="Shape 97"/>
          <p:cNvSpPr/>
          <p:nvPr/>
        </p:nvSpPr>
        <p:spPr>
          <a:xfrm>
            <a:off x="374904" y="802386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00" name="Text 98"/>
          <p:cNvSpPr/>
          <p:nvPr/>
        </p:nvSpPr>
        <p:spPr>
          <a:xfrm>
            <a:off x="493776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first exception list.</a:t>
            </a:r>
            <a:endParaRPr lang="en-US" sz="690" dirty="0"/>
          </a:p>
        </p:txBody>
      </p:sp>
      <p:sp>
        <p:nvSpPr>
          <p:cNvPr id="101" name="Shape 99"/>
          <p:cNvSpPr/>
          <p:nvPr/>
        </p:nvSpPr>
        <p:spPr>
          <a:xfrm>
            <a:off x="2410968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410968" y="614476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03" name="Text 101"/>
          <p:cNvSpPr/>
          <p:nvPr/>
        </p:nvSpPr>
        <p:spPr>
          <a:xfrm>
            <a:off x="2493264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 DAYS</a:t>
            </a:r>
            <a:endParaRPr lang="en-US" sz="700" dirty="0"/>
          </a:p>
        </p:txBody>
      </p:sp>
      <p:sp>
        <p:nvSpPr>
          <p:cNvPr id="104" name="Text 102"/>
          <p:cNvSpPr/>
          <p:nvPr/>
        </p:nvSpPr>
        <p:spPr>
          <a:xfrm>
            <a:off x="2502408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Prove the fix</a:t>
            </a:r>
            <a:endParaRPr lang="en-US" sz="1150" dirty="0"/>
          </a:p>
        </p:txBody>
      </p:sp>
      <p:sp>
        <p:nvSpPr>
          <p:cNvPr id="105" name="Shape 103"/>
          <p:cNvSpPr/>
          <p:nvPr/>
        </p:nvSpPr>
        <p:spPr>
          <a:xfrm>
            <a:off x="2520696" y="692658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6" name="Text 104"/>
          <p:cNvSpPr/>
          <p:nvPr/>
        </p:nvSpPr>
        <p:spPr>
          <a:xfrm>
            <a:off x="2639568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accounts against the Apollo cadence template.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2520696" y="729234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8" name="Text 106"/>
          <p:cNvSpPr/>
          <p:nvPr/>
        </p:nvSpPr>
        <p:spPr>
          <a:xfrm>
            <a:off x="2639568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South-1 shampoo rate pilot.</a:t>
            </a:r>
            <a:endParaRPr lang="en-US" sz="690" dirty="0"/>
          </a:p>
        </p:txBody>
      </p:sp>
      <p:sp>
        <p:nvSpPr>
          <p:cNvPr id="109" name="Shape 107"/>
          <p:cNvSpPr/>
          <p:nvPr/>
        </p:nvSpPr>
        <p:spPr>
          <a:xfrm>
            <a:off x="2520696" y="765810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10" name="Text 108"/>
          <p:cNvSpPr/>
          <p:nvPr/>
        </p:nvSpPr>
        <p:spPr>
          <a:xfrm>
            <a:off x="2639568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distribution white space in ₹ using stores × PDO.</a:t>
            </a:r>
            <a:endParaRPr lang="en-US" sz="690" dirty="0"/>
          </a:p>
        </p:txBody>
      </p:sp>
      <p:sp>
        <p:nvSpPr>
          <p:cNvPr id="111" name="Shape 109"/>
          <p:cNvSpPr/>
          <p:nvPr/>
        </p:nvSpPr>
        <p:spPr>
          <a:xfrm>
            <a:off x="2520696" y="802386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12" name="Text 110"/>
          <p:cNvSpPr/>
          <p:nvPr/>
        </p:nvSpPr>
        <p:spPr>
          <a:xfrm>
            <a:off x="2639568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FSN delisting hypothesis.</a:t>
            </a:r>
            <a:endParaRPr lang="en-US" sz="690" dirty="0"/>
          </a:p>
        </p:txBody>
      </p:sp>
      <p:sp>
        <p:nvSpPr>
          <p:cNvPr id="113" name="Shape 111"/>
          <p:cNvSpPr/>
          <p:nvPr/>
        </p:nvSpPr>
        <p:spPr>
          <a:xfrm>
            <a:off x="4556760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4556760" y="6144768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115" name="Text 113"/>
          <p:cNvSpPr/>
          <p:nvPr/>
        </p:nvSpPr>
        <p:spPr>
          <a:xfrm>
            <a:off x="4639056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 DAYS</a:t>
            </a:r>
            <a:endParaRPr lang="en-US" sz="700" dirty="0"/>
          </a:p>
        </p:txBody>
      </p:sp>
      <p:sp>
        <p:nvSpPr>
          <p:cNvPr id="116" name="Text 114"/>
          <p:cNvSpPr/>
          <p:nvPr/>
        </p:nvSpPr>
        <p:spPr>
          <a:xfrm>
            <a:off x="4648200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Lock it in</a:t>
            </a:r>
            <a:endParaRPr lang="en-US" sz="1150" dirty="0"/>
          </a:p>
        </p:txBody>
      </p:sp>
      <p:sp>
        <p:nvSpPr>
          <p:cNvPr id="117" name="Shape 115"/>
          <p:cNvSpPr/>
          <p:nvPr/>
        </p:nvSpPr>
        <p:spPr>
          <a:xfrm>
            <a:off x="4666488" y="692658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18" name="Text 116"/>
          <p:cNvSpPr/>
          <p:nvPr/>
        </p:nvSpPr>
        <p:spPr>
          <a:xfrm>
            <a:off x="4785360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conversion.</a:t>
            </a:r>
            <a:endParaRPr lang="en-US" sz="690" dirty="0"/>
          </a:p>
        </p:txBody>
      </p:sp>
      <p:sp>
        <p:nvSpPr>
          <p:cNvPr id="119" name="Shape 117"/>
          <p:cNvSpPr/>
          <p:nvPr/>
        </p:nvSpPr>
        <p:spPr>
          <a:xfrm>
            <a:off x="4666488" y="729234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785360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Rationalise dead and low-productivity packs.</a:t>
            </a:r>
            <a:endParaRPr lang="en-US" sz="690" dirty="0"/>
          </a:p>
        </p:txBody>
      </p:sp>
      <p:sp>
        <p:nvSpPr>
          <p:cNvPr id="121" name="Shape 119"/>
          <p:cNvSpPr/>
          <p:nvPr/>
        </p:nvSpPr>
        <p:spPr>
          <a:xfrm>
            <a:off x="4666488" y="765810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22" name="Text 120"/>
          <p:cNvSpPr/>
          <p:nvPr/>
        </p:nvSpPr>
        <p:spPr>
          <a:xfrm>
            <a:off x="4785360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only what offtake has proven.</a:t>
            </a:r>
            <a:endParaRPr lang="en-US" sz="690" dirty="0"/>
          </a:p>
        </p:txBody>
      </p:sp>
      <p:sp>
        <p:nvSpPr>
          <p:cNvPr id="123" name="Shape 121"/>
          <p:cNvSpPr/>
          <p:nvPr/>
        </p:nvSpPr>
        <p:spPr>
          <a:xfrm>
            <a:off x="4666488" y="802386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24" name="Text 122"/>
          <p:cNvSpPr/>
          <p:nvPr/>
        </p:nvSpPr>
        <p:spPr>
          <a:xfrm>
            <a:off x="4785360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weekly owner and action receipts.</a:t>
            </a:r>
            <a:endParaRPr lang="en-US" sz="690" dirty="0"/>
          </a:p>
        </p:txBody>
      </p:sp>
      <p:sp>
        <p:nvSpPr>
          <p:cNvPr id="125" name="Shape 123"/>
          <p:cNvSpPr/>
          <p:nvPr/>
        </p:nvSpPr>
        <p:spPr>
          <a:xfrm>
            <a:off x="265176" y="855878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26" name="Text 124"/>
          <p:cNvSpPr/>
          <p:nvPr/>
        </p:nvSpPr>
        <p:spPr>
          <a:xfrm>
            <a:off x="374904" y="857707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MANAGEMENT SCOREBOARD</a:t>
            </a:r>
            <a:endParaRPr lang="en-US" sz="720" dirty="0"/>
          </a:p>
        </p:txBody>
      </p:sp>
      <p:sp>
        <p:nvSpPr>
          <p:cNvPr id="127" name="Shape 125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28" name="Text 126"/>
          <p:cNvSpPr/>
          <p:nvPr/>
        </p:nvSpPr>
        <p:spPr>
          <a:xfrm>
            <a:off x="320040" y="8924544"/>
            <a:ext cx="21439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660" dirty="0"/>
          </a:p>
        </p:txBody>
      </p:sp>
      <p:sp>
        <p:nvSpPr>
          <p:cNvPr id="129" name="Text 127"/>
          <p:cNvSpPr/>
          <p:nvPr/>
        </p:nvSpPr>
        <p:spPr>
          <a:xfrm>
            <a:off x="2573723" y="8924544"/>
            <a:ext cx="1277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660" dirty="0"/>
          </a:p>
        </p:txBody>
      </p:sp>
      <p:sp>
        <p:nvSpPr>
          <p:cNvPr id="130" name="Text 128"/>
          <p:cNvSpPr/>
          <p:nvPr/>
        </p:nvSpPr>
        <p:spPr>
          <a:xfrm>
            <a:off x="3960605" y="8924544"/>
            <a:ext cx="13638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131" name="Text 129"/>
          <p:cNvSpPr/>
          <p:nvPr/>
        </p:nvSpPr>
        <p:spPr>
          <a:xfrm>
            <a:off x="5434166" y="8924544"/>
            <a:ext cx="11037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AT JULY</a:t>
            </a:r>
            <a:endParaRPr lang="en-US" sz="660" dirty="0"/>
          </a:p>
        </p:txBody>
      </p:sp>
      <p:sp>
        <p:nvSpPr>
          <p:cNvPr id="132" name="Shape 130"/>
          <p:cNvSpPr/>
          <p:nvPr/>
        </p:nvSpPr>
        <p:spPr>
          <a:xfrm>
            <a:off x="265176" y="9162288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133" name="Shape 131"/>
          <p:cNvSpPr/>
          <p:nvPr/>
        </p:nvSpPr>
        <p:spPr>
          <a:xfrm>
            <a:off x="265176" y="949147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320040" y="916228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 — the one metric</a:t>
            </a:r>
            <a:endParaRPr lang="en-US" sz="720" dirty="0"/>
          </a:p>
        </p:txBody>
      </p:sp>
      <p:sp>
        <p:nvSpPr>
          <p:cNvPr id="135" name="Text 133"/>
          <p:cNvSpPr/>
          <p:nvPr/>
        </p:nvSpPr>
        <p:spPr>
          <a:xfrm>
            <a:off x="2573723" y="916228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85%</a:t>
            </a:r>
            <a:endParaRPr lang="en-US" sz="720" dirty="0"/>
          </a:p>
        </p:txBody>
      </p:sp>
      <p:sp>
        <p:nvSpPr>
          <p:cNvPr id="136" name="Text 134"/>
          <p:cNvSpPr/>
          <p:nvPr/>
        </p:nvSpPr>
        <p:spPr>
          <a:xfrm>
            <a:off x="3960605" y="916228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</a:t>
            </a:r>
            <a:endParaRPr lang="en-US" sz="720" dirty="0"/>
          </a:p>
        </p:txBody>
      </p:sp>
      <p:sp>
        <p:nvSpPr>
          <p:cNvPr id="137" name="Text 135"/>
          <p:cNvSpPr/>
          <p:nvPr/>
        </p:nvSpPr>
        <p:spPr>
          <a:xfrm>
            <a:off x="5434166" y="916228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20" dirty="0"/>
          </a:p>
        </p:txBody>
      </p:sp>
      <p:sp>
        <p:nvSpPr>
          <p:cNvPr id="138" name="Shape 136"/>
          <p:cNvSpPr/>
          <p:nvPr/>
        </p:nvSpPr>
        <p:spPr>
          <a:xfrm>
            <a:off x="265176" y="98206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320040" y="9491472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 vs benchmark</a:t>
            </a:r>
            <a:endParaRPr lang="en-US" sz="720" dirty="0"/>
          </a:p>
        </p:txBody>
      </p:sp>
      <p:sp>
        <p:nvSpPr>
          <p:cNvPr id="140" name="Text 138"/>
          <p:cNvSpPr/>
          <p:nvPr/>
        </p:nvSpPr>
        <p:spPr>
          <a:xfrm>
            <a:off x="2573723" y="9491472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1" name="Text 139"/>
          <p:cNvSpPr/>
          <p:nvPr/>
        </p:nvSpPr>
        <p:spPr>
          <a:xfrm>
            <a:off x="3960605" y="9491472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</a:t>
            </a:r>
            <a:endParaRPr lang="en-US" sz="720" dirty="0"/>
          </a:p>
        </p:txBody>
      </p:sp>
      <p:sp>
        <p:nvSpPr>
          <p:cNvPr id="142" name="Text 140"/>
          <p:cNvSpPr/>
          <p:nvPr/>
        </p:nvSpPr>
        <p:spPr>
          <a:xfrm>
            <a:off x="5434166" y="9491472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−₹2.92 Cr</a:t>
            </a:r>
            <a:endParaRPr lang="en-US" sz="720" dirty="0"/>
          </a:p>
        </p:txBody>
      </p:sp>
      <p:sp>
        <p:nvSpPr>
          <p:cNvPr id="143" name="Shape 141"/>
          <p:cNvSpPr/>
          <p:nvPr/>
        </p:nvSpPr>
        <p:spPr>
          <a:xfrm>
            <a:off x="265176" y="9820656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144" name="Shape 142"/>
          <p:cNvSpPr/>
          <p:nvPr/>
        </p:nvSpPr>
        <p:spPr>
          <a:xfrm>
            <a:off x="265176" y="101498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320040" y="9820656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gap vs benchmark</a:t>
            </a:r>
            <a:endParaRPr lang="en-US" sz="720" dirty="0"/>
          </a:p>
        </p:txBody>
      </p:sp>
      <p:sp>
        <p:nvSpPr>
          <p:cNvPr id="146" name="Text 144"/>
          <p:cNvSpPr/>
          <p:nvPr/>
        </p:nvSpPr>
        <p:spPr>
          <a:xfrm>
            <a:off x="2573723" y="9820656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7" name="Text 145"/>
          <p:cNvSpPr/>
          <p:nvPr/>
        </p:nvSpPr>
        <p:spPr>
          <a:xfrm>
            <a:off x="3960605" y="9820656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</a:t>
            </a:r>
            <a:endParaRPr lang="en-US" sz="720" dirty="0"/>
          </a:p>
        </p:txBody>
      </p:sp>
      <p:sp>
        <p:nvSpPr>
          <p:cNvPr id="148" name="Text 146"/>
          <p:cNvSpPr/>
          <p:nvPr/>
        </p:nvSpPr>
        <p:spPr>
          <a:xfrm>
            <a:off x="5434166" y="9820656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−₹2.94 Cr</a:t>
            </a:r>
            <a:endParaRPr lang="en-US" sz="720" dirty="0"/>
          </a:p>
        </p:txBody>
      </p:sp>
      <p:sp>
        <p:nvSpPr>
          <p:cNvPr id="149" name="Shape 147"/>
          <p:cNvSpPr/>
          <p:nvPr/>
        </p:nvSpPr>
        <p:spPr>
          <a:xfrm>
            <a:off x="265176" y="10479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320040" y="10149840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OSA, priority stores</a:t>
            </a:r>
            <a:endParaRPr lang="en-US" sz="720" dirty="0"/>
          </a:p>
        </p:txBody>
      </p:sp>
      <p:sp>
        <p:nvSpPr>
          <p:cNvPr id="151" name="Text 149"/>
          <p:cNvSpPr/>
          <p:nvPr/>
        </p:nvSpPr>
        <p:spPr>
          <a:xfrm>
            <a:off x="2573723" y="10149840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95%</a:t>
            </a:r>
            <a:endParaRPr lang="en-US" sz="720" dirty="0"/>
          </a:p>
        </p:txBody>
      </p:sp>
      <p:sp>
        <p:nvSpPr>
          <p:cNvPr id="152" name="Text 150"/>
          <p:cNvSpPr/>
          <p:nvPr/>
        </p:nvSpPr>
        <p:spPr>
          <a:xfrm>
            <a:off x="3960605" y="10149840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+ Supply</a:t>
            </a:r>
            <a:endParaRPr lang="en-US" sz="720" dirty="0"/>
          </a:p>
        </p:txBody>
      </p:sp>
      <p:sp>
        <p:nvSpPr>
          <p:cNvPr id="153" name="Text 151"/>
          <p:cNvSpPr/>
          <p:nvPr/>
        </p:nvSpPr>
        <p:spPr>
          <a:xfrm>
            <a:off x="5434166" y="10149840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measured</a:t>
            </a:r>
            <a:endParaRPr lang="en-US" sz="720" dirty="0"/>
          </a:p>
        </p:txBody>
      </p:sp>
      <p:sp>
        <p:nvSpPr>
          <p:cNvPr id="154" name="Shape 152"/>
          <p:cNvSpPr/>
          <p:nvPr/>
        </p:nvSpPr>
        <p:spPr>
          <a:xfrm>
            <a:off x="265176" y="10479024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155" name="Shape 153"/>
          <p:cNvSpPr/>
          <p:nvPr/>
        </p:nvSpPr>
        <p:spPr>
          <a:xfrm>
            <a:off x="265176" y="10808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320040" y="10479024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conversion</a:t>
            </a:r>
            <a:endParaRPr lang="en-US" sz="720" dirty="0"/>
          </a:p>
        </p:txBody>
      </p:sp>
      <p:sp>
        <p:nvSpPr>
          <p:cNvPr id="157" name="Text 155"/>
          <p:cNvSpPr/>
          <p:nvPr/>
        </p:nvSpPr>
        <p:spPr>
          <a:xfrm>
            <a:off x="2573723" y="10479024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65%</a:t>
            </a:r>
            <a:endParaRPr lang="en-US" sz="720" dirty="0"/>
          </a:p>
        </p:txBody>
      </p:sp>
      <p:sp>
        <p:nvSpPr>
          <p:cNvPr id="158" name="Text 156"/>
          <p:cNvSpPr/>
          <p:nvPr/>
        </p:nvSpPr>
        <p:spPr>
          <a:xfrm>
            <a:off x="3960605" y="10479024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</a:t>
            </a:r>
            <a:endParaRPr lang="en-US" sz="720" dirty="0"/>
          </a:p>
        </p:txBody>
      </p:sp>
      <p:sp>
        <p:nvSpPr>
          <p:cNvPr id="159" name="Text 157"/>
          <p:cNvSpPr/>
          <p:nvPr/>
        </p:nvSpPr>
        <p:spPr>
          <a:xfrm>
            <a:off x="5434166" y="10479024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160" name="Shape 158"/>
          <p:cNvSpPr/>
          <p:nvPr/>
        </p:nvSpPr>
        <p:spPr>
          <a:xfrm>
            <a:off x="265176" y="111373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320040" y="1080820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with unmapped primary</a:t>
            </a:r>
            <a:endParaRPr lang="en-US" sz="720" dirty="0"/>
          </a:p>
        </p:txBody>
      </p:sp>
      <p:sp>
        <p:nvSpPr>
          <p:cNvPr id="162" name="Text 160"/>
          <p:cNvSpPr/>
          <p:nvPr/>
        </p:nvSpPr>
        <p:spPr>
          <a:xfrm>
            <a:off x="2573723" y="1080820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720" dirty="0"/>
          </a:p>
        </p:txBody>
      </p:sp>
      <p:sp>
        <p:nvSpPr>
          <p:cNvPr id="163" name="Text 161"/>
          <p:cNvSpPr/>
          <p:nvPr/>
        </p:nvSpPr>
        <p:spPr>
          <a:xfrm>
            <a:off x="3960605" y="1080820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164" name="Text 162"/>
          <p:cNvSpPr/>
          <p:nvPr/>
        </p:nvSpPr>
        <p:spPr>
          <a:xfrm>
            <a:off x="5434166" y="1080820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chains</a:t>
            </a:r>
            <a:endParaRPr lang="en-US" sz="7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Decision-safe definitions, quality gates and authority boundaries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command centre | grain, conformity, coverage and controlled execution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365760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FC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gap = primary − offtake on comparable mapped cuts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265176" y="1261872"/>
            <a:ext cx="6327648" cy="786384"/>
          </a:xfrm>
          <a:prstGeom prst="roundRect">
            <a:avLst>
              <a:gd name="adj" fmla="val 3488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" y="1353312"/>
            <a:ext cx="5998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Use this pack to prioritise investigation and owner action — not to infer inventory, causality or autonomous execution.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29768" y="1719072"/>
            <a:ext cx="5998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consequential commercial change remains subject to named human approval.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265176" y="2194560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3" name="Text 21"/>
          <p:cNvSpPr/>
          <p:nvPr/>
        </p:nvSpPr>
        <p:spPr>
          <a:xfrm>
            <a:off x="374904" y="22128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GRAIN — ONE STATED BASE, NO NETTING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65176" y="254203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2560320"/>
            <a:ext cx="16387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660" dirty="0"/>
          </a:p>
        </p:txBody>
      </p:sp>
      <p:sp>
        <p:nvSpPr>
          <p:cNvPr id="26" name="Text 24"/>
          <p:cNvSpPr/>
          <p:nvPr/>
        </p:nvSpPr>
        <p:spPr>
          <a:xfrm>
            <a:off x="2068469" y="2560320"/>
            <a:ext cx="8061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2984313" y="2560320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4566225" y="2560320"/>
            <a:ext cx="19717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</a:t>
            </a:r>
            <a:endParaRPr lang="en-US" sz="660" dirty="0"/>
          </a:p>
        </p:txBody>
      </p:sp>
      <p:sp>
        <p:nvSpPr>
          <p:cNvPr id="29" name="Shape 27"/>
          <p:cNvSpPr/>
          <p:nvPr/>
        </p:nvSpPr>
        <p:spPr>
          <a:xfrm>
            <a:off x="265176" y="27980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30" name="Shape 28"/>
          <p:cNvSpPr/>
          <p:nvPr/>
        </p:nvSpPr>
        <p:spPr>
          <a:xfrm>
            <a:off x="265176" y="31089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" y="2798064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720" dirty="0"/>
          </a:p>
        </p:txBody>
      </p:sp>
      <p:sp>
        <p:nvSpPr>
          <p:cNvPr id="32" name="Text 30"/>
          <p:cNvSpPr/>
          <p:nvPr/>
        </p:nvSpPr>
        <p:spPr>
          <a:xfrm>
            <a:off x="2068469" y="2798064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₹49.21 Cr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2984313" y="2798064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net value, zone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4566225" y="2798064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primary sheet, converted to ₹ Cr</a:t>
            </a:r>
            <a:endParaRPr lang="en-US" sz="720" dirty="0"/>
          </a:p>
        </p:txBody>
      </p:sp>
      <p:sp>
        <p:nvSpPr>
          <p:cNvPr id="35" name="Shape 33"/>
          <p:cNvSpPr/>
          <p:nvPr/>
        </p:nvSpPr>
        <p:spPr>
          <a:xfrm>
            <a:off x="265176" y="34198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0040" y="3108960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2068469" y="3108960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₹36.10 Cr</a:t>
            </a:r>
            <a:endParaRPr lang="en-US" sz="720" dirty="0"/>
          </a:p>
        </p:txBody>
      </p:sp>
      <p:sp>
        <p:nvSpPr>
          <p:cNvPr id="38" name="Text 36"/>
          <p:cNvSpPr/>
          <p:nvPr/>
        </p:nvSpPr>
        <p:spPr>
          <a:xfrm>
            <a:off x="2984313" y="3108960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NSV, store</a:t>
            </a:r>
            <a:endParaRPr lang="en-US" sz="720" dirty="0"/>
          </a:p>
        </p:txBody>
      </p:sp>
      <p:sp>
        <p:nvSpPr>
          <p:cNvPr id="39" name="Text 37"/>
          <p:cNvSpPr/>
          <p:nvPr/>
        </p:nvSpPr>
        <p:spPr>
          <a:xfrm>
            <a:off x="4566225" y="3108960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Consumer-facing flow measure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265176" y="34198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41" name="Shape 39"/>
          <p:cNvSpPr/>
          <p:nvPr/>
        </p:nvSpPr>
        <p:spPr>
          <a:xfrm>
            <a:off x="265176" y="37307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0040" y="3419856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positive gap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2068469" y="3419856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₹13.27 Cr</a:t>
            </a:r>
            <a:endParaRPr lang="en-US" sz="720" dirty="0"/>
          </a:p>
        </p:txBody>
      </p:sp>
      <p:sp>
        <p:nvSpPr>
          <p:cNvPr id="44" name="Text 42"/>
          <p:cNvSpPr/>
          <p:nvPr/>
        </p:nvSpPr>
        <p:spPr>
          <a:xfrm>
            <a:off x="2984313" y="3419856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chain, mapped only</a:t>
            </a:r>
            <a:endParaRPr lang="en-US" sz="720" dirty="0"/>
          </a:p>
        </p:txBody>
      </p:sp>
      <p:sp>
        <p:nvSpPr>
          <p:cNvPr id="45" name="Text 43"/>
          <p:cNvSpPr/>
          <p:nvPr/>
        </p:nvSpPr>
        <p:spPr>
          <a:xfrm>
            <a:off x="4566225" y="3419856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and unsold — the recoverable pool</a:t>
            </a:r>
            <a:endParaRPr lang="en-US" sz="720" dirty="0"/>
          </a:p>
        </p:txBody>
      </p:sp>
      <p:sp>
        <p:nvSpPr>
          <p:cNvPr id="46" name="Shape 44"/>
          <p:cNvSpPr/>
          <p:nvPr/>
        </p:nvSpPr>
        <p:spPr>
          <a:xfrm>
            <a:off x="265176" y="40416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0040" y="3730752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negative gap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2068469" y="3730752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₹2.23 Cr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2984313" y="3730752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chain, unmapped primary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4566225" y="3730752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join defect — never netted against the pool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265176" y="404164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2" name="Shape 50"/>
          <p:cNvSpPr/>
          <p:nvPr/>
        </p:nvSpPr>
        <p:spPr>
          <a:xfrm>
            <a:off x="265176" y="43525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0040" y="4041648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gap, summed</a:t>
            </a:r>
            <a:endParaRPr lang="en-US" sz="720" dirty="0"/>
          </a:p>
        </p:txBody>
      </p:sp>
      <p:sp>
        <p:nvSpPr>
          <p:cNvPr id="54" name="Text 52"/>
          <p:cNvSpPr/>
          <p:nvPr/>
        </p:nvSpPr>
        <p:spPr>
          <a:xfrm>
            <a:off x="2068469" y="4041648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₹15.17 Cr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2984313" y="4041648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geographic zones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4566225" y="4041648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Pan India, which has no primary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265176" y="46634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0040" y="4352544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</a:t>
            </a:r>
            <a:endParaRPr lang="en-US" sz="720" dirty="0"/>
          </a:p>
        </p:txBody>
      </p:sp>
      <p:sp>
        <p:nvSpPr>
          <p:cNvPr id="59" name="Text 57"/>
          <p:cNvSpPr/>
          <p:nvPr/>
        </p:nvSpPr>
        <p:spPr>
          <a:xfrm>
            <a:off x="2068469" y="4352544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2984313" y="4352544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non-additive ratio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4566225" y="4352544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 from sums — never average zones</a:t>
            </a:r>
            <a:endParaRPr lang="en-US" sz="720" dirty="0"/>
          </a:p>
        </p:txBody>
      </p:sp>
      <p:sp>
        <p:nvSpPr>
          <p:cNvPr id="62" name="Shape 60"/>
          <p:cNvSpPr/>
          <p:nvPr/>
        </p:nvSpPr>
        <p:spPr>
          <a:xfrm>
            <a:off x="265176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65176" y="4828032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64" name="Text 62"/>
          <p:cNvSpPr/>
          <p:nvPr/>
        </p:nvSpPr>
        <p:spPr>
          <a:xfrm>
            <a:off x="347472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CONFORMED DIMENSIONS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356616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 breaks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74904" y="562813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7" name="Text 65"/>
          <p:cNvSpPr/>
          <p:nvPr/>
        </p:nvSpPr>
        <p:spPr>
          <a:xfrm>
            <a:off x="493776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Wellness Forever, Health &amp; Glow appear in offtake, not in primary.</a:t>
            </a:r>
            <a:endParaRPr lang="en-US" sz="690" dirty="0"/>
          </a:p>
        </p:txBody>
      </p:sp>
      <p:sp>
        <p:nvSpPr>
          <p:cNvPr id="68" name="Shape 66"/>
          <p:cNvSpPr/>
          <p:nvPr/>
        </p:nvSpPr>
        <p:spPr>
          <a:xfrm>
            <a:off x="374904" y="599389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9" name="Text 67"/>
          <p:cNvSpPr/>
          <p:nvPr/>
        </p:nvSpPr>
        <p:spPr>
          <a:xfrm>
            <a:off x="493776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and Nykaa SS are combined at article level and cannot be separated.</a:t>
            </a:r>
            <a:endParaRPr lang="en-US" sz="690" dirty="0"/>
          </a:p>
        </p:txBody>
      </p:sp>
      <p:sp>
        <p:nvSpPr>
          <p:cNvPr id="70" name="Shape 68"/>
          <p:cNvSpPr/>
          <p:nvPr/>
        </p:nvSpPr>
        <p:spPr>
          <a:xfrm>
            <a:off x="374904" y="63596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71" name="Text 69"/>
          <p:cNvSpPr/>
          <p:nvPr/>
        </p:nvSpPr>
        <p:spPr>
          <a:xfrm>
            <a:off x="493776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India carries no geographic primary by design.</a:t>
            </a:r>
            <a:endParaRPr lang="en-US" sz="690" dirty="0"/>
          </a:p>
        </p:txBody>
      </p:sp>
      <p:sp>
        <p:nvSpPr>
          <p:cNvPr id="72" name="Shape 70"/>
          <p:cNvSpPr/>
          <p:nvPr/>
        </p:nvSpPr>
        <p:spPr>
          <a:xfrm>
            <a:off x="374904" y="67254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73" name="Text 71"/>
          <p:cNvSpPr/>
          <p:nvPr/>
        </p:nvSpPr>
        <p:spPr>
          <a:xfrm>
            <a:off x="493776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validated outer merge surfaces all of these automatically.</a:t>
            </a:r>
            <a:endParaRPr lang="en-US" sz="690" dirty="0"/>
          </a:p>
        </p:txBody>
      </p:sp>
      <p:sp>
        <p:nvSpPr>
          <p:cNvPr id="74" name="Shape 72"/>
          <p:cNvSpPr/>
          <p:nvPr/>
        </p:nvSpPr>
        <p:spPr>
          <a:xfrm>
            <a:off x="2410968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410968" y="4828032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76" name="Text 74"/>
          <p:cNvSpPr/>
          <p:nvPr/>
        </p:nvSpPr>
        <p:spPr>
          <a:xfrm>
            <a:off x="2493264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NON-ADDITIVE FACTS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2502408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Ratios never sum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2520696" y="562813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79" name="Text 77"/>
          <p:cNvSpPr/>
          <p:nvPr/>
        </p:nvSpPr>
        <p:spPr>
          <a:xfrm>
            <a:off x="2639568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national reads 99.7%; zones read 121%, 138% and 149%.</a:t>
            </a:r>
            <a:endParaRPr lang="en-US" sz="690" dirty="0"/>
          </a:p>
        </p:txBody>
      </p:sp>
      <p:sp>
        <p:nvSpPr>
          <p:cNvPr id="80" name="Shape 78"/>
          <p:cNvSpPr/>
          <p:nvPr/>
        </p:nvSpPr>
        <p:spPr>
          <a:xfrm>
            <a:off x="2520696" y="59938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81" name="Text 79"/>
          <p:cNvSpPr/>
          <p:nvPr/>
        </p:nvSpPr>
        <p:spPr>
          <a:xfrm>
            <a:off x="2639568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national figure is averaging error, not measured parity.</a:t>
            </a:r>
            <a:endParaRPr lang="en-US" sz="690" dirty="0"/>
          </a:p>
        </p:txBody>
      </p:sp>
      <p:sp>
        <p:nvSpPr>
          <p:cNvPr id="82" name="Shape 80"/>
          <p:cNvSpPr/>
          <p:nvPr/>
        </p:nvSpPr>
        <p:spPr>
          <a:xfrm>
            <a:off x="2520696" y="635965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83" name="Text 81"/>
          <p:cNvSpPr/>
          <p:nvPr/>
        </p:nvSpPr>
        <p:spPr>
          <a:xfrm>
            <a:off x="2639568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conversion above 100% is stock or timing, never performance.</a:t>
            </a:r>
            <a:endParaRPr lang="en-US" sz="690" dirty="0"/>
          </a:p>
        </p:txBody>
      </p:sp>
      <p:sp>
        <p:nvSpPr>
          <p:cNvPr id="84" name="Shape 82"/>
          <p:cNvSpPr/>
          <p:nvPr/>
        </p:nvSpPr>
        <p:spPr>
          <a:xfrm>
            <a:off x="2520696" y="67254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85" name="Text 83"/>
          <p:cNvSpPr/>
          <p:nvPr/>
        </p:nvSpPr>
        <p:spPr>
          <a:xfrm>
            <a:off x="2639568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quote a ratio without stating its denominator.</a:t>
            </a:r>
            <a:endParaRPr lang="en-US" sz="690" dirty="0"/>
          </a:p>
        </p:txBody>
      </p:sp>
      <p:sp>
        <p:nvSpPr>
          <p:cNvPr id="86" name="Shape 84"/>
          <p:cNvSpPr/>
          <p:nvPr/>
        </p:nvSpPr>
        <p:spPr>
          <a:xfrm>
            <a:off x="4556760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556760" y="482803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88" name="Text 86"/>
          <p:cNvSpPr/>
          <p:nvPr/>
        </p:nvSpPr>
        <p:spPr>
          <a:xfrm>
            <a:off x="4639056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700" dirty="0"/>
          </a:p>
        </p:txBody>
      </p:sp>
      <p:sp>
        <p:nvSpPr>
          <p:cNvPr id="89" name="Text 87"/>
          <p:cNvSpPr/>
          <p:nvPr/>
        </p:nvSpPr>
        <p:spPr>
          <a:xfrm>
            <a:off x="4648200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74.5%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4666488" y="5628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91" name="Text 89"/>
          <p:cNvSpPr/>
          <p:nvPr/>
        </p:nvSpPr>
        <p:spPr>
          <a:xfrm>
            <a:off x="4785360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scorecard covers ₹26.90 Cr of ₹36.10 Cr national offtake.</a:t>
            </a:r>
            <a:endParaRPr lang="en-US" sz="690" dirty="0"/>
          </a:p>
        </p:txBody>
      </p:sp>
      <p:sp>
        <p:nvSpPr>
          <p:cNvPr id="92" name="Shape 90"/>
          <p:cNvSpPr/>
          <p:nvPr/>
        </p:nvSpPr>
        <p:spPr>
          <a:xfrm>
            <a:off x="4666488" y="599389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93" name="Text 91"/>
          <p:cNvSpPr/>
          <p:nvPr/>
        </p:nvSpPr>
        <p:spPr>
          <a:xfrm>
            <a:off x="4785360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31,355 of 1,97,740 primary and offtake rows are matched.</a:t>
            </a:r>
            <a:endParaRPr lang="en-US" sz="690" dirty="0"/>
          </a:p>
        </p:txBody>
      </p:sp>
      <p:sp>
        <p:nvSpPr>
          <p:cNvPr id="94" name="Shape 92"/>
          <p:cNvSpPr/>
          <p:nvPr/>
        </p:nvSpPr>
        <p:spPr>
          <a:xfrm>
            <a:off x="4666488" y="63596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95" name="Text 93"/>
          <p:cNvSpPr/>
          <p:nvPr/>
        </p:nvSpPr>
        <p:spPr>
          <a:xfrm>
            <a:off x="4785360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zone rows: 0. Period: July 2026.</a:t>
            </a:r>
            <a:endParaRPr lang="en-US" sz="690" dirty="0"/>
          </a:p>
        </p:txBody>
      </p:sp>
      <p:sp>
        <p:nvSpPr>
          <p:cNvPr id="96" name="Shape 94"/>
          <p:cNvSpPr/>
          <p:nvPr/>
        </p:nvSpPr>
        <p:spPr>
          <a:xfrm>
            <a:off x="4666488" y="67254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97" name="Text 95"/>
          <p:cNvSpPr/>
          <p:nvPr/>
        </p:nvSpPr>
        <p:spPr>
          <a:xfrm>
            <a:off x="4785360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with missing July feeds are data gaps, not de-growth.</a:t>
            </a:r>
            <a:endParaRPr lang="en-US" sz="690" dirty="0"/>
          </a:p>
        </p:txBody>
      </p:sp>
      <p:sp>
        <p:nvSpPr>
          <p:cNvPr id="98" name="Shape 96"/>
          <p:cNvSpPr/>
          <p:nvPr/>
        </p:nvSpPr>
        <p:spPr>
          <a:xfrm>
            <a:off x="265176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65176" y="73517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00" name="Text 98"/>
          <p:cNvSpPr/>
          <p:nvPr/>
        </p:nvSpPr>
        <p:spPr>
          <a:xfrm>
            <a:off x="347472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MATERIALITY FLOOR</a:t>
            </a:r>
            <a:endParaRPr lang="en-US" sz="700" dirty="0"/>
          </a:p>
        </p:txBody>
      </p:sp>
      <p:sp>
        <p:nvSpPr>
          <p:cNvPr id="101" name="Text 99"/>
          <p:cNvSpPr/>
          <p:nvPr/>
        </p:nvSpPr>
        <p:spPr>
          <a:xfrm>
            <a:off x="356616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₹0.25 Cr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374904" y="81518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3" name="Text 101"/>
          <p:cNvSpPr/>
          <p:nvPr/>
        </p:nvSpPr>
        <p:spPr>
          <a:xfrm>
            <a:off x="493776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% shown, ranked or coloured below this base.</a:t>
            </a:r>
            <a:endParaRPr lang="en-US" sz="690" dirty="0"/>
          </a:p>
        </p:txBody>
      </p:sp>
      <p:sp>
        <p:nvSpPr>
          <p:cNvPr id="104" name="Shape 102"/>
          <p:cNvSpPr/>
          <p:nvPr/>
        </p:nvSpPr>
        <p:spPr>
          <a:xfrm>
            <a:off x="374904" y="85176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5" name="Text 103"/>
          <p:cNvSpPr/>
          <p:nvPr/>
        </p:nvSpPr>
        <p:spPr>
          <a:xfrm>
            <a:off x="493776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10 of 13 chains from the scorecard ranking.</a:t>
            </a:r>
            <a:endParaRPr lang="en-US" sz="690" dirty="0"/>
          </a:p>
        </p:txBody>
      </p:sp>
      <p:sp>
        <p:nvSpPr>
          <p:cNvPr id="106" name="Shape 104"/>
          <p:cNvSpPr/>
          <p:nvPr/>
        </p:nvSpPr>
        <p:spPr>
          <a:xfrm>
            <a:off x="374904" y="888339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7" name="Text 105"/>
          <p:cNvSpPr/>
          <p:nvPr/>
        </p:nvSpPr>
        <p:spPr>
          <a:xfrm>
            <a:off x="493776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zone recovery (₹0.11 Cr) falls below it.</a:t>
            </a:r>
            <a:endParaRPr lang="en-US" sz="690" dirty="0"/>
          </a:p>
        </p:txBody>
      </p:sp>
      <p:sp>
        <p:nvSpPr>
          <p:cNvPr id="108" name="Shape 106"/>
          <p:cNvSpPr/>
          <p:nvPr/>
        </p:nvSpPr>
        <p:spPr>
          <a:xfrm>
            <a:off x="374904" y="924915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9" name="Text 107"/>
          <p:cNvSpPr/>
          <p:nvPr/>
        </p:nvSpPr>
        <p:spPr>
          <a:xfrm>
            <a:off x="493776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floor, report the absolute ₹ change only.</a:t>
            </a:r>
            <a:endParaRPr lang="en-US" sz="690" dirty="0"/>
          </a:p>
        </p:txBody>
      </p:sp>
      <p:sp>
        <p:nvSpPr>
          <p:cNvPr id="110" name="Shape 108"/>
          <p:cNvSpPr/>
          <p:nvPr/>
        </p:nvSpPr>
        <p:spPr>
          <a:xfrm>
            <a:off x="2410968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2410968" y="7351776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112" name="Text 110"/>
          <p:cNvSpPr/>
          <p:nvPr/>
        </p:nvSpPr>
        <p:spPr>
          <a:xfrm>
            <a:off x="2493264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TO RECONCILE</a:t>
            </a:r>
            <a:endParaRPr lang="en-US" sz="700" dirty="0"/>
          </a:p>
        </p:txBody>
      </p:sp>
      <p:sp>
        <p:nvSpPr>
          <p:cNvPr id="113" name="Text 111"/>
          <p:cNvSpPr/>
          <p:nvPr/>
        </p:nvSpPr>
        <p:spPr>
          <a:xfrm>
            <a:off x="2502408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Five fields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2520696" y="815187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5" name="Text 113"/>
          <p:cNvSpPr/>
          <p:nvPr/>
        </p:nvSpPr>
        <p:spPr>
          <a:xfrm>
            <a:off x="2639568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SAH, weighted distribution by chain, PDO, OOS, closing stock.</a:t>
            </a:r>
            <a:endParaRPr lang="en-US" sz="690" dirty="0"/>
          </a:p>
        </p:txBody>
      </p:sp>
      <p:sp>
        <p:nvSpPr>
          <p:cNvPr id="116" name="Shape 114"/>
          <p:cNvSpPr/>
          <p:nvPr/>
        </p:nvSpPr>
        <p:spPr>
          <a:xfrm>
            <a:off x="2520696" y="851763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7" name="Text 115"/>
          <p:cNvSpPr/>
          <p:nvPr/>
        </p:nvSpPr>
        <p:spPr>
          <a:xfrm>
            <a:off x="2639568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these tie, cause is inferred and not measured.</a:t>
            </a:r>
            <a:endParaRPr lang="en-US" sz="690" dirty="0"/>
          </a:p>
        </p:txBody>
      </p:sp>
      <p:sp>
        <p:nvSpPr>
          <p:cNvPr id="118" name="Shape 116"/>
          <p:cNvSpPr/>
          <p:nvPr/>
        </p:nvSpPr>
        <p:spPr>
          <a:xfrm>
            <a:off x="2520696" y="888339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9" name="Text 117"/>
          <p:cNvSpPr/>
          <p:nvPr/>
        </p:nvSpPr>
        <p:spPr>
          <a:xfrm>
            <a:off x="2639568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SAH × share diagnosis is claimed in this pack.</a:t>
            </a:r>
            <a:endParaRPr lang="en-US" sz="690" dirty="0"/>
          </a:p>
        </p:txBody>
      </p:sp>
      <p:sp>
        <p:nvSpPr>
          <p:cNvPr id="120" name="Shape 118"/>
          <p:cNvSpPr/>
          <p:nvPr/>
        </p:nvSpPr>
        <p:spPr>
          <a:xfrm>
            <a:off x="2520696" y="92491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21" name="Text 119"/>
          <p:cNvSpPr/>
          <p:nvPr/>
        </p:nvSpPr>
        <p:spPr>
          <a:xfrm>
            <a:off x="2639568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pressure and turnover remain out of scope.</a:t>
            </a:r>
            <a:endParaRPr lang="en-US" sz="690" dirty="0"/>
          </a:p>
        </p:txBody>
      </p:sp>
      <p:sp>
        <p:nvSpPr>
          <p:cNvPr id="122" name="Shape 120"/>
          <p:cNvSpPr/>
          <p:nvPr/>
        </p:nvSpPr>
        <p:spPr>
          <a:xfrm>
            <a:off x="4556760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556760" y="7351776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24" name="Text 122"/>
          <p:cNvSpPr/>
          <p:nvPr/>
        </p:nvSpPr>
        <p:spPr>
          <a:xfrm>
            <a:off x="4639056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700" dirty="0"/>
          </a:p>
        </p:txBody>
      </p:sp>
      <p:sp>
        <p:nvSpPr>
          <p:cNvPr id="125" name="Text 123"/>
          <p:cNvSpPr/>
          <p:nvPr/>
        </p:nvSpPr>
        <p:spPr>
          <a:xfrm>
            <a:off x="4648200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Ask first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4666488" y="815187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27" name="Text 125"/>
          <p:cNvSpPr/>
          <p:nvPr/>
        </p:nvSpPr>
        <p:spPr>
          <a:xfrm>
            <a:off x="4785360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recommends and sizes; it does not decide.</a:t>
            </a:r>
            <a:endParaRPr lang="en-US" sz="690" dirty="0"/>
          </a:p>
        </p:txBody>
      </p:sp>
      <p:sp>
        <p:nvSpPr>
          <p:cNvPr id="128" name="Shape 126"/>
          <p:cNvSpPr/>
          <p:nvPr/>
        </p:nvSpPr>
        <p:spPr>
          <a:xfrm>
            <a:off x="4666488" y="85176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29" name="Text 127"/>
          <p:cNvSpPr/>
          <p:nvPr/>
        </p:nvSpPr>
        <p:spPr>
          <a:xfrm>
            <a:off x="4785360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NKAM, RKAM and KAM approve loading, range and distribution.</a:t>
            </a:r>
            <a:endParaRPr lang="en-US" sz="690" dirty="0"/>
          </a:p>
        </p:txBody>
      </p:sp>
      <p:sp>
        <p:nvSpPr>
          <p:cNvPr id="130" name="Shape 128"/>
          <p:cNvSpPr/>
          <p:nvPr/>
        </p:nvSpPr>
        <p:spPr>
          <a:xfrm>
            <a:off x="4666488" y="88833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31" name="Text 129"/>
          <p:cNvSpPr/>
          <p:nvPr/>
        </p:nvSpPr>
        <p:spPr>
          <a:xfrm>
            <a:off x="4785360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what changed, the evidence, the owner and the date.</a:t>
            </a:r>
            <a:endParaRPr lang="en-US" sz="690" dirty="0"/>
          </a:p>
        </p:txBody>
      </p:sp>
      <p:sp>
        <p:nvSpPr>
          <p:cNvPr id="132" name="Shape 130"/>
          <p:cNvSpPr/>
          <p:nvPr/>
        </p:nvSpPr>
        <p:spPr>
          <a:xfrm>
            <a:off x="4666488" y="92491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33" name="Text 131"/>
          <p:cNvSpPr/>
          <p:nvPr/>
        </p:nvSpPr>
        <p:spPr>
          <a:xfrm>
            <a:off x="4785360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Revoke or stop when the proof point fails.</a:t>
            </a:r>
            <a:endParaRPr lang="en-US" sz="690" dirty="0"/>
          </a:p>
        </p:txBody>
      </p:sp>
      <p:sp>
        <p:nvSpPr>
          <p:cNvPr id="134" name="Shape 132"/>
          <p:cNvSpPr/>
          <p:nvPr/>
        </p:nvSpPr>
        <p:spPr>
          <a:xfrm>
            <a:off x="265176" y="9930384"/>
            <a:ext cx="6327648" cy="475488"/>
          </a:xfrm>
          <a:prstGeom prst="roundRect">
            <a:avLst>
              <a:gd name="adj" fmla="val 3846"/>
            </a:avLst>
          </a:prstGeom>
          <a:solidFill>
            <a:srgbClr val="FBEDEC"/>
          </a:solidFill>
          <a:ln w="9525">
            <a:solidFill>
              <a:srgbClr val="D6544D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374904" y="9985248"/>
            <a:ext cx="6108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68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 SINCE THE PREVIOUS PACK   </a:t>
            </a:r>
            <a:pPr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national gap now reads ₹15.17 Cr gross rather than ₹13.11 Cr net. The earlier figure subtracted ₹2.07 Cr of Pan India offtake that carries no mapped primary, and mixed a chain-level base with a zone-level one. Both bases are now stated, and positive and negative gap are reported separately.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July 2026 Modern Trade Growth Command Centre</dc:title>
  <dc:subject>PptxGenJS Presentation</dc:subject>
  <dc:creator>Modern Trade Analytics</dc:creator>
  <cp:lastModifiedBy>Modern Trade Analytics</cp:lastModifiedBy>
  <cp:revision>1</cp:revision>
  <dcterms:created xsi:type="dcterms:W3CDTF">2026-08-16T12:55:03Z</dcterms:created>
  <dcterms:modified xsi:type="dcterms:W3CDTF">2026-08-16T12:55:03Z</dcterms:modified>
</cp:coreProperties>
</file>