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323232"/>
                </a:solidFill>
                <a:latin typeface="Arial"/>
              </a:defRPr>
            </a:pPr>
            <a:r>
              <a:rPr sz="900" b="0" i="0" u="none" strike="noStrike">
                <a:solidFill>
                  <a:srgbClr val="323232"/>
                </a:solidFill>
                <a:latin typeface="Arial"/>
              </a:rPr>
              <a:t>Monthly Primary Trend ₹Lacs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₹Lacs</c:v>
                </c:pt>
              </c:strCache>
            </c:strRef>
          </c:tx>
          <c:spPr>
            <a:solidFill>
              <a:srgbClr val="1A3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3232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D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AA52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Apr+May Combined</c:v>
                  </c:pt>
                  <c:pt idx="1">
                    <c:v>Jun '26</c:v>
                  </c:pt>
                  <c:pt idx="2">
                    <c:v>Jul '26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9486</c:v>
                </c:pt>
                <c:pt idx="1">
                  <c:v>4167</c:v>
                </c:pt>
                <c:pt idx="2">
                  <c:v>4921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3232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232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  <c:min val="0"/>
        </c:scaling>
        <c:delete val="0"/>
        <c:axPos val="l"/>
        <c:majorGridlines>
          <c:spPr>
            <a:ln w="6350" cap="flat">
              <a:solidFill>
                <a:srgbClr val="D8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FYTD ₹Lacs</c:v>
                </c:pt>
              </c:strCache>
            </c:strRef>
          </c:tx>
          <c:spPr>
            <a:solidFill>
              <a:srgbClr val="DAA5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AA5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4B59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B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Face Cleanser</c:v>
                  </c:pt>
                  <c:pt idx="1">
                    <c:v>Shampoo</c:v>
                  </c:pt>
                  <c:pt idx="2">
                    <c:v>Sun Care</c:v>
                  </c:pt>
                  <c:pt idx="3">
                    <c:v>Face Serum</c:v>
                  </c:pt>
                  <c:pt idx="4">
                    <c:v>Others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8265</c:v>
                </c:pt>
                <c:pt idx="1">
                  <c:v>4782</c:v>
                </c:pt>
                <c:pt idx="2">
                  <c:v>2312</c:v>
                </c:pt>
                <c:pt idx="3">
                  <c:v>1456</c:v>
                </c:pt>
                <c:pt idx="4">
                  <c:v>1368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"/>
        </c:scaling>
        <c:delete val="0"/>
        <c:axPos val="b"/>
        <c:majorGridlines>
          <c:spPr>
            <a:ln w="6350" cap="flat">
              <a:solidFill>
                <a:srgbClr val="1E40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23232"/>
                </a:solidFill>
                <a:latin typeface="Arial"/>
              </a:defRPr>
            </a:pPr>
            <a:r>
              <a:rPr sz="1000" b="0" i="0" u="none" strike="noStrike">
                <a:solidFill>
                  <a:srgbClr val="323232"/>
                </a:solidFill>
                <a:latin typeface="Arial"/>
              </a:rPr>
              <a:t>Zone Revenue ₹Lacs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FYTD ₹Lacs</c:v>
                </c:pt>
              </c:strCache>
            </c:strRef>
          </c:tx>
          <c:spPr>
            <a:solidFill>
              <a:srgbClr val="1025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3232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25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AA5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25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254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254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West</c:v>
                  </c:pt>
                  <c:pt idx="1">
                    <c:v>South-1</c:v>
                  </c:pt>
                  <c:pt idx="2">
                    <c:v>North</c:v>
                  </c:pt>
                  <c:pt idx="3">
                    <c:v>South-2</c:v>
                  </c:pt>
                  <c:pt idx="4">
                    <c:v>East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4924</c:v>
                </c:pt>
                <c:pt idx="1">
                  <c:v>4440</c:v>
                </c:pt>
                <c:pt idx="2">
                  <c:v>4133</c:v>
                </c:pt>
                <c:pt idx="3">
                  <c:v>2688</c:v>
                </c:pt>
                <c:pt idx="4">
                  <c:v>1998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3232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232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FYTD Primary ₹18,574L (+82.3% YoY). July ₹4,921L (+18.1% MoM). Mamaearth ₹12,573L (69.1%). Derma Co. ₹5,173L (+404.2%). Face Cleanser ₹8,265L (45.5%).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 ₹17,241L (+93.9%), eB2B ₹894L (+23.1%), SIS ₹46L (+24.3%). Jun dip = planned inventory rebalancing. Jul recovery +18.1% MoM.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FW: Mamaearth #4, 10.5% MS, +3.1pp, 89% WD, +58.2% L3M. Shampoo: #7, 3.7% MS, +1.2pp, 81.5% WD, +80.3% L3M. Jul Nielsen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Mamaearth ₹12,573L (69.1%, +50.5%). Derma Co. ₹5,173L (28.5%, +404.2%). Aqualogica, Aykriti, Dr. Sheth's — emerging.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 Cleanser ₹8,265L (45.5%, +124.7%). Shampoo ₹4,782L (26.3%). Sun Care ₹2,312L (12.7%). Face Serum ₹1,456L (8.0%).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West ₹4,924L (+84.9%). South-1 ₹4,440L (+120.3% growth leader). North ₹4,133L (+94.0%). South-2 ₹2,688L. East ₹1,998L. Total matrix ₹18,183L.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priorities: (1) Defend 89% FW WD, (2) Close Shampoo WD gap to 89%, (3) Scale Derma Co. &gt;40% WD, (4) Fix East/South-2 fill rates. Hero SKUs: FW 100/150ml, Shampoo 250/400ml.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ASP: ₹171.7→₹179.2 (+4.4%). eB2B: 93.9% flow, 198 active EANs. Derma Co. FC spike +47.5% MoM. MH Shampoo +44.5% 6-month trajectory.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 ·  FYTD Jul '26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56032" y="548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Momentum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463040" cy="38405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188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 ·  MT Analytics  ·  FYTD Jul '26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1664208" cy="1417320"/>
          </a:xfrm>
          <a:prstGeom prst="rect">
            <a:avLst/>
          </a:prstGeom>
          <a:solidFill>
            <a:srgbClr val="1A3D6B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978408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₹4,921L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0896" y="1572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 Primary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10896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+18.1% MoM  |  Jun was ₹4,167L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2039112" y="896112"/>
            <a:ext cx="1664208" cy="1417320"/>
          </a:xfrm>
          <a:prstGeom prst="rect">
            <a:avLst/>
          </a:prstGeom>
          <a:solidFill>
            <a:srgbClr val="1A3D6B"/>
          </a:solidFill>
          <a:ln/>
        </p:spPr>
      </p:sp>
      <p:sp>
        <p:nvSpPr>
          <p:cNvPr id="11" name="Text 9"/>
          <p:cNvSpPr/>
          <p:nvPr/>
        </p:nvSpPr>
        <p:spPr>
          <a:xfrm>
            <a:off x="2093976" y="978408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₹18,574L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93976" y="1572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Primary (Apr–Jul)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93976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+82.3% YoY vs ₹10,190L LY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3822192" y="896112"/>
            <a:ext cx="1664208" cy="1417320"/>
          </a:xfrm>
          <a:prstGeom prst="rect">
            <a:avLst/>
          </a:prstGeom>
          <a:solidFill>
            <a:srgbClr val="1A3D6B"/>
          </a:solidFill>
          <a:ln/>
        </p:spPr>
      </p:sp>
      <p:sp>
        <p:nvSpPr>
          <p:cNvPr id="15" name="Text 13"/>
          <p:cNvSpPr/>
          <p:nvPr/>
        </p:nvSpPr>
        <p:spPr>
          <a:xfrm>
            <a:off x="3877056" y="978408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₹12,573L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77056" y="1572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FYTD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77056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69.1% share  |  +50.5% YoY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5605272" y="896112"/>
            <a:ext cx="1664208" cy="1417320"/>
          </a:xfrm>
          <a:prstGeom prst="rect">
            <a:avLst/>
          </a:prstGeom>
          <a:solidFill>
            <a:srgbClr val="1A3D6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0136" y="978408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₹5,173L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0136" y="1572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FYTD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0136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+404.2% YoY — Hyper Growth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7388352" y="896112"/>
            <a:ext cx="1664208" cy="1417320"/>
          </a:xfrm>
          <a:prstGeom prst="rect">
            <a:avLst/>
          </a:prstGeom>
          <a:solidFill>
            <a:srgbClr val="1A3D6B"/>
          </a:solidFill>
          <a:ln/>
        </p:spPr>
      </p:sp>
      <p:sp>
        <p:nvSpPr>
          <p:cNvPr id="23" name="Text 21"/>
          <p:cNvSpPr/>
          <p:nvPr/>
        </p:nvSpPr>
        <p:spPr>
          <a:xfrm>
            <a:off x="7443216" y="978408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₹8,265L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43216" y="1572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FYTD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443216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45.5% share  |  +124.7% YoY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256032" y="2441448"/>
            <a:ext cx="8631936" cy="877824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487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YoY Growth Engine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2706624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Primary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384048" y="2871216"/>
            <a:ext cx="1572768" cy="182880"/>
          </a:xfrm>
          <a:prstGeom prst="rect">
            <a:avLst/>
          </a:prstGeom>
          <a:solidFill>
            <a:srgbClr val="163060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2871216"/>
            <a:ext cx="1294388" cy="182880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06324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+82.3% YoY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084832" y="2706624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2084832" y="2871216"/>
            <a:ext cx="1572768" cy="182880"/>
          </a:xfrm>
          <a:prstGeom prst="rect">
            <a:avLst/>
          </a:prstGeom>
          <a:solidFill>
            <a:srgbClr val="163060"/>
          </a:solidFill>
          <a:ln/>
        </p:spPr>
      </p:sp>
      <p:sp>
        <p:nvSpPr>
          <p:cNvPr id="34" name="Shape 32"/>
          <p:cNvSpPr/>
          <p:nvPr/>
        </p:nvSpPr>
        <p:spPr>
          <a:xfrm>
            <a:off x="2084832" y="2871216"/>
            <a:ext cx="1572768" cy="18288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35" name="Text 33"/>
          <p:cNvSpPr/>
          <p:nvPr/>
        </p:nvSpPr>
        <p:spPr>
          <a:xfrm>
            <a:off x="2084832" y="306324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+404% YoY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785616" y="2706624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3785616" y="2871216"/>
            <a:ext cx="1572768" cy="182880"/>
          </a:xfrm>
          <a:prstGeom prst="rect">
            <a:avLst/>
          </a:prstGeom>
          <a:solidFill>
            <a:srgbClr val="163060"/>
          </a:solidFill>
          <a:ln/>
        </p:spPr>
      </p:sp>
      <p:sp>
        <p:nvSpPr>
          <p:cNvPr id="38" name="Shape 36"/>
          <p:cNvSpPr/>
          <p:nvPr/>
        </p:nvSpPr>
        <p:spPr>
          <a:xfrm>
            <a:off x="3785616" y="2871216"/>
            <a:ext cx="1572768" cy="182880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39" name="Text 37"/>
          <p:cNvSpPr/>
          <p:nvPr/>
        </p:nvSpPr>
        <p:spPr>
          <a:xfrm>
            <a:off x="3785616" y="306324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8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+124.7% YoY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486400" y="2706624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486400" y="2871216"/>
            <a:ext cx="1572768" cy="182880"/>
          </a:xfrm>
          <a:prstGeom prst="rect">
            <a:avLst/>
          </a:prstGeom>
          <a:solidFill>
            <a:srgbClr val="163060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0" y="2871216"/>
            <a:ext cx="794248" cy="182880"/>
          </a:xfrm>
          <a:prstGeom prst="rect">
            <a:avLst/>
          </a:prstGeom>
          <a:solidFill>
            <a:srgbClr val="90CAF9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0" y="306324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+50.5% YoY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187184" y="2706624"/>
            <a:ext cx="1572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Zone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187184" y="2871216"/>
            <a:ext cx="1572768" cy="182880"/>
          </a:xfrm>
          <a:prstGeom prst="rect">
            <a:avLst/>
          </a:prstGeom>
          <a:solidFill>
            <a:srgbClr val="163060"/>
          </a:solidFill>
          <a:ln/>
        </p:spPr>
      </p:sp>
      <p:sp>
        <p:nvSpPr>
          <p:cNvPr id="46" name="Shape 44"/>
          <p:cNvSpPr/>
          <p:nvPr/>
        </p:nvSpPr>
        <p:spPr>
          <a:xfrm>
            <a:off x="7187184" y="2871216"/>
            <a:ext cx="1572768" cy="18288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7" name="Text 45"/>
          <p:cNvSpPr/>
          <p:nvPr/>
        </p:nvSpPr>
        <p:spPr>
          <a:xfrm>
            <a:off x="7187184" y="306324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+120.3% YoY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56032" y="3410712"/>
            <a:ext cx="8631936" cy="292608"/>
          </a:xfrm>
          <a:prstGeom prst="rect">
            <a:avLst/>
          </a:prstGeom>
          <a:solidFill>
            <a:srgbClr val="163060"/>
          </a:solidFill>
          <a:ln/>
        </p:spPr>
      </p:sp>
      <p:sp>
        <p:nvSpPr>
          <p:cNvPr id="49" name="Text 47"/>
          <p:cNvSpPr/>
          <p:nvPr/>
        </p:nvSpPr>
        <p:spPr>
          <a:xfrm>
            <a:off x="384048" y="34655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Jul '26 Recovery: ₹4,167L → ₹4,921L  (+18.1% MoM)  post May–Jun inventory rebalancing  ·  FYTD +82.3% YoY driven by Mamaearth anchor + Derma Co. hyper-scale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0" y="3730752"/>
            <a:ext cx="9144000" cy="1412748"/>
          </a:xfrm>
          <a:prstGeom prst="rect">
            <a:avLst/>
          </a:prstGeom>
          <a:solidFill>
            <a:srgbClr val="06111F"/>
          </a:solidFill>
          <a:ln/>
        </p:spPr>
      </p:sp>
      <p:sp>
        <p:nvSpPr>
          <p:cNvPr id="51" name="Text 49"/>
          <p:cNvSpPr/>
          <p:nvPr/>
        </p:nvSpPr>
        <p:spPr>
          <a:xfrm>
            <a:off x="201168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LEADERSHIP SCRIPT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01168" y="3950208"/>
            <a:ext cx="8741664" cy="14630"/>
          </a:xfrm>
          <a:prstGeom prst="rect">
            <a:avLst/>
          </a:prstGeom>
          <a:solidFill>
            <a:srgbClr val="1E4070"/>
          </a:solidFill>
          <a:ln/>
        </p:spPr>
      </p:sp>
      <p:sp>
        <p:nvSpPr>
          <p:cNvPr id="53" name="Text 51"/>
          <p:cNvSpPr/>
          <p:nvPr/>
        </p:nvSpPr>
        <p:spPr>
          <a:xfrm>
            <a:off x="201168" y="3995928"/>
            <a:ext cx="8741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[morning/afternoon]. Our MT channel delivered ₹18,574 Lacs FYTD — an 82.3% step-up versus ₹10,190 Lacs last year. This is structural scale, not cyclical noise. July at ₹4,921 Lacs marks an 18.1% MoM rebound from the June trough of ₹4,167 Lacs, which was a deliberate inventory rebalancing cycle. Two brands are driving this story: Mamaearth at ₹12,573 Lacs with 69.1% portfolio share and solid 50.5% YoY growth, and The Derma Co. at ₹5,173 Lacs delivering 404% YoY — that is a brand going from category entrant to category shaper inside 12 months. Face Cleanser anchors the category at 45.5% of our portfolio. The strategic question for this review: given this trajectory, where do we invest the next rupee of attention and resource?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Performance Matrix  ·  FYTD Jul '26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56032" y="603504"/>
            <a:ext cx="1645920" cy="38405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2801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 ·  MT Analytics  ·  FYTD Jul '26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1920240" cy="1508760"/>
          </a:xfrm>
          <a:prstGeom prst="rect">
            <a:avLst/>
          </a:prstGeom>
          <a:solidFill>
            <a:srgbClr val="EEF3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77824"/>
            <a:ext cx="1737360" cy="164592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877824"/>
            <a:ext cx="1647017" cy="164592"/>
          </a:xfrm>
          <a:prstGeom prst="rect">
            <a:avLst/>
          </a:prstGeom>
          <a:solidFill>
            <a:srgbClr val="10254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051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9184" y="126187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₹17,241L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29184" y="177393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(MT)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202996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+93.9% YoY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04288" y="804672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877824"/>
            <a:ext cx="1737360" cy="164592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14" name="Shape 12"/>
          <p:cNvSpPr/>
          <p:nvPr/>
        </p:nvSpPr>
        <p:spPr>
          <a:xfrm>
            <a:off x="2395728" y="877824"/>
            <a:ext cx="85131" cy="164592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15" name="Text 13"/>
          <p:cNvSpPr/>
          <p:nvPr/>
        </p:nvSpPr>
        <p:spPr>
          <a:xfrm>
            <a:off x="2395728" y="1051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A8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77440" y="126187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8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₹894L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377440" y="177393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77440" y="202996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+23.1% YoY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352544" y="804672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43984" y="877824"/>
            <a:ext cx="1737360" cy="164592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43984" y="877824"/>
            <a:ext cx="18288" cy="164592"/>
          </a:xfrm>
          <a:prstGeom prst="rect">
            <a:avLst/>
          </a:prstGeom>
          <a:solidFill>
            <a:srgbClr val="8A9BB2"/>
          </a:solidFill>
          <a:ln/>
        </p:spPr>
      </p:sp>
      <p:sp>
        <p:nvSpPr>
          <p:cNvPr id="22" name="Text 20"/>
          <p:cNvSpPr/>
          <p:nvPr/>
        </p:nvSpPr>
        <p:spPr>
          <a:xfrm>
            <a:off x="4443984" y="1051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25696" y="126187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9B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₹46L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425696" y="177393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425696" y="202996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+24.3% YoY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00800" y="804672"/>
            <a:ext cx="1920240" cy="1508760"/>
          </a:xfrm>
          <a:prstGeom prst="rect">
            <a:avLst/>
          </a:prstGeom>
          <a:solidFill>
            <a:srgbClr val="FFF8E8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877824"/>
            <a:ext cx="1737360" cy="164592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877824"/>
            <a:ext cx="1737360" cy="16459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1051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73952" y="126187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₹18,183L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473952" y="177393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(Matrix Base)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73952" y="202996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₹18,574L FYTD Total</a:t>
            </a:r>
            <a:endParaRPr lang="en-US" sz="7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256032" y="2423160"/>
          <a:ext cx="43891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Shape 31"/>
          <p:cNvSpPr/>
          <p:nvPr/>
        </p:nvSpPr>
        <p:spPr>
          <a:xfrm>
            <a:off x="4864608" y="2423160"/>
            <a:ext cx="4023360" cy="11887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83480" y="24688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Rebalancing Story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983480" y="27432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Apr–May combined ₹9,486L — strong H1 loading by key accounts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983480" y="296265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Jun ₹4,167L — planned inventory digestion cycle; channels clearing pipelines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983480" y="318211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Jul ₹4,921L — +18.1% MoM rebound; demand signals healthy &amp; restocking live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983480" y="34015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FYTD matrix base ₹18,183L vs total ₹18,574L — ₹391L in direct/other allocations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0" y="3730752"/>
            <a:ext cx="9144000" cy="1412748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41" name="Text 38"/>
          <p:cNvSpPr/>
          <p:nvPr/>
        </p:nvSpPr>
        <p:spPr>
          <a:xfrm>
            <a:off x="201168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LEADERSHIP SCRIPT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01168" y="3950208"/>
            <a:ext cx="8741664" cy="14630"/>
          </a:xfrm>
          <a:prstGeom prst="rect">
            <a:avLst/>
          </a:prstGeom>
          <a:solidFill>
            <a:srgbClr val="1E4070"/>
          </a:solidFill>
          <a:ln/>
        </p:spPr>
      </p:sp>
      <p:sp>
        <p:nvSpPr>
          <p:cNvPr id="43" name="Text 40"/>
          <p:cNvSpPr/>
          <p:nvPr/>
        </p:nvSpPr>
        <p:spPr>
          <a:xfrm>
            <a:off x="201168" y="3995928"/>
            <a:ext cx="8741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channel distribution tells a clear story: Modern Trade commands 94.8% at ₹17,241 Lacs and grew 93.9% YoY — nearly doubling the base. eB2B at ₹894 Lacs and SIS at ₹46 Lacs are growing but remain complementary channels. The monthly cadence shows a deliberate pattern: strong primary loading in April–May as accounts anticipated summer demand, a planned inventory rebalancing in June as channels digested that pipeline — that is not a warning sign, it is disciplined trade management — followed by a sharp 18.1% MoM recovery in July confirming underlying demand health. The ₹391 Lacs difference between matrix base and FYTD total reflects direct and other channel allocations outside the three primary channels. Key ask for zone heads: maintain MT fill rates above 95% in August to sustain the July momentum.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 Market Share Review  ·  Nielsen RMS Jun '26 Panel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56032" y="603504"/>
            <a:ext cx="1645920" cy="38405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2801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 ·  MT Analytics  ·  FYTD Jul '26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4224528" cy="2907792"/>
          </a:xfrm>
          <a:prstGeom prst="rect">
            <a:avLst/>
          </a:prstGeom>
          <a:solidFill>
            <a:srgbClr val="1A3D6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95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WASH (MT)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₹858 Cr  |  +14.6% YoY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7472" y="1243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64208" y="1271016"/>
            <a:ext cx="2286000" cy="164592"/>
          </a:xfrm>
          <a:prstGeom prst="rect">
            <a:avLst/>
          </a:prstGeom>
          <a:solidFill>
            <a:srgbClr val="2A4A7A"/>
          </a:solidFill>
          <a:ln/>
        </p:spPr>
      </p:sp>
      <p:sp>
        <p:nvSpPr>
          <p:cNvPr id="10" name="Shape 8"/>
          <p:cNvSpPr/>
          <p:nvPr/>
        </p:nvSpPr>
        <p:spPr>
          <a:xfrm>
            <a:off x="1664208" y="1271016"/>
            <a:ext cx="2066544" cy="1645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12435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64208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-1.6pp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47472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64208" y="1764792"/>
            <a:ext cx="2286000" cy="164592"/>
          </a:xfrm>
          <a:prstGeom prst="rect">
            <a:avLst/>
          </a:prstGeom>
          <a:solidFill>
            <a:srgbClr val="2A4A7A"/>
          </a:solidFill>
          <a:ln/>
        </p:spPr>
      </p:sp>
      <p:sp>
        <p:nvSpPr>
          <p:cNvPr id="15" name="Shape 13"/>
          <p:cNvSpPr/>
          <p:nvPr/>
        </p:nvSpPr>
        <p:spPr>
          <a:xfrm>
            <a:off x="1664208" y="1764792"/>
            <a:ext cx="1563624" cy="1645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1737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64208" y="19385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47472" y="22311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64208" y="2258568"/>
            <a:ext cx="2286000" cy="164592"/>
          </a:xfrm>
          <a:prstGeom prst="rect">
            <a:avLst/>
          </a:prstGeom>
          <a:solidFill>
            <a:srgbClr val="2A4A7A"/>
          </a:solidFill>
          <a:ln/>
        </p:spPr>
      </p:sp>
      <p:sp>
        <p:nvSpPr>
          <p:cNvPr id="20" name="Shape 18"/>
          <p:cNvSpPr/>
          <p:nvPr/>
        </p:nvSpPr>
        <p:spPr>
          <a:xfrm>
            <a:off x="1664208" y="2258568"/>
            <a:ext cx="1408176" cy="1645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3977640" y="223113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64208" y="2432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47472" y="2724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#4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64208" y="2752344"/>
            <a:ext cx="2286000" cy="164592"/>
          </a:xfrm>
          <a:prstGeom prst="rect">
            <a:avLst/>
          </a:prstGeom>
          <a:solidFill>
            <a:srgbClr val="2A4A7A"/>
          </a:solidFill>
          <a:ln/>
        </p:spPr>
      </p:sp>
      <p:sp>
        <p:nvSpPr>
          <p:cNvPr id="25" name="Shape 23"/>
          <p:cNvSpPr/>
          <p:nvPr/>
        </p:nvSpPr>
        <p:spPr>
          <a:xfrm>
            <a:off x="1664208" y="2752344"/>
            <a:ext cx="960120" cy="16459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26" name="Text 24"/>
          <p:cNvSpPr/>
          <p:nvPr/>
        </p:nvSpPr>
        <p:spPr>
          <a:xfrm>
            <a:off x="3977640" y="27249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64208" y="29260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+3.1pp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47472" y="2834640"/>
            <a:ext cx="1261872" cy="658368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88036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4048" y="3218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 Mamaearth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737360" y="2834640"/>
            <a:ext cx="1261872" cy="658368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32" name="Text 30"/>
          <p:cNvSpPr/>
          <p:nvPr/>
        </p:nvSpPr>
        <p:spPr>
          <a:xfrm>
            <a:off x="1773936" y="288036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+58.2%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73936" y="3218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YoY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127248" y="2834640"/>
            <a:ext cx="1261872" cy="658368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35" name="Text 33"/>
          <p:cNvSpPr/>
          <p:nvPr/>
        </p:nvSpPr>
        <p:spPr>
          <a:xfrm>
            <a:off x="3163824" y="288036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27.3%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163824" y="3218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 Co. WD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663440" y="749808"/>
            <a:ext cx="4224528" cy="2907792"/>
          </a:xfrm>
          <a:prstGeom prst="rect">
            <a:avLst/>
          </a:prstGeom>
          <a:solidFill>
            <a:srgbClr val="1A3D6B"/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795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SHAMPOO (MT)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3168" y="1005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₹1,736 Cr  |  +7.6% YoY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54880" y="12435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63056" y="1261872"/>
            <a:ext cx="2103120" cy="146304"/>
          </a:xfrm>
          <a:prstGeom prst="rect">
            <a:avLst/>
          </a:prstGeom>
          <a:solidFill>
            <a:srgbClr val="2A4A7A"/>
          </a:solidFill>
          <a:ln/>
        </p:spPr>
      </p:sp>
      <p:sp>
        <p:nvSpPr>
          <p:cNvPr id="42" name="Shape 40"/>
          <p:cNvSpPr/>
          <p:nvPr/>
        </p:nvSpPr>
        <p:spPr>
          <a:xfrm>
            <a:off x="6163056" y="1261872"/>
            <a:ext cx="1745590" cy="14630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0" y="12435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54880" y="1627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63056" y="1645920"/>
            <a:ext cx="2103120" cy="146304"/>
          </a:xfrm>
          <a:prstGeom prst="rect">
            <a:avLst/>
          </a:prstGeom>
          <a:solidFill>
            <a:srgbClr val="2A4A7A"/>
          </a:solidFill>
          <a:ln/>
        </p:spPr>
      </p:sp>
      <p:sp>
        <p:nvSpPr>
          <p:cNvPr id="46" name="Shape 44"/>
          <p:cNvSpPr/>
          <p:nvPr/>
        </p:nvSpPr>
        <p:spPr>
          <a:xfrm>
            <a:off x="6163056" y="1645920"/>
            <a:ext cx="1367028" cy="14630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7" name="Text 45"/>
          <p:cNvSpPr/>
          <p:nvPr/>
        </p:nvSpPr>
        <p:spPr>
          <a:xfrm>
            <a:off x="8321040" y="16276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5488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Sunsilk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63056" y="2029968"/>
            <a:ext cx="2103120" cy="146304"/>
          </a:xfrm>
          <a:prstGeom prst="rect">
            <a:avLst/>
          </a:prstGeom>
          <a:solidFill>
            <a:srgbClr val="2A4A7A"/>
          </a:solidFill>
          <a:ln/>
        </p:spPr>
      </p:sp>
      <p:sp>
        <p:nvSpPr>
          <p:cNvPr id="50" name="Shape 48"/>
          <p:cNvSpPr/>
          <p:nvPr/>
        </p:nvSpPr>
        <p:spPr>
          <a:xfrm>
            <a:off x="6163056" y="2029968"/>
            <a:ext cx="988466" cy="14630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1" name="Text 49"/>
          <p:cNvSpPr/>
          <p:nvPr/>
        </p:nvSpPr>
        <p:spPr>
          <a:xfrm>
            <a:off x="8321040" y="20116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54880" y="2395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63056" y="2414016"/>
            <a:ext cx="2103120" cy="146304"/>
          </a:xfrm>
          <a:prstGeom prst="rect">
            <a:avLst/>
          </a:prstGeom>
          <a:solidFill>
            <a:srgbClr val="2A4A7A"/>
          </a:solidFill>
          <a:ln/>
        </p:spPr>
      </p:sp>
      <p:sp>
        <p:nvSpPr>
          <p:cNvPr id="54" name="Shape 52"/>
          <p:cNvSpPr/>
          <p:nvPr/>
        </p:nvSpPr>
        <p:spPr>
          <a:xfrm>
            <a:off x="6163056" y="2414016"/>
            <a:ext cx="820217" cy="14630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5" name="Text 53"/>
          <p:cNvSpPr/>
          <p:nvPr/>
        </p:nvSpPr>
        <p:spPr>
          <a:xfrm>
            <a:off x="8321040" y="23957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54880" y="27797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#7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63056" y="2798064"/>
            <a:ext cx="2103120" cy="146304"/>
          </a:xfrm>
          <a:prstGeom prst="rect">
            <a:avLst/>
          </a:prstGeom>
          <a:solidFill>
            <a:srgbClr val="2A4A7A"/>
          </a:solidFill>
          <a:ln/>
        </p:spPr>
      </p:sp>
      <p:sp>
        <p:nvSpPr>
          <p:cNvPr id="58" name="Shape 56"/>
          <p:cNvSpPr/>
          <p:nvPr/>
        </p:nvSpPr>
        <p:spPr>
          <a:xfrm>
            <a:off x="6163056" y="2798064"/>
            <a:ext cx="389077" cy="14630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59" name="Text 57"/>
          <p:cNvSpPr/>
          <p:nvPr/>
        </p:nvSpPr>
        <p:spPr>
          <a:xfrm>
            <a:off x="8321040" y="27797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63056" y="294436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+1.2pp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754880" y="2834640"/>
            <a:ext cx="1261872" cy="658368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62" name="Text 60"/>
          <p:cNvSpPr/>
          <p:nvPr/>
        </p:nvSpPr>
        <p:spPr>
          <a:xfrm>
            <a:off x="4791456" y="288036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81.5%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791456" y="3218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 Mamaearth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144768" y="2834640"/>
            <a:ext cx="1261872" cy="658368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65" name="Text 63"/>
          <p:cNvSpPr/>
          <p:nvPr/>
        </p:nvSpPr>
        <p:spPr>
          <a:xfrm>
            <a:off x="6181344" y="288036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+80.3%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181344" y="3218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YoY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534656" y="2834640"/>
            <a:ext cx="1261872" cy="658368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68" name="Text 66"/>
          <p:cNvSpPr/>
          <p:nvPr/>
        </p:nvSpPr>
        <p:spPr>
          <a:xfrm>
            <a:off x="7571232" y="288036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25.5%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571232" y="3218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 Index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685032" y="749808"/>
            <a:ext cx="896112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1" name="Text 69"/>
          <p:cNvSpPr/>
          <p:nvPr/>
        </p:nvSpPr>
        <p:spPr>
          <a:xfrm>
            <a:off x="3694176" y="768096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Tier 3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 Feed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0" y="3730752"/>
            <a:ext cx="9144000" cy="1412748"/>
          </a:xfrm>
          <a:prstGeom prst="rect">
            <a:avLst/>
          </a:prstGeom>
          <a:solidFill>
            <a:srgbClr val="06111F"/>
          </a:solidFill>
          <a:ln/>
        </p:spPr>
      </p:sp>
      <p:sp>
        <p:nvSpPr>
          <p:cNvPr id="73" name="Text 71"/>
          <p:cNvSpPr/>
          <p:nvPr/>
        </p:nvSpPr>
        <p:spPr>
          <a:xfrm>
            <a:off x="201168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LEADERSHIP SCRIPT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201168" y="3950208"/>
            <a:ext cx="8741664" cy="14630"/>
          </a:xfrm>
          <a:prstGeom prst="rect">
            <a:avLst/>
          </a:prstGeom>
          <a:solidFill>
            <a:srgbClr val="1E4070"/>
          </a:solidFill>
          <a:ln/>
        </p:spPr>
      </p:sp>
      <p:sp>
        <p:nvSpPr>
          <p:cNvPr id="75" name="Text 73"/>
          <p:cNvSpPr/>
          <p:nvPr/>
        </p:nvSpPr>
        <p:spPr>
          <a:xfrm>
            <a:off x="201168" y="3995928"/>
            <a:ext cx="8741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Nielsen RMS June panel tells a powerful competitive story. In Face Wash, Mamaearth is the #4 brand at 10.5% market share — but the trajectory is what matters: +3.1 percentage points YoY, 89% weighted distribution, and L3M growth of 58.2%. Himalaya, the category leader, is losing ground at -1.6 pp. We are the fastest-growing brand in this category. In Shampoo, we are #7 at 3.7% share — this is our strategic opportunity. The 80.3% L3M growth rate shows the velocity is there; the gap to Dove at 16.6% is the ambition. The Derma Co. at 27.3% WD in Face Wash is already building its own presence. July '26 Nielsen cut is pending — a Tier 3 placeholder applies; we will update this slide when the fresh cut arrives. Strategic implication: defend Face Wash WD above 89% while aggressively scaling Shampoo distribution toward Face Wash parity.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Portfolio Dynamics  ·  FYTD Jul '26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56032" y="603504"/>
            <a:ext cx="1645920" cy="38405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2801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 ·  MT Analytics  ·  FYTD Jul '26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4224528" cy="2057400"/>
          </a:xfrm>
          <a:prstGeom prst="rect">
            <a:avLst/>
          </a:prstGeom>
          <a:solidFill>
            <a:srgbClr val="E8EEF8"/>
          </a:solidFill>
          <a:ln w="12700">
            <a:solidFill>
              <a:srgbClr val="1025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1463040" cy="256032"/>
          </a:xfrm>
          <a:prstGeom prst="rect">
            <a:avLst/>
          </a:prstGeom>
          <a:solidFill>
            <a:srgbClr val="102542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2296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Brand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Mamaearth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3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₹12,573L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32304" y="1645920"/>
            <a:ext cx="1920240" cy="347472"/>
          </a:xfrm>
          <a:prstGeom prst="rect">
            <a:avLst/>
          </a:prstGeom>
          <a:solidFill>
            <a:srgbClr val="102542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682496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69.1% share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50592" y="1865376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+50.5% YoY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207568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anchor · Face Cleanser + Shampoo engine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224528" cy="2057400"/>
          </a:xfrm>
          <a:prstGeom prst="rect">
            <a:avLst/>
          </a:prstGeom>
          <a:solidFill>
            <a:srgbClr val="FFF3E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804672"/>
            <a:ext cx="1463040" cy="2560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6" name="Text 14"/>
          <p:cNvSpPr/>
          <p:nvPr/>
        </p:nvSpPr>
        <p:spPr>
          <a:xfrm>
            <a:off x="4791456" y="82296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Engine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73168" y="1097280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Derma Co.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73168" y="1600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3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₹5,173L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839712" y="1645920"/>
            <a:ext cx="1920240" cy="34747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682496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 share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1865376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+404.2% YoY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73168" y="207568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Hyper-growth · Face Cleanser spike Jul +47.5% MoM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6032" y="2907792"/>
            <a:ext cx="2798064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907792"/>
            <a:ext cx="73152" cy="704088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2944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Aqualogica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₹~182L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2336" y="3401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Sunscreen niche · scaling in South zones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18688" y="2907792"/>
            <a:ext cx="2798064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18688" y="2907792"/>
            <a:ext cx="73152" cy="704088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2944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Aykriti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4992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64992" y="3401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Ayurveda positioning · early distribution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181344" y="2907792"/>
            <a:ext cx="2798064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81344" y="2907792"/>
            <a:ext cx="73152" cy="70408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2944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Sheth's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27648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27648" y="3401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 anchor · clinic route entry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887968" y="2907792"/>
            <a:ext cx="0" cy="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" y="32735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Share of FYTD ₹18,183L Matrix Base: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6032" y="3474720"/>
            <a:ext cx="6318504" cy="201168"/>
          </a:xfrm>
          <a:prstGeom prst="rect">
            <a:avLst/>
          </a:prstGeom>
          <a:solidFill>
            <a:srgbClr val="DDE4EF"/>
          </a:solidFill>
          <a:ln/>
        </p:spPr>
      </p:sp>
      <p:sp>
        <p:nvSpPr>
          <p:cNvPr id="41" name="Shape 39"/>
          <p:cNvSpPr/>
          <p:nvPr/>
        </p:nvSpPr>
        <p:spPr>
          <a:xfrm>
            <a:off x="256032" y="3474720"/>
            <a:ext cx="4366086" cy="201168"/>
          </a:xfrm>
          <a:prstGeom prst="rect">
            <a:avLst/>
          </a:prstGeom>
          <a:solidFill>
            <a:srgbClr val="102542"/>
          </a:solidFill>
          <a:ln/>
        </p:spPr>
      </p:sp>
      <p:sp>
        <p:nvSpPr>
          <p:cNvPr id="42" name="Shape 40"/>
          <p:cNvSpPr/>
          <p:nvPr/>
        </p:nvSpPr>
        <p:spPr>
          <a:xfrm>
            <a:off x="4622118" y="3474720"/>
            <a:ext cx="1800774" cy="201168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3" name="Shape 41"/>
          <p:cNvSpPr/>
          <p:nvPr/>
        </p:nvSpPr>
        <p:spPr>
          <a:xfrm>
            <a:off x="4622118" y="3474720"/>
            <a:ext cx="1800774" cy="201168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4" name="Shape 42"/>
          <p:cNvSpPr/>
          <p:nvPr/>
        </p:nvSpPr>
        <p:spPr>
          <a:xfrm>
            <a:off x="6422892" y="3474720"/>
            <a:ext cx="151644" cy="201168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45" name="Shape 43"/>
          <p:cNvSpPr/>
          <p:nvPr/>
        </p:nvSpPr>
        <p:spPr>
          <a:xfrm>
            <a:off x="6422892" y="3474720"/>
            <a:ext cx="151644" cy="201168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46" name="Text 44"/>
          <p:cNvSpPr/>
          <p:nvPr/>
        </p:nvSpPr>
        <p:spPr>
          <a:xfrm>
            <a:off x="292608" y="35021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 69.1%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658694" y="35021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28.5%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6441180" y="350215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2.4%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0" y="3730752"/>
            <a:ext cx="9144000" cy="1412748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50" name="Text 48"/>
          <p:cNvSpPr/>
          <p:nvPr/>
        </p:nvSpPr>
        <p:spPr>
          <a:xfrm>
            <a:off x="201168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LEADERSHIP SCRIPT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01168" y="3950208"/>
            <a:ext cx="8741664" cy="14630"/>
          </a:xfrm>
          <a:prstGeom prst="rect">
            <a:avLst/>
          </a:prstGeom>
          <a:solidFill>
            <a:srgbClr val="1E4070"/>
          </a:solidFill>
          <a:ln/>
        </p:spPr>
      </p:sp>
      <p:sp>
        <p:nvSpPr>
          <p:cNvPr id="52" name="Text 50"/>
          <p:cNvSpPr/>
          <p:nvPr/>
        </p:nvSpPr>
        <p:spPr>
          <a:xfrm>
            <a:off x="201168" y="3995928"/>
            <a:ext cx="8741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brand portfolio is structured as two tiers. Mamaearth is the volume anchor — 69.1% of our MT primary at ₹12,573 Lacs and growing at 50.5% YoY. The Derma Co. is the scale engine — at 28.5% share and 404.2% YoY growth, it is compressing our historic Mamaearth concentration and building a second pillar. The remaining ~2.4% — Aqualogica, Aykriti, and Dr. Sheth's — are early-stage bets in differentiated niches. The strategic imperative: sustain Mamaearth's velocity while supporting Derma Co.'s explosive trajectory. Aqualogica's sunscreen play in South zones and Dr. Sheth's clinic-route positioning in dermatology are the next candidates for acceleration. We should target Derma Co. at 35%+ share within two quarters.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Category Analysis  ·  FYTD Jul '26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56032" y="603504"/>
            <a:ext cx="1645920" cy="38405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2801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 ·  MT Analytics  ·  FYTD Jul '26</a:t>
            </a:r>
            <a:endParaRPr lang="en-US" sz="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749808"/>
          <a:ext cx="43891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28032" y="768096"/>
            <a:ext cx="1691640" cy="292608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7" name="Text 4"/>
          <p:cNvSpPr/>
          <p:nvPr/>
        </p:nvSpPr>
        <p:spPr>
          <a:xfrm>
            <a:off x="4864608" y="8229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519672" y="768096"/>
            <a:ext cx="822960" cy="292608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9" name="Text 6"/>
          <p:cNvSpPr/>
          <p:nvPr/>
        </p:nvSpPr>
        <p:spPr>
          <a:xfrm>
            <a:off x="6556248" y="8229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₹L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42632" y="768096"/>
            <a:ext cx="822960" cy="292608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1" name="Text 8"/>
          <p:cNvSpPr/>
          <p:nvPr/>
        </p:nvSpPr>
        <p:spPr>
          <a:xfrm>
            <a:off x="7379208" y="8229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Share%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165592" y="768096"/>
            <a:ext cx="731520" cy="292608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3" name="Text 10"/>
          <p:cNvSpPr/>
          <p:nvPr/>
        </p:nvSpPr>
        <p:spPr>
          <a:xfrm>
            <a:off x="8202168" y="8229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828032" y="1060704"/>
            <a:ext cx="169164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1170432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519672" y="1060704"/>
            <a:ext cx="82296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56248" y="11704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8,265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42632" y="1060704"/>
            <a:ext cx="82296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79208" y="11704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45.5%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165592" y="1060704"/>
            <a:ext cx="73152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02168" y="11704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+124.7%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28032" y="1517904"/>
            <a:ext cx="1691640" cy="438912"/>
          </a:xfrm>
          <a:prstGeom prst="rect">
            <a:avLst/>
          </a:prstGeom>
          <a:solidFill>
            <a:srgbClr val="152D55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1627632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19672" y="1517904"/>
            <a:ext cx="822960" cy="438912"/>
          </a:xfrm>
          <a:prstGeom prst="rect">
            <a:avLst/>
          </a:prstGeom>
          <a:solidFill>
            <a:srgbClr val="152D55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56248" y="16276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4,782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42632" y="1517904"/>
            <a:ext cx="822960" cy="438912"/>
          </a:xfrm>
          <a:prstGeom prst="rect">
            <a:avLst/>
          </a:prstGeom>
          <a:solidFill>
            <a:srgbClr val="152D55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79208" y="16276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26.3%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165592" y="1517904"/>
            <a:ext cx="731520" cy="438912"/>
          </a:xfrm>
          <a:prstGeom prst="rect">
            <a:avLst/>
          </a:prstGeom>
          <a:solidFill>
            <a:srgbClr val="152D55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02168" y="16276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+63.1%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28032" y="1975104"/>
            <a:ext cx="169164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64608" y="2084832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519672" y="1975104"/>
            <a:ext cx="82296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56248" y="20848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2,312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342632" y="1975104"/>
            <a:ext cx="82296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79208" y="20848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12.7%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165592" y="1975104"/>
            <a:ext cx="73152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02168" y="20848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+82.0%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828032" y="2432304"/>
            <a:ext cx="1691640" cy="438912"/>
          </a:xfrm>
          <a:prstGeom prst="rect">
            <a:avLst/>
          </a:prstGeom>
          <a:solidFill>
            <a:srgbClr val="152D55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64608" y="2542032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519672" y="2432304"/>
            <a:ext cx="822960" cy="438912"/>
          </a:xfrm>
          <a:prstGeom prst="rect">
            <a:avLst/>
          </a:prstGeom>
          <a:solidFill>
            <a:srgbClr val="152D55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56248" y="25420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1,456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342632" y="2432304"/>
            <a:ext cx="822960" cy="438912"/>
          </a:xfrm>
          <a:prstGeom prst="rect">
            <a:avLst/>
          </a:prstGeom>
          <a:solidFill>
            <a:srgbClr val="152D55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79208" y="25420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165592" y="2432304"/>
            <a:ext cx="731520" cy="438912"/>
          </a:xfrm>
          <a:prstGeom prst="rect">
            <a:avLst/>
          </a:prstGeom>
          <a:solidFill>
            <a:srgbClr val="152D55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02168" y="25420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+44.0%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828032" y="2889504"/>
            <a:ext cx="169164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64608" y="2999232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519672" y="2889504"/>
            <a:ext cx="82296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556248" y="29992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1,368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342632" y="2889504"/>
            <a:ext cx="82296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379208" y="29992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7.5%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165592" y="2889504"/>
            <a:ext cx="731520" cy="438912"/>
          </a:xfrm>
          <a:prstGeom prst="rect">
            <a:avLst/>
          </a:prstGeom>
          <a:solidFill>
            <a:srgbClr val="1A3D6B"/>
          </a:solidFill>
          <a:ln w="12700">
            <a:solidFill>
              <a:srgbClr val="203A6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02168" y="29992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+28.0%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828032" y="3090672"/>
            <a:ext cx="4059936" cy="530352"/>
          </a:xfrm>
          <a:prstGeom prst="rect">
            <a:avLst/>
          </a:prstGeom>
          <a:solidFill>
            <a:srgbClr val="FFF3CD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919472" y="3163824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Face Cleanser leads at 45.5% share — anchor category  ·  Shampoo at 26.3% is the expansion play  ·  Sun Care seasonal retreat expected in Q2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0" y="3730752"/>
            <a:ext cx="9144000" cy="1412748"/>
          </a:xfrm>
          <a:prstGeom prst="rect">
            <a:avLst/>
          </a:prstGeom>
          <a:solidFill>
            <a:srgbClr val="06111F"/>
          </a:solidFill>
          <a:ln/>
        </p:spPr>
      </p:sp>
      <p:sp>
        <p:nvSpPr>
          <p:cNvPr id="57" name="Text 54"/>
          <p:cNvSpPr/>
          <p:nvPr/>
        </p:nvSpPr>
        <p:spPr>
          <a:xfrm>
            <a:off x="201168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LEADERSHIP SCRIPT</a:t>
            </a:r>
            <a:endParaRPr lang="en-US" sz="650" dirty="0"/>
          </a:p>
        </p:txBody>
      </p:sp>
      <p:sp>
        <p:nvSpPr>
          <p:cNvPr id="58" name="Shape 55"/>
          <p:cNvSpPr/>
          <p:nvPr/>
        </p:nvSpPr>
        <p:spPr>
          <a:xfrm>
            <a:off x="201168" y="3950208"/>
            <a:ext cx="8741664" cy="14630"/>
          </a:xfrm>
          <a:prstGeom prst="rect">
            <a:avLst/>
          </a:prstGeom>
          <a:solidFill>
            <a:srgbClr val="1E4070"/>
          </a:solidFill>
          <a:ln/>
        </p:spPr>
      </p:sp>
      <p:sp>
        <p:nvSpPr>
          <p:cNvPr id="59" name="Text 56"/>
          <p:cNvSpPr/>
          <p:nvPr/>
        </p:nvSpPr>
        <p:spPr>
          <a:xfrm>
            <a:off x="201168" y="3995928"/>
            <a:ext cx="8741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composition reveals where our growth is rooted. Face Cleanser at ₹8,265 Lacs and 45.5% share is our category anchor — +124.7% YoY makes it the fastest-growing large category we operate in. Shampoo at 26.3% share and an estimated 63% YoY growth is the clear expansion opportunity, particularly given the Nielsen WD gap versus Face Wash. Sun Care at 12.7% is seasonal — Q2 retreat is expected and already visible in the July offtake data. Face Serum at 8% share, growing at 44% YoY, is a margin-accretive category we should nurture. The strategic call for H2: defend Face Cleanser leadership, aggressively accelerate Shampoo distribution, and use Face Serum as a premium mix lever. No resource should be deployed against 'Others' without a defined SKU-level plan.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Zonal Sales Performance  ·  FYTD Jul '26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56032" y="603504"/>
            <a:ext cx="1645920" cy="38405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2801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 ·  MT Analytics  ·  FYTD Jul '26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56032" y="768096"/>
            <a:ext cx="51023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32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West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" y="1033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 share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499616" y="923544"/>
            <a:ext cx="3108960" cy="182880"/>
          </a:xfrm>
          <a:prstGeom prst="rect">
            <a:avLst/>
          </a:prstGeom>
          <a:solidFill>
            <a:srgbClr val="EFF2FA"/>
          </a:solidFill>
          <a:ln/>
        </p:spPr>
      </p:sp>
      <p:sp>
        <p:nvSpPr>
          <p:cNvPr id="9" name="Shape 7"/>
          <p:cNvSpPr/>
          <p:nvPr/>
        </p:nvSpPr>
        <p:spPr>
          <a:xfrm>
            <a:off x="1499616" y="923544"/>
            <a:ext cx="2783367" cy="182880"/>
          </a:xfrm>
          <a:prstGeom prst="rect">
            <a:avLst/>
          </a:prstGeom>
          <a:solidFill>
            <a:srgbClr val="1025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8961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₹4,924L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99616" y="1115568"/>
            <a:ext cx="777240" cy="11887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1124712"/>
            <a:ext cx="7589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+84.9% YoY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56032" y="1316736"/>
            <a:ext cx="5102352" cy="493776"/>
          </a:xfrm>
          <a:prstGeom prst="rect">
            <a:avLst/>
          </a:prstGeom>
          <a:solidFill>
            <a:srgbClr val="FFF8E8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380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🔥  South-1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" y="1581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share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499616" y="1472184"/>
            <a:ext cx="3108960" cy="182880"/>
          </a:xfrm>
          <a:prstGeom prst="rect">
            <a:avLst/>
          </a:prstGeom>
          <a:solidFill>
            <a:srgbClr val="EFF2FA"/>
          </a:solidFill>
          <a:ln/>
        </p:spPr>
      </p:sp>
      <p:sp>
        <p:nvSpPr>
          <p:cNvPr id="17" name="Shape 15"/>
          <p:cNvSpPr/>
          <p:nvPr/>
        </p:nvSpPr>
        <p:spPr>
          <a:xfrm>
            <a:off x="1499616" y="1472184"/>
            <a:ext cx="2509779" cy="182880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4447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₹4,440L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99616" y="1664208"/>
            <a:ext cx="777240" cy="118872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1673352"/>
            <a:ext cx="7589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+120.3% YoY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56032" y="1865376"/>
            <a:ext cx="51023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1929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North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" y="21305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 share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499616" y="2020824"/>
            <a:ext cx="3108960" cy="182880"/>
          </a:xfrm>
          <a:prstGeom prst="rect">
            <a:avLst/>
          </a:prstGeom>
          <a:solidFill>
            <a:srgbClr val="EFF2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499616" y="2020824"/>
            <a:ext cx="2336242" cy="182880"/>
          </a:xfrm>
          <a:prstGeom prst="rect">
            <a:avLst/>
          </a:prstGeom>
          <a:solidFill>
            <a:srgbClr val="102542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9933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₹4,133L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99616" y="2212848"/>
            <a:ext cx="777240" cy="11887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8" name="Text 26"/>
          <p:cNvSpPr/>
          <p:nvPr/>
        </p:nvSpPr>
        <p:spPr>
          <a:xfrm>
            <a:off x="1508760" y="2221992"/>
            <a:ext cx="7589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+94.0% YoY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56032" y="2414016"/>
            <a:ext cx="51023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2478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South-2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" y="2679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 share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499616" y="2569464"/>
            <a:ext cx="3108960" cy="182880"/>
          </a:xfrm>
          <a:prstGeom prst="rect">
            <a:avLst/>
          </a:prstGeom>
          <a:solidFill>
            <a:srgbClr val="EFF2FA"/>
          </a:solidFill>
          <a:ln/>
        </p:spPr>
      </p:sp>
      <p:sp>
        <p:nvSpPr>
          <p:cNvPr id="33" name="Shape 31"/>
          <p:cNvSpPr/>
          <p:nvPr/>
        </p:nvSpPr>
        <p:spPr>
          <a:xfrm>
            <a:off x="1499616" y="2569464"/>
            <a:ext cx="1519434" cy="182880"/>
          </a:xfrm>
          <a:prstGeom prst="rect">
            <a:avLst/>
          </a:prstGeom>
          <a:solidFill>
            <a:srgbClr val="102542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25420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₹2,688L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499616" y="2761488"/>
            <a:ext cx="777240" cy="118872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36" name="Text 34"/>
          <p:cNvSpPr/>
          <p:nvPr/>
        </p:nvSpPr>
        <p:spPr>
          <a:xfrm>
            <a:off x="1508760" y="2770632"/>
            <a:ext cx="7589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+73.5% YoY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256032" y="2962656"/>
            <a:ext cx="51023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3026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East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" y="32278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share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499616" y="3118104"/>
            <a:ext cx="3108960" cy="182880"/>
          </a:xfrm>
          <a:prstGeom prst="rect">
            <a:avLst/>
          </a:prstGeom>
          <a:solidFill>
            <a:srgbClr val="EFF2FA"/>
          </a:solidFill>
          <a:ln/>
        </p:spPr>
      </p:sp>
      <p:sp>
        <p:nvSpPr>
          <p:cNvPr id="41" name="Shape 39"/>
          <p:cNvSpPr/>
          <p:nvPr/>
        </p:nvSpPr>
        <p:spPr>
          <a:xfrm>
            <a:off x="1499616" y="3118104"/>
            <a:ext cx="1129400" cy="182880"/>
          </a:xfrm>
          <a:prstGeom prst="rect">
            <a:avLst/>
          </a:prstGeom>
          <a:solidFill>
            <a:srgbClr val="102542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30906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₹1,998L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499616" y="3310128"/>
            <a:ext cx="777240" cy="118872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44" name="Text 42"/>
          <p:cNvSpPr/>
          <p:nvPr/>
        </p:nvSpPr>
        <p:spPr>
          <a:xfrm>
            <a:off x="1508760" y="3319272"/>
            <a:ext cx="7589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+66.2% YoY</a:t>
            </a:r>
            <a:endParaRPr lang="en-US" sz="6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5559552" y="749808"/>
          <a:ext cx="3328416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Shape 43"/>
          <p:cNvSpPr/>
          <p:nvPr/>
        </p:nvSpPr>
        <p:spPr>
          <a:xfrm>
            <a:off x="256032" y="3611880"/>
            <a:ext cx="5102352" cy="7315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7" name="Shape 44"/>
          <p:cNvSpPr/>
          <p:nvPr/>
        </p:nvSpPr>
        <p:spPr>
          <a:xfrm>
            <a:off x="256032" y="3547872"/>
            <a:ext cx="8631936" cy="13716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48" name="Text 45"/>
          <p:cNvSpPr/>
          <p:nvPr/>
        </p:nvSpPr>
        <p:spPr>
          <a:xfrm>
            <a:off x="329184" y="3547872"/>
            <a:ext cx="8503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leads volume (₹4,924L)  ·  South-1 is growth velocity leader (+120.3%)  ·  East needs supply fill-rate intervention (₹1,998L, lowest zone)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0" y="3730752"/>
            <a:ext cx="9144000" cy="1412748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50" name="Text 47"/>
          <p:cNvSpPr/>
          <p:nvPr/>
        </p:nvSpPr>
        <p:spPr>
          <a:xfrm>
            <a:off x="201168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LEADERSHIP SCRIPT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201168" y="3950208"/>
            <a:ext cx="8741664" cy="14630"/>
          </a:xfrm>
          <a:prstGeom prst="rect">
            <a:avLst/>
          </a:prstGeom>
          <a:solidFill>
            <a:srgbClr val="1E4070"/>
          </a:solidFill>
          <a:ln/>
        </p:spPr>
      </p:sp>
      <p:sp>
        <p:nvSpPr>
          <p:cNvPr id="52" name="Text 49"/>
          <p:cNvSpPr/>
          <p:nvPr/>
        </p:nvSpPr>
        <p:spPr>
          <a:xfrm>
            <a:off x="201168" y="3995928"/>
            <a:ext cx="8741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distribution is the growth story behind the topline. West leads volume at ₹4,924 Lacs — it is our most mature MT zone and the benchmark. But the headline growth performance belongs to South-1: +120.3% YoY, meaning we more than doubled this zone's primary. That is category penetration expansion, not just account-level fill-rate improvement. North at +94.0% and West at +84.9% confirm the all-India momentum. South-2 and East are the zones that need deliberate acceleration: East at ₹1,998 Lacs and 66.2% growth is below the portfolio velocity. The immediate action for East is supply fill-rate improvement — we know from offtake data that East conversion is the weakest at 49.9%. That means stock is being shipped but not turning at shelf. Solve the velocity issue in East and we unlock significant incremental revenue.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Shopper Activation &amp; Account Action Roadmap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56032" y="603504"/>
            <a:ext cx="1645920" cy="38405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2801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 ·  MT Analytics  ·  FYTD Jul '26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048256" cy="1828800"/>
          </a:xfrm>
          <a:prstGeom prst="rect">
            <a:avLst/>
          </a:prstGeom>
          <a:solidFill>
            <a:srgbClr val="1A3D6B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04672"/>
            <a:ext cx="475488" cy="34747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82296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1887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Face Wash WD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52704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89% WD floor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accounts: DMart, Reliance Retail, Apollo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SKU: 100ml + 150ml Hero pack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749808"/>
            <a:ext cx="2048256" cy="1828800"/>
          </a:xfrm>
          <a:prstGeom prst="rect">
            <a:avLst/>
          </a:prstGeom>
          <a:solidFill>
            <a:srgbClr val="1A3D6B"/>
          </a:solidFill>
          <a:ln w="12700">
            <a:solidFill>
              <a:srgbClr val="3A8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804672"/>
            <a:ext cx="475488" cy="347472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82296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2032" y="11887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Shampoo WD Gap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42032" y="152704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Face Wash WD parity (89%)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at 81.5% — 7.5pp gap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250ml/400ml driver packs for basket uplift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45152" y="749808"/>
            <a:ext cx="2048256" cy="1828800"/>
          </a:xfrm>
          <a:prstGeom prst="rect">
            <a:avLst/>
          </a:prstGeom>
          <a:solidFill>
            <a:srgbClr val="1A3D6B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804672"/>
            <a:ext cx="475488" cy="34747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82296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6592" y="11887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Derma Co. &gt;40% WD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152704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27.3% → 40%+ WD in 2 quarters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South-1, West (proven velocity)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+ Serum bundling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39712" y="749808"/>
            <a:ext cx="2048256" cy="1828800"/>
          </a:xfrm>
          <a:prstGeom prst="rect">
            <a:avLst/>
          </a:prstGeom>
          <a:solidFill>
            <a:srgbClr val="1A3D6B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31152" y="804672"/>
            <a:ext cx="475488" cy="347472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82296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31152" y="11887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East &amp; South-2 Fill Rates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31152" y="1527048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conversion: 49.9% — critical gap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South-2: 72.4% — needs acceleration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replenishment cadence vs DMart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2670048"/>
            <a:ext cx="4151376" cy="1005840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715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Pack-Size Strategy — Hero SKUs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29626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Face Wash 100ml/150ml — basket builder at ₹99–₹149 price points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32004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Shampoo 250ml/400ml — trade-up pack driving ATV uplift in top accounts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3438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Sun Care 50ml — impulse adjacency at checkout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2670048"/>
            <a:ext cx="4315968" cy="1005840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31" name="Text 29"/>
          <p:cNvSpPr/>
          <p:nvPr/>
        </p:nvSpPr>
        <p:spPr>
          <a:xfrm>
            <a:off x="4681728" y="2715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AA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Merchandising &amp; Account Execution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81728" y="29626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End-caps: DMart, Reliance Retail — Face Cleanser + Shampoo dual-block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81728" y="32004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Bay Breakers: Apollo — Derma Co. dedicated gondola Q2 target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81728" y="3438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Spencer's &amp; Metro — secondary placement at trial price for Shampoo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3730752"/>
            <a:ext cx="9144000" cy="1412748"/>
          </a:xfrm>
          <a:prstGeom prst="rect">
            <a:avLst/>
          </a:prstGeom>
          <a:solidFill>
            <a:srgbClr val="06111F"/>
          </a:solidFill>
          <a:ln/>
        </p:spPr>
      </p:sp>
      <p:sp>
        <p:nvSpPr>
          <p:cNvPr id="36" name="Text 34"/>
          <p:cNvSpPr/>
          <p:nvPr/>
        </p:nvSpPr>
        <p:spPr>
          <a:xfrm>
            <a:off x="201168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LEADERSHIP SCRIPT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01168" y="3950208"/>
            <a:ext cx="8741664" cy="14630"/>
          </a:xfrm>
          <a:prstGeom prst="rect">
            <a:avLst/>
          </a:prstGeom>
          <a:solidFill>
            <a:srgbClr val="1E4070"/>
          </a:solidFill>
          <a:ln/>
        </p:spPr>
      </p:sp>
      <p:sp>
        <p:nvSpPr>
          <p:cNvPr id="38" name="Text 36"/>
          <p:cNvSpPr/>
          <p:nvPr/>
        </p:nvSpPr>
        <p:spPr>
          <a:xfrm>
            <a:off x="201168" y="3995928"/>
            <a:ext cx="8741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strategic priorities govern our next 90 days. Priority one: defend Face Wash weighted distribution above 89% — this is a non-negotiable floor given our #4 market share position and the +58% L3M growth momentum. Priority two: close the Shampoo distribution gap. At 81.5% WD against Face Wash's 89%, we have 7.5 percentage points of white space to fill. The 250ml and 400ml formats are the trade-up mechanism for ATV uplift. Priority three: scale The Derma Co. above 40% WD. At 27.3% today, there is a significant distribution build required — South-1 and West are the starting zones given proven velocity. Priority four: fix East and South-2 fill rates. The offtake conversion data tells us East is shipping stock that is not selling through — that is a velocity and assortment problem, not a distribution problem. Pack-size and end-cap execution at DMart and Reliance Retail are the primary levers for the next cycle.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Insights &amp; Forward Signals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56032" y="603504"/>
            <a:ext cx="1645920" cy="38405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2801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 ·  MT Analytics  ·  FYTD Jul '26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4315968" cy="1280160"/>
          </a:xfrm>
          <a:prstGeom prst="rect">
            <a:avLst/>
          </a:prstGeom>
          <a:solidFill>
            <a:srgbClr val="EEF3FF"/>
          </a:solidFill>
          <a:ln w="12700">
            <a:solidFill>
              <a:srgbClr val="C0C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863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 Premiumisation Trajectory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₹171.7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024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00" y="12070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₹173.5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15361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+1.1%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3200400" y="1024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12070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₹179.2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15361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+3.3% (Apr)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365760" y="1783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 Apr→Jul  ·  Realisation: 41.6% → 42.2% (+0.6pp)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1975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 shift → premium SKU pull-through in key accounts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36592" y="749808"/>
            <a:ext cx="4151376" cy="1280160"/>
          </a:xfrm>
          <a:prstGeom prst="rect">
            <a:avLst/>
          </a:prstGeom>
          <a:solidFill>
            <a:srgbClr val="EEF4FF"/>
          </a:solidFill>
          <a:ln w="12700">
            <a:solidFill>
              <a:srgbClr val="3A8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7863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8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eB2B Channel Lens (Nykaa/FSN)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024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46320" y="12070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8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₹2.29Cr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33872" y="1024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833872" y="12070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8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₹2.08Cr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21424" y="1024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21424" y="12070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8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₹2.17Cr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08976" y="1024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808976" y="12070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8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₹2.07Cr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16916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EANs: 222 (Jan) → 198 (Jul)  ·  Portfolio pruning → velocity improvement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46320" y="1874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 ₹2.20 Cr / offtake ₹2.07 Cr  ·  93.9% flow — best-in-channel conversion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46320" y="20574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classification: eB2B reported separately — not in MT zone rollups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256032" y="2221992"/>
            <a:ext cx="4315968" cy="1280160"/>
          </a:xfrm>
          <a:prstGeom prst="rect">
            <a:avLst/>
          </a:prstGeom>
          <a:solidFill>
            <a:srgbClr val="FFF0F0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258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Derma Co. Face Cleanser Jul Spike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B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'26: ₹4.83 Cr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340864" y="2542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7432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'26: ₹7.13 Cr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28437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+47.5% MoM — investigate driver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30540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drivers: key account listing event · promotional fill · channel inventory build ahead of season · new SKU launch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36592" y="2221992"/>
            <a:ext cx="4151376" cy="1280160"/>
          </a:xfrm>
          <a:prstGeom prst="rect">
            <a:avLst/>
          </a:prstGeom>
          <a:solidFill>
            <a:srgbClr val="E8F5EE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2585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Signals — Q2 FY27 Watch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25237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MH Shampoo: ₹4.81Cr (Feb) → ₹6.95Cr (Jul), +44.5% in 6 months — sustained secular growth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46320" y="2715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Sun Care: seasonal retreat underway — reduce forward cover, protect margin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46320" y="29077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Reliance account: 51.5% conversion, ₹7.6Cr gap — next 30-day action is critical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46320" y="30998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Apollo benchmark 99.7% conversion — document playbook, extend to 3 peer accounts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46320" y="3291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Jun offtake feed: pending (Tier 3 block) — FYTD offtake total will revise on receipt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3730752"/>
            <a:ext cx="9144000" cy="1412748"/>
          </a:xfrm>
          <a:prstGeom prst="rect">
            <a:avLst/>
          </a:prstGeom>
          <a:solidFill>
            <a:srgbClr val="0A1E38"/>
          </a:solidFill>
          <a:ln/>
        </p:spPr>
      </p:sp>
      <p:sp>
        <p:nvSpPr>
          <p:cNvPr id="45" name="Text 43"/>
          <p:cNvSpPr/>
          <p:nvPr/>
        </p:nvSpPr>
        <p:spPr>
          <a:xfrm>
            <a:off x="201168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LEADERSHIP SCRIPT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01168" y="3950208"/>
            <a:ext cx="8741664" cy="14630"/>
          </a:xfrm>
          <a:prstGeom prst="rect">
            <a:avLst/>
          </a:prstGeom>
          <a:solidFill>
            <a:srgbClr val="1E4070"/>
          </a:solidFill>
          <a:ln/>
        </p:spPr>
      </p:sp>
      <p:sp>
        <p:nvSpPr>
          <p:cNvPr id="47" name="Text 45"/>
          <p:cNvSpPr/>
          <p:nvPr/>
        </p:nvSpPr>
        <p:spPr>
          <a:xfrm>
            <a:off x="201168" y="3995928"/>
            <a:ext cx="8741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7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forward-looking signals deserve leadership attention. First, ASP premiumisation: average selling price has moved from ₹171.7 to ₹179.2 across April to July — a 4.4% structural lift — with realisation improving from 41.6% to 42.2%. The portfolio is climbing the value ladder. Second, eB2B through Nykaa is our most efficient channel at 93.9% flow; active EAN reduction from 222 to 198 is a deliberate quality-over-quantity move — watch for per-EAN velocity improvement in Q2. Third, The Derma Co. Face Cleanser's 47.5% MoM spike in July must be root-caused — if it is a key account listing or a new SKU, we need to replicate it; if it is a promotional fill, we need to ensure sell-through before the next billing cycle. Fourth, Mamaearth Shampoo's steady +44.5% six-month trajectory is the most reliable growth signal in our portfolio — this is secular demand, not seasonal noise.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2026-08-19T05:22:42Z</dcterms:created>
  <dcterms:modified xsi:type="dcterms:W3CDTF">2026-08-19T05:22:42Z</dcterms:modified>
</cp:coreProperties>
</file>