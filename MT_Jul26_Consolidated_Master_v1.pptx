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Modern Trade July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2A9D8F"/>
                </a:solidFill>
              </a:defRPr>
            </a:pPr>
            <a:r>
              <a:t>Monthly Performance Review &amp;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57575"/>
                </a:solidFill>
              </a:defRPr>
            </a:pPr>
            <a:r>
              <a:t>Mamaearth Modern Trade Analytics | September 05,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July offtake ₹36.1 Cr — Q1 delivery +64% YoY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73152" cy="914400"/>
          </a:xfrm>
          <a:prstGeom prst="rect">
            <a:avLst/>
          </a:prstGeom>
          <a:solidFill>
            <a:srgbClr val="E63946"/>
          </a:solidFill>
          <a:ln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3946"/>
                </a:solidFill>
              </a:defRPr>
            </a:pPr>
            <a:r>
              <a:t>EVIDENCE: July MT offtake ₹36.1 Cr; Q1 FY27 offtake ₹114.39 Cr (+64% YoY vs Q1 FY26).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377440"/>
            <a:ext cx="73152" cy="731520"/>
          </a:xfrm>
          <a:prstGeom prst="rect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D1B2A"/>
                </a:solidFill>
              </a:defRPr>
            </a:pPr>
            <a:r>
              <a:t>IMPLICATION: Strong Q1 momentum but July shows ₹10.92 Cr billed-not-sold gap — inventory risk.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474720"/>
            <a:ext cx="73152" cy="1097280"/>
          </a:xfrm>
          <a:prstGeom prst="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9D8F"/>
                </a:solidFill>
              </a:defRPr>
            </a:pPr>
            <a:r>
              <a:t>ACTION: Reconcile July actual-vs-forecast by 8-Aug; flag any DC fill-rate drops.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757575"/>
                </a:solidFill>
              </a:defRPr>
            </a:pPr>
            <a:r>
              <a:t>Owner: Sales Lead + Data Team | 8-Aug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7575"/>
                </a:solidFill>
              </a:defRPr>
            </a:pPr>
            <a:r>
              <a:t>Modern Trade Analytics | July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TDC +365% and Face Wash +33% offset Haircare decline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73152" cy="914400"/>
          </a:xfrm>
          <a:prstGeom prst="rect">
            <a:avLst/>
          </a:prstGeom>
          <a:solidFill>
            <a:srgbClr val="E63946"/>
          </a:solidFill>
          <a:ln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3946"/>
                </a:solidFill>
              </a:defRPr>
            </a:pPr>
            <a:r>
              <a:t>EVIDENCE: TDC ₹29.5 Cr (+365% YoY); Face Wash ₹241.4 Cr MT category (+33% YoY); Haircare pressure: Shampoo ₹22 Cr, Sun Care ₹21.75 Cr.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377440"/>
            <a:ext cx="73152" cy="731520"/>
          </a:xfrm>
          <a:prstGeom prst="rect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D1B2A"/>
                </a:solidFill>
              </a:defRPr>
            </a:pPr>
            <a:r>
              <a:t>IMPLICATION: Portfolio mix shift: premium-tier brands (TDC, Aqualogica) driving growth; legacy core (Haircare) losing share to budget competitors.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474720"/>
            <a:ext cx="73152" cy="1097280"/>
          </a:xfrm>
          <a:prstGeom prst="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9D8F"/>
                </a:solidFill>
              </a:defRPr>
            </a:pPr>
            <a:r>
              <a:t>ACTION: Increase FSDU for Face Wash by mid-Aug; launch Haircare defensive entry SKU (sub-₹300) by Oct.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757575"/>
                </a:solidFill>
              </a:defRPr>
            </a:pPr>
            <a:r>
              <a:t>Owner: Category Head | 15-Aug (FSDU), 30-Oct (SKU launch)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7575"/>
                </a:solidFill>
              </a:defRPr>
            </a:pPr>
            <a:r>
              <a:t>Modern Trade Analytics | July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Reliance -15% MoM — single largest threat to MT growth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73152" cy="914400"/>
          </a:xfrm>
          <a:prstGeom prst="rect">
            <a:avLst/>
          </a:prstGeom>
          <a:solidFill>
            <a:srgbClr val="E63946"/>
          </a:solidFill>
          <a:ln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3946"/>
                </a:solidFill>
              </a:defRPr>
            </a:pPr>
            <a:r>
              <a:t>EVIDENCE: Reliance fell ₹1.42 Cr MoM; conversion 51.4% vs DMart 76.5% vs Apollo 99.7%.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377440"/>
            <a:ext cx="73152" cy="731520"/>
          </a:xfrm>
          <a:prstGeom prst="rect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D1B2A"/>
                </a:solidFill>
              </a:defRPr>
            </a:pPr>
            <a:r>
              <a:t>IMPLICATION: Reliance is 40%+ of MT volume; -15% = ₹8–10 Cr recovery opportunity; low conversion signals planogram/shelf compliance issue.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474720"/>
            <a:ext cx="73152" cy="1097280"/>
          </a:xfrm>
          <a:prstGeom prst="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9D8F"/>
                </a:solidFill>
              </a:defRPr>
            </a:pPr>
            <a:r>
              <a:t>ACTION: Audit Reliance hero-EAN (Shampoo/Sun Care) door-level OSA; reallocate trade spend to Haircare trial schemes.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757575"/>
                </a:solidFill>
              </a:defRPr>
            </a:pPr>
            <a:r>
              <a:t>Owner: NKAM Reliance + Category Lead | 12-Aug checkpoint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7575"/>
                </a:solidFill>
              </a:defRPr>
            </a:pPr>
            <a:r>
              <a:t>Modern Trade Analytics | July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Reliance Shampoo/Sun Care mix erosion — three drivers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73152" cy="914400"/>
          </a:xfrm>
          <a:prstGeom prst="rect">
            <a:avLst/>
          </a:prstGeom>
          <a:solidFill>
            <a:srgbClr val="E63946"/>
          </a:solidFill>
          <a:ln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3946"/>
                </a:solidFill>
              </a:defRPr>
            </a:pPr>
            <a:r>
              <a:t>EVIDENCE: Why -15%: (a) Haircare weak across MT (consumer down-trading to budget HUL sub-₹350 shampoo); (b) Premium positioning not resonating at Reliance; (c) Conversion 51.4% = poor shelf visibility or planogram gap.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377440"/>
            <a:ext cx="73152" cy="731520"/>
          </a:xfrm>
          <a:prstGeom prst="rect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D1B2A"/>
                </a:solidFill>
              </a:defRPr>
            </a:pPr>
            <a:r>
              <a:t>IMPLICATION: If uncorrected, Reliance declines ₹2–3 Cr more by Aug-end; risk to Q2 guidance.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474720"/>
            <a:ext cx="73152" cy="1097280"/>
          </a:xfrm>
          <a:prstGeom prst="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9D8F"/>
                </a:solidFill>
              </a:defRPr>
            </a:pPr>
            <a:r>
              <a:t>ACTION: Execute: (1) EAN-store pair placement audit by 10-Aug; (2) Deploy trial packs (₹100–150) from Aug 1; (3) Weekly conversion tracking.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757575"/>
                </a:solidFill>
              </a:defRPr>
            </a:pPr>
            <a:r>
              <a:t>Owner: NKAM Reliance | Daily tracking; report by 12-Aug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7575"/>
                </a:solidFill>
              </a:defRPr>
            </a:pPr>
            <a:r>
              <a:t>Modern Trade Analytics | July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North 58.5%, East 45.3% — zones below benchmark need urgent recovery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73152" cy="914400"/>
          </a:xfrm>
          <a:prstGeom prst="rect">
            <a:avLst/>
          </a:prstGeom>
          <a:solidFill>
            <a:srgbClr val="E63946"/>
          </a:solidFill>
          <a:ln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3946"/>
                </a:solidFill>
              </a:defRPr>
            </a:pPr>
            <a:r>
              <a:t>EVIDENCE: Zone conversions: North 58.5% (urgent), East 45.3% (worst), West 82.3% (healthy), South stable. Benchmark = 75%.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377440"/>
            <a:ext cx="73152" cy="731520"/>
          </a:xfrm>
          <a:prstGeom prst="rect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D1B2A"/>
                </a:solidFill>
              </a:defRPr>
            </a:pPr>
            <a:r>
              <a:t>IMPLICATION: East 45% signals severe supply/execution gap; North 58% = 16 pp gap to target. Risk: ₹2–3 Cr lost by month-end.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474720"/>
            <a:ext cx="73152" cy="1097280"/>
          </a:xfrm>
          <a:prstGeom prst="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9D8F"/>
                </a:solidFill>
              </a:defRPr>
            </a:pPr>
            <a:r>
              <a:t>ACTION: North: increase trial schemes + DC fill-rate audit; East: early monsoon stock build + regional trade spend spike by Aug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757575"/>
                </a:solidFill>
              </a:defRPr>
            </a:pPr>
            <a:r>
              <a:t>Owner: North Regional Lead + East Regional Lead | 31-Aug recovery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7575"/>
                </a:solidFill>
              </a:defRPr>
            </a:pPr>
            <a:r>
              <a:t>Modern Trade Analytics | July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Face Wash +33% YoY — premium tier growth + natural positioning momentum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73152" cy="914400"/>
          </a:xfrm>
          <a:prstGeom prst="rect">
            <a:avLst/>
          </a:prstGeom>
          <a:solidFill>
            <a:srgbClr val="E63946"/>
          </a:solidFill>
          <a:ln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3946"/>
                </a:solidFill>
              </a:defRPr>
            </a:pPr>
            <a:r>
              <a:t>EVIDENCE: Face Wash ₹241.4 Cr MT category (+33% YoY); premium segment growing +15% YoY market-wide.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377440"/>
            <a:ext cx="73152" cy="731520"/>
          </a:xfrm>
          <a:prstGeom prst="rect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D1B2A"/>
                </a:solidFill>
              </a:defRPr>
            </a:pPr>
            <a:r>
              <a:t>IMPLICATION: Haircare weakness driving substitution to face care; Mamaearth/TDC natural positioning capturing trial.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474720"/>
            <a:ext cx="73152" cy="1097280"/>
          </a:xfrm>
          <a:prstGeom prst="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9D8F"/>
                </a:solidFill>
              </a:defRPr>
            </a:pPr>
            <a:r>
              <a:t>ACTION: Increase FSDU placements by 30% across DMart/Reliance; expand eB2B (FSN+Nykaa at 99.4% conversion).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757575"/>
                </a:solidFill>
              </a:defRPr>
            </a:pPr>
            <a:r>
              <a:t>Owner: Category Head + eB2B Lead | 15-Aug FSDU, 31-Aug eB2B 2x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7575"/>
                </a:solidFill>
              </a:defRPr>
            </a:pPr>
            <a:r>
              <a:t>Modern Trade Analytics | July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Haircare losing to value tier — launch sub-₹300 SKU by Oct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73152" cy="914400"/>
          </a:xfrm>
          <a:prstGeom prst="rect">
            <a:avLst/>
          </a:prstGeom>
          <a:solidFill>
            <a:srgbClr val="E63946"/>
          </a:solidFill>
          <a:ln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3946"/>
                </a:solidFill>
              </a:defRPr>
            </a:pPr>
            <a:r>
              <a:t>EVIDENCE: Shampoo ₹22 Cr, Sun Care ₹21.75 Cr facing -12% to -18% pressure; HUL sub-₹350 offensive accelerating consumer down-trading.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377440"/>
            <a:ext cx="73152" cy="731520"/>
          </a:xfrm>
          <a:prstGeom prst="rect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D1B2A"/>
                </a:solidFill>
              </a:defRPr>
            </a:pPr>
            <a:r>
              <a:t>IMPLICATION: Without defensive entry tier, Haircare share at risk of -500 bps by Q3; margin compression already at 120 bps.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474720"/>
            <a:ext cx="73152" cy="1097280"/>
          </a:xfrm>
          <a:prstGeom prst="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9D8F"/>
                </a:solidFill>
              </a:defRPr>
            </a:pPr>
            <a:r>
              <a:t>ACTION: Launch sub-₹300 shampoo variant by Oct (9-week runway); support with aggressive trial (₹50 trial packs). Target: +2 pp share in budget tier.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757575"/>
                </a:solidFill>
              </a:defRPr>
            </a:pPr>
            <a:r>
              <a:t>Owner: Brand Marketing + Category Lead | 30-Oct launch; target ₹3–4 Cr NSV by Q3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7575"/>
                </a:solidFill>
              </a:defRPr>
            </a:pPr>
            <a:r>
              <a:t>Modern Trade Analytics | July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TDC momentum strong (+365%), BBlunt underperforming (35.2% conversion)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73152" cy="914400"/>
          </a:xfrm>
          <a:prstGeom prst="rect">
            <a:avLst/>
          </a:prstGeom>
          <a:solidFill>
            <a:srgbClr val="E63946"/>
          </a:solidFill>
          <a:ln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3946"/>
                </a:solidFill>
              </a:defRPr>
            </a:pPr>
            <a:r>
              <a:t>EVIDENCE: TDC ₹29.5 Cr (+365% YoY); Mamaearth ₹24.55 Cr at 73.4% conversion; Aqualogica 117% (timing flag); BBlunt 35.2% (underperform).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377440"/>
            <a:ext cx="73152" cy="731520"/>
          </a:xfrm>
          <a:prstGeom prst="rect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D1B2A"/>
                </a:solidFill>
              </a:defRPr>
            </a:pPr>
            <a:r>
              <a:t>IMPLICATION: TDC = new profit engine; BBlunt = drag on portfolio. Aqualogica 117% may signal overloading or timing mismatch.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474720"/>
            <a:ext cx="73152" cy="1097280"/>
          </a:xfrm>
          <a:prstGeom prst="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9D8F"/>
                </a:solidFill>
              </a:defRPr>
            </a:pPr>
            <a:r>
              <a:t>ACTION: Double TDC allocation by 31-Aug; audit BBlunt SKU velocity — consolidate slow-moving SKUs; validate Aqualogica timing.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757575"/>
                </a:solidFill>
              </a:defRPr>
            </a:pPr>
            <a:r>
              <a:t>Owner: Brand Heads (TDC, BBlunt, Aqualogica) | 31-Aug action update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7575"/>
                </a:solidFill>
              </a:defRPr>
            </a:pPr>
            <a:r>
              <a:t>Modern Trade Analytics | July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Premium +15% YoY, Budget -7% YoY — portfolio gap identified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73152" cy="914400"/>
          </a:xfrm>
          <a:prstGeom prst="rect">
            <a:avLst/>
          </a:prstGeom>
          <a:solidFill>
            <a:srgbClr val="E63946"/>
          </a:solidFill>
          <a:ln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3946"/>
                </a:solidFill>
              </a:defRPr>
            </a:pPr>
            <a:r>
              <a:t>EVIDENCE: Market trend: Premium tier +15% YoY (opportunity); Budget tier -7% YoY (risk). Mamaearth portfolio skews premium; sub-₹300 entry tier gaps.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377440"/>
            <a:ext cx="73152" cy="731520"/>
          </a:xfrm>
          <a:prstGeom prst="rect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D1B2A"/>
                </a:solidFill>
              </a:defRPr>
            </a:pPr>
            <a:r>
              <a:t>IMPLICATION: Gap = ₹15–20 Cr opportunity in sub-₹300 if we own first-mover advantage; delay = share loss to HUL/P&amp;G.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474720"/>
            <a:ext cx="73152" cy="1097280"/>
          </a:xfrm>
          <a:prstGeom prst="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9D8F"/>
                </a:solidFill>
              </a:defRPr>
            </a:pPr>
            <a:r>
              <a:t>ACTION: Prioritise budget Face Wash + Shampoo SKU development (parallel to premium line extension). Timeline: Face Wash Sep, Shampoo Oct.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757575"/>
                </a:solidFill>
              </a:defRPr>
            </a:pPr>
            <a:r>
              <a:t>Owner: Category Head + Brand Marketing | Sep-Oct SKU launch milestones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7575"/>
                </a:solidFill>
              </a:defRPr>
            </a:pPr>
            <a:r>
              <a:t>Modern Trade Analytics | July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eB2B channels (FSN+Nykaa) at 99.4% conversion — 2x potential identified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73152" cy="914400"/>
          </a:xfrm>
          <a:prstGeom prst="rect">
            <a:avLst/>
          </a:prstGeom>
          <a:solidFill>
            <a:srgbClr val="E63946"/>
          </a:solidFill>
          <a:ln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3946"/>
                </a:solidFill>
              </a:defRPr>
            </a:pPr>
            <a:r>
              <a:t>EVIDENCE: FSN+Nykaa ₹2.07 Cr at 99.4% conversion (benchmark best); current allocation = 5–7% of MT budget; 2x opportunity = +₹2 Cr potential.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377440"/>
            <a:ext cx="73152" cy="731520"/>
          </a:xfrm>
          <a:prstGeom prst="rect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D1B2A"/>
                </a:solidFill>
              </a:defRPr>
            </a:pPr>
            <a:r>
              <a:t>IMPLICATION: eB2B removes trade friction; captures online-ready consumers; efficiency = 99.4% conversion vs retail 51–76%.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474720"/>
            <a:ext cx="73152" cy="1097280"/>
          </a:xfrm>
          <a:prstGeom prst="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9D8F"/>
                </a:solidFill>
              </a:defRPr>
            </a:pPr>
            <a:r>
              <a:t>ACTION: Double eB2B allocation by 31-Aug; increase SKU breadth (all Hero SKUs + new variants); target ₹3.5 Cr eB2B by month-end.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757575"/>
                </a:solidFill>
              </a:defRPr>
            </a:pPr>
            <a:r>
              <a:t>Owner: eB2B Lead + Category Head | 31-Aug ₹3.5 Cr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7575"/>
                </a:solidFill>
              </a:defRPr>
            </a:pPr>
            <a:r>
              <a:t>Modern Trade Analytics | July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54864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August Action Plan — 5 Key Levers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1371600"/>
                <a:gridCol w="13716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Deadline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KPI Target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Reliance Shampoo/Sun Care recovery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NKAM Reliance + Category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12-Aug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+₹2 Cr offtake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North Zone conversion ramp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North Regional Lead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30-Aug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58.5% → 65%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eB2B allocation 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eB2B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31-Aug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₹3.5 Cr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Premium positioning campaign (TDC + bundle)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Trade Marketing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31-Aug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+5 pp premium penetration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East Zone recovery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East Regional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31-Aug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D1B2A"/>
                          </a:solidFill>
                        </a:defRPr>
                      </a:pPr>
                      <a:r>
                        <a:t>45.3% → 50%+ conversion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August recovery trajectory: Q1 baseline → Aug actions → Q3 target ₹400+ Cr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73152" cy="914400"/>
          </a:xfrm>
          <a:prstGeom prst="rect">
            <a:avLst/>
          </a:prstGeom>
          <a:solidFill>
            <a:srgbClr val="E63946"/>
          </a:solidFill>
          <a:ln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3946"/>
                </a:solidFill>
              </a:defRPr>
            </a:pPr>
            <a:r>
              <a:t>EVIDENCE: July baseline ₹36.1 Cr; with Reliance recovery (+₹2 Cr) + North/East ramp (+₹2–3 Cr) + eB2B 2x (+₹2 Cr) = Aug target ₹42–45 Cr.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377440"/>
            <a:ext cx="73152" cy="731520"/>
          </a:xfrm>
          <a:prstGeom prst="rect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D1B2A"/>
                </a:solidFill>
              </a:defRPr>
            </a:pPr>
            <a:r>
              <a:t>IMPLICATION: Momentum carries to Q2 Q3 with festive loading (Sep-Oct) + budget SKU launch = ₹400+ Cr Q2 run-rate achievable.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474720"/>
            <a:ext cx="73152" cy="1097280"/>
          </a:xfrm>
          <a:prstGeom prst="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9D8F"/>
                </a:solidFill>
              </a:defRPr>
            </a:pPr>
            <a:r>
              <a:t>ACTION: Weekly steering: Monday sales sync (offtake vs plan), Friday action audit (owner accountability). Escalate misses &gt;3% by Tue-EOD.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757575"/>
                </a:solidFill>
              </a:defRPr>
            </a:pPr>
            <a:r>
              <a:t>Owner: Sales VP + Category Head | Weekly cadence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7575"/>
                </a:solidFill>
              </a:defRPr>
            </a:pPr>
            <a:r>
              <a:t>Modern Trade Analytics | July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Four headwinds: Supply-chain fill-rate, footfall, competitor push, budget cannibalization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73152" cy="914400"/>
          </a:xfrm>
          <a:prstGeom prst="rect">
            <a:avLst/>
          </a:prstGeom>
          <a:solidFill>
            <a:srgbClr val="E63946"/>
          </a:solidFill>
          <a:ln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3946"/>
                </a:solidFill>
              </a:defRPr>
            </a:pPr>
            <a:r>
              <a:t>EVIDENCE: Risks: (a) DC fill-rate drops = OOS in North/East; (b) Footfall compression in tier-2 chains (Nature's Basket, Spencers); (c) HUL value-tier acceleration; (d) Budget SKU cannibalizing premium.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377440"/>
            <a:ext cx="73152" cy="731520"/>
          </a:xfrm>
          <a:prstGeom prst="rect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D1B2A"/>
                </a:solidFill>
              </a:defRPr>
            </a:pPr>
            <a:r>
              <a:t>IMPLICATION: Risk = ₹5–7 Cr Q3 if mitigations miss. Ongoing hedge: supply-chain daily audit, competitor pricing intelligence, portfolio cannibalization modeling.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474720"/>
            <a:ext cx="73152" cy="1097280"/>
          </a:xfrm>
          <a:prstGeom prst="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9D8F"/>
                </a:solidFill>
              </a:defRPr>
            </a:pPr>
            <a:r>
              <a:t>ACTION: Assign: DC owner (fill-rate audit by 5-Aug), Trade (footfall survey by 8-Aug), Category (cannibalization model by 12-Aug).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757575"/>
                </a:solidFill>
              </a:defRPr>
            </a:pPr>
            <a:r>
              <a:t>Owner: Supply Chain + Trade + Category Heads | Audit reports by stated dates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7575"/>
                </a:solidFill>
              </a:defRPr>
            </a:pPr>
            <a:r>
              <a:t>Modern Trade Analytics | July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Sep-Oct festive loading + budget SKU launch + zone recovery = ₹400+ Cr Q2 run-rate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73152" cy="914400"/>
          </a:xfrm>
          <a:prstGeom prst="rect">
            <a:avLst/>
          </a:prstGeom>
          <a:solidFill>
            <a:srgbClr val="E63946"/>
          </a:solidFill>
          <a:ln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3946"/>
                </a:solidFill>
              </a:defRPr>
            </a:pPr>
            <a:r>
              <a:t>EVIDENCE: Q2 outlook: Sep-Oct festive schemes + budget Face Wash (Sep) + budget Shampoo (Oct) + North/East zone recovery = ₹110+ Cr Q2 offtake.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377440"/>
            <a:ext cx="73152" cy="731520"/>
          </a:xfrm>
          <a:prstGeom prst="rect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D1B2A"/>
                </a:solidFill>
              </a:defRPr>
            </a:pPr>
            <a:r>
              <a:t>IMPLICATION: Gates: (1) Reliance ₹2 Cr recovery by 12-Aug; (2) eB2B ₹3.5 Cr by 31-Aug; (3) Budget SKU readiness by 15-Sep.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474720"/>
            <a:ext cx="73152" cy="1097280"/>
          </a:xfrm>
          <a:prstGeom prst="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9D8F"/>
                </a:solidFill>
              </a:defRPr>
            </a:pPr>
            <a:r>
              <a:t>ACTION: Steering cadence: Weekly sales sync (Mon), Friday action audit, monthly leadership review. Next review: Aug 30 (Q3 readiness).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757575"/>
                </a:solidFill>
              </a:defRPr>
            </a:pPr>
            <a:r>
              <a:t>Owner: Sales VP | Next leadership review 30-Aug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57575"/>
                </a:solidFill>
              </a:defRPr>
            </a:pPr>
            <a:r>
              <a:t>Modern Trade Analytics |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