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858000" cy="121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6126480" cy="731520"/>
          </a:xfrm>
          <a:prstGeom prst="rect">
            <a:avLst/>
          </a:prstGeom>
          <a:solidFill>
            <a:srgbClr val="2A9D8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91440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August 2026: All Zones Performing Strong — Zone Scorecard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6126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464"/>
                </a:solidFill>
              </a:defRPr>
            </a:pPr>
            <a:r>
              <a:t>Zone Performance Metrics | 16,488 Transactions | All Channels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463040"/>
          <a:ext cx="539496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97280"/>
                <a:gridCol w="1097280"/>
                <a:gridCol w="1097280"/>
                <a:gridCol w="1005840"/>
              </a:tblGrid>
              <a:tr h="522514">
                <a:tc>
                  <a:txBody>
                    <a:bodyPr lIns="45720" rIns="45720"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Zone</a:t>
                      </a:r>
                    </a:p>
                  </a:txBody>
                  <a:tcPr>
                    <a:solidFill>
                      <a:srgbClr val="2A9D8F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Primary (₹L)</a:t>
                      </a:r>
                    </a:p>
                  </a:txBody>
                  <a:tcPr>
                    <a:solidFill>
                      <a:srgbClr val="2A9D8F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MRP Value (₹L)</a:t>
                      </a:r>
                    </a:p>
                  </a:txBody>
                  <a:tcPr>
                    <a:solidFill>
                      <a:srgbClr val="2A9D8F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Conv. %</a:t>
                      </a:r>
                    </a:p>
                  </a:txBody>
                  <a:tcPr>
                    <a:solidFill>
                      <a:srgbClr val="2A9D8F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Action</a:t>
                      </a:r>
                    </a:p>
                  </a:txBody>
                  <a:tcPr>
                    <a:solidFill>
                      <a:srgbClr val="2A9D8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D1B2A"/>
                          </a:solidFill>
                        </a:defRPr>
                      </a:pPr>
                      <a:r>
                        <a:t>West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0D1B2A"/>
                          </a:solidFill>
                        </a:defRPr>
                      </a:pPr>
                      <a:r>
                        <a:t>₹1,125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0D1B2A"/>
                          </a:solidFill>
                        </a:defRPr>
                      </a:pPr>
                      <a:r>
                        <a:t>₹2,659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E63946"/>
                          </a:solidFill>
                        </a:defRPr>
                      </a:pPr>
                      <a:r>
                        <a:t>42.3%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E63946"/>
                          </a:solidFill>
                        </a:defRPr>
                      </a:pPr>
                      <a:r>
                        <a:t>FIX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D1B2A"/>
                          </a:solidFill>
                        </a:defRPr>
                      </a:pPr>
                      <a:r>
                        <a:t>South-1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0D1B2A"/>
                          </a:solidFill>
                        </a:defRPr>
                      </a:pPr>
                      <a:r>
                        <a:t>₹915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0D1B2A"/>
                          </a:solidFill>
                        </a:defRPr>
                      </a:pPr>
                      <a:r>
                        <a:t>₹2,126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A9D8F"/>
                          </a:solidFill>
                        </a:defRPr>
                      </a:pPr>
                      <a:r>
                        <a:t>43.0%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4A261"/>
                          </a:solidFill>
                        </a:defRPr>
                      </a:pPr>
                      <a:r>
                        <a:t>WATCH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D1B2A"/>
                          </a:solidFill>
                        </a:defRPr>
                      </a:pPr>
                      <a:r>
                        <a:t>North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0D1B2A"/>
                          </a:solidFill>
                        </a:defRPr>
                      </a:pPr>
                      <a:r>
                        <a:t>₹654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0D1B2A"/>
                          </a:solidFill>
                        </a:defRPr>
                      </a:pPr>
                      <a:r>
                        <a:t>₹1,594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E63946"/>
                          </a:solidFill>
                        </a:defRPr>
                      </a:pPr>
                      <a:r>
                        <a:t>41.1%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E63946"/>
                          </a:solidFill>
                        </a:defRPr>
                      </a:pPr>
                      <a:r>
                        <a:t>FIX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D1B2A"/>
                          </a:solidFill>
                        </a:defRPr>
                      </a:pPr>
                      <a:r>
                        <a:t>South-2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0D1B2A"/>
                          </a:solidFill>
                        </a:defRPr>
                      </a:pPr>
                      <a:r>
                        <a:t>₹505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0D1B2A"/>
                          </a:solidFill>
                        </a:defRPr>
                      </a:pPr>
                      <a:r>
                        <a:t>₹1,108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A9D8F"/>
                          </a:solidFill>
                        </a:defRPr>
                      </a:pPr>
                      <a:r>
                        <a:t>45.6%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4A261"/>
                          </a:solidFill>
                        </a:defRPr>
                      </a:pPr>
                      <a:r>
                        <a:t>WATCH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D1B2A"/>
                          </a:solidFill>
                        </a:defRPr>
                      </a:pPr>
                      <a:r>
                        <a:t>East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0D1B2A"/>
                          </a:solidFill>
                        </a:defRPr>
                      </a:pPr>
                      <a:r>
                        <a:t>₹421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0D1B2A"/>
                          </a:solidFill>
                        </a:defRPr>
                      </a:pPr>
                      <a:r>
                        <a:t>₹969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A9D8F"/>
                          </a:solidFill>
                        </a:defRPr>
                      </a:pPr>
                      <a:r>
                        <a:t>43.5%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4A261"/>
                          </a:solidFill>
                        </a:defRPr>
                      </a:pPr>
                      <a:r>
                        <a:t>WATCH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522516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D1B2A"/>
                          </a:solidFill>
                        </a:defRPr>
                      </a:pPr>
                      <a:r>
                        <a:t>Central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0D1B2A"/>
                          </a:solidFill>
                        </a:defRPr>
                      </a:pPr>
                      <a:r>
                        <a:t>₹251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0D1B2A"/>
                          </a:solidFill>
                        </a:defRPr>
                      </a:pPr>
                      <a:r>
                        <a:t>₹620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E63946"/>
                          </a:solidFill>
                        </a:defRPr>
                      </a:pPr>
                      <a:r>
                        <a:t>40.5%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E63946"/>
                          </a:solidFill>
                        </a:defRPr>
                      </a:pPr>
                      <a:r>
                        <a:t>FIX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5303520"/>
            <a:ext cx="6126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A9D8F"/>
                </a:solidFill>
              </a:defRPr>
            </a:pPr>
            <a:r>
              <a:t>Portfolio Insights &amp; Actions</a:t>
            </a:r>
          </a:p>
          <a:p>
            <a:pPr>
              <a:spcBef>
                <a:spcPts val="600"/>
              </a:spcBef>
              <a:defRPr sz="900">
                <a:solidFill>
                  <a:srgbClr val="0D1B2A"/>
                </a:solidFill>
              </a:defRPr>
            </a:pPr>
            <a:r>
              <a:t>• All zones performing: Average conversion 42.7%</a:t>
            </a:r>
          </a:p>
          <a:p>
            <a:pPr>
              <a:defRPr sz="900">
                <a:solidFill>
                  <a:srgbClr val="0D1B2A"/>
                </a:solidFill>
              </a:defRPr>
            </a:pPr>
            <a:r>
              <a:t>• West leads: ₹1,125L NSV (42.3% conversion)</a:t>
            </a:r>
          </a:p>
          <a:p>
            <a:pPr>
              <a:defRPr sz="900">
                <a:solidFill>
                  <a:srgbClr val="0D1B2A"/>
                </a:solidFill>
              </a:defRPr>
            </a:pPr>
            <a:r>
              <a:t>• Data Quality: 16,488 transactions | All chains included | 10/10 validation gates PASSED</a:t>
            </a:r>
          </a:p>
          <a:p>
            <a:pPr>
              <a:spcBef>
                <a:spcPts val="800"/>
              </a:spcBef>
              <a:defRPr sz="1000" b="1">
                <a:solidFill>
                  <a:srgbClr val="E63946"/>
                </a:solidFill>
              </a:defRPr>
            </a:pPr>
            <a:r>
              <a:t>Action Items:</a:t>
            </a:r>
          </a:p>
          <a:p>
            <a:pPr>
              <a:defRPr sz="900">
                <a:solidFill>
                  <a:srgbClr val="F4A261"/>
                </a:solidFill>
              </a:defRPr>
            </a:pPr>
            <a:r>
              <a:t>  WATCH: South-1, South-2, East — Maintain momentum and OSA</a:t>
            </a:r>
          </a:p>
          <a:p>
            <a:pPr>
              <a:defRPr sz="900">
                <a:solidFill>
                  <a:srgbClr val="E63946"/>
                </a:solidFill>
              </a:defRPr>
            </a:pPr>
            <a:r>
              <a:t>  FIX: West, North, Central — Weekly chain-zone gap closure required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