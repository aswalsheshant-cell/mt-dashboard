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8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9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10.xml" ContentType="application/vnd.openxmlformats-officedocument.presentationml.notes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notesSlides/notesSlide11.xml" ContentType="application/vnd.openxmlformats-officedocument.presentationml.notes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notesSlides/notesSlide12.xml" ContentType="application/vnd.openxmlformats-officedocument.presentationml.notesSlide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7562850" cy="10688638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22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560">
              <a:solidFill>
                <a:srgbClr val="1F5A85"/>
              </a:solidFill>
            </a:ln>
          </c:spPr>
          <c:marker>
            <c:symbol val="circle"/>
            <c:size val="4"/>
            <c:spPr>
              <a:solidFill>
                <a:srgbClr val="1F5A85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3039</c:v>
                </c:pt>
                <c:pt idx="1">
                  <c:v>2761</c:v>
                </c:pt>
                <c:pt idx="2">
                  <c:v>3234</c:v>
                </c:pt>
                <c:pt idx="3">
                  <c:v>3589</c:v>
                </c:pt>
                <c:pt idx="4">
                  <c:v>4026</c:v>
                </c:pt>
                <c:pt idx="5">
                  <c:v>3824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888-4407-ADA6-43CA8DFC90A0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D-mart</c:v>
                </c:pt>
              </c:strCache>
            </c:strRef>
          </c:tx>
          <c:spPr>
            <a:ln w="25560">
              <a:solidFill>
                <a:srgbClr val="F39C12"/>
              </a:solidFill>
            </a:ln>
          </c:spPr>
          <c:marker>
            <c:symbol val="circle"/>
            <c:size val="4"/>
            <c:spPr>
              <a:solidFill>
                <a:srgbClr val="F39C12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967</c:v>
                </c:pt>
                <c:pt idx="1">
                  <c:v>928</c:v>
                </c:pt>
                <c:pt idx="2">
                  <c:v>1225</c:v>
                </c:pt>
                <c:pt idx="3">
                  <c:v>1258</c:v>
                </c:pt>
                <c:pt idx="4">
                  <c:v>1518</c:v>
                </c:pt>
                <c:pt idx="5">
                  <c:v>1456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888-4407-ADA6-43CA8DFC90A0}"/>
            </c:ext>
          </c:extLst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Reliance</c:v>
                </c:pt>
              </c:strCache>
            </c:strRef>
          </c:tx>
          <c:spPr>
            <a:ln w="25560">
              <a:solidFill>
                <a:srgbClr val="2E8B57"/>
              </a:solidFill>
            </a:ln>
          </c:spPr>
          <c:marker>
            <c:symbol val="circle"/>
            <c:size val="4"/>
            <c:spPr>
              <a:solidFill>
                <a:srgbClr val="2E8B57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6"/>
                <c:pt idx="0">
                  <c:v>899</c:v>
                </c:pt>
                <c:pt idx="1">
                  <c:v>756</c:v>
                </c:pt>
                <c:pt idx="2">
                  <c:v>804</c:v>
                </c:pt>
                <c:pt idx="3">
                  <c:v>868</c:v>
                </c:pt>
                <c:pt idx="4">
                  <c:v>990</c:v>
                </c:pt>
                <c:pt idx="5">
                  <c:v>948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888-4407-ADA6-43CA8DFC90A0}"/>
            </c:ext>
          </c:extLst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Apollo</c:v>
                </c:pt>
              </c:strCache>
            </c:strRef>
          </c:tx>
          <c:spPr>
            <a:ln w="25560">
              <a:solidFill>
                <a:srgbClr val="7E57C2"/>
              </a:solidFill>
            </a:ln>
          </c:spPr>
          <c:marker>
            <c:symbol val="circle"/>
            <c:size val="4"/>
            <c:spPr>
              <a:solidFill>
                <a:srgbClr val="7E57C2"/>
              </a:solidFill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6"/>
                <c:pt idx="0">
                  <c:v>534</c:v>
                </c:pt>
                <c:pt idx="1">
                  <c:v>512</c:v>
                </c:pt>
                <c:pt idx="2">
                  <c:v>570</c:v>
                </c:pt>
                <c:pt idx="3">
                  <c:v>699</c:v>
                </c:pt>
                <c:pt idx="4">
                  <c:v>751</c:v>
                </c:pt>
                <c:pt idx="5">
                  <c:v>723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B888-4407-ADA6-43CA8DFC90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4767574"/>
        <c:axId val="10528532"/>
      </c:lineChart>
      <c:catAx>
        <c:axId val="8476757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</a:ln>
        </c:spPr>
        <c:txPr>
          <a:bodyPr rot="2100000" anchorCtr="1"/>
          <a:lstStyle/>
          <a:p>
            <a:pPr>
              <a:defRPr sz="800" b="1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528532"/>
        <c:crosses val="autoZero"/>
        <c:auto val="1"/>
        <c:lblAlgn val="ctr"/>
        <c:lblOffset val="100"/>
        <c:noMultiLvlLbl val="0"/>
      </c:catAx>
      <c:valAx>
        <c:axId val="1052853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</a:ln>
        </c:spPr>
        <c:txPr>
          <a:bodyPr anchorCtr="1"/>
          <a:lstStyle/>
          <a:p>
            <a:pPr>
              <a:defRPr sz="700" b="1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84767574"/>
        <c:crosses val="autoZero"/>
        <c:crossBetween val="between"/>
        <c:majorUnit val="600"/>
      </c:valAx>
      <c:spPr>
        <a:noFill/>
        <a:ln w="0">
          <a:solidFill>
            <a:srgbClr val="000000"/>
          </a:solidFill>
        </a:ln>
      </c:spPr>
    </c:plotArea>
    <c:legend>
      <c:legendPos val="b"/>
      <c:overlay val="0"/>
      <c:spPr>
        <a:noFill/>
      </c:spPr>
      <c:txPr>
        <a:bodyPr anchorCtr="1"/>
        <a:lstStyle/>
        <a:p>
          <a:pPr>
            <a:defRPr sz="1050" b="1" u="none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29164007657945"/>
          <c:y val="3.4718941898913599E-2"/>
          <c:w val="0.85258455647734499"/>
          <c:h val="0.661076995748701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ln w="0"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1456</c:v>
                </c:pt>
                <c:pt idx="1">
                  <c:v>948</c:v>
                </c:pt>
                <c:pt idx="2">
                  <c:v>723</c:v>
                </c:pt>
                <c:pt idx="3">
                  <c:v>217</c:v>
                </c:pt>
                <c:pt idx="4">
                  <c:v>80</c:v>
                </c:pt>
                <c:pt idx="5">
                  <c:v>52</c:v>
                </c:pt>
                <c:pt idx="6">
                  <c:v>116</c:v>
                </c:pt>
                <c:pt idx="7">
                  <c:v>61</c:v>
                </c:pt>
                <c:pt idx="8">
                  <c:v>40</c:v>
                </c:pt>
                <c:pt idx="9">
                  <c:v>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888-4B1F-9DA2-B00BE6414B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571361"/>
        <c:axId val="93187881"/>
      </c:barChart>
      <c:catAx>
        <c:axId val="5957136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1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3187881"/>
        <c:crosses val="autoZero"/>
        <c:auto val="1"/>
        <c:lblAlgn val="ctr"/>
        <c:lblOffset val="100"/>
        <c:noMultiLvlLbl val="0"/>
      </c:catAx>
      <c:valAx>
        <c:axId val="93187881"/>
        <c:scaling>
          <c:orientation val="minMax"/>
          <c:max val="17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600">
            <a:solidFill>
              <a:srgbClr val="CBD5E1"/>
            </a:solidFill>
          </a:ln>
        </c:spPr>
        <c:txPr>
          <a:bodyPr anchorCtr="1"/>
          <a:lstStyle/>
          <a:p>
            <a:pPr>
              <a:defRPr sz="520" b="1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957136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26202935545628597"/>
          <c:y val="3.8713405238828998E-2"/>
          <c:w val="0.67887683471601801"/>
          <c:h val="0.918721109399076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Share</c:v>
                </c:pt>
              </c:strCache>
            </c:strRef>
          </c:tx>
          <c:spPr>
            <a:ln w="9360">
              <a:solidFill>
                <a:srgbClr val="F9F9F9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F5A8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032-4E41-8800-133BFDEC555F}"/>
              </c:ext>
            </c:extLst>
          </c:dPt>
          <c:dPt>
            <c:idx val="1"/>
            <c:invertIfNegative val="1"/>
            <c:bubble3D val="0"/>
            <c:spPr>
              <a:solidFill>
                <a:srgbClr val="F39C12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4032-4E41-8800-133BFDEC555F}"/>
              </c:ext>
            </c:extLst>
          </c:dPt>
          <c:dPt>
            <c:idx val="2"/>
            <c:invertIfNegative val="1"/>
            <c:bubble3D val="0"/>
            <c:spPr>
              <a:solidFill>
                <a:srgbClr val="2E8B57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4032-4E41-8800-133BFDEC555F}"/>
              </c:ext>
            </c:extLst>
          </c:dPt>
          <c:dPt>
            <c:idx val="3"/>
            <c:invertIfNegative val="1"/>
            <c:bubble3D val="0"/>
            <c:spPr>
              <a:solidFill>
                <a:srgbClr val="7E57C2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4032-4E41-8800-133BFDEC555F}"/>
              </c:ext>
            </c:extLst>
          </c:dPt>
          <c:dPt>
            <c:idx val="4"/>
            <c:invertIfNegative val="1"/>
            <c:bubble3D val="0"/>
            <c:spPr>
              <a:solidFill>
                <a:srgbClr val="8B451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4032-4E41-8800-133BFDEC555F}"/>
              </c:ext>
            </c:extLst>
          </c:dPt>
          <c:dPt>
            <c:idx val="5"/>
            <c:invertIfNegative val="1"/>
            <c:bubble3D val="0"/>
            <c:spPr>
              <a:solidFill>
                <a:srgbClr val="D66BB2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B-4032-4E41-8800-133BFDEC555F}"/>
              </c:ext>
            </c:extLst>
          </c:dPt>
          <c:dPt>
            <c:idx val="6"/>
            <c:invertIfNegative val="1"/>
            <c:bubble3D val="0"/>
            <c:spPr>
              <a:solidFill>
                <a:srgbClr val="A0AEC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D-4032-4E41-8800-133BFDEC555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50" b="1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rPr>
                      <a:t>38</a:t>
                    </a:r>
                  </a:p>
                </c:rich>
              </c:tx>
              <c:spPr/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032-4E41-8800-133BFDEC555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50" b="1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rPr>
                      <a:t>25</a:t>
                    </a:r>
                  </a:p>
                </c:rich>
              </c:tx>
              <c:spPr/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032-4E41-8800-133BFDEC555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50" b="1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rPr>
                      <a:t>19</a:t>
                    </a:r>
                  </a:p>
                </c:rich>
              </c:tx>
              <c:spPr/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032-4E41-8800-133BFDEC555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050" b="1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rPr>
                      <a:t>5</a:t>
                    </a:r>
                  </a:p>
                </c:rich>
              </c:tx>
              <c:spPr/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032-4E41-8800-133BFDEC555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050" b="1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rPr>
                      <a:t>3</a:t>
                    </a:r>
                  </a:p>
                </c:rich>
              </c:tx>
              <c:spPr/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032-4E41-8800-133BFDEC555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050" b="1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rPr>
                      <a:t>3</a:t>
                    </a:r>
                  </a:p>
                </c:rich>
              </c:tx>
              <c:spPr/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4032-4E41-8800-133BFDEC555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050" b="1" u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rPr>
                      <a:t>2</a:t>
                    </a:r>
                  </a:p>
                </c:rich>
              </c:tx>
              <c:spPr/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4032-4E41-8800-133BFDEC555F}"/>
                </c:ext>
              </c:extLst>
            </c:dLbl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5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38.1</c:v>
                </c:pt>
                <c:pt idx="1">
                  <c:v>24.8</c:v>
                </c:pt>
                <c:pt idx="2">
                  <c:v>18.899999999999999</c:v>
                </c:pt>
                <c:pt idx="3">
                  <c:v>5.7</c:v>
                </c:pt>
                <c:pt idx="4">
                  <c:v>3</c:v>
                </c:pt>
                <c:pt idx="5">
                  <c:v>2.1</c:v>
                </c:pt>
                <c:pt idx="6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032-4E41-8800-133BFDEC5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2692872"/>
        <c:axId val="45582419"/>
      </c:barChart>
      <c:catAx>
        <c:axId val="5269287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6480">
            <a:solidFill>
              <a:srgbClr val="8B8B8B"/>
            </a:solidFill>
          </a:ln>
        </c:spPr>
        <c:txPr>
          <a:bodyPr anchorCtr="1"/>
          <a:lstStyle/>
          <a:p>
            <a:pPr>
              <a:defRPr sz="1000" b="1" u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5582419"/>
        <c:crosses val="autoZero"/>
        <c:auto val="1"/>
        <c:lblAlgn val="ctr"/>
        <c:lblOffset val="100"/>
        <c:noMultiLvlLbl val="0"/>
      </c:catAx>
      <c:valAx>
        <c:axId val="45582419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269287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Total Channel</c:v>
          </c:tx>
          <c:spPr>
            <a:ln w="28575">
              <a:solidFill>
                <a:srgbClr val="1F4E79"/>
              </a:solidFill>
              <a:prstDash val="solid"/>
            </a:ln>
          </c:spPr>
          <c:marker>
            <c:symbol val="circle"/>
            <c:size val="6"/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183F5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Jun-25</c:v>
              </c:pt>
              <c:pt idx="1">
                <c:v>Feb-26</c:v>
              </c:pt>
              <c:pt idx="2">
                <c:v>Mar-26</c:v>
              </c:pt>
              <c:pt idx="3">
                <c:v>Apr-26</c:v>
              </c:pt>
              <c:pt idx="4">
                <c:v>May-26</c:v>
              </c:pt>
              <c:pt idx="5">
                <c:v>Jun-26</c:v>
              </c:pt>
            </c:strLit>
          </c:cat>
          <c:val>
            <c:numLit>
              <c:formatCode>General</c:formatCode>
              <c:ptCount val="6"/>
              <c:pt idx="0">
                <c:v>22.71</c:v>
              </c:pt>
              <c:pt idx="1">
                <c:v>27.61</c:v>
              </c:pt>
              <c:pt idx="2">
                <c:v>32.340000000000003</c:v>
              </c:pt>
              <c:pt idx="3">
                <c:v>35.89</c:v>
              </c:pt>
              <c:pt idx="4">
                <c:v>40.26</c:v>
              </c:pt>
              <c:pt idx="5">
                <c:v>38.24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8CF4-4428-B921-CCCFBF7334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w="9525">
              <a:solidFill>
                <a:srgbClr val="D6DED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Jun’26 NSV</c:v>
          </c:tx>
          <c:spPr>
            <a:solidFill>
              <a:srgbClr val="2D9B7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183F5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West</c:v>
              </c:pt>
              <c:pt idx="1">
                <c:v>North</c:v>
              </c:pt>
              <c:pt idx="2">
                <c:v>S1</c:v>
              </c:pt>
              <c:pt idx="3">
                <c:v>S2</c:v>
              </c:pt>
              <c:pt idx="4">
                <c:v>East</c:v>
              </c:pt>
              <c:pt idx="5">
                <c:v>FSN</c:v>
              </c:pt>
            </c:strLit>
          </c:cat>
          <c:val>
            <c:numLit>
              <c:formatCode>General</c:formatCode>
              <c:ptCount val="6"/>
              <c:pt idx="0">
                <c:v>985</c:v>
              </c:pt>
              <c:pt idx="1">
                <c:v>860</c:v>
              </c:pt>
              <c:pt idx="2">
                <c:v>827</c:v>
              </c:pt>
              <c:pt idx="3">
                <c:v>548</c:v>
              </c:pt>
              <c:pt idx="4">
                <c:v>387</c:v>
              </c:pt>
              <c:pt idx="5">
                <c:v>217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23D-4BA0-8108-2B1DA244069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5469595670168699E-2"/>
          <c:y val="0.26860841423948201"/>
          <c:w val="0.93155046163642197"/>
          <c:h val="0.581599630143319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BE5D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103</c:v>
                </c:pt>
                <c:pt idx="3">
                  <c:v>81</c:v>
                </c:pt>
                <c:pt idx="4">
                  <c:v>80</c:v>
                </c:pt>
                <c:pt idx="5">
                  <c:v>80</c:v>
                </c:pt>
                <c:pt idx="6">
                  <c:v>82</c:v>
                </c:pt>
                <c:pt idx="7">
                  <c:v>108</c:v>
                </c:pt>
                <c:pt idx="8">
                  <c:v>98</c:v>
                </c:pt>
                <c:pt idx="9">
                  <c:v>118</c:v>
                </c:pt>
                <c:pt idx="10">
                  <c:v>122</c:v>
                </c:pt>
                <c:pt idx="11">
                  <c:v>138</c:v>
                </c:pt>
                <c:pt idx="12">
                  <c:v>128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1F0-4EA3-8A82-9394C09DB5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4926604"/>
        <c:axId val="7402016"/>
      </c:barChart>
      <c:catAx>
        <c:axId val="949266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402016"/>
        <c:crosses val="autoZero"/>
        <c:auto val="1"/>
        <c:lblAlgn val="ctr"/>
        <c:lblOffset val="100"/>
        <c:noMultiLvlLbl val="0"/>
      </c:catAx>
      <c:valAx>
        <c:axId val="7402016"/>
        <c:scaling>
          <c:orientation val="minMax"/>
          <c:max val="175"/>
        </c:scaling>
        <c:delete val="1"/>
        <c:axPos val="l"/>
        <c:numFmt formatCode="General" sourceLinked="1"/>
        <c:majorTickMark val="out"/>
        <c:minorTickMark val="none"/>
        <c:tickLblPos val="nextTo"/>
        <c:crossAx val="9492660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4890162368672402E-2"/>
          <c:y val="0.21056257175660201"/>
          <c:w val="0.90226042661572803"/>
          <c:h val="0.598163030998852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56</c:v>
                </c:pt>
                <c:pt idx="1">
                  <c:v>61</c:v>
                </c:pt>
                <c:pt idx="2">
                  <c:v>99</c:v>
                </c:pt>
                <c:pt idx="3">
                  <c:v>63</c:v>
                </c:pt>
                <c:pt idx="4">
                  <c:v>66</c:v>
                </c:pt>
                <c:pt idx="5">
                  <c:v>67</c:v>
                </c:pt>
                <c:pt idx="6">
                  <c:v>88</c:v>
                </c:pt>
                <c:pt idx="7">
                  <c:v>104</c:v>
                </c:pt>
                <c:pt idx="8">
                  <c:v>71</c:v>
                </c:pt>
                <c:pt idx="9">
                  <c:v>77</c:v>
                </c:pt>
                <c:pt idx="10">
                  <c:v>107</c:v>
                </c:pt>
                <c:pt idx="11">
                  <c:v>122</c:v>
                </c:pt>
                <c:pt idx="12">
                  <c:v>110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A38-4041-B1E1-9BE863A073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0007149"/>
        <c:axId val="4948738"/>
      </c:barChart>
      <c:catAx>
        <c:axId val="8000714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948738"/>
        <c:crosses val="autoZero"/>
        <c:auto val="1"/>
        <c:lblAlgn val="ctr"/>
        <c:lblOffset val="100"/>
        <c:noMultiLvlLbl val="0"/>
      </c:catAx>
      <c:valAx>
        <c:axId val="4948738"/>
        <c:scaling>
          <c:orientation val="minMax"/>
          <c:max val="150"/>
        </c:scaling>
        <c:delete val="1"/>
        <c:axPos val="l"/>
        <c:numFmt formatCode="General" sourceLinked="1"/>
        <c:majorTickMark val="out"/>
        <c:minorTickMark val="none"/>
        <c:tickLblPos val="nextTo"/>
        <c:crossAx val="8000714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85402370555209E-2"/>
          <c:y val="0.205299539170507"/>
          <c:w val="0.92326887086712395"/>
          <c:h val="0.625576036866358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12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16</c:v>
                </c:pt>
                <c:pt idx="9">
                  <c:v>19</c:v>
                </c:pt>
                <c:pt idx="10">
                  <c:v>30</c:v>
                </c:pt>
                <c:pt idx="11">
                  <c:v>36</c:v>
                </c:pt>
                <c:pt idx="12">
                  <c:v>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29F-4009-AC6D-589F3ACF78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639436"/>
        <c:axId val="12413392"/>
      </c:barChart>
      <c:catAx>
        <c:axId val="156394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2413392"/>
        <c:crosses val="autoZero"/>
        <c:auto val="1"/>
        <c:lblAlgn val="ctr"/>
        <c:lblOffset val="100"/>
        <c:noMultiLvlLbl val="0"/>
      </c:catAx>
      <c:valAx>
        <c:axId val="12413392"/>
        <c:scaling>
          <c:orientation val="minMax"/>
          <c:max val="42.5"/>
        </c:scaling>
        <c:delete val="1"/>
        <c:axPos val="l"/>
        <c:numFmt formatCode="General" sourceLinked="1"/>
        <c:majorTickMark val="out"/>
        <c:minorTickMark val="none"/>
        <c:tickLblPos val="nextTo"/>
        <c:crossAx val="1563943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121888959795799E-2"/>
          <c:y val="0.26366184026155998"/>
          <c:w val="0.92964262922782404"/>
          <c:h val="0.54787482484820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12</c:v>
                </c:pt>
                <c:pt idx="10">
                  <c:v>17</c:v>
                </c:pt>
                <c:pt idx="11">
                  <c:v>18</c:v>
                </c:pt>
                <c:pt idx="12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375-48AB-B53B-CB2C29BC8C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12761"/>
        <c:axId val="41923566"/>
      </c:barChart>
      <c:catAx>
        <c:axId val="1291276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1923566"/>
        <c:crosses val="autoZero"/>
        <c:auto val="1"/>
        <c:lblAlgn val="ctr"/>
        <c:lblOffset val="100"/>
        <c:noMultiLvlLbl val="0"/>
      </c:catAx>
      <c:valAx>
        <c:axId val="41923566"/>
        <c:scaling>
          <c:orientation val="minMax"/>
          <c:max val="22.5"/>
        </c:scaling>
        <c:delete val="1"/>
        <c:axPos val="l"/>
        <c:numFmt formatCode="General" sourceLinked="1"/>
        <c:majorTickMark val="out"/>
        <c:minorTickMark val="none"/>
        <c:tickLblPos val="nextTo"/>
        <c:crossAx val="1291276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283338196673501E-2"/>
          <c:y val="0.25502101821578699"/>
          <c:w val="0.92938430113802195"/>
          <c:h val="0.548341896310134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7</c:v>
                </c:pt>
                <c:pt idx="9">
                  <c:v>10</c:v>
                </c:pt>
                <c:pt idx="10">
                  <c:v>15</c:v>
                </c:pt>
                <c:pt idx="11">
                  <c:v>18</c:v>
                </c:pt>
                <c:pt idx="1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5D-40F3-9638-81BFD7411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517301"/>
        <c:axId val="40824810"/>
      </c:barChart>
      <c:catAx>
        <c:axId val="335173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0824810"/>
        <c:crosses val="autoZero"/>
        <c:auto val="1"/>
        <c:lblAlgn val="ctr"/>
        <c:lblOffset val="100"/>
        <c:noMultiLvlLbl val="0"/>
      </c:catAx>
      <c:valAx>
        <c:axId val="40824810"/>
        <c:scaling>
          <c:orientation val="minMax"/>
          <c:max val="22.5"/>
        </c:scaling>
        <c:delete val="1"/>
        <c:axPos val="l"/>
        <c:numFmt formatCode="General" sourceLinked="1"/>
        <c:majorTickMark val="out"/>
        <c:minorTickMark val="none"/>
        <c:tickLblPos val="nextTo"/>
        <c:crossAx val="33517301"/>
        <c:crosses val="autoZero"/>
        <c:crossBetween val="between"/>
      </c:valAx>
      <c:spPr>
        <a:noFill/>
        <a:ln w="2556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6823000321233501E-2"/>
          <c:y val="0.22410045882637"/>
          <c:w val="0.92997108898169001"/>
          <c:h val="0.58729775416565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11</c:v>
                </c:pt>
                <c:pt idx="8">
                  <c:v>6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3B8-4074-B936-A970A328D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2859115"/>
        <c:axId val="30947353"/>
      </c:barChart>
      <c:catAx>
        <c:axId val="3285911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30947353"/>
        <c:crosses val="autoZero"/>
        <c:auto val="1"/>
        <c:lblAlgn val="ctr"/>
        <c:lblOffset val="100"/>
        <c:noMultiLvlLbl val="0"/>
      </c:catAx>
      <c:valAx>
        <c:axId val="30947353"/>
        <c:scaling>
          <c:orientation val="minMax"/>
          <c:max val="12.5"/>
        </c:scaling>
        <c:delete val="1"/>
        <c:axPos val="l"/>
        <c:numFmt formatCode="General" sourceLinked="1"/>
        <c:majorTickMark val="out"/>
        <c:minorTickMark val="none"/>
        <c:tickLblPos val="nextTo"/>
        <c:crossAx val="3285911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2717849044379702E-2"/>
          <c:y val="0.25214567385757403"/>
          <c:w val="0.94363459669582095"/>
          <c:h val="0.606355833913244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BE5D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7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191</c:v>
                </c:pt>
                <c:pt idx="1">
                  <c:v>187</c:v>
                </c:pt>
                <c:pt idx="2">
                  <c:v>227</c:v>
                </c:pt>
                <c:pt idx="3">
                  <c:v>177</c:v>
                </c:pt>
                <c:pt idx="4">
                  <c:v>199</c:v>
                </c:pt>
                <c:pt idx="5">
                  <c:v>182</c:v>
                </c:pt>
                <c:pt idx="6">
                  <c:v>181</c:v>
                </c:pt>
                <c:pt idx="7">
                  <c:v>198</c:v>
                </c:pt>
                <c:pt idx="8">
                  <c:v>195</c:v>
                </c:pt>
                <c:pt idx="9">
                  <c:v>230</c:v>
                </c:pt>
                <c:pt idx="10">
                  <c:v>247</c:v>
                </c:pt>
                <c:pt idx="11">
                  <c:v>268</c:v>
                </c:pt>
                <c:pt idx="12">
                  <c:v>252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833-4FE3-98E3-880FA847C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4687388"/>
        <c:axId val="8601333"/>
      </c:barChart>
      <c:catAx>
        <c:axId val="346873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8601333"/>
        <c:crosses val="autoZero"/>
        <c:auto val="1"/>
        <c:lblAlgn val="ctr"/>
        <c:lblOffset val="100"/>
        <c:noMultiLvlLbl val="0"/>
      </c:catAx>
      <c:valAx>
        <c:axId val="8601333"/>
        <c:scaling>
          <c:orientation val="minMax"/>
          <c:max val="325"/>
        </c:scaling>
        <c:delete val="1"/>
        <c:axPos val="l"/>
        <c:numFmt formatCode="General" sourceLinked="1"/>
        <c:majorTickMark val="out"/>
        <c:minorTickMark val="none"/>
        <c:tickLblPos val="nextTo"/>
        <c:crossAx val="3468738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83074210610675E-2"/>
          <c:y val="8.92977339017276E-2"/>
          <c:w val="0.93364321205321399"/>
          <c:h val="0.747588063719990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55A11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102</c:v>
                </c:pt>
                <c:pt idx="1">
                  <c:v>115</c:v>
                </c:pt>
                <c:pt idx="2">
                  <c:v>159</c:v>
                </c:pt>
                <c:pt idx="3">
                  <c:v>109</c:v>
                </c:pt>
                <c:pt idx="4">
                  <c:v>136</c:v>
                </c:pt>
                <c:pt idx="5">
                  <c:v>119</c:v>
                </c:pt>
                <c:pt idx="6">
                  <c:v>146</c:v>
                </c:pt>
                <c:pt idx="7">
                  <c:v>171</c:v>
                </c:pt>
                <c:pt idx="8">
                  <c:v>134</c:v>
                </c:pt>
                <c:pt idx="9">
                  <c:v>146</c:v>
                </c:pt>
                <c:pt idx="10">
                  <c:v>176</c:v>
                </c:pt>
                <c:pt idx="11">
                  <c:v>189</c:v>
                </c:pt>
                <c:pt idx="12">
                  <c:v>182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7F2-435A-9EB6-C4ED192B3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8824804"/>
        <c:axId val="31151531"/>
      </c:barChart>
      <c:catAx>
        <c:axId val="988248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31151531"/>
        <c:crosses val="autoZero"/>
        <c:auto val="1"/>
        <c:lblAlgn val="ctr"/>
        <c:lblOffset val="100"/>
        <c:noMultiLvlLbl val="0"/>
      </c:catAx>
      <c:valAx>
        <c:axId val="31151531"/>
        <c:scaling>
          <c:orientation val="minMax"/>
          <c:max val="225"/>
        </c:scaling>
        <c:delete val="1"/>
        <c:axPos val="l"/>
        <c:numFmt formatCode="General" sourceLinked="1"/>
        <c:majorTickMark val="out"/>
        <c:minorTickMark val="none"/>
        <c:tickLblPos val="nextTo"/>
        <c:crossAx val="9882480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00998128509046E-2"/>
          <c:y val="0.16474245115452901"/>
          <c:w val="0.94822208359326299"/>
          <c:h val="0.6720692717584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45</c:v>
                </c:pt>
                <c:pt idx="1">
                  <c:v>26</c:v>
                </c:pt>
                <c:pt idx="2">
                  <c:v>23</c:v>
                </c:pt>
                <c:pt idx="3">
                  <c:v>21</c:v>
                </c:pt>
                <c:pt idx="4">
                  <c:v>23</c:v>
                </c:pt>
                <c:pt idx="5">
                  <c:v>20</c:v>
                </c:pt>
                <c:pt idx="6">
                  <c:v>22</c:v>
                </c:pt>
                <c:pt idx="7">
                  <c:v>22</c:v>
                </c:pt>
                <c:pt idx="8">
                  <c:v>40</c:v>
                </c:pt>
                <c:pt idx="9">
                  <c:v>72</c:v>
                </c:pt>
                <c:pt idx="10">
                  <c:v>86</c:v>
                </c:pt>
                <c:pt idx="11">
                  <c:v>89</c:v>
                </c:pt>
                <c:pt idx="12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15B-4FD0-90BE-D546FD2AB1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86875"/>
        <c:axId val="80704321"/>
      </c:barChart>
      <c:catAx>
        <c:axId val="418687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80704321"/>
        <c:crosses val="autoZero"/>
        <c:auto val="1"/>
        <c:lblAlgn val="ctr"/>
        <c:lblOffset val="100"/>
        <c:noMultiLvlLbl val="0"/>
      </c:catAx>
      <c:valAx>
        <c:axId val="80704321"/>
        <c:scaling>
          <c:orientation val="minMax"/>
          <c:max val="125"/>
        </c:scaling>
        <c:delete val="1"/>
        <c:axPos val="l"/>
        <c:numFmt formatCode="General" sourceLinked="1"/>
        <c:majorTickMark val="out"/>
        <c:minorTickMark val="none"/>
        <c:tickLblPos val="nextTo"/>
        <c:crossAx val="418687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18772099003536E-2"/>
          <c:y val="0.312975226882512"/>
          <c:w val="0.86724525875924097"/>
          <c:h val="0.4984056904586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9</c:v>
                </c:pt>
                <c:pt idx="1">
                  <c:v>12</c:v>
                </c:pt>
                <c:pt idx="2">
                  <c:v>18</c:v>
                </c:pt>
                <c:pt idx="3">
                  <c:v>21</c:v>
                </c:pt>
                <c:pt idx="4">
                  <c:v>27</c:v>
                </c:pt>
                <c:pt idx="5">
                  <c:v>29</c:v>
                </c:pt>
                <c:pt idx="6">
                  <c:v>43</c:v>
                </c:pt>
                <c:pt idx="7">
                  <c:v>67</c:v>
                </c:pt>
                <c:pt idx="8">
                  <c:v>63</c:v>
                </c:pt>
                <c:pt idx="9">
                  <c:v>84</c:v>
                </c:pt>
                <c:pt idx="10">
                  <c:v>94</c:v>
                </c:pt>
                <c:pt idx="11">
                  <c:v>132</c:v>
                </c:pt>
                <c:pt idx="12">
                  <c:v>135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A509-401D-8B1B-BE6DD770D5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9962772"/>
        <c:axId val="57313710"/>
      </c:barChart>
      <c:catAx>
        <c:axId val="399627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7313710"/>
        <c:crosses val="autoZero"/>
        <c:auto val="1"/>
        <c:lblAlgn val="ctr"/>
        <c:lblOffset val="100"/>
        <c:noMultiLvlLbl val="0"/>
      </c:catAx>
      <c:valAx>
        <c:axId val="57313710"/>
        <c:scaling>
          <c:orientation val="minMax"/>
          <c:max val="175"/>
        </c:scaling>
        <c:delete val="1"/>
        <c:axPos val="l"/>
        <c:numFmt formatCode="General" sourceLinked="1"/>
        <c:majorTickMark val="out"/>
        <c:minorTickMark val="none"/>
        <c:tickLblPos val="nextTo"/>
        <c:crossAx val="3996277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069811619439599E-2"/>
          <c:y val="0.27999028654686697"/>
          <c:w val="0.92955516859268605"/>
          <c:h val="0.498300145701796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18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15</c:v>
                </c:pt>
                <c:pt idx="5">
                  <c:v>14</c:v>
                </c:pt>
                <c:pt idx="6">
                  <c:v>17</c:v>
                </c:pt>
                <c:pt idx="7">
                  <c:v>18</c:v>
                </c:pt>
                <c:pt idx="8">
                  <c:v>26</c:v>
                </c:pt>
                <c:pt idx="9">
                  <c:v>54</c:v>
                </c:pt>
                <c:pt idx="10">
                  <c:v>68</c:v>
                </c:pt>
                <c:pt idx="11">
                  <c:v>92</c:v>
                </c:pt>
                <c:pt idx="12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A5-45A8-89BC-39B88CB67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031063"/>
        <c:axId val="67255816"/>
      </c:barChart>
      <c:catAx>
        <c:axId val="2903106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67255816"/>
        <c:crosses val="autoZero"/>
        <c:auto val="1"/>
        <c:lblAlgn val="ctr"/>
        <c:lblOffset val="100"/>
        <c:noMultiLvlLbl val="0"/>
      </c:catAx>
      <c:valAx>
        <c:axId val="67255816"/>
        <c:scaling>
          <c:orientation val="minMax"/>
          <c:max val="125"/>
        </c:scaling>
        <c:delete val="1"/>
        <c:axPos val="l"/>
        <c:numFmt formatCode="General" sourceLinked="1"/>
        <c:majorTickMark val="out"/>
        <c:minorTickMark val="none"/>
        <c:tickLblPos val="nextTo"/>
        <c:crossAx val="29031063"/>
        <c:crosses val="autoZero"/>
        <c:crossBetween val="between"/>
      </c:valAx>
      <c:spPr>
        <a:noFill/>
        <a:ln w="2556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10324298919E-2"/>
          <c:y val="0.20038863249939301"/>
          <c:w val="0.92950023499921697"/>
          <c:h val="0.611124605295118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10</c:v>
                </c:pt>
                <c:pt idx="3">
                  <c:v>7</c:v>
                </c:pt>
                <c:pt idx="4">
                  <c:v>10</c:v>
                </c:pt>
                <c:pt idx="5">
                  <c:v>10</c:v>
                </c:pt>
                <c:pt idx="6">
                  <c:v>13</c:v>
                </c:pt>
                <c:pt idx="7">
                  <c:v>14</c:v>
                </c:pt>
                <c:pt idx="8">
                  <c:v>12</c:v>
                </c:pt>
                <c:pt idx="9">
                  <c:v>15</c:v>
                </c:pt>
                <c:pt idx="10">
                  <c:v>17</c:v>
                </c:pt>
                <c:pt idx="11">
                  <c:v>16</c:v>
                </c:pt>
                <c:pt idx="12">
                  <c:v>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AB4-4033-8B8D-BE67BC9DC9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7888671"/>
        <c:axId val="8912193"/>
      </c:barChart>
      <c:catAx>
        <c:axId val="678886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8912193"/>
        <c:crosses val="autoZero"/>
        <c:auto val="1"/>
        <c:lblAlgn val="ctr"/>
        <c:lblOffset val="100"/>
        <c:noMultiLvlLbl val="0"/>
      </c:catAx>
      <c:valAx>
        <c:axId val="8912193"/>
        <c:scaling>
          <c:orientation val="minMax"/>
          <c:max val="20"/>
        </c:scaling>
        <c:delete val="1"/>
        <c:axPos val="l"/>
        <c:numFmt formatCode="General" sourceLinked="1"/>
        <c:majorTickMark val="out"/>
        <c:minorTickMark val="none"/>
        <c:tickLblPos val="nextTo"/>
        <c:crossAx val="6788867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833333333333304E-2"/>
          <c:y val="0.21973803071364001"/>
          <c:w val="0.86378205128205099"/>
          <c:h val="0.630532971996387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BE5D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123</c:v>
                </c:pt>
                <c:pt idx="1">
                  <c:v>119</c:v>
                </c:pt>
                <c:pt idx="2">
                  <c:v>145</c:v>
                </c:pt>
                <c:pt idx="3">
                  <c:v>128</c:v>
                </c:pt>
                <c:pt idx="4">
                  <c:v>137</c:v>
                </c:pt>
                <c:pt idx="5">
                  <c:v>126</c:v>
                </c:pt>
                <c:pt idx="6">
                  <c:v>129</c:v>
                </c:pt>
                <c:pt idx="7">
                  <c:v>138</c:v>
                </c:pt>
                <c:pt idx="8">
                  <c:v>137</c:v>
                </c:pt>
                <c:pt idx="9">
                  <c:v>144</c:v>
                </c:pt>
                <c:pt idx="10">
                  <c:v>161</c:v>
                </c:pt>
                <c:pt idx="11">
                  <c:v>190</c:v>
                </c:pt>
                <c:pt idx="12">
                  <c:v>173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5C3-4237-8B21-594FCBC67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7941260"/>
        <c:axId val="42744489"/>
      </c:barChart>
      <c:catAx>
        <c:axId val="379412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2744489"/>
        <c:crosses val="autoZero"/>
        <c:auto val="1"/>
        <c:lblAlgn val="ctr"/>
        <c:lblOffset val="100"/>
        <c:noMultiLvlLbl val="0"/>
      </c:catAx>
      <c:valAx>
        <c:axId val="42744489"/>
        <c:scaling>
          <c:orientation val="minMax"/>
          <c:max val="225"/>
        </c:scaling>
        <c:delete val="1"/>
        <c:axPos val="l"/>
        <c:numFmt formatCode="General" sourceLinked="1"/>
        <c:majorTickMark val="out"/>
        <c:minorTickMark val="none"/>
        <c:tickLblPos val="nextTo"/>
        <c:crossAx val="3794126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83693045563549E-2"/>
          <c:y val="0.18674033149171301"/>
          <c:w val="0.90151878497202198"/>
          <c:h val="0.57259668508287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55A11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104</c:v>
                </c:pt>
                <c:pt idx="1">
                  <c:v>108</c:v>
                </c:pt>
                <c:pt idx="2">
                  <c:v>128</c:v>
                </c:pt>
                <c:pt idx="3">
                  <c:v>109</c:v>
                </c:pt>
                <c:pt idx="4">
                  <c:v>124</c:v>
                </c:pt>
                <c:pt idx="5">
                  <c:v>107</c:v>
                </c:pt>
                <c:pt idx="6">
                  <c:v>125</c:v>
                </c:pt>
                <c:pt idx="7">
                  <c:v>143</c:v>
                </c:pt>
                <c:pt idx="8">
                  <c:v>119</c:v>
                </c:pt>
                <c:pt idx="9">
                  <c:v>130</c:v>
                </c:pt>
                <c:pt idx="10">
                  <c:v>138</c:v>
                </c:pt>
                <c:pt idx="11">
                  <c:v>170</c:v>
                </c:pt>
                <c:pt idx="12">
                  <c:v>179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652-4115-9BD4-A4B4445DCF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069677"/>
        <c:axId val="70935842"/>
      </c:barChart>
      <c:catAx>
        <c:axId val="806967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0935842"/>
        <c:crosses val="autoZero"/>
        <c:auto val="1"/>
        <c:lblAlgn val="ctr"/>
        <c:lblOffset val="100"/>
        <c:noMultiLvlLbl val="0"/>
      </c:catAx>
      <c:valAx>
        <c:axId val="70935842"/>
        <c:scaling>
          <c:orientation val="minMax"/>
          <c:max val="200"/>
        </c:scaling>
        <c:delete val="1"/>
        <c:axPos val="l"/>
        <c:numFmt formatCode="General" sourceLinked="1"/>
        <c:majorTickMark val="out"/>
        <c:minorTickMark val="none"/>
        <c:tickLblPos val="nextTo"/>
        <c:crossAx val="806967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05234856871738E-2"/>
          <c:y val="0.22167707404103501"/>
          <c:w val="0.91728609837102604"/>
          <c:h val="0.592997323818019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23</c:v>
                </c:pt>
                <c:pt idx="1">
                  <c:v>20</c:v>
                </c:pt>
                <c:pt idx="2">
                  <c:v>21</c:v>
                </c:pt>
                <c:pt idx="3">
                  <c:v>21</c:v>
                </c:pt>
                <c:pt idx="4">
                  <c:v>22</c:v>
                </c:pt>
                <c:pt idx="5">
                  <c:v>20</c:v>
                </c:pt>
                <c:pt idx="6">
                  <c:v>22</c:v>
                </c:pt>
                <c:pt idx="7">
                  <c:v>28</c:v>
                </c:pt>
                <c:pt idx="8">
                  <c:v>32</c:v>
                </c:pt>
                <c:pt idx="9">
                  <c:v>51</c:v>
                </c:pt>
                <c:pt idx="10">
                  <c:v>70</c:v>
                </c:pt>
                <c:pt idx="11">
                  <c:v>70</c:v>
                </c:pt>
                <c:pt idx="1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48-4AA9-8CE4-F5C6196941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9674689"/>
        <c:axId val="95113201"/>
      </c:barChart>
      <c:catAx>
        <c:axId val="3967468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5113201"/>
        <c:crosses val="autoZero"/>
        <c:auto val="1"/>
        <c:lblAlgn val="ctr"/>
        <c:lblOffset val="100"/>
        <c:noMultiLvlLbl val="0"/>
      </c:catAx>
      <c:valAx>
        <c:axId val="95113201"/>
        <c:scaling>
          <c:orientation val="minMax"/>
          <c:max val="82.5"/>
        </c:scaling>
        <c:delete val="1"/>
        <c:axPos val="l"/>
        <c:numFmt formatCode="General" sourceLinked="1"/>
        <c:majorTickMark val="out"/>
        <c:minorTickMark val="none"/>
        <c:tickLblPos val="nextTo"/>
        <c:crossAx val="3967468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121888959795799E-2"/>
          <c:y val="0.17304997664642699"/>
          <c:w val="0.92900446713465201"/>
          <c:h val="0.638486688463335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14</c:v>
                </c:pt>
                <c:pt idx="1">
                  <c:v>17</c:v>
                </c:pt>
                <c:pt idx="2">
                  <c:v>20</c:v>
                </c:pt>
                <c:pt idx="3">
                  <c:v>20</c:v>
                </c:pt>
                <c:pt idx="4">
                  <c:v>23</c:v>
                </c:pt>
                <c:pt idx="5">
                  <c:v>30</c:v>
                </c:pt>
                <c:pt idx="6">
                  <c:v>45</c:v>
                </c:pt>
                <c:pt idx="7">
                  <c:v>68</c:v>
                </c:pt>
                <c:pt idx="8">
                  <c:v>58</c:v>
                </c:pt>
                <c:pt idx="9">
                  <c:v>65</c:v>
                </c:pt>
                <c:pt idx="10">
                  <c:v>85</c:v>
                </c:pt>
                <c:pt idx="11">
                  <c:v>116</c:v>
                </c:pt>
                <c:pt idx="12">
                  <c:v>115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F5C-45C3-A4A4-B5FEF304DB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536998"/>
        <c:axId val="43723301"/>
      </c:barChart>
      <c:catAx>
        <c:axId val="2053699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3723301"/>
        <c:crosses val="autoZero"/>
        <c:auto val="1"/>
        <c:lblAlgn val="ctr"/>
        <c:lblOffset val="100"/>
        <c:noMultiLvlLbl val="0"/>
      </c:catAx>
      <c:valAx>
        <c:axId val="43723301"/>
        <c:scaling>
          <c:orientation val="minMax"/>
          <c:max val="150"/>
        </c:scaling>
        <c:delete val="1"/>
        <c:axPos val="l"/>
        <c:numFmt formatCode="General" sourceLinked="1"/>
        <c:majorTickMark val="out"/>
        <c:minorTickMark val="none"/>
        <c:tickLblPos val="nextTo"/>
        <c:crossAx val="2053699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121888959795799E-2"/>
          <c:y val="0.230733302195236"/>
          <c:w val="0.929483088704531"/>
          <c:h val="0.580803362914525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30</c:v>
                </c:pt>
                <c:pt idx="1">
                  <c:v>29</c:v>
                </c:pt>
                <c:pt idx="2">
                  <c:v>31</c:v>
                </c:pt>
                <c:pt idx="3">
                  <c:v>33</c:v>
                </c:pt>
                <c:pt idx="4">
                  <c:v>28</c:v>
                </c:pt>
                <c:pt idx="5">
                  <c:v>31</c:v>
                </c:pt>
                <c:pt idx="6">
                  <c:v>40</c:v>
                </c:pt>
                <c:pt idx="7">
                  <c:v>48</c:v>
                </c:pt>
                <c:pt idx="8">
                  <c:v>40</c:v>
                </c:pt>
                <c:pt idx="9">
                  <c:v>72</c:v>
                </c:pt>
                <c:pt idx="10">
                  <c:v>115</c:v>
                </c:pt>
                <c:pt idx="11">
                  <c:v>131</c:v>
                </c:pt>
                <c:pt idx="12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17-4D51-A6B7-854B7C809D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3380094"/>
        <c:axId val="75869529"/>
      </c:barChart>
      <c:catAx>
        <c:axId val="7338009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5869529"/>
        <c:crosses val="autoZero"/>
        <c:auto val="1"/>
        <c:lblAlgn val="ctr"/>
        <c:lblOffset val="100"/>
        <c:noMultiLvlLbl val="0"/>
      </c:catAx>
      <c:valAx>
        <c:axId val="75869529"/>
        <c:scaling>
          <c:orientation val="minMax"/>
          <c:max val="175"/>
        </c:scaling>
        <c:delete val="1"/>
        <c:axPos val="l"/>
        <c:numFmt formatCode="General" sourceLinked="1"/>
        <c:majorTickMark val="out"/>
        <c:minorTickMark val="none"/>
        <c:tickLblPos val="nextTo"/>
        <c:crossAx val="73380094"/>
        <c:crosses val="autoZero"/>
        <c:crossBetween val="between"/>
      </c:valAx>
      <c:spPr>
        <a:noFill/>
        <a:ln w="2556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022705468500201E-2"/>
          <c:y val="0.16464269033162099"/>
          <c:w val="0.92948512951710904"/>
          <c:h val="0.64666043904717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20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27</c:v>
                </c:pt>
                <c:pt idx="7">
                  <c:v>28</c:v>
                </c:pt>
                <c:pt idx="8">
                  <c:v>24</c:v>
                </c:pt>
                <c:pt idx="9">
                  <c:v>25</c:v>
                </c:pt>
                <c:pt idx="10">
                  <c:v>28</c:v>
                </c:pt>
                <c:pt idx="11">
                  <c:v>30</c:v>
                </c:pt>
                <c:pt idx="12">
                  <c:v>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AE3-44FB-93E9-CBDC02EE95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944565"/>
        <c:axId val="93925533"/>
      </c:barChart>
      <c:catAx>
        <c:axId val="794456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3925533"/>
        <c:crosses val="autoZero"/>
        <c:auto val="1"/>
        <c:lblAlgn val="ctr"/>
        <c:lblOffset val="100"/>
        <c:noMultiLvlLbl val="0"/>
      </c:catAx>
      <c:valAx>
        <c:axId val="93925533"/>
        <c:scaling>
          <c:orientation val="minMax"/>
          <c:max val="35"/>
        </c:scaling>
        <c:delete val="1"/>
        <c:axPos val="l"/>
        <c:numFmt formatCode="General" sourceLinked="1"/>
        <c:majorTickMark val="out"/>
        <c:minorTickMark val="none"/>
        <c:tickLblPos val="nextTo"/>
        <c:crossAx val="794456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91390728476821E-2"/>
          <c:y val="0.20310360565951599"/>
          <c:w val="0.92466887417218602"/>
          <c:h val="0.647193062528526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BE5D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108</c:v>
                </c:pt>
                <c:pt idx="1">
                  <c:v>102</c:v>
                </c:pt>
                <c:pt idx="2">
                  <c:v>98</c:v>
                </c:pt>
                <c:pt idx="3">
                  <c:v>87</c:v>
                </c:pt>
                <c:pt idx="4">
                  <c:v>100</c:v>
                </c:pt>
                <c:pt idx="5">
                  <c:v>93</c:v>
                </c:pt>
                <c:pt idx="6">
                  <c:v>91</c:v>
                </c:pt>
                <c:pt idx="7">
                  <c:v>104</c:v>
                </c:pt>
                <c:pt idx="8">
                  <c:v>101</c:v>
                </c:pt>
                <c:pt idx="9">
                  <c:v>115</c:v>
                </c:pt>
                <c:pt idx="10">
                  <c:v>123</c:v>
                </c:pt>
                <c:pt idx="11">
                  <c:v>145</c:v>
                </c:pt>
                <c:pt idx="12">
                  <c:v>159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498-4D95-A4AC-04227FB490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569670"/>
        <c:axId val="55170496"/>
      </c:barChart>
      <c:catAx>
        <c:axId val="2156967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5170496"/>
        <c:crosses val="autoZero"/>
        <c:auto val="1"/>
        <c:lblAlgn val="ctr"/>
        <c:lblOffset val="100"/>
        <c:noMultiLvlLbl val="0"/>
      </c:catAx>
      <c:valAx>
        <c:axId val="55170496"/>
        <c:scaling>
          <c:orientation val="minMax"/>
          <c:max val="175"/>
        </c:scaling>
        <c:delete val="1"/>
        <c:axPos val="l"/>
        <c:numFmt formatCode="General" sourceLinked="1"/>
        <c:majorTickMark val="out"/>
        <c:minorTickMark val="none"/>
        <c:tickLblPos val="nextTo"/>
        <c:crossAx val="2156967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8339166401527201E-2"/>
          <c:y val="0.212273872223494"/>
          <c:w val="0.90152720330894098"/>
          <c:h val="0.579574078314633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55A11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84</c:v>
                </c:pt>
                <c:pt idx="3">
                  <c:v>74</c:v>
                </c:pt>
                <c:pt idx="4">
                  <c:v>95</c:v>
                </c:pt>
                <c:pt idx="5">
                  <c:v>87</c:v>
                </c:pt>
                <c:pt idx="6">
                  <c:v>104</c:v>
                </c:pt>
                <c:pt idx="7">
                  <c:v>108</c:v>
                </c:pt>
                <c:pt idx="8">
                  <c:v>92</c:v>
                </c:pt>
                <c:pt idx="9">
                  <c:v>103</c:v>
                </c:pt>
                <c:pt idx="10">
                  <c:v>112</c:v>
                </c:pt>
                <c:pt idx="11">
                  <c:v>119</c:v>
                </c:pt>
                <c:pt idx="12">
                  <c:v>130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FA48-4B62-A170-9821A39D84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3764835"/>
        <c:axId val="75828200"/>
      </c:barChart>
      <c:catAx>
        <c:axId val="7376483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5828200"/>
        <c:crosses val="autoZero"/>
        <c:auto val="1"/>
        <c:lblAlgn val="ctr"/>
        <c:lblOffset val="100"/>
        <c:noMultiLvlLbl val="0"/>
      </c:catAx>
      <c:valAx>
        <c:axId val="75828200"/>
        <c:scaling>
          <c:orientation val="minMax"/>
          <c:max val="150"/>
        </c:scaling>
        <c:delete val="1"/>
        <c:axPos val="l"/>
        <c:numFmt formatCode="General" sourceLinked="1"/>
        <c:majorTickMark val="out"/>
        <c:minorTickMark val="none"/>
        <c:tickLblPos val="nextTo"/>
        <c:crossAx val="7376483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7741520655843098E-2"/>
          <c:y val="0.16478300180831801"/>
          <c:w val="0.88699565986175899"/>
          <c:h val="0.649864376130198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15</c:v>
                </c:pt>
                <c:pt idx="1">
                  <c:v>12</c:v>
                </c:pt>
                <c:pt idx="2">
                  <c:v>11</c:v>
                </c:pt>
                <c:pt idx="3">
                  <c:v>10</c:v>
                </c:pt>
                <c:pt idx="4">
                  <c:v>11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14</c:v>
                </c:pt>
                <c:pt idx="9">
                  <c:v>31</c:v>
                </c:pt>
                <c:pt idx="10">
                  <c:v>38</c:v>
                </c:pt>
                <c:pt idx="11">
                  <c:v>40</c:v>
                </c:pt>
                <c:pt idx="12">
                  <c:v>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D9D-4F8C-B91F-A9A0D1690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29534"/>
        <c:axId val="23121327"/>
      </c:barChart>
      <c:catAx>
        <c:axId val="1332953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3121327"/>
        <c:crosses val="autoZero"/>
        <c:auto val="1"/>
        <c:lblAlgn val="ctr"/>
        <c:lblOffset val="100"/>
        <c:noMultiLvlLbl val="0"/>
      </c:catAx>
      <c:valAx>
        <c:axId val="23121327"/>
        <c:scaling>
          <c:orientation val="minMax"/>
          <c:max val="47.5"/>
        </c:scaling>
        <c:delete val="1"/>
        <c:axPos val="l"/>
        <c:numFmt formatCode="General" sourceLinked="1"/>
        <c:majorTickMark val="out"/>
        <c:minorTickMark val="none"/>
        <c:tickLblPos val="nextTo"/>
        <c:crossAx val="1332953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121332275971501E-2"/>
          <c:y val="0.20594740722536301"/>
          <c:w val="0.92942109436954801"/>
          <c:h val="0.597198328827721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14</c:v>
                </c:pt>
                <c:pt idx="7">
                  <c:v>28</c:v>
                </c:pt>
                <c:pt idx="8">
                  <c:v>21</c:v>
                </c:pt>
                <c:pt idx="9">
                  <c:v>29</c:v>
                </c:pt>
                <c:pt idx="10">
                  <c:v>42</c:v>
                </c:pt>
                <c:pt idx="11">
                  <c:v>62</c:v>
                </c:pt>
                <c:pt idx="12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B1D-473C-9707-087BBCEC4D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1978934"/>
        <c:axId val="95301255"/>
      </c:barChart>
      <c:catAx>
        <c:axId val="5197893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5301255"/>
        <c:crosses val="autoZero"/>
        <c:auto val="1"/>
        <c:lblAlgn val="ctr"/>
        <c:lblOffset val="100"/>
        <c:noMultiLvlLbl val="0"/>
      </c:catAx>
      <c:valAx>
        <c:axId val="95301255"/>
        <c:scaling>
          <c:orientation val="minMax"/>
          <c:max val="72.5"/>
        </c:scaling>
        <c:delete val="1"/>
        <c:axPos val="l"/>
        <c:numFmt formatCode="General" sourceLinked="1"/>
        <c:majorTickMark val="out"/>
        <c:minorTickMark val="none"/>
        <c:tickLblPos val="nextTo"/>
        <c:crossAx val="5197893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18556701030928E-2"/>
          <c:y val="0.22241336937822601"/>
          <c:w val="0.89246629659000798"/>
          <c:h val="0.588842467436716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8</c:v>
                </c:pt>
                <c:pt idx="5">
                  <c:v>9</c:v>
                </c:pt>
                <c:pt idx="6">
                  <c:v>13</c:v>
                </c:pt>
                <c:pt idx="7">
                  <c:v>17</c:v>
                </c:pt>
                <c:pt idx="8">
                  <c:v>15</c:v>
                </c:pt>
                <c:pt idx="9">
                  <c:v>25</c:v>
                </c:pt>
                <c:pt idx="10">
                  <c:v>35</c:v>
                </c:pt>
                <c:pt idx="11">
                  <c:v>57</c:v>
                </c:pt>
                <c:pt idx="1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2E-435A-9C3B-3AAB70B06C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612592"/>
        <c:axId val="78480534"/>
      </c:barChart>
      <c:catAx>
        <c:axId val="606125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8480534"/>
        <c:crosses val="autoZero"/>
        <c:auto val="1"/>
        <c:lblAlgn val="ctr"/>
        <c:lblOffset val="100"/>
        <c:noMultiLvlLbl val="0"/>
      </c:catAx>
      <c:valAx>
        <c:axId val="78480534"/>
        <c:scaling>
          <c:orientation val="minMax"/>
          <c:max val="67.5"/>
        </c:scaling>
        <c:delete val="1"/>
        <c:axPos val="l"/>
        <c:numFmt formatCode="General" sourceLinked="1"/>
        <c:majorTickMark val="out"/>
        <c:minorTickMark val="none"/>
        <c:tickLblPos val="nextTo"/>
        <c:crossAx val="60612592"/>
        <c:crosses val="autoZero"/>
        <c:crossBetween val="between"/>
      </c:valAx>
      <c:spPr>
        <a:noFill/>
        <a:ln w="2556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1823029495084197E-2"/>
          <c:y val="0.17309090909090899"/>
          <c:w val="0.86718880186635605"/>
          <c:h val="0.63830303030303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8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446-47A6-BFF1-3D2D671400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78352"/>
        <c:axId val="50273187"/>
      </c:barChart>
      <c:catAx>
        <c:axId val="23783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0273187"/>
        <c:crosses val="autoZero"/>
        <c:auto val="1"/>
        <c:lblAlgn val="ctr"/>
        <c:lblOffset val="100"/>
        <c:noMultiLvlLbl val="0"/>
      </c:catAx>
      <c:valAx>
        <c:axId val="50273187"/>
        <c:scaling>
          <c:orientation val="minMax"/>
          <c:max val="12.5"/>
        </c:scaling>
        <c:delete val="1"/>
        <c:axPos val="l"/>
        <c:numFmt formatCode="General" sourceLinked="1"/>
        <c:majorTickMark val="out"/>
        <c:minorTickMark val="none"/>
        <c:tickLblPos val="nextTo"/>
        <c:crossAx val="237835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867430441898499E-2"/>
          <c:y val="0.219749351771824"/>
          <c:w val="0.86382978723404302"/>
          <c:h val="0.630726015557475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BE5D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6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movingAvg"/>
            <c:period val="2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258</c:v>
                </c:pt>
                <c:pt idx="1">
                  <c:v>229</c:v>
                </c:pt>
                <c:pt idx="2">
                  <c:v>257</c:v>
                </c:pt>
                <c:pt idx="3">
                  <c:v>216</c:v>
                </c:pt>
                <c:pt idx="4">
                  <c:v>287</c:v>
                </c:pt>
                <c:pt idx="5">
                  <c:v>248</c:v>
                </c:pt>
                <c:pt idx="6">
                  <c:v>217</c:v>
                </c:pt>
                <c:pt idx="7">
                  <c:v>225</c:v>
                </c:pt>
                <c:pt idx="8">
                  <c:v>224</c:v>
                </c:pt>
                <c:pt idx="9">
                  <c:v>260</c:v>
                </c:pt>
                <c:pt idx="10">
                  <c:v>259</c:v>
                </c:pt>
                <c:pt idx="11">
                  <c:v>290</c:v>
                </c:pt>
                <c:pt idx="12">
                  <c:v>308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E44-409B-A601-65A8EC825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308494"/>
        <c:axId val="59283521"/>
      </c:barChart>
      <c:catAx>
        <c:axId val="5030849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9283521"/>
        <c:crosses val="autoZero"/>
        <c:auto val="1"/>
        <c:lblAlgn val="ctr"/>
        <c:lblOffset val="100"/>
        <c:noMultiLvlLbl val="0"/>
      </c:catAx>
      <c:valAx>
        <c:axId val="59283521"/>
        <c:scaling>
          <c:orientation val="minMax"/>
          <c:max val="350"/>
        </c:scaling>
        <c:delete val="1"/>
        <c:axPos val="l"/>
        <c:numFmt formatCode="General" sourceLinked="1"/>
        <c:majorTickMark val="out"/>
        <c:minorTickMark val="none"/>
        <c:tickLblPos val="nextTo"/>
        <c:crossAx val="5030849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2456545146900502E-2"/>
          <c:y val="0.19946512146200099"/>
          <c:w val="0.91462851868943196"/>
          <c:h val="0.61979050590595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55A11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name>12</c:nam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133</c:v>
                </c:pt>
                <c:pt idx="1">
                  <c:v>128</c:v>
                </c:pt>
                <c:pt idx="2">
                  <c:v>149</c:v>
                </c:pt>
                <c:pt idx="3">
                  <c:v>120</c:v>
                </c:pt>
                <c:pt idx="4">
                  <c:v>168</c:v>
                </c:pt>
                <c:pt idx="5">
                  <c:v>140</c:v>
                </c:pt>
                <c:pt idx="6">
                  <c:v>155</c:v>
                </c:pt>
                <c:pt idx="7">
                  <c:v>162</c:v>
                </c:pt>
                <c:pt idx="8">
                  <c:v>142</c:v>
                </c:pt>
                <c:pt idx="9">
                  <c:v>164</c:v>
                </c:pt>
                <c:pt idx="10">
                  <c:v>169</c:v>
                </c:pt>
                <c:pt idx="11">
                  <c:v>175</c:v>
                </c:pt>
                <c:pt idx="12">
                  <c:v>191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077-4544-9130-D6AB93365E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88282"/>
        <c:axId val="55363682"/>
      </c:barChart>
      <c:catAx>
        <c:axId val="298828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5363682"/>
        <c:crosses val="autoZero"/>
        <c:auto val="1"/>
        <c:lblAlgn val="ctr"/>
        <c:lblOffset val="100"/>
        <c:noMultiLvlLbl val="0"/>
      </c:catAx>
      <c:valAx>
        <c:axId val="55363682"/>
        <c:scaling>
          <c:orientation val="minMax"/>
          <c:max val="225"/>
        </c:scaling>
        <c:delete val="1"/>
        <c:axPos val="l"/>
        <c:numFmt formatCode="General" sourceLinked="1"/>
        <c:majorTickMark val="out"/>
        <c:minorTickMark val="none"/>
        <c:tickLblPos val="nextTo"/>
        <c:crossAx val="298828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7798742138364797E-2"/>
          <c:y val="0.16472142699845899"/>
          <c:w val="0.88694968553459097"/>
          <c:h val="0.649856859722528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34</c:v>
                </c:pt>
                <c:pt idx="1">
                  <c:v>19</c:v>
                </c:pt>
                <c:pt idx="2">
                  <c:v>20</c:v>
                </c:pt>
                <c:pt idx="3">
                  <c:v>18</c:v>
                </c:pt>
                <c:pt idx="4">
                  <c:v>30</c:v>
                </c:pt>
                <c:pt idx="5">
                  <c:v>21</c:v>
                </c:pt>
                <c:pt idx="6">
                  <c:v>20</c:v>
                </c:pt>
                <c:pt idx="7">
                  <c:v>23</c:v>
                </c:pt>
                <c:pt idx="8">
                  <c:v>45</c:v>
                </c:pt>
                <c:pt idx="9">
                  <c:v>107</c:v>
                </c:pt>
                <c:pt idx="10">
                  <c:v>103</c:v>
                </c:pt>
                <c:pt idx="11">
                  <c:v>88</c:v>
                </c:pt>
                <c:pt idx="12">
                  <c:v>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732-40C5-B0FD-E1CB2857E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83595"/>
        <c:axId val="14558751"/>
      </c:barChart>
      <c:catAx>
        <c:axId val="208359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4558751"/>
        <c:crosses val="autoZero"/>
        <c:auto val="1"/>
        <c:lblAlgn val="ctr"/>
        <c:lblOffset val="100"/>
        <c:noMultiLvlLbl val="0"/>
      </c:catAx>
      <c:valAx>
        <c:axId val="14558751"/>
        <c:scaling>
          <c:orientation val="minMax"/>
          <c:max val="125"/>
        </c:scaling>
        <c:delete val="1"/>
        <c:axPos val="l"/>
        <c:numFmt formatCode="General" sourceLinked="1"/>
        <c:majorTickMark val="out"/>
        <c:minorTickMark val="none"/>
        <c:tickLblPos val="nextTo"/>
        <c:crossAx val="208359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121888959795799E-2"/>
          <c:y val="0.181223727230266"/>
          <c:w val="0.92900446713465201"/>
          <c:h val="0.613731900980849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18</c:v>
                </c:pt>
                <c:pt idx="3">
                  <c:v>18</c:v>
                </c:pt>
                <c:pt idx="4">
                  <c:v>24</c:v>
                </c:pt>
                <c:pt idx="5">
                  <c:v>25</c:v>
                </c:pt>
                <c:pt idx="6">
                  <c:v>52</c:v>
                </c:pt>
                <c:pt idx="7">
                  <c:v>124</c:v>
                </c:pt>
                <c:pt idx="8">
                  <c:v>119</c:v>
                </c:pt>
                <c:pt idx="9">
                  <c:v>140</c:v>
                </c:pt>
                <c:pt idx="10">
                  <c:v>152</c:v>
                </c:pt>
                <c:pt idx="11">
                  <c:v>215</c:v>
                </c:pt>
                <c:pt idx="12">
                  <c:v>230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F92-4EB6-8572-07A6B2062C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1900858"/>
        <c:axId val="76026062"/>
      </c:barChart>
      <c:catAx>
        <c:axId val="5190085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6026062"/>
        <c:crosses val="autoZero"/>
        <c:auto val="1"/>
        <c:lblAlgn val="ctr"/>
        <c:lblOffset val="100"/>
        <c:noMultiLvlLbl val="0"/>
      </c:catAx>
      <c:valAx>
        <c:axId val="76026062"/>
        <c:scaling>
          <c:orientation val="minMax"/>
          <c:max val="250"/>
        </c:scaling>
        <c:delete val="1"/>
        <c:axPos val="l"/>
        <c:numFmt formatCode="General" sourceLinked="1"/>
        <c:majorTickMark val="out"/>
        <c:minorTickMark val="none"/>
        <c:tickLblPos val="nextTo"/>
        <c:crossAx val="5190085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1901723037651603E-2"/>
          <c:y val="0.230733302195236"/>
          <c:w val="0.86726228462029398"/>
          <c:h val="0.580803362914525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15</c:v>
                </c:pt>
                <c:pt idx="1">
                  <c:v>13</c:v>
                </c:pt>
                <c:pt idx="2">
                  <c:v>14</c:v>
                </c:pt>
                <c:pt idx="3">
                  <c:v>13</c:v>
                </c:pt>
                <c:pt idx="4">
                  <c:v>23</c:v>
                </c:pt>
                <c:pt idx="5">
                  <c:v>23</c:v>
                </c:pt>
                <c:pt idx="6">
                  <c:v>24</c:v>
                </c:pt>
                <c:pt idx="7">
                  <c:v>26</c:v>
                </c:pt>
                <c:pt idx="8">
                  <c:v>38</c:v>
                </c:pt>
                <c:pt idx="9">
                  <c:v>74</c:v>
                </c:pt>
                <c:pt idx="10">
                  <c:v>85</c:v>
                </c:pt>
                <c:pt idx="11">
                  <c:v>119</c:v>
                </c:pt>
                <c:pt idx="12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76-4D52-80DA-2310C84DC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4102985"/>
        <c:axId val="59935308"/>
      </c:barChart>
      <c:catAx>
        <c:axId val="8410298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9935308"/>
        <c:crosses val="autoZero"/>
        <c:auto val="1"/>
        <c:lblAlgn val="ctr"/>
        <c:lblOffset val="100"/>
        <c:noMultiLvlLbl val="0"/>
      </c:catAx>
      <c:valAx>
        <c:axId val="59935308"/>
        <c:scaling>
          <c:orientation val="minMax"/>
          <c:max val="150"/>
        </c:scaling>
        <c:delete val="1"/>
        <c:axPos val="l"/>
        <c:numFmt formatCode="General" sourceLinked="1"/>
        <c:majorTickMark val="out"/>
        <c:minorTickMark val="none"/>
        <c:tickLblPos val="nextTo"/>
        <c:crossAx val="84102985"/>
        <c:crosses val="autoZero"/>
        <c:crossBetween val="between"/>
      </c:valAx>
      <c:spPr>
        <a:noFill/>
        <a:ln w="2556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053455019556701E-2"/>
          <c:y val="0.22232601588042999"/>
          <c:w val="0.929595827900913"/>
          <c:h val="0.564222326015879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0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17</c:v>
                </c:pt>
                <c:pt idx="1">
                  <c:v>17</c:v>
                </c:pt>
                <c:pt idx="2">
                  <c:v>18</c:v>
                </c:pt>
                <c:pt idx="3">
                  <c:v>15</c:v>
                </c:pt>
                <c:pt idx="4">
                  <c:v>19</c:v>
                </c:pt>
                <c:pt idx="5">
                  <c:v>21</c:v>
                </c:pt>
                <c:pt idx="6">
                  <c:v>20</c:v>
                </c:pt>
                <c:pt idx="7">
                  <c:v>20</c:v>
                </c:pt>
                <c:pt idx="8">
                  <c:v>19</c:v>
                </c:pt>
                <c:pt idx="9">
                  <c:v>19</c:v>
                </c:pt>
                <c:pt idx="10">
                  <c:v>22</c:v>
                </c:pt>
                <c:pt idx="11">
                  <c:v>19</c:v>
                </c:pt>
                <c:pt idx="12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E2F-4CA9-AC06-CBFAE0D00C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315277"/>
        <c:axId val="12784645"/>
      </c:barChart>
      <c:catAx>
        <c:axId val="9931527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1000" b="0" u="none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2784645"/>
        <c:crosses val="autoZero"/>
        <c:auto val="1"/>
        <c:lblAlgn val="ctr"/>
        <c:lblOffset val="100"/>
        <c:noMultiLvlLbl val="0"/>
      </c:catAx>
      <c:valAx>
        <c:axId val="12784645"/>
        <c:scaling>
          <c:orientation val="minMax"/>
          <c:max val="27.5"/>
        </c:scaling>
        <c:delete val="1"/>
        <c:axPos val="l"/>
        <c:numFmt formatCode="General" sourceLinked="1"/>
        <c:majorTickMark val="out"/>
        <c:minorTickMark val="none"/>
        <c:tickLblPos val="nextTo"/>
        <c:crossAx val="9931527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3.33836604596544E-2"/>
          <c:y val="0.26829836829836801"/>
          <c:w val="0.9151149136051"/>
          <c:h val="0.581818181818182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74</c:v>
                </c:pt>
                <c:pt idx="1">
                  <c:v>93</c:v>
                </c:pt>
                <c:pt idx="2">
                  <c:v>73</c:v>
                </c:pt>
                <c:pt idx="3">
                  <c:v>68</c:v>
                </c:pt>
                <c:pt idx="4">
                  <c:v>63</c:v>
                </c:pt>
                <c:pt idx="5">
                  <c:v>74</c:v>
                </c:pt>
                <c:pt idx="6">
                  <c:v>68</c:v>
                </c:pt>
                <c:pt idx="7">
                  <c:v>71</c:v>
                </c:pt>
                <c:pt idx="8">
                  <c:v>74</c:v>
                </c:pt>
                <c:pt idx="9">
                  <c:v>73</c:v>
                </c:pt>
                <c:pt idx="10">
                  <c:v>93</c:v>
                </c:pt>
                <c:pt idx="11">
                  <c:v>96</c:v>
                </c:pt>
                <c:pt idx="12">
                  <c:v>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6FC-437E-907C-D108F1E379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383960"/>
        <c:axId val="19214971"/>
      </c:barChart>
      <c:catAx>
        <c:axId val="103839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9214971"/>
        <c:crosses val="autoZero"/>
        <c:auto val="1"/>
        <c:lblAlgn val="ctr"/>
        <c:lblOffset val="100"/>
        <c:noMultiLvlLbl val="0"/>
      </c:catAx>
      <c:valAx>
        <c:axId val="19214971"/>
        <c:scaling>
          <c:orientation val="minMax"/>
          <c:max val="125"/>
        </c:scaling>
        <c:delete val="1"/>
        <c:axPos val="l"/>
        <c:numFmt formatCode="General" sourceLinked="1"/>
        <c:majorTickMark val="out"/>
        <c:minorTickMark val="none"/>
        <c:tickLblPos val="nextTo"/>
        <c:crossAx val="1038396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9029187817258901E-2"/>
          <c:y val="0.23240740740740701"/>
          <c:w val="0.92084390862944199"/>
          <c:h val="0.546759259259258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15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14</c:v>
                </c:pt>
                <c:pt idx="6">
                  <c:v>13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14</c:v>
                </c:pt>
                <c:pt idx="11">
                  <c:v>13</c:v>
                </c:pt>
                <c:pt idx="12">
                  <c:v>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3C-43B4-8C27-32BAE44FD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42598"/>
        <c:axId val="63746969"/>
      </c:barChart>
      <c:catAx>
        <c:axId val="1114259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63746969"/>
        <c:crosses val="autoZero"/>
        <c:auto val="1"/>
        <c:lblAlgn val="ctr"/>
        <c:lblOffset val="100"/>
        <c:noMultiLvlLbl val="0"/>
      </c:catAx>
      <c:valAx>
        <c:axId val="63746969"/>
        <c:scaling>
          <c:orientation val="minMax"/>
          <c:max val="22.5"/>
        </c:scaling>
        <c:delete val="1"/>
        <c:axPos val="l"/>
        <c:numFmt formatCode="General" sourceLinked="1"/>
        <c:majorTickMark val="out"/>
        <c:minorTickMark val="none"/>
        <c:tickLblPos val="nextTo"/>
        <c:crossAx val="1114259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7731197990265303E-2"/>
          <c:y val="0.25364963503649601"/>
          <c:w val="0.88695242581252898"/>
          <c:h val="0.560903284671533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16</c:v>
                </c:pt>
                <c:pt idx="1">
                  <c:v>14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12</c:v>
                </c:pt>
                <c:pt idx="8">
                  <c:v>19</c:v>
                </c:pt>
                <c:pt idx="9">
                  <c:v>26</c:v>
                </c:pt>
                <c:pt idx="10">
                  <c:v>37</c:v>
                </c:pt>
                <c:pt idx="11">
                  <c:v>29</c:v>
                </c:pt>
                <c:pt idx="1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99-420E-87A8-B865154C99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821469"/>
        <c:axId val="78902187"/>
      </c:barChart>
      <c:catAx>
        <c:axId val="1482146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7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78902187"/>
        <c:crosses val="autoZero"/>
        <c:auto val="1"/>
        <c:lblAlgn val="ctr"/>
        <c:lblOffset val="100"/>
        <c:noMultiLvlLbl val="0"/>
      </c:catAx>
      <c:valAx>
        <c:axId val="78902187"/>
        <c:scaling>
          <c:orientation val="minMax"/>
          <c:max val="45"/>
        </c:scaling>
        <c:delete val="1"/>
        <c:axPos val="l"/>
        <c:numFmt formatCode="General" sourceLinked="1"/>
        <c:majorTickMark val="out"/>
        <c:minorTickMark val="none"/>
        <c:tickLblPos val="nextTo"/>
        <c:crossAx val="1482146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1938225200196102E-2"/>
          <c:y val="0.239942182606601"/>
          <c:w val="0.89050498447458704"/>
          <c:h val="0.571428571428570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15</c:v>
                </c:pt>
                <c:pt idx="11">
                  <c:v>14</c:v>
                </c:pt>
                <c:pt idx="12">
                  <c:v>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F9D-41FF-AEF1-C69662243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5596948"/>
        <c:axId val="26945251"/>
      </c:barChart>
      <c:catAx>
        <c:axId val="655969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6945251"/>
        <c:crosses val="autoZero"/>
        <c:auto val="1"/>
        <c:lblAlgn val="ctr"/>
        <c:lblOffset val="100"/>
        <c:noMultiLvlLbl val="0"/>
      </c:catAx>
      <c:valAx>
        <c:axId val="26945251"/>
        <c:scaling>
          <c:orientation val="minMax"/>
          <c:max val="17.5"/>
        </c:scaling>
        <c:delete val="1"/>
        <c:axPos val="l"/>
        <c:numFmt formatCode="General" sourceLinked="1"/>
        <c:majorTickMark val="out"/>
        <c:minorTickMark val="none"/>
        <c:tickLblPos val="nextTo"/>
        <c:crossAx val="6559694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1948349133703798E-2"/>
          <c:y val="0.27183559084539899"/>
          <c:w val="0.89244851258581204"/>
          <c:h val="0.539467538533396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8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4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16</c:v>
                </c:pt>
                <c:pt idx="11">
                  <c:v>12</c:v>
                </c:pt>
                <c:pt idx="1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DD-404A-9D73-76E7D0779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0405638"/>
        <c:axId val="99595884"/>
      </c:barChart>
      <c:catAx>
        <c:axId val="7040563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99595884"/>
        <c:crosses val="autoZero"/>
        <c:auto val="1"/>
        <c:lblAlgn val="ctr"/>
        <c:lblOffset val="100"/>
        <c:noMultiLvlLbl val="0"/>
      </c:catAx>
      <c:valAx>
        <c:axId val="99595884"/>
        <c:scaling>
          <c:orientation val="minMax"/>
          <c:max val="20"/>
        </c:scaling>
        <c:delete val="1"/>
        <c:axPos val="l"/>
        <c:numFmt formatCode="General" sourceLinked="1"/>
        <c:majorTickMark val="out"/>
        <c:minorTickMark val="none"/>
        <c:tickLblPos val="nextTo"/>
        <c:crossAx val="70405638"/>
        <c:crosses val="autoZero"/>
        <c:crossBetween val="between"/>
      </c:valAx>
      <c:spPr>
        <a:noFill/>
        <a:ln w="2556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2.7133050016345198E-2"/>
          <c:y val="0.28856539093684003"/>
          <c:w val="0.92726381170317096"/>
          <c:h val="0.522657900915707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4706"/>
              </a:srgbClr>
            </a:solidFill>
            <a:ln w="0">
              <a:noFill/>
            </a:ln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000" b="1" u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6480">
                <a:solidFill>
                  <a:srgbClr val="000000"/>
                </a:solidFill>
              </a:ln>
            </c:spPr>
            <c:trendlineType val="poly"/>
            <c:order val="6"/>
            <c:dispRSqr val="0"/>
            <c:dispEq val="0"/>
          </c:trendline>
          <c:cat>
            <c:strRef>
              <c:f>categories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10</c:v>
                </c:pt>
                <c:pt idx="5">
                  <c:v>11</c:v>
                </c:pt>
                <c:pt idx="6">
                  <c:v>17</c:v>
                </c:pt>
                <c:pt idx="7">
                  <c:v>11</c:v>
                </c:pt>
                <c:pt idx="8">
                  <c:v>10</c:v>
                </c:pt>
                <c:pt idx="9">
                  <c:v>9</c:v>
                </c:pt>
                <c:pt idx="10">
                  <c:v>13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2EB-4A3B-9F26-B2F42674F6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5700042"/>
        <c:axId val="18199259"/>
      </c:barChart>
      <c:catAx>
        <c:axId val="7570004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CBD5E1"/>
            </a:solidFill>
          </a:ln>
        </c:spPr>
        <c:txPr>
          <a:bodyPr rot="2700000" anchorCtr="1"/>
          <a:lstStyle/>
          <a:p>
            <a:pPr>
              <a:defRPr sz="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8199259"/>
        <c:crosses val="autoZero"/>
        <c:auto val="1"/>
        <c:lblAlgn val="ctr"/>
        <c:lblOffset val="100"/>
        <c:noMultiLvlLbl val="0"/>
      </c:catAx>
      <c:valAx>
        <c:axId val="18199259"/>
        <c:scaling>
          <c:orientation val="minMax"/>
          <c:max val="20"/>
        </c:scaling>
        <c:delete val="1"/>
        <c:axPos val="l"/>
        <c:numFmt formatCode="General" sourceLinked="1"/>
        <c:majorTickMark val="out"/>
        <c:minorTickMark val="none"/>
        <c:tickLblPos val="nextTo"/>
        <c:crossAx val="7570004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solidFill>
        <a:srgbClr val="000000"/>
      </a:solidFill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8341FB7-BD8A-42F8-8D18-8EDC15413D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B56FEE3-CD57-449E-AB4A-D8432D6D187C}"/>
              </a:ext>
            </a:extLst>
          </p:cNvPr>
          <p:cNvSpPr>
            <a:spLocks noGrp="1"/>
          </p:cNvSpPr>
          <p:nvPr>
            <p:ph type="ftr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0FF9A1C0-BD0D-4EEE-88FC-1FF9166B96FC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B4D99C6-592F-460D-B118-53FBBDF0D91E}" type="slidenum"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8644220C-9C41-46A0-A6ED-135E5BC1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426240"/>
            <a:ext cx="6806160" cy="178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A438A615-A340-425A-9C63-AF44C3A8689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78000" y="2500920"/>
            <a:ext cx="6806160" cy="619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1FF0482D-5359-4691-9659-3EACB5A3D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426240"/>
            <a:ext cx="6806160" cy="1784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C51FEB79-E585-4779-8895-751DCC17388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78000" y="2500920"/>
            <a:ext cx="6806160" cy="619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13" Type="http://schemas.openxmlformats.org/officeDocument/2006/relationships/image" Target="../media/image5.png"/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9.xml"/><Relationship Id="rId11" Type="http://schemas.openxmlformats.org/officeDocument/2006/relationships/image" Target="../media/image3.jpeg"/><Relationship Id="rId5" Type="http://schemas.openxmlformats.org/officeDocument/2006/relationships/chart" Target="../charts/chart8.xml"/><Relationship Id="rId10" Type="http://schemas.openxmlformats.org/officeDocument/2006/relationships/image" Target="../media/image2.png"/><Relationship Id="rId4" Type="http://schemas.openxmlformats.org/officeDocument/2006/relationships/chart" Target="../charts/chart7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7.xml"/><Relationship Id="rId13" Type="http://schemas.openxmlformats.org/officeDocument/2006/relationships/image" Target="../media/image5.png"/><Relationship Id="rId3" Type="http://schemas.openxmlformats.org/officeDocument/2006/relationships/chart" Target="../charts/chart12.xml"/><Relationship Id="rId7" Type="http://schemas.openxmlformats.org/officeDocument/2006/relationships/chart" Target="../charts/chart16.xml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5.xml"/><Relationship Id="rId11" Type="http://schemas.openxmlformats.org/officeDocument/2006/relationships/image" Target="../media/image3.jpeg"/><Relationship Id="rId5" Type="http://schemas.openxmlformats.org/officeDocument/2006/relationships/chart" Target="../charts/chart14.xml"/><Relationship Id="rId10" Type="http://schemas.openxmlformats.org/officeDocument/2006/relationships/image" Target="../media/image2.png"/><Relationship Id="rId4" Type="http://schemas.openxmlformats.org/officeDocument/2006/relationships/chart" Target="../charts/chart13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3.xml"/><Relationship Id="rId13" Type="http://schemas.openxmlformats.org/officeDocument/2006/relationships/image" Target="../media/image5.png"/><Relationship Id="rId3" Type="http://schemas.openxmlformats.org/officeDocument/2006/relationships/chart" Target="../charts/chart18.xml"/><Relationship Id="rId7" Type="http://schemas.openxmlformats.org/officeDocument/2006/relationships/chart" Target="../charts/chart22.xml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1.xml"/><Relationship Id="rId11" Type="http://schemas.openxmlformats.org/officeDocument/2006/relationships/image" Target="../media/image3.jpeg"/><Relationship Id="rId5" Type="http://schemas.openxmlformats.org/officeDocument/2006/relationships/chart" Target="../charts/chart20.xml"/><Relationship Id="rId10" Type="http://schemas.openxmlformats.org/officeDocument/2006/relationships/image" Target="../media/image2.png"/><Relationship Id="rId4" Type="http://schemas.openxmlformats.org/officeDocument/2006/relationships/chart" Target="../charts/chart19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9.xml"/><Relationship Id="rId13" Type="http://schemas.openxmlformats.org/officeDocument/2006/relationships/image" Target="../media/image5.png"/><Relationship Id="rId3" Type="http://schemas.openxmlformats.org/officeDocument/2006/relationships/chart" Target="../charts/chart24.xml"/><Relationship Id="rId7" Type="http://schemas.openxmlformats.org/officeDocument/2006/relationships/chart" Target="../charts/chart28.xml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7.xml"/><Relationship Id="rId11" Type="http://schemas.openxmlformats.org/officeDocument/2006/relationships/image" Target="../media/image3.jpeg"/><Relationship Id="rId5" Type="http://schemas.openxmlformats.org/officeDocument/2006/relationships/chart" Target="../charts/chart26.xml"/><Relationship Id="rId10" Type="http://schemas.openxmlformats.org/officeDocument/2006/relationships/image" Target="../media/image2.png"/><Relationship Id="rId4" Type="http://schemas.openxmlformats.org/officeDocument/2006/relationships/chart" Target="../charts/chart25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5.xml"/><Relationship Id="rId13" Type="http://schemas.openxmlformats.org/officeDocument/2006/relationships/image" Target="../media/image5.png"/><Relationship Id="rId3" Type="http://schemas.openxmlformats.org/officeDocument/2006/relationships/chart" Target="../charts/chart30.xml"/><Relationship Id="rId7" Type="http://schemas.openxmlformats.org/officeDocument/2006/relationships/chart" Target="../charts/chart34.xml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3.xml"/><Relationship Id="rId11" Type="http://schemas.openxmlformats.org/officeDocument/2006/relationships/image" Target="../media/image3.jpeg"/><Relationship Id="rId5" Type="http://schemas.openxmlformats.org/officeDocument/2006/relationships/chart" Target="../charts/chart32.xml"/><Relationship Id="rId10" Type="http://schemas.openxmlformats.org/officeDocument/2006/relationships/image" Target="../media/image2.png"/><Relationship Id="rId4" Type="http://schemas.openxmlformats.org/officeDocument/2006/relationships/chart" Target="../charts/chart31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1.xml"/><Relationship Id="rId13" Type="http://schemas.openxmlformats.org/officeDocument/2006/relationships/image" Target="../media/image5.png"/><Relationship Id="rId3" Type="http://schemas.openxmlformats.org/officeDocument/2006/relationships/chart" Target="../charts/chart36.xml"/><Relationship Id="rId7" Type="http://schemas.openxmlformats.org/officeDocument/2006/relationships/chart" Target="../charts/chart40.xml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9.xml"/><Relationship Id="rId11" Type="http://schemas.openxmlformats.org/officeDocument/2006/relationships/image" Target="../media/image3.jpeg"/><Relationship Id="rId5" Type="http://schemas.openxmlformats.org/officeDocument/2006/relationships/chart" Target="../charts/chart38.xml"/><Relationship Id="rId10" Type="http://schemas.openxmlformats.org/officeDocument/2006/relationships/image" Target="../media/image2.png"/><Relationship Id="rId4" Type="http://schemas.openxmlformats.org/officeDocument/2006/relationships/chart" Target="../charts/chart37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87E955F4-ACD3-4787-AEC9-7DA8F813C8CD}"/>
              </a:ext>
            </a:extLst>
          </p:cNvPr>
          <p:cNvSpPr>
            <a:spLocks noGrp="1"/>
          </p:cNvSpPr>
          <p:nvPr/>
        </p:nvSpPr>
        <p:spPr>
          <a:xfrm>
            <a:off x="-18000" y="-14400"/>
            <a:ext cx="7580160" cy="454680"/>
          </a:xfrm>
          <a:prstGeom prst="rect">
            <a:avLst/>
          </a:prstGeom>
          <a:solidFill>
            <a:srgbClr val="2D9B7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MT OFFTAKE PERFORMANCE REPORT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F2B3589-C216-450B-B719-84A290C2AB03}"/>
              </a:ext>
            </a:extLst>
          </p:cNvPr>
          <p:cNvSpPr>
            <a:spLocks noGrp="1"/>
          </p:cNvSpPr>
          <p:nvPr/>
        </p:nvSpPr>
        <p:spPr>
          <a:xfrm>
            <a:off x="-18000" y="417600"/>
            <a:ext cx="758016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F5A85"/>
                </a:solidFill>
                <a:latin typeface="Calibri"/>
                <a:ea typeface="Calibri"/>
                <a:cs typeface="Calibri"/>
              </a:rPr>
              <a:t>SUMMARY &amp; KEY INSIGHTS JUNE’26 + Q1 FY27</a:t>
            </a: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5E0340B6-8AD1-4955-938D-B67EBB2B560A}"/>
              </a:ext>
            </a:extLst>
          </p:cNvPr>
          <p:cNvSpPr>
            <a:spLocks noGrp="1"/>
          </p:cNvSpPr>
          <p:nvPr/>
        </p:nvSpPr>
        <p:spPr>
          <a:xfrm>
            <a:off x="334440" y="727920"/>
            <a:ext cx="6903720" cy="360"/>
          </a:xfrm>
          <a:prstGeom prst="line">
            <a:avLst/>
          </a:prstGeom>
          <a:ln w="12700">
            <a:solidFill>
              <a:srgbClr val="1F5A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07DD4A22-47D8-4A98-9776-F419F636F5FC}"/>
              </a:ext>
            </a:extLst>
          </p:cNvPr>
          <p:cNvSpPr>
            <a:spLocks noGrp="1"/>
          </p:cNvSpPr>
          <p:nvPr/>
        </p:nvSpPr>
        <p:spPr>
          <a:xfrm>
            <a:off x="330480" y="831600"/>
            <a:ext cx="1649880" cy="648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0AD47">
                <a:lumMod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FB12182-E8EA-4821-B1AC-25E9BD0BF1C5}"/>
              </a:ext>
            </a:extLst>
          </p:cNvPr>
          <p:cNvSpPr>
            <a:spLocks noGrp="1"/>
          </p:cNvSpPr>
          <p:nvPr/>
        </p:nvSpPr>
        <p:spPr>
          <a:xfrm>
            <a:off x="517680" y="956160"/>
            <a:ext cx="1499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Jun'26 NSV</a:t>
            </a: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110EE797-5415-4EE7-ACC2-1C7A3035320F}"/>
              </a:ext>
            </a:extLst>
          </p:cNvPr>
          <p:cNvSpPr>
            <a:spLocks noGrp="1"/>
          </p:cNvSpPr>
          <p:nvPr/>
        </p:nvSpPr>
        <p:spPr>
          <a:xfrm>
            <a:off x="462600" y="1072440"/>
            <a:ext cx="1499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76C5D"/>
                </a:solidFill>
                <a:latin typeface="Calibri"/>
                <a:ea typeface="Calibri"/>
                <a:cs typeface="Calibri"/>
              </a:rPr>
              <a:t>₹ 38.24 Cr</a:t>
            </a: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1C1FB19B-FE50-4BA8-A48D-D00AF037400A}"/>
              </a:ext>
            </a:extLst>
          </p:cNvPr>
          <p:cNvSpPr>
            <a:spLocks noGrp="1"/>
          </p:cNvSpPr>
          <p:nvPr/>
        </p:nvSpPr>
        <p:spPr>
          <a:xfrm>
            <a:off x="2099520" y="831600"/>
            <a:ext cx="1645560" cy="648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0AD47">
                <a:lumMod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969C90D-4824-4FCB-B900-7157B69ED5D1}"/>
              </a:ext>
            </a:extLst>
          </p:cNvPr>
          <p:cNvSpPr>
            <a:spLocks noGrp="1"/>
          </p:cNvSpPr>
          <p:nvPr/>
        </p:nvSpPr>
        <p:spPr>
          <a:xfrm>
            <a:off x="2190960" y="905040"/>
            <a:ext cx="1499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May'26 NSV</a:t>
            </a: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C3ECFD3-D54C-4B68-9036-B5322C5BA420}"/>
              </a:ext>
            </a:extLst>
          </p:cNvPr>
          <p:cNvSpPr>
            <a:spLocks noGrp="1"/>
          </p:cNvSpPr>
          <p:nvPr/>
        </p:nvSpPr>
        <p:spPr>
          <a:xfrm>
            <a:off x="2190960" y="1060200"/>
            <a:ext cx="1499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76C5D"/>
                </a:solidFill>
                <a:latin typeface="Calibri"/>
                <a:ea typeface="Calibri"/>
                <a:cs typeface="Calibri"/>
              </a:rPr>
              <a:t>₹ 40.26 Cr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5E6DBF09-85CF-48F3-81A4-8C31B20D0A97}"/>
              </a:ext>
            </a:extLst>
          </p:cNvPr>
          <p:cNvSpPr>
            <a:spLocks noGrp="1"/>
          </p:cNvSpPr>
          <p:nvPr/>
        </p:nvSpPr>
        <p:spPr>
          <a:xfrm>
            <a:off x="2190960" y="1307160"/>
            <a:ext cx="1499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▼ 5%</a:t>
            </a: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951A7A8B-B821-4E61-81F1-487866EFC0FD}"/>
              </a:ext>
            </a:extLst>
          </p:cNvPr>
          <p:cNvSpPr>
            <a:spLocks noGrp="1"/>
          </p:cNvSpPr>
          <p:nvPr/>
        </p:nvSpPr>
        <p:spPr>
          <a:xfrm>
            <a:off x="3855240" y="831600"/>
            <a:ext cx="1645560" cy="6307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0AD47">
                <a:lumMod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E43DEF6-2788-4BB0-A00A-FAF99C9FB22C}"/>
              </a:ext>
            </a:extLst>
          </p:cNvPr>
          <p:cNvSpPr>
            <a:spLocks noGrp="1"/>
          </p:cNvSpPr>
          <p:nvPr/>
        </p:nvSpPr>
        <p:spPr>
          <a:xfrm>
            <a:off x="3928320" y="905040"/>
            <a:ext cx="1499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L3M Avg</a:t>
            </a: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B36D3915-DC79-47BD-8463-8777D9134515}"/>
              </a:ext>
            </a:extLst>
          </p:cNvPr>
          <p:cNvSpPr>
            <a:spLocks noGrp="1"/>
          </p:cNvSpPr>
          <p:nvPr/>
        </p:nvSpPr>
        <p:spPr>
          <a:xfrm>
            <a:off x="3928320" y="1060200"/>
            <a:ext cx="1499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76C5D"/>
                </a:solidFill>
                <a:latin typeface="Calibri"/>
                <a:ea typeface="Calibri"/>
                <a:cs typeface="Calibri"/>
              </a:rPr>
              <a:t>₹ 36.16 Cr</a:t>
            </a: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245FFD48-C43D-42E9-A4F1-BE4BB7833FA7}"/>
              </a:ext>
            </a:extLst>
          </p:cNvPr>
          <p:cNvSpPr>
            <a:spLocks noGrp="1"/>
          </p:cNvSpPr>
          <p:nvPr/>
        </p:nvSpPr>
        <p:spPr>
          <a:xfrm>
            <a:off x="3928320" y="1307160"/>
            <a:ext cx="1499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 L3M ▲ 6%</a:t>
            </a:r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2DC00684-E2A2-47DA-83A0-822E07B27C4C}"/>
              </a:ext>
            </a:extLst>
          </p:cNvPr>
          <p:cNvSpPr>
            <a:spLocks noGrp="1"/>
          </p:cNvSpPr>
          <p:nvPr/>
        </p:nvSpPr>
        <p:spPr>
          <a:xfrm>
            <a:off x="5638320" y="848160"/>
            <a:ext cx="1645560" cy="6314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70AD47">
                <a:lumMod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C0523975-64B4-44E6-B3A7-466B4CE3DA3B}"/>
              </a:ext>
            </a:extLst>
          </p:cNvPr>
          <p:cNvSpPr>
            <a:spLocks noGrp="1"/>
          </p:cNvSpPr>
          <p:nvPr/>
        </p:nvSpPr>
        <p:spPr>
          <a:xfrm>
            <a:off x="5665680" y="905040"/>
            <a:ext cx="1453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YoY Growth</a:t>
            </a: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2EB02356-762B-49D1-8F2B-2F65B5C7C35A}"/>
              </a:ext>
            </a:extLst>
          </p:cNvPr>
          <p:cNvSpPr>
            <a:spLocks noGrp="1"/>
          </p:cNvSpPr>
          <p:nvPr/>
        </p:nvSpPr>
        <p:spPr>
          <a:xfrm>
            <a:off x="5665680" y="1060200"/>
            <a:ext cx="14536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F5A85"/>
                </a:solidFill>
                <a:latin typeface="Calibri"/>
                <a:ea typeface="Calibri"/>
                <a:cs typeface="Calibri"/>
              </a:rPr>
              <a:t>68.4%</a:t>
            </a: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D9FC1D3C-241D-41CB-B4C4-62CBE6AD8EC3}"/>
              </a:ext>
            </a:extLst>
          </p:cNvPr>
          <p:cNvSpPr>
            <a:spLocks noGrp="1"/>
          </p:cNvSpPr>
          <p:nvPr/>
        </p:nvSpPr>
        <p:spPr>
          <a:xfrm>
            <a:off x="5665680" y="1307160"/>
            <a:ext cx="14536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</a:t>
            </a:r>
            <a:r>
              <a:rPr sz="900" b="1" u="none">
                <a:solidFill>
                  <a:srgbClr val="176C5D"/>
                </a:solidFill>
                <a:latin typeface="Calibri"/>
                <a:ea typeface="Calibri"/>
                <a:cs typeface="Calibri"/>
              </a:rPr>
              <a:t>₹ 15.53 Cr</a:t>
            </a: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8050D1F2-189B-48FD-98A4-7F5FF28A87CF}"/>
              </a:ext>
            </a:extLst>
          </p:cNvPr>
          <p:cNvSpPr>
            <a:spLocks noGrp="1"/>
          </p:cNvSpPr>
          <p:nvPr/>
        </p:nvSpPr>
        <p:spPr>
          <a:xfrm>
            <a:off x="320040" y="1576800"/>
            <a:ext cx="3885840" cy="3074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F5A85"/>
                </a:solidFill>
                <a:latin typeface="Calibri"/>
                <a:ea typeface="Calibri"/>
                <a:cs typeface="Calibri"/>
              </a:rPr>
              <a:t>Monthly and Top-3 Chain NSV Sales Trend </a:t>
            </a:r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48EC1AE8-AFC2-4E47-B23F-D1940988FE9D}"/>
              </a:ext>
            </a:extLst>
          </p:cNvPr>
          <p:cNvSpPr>
            <a:spLocks noGrp="1"/>
          </p:cNvSpPr>
          <p:nvPr/>
        </p:nvSpPr>
        <p:spPr>
          <a:xfrm flipV="1">
            <a:off x="329400" y="1863360"/>
            <a:ext cx="6908760" cy="10080"/>
          </a:xfrm>
          <a:prstGeom prst="line">
            <a:avLst/>
          </a:prstGeom>
          <a:ln w="12700">
            <a:solidFill>
              <a:srgbClr val="1F5A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920" rIns="90000" bIns="-34920" anchor="t">
            <a:noAutofit/>
          </a:bodyPr>
          <a:lstStyle/>
          <a:p>
            <a:endParaRPr/>
          </a:p>
        </p:txBody>
      </p:sp>
      <p:graphicFrame>
        <p:nvGraphicFramePr>
          <p:cNvPr id="70" name="Chart 0"/>
          <p:cNvGraphicFramePr/>
          <p:nvPr/>
        </p:nvGraphicFramePr>
        <p:xfrm>
          <a:off x="320040" y="1969560"/>
          <a:ext cx="3885840" cy="344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 24">
            <a:extLst>
              <a:ext uri="{FF2B5EF4-FFF2-40B4-BE49-F238E27FC236}">
                <a16:creationId xmlns:a16="http://schemas.microsoft.com/office/drawing/2014/main" id="{5CC415C4-0496-4C89-B99A-C1BDC3990949}"/>
              </a:ext>
            </a:extLst>
          </p:cNvPr>
          <p:cNvSpPr>
            <a:spLocks noGrp="1"/>
          </p:cNvSpPr>
          <p:nvPr/>
        </p:nvSpPr>
        <p:spPr>
          <a:xfrm>
            <a:off x="316800" y="5494320"/>
            <a:ext cx="6892920" cy="1336320"/>
          </a:xfrm>
          <a:prstGeom prst="rect">
            <a:avLst/>
          </a:prstGeom>
          <a:noFill/>
          <a:ln w="0">
            <a:solidFill>
              <a:srgbClr val="70AD47">
                <a:lumMod val="50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9999"/>
          </a:bodyPr>
          <a:lstStyle/>
          <a:p>
            <a:pPr marL="171360" indent="-171360" defTabSz="914400">
              <a:lnSpc>
                <a:spcPct val="115000"/>
              </a:lnSpc>
              <a:buClr>
                <a:srgbClr val="262626"/>
              </a:buClr>
              <a:buFont typeface="Symbol"/>
              <a:buChar char=""/>
            </a:pPr>
            <a:r>
              <a:rPr sz="1200" b="0" u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Jun'26 NSV closed at Rs. </a:t>
            </a:r>
            <a:r>
              <a:rPr sz="12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38.24 Cr </a:t>
            </a:r>
            <a:r>
              <a:rPr sz="1200" b="0" u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up </a:t>
            </a:r>
            <a:r>
              <a:rPr sz="12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▲ 68% YoY</a:t>
            </a:r>
            <a:r>
              <a:rPr sz="1200" b="0" u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2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▲ 5.7%</a:t>
            </a:r>
            <a:r>
              <a:rPr sz="1200" b="0" u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vs L3M Avg, adding +1,553 Lacs YoY — best-ever June on corrected chain NSV, despite a seasonal ▼5% MoM off the May record. </a:t>
            </a:r>
          </a:p>
          <a:p>
            <a:pPr marL="171360" indent="-171360" defTabSz="914400">
              <a:lnSpc>
                <a:spcPct val="115000"/>
              </a:lnSpc>
              <a:buClr>
                <a:srgbClr val="262626"/>
              </a:buClr>
              <a:buFont typeface="Symbol"/>
              <a:buChar char=""/>
            </a:pPr>
            <a:r>
              <a:rPr sz="1200" b="0" u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Q1 FY27 closed at </a:t>
            </a:r>
            <a:r>
              <a:rPr sz="12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₹114.39 Cr, ▲ 64% vs Q1 FY26 (₹69.92 Cr) </a:t>
            </a:r>
            <a:r>
              <a:rPr sz="1200" b="0" u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— every zone grew ≥55% (South-1 ▲84%); </a:t>
            </a:r>
            <a:r>
              <a:rPr sz="12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2-yr Q1 CAGR of +44% confirms structural scale</a:t>
            </a:r>
            <a:r>
              <a:rPr sz="12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.</a:t>
            </a:r>
            <a:r>
              <a:rPr sz="12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 marL="171360" indent="-171360" defTabSz="914400">
              <a:lnSpc>
                <a:spcPct val="115000"/>
              </a:lnSpc>
              <a:buClr>
                <a:srgbClr val="B8860B"/>
              </a:buClr>
              <a:buFont typeface="Symbol"/>
              <a:buChar char=""/>
            </a:pPr>
            <a:r>
              <a:rPr sz="1200" b="1" u="none">
                <a:solidFill>
                  <a:srgbClr val="B8860B"/>
                </a:solidFill>
                <a:latin typeface="Calibri"/>
                <a:ea typeface="Calibri"/>
                <a:cs typeface="Calibri"/>
              </a:rPr>
              <a:t>Dmart, Reliance and Apollo delivered 81.8% of Jun'26 offtake</a:t>
            </a:r>
            <a:r>
              <a:rPr sz="1200" b="0" u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— concentration steady vs May; Walmart CNC billed nil in Jun (watch-out). </a:t>
            </a:r>
          </a:p>
          <a:p>
            <a:pPr marL="171360" indent="-171360" defTabSz="914400">
              <a:lnSpc>
                <a:spcPct val="115000"/>
              </a:lnSpc>
              <a:buClr>
                <a:srgbClr val="262626"/>
              </a:buClr>
              <a:buFont typeface="Symbol"/>
              <a:buChar char=""/>
            </a:pPr>
            <a:r>
              <a:rPr sz="1200" b="0" u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Derma Co. remain the growth engines &amp; Mamaearth holds 71.8% portfolio share.</a:t>
            </a: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BC9FDEDC-9D7F-463D-97A3-B0B407A1770F}"/>
              </a:ext>
            </a:extLst>
          </p:cNvPr>
          <p:cNvSpPr>
            <a:spLocks noGrp="1"/>
          </p:cNvSpPr>
          <p:nvPr/>
        </p:nvSpPr>
        <p:spPr>
          <a:xfrm>
            <a:off x="320040" y="6853680"/>
            <a:ext cx="6879600" cy="223920"/>
          </a:xfrm>
          <a:prstGeom prst="rect">
            <a:avLst/>
          </a:prstGeom>
          <a:noFill/>
          <a:ln w="0">
            <a:solidFill>
              <a:srgbClr val="4472C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Chain-wise Monthly Performance Snapshot</a:t>
            </a: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00DCFA13-DE3E-4FAB-A912-DD1A31DCE5F9}"/>
              </a:ext>
            </a:extLst>
          </p:cNvPr>
          <p:cNvSpPr>
            <a:spLocks noGrp="1"/>
          </p:cNvSpPr>
          <p:nvPr/>
        </p:nvSpPr>
        <p:spPr>
          <a:xfrm>
            <a:off x="3785400" y="9278640"/>
            <a:ext cx="2232000" cy="36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rmAutofit fontScale="47500" lnSpcReduction="20000"/>
          </a:bodyPr>
          <a:lstStyle/>
          <a:p>
            <a:endParaRPr/>
          </a:p>
        </p:txBody>
      </p:sp>
      <p:graphicFrame>
        <p:nvGraphicFramePr>
          <p:cNvPr id="74" name="Chart 0"/>
          <p:cNvGraphicFramePr/>
          <p:nvPr/>
        </p:nvGraphicFramePr>
        <p:xfrm>
          <a:off x="4343400" y="3888000"/>
          <a:ext cx="2820240" cy="152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TextBox 25">
            <a:extLst>
              <a:ext uri="{FF2B5EF4-FFF2-40B4-BE49-F238E27FC236}">
                <a16:creationId xmlns:a16="http://schemas.microsoft.com/office/drawing/2014/main" id="{4184BA62-65FC-4D09-870B-A56E6D1A1BEF}"/>
              </a:ext>
            </a:extLst>
          </p:cNvPr>
          <p:cNvSpPr>
            <a:spLocks noGrp="1"/>
          </p:cNvSpPr>
          <p:nvPr/>
        </p:nvSpPr>
        <p:spPr>
          <a:xfrm>
            <a:off x="4315320" y="1576800"/>
            <a:ext cx="2894760" cy="2962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F5A85"/>
                </a:solidFill>
                <a:latin typeface="Calibri"/>
                <a:ea typeface="Calibri"/>
                <a:cs typeface="Calibri"/>
              </a:rPr>
              <a:t>Jun’26 Chain Sales Contribution % &amp; Sales</a:t>
            </a:r>
          </a:p>
        </p:txBody>
      </p:sp>
      <p:graphicFrame>
        <p:nvGraphicFramePr>
          <p:cNvPr id="76" name="Chart 1"/>
          <p:cNvGraphicFramePr/>
          <p:nvPr/>
        </p:nvGraphicFramePr>
        <p:xfrm>
          <a:off x="4343400" y="1955160"/>
          <a:ext cx="2820240" cy="186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2" name="Text 5">
            <a:extLst>
              <a:ext uri="{FF2B5EF4-FFF2-40B4-BE49-F238E27FC236}">
                <a16:creationId xmlns:a16="http://schemas.microsoft.com/office/drawing/2014/main" id="{56086BE0-9BF9-4B03-BDCC-81866AFE278E}"/>
              </a:ext>
            </a:extLst>
          </p:cNvPr>
          <p:cNvSpPr>
            <a:spLocks noGrp="1"/>
          </p:cNvSpPr>
          <p:nvPr/>
        </p:nvSpPr>
        <p:spPr>
          <a:xfrm>
            <a:off x="489960" y="1338840"/>
            <a:ext cx="14994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76C5D"/>
                </a:solidFill>
                <a:latin typeface="Calibri"/>
                <a:ea typeface="Calibri"/>
                <a:cs typeface="Calibri"/>
              </a:rPr>
              <a:t>Best-ever</a:t>
            </a:r>
            <a:r>
              <a:rPr sz="1100" b="1" u="none">
                <a:solidFill>
                  <a:srgbClr val="176C5D"/>
                </a:solidFill>
                <a:latin typeface="Calibri"/>
                <a:ea typeface="Calibri"/>
                <a:cs typeface="Calibri"/>
              </a:rPr>
              <a:t> June NSV</a:t>
            </a:r>
          </a:p>
        </p:txBody>
      </p:sp>
      <p:graphicFrame>
        <p:nvGraphicFramePr>
          <p:cNvPr id="78" name="Table 28"/>
          <p:cNvGraphicFramePr/>
          <p:nvPr/>
        </p:nvGraphicFramePr>
        <p:xfrm>
          <a:off x="320040" y="7127640"/>
          <a:ext cx="6877080" cy="3449880"/>
        </p:xfrm>
        <a:graphic>
          <a:graphicData uri="http://schemas.openxmlformats.org/drawingml/2006/table">
            <a:tbl>
              <a:tblPr/>
              <a:tblGrid>
                <a:gridCol w="80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9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96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9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43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Feb-26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Mar-26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Apr-26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 </a:t>
                      </a:r>
                      <a:br/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Avg(MAM)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MOM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Dmart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856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928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1,225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1,258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1,518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1,456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38%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1,334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70%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▼ 4%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Reliance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592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756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804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868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990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948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25%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887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60%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▼ 4%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Apollo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275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512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570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699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751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723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673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163%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▼ 4%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Fsn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173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229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217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203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32%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000" b="1" u="none">
                          <a:solidFill>
                            <a:srgbClr val="D03A3A"/>
                          </a:solidFill>
                          <a:latin typeface="Calibri"/>
                          <a:ea typeface="Calibri"/>
                          <a:cs typeface="Calibri"/>
                        </a:rPr>
                        <a:t>▲ 4%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Wellness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8%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000" b="1" u="none">
                          <a:solidFill>
                            <a:srgbClr val="D03A3A"/>
                          </a:solidFill>
                          <a:latin typeface="Calibri"/>
                          <a:ea typeface="Calibri"/>
                          <a:cs typeface="Calibri"/>
                        </a:rPr>
                        <a:t>▼ 21%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H&amp;G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87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▼ 37%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▼ 41%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Lulu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43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169%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▼ 0%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Metro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53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61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39%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28%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Delhi RMT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11%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000" b="1" u="none">
                          <a:solidFill>
                            <a:srgbClr val="D03A3A"/>
                          </a:solidFill>
                          <a:latin typeface="Calibri"/>
                          <a:ea typeface="Calibri"/>
                          <a:cs typeface="Calibri"/>
                        </a:rPr>
                        <a:t>▼ 14%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More Retail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28%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▼ 21%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Walmart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17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000" b="1" u="none">
                          <a:solidFill>
                            <a:srgbClr val="D03A3A"/>
                          </a:solidFill>
                          <a:latin typeface="Calibri"/>
                          <a:ea typeface="Calibri"/>
                          <a:cs typeface="Calibri"/>
                        </a:rPr>
                        <a:t>▼ 100%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000" b="1" u="none">
                          <a:solidFill>
                            <a:srgbClr val="D03A3A"/>
                          </a:solidFill>
                          <a:latin typeface="Calibri"/>
                          <a:ea typeface="Calibri"/>
                          <a:cs typeface="Calibri"/>
                        </a:rPr>
                        <a:t>▼ 100%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Spencer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000" b="1" u="none">
                          <a:solidFill>
                            <a:srgbClr val="D03A3A"/>
                          </a:solidFill>
                          <a:latin typeface="Calibri"/>
                          <a:ea typeface="Calibri"/>
                          <a:cs typeface="Calibri"/>
                        </a:rPr>
                        <a:t>▼ 43%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000" b="1" u="none">
                          <a:solidFill>
                            <a:srgbClr val="D03A3A"/>
                          </a:solidFill>
                          <a:latin typeface="Calibri"/>
                          <a:ea typeface="Calibri"/>
                          <a:cs typeface="Calibri"/>
                        </a:rPr>
                        <a:t>▼ 29%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Vmm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28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31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156%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▼ 18%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Others Combined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33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47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5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1F7A3D"/>
                          </a:solidFill>
                          <a:latin typeface="Calibri"/>
                          <a:ea typeface="Calibri"/>
                          <a:cs typeface="Calibri"/>
                        </a:rPr>
                        <a:t>▲ 104%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sz="1000" b="1" u="none">
                          <a:solidFill>
                            <a:srgbClr val="D03A3A"/>
                          </a:solidFill>
                          <a:latin typeface="Calibri"/>
                          <a:ea typeface="Calibri"/>
                          <a:cs typeface="Calibri"/>
                        </a:rPr>
                        <a:t>▲ 11%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Total Channel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2,271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2,761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3,234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3,589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4,026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3,824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3,616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▲ 68%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9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▼ 5%</a:t>
                      </a:r>
                    </a:p>
                  </a:txBody>
                  <a:tcPr marL="6120" marR="6120" marT="6120" marB="0" anchor="ctr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5" name="PageNum">
            <a:extLst>
              <a:ext uri="{FF2B5EF4-FFF2-40B4-BE49-F238E27FC236}">
                <a16:creationId xmlns:a16="http://schemas.microsoft.com/office/drawing/2014/main" id="{604C0519-9513-4D9C-90E8-0D178779049F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 / 20</a:t>
            </a:r>
          </a:p>
        </p:txBody>
      </p:sp>
    </p:spTree>
    <p:extLst>
      <p:ext uri="{BB962C8B-B14F-4D97-AF65-F5344CB8AC3E}">
        <p14:creationId xmlns:p14="http://schemas.microsoft.com/office/powerpoint/2010/main" val="112872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aderBand">
            <a:extLst>
              <a:ext uri="{FF2B5EF4-FFF2-40B4-BE49-F238E27FC236}">
                <a16:creationId xmlns:a16="http://schemas.microsoft.com/office/drawing/2014/main" id="{461E3AC8-2712-403C-AE4B-A853F738C7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850" cy="45720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 FY27 SCORECARD — OFFTAKE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F98EE84-8930-4D99-B6A2-13039F39537B}"/>
              </a:ext>
            </a:extLst>
          </p:cNvPr>
          <p:cNvSpPr>
            <a:spLocks noGrp="1"/>
          </p:cNvSpPr>
          <p:nvPr/>
        </p:nvSpPr>
        <p:spPr>
          <a:xfrm>
            <a:off x="323850" y="4762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Apr–Jun’26 vs Apr–Jun’25  |  NSV ₹ Lacs  |  MT + EB2B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DE7E3C91-6848-4F1B-83FC-59D20E1CA712}"/>
              </a:ext>
            </a:extLst>
          </p:cNvPr>
          <p:cNvSpPr>
            <a:spLocks noGrp="1"/>
          </p:cNvSpPr>
          <p:nvPr/>
        </p:nvSpPr>
        <p:spPr>
          <a:xfrm>
            <a:off x="323850" y="752475"/>
            <a:ext cx="6915150" cy="190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KPI Q1 FY27 NSV">
            <a:extLst>
              <a:ext uri="{FF2B5EF4-FFF2-40B4-BE49-F238E27FC236}">
                <a16:creationId xmlns:a16="http://schemas.microsoft.com/office/drawing/2014/main" id="{54919E40-456F-4E64-AFAC-C4916EEF175F}"/>
              </a:ext>
            </a:extLst>
          </p:cNvPr>
          <p:cNvSpPr>
            <a:spLocks noGrp="1"/>
          </p:cNvSpPr>
          <p:nvPr/>
        </p:nvSpPr>
        <p:spPr>
          <a:xfrm>
            <a:off x="3238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Q1 FY27 NSV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₹ 114.39 Cr</a:t>
            </a:r>
          </a:p>
        </p:txBody>
      </p:sp>
      <p:sp>
        <p:nvSpPr>
          <p:cNvPr id="5" name="KPI Q1 GROWTH">
            <a:extLst>
              <a:ext uri="{FF2B5EF4-FFF2-40B4-BE49-F238E27FC236}">
                <a16:creationId xmlns:a16="http://schemas.microsoft.com/office/drawing/2014/main" id="{BB3AF1D4-D50C-4888-8E61-532D9B723CA8}"/>
              </a:ext>
            </a:extLst>
          </p:cNvPr>
          <p:cNvSpPr>
            <a:spLocks noGrp="1"/>
          </p:cNvSpPr>
          <p:nvPr/>
        </p:nvSpPr>
        <p:spPr>
          <a:xfrm>
            <a:off x="20764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Q1 GROWTH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▲ 63.6%</a:t>
            </a:r>
          </a:p>
        </p:txBody>
      </p:sp>
      <p:sp>
        <p:nvSpPr>
          <p:cNvPr id="6" name="KPI BEST MONTH">
            <a:extLst>
              <a:ext uri="{FF2B5EF4-FFF2-40B4-BE49-F238E27FC236}">
                <a16:creationId xmlns:a16="http://schemas.microsoft.com/office/drawing/2014/main" id="{6821C8DA-C7C1-4503-89E7-5F9385416219}"/>
              </a:ext>
            </a:extLst>
          </p:cNvPr>
          <p:cNvSpPr>
            <a:spLocks noGrp="1"/>
          </p:cNvSpPr>
          <p:nvPr/>
        </p:nvSpPr>
        <p:spPr>
          <a:xfrm>
            <a:off x="38290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BEST MONTH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May’26 ₹ 40.26 Cr</a:t>
            </a:r>
          </a:p>
        </p:txBody>
      </p:sp>
      <p:sp>
        <p:nvSpPr>
          <p:cNvPr id="7" name="KPI JUN’26">
            <a:extLst>
              <a:ext uri="{FF2B5EF4-FFF2-40B4-BE49-F238E27FC236}">
                <a16:creationId xmlns:a16="http://schemas.microsoft.com/office/drawing/2014/main" id="{FD18C5BF-35DF-4161-A08C-281CBA69CC95}"/>
              </a:ext>
            </a:extLst>
          </p:cNvPr>
          <p:cNvSpPr>
            <a:spLocks noGrp="1"/>
          </p:cNvSpPr>
          <p:nvPr/>
        </p:nvSpPr>
        <p:spPr>
          <a:xfrm>
            <a:off x="5581650" y="895350"/>
            <a:ext cx="16573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JUN’26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₹ 38.24 Cr | ▲68%</a:t>
            </a:r>
          </a:p>
        </p:txBody>
      </p:sp>
      <p:sp>
        <p:nvSpPr>
          <p:cNvPr id="8" name="Section ZONE VIEW">
            <a:extLst>
              <a:ext uri="{FF2B5EF4-FFF2-40B4-BE49-F238E27FC236}">
                <a16:creationId xmlns:a16="http://schemas.microsoft.com/office/drawing/2014/main" id="{C5FA3112-01D3-45B5-813F-39D34F75F09E}"/>
              </a:ext>
            </a:extLst>
          </p:cNvPr>
          <p:cNvSpPr>
            <a:spLocks noGrp="1"/>
          </p:cNvSpPr>
          <p:nvPr/>
        </p:nvSpPr>
        <p:spPr>
          <a:xfrm>
            <a:off x="323850" y="1695450"/>
            <a:ext cx="69151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ZONE VIEW</a:t>
            </a:r>
          </a:p>
        </p:txBody>
      </p:sp>
      <p:graphicFrame>
        <p:nvGraphicFramePr>
          <p:cNvPr id="29" name="ZoneView"/>
          <p:cNvGraphicFramePr/>
          <p:nvPr/>
        </p:nvGraphicFramePr>
        <p:xfrm>
          <a:off x="323850" y="1981200"/>
          <a:ext cx="6915150" cy="3009904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2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Zone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FY26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FY27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Growth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East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701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1,173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67%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1,583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2,641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23%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South-1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1,356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2,489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84%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South-2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952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1,576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14%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1,877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2,905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55%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Pan India (FSN)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523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653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25%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6,992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11,439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64%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ection TOP CHAINS">
            <a:extLst>
              <a:ext uri="{FF2B5EF4-FFF2-40B4-BE49-F238E27FC236}">
                <a16:creationId xmlns:a16="http://schemas.microsoft.com/office/drawing/2014/main" id="{431EEB50-986B-41F9-B063-3C8A6319F6F7}"/>
              </a:ext>
            </a:extLst>
          </p:cNvPr>
          <p:cNvSpPr>
            <a:spLocks noGrp="1"/>
          </p:cNvSpPr>
          <p:nvPr/>
        </p:nvSpPr>
        <p:spPr>
          <a:xfrm>
            <a:off x="323850" y="514350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TOP CHAINS</a:t>
            </a:r>
          </a:p>
        </p:txBody>
      </p:sp>
      <p:sp>
        <p:nvSpPr>
          <p:cNvPr id="11" name="Section BRAND VIEW">
            <a:extLst>
              <a:ext uri="{FF2B5EF4-FFF2-40B4-BE49-F238E27FC236}">
                <a16:creationId xmlns:a16="http://schemas.microsoft.com/office/drawing/2014/main" id="{E25C6FF1-5855-4DB9-8170-9A0AA01885D9}"/>
              </a:ext>
            </a:extLst>
          </p:cNvPr>
          <p:cNvSpPr>
            <a:spLocks noGrp="1"/>
          </p:cNvSpPr>
          <p:nvPr/>
        </p:nvSpPr>
        <p:spPr>
          <a:xfrm>
            <a:off x="3905250" y="514350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BRAND VIEW</a:t>
            </a:r>
          </a:p>
        </p:txBody>
      </p:sp>
      <p:graphicFrame>
        <p:nvGraphicFramePr>
          <p:cNvPr id="32" name="TopChains"/>
          <p:cNvGraphicFramePr/>
          <p:nvPr/>
        </p:nvGraphicFramePr>
        <p:xfrm>
          <a:off x="323850" y="5429250"/>
          <a:ext cx="3333750" cy="2857498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FY26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FY27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Growth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D-Mart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2,600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4,232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63%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37%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Reliance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1,908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2,806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47%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Apollo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793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2,173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174%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19%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FSN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523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653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25%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Lulu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124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333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169%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Wellness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249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291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17%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BrandView"/>
          <p:cNvGraphicFramePr/>
          <p:nvPr/>
        </p:nvGraphicFramePr>
        <p:xfrm>
          <a:off x="3905250" y="5429250"/>
          <a:ext cx="3333750" cy="28575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FY26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Q1 FY27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Growth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6,142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8,254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34%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634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2,951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365%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169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196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16%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Other Brands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18%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LeadershipTakeaway">
            <a:extLst>
              <a:ext uri="{FF2B5EF4-FFF2-40B4-BE49-F238E27FC236}">
                <a16:creationId xmlns:a16="http://schemas.microsoft.com/office/drawing/2014/main" id="{7C1B4CF7-8009-44AD-9A24-BA82949B8222}"/>
              </a:ext>
            </a:extLst>
          </p:cNvPr>
          <p:cNvSpPr>
            <a:spLocks noGrp="1"/>
          </p:cNvSpPr>
          <p:nvPr/>
        </p:nvSpPr>
        <p:spPr>
          <a:xfrm>
            <a:off x="323850" y="8496300"/>
            <a:ext cx="6915150" cy="895350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200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Leadership takeaway: The Derma Co. contributed ₹29.5 Cr and 66% of Q1 growth; D-Mart, Reliance and Apollo delivered 81.8% of June offtake.</a:t>
            </a:r>
          </a:p>
        </p:txBody>
      </p:sp>
      <p:sp>
        <p:nvSpPr>
          <p:cNvPr id="15" name="SourceFooter">
            <a:extLst>
              <a:ext uri="{FF2B5EF4-FFF2-40B4-BE49-F238E27FC236}">
                <a16:creationId xmlns:a16="http://schemas.microsoft.com/office/drawing/2014/main" id="{EF69435F-9B9D-410C-93C2-14BB0C96BB75}"/>
              </a:ext>
            </a:extLst>
          </p:cNvPr>
          <p:cNvSpPr>
            <a:spLocks noGrp="1"/>
          </p:cNvSpPr>
          <p:nvPr/>
        </p:nvSpPr>
        <p:spPr>
          <a:xfrm>
            <a:off x="323850" y="10382250"/>
            <a:ext cx="581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MT offtake workbook | Q1 FY27 scorecard</a:t>
            </a:r>
          </a:p>
        </p:txBody>
      </p:sp>
      <p:sp>
        <p:nvSpPr>
          <p:cNvPr id="16" name="PageNum">
            <a:extLst>
              <a:ext uri="{FF2B5EF4-FFF2-40B4-BE49-F238E27FC236}">
                <a16:creationId xmlns:a16="http://schemas.microsoft.com/office/drawing/2014/main" id="{25FF261F-EC0F-4E98-B046-532B170E20E9}"/>
              </a:ext>
            </a:extLst>
          </p:cNvPr>
          <p:cNvSpPr>
            <a:spLocks noGrp="1"/>
          </p:cNvSpPr>
          <p:nvPr/>
        </p:nvSpPr>
        <p:spPr>
          <a:xfrm>
            <a:off x="6000750" y="103822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66284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eaderBand">
            <a:extLst>
              <a:ext uri="{FF2B5EF4-FFF2-40B4-BE49-F238E27FC236}">
                <a16:creationId xmlns:a16="http://schemas.microsoft.com/office/drawing/2014/main" id="{2424D3EC-839E-440B-BF3F-3D99DB368F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850" cy="45720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GROWTH IS BROAD-BASED ACROSS BRANDS AND ZONES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C2D71DE-4402-4F73-B312-71F5A33E9938}"/>
              </a:ext>
            </a:extLst>
          </p:cNvPr>
          <p:cNvSpPr>
            <a:spLocks noGrp="1"/>
          </p:cNvSpPr>
          <p:nvPr/>
        </p:nvSpPr>
        <p:spPr>
          <a:xfrm>
            <a:off x="323850" y="4762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June’26 offtake reached ₹38.24 Cr; every major zone remains above last year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63046C07-7055-4E2F-ABA3-3FC3D7E67D0E}"/>
              </a:ext>
            </a:extLst>
          </p:cNvPr>
          <p:cNvSpPr>
            <a:spLocks noGrp="1"/>
          </p:cNvSpPr>
          <p:nvPr/>
        </p:nvSpPr>
        <p:spPr>
          <a:xfrm>
            <a:off x="323850" y="752475"/>
            <a:ext cx="6915150" cy="190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KPI JUN’26 NSV">
            <a:extLst>
              <a:ext uri="{FF2B5EF4-FFF2-40B4-BE49-F238E27FC236}">
                <a16:creationId xmlns:a16="http://schemas.microsoft.com/office/drawing/2014/main" id="{0693945A-CC8A-426A-BB9F-B1D90942F471}"/>
              </a:ext>
            </a:extLst>
          </p:cNvPr>
          <p:cNvSpPr>
            <a:spLocks noGrp="1"/>
          </p:cNvSpPr>
          <p:nvPr/>
        </p:nvSpPr>
        <p:spPr>
          <a:xfrm>
            <a:off x="3238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JUN’26 NSV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₹ 38.24 Cr</a:t>
            </a:r>
          </a:p>
        </p:txBody>
      </p:sp>
      <p:sp>
        <p:nvSpPr>
          <p:cNvPr id="5" name="KPI MOM">
            <a:extLst>
              <a:ext uri="{FF2B5EF4-FFF2-40B4-BE49-F238E27FC236}">
                <a16:creationId xmlns:a16="http://schemas.microsoft.com/office/drawing/2014/main" id="{FACC8D01-7D6C-40B6-B136-D8662439C40B}"/>
              </a:ext>
            </a:extLst>
          </p:cNvPr>
          <p:cNvSpPr>
            <a:spLocks noGrp="1"/>
          </p:cNvSpPr>
          <p:nvPr/>
        </p:nvSpPr>
        <p:spPr>
          <a:xfrm>
            <a:off x="20764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D94F54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MOM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▼ 5%</a:t>
            </a:r>
          </a:p>
        </p:txBody>
      </p:sp>
      <p:sp>
        <p:nvSpPr>
          <p:cNvPr id="6" name="KPI GOLY">
            <a:extLst>
              <a:ext uri="{FF2B5EF4-FFF2-40B4-BE49-F238E27FC236}">
                <a16:creationId xmlns:a16="http://schemas.microsoft.com/office/drawing/2014/main" id="{C69BF746-D6C4-4D4D-A439-D7072B5E40B6}"/>
              </a:ext>
            </a:extLst>
          </p:cNvPr>
          <p:cNvSpPr>
            <a:spLocks noGrp="1"/>
          </p:cNvSpPr>
          <p:nvPr/>
        </p:nvSpPr>
        <p:spPr>
          <a:xfrm>
            <a:off x="38290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▲ 68%</a:t>
            </a:r>
          </a:p>
        </p:txBody>
      </p:sp>
      <p:sp>
        <p:nvSpPr>
          <p:cNvPr id="7" name="KPI L3M AVG">
            <a:extLst>
              <a:ext uri="{FF2B5EF4-FFF2-40B4-BE49-F238E27FC236}">
                <a16:creationId xmlns:a16="http://schemas.microsoft.com/office/drawing/2014/main" id="{CF130E2B-903B-46DB-895D-BD9DF6414A7D}"/>
              </a:ext>
            </a:extLst>
          </p:cNvPr>
          <p:cNvSpPr>
            <a:spLocks noGrp="1"/>
          </p:cNvSpPr>
          <p:nvPr/>
        </p:nvSpPr>
        <p:spPr>
          <a:xfrm>
            <a:off x="5581650" y="895350"/>
            <a:ext cx="16573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L3M AVG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₹ 36.16 Cr</a:t>
            </a:r>
          </a:p>
        </p:txBody>
      </p:sp>
      <p:sp>
        <p:nvSpPr>
          <p:cNvPr id="8" name="Section MONTHLY OFFTAKE TREND">
            <a:extLst>
              <a:ext uri="{FF2B5EF4-FFF2-40B4-BE49-F238E27FC236}">
                <a16:creationId xmlns:a16="http://schemas.microsoft.com/office/drawing/2014/main" id="{7B82ACE4-EA7A-4087-B06D-8824F99C9429}"/>
              </a:ext>
            </a:extLst>
          </p:cNvPr>
          <p:cNvSpPr>
            <a:spLocks noGrp="1"/>
          </p:cNvSpPr>
          <p:nvPr/>
        </p:nvSpPr>
        <p:spPr>
          <a:xfrm>
            <a:off x="323850" y="171450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MONTHLY OFFTAKE TREND</a:t>
            </a:r>
          </a:p>
        </p:txBody>
      </p:sp>
      <p:sp>
        <p:nvSpPr>
          <p:cNvPr id="9" name="Section JUN’26 ZONE NSV">
            <a:extLst>
              <a:ext uri="{FF2B5EF4-FFF2-40B4-BE49-F238E27FC236}">
                <a16:creationId xmlns:a16="http://schemas.microsoft.com/office/drawing/2014/main" id="{4EA84C67-DB34-4934-8699-3818D44ED12D}"/>
              </a:ext>
            </a:extLst>
          </p:cNvPr>
          <p:cNvSpPr>
            <a:spLocks noGrp="1"/>
          </p:cNvSpPr>
          <p:nvPr/>
        </p:nvSpPr>
        <p:spPr>
          <a:xfrm>
            <a:off x="3905250" y="171450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JUN’26 ZONE NSV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323850" y="2000250"/>
          <a:ext cx="33337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="3905250" y="2000250"/>
          <a:ext cx="33337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ection BRAND CONTRIBUTION">
            <a:extLst>
              <a:ext uri="{FF2B5EF4-FFF2-40B4-BE49-F238E27FC236}">
                <a16:creationId xmlns:a16="http://schemas.microsoft.com/office/drawing/2014/main" id="{DF53DE6D-288B-4535-84C5-D647CBCA731B}"/>
              </a:ext>
            </a:extLst>
          </p:cNvPr>
          <p:cNvSpPr>
            <a:spLocks noGrp="1"/>
          </p:cNvSpPr>
          <p:nvPr/>
        </p:nvSpPr>
        <p:spPr>
          <a:xfrm>
            <a:off x="323850" y="476250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BRAND CONTRIBUTION</a:t>
            </a:r>
          </a:p>
        </p:txBody>
      </p:sp>
      <p:sp>
        <p:nvSpPr>
          <p:cNvPr id="13" name="Section ZONE MIX AND GROWTH">
            <a:extLst>
              <a:ext uri="{FF2B5EF4-FFF2-40B4-BE49-F238E27FC236}">
                <a16:creationId xmlns:a16="http://schemas.microsoft.com/office/drawing/2014/main" id="{55E0E62B-0454-46A2-9E90-F50B6E45293A}"/>
              </a:ext>
            </a:extLst>
          </p:cNvPr>
          <p:cNvSpPr>
            <a:spLocks noGrp="1"/>
          </p:cNvSpPr>
          <p:nvPr/>
        </p:nvSpPr>
        <p:spPr>
          <a:xfrm>
            <a:off x="3905250" y="476250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ZONE MIX AND GROWTH</a:t>
            </a:r>
          </a:p>
        </p:txBody>
      </p:sp>
      <p:graphicFrame>
        <p:nvGraphicFramePr>
          <p:cNvPr id="37" name="BrandContribution"/>
          <p:cNvGraphicFramePr/>
          <p:nvPr/>
        </p:nvGraphicFramePr>
        <p:xfrm>
          <a:off x="323850" y="5048250"/>
          <a:ext cx="3333750" cy="2362200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Jun’26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MOM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2,757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3%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996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381%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9%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59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20%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17%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Emerging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44%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8%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" name="ZoneMix"/>
          <p:cNvGraphicFramePr/>
          <p:nvPr/>
        </p:nvGraphicFramePr>
        <p:xfrm>
          <a:off x="3905250" y="5048250"/>
          <a:ext cx="3333750" cy="2362199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Zone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Jun’26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Mix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MOM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West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985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67%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4%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North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860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22%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72%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10%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South-1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827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82%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South-2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548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14%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64%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East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387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72%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▼ 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FSN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217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32%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▲ 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KeyRead">
            <a:extLst>
              <a:ext uri="{FF2B5EF4-FFF2-40B4-BE49-F238E27FC236}">
                <a16:creationId xmlns:a16="http://schemas.microsoft.com/office/drawing/2014/main" id="{E6C40F75-D219-443D-9FF0-75D5574EE6F3}"/>
              </a:ext>
            </a:extLst>
          </p:cNvPr>
          <p:cNvSpPr>
            <a:spLocks noGrp="1"/>
          </p:cNvSpPr>
          <p:nvPr/>
        </p:nvSpPr>
        <p:spPr>
          <a:xfrm>
            <a:off x="323850" y="7696200"/>
            <a:ext cx="6915150" cy="819150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200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Key read: South-1 leads YoY growth at 82%; Mamaearth remains the scale engine while The Derma Co. is the fastest-growing brand.</a:t>
            </a:r>
          </a:p>
        </p:txBody>
      </p:sp>
      <p:sp>
        <p:nvSpPr>
          <p:cNvPr id="17" name="SourceFooter">
            <a:extLst>
              <a:ext uri="{FF2B5EF4-FFF2-40B4-BE49-F238E27FC236}">
                <a16:creationId xmlns:a16="http://schemas.microsoft.com/office/drawing/2014/main" id="{0766D4D8-8890-4F7F-A958-8E34CB0B7193}"/>
              </a:ext>
            </a:extLst>
          </p:cNvPr>
          <p:cNvSpPr>
            <a:spLocks noGrp="1"/>
          </p:cNvSpPr>
          <p:nvPr/>
        </p:nvSpPr>
        <p:spPr>
          <a:xfrm>
            <a:off x="323850" y="10382250"/>
            <a:ext cx="581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MT offtake workbook | Brand and zone performance</a:t>
            </a:r>
          </a:p>
        </p:txBody>
      </p:sp>
      <p:sp>
        <p:nvSpPr>
          <p:cNvPr id="18" name="PageNum">
            <a:extLst>
              <a:ext uri="{FF2B5EF4-FFF2-40B4-BE49-F238E27FC236}">
                <a16:creationId xmlns:a16="http://schemas.microsoft.com/office/drawing/2014/main" id="{0C9D06D1-5811-4EA7-A938-788C6544E16D}"/>
              </a:ext>
            </a:extLst>
          </p:cNvPr>
          <p:cNvSpPr>
            <a:spLocks noGrp="1"/>
          </p:cNvSpPr>
          <p:nvPr/>
        </p:nvSpPr>
        <p:spPr>
          <a:xfrm>
            <a:off x="6000750" y="103822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1747850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eaderBand">
            <a:extLst>
              <a:ext uri="{FF2B5EF4-FFF2-40B4-BE49-F238E27FC236}">
                <a16:creationId xmlns:a16="http://schemas.microsoft.com/office/drawing/2014/main" id="{9547B5EC-FBF1-4B00-B33B-1BE1A837D3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850" cy="45720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 SHARE MOMENTUM — FACEWASH &amp; SHAMPOO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CA956C6-85AA-4452-9B8B-7FA60162F12F}"/>
              </a:ext>
            </a:extLst>
          </p:cNvPr>
          <p:cNvSpPr>
            <a:spLocks noGrp="1"/>
          </p:cNvSpPr>
          <p:nvPr/>
        </p:nvSpPr>
        <p:spPr>
          <a:xfrm>
            <a:off x="323850" y="4762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Modern Trade | MAT Jun’26 | June performance and distribution health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063D3C6C-E3BE-417E-BB50-5AE024EF0C75}"/>
              </a:ext>
            </a:extLst>
          </p:cNvPr>
          <p:cNvSpPr>
            <a:spLocks noGrp="1"/>
          </p:cNvSpPr>
          <p:nvPr/>
        </p:nvSpPr>
        <p:spPr>
          <a:xfrm>
            <a:off x="323850" y="752475"/>
            <a:ext cx="6915150" cy="190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KPI FACEWASH SHARE">
            <a:extLst>
              <a:ext uri="{FF2B5EF4-FFF2-40B4-BE49-F238E27FC236}">
                <a16:creationId xmlns:a16="http://schemas.microsoft.com/office/drawing/2014/main" id="{6468DFAC-0817-4953-AE93-C859DAAA4696}"/>
              </a:ext>
            </a:extLst>
          </p:cNvPr>
          <p:cNvSpPr>
            <a:spLocks noGrp="1"/>
          </p:cNvSpPr>
          <p:nvPr/>
        </p:nvSpPr>
        <p:spPr>
          <a:xfrm>
            <a:off x="3238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FACEWASH SHARE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10.5% | +3.1pp</a:t>
            </a:r>
          </a:p>
        </p:txBody>
      </p:sp>
      <p:sp>
        <p:nvSpPr>
          <p:cNvPr id="5" name="KPI SHAMPOO SHARE">
            <a:extLst>
              <a:ext uri="{FF2B5EF4-FFF2-40B4-BE49-F238E27FC236}">
                <a16:creationId xmlns:a16="http://schemas.microsoft.com/office/drawing/2014/main" id="{B92DDD00-7987-4A87-AB0B-01A406BE68DB}"/>
              </a:ext>
            </a:extLst>
          </p:cNvPr>
          <p:cNvSpPr>
            <a:spLocks noGrp="1"/>
          </p:cNvSpPr>
          <p:nvPr/>
        </p:nvSpPr>
        <p:spPr>
          <a:xfrm>
            <a:off x="20764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SHAMPOO SHARE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3.7% | +1.2pp</a:t>
            </a:r>
          </a:p>
        </p:txBody>
      </p:sp>
      <p:sp>
        <p:nvSpPr>
          <p:cNvPr id="6" name="KPI FACEWASH WD">
            <a:extLst>
              <a:ext uri="{FF2B5EF4-FFF2-40B4-BE49-F238E27FC236}">
                <a16:creationId xmlns:a16="http://schemas.microsoft.com/office/drawing/2014/main" id="{F8ADA985-89C6-4052-AA52-087D961FE5D7}"/>
              </a:ext>
            </a:extLst>
          </p:cNvPr>
          <p:cNvSpPr>
            <a:spLocks noGrp="1"/>
          </p:cNvSpPr>
          <p:nvPr/>
        </p:nvSpPr>
        <p:spPr>
          <a:xfrm>
            <a:off x="3829050" y="895350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FACEWASH WD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89.0%</a:t>
            </a:r>
          </a:p>
        </p:txBody>
      </p:sp>
      <p:sp>
        <p:nvSpPr>
          <p:cNvPr id="7" name="KPI SHAMPOO WD">
            <a:extLst>
              <a:ext uri="{FF2B5EF4-FFF2-40B4-BE49-F238E27FC236}">
                <a16:creationId xmlns:a16="http://schemas.microsoft.com/office/drawing/2014/main" id="{A256652E-EDD3-4DED-9160-A11994838CAE}"/>
              </a:ext>
            </a:extLst>
          </p:cNvPr>
          <p:cNvSpPr>
            <a:spLocks noGrp="1"/>
          </p:cNvSpPr>
          <p:nvPr/>
        </p:nvSpPr>
        <p:spPr>
          <a:xfrm>
            <a:off x="5581650" y="895350"/>
            <a:ext cx="16573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EBAE0B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SHAMPOO WD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81.5%</a:t>
            </a:r>
          </a:p>
        </p:txBody>
      </p:sp>
      <p:sp>
        <p:nvSpPr>
          <p:cNvPr id="8" name="Section CATEGORY SCORECARD">
            <a:extLst>
              <a:ext uri="{FF2B5EF4-FFF2-40B4-BE49-F238E27FC236}">
                <a16:creationId xmlns:a16="http://schemas.microsoft.com/office/drawing/2014/main" id="{4C607ABE-2885-49A1-A670-66A0A01D5677}"/>
              </a:ext>
            </a:extLst>
          </p:cNvPr>
          <p:cNvSpPr>
            <a:spLocks noGrp="1"/>
          </p:cNvSpPr>
          <p:nvPr/>
        </p:nvSpPr>
        <p:spPr>
          <a:xfrm>
            <a:off x="323850" y="1733550"/>
            <a:ext cx="69151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SCORECARD</a:t>
            </a:r>
          </a:p>
        </p:txBody>
      </p:sp>
      <p:graphicFrame>
        <p:nvGraphicFramePr>
          <p:cNvPr id="26" name="CategoryScorecard"/>
          <p:cNvGraphicFramePr/>
          <p:nvPr/>
        </p:nvGraphicFramePr>
        <p:xfrm>
          <a:off x="323850" y="2038350"/>
          <a:ext cx="6915150" cy="2190752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Category / brand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 value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 YoY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value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YoY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share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WD L3M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 / Facewash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₹9.5 Cr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+58.3%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₹90.2 Cr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+55.2%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10.5%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89.0%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 / Facewash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+1,957%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₹3.1 Cr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+3,107%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0.4%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27.3%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 / Shampoo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₹6.2 Cr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+93.8%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₹63.5 Cr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+48.5%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3.7%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81.5%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ection WHAT CHANGED VS LAST YEAR">
            <a:extLst>
              <a:ext uri="{FF2B5EF4-FFF2-40B4-BE49-F238E27FC236}">
                <a16:creationId xmlns:a16="http://schemas.microsoft.com/office/drawing/2014/main" id="{4DF3469F-9F05-45A8-8982-96A0D30E7A58}"/>
              </a:ext>
            </a:extLst>
          </p:cNvPr>
          <p:cNvSpPr>
            <a:spLocks noGrp="1"/>
          </p:cNvSpPr>
          <p:nvPr/>
        </p:nvSpPr>
        <p:spPr>
          <a:xfrm>
            <a:off x="323850" y="4457700"/>
            <a:ext cx="69151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CHANGED VS LAST YEAR</a:t>
            </a:r>
          </a:p>
        </p:txBody>
      </p:sp>
      <p:graphicFrame>
        <p:nvGraphicFramePr>
          <p:cNvPr id="28" name="InsightTable"/>
          <p:cNvGraphicFramePr/>
          <p:nvPr/>
        </p:nvGraphicFramePr>
        <p:xfrm>
          <a:off x="323850" y="4762500"/>
          <a:ext cx="6915150" cy="28575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Signal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Implication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Modern Trade acceleration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FW volume +10.0% L3M; SH +15.6%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Both categories accelerated in June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Facewash share gain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+3.1pp share; WD reached 89%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Protect availability as reach scales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Shampoo scales ahead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Jun +93.8%; MAT +48.5%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Close distribution before broad spend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Derma Co. watch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0.4% share; WD 27.3%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Validate chain stock and phasing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PriorityAction">
            <a:extLst>
              <a:ext uri="{FF2B5EF4-FFF2-40B4-BE49-F238E27FC236}">
                <a16:creationId xmlns:a16="http://schemas.microsoft.com/office/drawing/2014/main" id="{681F03A1-D3D2-455B-8E0A-8B5F9F07449F}"/>
              </a:ext>
            </a:extLst>
          </p:cNvPr>
          <p:cNvSpPr>
            <a:spLocks noGrp="1"/>
          </p:cNvSpPr>
          <p:nvPr/>
        </p:nvSpPr>
        <p:spPr>
          <a:xfrm>
            <a:off x="323850" y="7924800"/>
            <a:ext cx="6915150" cy="819150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27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Priority action: Maintain fill-rate ≥95% and close chain-level listing gaps before increasing visibility investment.</a:t>
            </a:r>
          </a:p>
        </p:txBody>
      </p:sp>
      <p:sp>
        <p:nvSpPr>
          <p:cNvPr id="13" name="SourceFooter">
            <a:extLst>
              <a:ext uri="{FF2B5EF4-FFF2-40B4-BE49-F238E27FC236}">
                <a16:creationId xmlns:a16="http://schemas.microsoft.com/office/drawing/2014/main" id="{C762CDD2-9FBD-4A94-865C-5469F8D44CFA}"/>
              </a:ext>
            </a:extLst>
          </p:cNvPr>
          <p:cNvSpPr>
            <a:spLocks noGrp="1"/>
          </p:cNvSpPr>
          <p:nvPr/>
        </p:nvSpPr>
        <p:spPr>
          <a:xfrm>
            <a:off x="323850" y="10382250"/>
            <a:ext cx="581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MS insights.xlsx | MT Snapshot and Raw Data</a:t>
            </a:r>
          </a:p>
        </p:txBody>
      </p:sp>
      <p:sp>
        <p:nvSpPr>
          <p:cNvPr id="14" name="PageNum">
            <a:extLst>
              <a:ext uri="{FF2B5EF4-FFF2-40B4-BE49-F238E27FC236}">
                <a16:creationId xmlns:a16="http://schemas.microsoft.com/office/drawing/2014/main" id="{22D49143-9D01-46A6-B8BC-08D031497882}"/>
              </a:ext>
            </a:extLst>
          </p:cNvPr>
          <p:cNvSpPr>
            <a:spLocks noGrp="1"/>
          </p:cNvSpPr>
          <p:nvPr/>
        </p:nvSpPr>
        <p:spPr>
          <a:xfrm>
            <a:off x="6000750" y="103822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178991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eaderBand">
            <a:extLst>
              <a:ext uri="{FF2B5EF4-FFF2-40B4-BE49-F238E27FC236}">
                <a16:creationId xmlns:a16="http://schemas.microsoft.com/office/drawing/2014/main" id="{3A790909-113D-43F2-866E-5EB06DDCA1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850" cy="45720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OPPORTUNITY — PROTECT FACEWASH, SCALE SHAMPOO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928894B-5B4A-4BE3-9251-602C5E3F4413}"/>
              </a:ext>
            </a:extLst>
          </p:cNvPr>
          <p:cNvSpPr>
            <a:spLocks noGrp="1"/>
          </p:cNvSpPr>
          <p:nvPr/>
        </p:nvSpPr>
        <p:spPr>
          <a:xfrm>
            <a:off x="323850" y="4762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Competitive position, distribution gaps and pack demand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7A90266D-D74D-45AF-89D2-B8E584B42A04}"/>
              </a:ext>
            </a:extLst>
          </p:cNvPr>
          <p:cNvSpPr>
            <a:spLocks noGrp="1"/>
          </p:cNvSpPr>
          <p:nvPr/>
        </p:nvSpPr>
        <p:spPr>
          <a:xfrm>
            <a:off x="323850" y="752475"/>
            <a:ext cx="6915150" cy="190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ection FACEWASH LEADERBOARD">
            <a:extLst>
              <a:ext uri="{FF2B5EF4-FFF2-40B4-BE49-F238E27FC236}">
                <a16:creationId xmlns:a16="http://schemas.microsoft.com/office/drawing/2014/main" id="{AB4DF05F-DFA6-4AF2-8FAA-52AA3F61FE78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FACEWASH LEADERBOARD</a:t>
            </a:r>
          </a:p>
        </p:txBody>
      </p:sp>
      <p:sp>
        <p:nvSpPr>
          <p:cNvPr id="5" name="Section SHAMPOO LEADERBOARD">
            <a:extLst>
              <a:ext uri="{FF2B5EF4-FFF2-40B4-BE49-F238E27FC236}">
                <a16:creationId xmlns:a16="http://schemas.microsoft.com/office/drawing/2014/main" id="{73B1D69E-7FB5-4ADA-9968-01E7DBFD0C60}"/>
              </a:ext>
            </a:extLst>
          </p:cNvPr>
          <p:cNvSpPr>
            <a:spLocks noGrp="1"/>
          </p:cNvSpPr>
          <p:nvPr/>
        </p:nvSpPr>
        <p:spPr>
          <a:xfrm>
            <a:off x="3905250" y="93345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SHAMPOO LEADERBOARD</a:t>
            </a:r>
          </a:p>
        </p:txBody>
      </p:sp>
      <p:graphicFrame>
        <p:nvGraphicFramePr>
          <p:cNvPr id="25" name="FacewashLeaderboard"/>
          <p:cNvGraphicFramePr/>
          <p:nvPr/>
        </p:nvGraphicFramePr>
        <p:xfrm>
          <a:off x="323850" y="1238250"/>
          <a:ext cx="3333750" cy="2857498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YoY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Himalaya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22.6%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+2.8%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Garnier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14.2%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+8.4%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90.3%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Pond’s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13.8%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+3.7%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98.8%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10.5%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+55.2%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89.0%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Clean &amp; Clear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7.5%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+12.8%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98.3%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0.4%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+3,107%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27.3%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6" name="ShampooLeaderboard"/>
          <p:cNvGraphicFramePr/>
          <p:nvPr/>
        </p:nvGraphicFramePr>
        <p:xfrm>
          <a:off x="3905250" y="1238250"/>
          <a:ext cx="3333750" cy="2857498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 YoY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Dove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16.6%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−4.8%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99.7%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Head &amp; Shoulders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13.0%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−4.7%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L’Oréal Paris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12.8%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+22.6%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91.6%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Sunsilk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9.6%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−12.6%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99.4%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Clinic Plus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9.6%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+1.0%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99.4%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3.7%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+48.5%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81.5%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ection SHAMPOO PACK DEMAND">
            <a:extLst>
              <a:ext uri="{FF2B5EF4-FFF2-40B4-BE49-F238E27FC236}">
                <a16:creationId xmlns:a16="http://schemas.microsoft.com/office/drawing/2014/main" id="{96348787-85CD-4BC6-806C-0540639B6373}"/>
              </a:ext>
            </a:extLst>
          </p:cNvPr>
          <p:cNvSpPr>
            <a:spLocks noGrp="1"/>
          </p:cNvSpPr>
          <p:nvPr/>
        </p:nvSpPr>
        <p:spPr>
          <a:xfrm>
            <a:off x="323850" y="436245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SHAMPOO PACK DEMAND</a:t>
            </a:r>
          </a:p>
        </p:txBody>
      </p:sp>
      <p:sp>
        <p:nvSpPr>
          <p:cNvPr id="9" name="Section EXECUTION PRIORITIES">
            <a:extLst>
              <a:ext uri="{FF2B5EF4-FFF2-40B4-BE49-F238E27FC236}">
                <a16:creationId xmlns:a16="http://schemas.microsoft.com/office/drawing/2014/main" id="{2EC34D35-EBBA-400D-AAFB-1F9B3E837D3B}"/>
              </a:ext>
            </a:extLst>
          </p:cNvPr>
          <p:cNvSpPr>
            <a:spLocks noGrp="1"/>
          </p:cNvSpPr>
          <p:nvPr/>
        </p:nvSpPr>
        <p:spPr>
          <a:xfrm>
            <a:off x="3905250" y="4362450"/>
            <a:ext cx="33337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EXECUTION PRIORITIES</a:t>
            </a:r>
          </a:p>
        </p:txBody>
      </p:sp>
      <p:graphicFrame>
        <p:nvGraphicFramePr>
          <p:cNvPr id="29" name="PackDemand"/>
          <p:cNvGraphicFramePr/>
          <p:nvPr/>
        </p:nvGraphicFramePr>
        <p:xfrm>
          <a:off x="323850" y="4667250"/>
          <a:ext cx="3333750" cy="228600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Pack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 value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Share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650ml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₹41.4 Cr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32.0%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Largest pool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180ml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₹22.2 Cr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17.2%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Mainstream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340ml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₹22.2 Cr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17.2%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Mainstream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1000ml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₹20.1 Cr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15.5%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Large pack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" name="ExecutionPriorities"/>
          <p:cNvGraphicFramePr/>
          <p:nvPr/>
        </p:nvGraphicFramePr>
        <p:xfrm>
          <a:off x="3905250" y="4667250"/>
          <a:ext cx="3333750" cy="2286000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Move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Distribution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SH WD 81.5%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Close high-velocity gaps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Availability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Stores +15%; value +81%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Maintain fill-rate ≥95%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Pack range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650/180/340/1000 lead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Audit listings by chain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Velocity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PDO +57% L3M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Protect shelf depth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CategoryDecision">
            <a:extLst>
              <a:ext uri="{FF2B5EF4-FFF2-40B4-BE49-F238E27FC236}">
                <a16:creationId xmlns:a16="http://schemas.microsoft.com/office/drawing/2014/main" id="{6D38C060-F2E4-48A7-A8EC-8A9224C831BD}"/>
              </a:ext>
            </a:extLst>
          </p:cNvPr>
          <p:cNvSpPr>
            <a:spLocks noGrp="1"/>
          </p:cNvSpPr>
          <p:nvPr/>
        </p:nvSpPr>
        <p:spPr>
          <a:xfrm>
            <a:off x="323850" y="7296150"/>
            <a:ext cx="6915150" cy="876300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27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Decision: Protect the facewash growth flywheel while expanding shampoo only where distribution, fill-rate and pack demand are proven.</a:t>
            </a:r>
          </a:p>
        </p:txBody>
      </p:sp>
      <p:sp>
        <p:nvSpPr>
          <p:cNvPr id="13" name="SourceFooter">
            <a:extLst>
              <a:ext uri="{FF2B5EF4-FFF2-40B4-BE49-F238E27FC236}">
                <a16:creationId xmlns:a16="http://schemas.microsoft.com/office/drawing/2014/main" id="{554C75EC-321A-45E3-A3EF-EADBD7635790}"/>
              </a:ext>
            </a:extLst>
          </p:cNvPr>
          <p:cNvSpPr>
            <a:spLocks noGrp="1"/>
          </p:cNvSpPr>
          <p:nvPr/>
        </p:nvSpPr>
        <p:spPr>
          <a:xfrm>
            <a:off x="323850" y="10382250"/>
            <a:ext cx="581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MS insights.xlsx | Facewash, Shampoo and Pack Mix</a:t>
            </a:r>
          </a:p>
        </p:txBody>
      </p:sp>
      <p:sp>
        <p:nvSpPr>
          <p:cNvPr id="14" name="PageNum">
            <a:extLst>
              <a:ext uri="{FF2B5EF4-FFF2-40B4-BE49-F238E27FC236}">
                <a16:creationId xmlns:a16="http://schemas.microsoft.com/office/drawing/2014/main" id="{159B0E51-208B-4793-AB9E-2FDBC9EE9A2D}"/>
              </a:ext>
            </a:extLst>
          </p:cNvPr>
          <p:cNvSpPr>
            <a:spLocks noGrp="1"/>
          </p:cNvSpPr>
          <p:nvPr/>
        </p:nvSpPr>
        <p:spPr>
          <a:xfrm>
            <a:off x="6000750" y="103822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47647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aderBand">
            <a:extLst>
              <a:ext uri="{FF2B5EF4-FFF2-40B4-BE49-F238E27FC236}">
                <a16:creationId xmlns:a16="http://schemas.microsoft.com/office/drawing/2014/main" id="{CC91AF43-3F91-45BC-94C9-9B83618BE1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850" cy="45720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90-DAY ACTION PLAN — OWNERS, INPUTS AND REVIEW CADENCE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D5B9F5E-B9A2-4D06-B83A-DE931DF47C3E}"/>
              </a:ext>
            </a:extLst>
          </p:cNvPr>
          <p:cNvSpPr>
            <a:spLocks noGrp="1"/>
          </p:cNvSpPr>
          <p:nvPr/>
        </p:nvSpPr>
        <p:spPr>
          <a:xfrm>
            <a:off x="323850" y="476250"/>
            <a:ext cx="691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13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Convert share momentum into measurable distribution and productivity gains</a:t>
            </a:r>
          </a:p>
        </p:txBody>
      </p:sp>
      <p:sp>
        <p:nvSpPr>
          <p:cNvPr id="3" name="HeaderRule">
            <a:extLst>
              <a:ext uri="{FF2B5EF4-FFF2-40B4-BE49-F238E27FC236}">
                <a16:creationId xmlns:a16="http://schemas.microsoft.com/office/drawing/2014/main" id="{2F57129A-DFDA-4E98-BE9A-D00D67A58A96}"/>
              </a:ext>
            </a:extLst>
          </p:cNvPr>
          <p:cNvSpPr>
            <a:spLocks noGrp="1"/>
          </p:cNvSpPr>
          <p:nvPr/>
        </p:nvSpPr>
        <p:spPr>
          <a:xfrm>
            <a:off x="323850" y="752475"/>
            <a:ext cx="6915150" cy="190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ection IMMEDIATE PRIORITIES">
            <a:extLst>
              <a:ext uri="{FF2B5EF4-FFF2-40B4-BE49-F238E27FC236}">
                <a16:creationId xmlns:a16="http://schemas.microsoft.com/office/drawing/2014/main" id="{F76B0186-6925-40E6-919F-2D0049BE60A8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69151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IMMEDIATE PRIORITIES</a:t>
            </a:r>
          </a:p>
        </p:txBody>
      </p:sp>
      <p:graphicFrame>
        <p:nvGraphicFramePr>
          <p:cNvPr id="24" name="ImmediatePriorities"/>
          <p:cNvGraphicFramePr/>
          <p:nvPr/>
        </p:nvGraphicFramePr>
        <p:xfrm>
          <a:off x="323850" y="1238250"/>
          <a:ext cx="6915150" cy="3143252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Priority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KPI / target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Timing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First next step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Close shampoo WD gaps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WD toward 90%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NKAM / Sales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Sep’26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Map chain-level gaps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Align shampoo pack range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650/180/340/1000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RKAM / Category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Sep’26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Compare brand vs category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Protect MT availability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Fill-rate ≥95%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NKAM / Supply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Ongoing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Weekly SKU review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Sustain FW productivity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PDO above category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Trade Marketing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Ongoing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Protect shelf visibility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Resolve TDC softness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Validate stock/phasing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Sales Analytics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Aug’26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Review chain movement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0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Scale winning listings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Incremental ROS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Brand / Sales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Q2 FY27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Prioritise high-velocity chains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ection INPUTS REQUIRED TO CLOSE THE DIAGNOSIS">
            <a:extLst>
              <a:ext uri="{FF2B5EF4-FFF2-40B4-BE49-F238E27FC236}">
                <a16:creationId xmlns:a16="http://schemas.microsoft.com/office/drawing/2014/main" id="{F190FE44-6F19-4BAB-A7BE-1BEFF3FCD979}"/>
              </a:ext>
            </a:extLst>
          </p:cNvPr>
          <p:cNvSpPr>
            <a:spLocks noGrp="1"/>
          </p:cNvSpPr>
          <p:nvPr/>
        </p:nvSpPr>
        <p:spPr>
          <a:xfrm>
            <a:off x="323850" y="4629150"/>
            <a:ext cx="69151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INPUTS REQUIRED TO CLOSE THE DIAGNOSIS</a:t>
            </a:r>
          </a:p>
        </p:txBody>
      </p:sp>
      <p:graphicFrame>
        <p:nvGraphicFramePr>
          <p:cNvPr id="26" name="InputsRequired"/>
          <p:cNvGraphicFramePr/>
          <p:nvPr/>
        </p:nvGraphicFramePr>
        <p:xfrm>
          <a:off x="323850" y="4933950"/>
          <a:ext cx="6915150" cy="26670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 needed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Decision enabled</a:t>
                      </a:r>
                    </a:p>
                  </a:txBody>
                  <a:tcPr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Chain × SKU listing / delisting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Separates assortment gaps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RKAM / Key Accounts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Priority-pack plan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Store OOS and fill-rate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Tests availability risk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Supply / Sales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Service intervention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SKU ROS / PDO by chain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Separates velocity from reach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Sales Analytics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Visibility priority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Pack sales by brand / chain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Connects demand to listings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Sales Analytics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Range expansion</a:t>
                      </a:r>
                    </a:p>
                  </a:txBody>
                  <a:tcPr anchor="ctr"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13" b="1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Inventory and phasing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Tests trade loading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Supply / NKAM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13" b="0">
                          <a:solidFill>
                            <a:srgbClr val="183F50"/>
                          </a:solidFill>
                          <a:latin typeface="Calibri"/>
                          <a:ea typeface="Calibri"/>
                          <a:cs typeface="Calibri"/>
                        </a:rPr>
                        <a:t>Stock correction</a:t>
                      </a:r>
                    </a:p>
                  </a:txBody>
                  <a:tcPr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ection SUCCESS MEASURES">
            <a:extLst>
              <a:ext uri="{FF2B5EF4-FFF2-40B4-BE49-F238E27FC236}">
                <a16:creationId xmlns:a16="http://schemas.microsoft.com/office/drawing/2014/main" id="{E0216725-5C44-4A74-BD8F-2CC0B63697BE}"/>
              </a:ext>
            </a:extLst>
          </p:cNvPr>
          <p:cNvSpPr>
            <a:spLocks noGrp="1"/>
          </p:cNvSpPr>
          <p:nvPr/>
        </p:nvSpPr>
        <p:spPr>
          <a:xfrm>
            <a:off x="323850" y="7848600"/>
            <a:ext cx="6915150" cy="247650"/>
          </a:xfrm>
          <a:prstGeom prst="rect">
            <a:avLst/>
          </a:prstGeom>
          <a:solidFill>
            <a:srgbClr val="2D9B7F"/>
          </a:solidFill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SUCCESS MEASURES</a:t>
            </a:r>
          </a:p>
        </p:txBody>
      </p:sp>
      <p:sp>
        <p:nvSpPr>
          <p:cNvPr id="9" name="KPI DISTRIBUTION">
            <a:extLst>
              <a:ext uri="{FF2B5EF4-FFF2-40B4-BE49-F238E27FC236}">
                <a16:creationId xmlns:a16="http://schemas.microsoft.com/office/drawing/2014/main" id="{1030926A-2B7F-4BDF-8A37-4694D083FD62}"/>
              </a:ext>
            </a:extLst>
          </p:cNvPr>
          <p:cNvSpPr>
            <a:spLocks noGrp="1"/>
          </p:cNvSpPr>
          <p:nvPr/>
        </p:nvSpPr>
        <p:spPr>
          <a:xfrm>
            <a:off x="323850" y="8172450"/>
            <a:ext cx="12763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DISTRIBUTION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SH WD &gt;90%</a:t>
            </a:r>
          </a:p>
        </p:txBody>
      </p:sp>
      <p:sp>
        <p:nvSpPr>
          <p:cNvPr id="10" name="KPI AVAILABILITY">
            <a:extLst>
              <a:ext uri="{FF2B5EF4-FFF2-40B4-BE49-F238E27FC236}">
                <a16:creationId xmlns:a16="http://schemas.microsoft.com/office/drawing/2014/main" id="{13039CEC-20FD-4213-A352-82F345732B32}"/>
              </a:ext>
            </a:extLst>
          </p:cNvPr>
          <p:cNvSpPr>
            <a:spLocks noGrp="1"/>
          </p:cNvSpPr>
          <p:nvPr/>
        </p:nvSpPr>
        <p:spPr>
          <a:xfrm>
            <a:off x="1714500" y="8172450"/>
            <a:ext cx="12763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AVAILABILITY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Fill-rate ≥95%</a:t>
            </a:r>
          </a:p>
        </p:txBody>
      </p:sp>
      <p:sp>
        <p:nvSpPr>
          <p:cNvPr id="11" name="KPI PRODUCTIVITY">
            <a:extLst>
              <a:ext uri="{FF2B5EF4-FFF2-40B4-BE49-F238E27FC236}">
                <a16:creationId xmlns:a16="http://schemas.microsoft.com/office/drawing/2014/main" id="{CE710886-4896-42FB-8029-EDEF1097585D}"/>
              </a:ext>
            </a:extLst>
          </p:cNvPr>
          <p:cNvSpPr>
            <a:spLocks noGrp="1"/>
          </p:cNvSpPr>
          <p:nvPr/>
        </p:nvSpPr>
        <p:spPr>
          <a:xfrm>
            <a:off x="3105150" y="8172450"/>
            <a:ext cx="12763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PRODUCTIVITY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PDO positive</a:t>
            </a:r>
          </a:p>
        </p:txBody>
      </p:sp>
      <p:sp>
        <p:nvSpPr>
          <p:cNvPr id="12" name="KPI MIX">
            <a:extLst>
              <a:ext uri="{FF2B5EF4-FFF2-40B4-BE49-F238E27FC236}">
                <a16:creationId xmlns:a16="http://schemas.microsoft.com/office/drawing/2014/main" id="{5CFBEE0C-72C1-48E2-9DF8-8036CC887F43}"/>
              </a:ext>
            </a:extLst>
          </p:cNvPr>
          <p:cNvSpPr>
            <a:spLocks noGrp="1"/>
          </p:cNvSpPr>
          <p:nvPr/>
        </p:nvSpPr>
        <p:spPr>
          <a:xfrm>
            <a:off x="4495800" y="8172450"/>
            <a:ext cx="12763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D9B7F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MIX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Priority packs listed</a:t>
            </a:r>
          </a:p>
        </p:txBody>
      </p:sp>
      <p:sp>
        <p:nvSpPr>
          <p:cNvPr id="13" name="KPI SHARE">
            <a:extLst>
              <a:ext uri="{FF2B5EF4-FFF2-40B4-BE49-F238E27FC236}">
                <a16:creationId xmlns:a16="http://schemas.microsoft.com/office/drawing/2014/main" id="{DE45BF83-CE45-4BBF-855A-A0B907883887}"/>
              </a:ext>
            </a:extLst>
          </p:cNvPr>
          <p:cNvSpPr>
            <a:spLocks noGrp="1"/>
          </p:cNvSpPr>
          <p:nvPr/>
        </p:nvSpPr>
        <p:spPr>
          <a:xfrm>
            <a:off x="5886450" y="8172450"/>
            <a:ext cx="12763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EBAE0B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SHARE</a:t>
            </a:r>
          </a:p>
          <a:p>
            <a:pPr algn="ctr">
              <a:buNone/>
              <a:defRPr sz="1125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FW + SH gains hold</a:t>
            </a:r>
          </a:p>
        </p:txBody>
      </p:sp>
      <p:sp>
        <p:nvSpPr>
          <p:cNvPr id="14" name="LeadershipDecisions">
            <a:extLst>
              <a:ext uri="{FF2B5EF4-FFF2-40B4-BE49-F238E27FC236}">
                <a16:creationId xmlns:a16="http://schemas.microsoft.com/office/drawing/2014/main" id="{DD8AFF0C-2083-4480-B7C9-DDCA3F0D046F}"/>
              </a:ext>
            </a:extLst>
          </p:cNvPr>
          <p:cNvSpPr>
            <a:spLocks noGrp="1"/>
          </p:cNvSpPr>
          <p:nvPr/>
        </p:nvSpPr>
        <p:spPr>
          <a:xfrm>
            <a:off x="323850" y="9067800"/>
            <a:ext cx="6915150" cy="781050"/>
          </a:xfrm>
          <a:prstGeom prst="rect">
            <a:avLst/>
          </a:prstGeom>
          <a:solidFill>
            <a:srgbClr val="FFF4D6"/>
          </a:solidFill>
          <a:ln w="9525">
            <a:solidFill>
              <a:srgbClr val="EBAE0B"/>
            </a:solidFill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1238" b="1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1238" b="1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Leadership decisions: confirm availability investment, approve chain/pack priorities, and assign one accountable owner per KPI.</a:t>
            </a:r>
          </a:p>
        </p:txBody>
      </p:sp>
      <p:sp>
        <p:nvSpPr>
          <p:cNvPr id="15" name="SourceFooter">
            <a:extLst>
              <a:ext uri="{FF2B5EF4-FFF2-40B4-BE49-F238E27FC236}">
                <a16:creationId xmlns:a16="http://schemas.microsoft.com/office/drawing/2014/main" id="{DA09E571-4D21-4338-A7F9-9D07C00591CC}"/>
              </a:ext>
            </a:extLst>
          </p:cNvPr>
          <p:cNvSpPr>
            <a:spLocks noGrp="1"/>
          </p:cNvSpPr>
          <p:nvPr/>
        </p:nvSpPr>
        <p:spPr>
          <a:xfrm>
            <a:off x="323850" y="10382250"/>
            <a:ext cx="581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l">
              <a:buNone/>
              <a:defRPr sz="638" b="0">
                <a:solidFill>
                  <a:srgbClr val="5F6C70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5F6C70"/>
                </a:solidFill>
                <a:latin typeface="Calibri"/>
                <a:ea typeface="Calibri"/>
                <a:cs typeface="Calibri"/>
              </a:rPr>
              <a:t>Source: MS insights.xlsx | Action tracker and input-gap review</a:t>
            </a:r>
          </a:p>
        </p:txBody>
      </p:sp>
      <p:sp>
        <p:nvSpPr>
          <p:cNvPr id="16" name="PageNum">
            <a:extLst>
              <a:ext uri="{FF2B5EF4-FFF2-40B4-BE49-F238E27FC236}">
                <a16:creationId xmlns:a16="http://schemas.microsoft.com/office/drawing/2014/main" id="{E49F601D-FD78-49A5-A6F6-9653D750B3E5}"/>
              </a:ext>
            </a:extLst>
          </p:cNvPr>
          <p:cNvSpPr>
            <a:spLocks noGrp="1"/>
          </p:cNvSpPr>
          <p:nvPr/>
        </p:nvSpPr>
        <p:spPr>
          <a:xfrm>
            <a:off x="6000750" y="103822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76200" tIns="38100" rIns="76200" bIns="38100" anchor="ctr"/>
          <a:lstStyle/>
          <a:p>
            <a:pPr algn="ctr">
              <a:buNone/>
              <a:defRPr sz="675" b="0">
                <a:solidFill>
                  <a:srgbClr val="183F50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183F50"/>
                </a:solidFill>
                <a:latin typeface="Calibri"/>
                <a:ea typeface="Calibri"/>
                <a:cs typeface="Calibri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40150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6" name="Table 34"/>
          <p:cNvGraphicFramePr/>
          <p:nvPr/>
        </p:nvGraphicFramePr>
        <p:xfrm>
          <a:off x="212760" y="82800"/>
          <a:ext cx="7015680" cy="254160"/>
        </p:xfrm>
        <a:graphic>
          <a:graphicData uri="http://schemas.openxmlformats.org/drawingml/2006/table">
            <a:tbl>
              <a:tblPr/>
              <a:tblGrid>
                <a:gridCol w="701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EAST ZONE PERFORMANCE</a:t>
                      </a:r>
                    </a:p>
                  </a:txBody>
                  <a:tcPr marL="65520" marR="65520" marT="0" marB="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3" name="Graphic 251">
            <a:extLst>
              <a:ext uri="{FF2B5EF4-FFF2-40B4-BE49-F238E27FC236}">
                <a16:creationId xmlns:a16="http://schemas.microsoft.com/office/drawing/2014/main" id="{D89CFEEA-4B31-4FB6-B2B6-2D7551491062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254" name="Graphic 252">
            <a:extLst>
              <a:ext uri="{FF2B5EF4-FFF2-40B4-BE49-F238E27FC236}">
                <a16:creationId xmlns:a16="http://schemas.microsoft.com/office/drawing/2014/main" id="{8EAD72CA-9258-4ED3-A81A-7C1ACCA029EB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255" name="Textbox 253">
            <a:extLst>
              <a:ext uri="{FF2B5EF4-FFF2-40B4-BE49-F238E27FC236}">
                <a16:creationId xmlns:a16="http://schemas.microsoft.com/office/drawing/2014/main" id="{FC53C451-7E1D-49CC-874D-788B2867B11F}"/>
              </a:ext>
            </a:extLst>
          </p:cNvPr>
          <p:cNvSpPr>
            <a:spLocks noGrp="1"/>
          </p:cNvSpPr>
          <p:nvPr/>
        </p:nvSpPr>
        <p:spPr>
          <a:xfrm>
            <a:off x="2127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Jun-26 Sales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387</a:t>
            </a:r>
          </a:p>
        </p:txBody>
      </p:sp>
      <p:sp>
        <p:nvSpPr>
          <p:cNvPr id="256" name="Graphic 255">
            <a:extLst>
              <a:ext uri="{FF2B5EF4-FFF2-40B4-BE49-F238E27FC236}">
                <a16:creationId xmlns:a16="http://schemas.microsoft.com/office/drawing/2014/main" id="{F0C71593-418C-4DAD-8612-65C3D2810A36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257" name="Graphic 256">
            <a:extLst>
              <a:ext uri="{FF2B5EF4-FFF2-40B4-BE49-F238E27FC236}">
                <a16:creationId xmlns:a16="http://schemas.microsoft.com/office/drawing/2014/main" id="{8A7876E1-16D9-4B46-8AF0-C363A04541CD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88D6336C-90F8-4AE8-9B01-D676E9EDEC9E}"/>
              </a:ext>
            </a:extLst>
          </p:cNvPr>
          <p:cNvSpPr>
            <a:spLocks noGrp="1"/>
          </p:cNvSpPr>
          <p:nvPr/>
        </p:nvSpPr>
        <p:spPr>
          <a:xfrm>
            <a:off x="198792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Share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10.1%</a:t>
            </a:r>
          </a:p>
        </p:txBody>
      </p:sp>
      <p:sp>
        <p:nvSpPr>
          <p:cNvPr id="259" name="Graphic 259">
            <a:extLst>
              <a:ext uri="{FF2B5EF4-FFF2-40B4-BE49-F238E27FC236}">
                <a16:creationId xmlns:a16="http://schemas.microsoft.com/office/drawing/2014/main" id="{95D3A84A-F133-49AA-BDE3-8999EA667EDD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260" name="Graphic 260">
            <a:extLst>
              <a:ext uri="{FF2B5EF4-FFF2-40B4-BE49-F238E27FC236}">
                <a16:creationId xmlns:a16="http://schemas.microsoft.com/office/drawing/2014/main" id="{B10B0744-391E-49AA-AE13-DC1C880108E6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261" name="Textbox 261">
            <a:extLst>
              <a:ext uri="{FF2B5EF4-FFF2-40B4-BE49-F238E27FC236}">
                <a16:creationId xmlns:a16="http://schemas.microsoft.com/office/drawing/2014/main" id="{BA5CA694-D6AF-4448-BD76-1526D4653A96}"/>
              </a:ext>
            </a:extLst>
          </p:cNvPr>
          <p:cNvSpPr>
            <a:spLocks noGrp="1"/>
          </p:cNvSpPr>
          <p:nvPr/>
        </p:nvSpPr>
        <p:spPr>
          <a:xfrm>
            <a:off x="3763440" y="40932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L3M Avg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366</a:t>
            </a:r>
          </a:p>
        </p:txBody>
      </p:sp>
      <p:sp>
        <p:nvSpPr>
          <p:cNvPr id="262" name="Graphic 263">
            <a:extLst>
              <a:ext uri="{FF2B5EF4-FFF2-40B4-BE49-F238E27FC236}">
                <a16:creationId xmlns:a16="http://schemas.microsoft.com/office/drawing/2014/main" id="{C14C4DF9-A10D-442C-90BD-66267338CCEC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263" name="Graphic 264">
            <a:extLst>
              <a:ext uri="{FF2B5EF4-FFF2-40B4-BE49-F238E27FC236}">
                <a16:creationId xmlns:a16="http://schemas.microsoft.com/office/drawing/2014/main" id="{9218BA51-0D60-45F9-B8CA-C9B01998870A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264" name="Textbox 265">
            <a:extLst>
              <a:ext uri="{FF2B5EF4-FFF2-40B4-BE49-F238E27FC236}">
                <a16:creationId xmlns:a16="http://schemas.microsoft.com/office/drawing/2014/main" id="{B3B59BF0-1D4A-4EDD-B966-59D244737568}"/>
              </a:ext>
            </a:extLst>
          </p:cNvPr>
          <p:cNvSpPr>
            <a:spLocks noGrp="1"/>
          </p:cNvSpPr>
          <p:nvPr/>
        </p:nvSpPr>
        <p:spPr>
          <a:xfrm>
            <a:off x="55389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GOLY Jun</a:t>
            </a:r>
          </a:p>
          <a:p>
            <a:pPr marL="17640" algn="ctr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6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72%</a:t>
            </a:r>
          </a:p>
        </p:txBody>
      </p:sp>
      <p:sp>
        <p:nvSpPr>
          <p:cNvPr id="265" name="Rectangle 48">
            <a:extLst>
              <a:ext uri="{FF2B5EF4-FFF2-40B4-BE49-F238E27FC236}">
                <a16:creationId xmlns:a16="http://schemas.microsoft.com/office/drawing/2014/main" id="{EC63637D-BB5E-4773-A923-D9AC110716FE}"/>
              </a:ext>
            </a:extLst>
          </p:cNvPr>
          <p:cNvSpPr>
            <a:spLocks noGrp="1"/>
          </p:cNvSpPr>
          <p:nvPr/>
        </p:nvSpPr>
        <p:spPr>
          <a:xfrm>
            <a:off x="288720" y="427680"/>
            <a:ext cx="184320" cy="46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endParaRPr/>
          </a:p>
        </p:txBody>
      </p:sp>
      <p:sp>
        <p:nvSpPr>
          <p:cNvPr id="266" name="Rectangle 50">
            <a:extLst>
              <a:ext uri="{FF2B5EF4-FFF2-40B4-BE49-F238E27FC236}">
                <a16:creationId xmlns:a16="http://schemas.microsoft.com/office/drawing/2014/main" id="{E3B3ECDD-545C-4717-A11B-F332555BDF82}"/>
              </a:ext>
            </a:extLst>
          </p:cNvPr>
          <p:cNvSpPr>
            <a:spLocks noGrp="1"/>
          </p:cNvSpPr>
          <p:nvPr/>
        </p:nvSpPr>
        <p:spPr>
          <a:xfrm>
            <a:off x="212760" y="54338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67" name="Rectangle 52">
            <a:extLst>
              <a:ext uri="{FF2B5EF4-FFF2-40B4-BE49-F238E27FC236}">
                <a16:creationId xmlns:a16="http://schemas.microsoft.com/office/drawing/2014/main" id="{EFDBC1C4-2182-4F73-A161-A4726C6DBAD5}"/>
              </a:ext>
            </a:extLst>
          </p:cNvPr>
          <p:cNvSpPr>
            <a:spLocks noGrp="1"/>
          </p:cNvSpPr>
          <p:nvPr/>
        </p:nvSpPr>
        <p:spPr>
          <a:xfrm>
            <a:off x="212760" y="59126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68" name="Rectangle 54">
            <a:extLst>
              <a:ext uri="{FF2B5EF4-FFF2-40B4-BE49-F238E27FC236}">
                <a16:creationId xmlns:a16="http://schemas.microsoft.com/office/drawing/2014/main" id="{E9B4F6C6-5551-445C-9FA0-4416DE6C23D9}"/>
              </a:ext>
            </a:extLst>
          </p:cNvPr>
          <p:cNvSpPr>
            <a:spLocks noGrp="1"/>
          </p:cNvSpPr>
          <p:nvPr/>
        </p:nvSpPr>
        <p:spPr>
          <a:xfrm>
            <a:off x="212760" y="7372080"/>
            <a:ext cx="6926040" cy="399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69" name="Rectangle 56">
            <a:extLst>
              <a:ext uri="{FF2B5EF4-FFF2-40B4-BE49-F238E27FC236}">
                <a16:creationId xmlns:a16="http://schemas.microsoft.com/office/drawing/2014/main" id="{215857E7-5724-488C-B076-F6F10560DB1F}"/>
              </a:ext>
            </a:extLst>
          </p:cNvPr>
          <p:cNvSpPr>
            <a:spLocks noGrp="1"/>
          </p:cNvSpPr>
          <p:nvPr/>
        </p:nvSpPr>
        <p:spPr>
          <a:xfrm>
            <a:off x="212760" y="6867720"/>
            <a:ext cx="69260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270" name="Textbox 268">
            <a:extLst>
              <a:ext uri="{FF2B5EF4-FFF2-40B4-BE49-F238E27FC236}">
                <a16:creationId xmlns:a16="http://schemas.microsoft.com/office/drawing/2014/main" id="{6226EE49-63DD-44C4-9ACB-8E38665EE1A9}"/>
              </a:ext>
            </a:extLst>
          </p:cNvPr>
          <p:cNvSpPr>
            <a:spLocks noGrp="1"/>
          </p:cNvSpPr>
          <p:nvPr/>
        </p:nvSpPr>
        <p:spPr>
          <a:xfrm>
            <a:off x="212760" y="988200"/>
            <a:ext cx="6926040" cy="848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27080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sz="1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 Performance Highlights</a:t>
            </a:r>
          </a:p>
          <a:p>
            <a:pPr defTabSz="91440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sz="1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184320" indent="-5724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Jun-26 closed at 387 for East (10.1% of channel), ▼ 7% MoM off the May-26 record of 415. Q1 FY27 = 1,173 Lacs, ▲ 68% vs Q1 FY26.</a:t>
            </a:r>
          </a:p>
          <a:p>
            <a:pPr marL="184320" indent="-57240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9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Growth View: Jun-26 was ▲ 6% vs L3M and ▲ 72% vs Jun-25 — YoY momentum intact despite seasonal moderation.</a:t>
            </a:r>
          </a:p>
        </p:txBody>
      </p:sp>
      <p:sp>
        <p:nvSpPr>
          <p:cNvPr id="271" name="Shape 3">
            <a:extLst>
              <a:ext uri="{FF2B5EF4-FFF2-40B4-BE49-F238E27FC236}">
                <a16:creationId xmlns:a16="http://schemas.microsoft.com/office/drawing/2014/main" id="{DD890A65-F016-4411-B2DF-8F87D23C262D}"/>
              </a:ext>
            </a:extLst>
          </p:cNvPr>
          <p:cNvSpPr>
            <a:spLocks noGrp="1"/>
          </p:cNvSpPr>
          <p:nvPr/>
        </p:nvSpPr>
        <p:spPr>
          <a:xfrm>
            <a:off x="212760" y="3474000"/>
            <a:ext cx="6926040" cy="271800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72" name="Text 4">
            <a:extLst>
              <a:ext uri="{FF2B5EF4-FFF2-40B4-BE49-F238E27FC236}">
                <a16:creationId xmlns:a16="http://schemas.microsoft.com/office/drawing/2014/main" id="{B6C76427-A400-4328-9B48-754B1B2AEE33}"/>
              </a:ext>
            </a:extLst>
          </p:cNvPr>
          <p:cNvSpPr>
            <a:spLocks noGrp="1"/>
          </p:cNvSpPr>
          <p:nvPr/>
        </p:nvSpPr>
        <p:spPr>
          <a:xfrm>
            <a:off x="212760" y="3440160"/>
            <a:ext cx="6926040" cy="27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East | Mamaearth — Top 3 Sub-category Monthly Trend (NSV)</a:t>
            </a:r>
          </a:p>
        </p:txBody>
      </p:sp>
      <p:sp>
        <p:nvSpPr>
          <p:cNvPr id="273" name="Text 5">
            <a:extLst>
              <a:ext uri="{FF2B5EF4-FFF2-40B4-BE49-F238E27FC236}">
                <a16:creationId xmlns:a16="http://schemas.microsoft.com/office/drawing/2014/main" id="{D8C2D145-76A9-428F-A4BC-09B96D6A42C2}"/>
              </a:ext>
            </a:extLst>
          </p:cNvPr>
          <p:cNvSpPr>
            <a:spLocks noGrp="1"/>
          </p:cNvSpPr>
          <p:nvPr/>
        </p:nvSpPr>
        <p:spPr>
          <a:xfrm>
            <a:off x="707760" y="387000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274" name="Text 6">
            <a:extLst>
              <a:ext uri="{FF2B5EF4-FFF2-40B4-BE49-F238E27FC236}">
                <a16:creationId xmlns:a16="http://schemas.microsoft.com/office/drawing/2014/main" id="{83AF0CE6-62C0-4CDF-A8A0-4350826A7E10}"/>
              </a:ext>
            </a:extLst>
          </p:cNvPr>
          <p:cNvSpPr>
            <a:spLocks noGrp="1"/>
          </p:cNvSpPr>
          <p:nvPr/>
        </p:nvSpPr>
        <p:spPr>
          <a:xfrm>
            <a:off x="1159560" y="386100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58%</a:t>
            </a:r>
          </a:p>
        </p:txBody>
      </p:sp>
      <p:sp>
        <p:nvSpPr>
          <p:cNvPr id="275" name="Text 7">
            <a:extLst>
              <a:ext uri="{FF2B5EF4-FFF2-40B4-BE49-F238E27FC236}">
                <a16:creationId xmlns:a16="http://schemas.microsoft.com/office/drawing/2014/main" id="{3999FAE3-683E-49FC-9ADE-B1264658E2AD}"/>
              </a:ext>
            </a:extLst>
          </p:cNvPr>
          <p:cNvSpPr>
            <a:spLocks noGrp="1"/>
          </p:cNvSpPr>
          <p:nvPr/>
        </p:nvSpPr>
        <p:spPr>
          <a:xfrm>
            <a:off x="1633680" y="387288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7%</a:t>
            </a:r>
          </a:p>
        </p:txBody>
      </p:sp>
      <p:graphicFrame>
        <p:nvGraphicFramePr>
          <p:cNvPr id="370" name="Chart 0"/>
          <p:cNvGraphicFramePr/>
          <p:nvPr/>
        </p:nvGraphicFramePr>
        <p:xfrm>
          <a:off x="180360" y="3792240"/>
          <a:ext cx="2261160" cy="155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7" name="Text 9">
            <a:extLst>
              <a:ext uri="{FF2B5EF4-FFF2-40B4-BE49-F238E27FC236}">
                <a16:creationId xmlns:a16="http://schemas.microsoft.com/office/drawing/2014/main" id="{30210BF1-7A8F-4CC2-9B63-743697C66ED5}"/>
              </a:ext>
            </a:extLst>
          </p:cNvPr>
          <p:cNvSpPr>
            <a:spLocks noGrp="1"/>
          </p:cNvSpPr>
          <p:nvPr/>
        </p:nvSpPr>
        <p:spPr>
          <a:xfrm>
            <a:off x="2941920" y="3861000"/>
            <a:ext cx="66636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278" name="Text 10">
            <a:extLst>
              <a:ext uri="{FF2B5EF4-FFF2-40B4-BE49-F238E27FC236}">
                <a16:creationId xmlns:a16="http://schemas.microsoft.com/office/drawing/2014/main" id="{66D1C623-AA9B-4168-B4D0-6964C930D23F}"/>
              </a:ext>
            </a:extLst>
          </p:cNvPr>
          <p:cNvSpPr>
            <a:spLocks noGrp="1"/>
          </p:cNvSpPr>
          <p:nvPr/>
        </p:nvSpPr>
        <p:spPr>
          <a:xfrm>
            <a:off x="3651840" y="391464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96%</a:t>
            </a:r>
          </a:p>
        </p:txBody>
      </p:sp>
      <p:sp>
        <p:nvSpPr>
          <p:cNvPr id="279" name="Text 11">
            <a:extLst>
              <a:ext uri="{FF2B5EF4-FFF2-40B4-BE49-F238E27FC236}">
                <a16:creationId xmlns:a16="http://schemas.microsoft.com/office/drawing/2014/main" id="{E1BD38E9-9BEC-4B76-B0A3-6EB6805886BC}"/>
              </a:ext>
            </a:extLst>
          </p:cNvPr>
          <p:cNvSpPr>
            <a:spLocks noGrp="1"/>
          </p:cNvSpPr>
          <p:nvPr/>
        </p:nvSpPr>
        <p:spPr>
          <a:xfrm>
            <a:off x="4056480" y="3910680"/>
            <a:ext cx="371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10%</a:t>
            </a:r>
          </a:p>
        </p:txBody>
      </p:sp>
      <p:graphicFrame>
        <p:nvGraphicFramePr>
          <p:cNvPr id="374" name="Chart 1"/>
          <p:cNvGraphicFramePr/>
          <p:nvPr/>
        </p:nvGraphicFramePr>
        <p:xfrm>
          <a:off x="2508480" y="3803400"/>
          <a:ext cx="2261160" cy="156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1" name="Text 13">
            <a:extLst>
              <a:ext uri="{FF2B5EF4-FFF2-40B4-BE49-F238E27FC236}">
                <a16:creationId xmlns:a16="http://schemas.microsoft.com/office/drawing/2014/main" id="{0647890E-1183-4902-A79C-0991E008B585}"/>
              </a:ext>
            </a:extLst>
          </p:cNvPr>
          <p:cNvSpPr>
            <a:spLocks noGrp="1"/>
          </p:cNvSpPr>
          <p:nvPr/>
        </p:nvSpPr>
        <p:spPr>
          <a:xfrm>
            <a:off x="5306400" y="3888360"/>
            <a:ext cx="537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282" name="Text 14">
            <a:extLst>
              <a:ext uri="{FF2B5EF4-FFF2-40B4-BE49-F238E27FC236}">
                <a16:creationId xmlns:a16="http://schemas.microsoft.com/office/drawing/2014/main" id="{DD6BAB63-3A30-4FD1-A248-6DB21A0AB85A}"/>
              </a:ext>
            </a:extLst>
          </p:cNvPr>
          <p:cNvSpPr>
            <a:spLocks noGrp="1"/>
          </p:cNvSpPr>
          <p:nvPr/>
        </p:nvSpPr>
        <p:spPr>
          <a:xfrm>
            <a:off x="5885640" y="3907080"/>
            <a:ext cx="61488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108%</a:t>
            </a:r>
          </a:p>
        </p:txBody>
      </p:sp>
      <p:sp>
        <p:nvSpPr>
          <p:cNvPr id="283" name="Text 15">
            <a:extLst>
              <a:ext uri="{FF2B5EF4-FFF2-40B4-BE49-F238E27FC236}">
                <a16:creationId xmlns:a16="http://schemas.microsoft.com/office/drawing/2014/main" id="{B2AEEA79-CC8E-4137-90AB-9DF0A6CC2B39}"/>
              </a:ext>
            </a:extLst>
          </p:cNvPr>
          <p:cNvSpPr>
            <a:spLocks noGrp="1"/>
          </p:cNvSpPr>
          <p:nvPr/>
        </p:nvSpPr>
        <p:spPr>
          <a:xfrm>
            <a:off x="6352200" y="3888000"/>
            <a:ext cx="371880" cy="2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31%</a:t>
            </a:r>
          </a:p>
        </p:txBody>
      </p:sp>
      <p:graphicFrame>
        <p:nvGraphicFramePr>
          <p:cNvPr id="378" name="Chart 2"/>
          <p:cNvGraphicFramePr/>
          <p:nvPr/>
        </p:nvGraphicFramePr>
        <p:xfrm>
          <a:off x="4830840" y="3790080"/>
          <a:ext cx="2307960" cy="156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5" name="Shape 17">
            <a:extLst>
              <a:ext uri="{FF2B5EF4-FFF2-40B4-BE49-F238E27FC236}">
                <a16:creationId xmlns:a16="http://schemas.microsoft.com/office/drawing/2014/main" id="{F987EE80-0161-4FCD-9D39-10AFA9D0C5D8}"/>
              </a:ext>
            </a:extLst>
          </p:cNvPr>
          <p:cNvSpPr>
            <a:spLocks noGrp="1"/>
          </p:cNvSpPr>
          <p:nvPr/>
        </p:nvSpPr>
        <p:spPr>
          <a:xfrm>
            <a:off x="212760" y="5443560"/>
            <a:ext cx="6926040" cy="323280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286" name="Text 18">
            <a:extLst>
              <a:ext uri="{FF2B5EF4-FFF2-40B4-BE49-F238E27FC236}">
                <a16:creationId xmlns:a16="http://schemas.microsoft.com/office/drawing/2014/main" id="{40D19EC5-22D9-4EEC-AB1C-20FFF88E1384}"/>
              </a:ext>
            </a:extLst>
          </p:cNvPr>
          <p:cNvSpPr>
            <a:spLocks noGrp="1"/>
          </p:cNvSpPr>
          <p:nvPr/>
        </p:nvSpPr>
        <p:spPr>
          <a:xfrm>
            <a:off x="329760" y="5532120"/>
            <a:ext cx="69260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East | The Derma Co. — Top 3 Sub-category Monthly Trend (NSV)</a:t>
            </a:r>
          </a:p>
        </p:txBody>
      </p:sp>
      <p:sp>
        <p:nvSpPr>
          <p:cNvPr id="287" name="Text 19">
            <a:extLst>
              <a:ext uri="{FF2B5EF4-FFF2-40B4-BE49-F238E27FC236}">
                <a16:creationId xmlns:a16="http://schemas.microsoft.com/office/drawing/2014/main" id="{3B67553C-7B18-46B5-AB91-9EB3B29F793E}"/>
              </a:ext>
            </a:extLst>
          </p:cNvPr>
          <p:cNvSpPr>
            <a:spLocks noGrp="1"/>
          </p:cNvSpPr>
          <p:nvPr/>
        </p:nvSpPr>
        <p:spPr>
          <a:xfrm>
            <a:off x="644040" y="5965560"/>
            <a:ext cx="397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288" name="Text 20">
            <a:extLst>
              <a:ext uri="{FF2B5EF4-FFF2-40B4-BE49-F238E27FC236}">
                <a16:creationId xmlns:a16="http://schemas.microsoft.com/office/drawing/2014/main" id="{D1042C60-F9D0-4D45-A20A-C74913D87B6F}"/>
              </a:ext>
            </a:extLst>
          </p:cNvPr>
          <p:cNvSpPr>
            <a:spLocks noGrp="1"/>
          </p:cNvSpPr>
          <p:nvPr/>
        </p:nvSpPr>
        <p:spPr>
          <a:xfrm>
            <a:off x="1203480" y="6004800"/>
            <a:ext cx="4453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633%</a:t>
            </a:r>
          </a:p>
        </p:txBody>
      </p:sp>
      <p:sp>
        <p:nvSpPr>
          <p:cNvPr id="289" name="Text 21">
            <a:extLst>
              <a:ext uri="{FF2B5EF4-FFF2-40B4-BE49-F238E27FC236}">
                <a16:creationId xmlns:a16="http://schemas.microsoft.com/office/drawing/2014/main" id="{C598DEFA-449C-4CBB-8935-F59CE149C33B}"/>
              </a:ext>
            </a:extLst>
          </p:cNvPr>
          <p:cNvSpPr>
            <a:spLocks noGrp="1"/>
          </p:cNvSpPr>
          <p:nvPr/>
        </p:nvSpPr>
        <p:spPr>
          <a:xfrm>
            <a:off x="1776600" y="5981400"/>
            <a:ext cx="40572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22%</a:t>
            </a:r>
          </a:p>
        </p:txBody>
      </p:sp>
      <p:graphicFrame>
        <p:nvGraphicFramePr>
          <p:cNvPr id="384" name="Chart 3"/>
          <p:cNvGraphicFramePr/>
          <p:nvPr/>
        </p:nvGraphicFramePr>
        <p:xfrm>
          <a:off x="196560" y="5838840"/>
          <a:ext cx="225612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91" name="Text 23">
            <a:extLst>
              <a:ext uri="{FF2B5EF4-FFF2-40B4-BE49-F238E27FC236}">
                <a16:creationId xmlns:a16="http://schemas.microsoft.com/office/drawing/2014/main" id="{F88CD4A9-2633-4631-8A1D-7EB44CA872A5}"/>
              </a:ext>
            </a:extLst>
          </p:cNvPr>
          <p:cNvSpPr>
            <a:spLocks noGrp="1"/>
          </p:cNvSpPr>
          <p:nvPr/>
        </p:nvSpPr>
        <p:spPr>
          <a:xfrm>
            <a:off x="2823120" y="5937840"/>
            <a:ext cx="54108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292" name="Text 24">
            <a:extLst>
              <a:ext uri="{FF2B5EF4-FFF2-40B4-BE49-F238E27FC236}">
                <a16:creationId xmlns:a16="http://schemas.microsoft.com/office/drawing/2014/main" id="{428DD641-5E83-4B26-AB83-3DAE4CA95B08}"/>
              </a:ext>
            </a:extLst>
          </p:cNvPr>
          <p:cNvSpPr>
            <a:spLocks noGrp="1"/>
          </p:cNvSpPr>
          <p:nvPr/>
        </p:nvSpPr>
        <p:spPr>
          <a:xfrm>
            <a:off x="3412800" y="5946480"/>
            <a:ext cx="447480" cy="20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180%</a:t>
            </a:r>
          </a:p>
        </p:txBody>
      </p:sp>
      <p:sp>
        <p:nvSpPr>
          <p:cNvPr id="293" name="Text 25">
            <a:extLst>
              <a:ext uri="{FF2B5EF4-FFF2-40B4-BE49-F238E27FC236}">
                <a16:creationId xmlns:a16="http://schemas.microsoft.com/office/drawing/2014/main" id="{FBB4C0A3-BDC7-4FEA-AE31-85F310D2F8F7}"/>
              </a:ext>
            </a:extLst>
          </p:cNvPr>
          <p:cNvSpPr>
            <a:spLocks noGrp="1"/>
          </p:cNvSpPr>
          <p:nvPr/>
        </p:nvSpPr>
        <p:spPr>
          <a:xfrm>
            <a:off x="4140000" y="5928480"/>
            <a:ext cx="40572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22%</a:t>
            </a:r>
          </a:p>
        </p:txBody>
      </p:sp>
      <p:graphicFrame>
        <p:nvGraphicFramePr>
          <p:cNvPr id="388" name="Chart 4"/>
          <p:cNvGraphicFramePr/>
          <p:nvPr/>
        </p:nvGraphicFramePr>
        <p:xfrm>
          <a:off x="2487600" y="5833440"/>
          <a:ext cx="246708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95" name="Text 27">
            <a:extLst>
              <a:ext uri="{FF2B5EF4-FFF2-40B4-BE49-F238E27FC236}">
                <a16:creationId xmlns:a16="http://schemas.microsoft.com/office/drawing/2014/main" id="{B2BAB5A1-02B2-42B1-A056-723DC0D9A2D1}"/>
              </a:ext>
            </a:extLst>
          </p:cNvPr>
          <p:cNvSpPr>
            <a:spLocks noGrp="1"/>
          </p:cNvSpPr>
          <p:nvPr/>
        </p:nvSpPr>
        <p:spPr>
          <a:xfrm>
            <a:off x="5488920" y="5906160"/>
            <a:ext cx="67032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Face Serum</a:t>
            </a:r>
          </a:p>
        </p:txBody>
      </p:sp>
      <p:sp>
        <p:nvSpPr>
          <p:cNvPr id="296" name="Text 28">
            <a:extLst>
              <a:ext uri="{FF2B5EF4-FFF2-40B4-BE49-F238E27FC236}">
                <a16:creationId xmlns:a16="http://schemas.microsoft.com/office/drawing/2014/main" id="{45888D28-3184-48C9-81BF-C8E001E3DDE7}"/>
              </a:ext>
            </a:extLst>
          </p:cNvPr>
          <p:cNvSpPr>
            <a:spLocks noGrp="1"/>
          </p:cNvSpPr>
          <p:nvPr/>
        </p:nvSpPr>
        <p:spPr>
          <a:xfrm>
            <a:off x="6173280" y="5916960"/>
            <a:ext cx="43920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D03A3A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▲ 125%</a:t>
            </a:r>
          </a:p>
        </p:txBody>
      </p:sp>
      <p:sp>
        <p:nvSpPr>
          <p:cNvPr id="297" name="Text 29">
            <a:extLst>
              <a:ext uri="{FF2B5EF4-FFF2-40B4-BE49-F238E27FC236}">
                <a16:creationId xmlns:a16="http://schemas.microsoft.com/office/drawing/2014/main" id="{F3E68A91-3FB5-483A-9FF1-358AA96D3D70}"/>
              </a:ext>
            </a:extLst>
          </p:cNvPr>
          <p:cNvSpPr>
            <a:spLocks noGrp="1"/>
          </p:cNvSpPr>
          <p:nvPr/>
        </p:nvSpPr>
        <p:spPr>
          <a:xfrm>
            <a:off x="6591600" y="5927400"/>
            <a:ext cx="40572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29%</a:t>
            </a:r>
          </a:p>
        </p:txBody>
      </p:sp>
      <p:graphicFrame>
        <p:nvGraphicFramePr>
          <p:cNvPr id="392" name="Chart 5"/>
          <p:cNvGraphicFramePr/>
          <p:nvPr/>
        </p:nvGraphicFramePr>
        <p:xfrm>
          <a:off x="4886280" y="5890320"/>
          <a:ext cx="2241000" cy="149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93" name="Table 190"/>
          <p:cNvGraphicFramePr/>
          <p:nvPr/>
        </p:nvGraphicFramePr>
        <p:xfrm>
          <a:off x="212760" y="1935000"/>
          <a:ext cx="6959880" cy="1501789"/>
        </p:xfrm>
        <a:graphic>
          <a:graphicData uri="http://schemas.openxmlformats.org/drawingml/2006/table">
            <a:tbl>
              <a:tblPr/>
              <a:tblGrid>
                <a:gridCol w="118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7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7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3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 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199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363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333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86%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321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4%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67%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26%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292%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25%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29%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8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Emerging Brands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4" name="Table 193"/>
          <p:cNvGraphicFramePr/>
          <p:nvPr/>
        </p:nvGraphicFramePr>
        <p:xfrm>
          <a:off x="212760" y="7863480"/>
          <a:ext cx="7008480" cy="1615680"/>
        </p:xfrm>
        <a:graphic>
          <a:graphicData uri="http://schemas.openxmlformats.org/drawingml/2006/table">
            <a:tbl>
              <a:tblPr/>
              <a:tblGrid>
                <a:gridCol w="17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Reliance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264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250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234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60%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Apollo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149%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VMM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13%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131%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More Retail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39%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Frankros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581%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Spencer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31%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45%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Others Combined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76%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1" name="Rectangle 81">
            <a:extLst>
              <a:ext uri="{FF2B5EF4-FFF2-40B4-BE49-F238E27FC236}">
                <a16:creationId xmlns:a16="http://schemas.microsoft.com/office/drawing/2014/main" id="{C398B702-E52D-41C8-BE9D-F55ACD7ACFE8}"/>
              </a:ext>
            </a:extLst>
          </p:cNvPr>
          <p:cNvSpPr>
            <a:spLocks noGrp="1"/>
          </p:cNvSpPr>
          <p:nvPr/>
        </p:nvSpPr>
        <p:spPr>
          <a:xfrm>
            <a:off x="0" y="15840"/>
            <a:ext cx="75625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302" name="Graphic 278">
            <a:extLst>
              <a:ext uri="{FF2B5EF4-FFF2-40B4-BE49-F238E27FC236}">
                <a16:creationId xmlns:a16="http://schemas.microsoft.com/office/drawing/2014/main" id="{3C12EFA6-6B8A-47F5-A8F9-DB1480ED27FA}"/>
              </a:ext>
            </a:extLst>
          </p:cNvPr>
          <p:cNvSpPr>
            <a:spLocks noGrp="1"/>
          </p:cNvSpPr>
          <p:nvPr/>
        </p:nvSpPr>
        <p:spPr>
          <a:xfrm>
            <a:off x="212760" y="9564480"/>
            <a:ext cx="6865920" cy="1113840"/>
          </a:xfrm>
          <a:custGeom>
            <a:avLst/>
            <a:gdLst>
              <a:gd name="textAreaLeft" fmla="*/ 0 w 6865920"/>
              <a:gd name="textAreaRight" fmla="*/ 6866280 w 6865920"/>
              <a:gd name="textAreaTop" fmla="*/ 0 h 1113840"/>
              <a:gd name="textAreaBottom" fmla="*/ 1114200 h 1113840"/>
            </a:gdLst>
            <a:ahLst/>
            <a:cxnLst/>
            <a:rect l="textAreaLeft" t="textAreaTop" r="textAreaRight" b="textAreaBottom"/>
            <a:pathLst>
              <a:path w="6950709" h="2163445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2074415"/>
                </a:lnTo>
                <a:lnTo>
                  <a:pt x="6979" y="2109038"/>
                </a:lnTo>
                <a:lnTo>
                  <a:pt x="26021" y="2137294"/>
                </a:lnTo>
                <a:lnTo>
                  <a:pt x="54276" y="2156335"/>
                </a:lnTo>
                <a:lnTo>
                  <a:pt x="88900" y="2163315"/>
                </a:lnTo>
                <a:lnTo>
                  <a:pt x="6861500" y="2163315"/>
                </a:lnTo>
                <a:lnTo>
                  <a:pt x="6896123" y="2156335"/>
                </a:lnTo>
                <a:lnTo>
                  <a:pt x="6924379" y="2137294"/>
                </a:lnTo>
                <a:lnTo>
                  <a:pt x="6943420" y="2109038"/>
                </a:lnTo>
                <a:lnTo>
                  <a:pt x="6950400" y="2074415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EFFD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03" name="Graphic 280">
            <a:extLst>
              <a:ext uri="{FF2B5EF4-FFF2-40B4-BE49-F238E27FC236}">
                <a16:creationId xmlns:a16="http://schemas.microsoft.com/office/drawing/2014/main" id="{DE7CC71D-756F-400B-834E-BDDDEB0BB66B}"/>
              </a:ext>
            </a:extLst>
          </p:cNvPr>
          <p:cNvSpPr>
            <a:spLocks noGrp="1"/>
          </p:cNvSpPr>
          <p:nvPr/>
        </p:nvSpPr>
        <p:spPr>
          <a:xfrm>
            <a:off x="239400" y="9495360"/>
            <a:ext cx="6899400" cy="204480"/>
          </a:xfrm>
          <a:custGeom>
            <a:avLst/>
            <a:gdLst>
              <a:gd name="textAreaLeft" fmla="*/ 0 w 6899400"/>
              <a:gd name="textAreaRight" fmla="*/ 6899760 w 6899400"/>
              <a:gd name="textAreaTop" fmla="*/ 0 h 204480"/>
              <a:gd name="textAreaBottom" fmla="*/ 204840 h 204480"/>
            </a:gdLst>
            <a:ahLst/>
            <a:cxnLst/>
            <a:rect l="textAreaLeft" t="textAreaTop" r="textAreaRight" b="textAreaBottom"/>
            <a:pathLst>
              <a:path w="6950709" h="241300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152399"/>
                </a:lnTo>
                <a:lnTo>
                  <a:pt x="6979" y="187023"/>
                </a:lnTo>
                <a:lnTo>
                  <a:pt x="26021" y="215278"/>
                </a:lnTo>
                <a:lnTo>
                  <a:pt x="54276" y="234320"/>
                </a:lnTo>
                <a:lnTo>
                  <a:pt x="88900" y="241299"/>
                </a:lnTo>
                <a:lnTo>
                  <a:pt x="6861500" y="241299"/>
                </a:lnTo>
                <a:lnTo>
                  <a:pt x="6896123" y="234320"/>
                </a:lnTo>
                <a:lnTo>
                  <a:pt x="6924379" y="215278"/>
                </a:lnTo>
                <a:lnTo>
                  <a:pt x="6943420" y="187023"/>
                </a:lnTo>
                <a:lnTo>
                  <a:pt x="6950400" y="152399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0377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04" name="Graphic 281">
            <a:extLst>
              <a:ext uri="{FF2B5EF4-FFF2-40B4-BE49-F238E27FC236}">
                <a16:creationId xmlns:a16="http://schemas.microsoft.com/office/drawing/2014/main" id="{3EE73915-3DD6-47A8-9BCB-6F9FFF1C5E51}"/>
              </a:ext>
            </a:extLst>
          </p:cNvPr>
          <p:cNvSpPr>
            <a:spLocks noGrp="1"/>
          </p:cNvSpPr>
          <p:nvPr/>
        </p:nvSpPr>
        <p:spPr>
          <a:xfrm>
            <a:off x="371880" y="10168200"/>
            <a:ext cx="1605240" cy="295920"/>
          </a:xfrm>
          <a:custGeom>
            <a:avLst/>
            <a:gdLst>
              <a:gd name="textAreaLeft" fmla="*/ 0 w 1605240"/>
              <a:gd name="textAreaRight" fmla="*/ 1605600 w 1605240"/>
              <a:gd name="textAreaTop" fmla="*/ 0 h 295920"/>
              <a:gd name="textAreaBottom" fmla="*/ 296280 h 29592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05" name="Graphic 282">
            <a:extLst>
              <a:ext uri="{FF2B5EF4-FFF2-40B4-BE49-F238E27FC236}">
                <a16:creationId xmlns:a16="http://schemas.microsoft.com/office/drawing/2014/main" id="{2FE16E90-118C-4B12-A8EA-5AAA1E9C4480}"/>
              </a:ext>
            </a:extLst>
          </p:cNvPr>
          <p:cNvSpPr>
            <a:spLocks noGrp="1"/>
          </p:cNvSpPr>
          <p:nvPr/>
        </p:nvSpPr>
        <p:spPr>
          <a:xfrm>
            <a:off x="388440" y="10167480"/>
            <a:ext cx="1605240" cy="295920"/>
          </a:xfrm>
          <a:custGeom>
            <a:avLst/>
            <a:gdLst>
              <a:gd name="textAreaLeft" fmla="*/ 0 w 1605240"/>
              <a:gd name="textAreaRight" fmla="*/ 1605600 w 1605240"/>
              <a:gd name="textAreaTop" fmla="*/ 0 h 295920"/>
              <a:gd name="textAreaBottom" fmla="*/ 296280 h 29592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06" name="Graphic 283">
            <a:extLst>
              <a:ext uri="{FF2B5EF4-FFF2-40B4-BE49-F238E27FC236}">
                <a16:creationId xmlns:a16="http://schemas.microsoft.com/office/drawing/2014/main" id="{25B80736-F6B8-4320-891F-80FB0E9AD776}"/>
              </a:ext>
            </a:extLst>
          </p:cNvPr>
          <p:cNvSpPr>
            <a:spLocks noGrp="1"/>
          </p:cNvSpPr>
          <p:nvPr/>
        </p:nvSpPr>
        <p:spPr>
          <a:xfrm>
            <a:off x="2037960" y="10175760"/>
            <a:ext cx="1612440" cy="291960"/>
          </a:xfrm>
          <a:custGeom>
            <a:avLst/>
            <a:gdLst>
              <a:gd name="textAreaLeft" fmla="*/ 0 w 1612440"/>
              <a:gd name="textAreaRight" fmla="*/ 1612800 w 1612440"/>
              <a:gd name="textAreaTop" fmla="*/ 0 h 291960"/>
              <a:gd name="textAreaBottom" fmla="*/ 292320 h 2919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07" name="Graphic 284">
            <a:extLst>
              <a:ext uri="{FF2B5EF4-FFF2-40B4-BE49-F238E27FC236}">
                <a16:creationId xmlns:a16="http://schemas.microsoft.com/office/drawing/2014/main" id="{7F5CF0AB-BE34-48BC-B82E-E4908B1D6F0B}"/>
              </a:ext>
            </a:extLst>
          </p:cNvPr>
          <p:cNvSpPr>
            <a:spLocks noGrp="1"/>
          </p:cNvSpPr>
          <p:nvPr/>
        </p:nvSpPr>
        <p:spPr>
          <a:xfrm>
            <a:off x="2047680" y="10133640"/>
            <a:ext cx="1605240" cy="295920"/>
          </a:xfrm>
          <a:custGeom>
            <a:avLst/>
            <a:gdLst>
              <a:gd name="textAreaLeft" fmla="*/ 0 w 1605240"/>
              <a:gd name="textAreaRight" fmla="*/ 1605600 w 1605240"/>
              <a:gd name="textAreaTop" fmla="*/ 0 h 295920"/>
              <a:gd name="textAreaBottom" fmla="*/ 296280 h 29592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08" name="Graphic 285">
            <a:extLst>
              <a:ext uri="{FF2B5EF4-FFF2-40B4-BE49-F238E27FC236}">
                <a16:creationId xmlns:a16="http://schemas.microsoft.com/office/drawing/2014/main" id="{291FEF77-9694-464B-B85F-B631747BCC65}"/>
              </a:ext>
            </a:extLst>
          </p:cNvPr>
          <p:cNvSpPr>
            <a:spLocks noGrp="1"/>
          </p:cNvSpPr>
          <p:nvPr/>
        </p:nvSpPr>
        <p:spPr>
          <a:xfrm>
            <a:off x="3731040" y="10219680"/>
            <a:ext cx="1605240" cy="295920"/>
          </a:xfrm>
          <a:custGeom>
            <a:avLst/>
            <a:gdLst>
              <a:gd name="textAreaLeft" fmla="*/ 0 w 1605240"/>
              <a:gd name="textAreaRight" fmla="*/ 1605600 w 1605240"/>
              <a:gd name="textAreaTop" fmla="*/ 0 h 295920"/>
              <a:gd name="textAreaBottom" fmla="*/ 296280 h 29592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09" name="Graphic 286">
            <a:extLst>
              <a:ext uri="{FF2B5EF4-FFF2-40B4-BE49-F238E27FC236}">
                <a16:creationId xmlns:a16="http://schemas.microsoft.com/office/drawing/2014/main" id="{24B15F3B-892C-4D90-AB68-3744B160E55C}"/>
              </a:ext>
            </a:extLst>
          </p:cNvPr>
          <p:cNvSpPr>
            <a:spLocks noGrp="1"/>
          </p:cNvSpPr>
          <p:nvPr/>
        </p:nvSpPr>
        <p:spPr>
          <a:xfrm>
            <a:off x="3700800" y="10147320"/>
            <a:ext cx="1605240" cy="295920"/>
          </a:xfrm>
          <a:custGeom>
            <a:avLst/>
            <a:gdLst>
              <a:gd name="textAreaLeft" fmla="*/ 0 w 1605240"/>
              <a:gd name="textAreaRight" fmla="*/ 1605600 w 1605240"/>
              <a:gd name="textAreaTop" fmla="*/ 0 h 295920"/>
              <a:gd name="textAreaBottom" fmla="*/ 296280 h 29592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10" name="Graphic 287">
            <a:extLst>
              <a:ext uri="{FF2B5EF4-FFF2-40B4-BE49-F238E27FC236}">
                <a16:creationId xmlns:a16="http://schemas.microsoft.com/office/drawing/2014/main" id="{77DCD56A-8CEC-4214-83DD-C5F02FADD41F}"/>
              </a:ext>
            </a:extLst>
          </p:cNvPr>
          <p:cNvSpPr>
            <a:spLocks noGrp="1"/>
          </p:cNvSpPr>
          <p:nvPr/>
        </p:nvSpPr>
        <p:spPr>
          <a:xfrm>
            <a:off x="5430600" y="10144440"/>
            <a:ext cx="1605240" cy="295920"/>
          </a:xfrm>
          <a:custGeom>
            <a:avLst/>
            <a:gdLst>
              <a:gd name="textAreaLeft" fmla="*/ 0 w 1605240"/>
              <a:gd name="textAreaRight" fmla="*/ 1605600 w 1605240"/>
              <a:gd name="textAreaTop" fmla="*/ 0 h 295920"/>
              <a:gd name="textAreaBottom" fmla="*/ 296280 h 29592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11" name="Graphic 288">
            <a:extLst>
              <a:ext uri="{FF2B5EF4-FFF2-40B4-BE49-F238E27FC236}">
                <a16:creationId xmlns:a16="http://schemas.microsoft.com/office/drawing/2014/main" id="{0BC57B63-1A91-43A3-BA3C-8B4D9BEBDD5B}"/>
              </a:ext>
            </a:extLst>
          </p:cNvPr>
          <p:cNvSpPr>
            <a:spLocks noGrp="1"/>
          </p:cNvSpPr>
          <p:nvPr/>
        </p:nvSpPr>
        <p:spPr>
          <a:xfrm>
            <a:off x="5400720" y="10196640"/>
            <a:ext cx="1605240" cy="295920"/>
          </a:xfrm>
          <a:custGeom>
            <a:avLst/>
            <a:gdLst>
              <a:gd name="textAreaLeft" fmla="*/ 0 w 1605240"/>
              <a:gd name="textAreaRight" fmla="*/ 1605600 w 1605240"/>
              <a:gd name="textAreaTop" fmla="*/ 0 h 295920"/>
              <a:gd name="textAreaBottom" fmla="*/ 296280 h 29592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12" name="Textbox 289">
            <a:extLst>
              <a:ext uri="{FF2B5EF4-FFF2-40B4-BE49-F238E27FC236}">
                <a16:creationId xmlns:a16="http://schemas.microsoft.com/office/drawing/2014/main" id="{7C2E9D09-E229-48DD-BE09-FEFF86A609BD}"/>
              </a:ext>
            </a:extLst>
          </p:cNvPr>
          <p:cNvSpPr>
            <a:spLocks noGrp="1"/>
          </p:cNvSpPr>
          <p:nvPr/>
        </p:nvSpPr>
        <p:spPr>
          <a:xfrm>
            <a:off x="365400" y="9493920"/>
            <a:ext cx="666720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CHAIN KEY HIGHLIGHTS</a:t>
            </a:r>
          </a:p>
        </p:txBody>
      </p:sp>
      <p:sp>
        <p:nvSpPr>
          <p:cNvPr id="313" name="Textbox 290">
            <a:extLst>
              <a:ext uri="{FF2B5EF4-FFF2-40B4-BE49-F238E27FC236}">
                <a16:creationId xmlns:a16="http://schemas.microsoft.com/office/drawing/2014/main" id="{E9BB70BC-71D1-42CA-9EE2-7B7A572BF976}"/>
              </a:ext>
            </a:extLst>
          </p:cNvPr>
          <p:cNvSpPr>
            <a:spLocks noGrp="1"/>
          </p:cNvSpPr>
          <p:nvPr/>
        </p:nvSpPr>
        <p:spPr>
          <a:xfrm>
            <a:off x="347040" y="9738000"/>
            <a:ext cx="668556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ts val="859"/>
              </a:lnSpc>
              <a:buClr>
                <a:srgbClr val="000000"/>
              </a:buClr>
              <a:buFont typeface="Symbol"/>
              <a:buChar char=""/>
            </a:pPr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East closed Jun-26 at 387, ▲ 6% vs L3M and ▲ 72% vs Jun-25; Q1 FY27 ▲ 68% YoY (corrected NSV).</a:t>
            </a:r>
            <a:br/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Chain Highlights: Reliance leads; Apollo is the fastest YoY chain.</a:t>
            </a:r>
          </a:p>
        </p:txBody>
      </p:sp>
      <p:sp>
        <p:nvSpPr>
          <p:cNvPr id="314" name="Textbox 291">
            <a:extLst>
              <a:ext uri="{FF2B5EF4-FFF2-40B4-BE49-F238E27FC236}">
                <a16:creationId xmlns:a16="http://schemas.microsoft.com/office/drawing/2014/main" id="{83269CB5-8107-4711-BBD9-A665069F6414}"/>
              </a:ext>
            </a:extLst>
          </p:cNvPr>
          <p:cNvSpPr>
            <a:spLocks noGrp="1"/>
          </p:cNvSpPr>
          <p:nvPr/>
        </p:nvSpPr>
        <p:spPr>
          <a:xfrm>
            <a:off x="440280" y="10243800"/>
            <a:ext cx="787680" cy="21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Lead Chain</a:t>
            </a:r>
          </a:p>
        </p:txBody>
      </p:sp>
      <p:sp>
        <p:nvSpPr>
          <p:cNvPr id="315" name="Textbox 292">
            <a:extLst>
              <a:ext uri="{FF2B5EF4-FFF2-40B4-BE49-F238E27FC236}">
                <a16:creationId xmlns:a16="http://schemas.microsoft.com/office/drawing/2014/main" id="{7BC7D914-45EE-4C1B-B2CF-02F0F853D358}"/>
              </a:ext>
            </a:extLst>
          </p:cNvPr>
          <p:cNvSpPr>
            <a:spLocks noGrp="1"/>
          </p:cNvSpPr>
          <p:nvPr/>
        </p:nvSpPr>
        <p:spPr>
          <a:xfrm>
            <a:off x="2101320" y="10274400"/>
            <a:ext cx="765360" cy="5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8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Fastest YoY Chain</a:t>
            </a:r>
          </a:p>
        </p:txBody>
      </p:sp>
      <p:sp>
        <p:nvSpPr>
          <p:cNvPr id="316" name="Textbox 293">
            <a:extLst>
              <a:ext uri="{FF2B5EF4-FFF2-40B4-BE49-F238E27FC236}">
                <a16:creationId xmlns:a16="http://schemas.microsoft.com/office/drawing/2014/main" id="{9AD95EBD-3735-4A0A-82D7-464BD641C1B6}"/>
              </a:ext>
            </a:extLst>
          </p:cNvPr>
          <p:cNvSpPr>
            <a:spLocks noGrp="1"/>
          </p:cNvSpPr>
          <p:nvPr/>
        </p:nvSpPr>
        <p:spPr>
          <a:xfrm>
            <a:off x="3802680" y="10133640"/>
            <a:ext cx="143928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8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Record Chain ines2</a:t>
            </a:r>
          </a:p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8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Reliance, VMM, Apollo, More Retail,</a:t>
            </a:r>
            <a:r>
              <a:rPr sz="8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    </a:t>
            </a:r>
          </a:p>
        </p:txBody>
      </p:sp>
      <p:sp>
        <p:nvSpPr>
          <p:cNvPr id="317" name="Textbox 294">
            <a:extLst>
              <a:ext uri="{FF2B5EF4-FFF2-40B4-BE49-F238E27FC236}">
                <a16:creationId xmlns:a16="http://schemas.microsoft.com/office/drawing/2014/main" id="{3EBE486C-1D60-44BB-84B4-D19E00C63DC9}"/>
              </a:ext>
            </a:extLst>
          </p:cNvPr>
          <p:cNvSpPr>
            <a:spLocks noGrp="1"/>
          </p:cNvSpPr>
          <p:nvPr/>
        </p:nvSpPr>
        <p:spPr>
          <a:xfrm>
            <a:off x="5515200" y="10200600"/>
            <a:ext cx="104832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8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Zone </a:t>
            </a:r>
            <a:r>
              <a:rPr sz="10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318" name="Textbox 295">
            <a:extLst>
              <a:ext uri="{FF2B5EF4-FFF2-40B4-BE49-F238E27FC236}">
                <a16:creationId xmlns:a16="http://schemas.microsoft.com/office/drawing/2014/main" id="{E339AE87-3620-43ED-AC11-24F5F109CE47}"/>
              </a:ext>
            </a:extLst>
          </p:cNvPr>
          <p:cNvSpPr>
            <a:spLocks noGrp="1"/>
          </p:cNvSpPr>
          <p:nvPr/>
        </p:nvSpPr>
        <p:spPr>
          <a:xfrm>
            <a:off x="1031400" y="10288800"/>
            <a:ext cx="765720" cy="15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Reliance - 250</a:t>
            </a:r>
          </a:p>
        </p:txBody>
      </p:sp>
      <p:sp>
        <p:nvSpPr>
          <p:cNvPr id="319" name="Textbox 296">
            <a:extLst>
              <a:ext uri="{FF2B5EF4-FFF2-40B4-BE49-F238E27FC236}">
                <a16:creationId xmlns:a16="http://schemas.microsoft.com/office/drawing/2014/main" id="{527F8117-ADF0-4320-9EB6-2F9CD5B9C2EF}"/>
              </a:ext>
            </a:extLst>
          </p:cNvPr>
          <p:cNvSpPr>
            <a:spLocks noGrp="1"/>
          </p:cNvSpPr>
          <p:nvPr/>
        </p:nvSpPr>
        <p:spPr>
          <a:xfrm>
            <a:off x="2914560" y="10292400"/>
            <a:ext cx="112860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51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Apollo  - </a:t>
            </a:r>
            <a:r>
              <a:rPr sz="8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149%</a:t>
            </a:r>
          </a:p>
        </p:txBody>
      </p:sp>
      <p:sp>
        <p:nvSpPr>
          <p:cNvPr id="320" name="Textbox 297">
            <a:extLst>
              <a:ext uri="{FF2B5EF4-FFF2-40B4-BE49-F238E27FC236}">
                <a16:creationId xmlns:a16="http://schemas.microsoft.com/office/drawing/2014/main" id="{AFEC08A4-E5CC-4FFD-9BCA-379A8141AED9}"/>
              </a:ext>
            </a:extLst>
          </p:cNvPr>
          <p:cNvSpPr>
            <a:spLocks noGrp="1"/>
          </p:cNvSpPr>
          <p:nvPr/>
        </p:nvSpPr>
        <p:spPr>
          <a:xfrm>
            <a:off x="3730680" y="10159560"/>
            <a:ext cx="1604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21" name="Textbox 298">
            <a:extLst>
              <a:ext uri="{FF2B5EF4-FFF2-40B4-BE49-F238E27FC236}">
                <a16:creationId xmlns:a16="http://schemas.microsoft.com/office/drawing/2014/main" id="{F4D2F36A-CDCD-4A0E-B6B4-6F3F1AA3DD43}"/>
              </a:ext>
            </a:extLst>
          </p:cNvPr>
          <p:cNvSpPr>
            <a:spLocks noGrp="1"/>
          </p:cNvSpPr>
          <p:nvPr/>
        </p:nvSpPr>
        <p:spPr>
          <a:xfrm>
            <a:off x="6233400" y="10237320"/>
            <a:ext cx="742680" cy="10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May-26 - 415 </a:t>
            </a:r>
          </a:p>
        </p:txBody>
      </p:sp>
      <p:sp>
        <p:nvSpPr>
          <p:cNvPr id="323" name="TextBox 218">
            <a:extLst>
              <a:ext uri="{FF2B5EF4-FFF2-40B4-BE49-F238E27FC236}">
                <a16:creationId xmlns:a16="http://schemas.microsoft.com/office/drawing/2014/main" id="{D6B80443-E69B-4692-82EE-72C6D01A9382}"/>
              </a:ext>
            </a:extLst>
          </p:cNvPr>
          <p:cNvSpPr>
            <a:spLocks noGrp="1"/>
          </p:cNvSpPr>
          <p:nvPr/>
        </p:nvSpPr>
        <p:spPr>
          <a:xfrm>
            <a:off x="212760" y="7400880"/>
            <a:ext cx="6926040" cy="361080"/>
          </a:xfrm>
          <a:prstGeom prst="rect">
            <a:avLst/>
          </a:prstGeom>
          <a:solidFill>
            <a:srgbClr val="2D9B7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5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East Chain Summary</a:t>
            </a:r>
          </a:p>
        </p:txBody>
      </p:sp>
      <p:pic>
        <p:nvPicPr>
          <p:cNvPr id="417" name="Picture 2"/>
          <p:cNvPicPr>
            <a:picLocks noChangeAspect="1"/>
          </p:cNvPicPr>
          <p:nvPr/>
        </p:nvPicPr>
        <p:blipFill>
          <a:blip r:embed="rId9"/>
          <a:srcRect l="24445" r="23555"/>
          <a:stretch/>
        </p:blipFill>
        <p:spPr>
          <a:xfrm>
            <a:off x="2563920" y="5910480"/>
            <a:ext cx="212040" cy="407880"/>
          </a:xfrm>
          <a:prstGeom prst="rect">
            <a:avLst/>
          </a:prstGeom>
          <a:ln w="0">
            <a:noFill/>
          </a:ln>
        </p:spPr>
      </p:pic>
      <p:pic>
        <p:nvPicPr>
          <p:cNvPr id="418" name="Picture 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07160" y="5924520"/>
            <a:ext cx="209880" cy="445320"/>
          </a:xfrm>
          <a:prstGeom prst="rect">
            <a:avLst/>
          </a:prstGeom>
          <a:ln w="0">
            <a:noFill/>
          </a:ln>
        </p:spPr>
      </p:pic>
      <p:pic>
        <p:nvPicPr>
          <p:cNvPr id="419" name="Picture 3"/>
          <p:cNvPicPr>
            <a:picLocks noChangeAspect="1"/>
          </p:cNvPicPr>
          <p:nvPr/>
        </p:nvPicPr>
        <p:blipFill>
          <a:blip r:embed="rId11"/>
          <a:srcRect l="27803" t="6058" r="29329" b="4206"/>
          <a:stretch/>
        </p:blipFill>
        <p:spPr>
          <a:xfrm>
            <a:off x="359640" y="3868200"/>
            <a:ext cx="199800" cy="412560"/>
          </a:xfrm>
          <a:prstGeom prst="rect">
            <a:avLst/>
          </a:prstGeom>
          <a:ln w="0">
            <a:noFill/>
          </a:ln>
        </p:spPr>
      </p:pic>
      <p:pic>
        <p:nvPicPr>
          <p:cNvPr id="420" name="Picture 4"/>
          <p:cNvPicPr>
            <a:picLocks noChangeAspect="1"/>
          </p:cNvPicPr>
          <p:nvPr/>
        </p:nvPicPr>
        <p:blipFill>
          <a:blip r:embed="rId12"/>
          <a:srcRect l="32066" t="9039" r="31757" b="9269"/>
          <a:stretch/>
        </p:blipFill>
        <p:spPr>
          <a:xfrm>
            <a:off x="4989600" y="3870000"/>
            <a:ext cx="195840" cy="443160"/>
          </a:xfrm>
          <a:prstGeom prst="rect">
            <a:avLst/>
          </a:prstGeom>
          <a:ln w="0">
            <a:noFill/>
          </a:ln>
        </p:spPr>
      </p:pic>
      <p:pic>
        <p:nvPicPr>
          <p:cNvPr id="421" name="Google Shape;1518;p235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085000" y="5922360"/>
            <a:ext cx="198720" cy="284040"/>
          </a:xfrm>
          <a:prstGeom prst="rect">
            <a:avLst/>
          </a:prstGeom>
          <a:ln w="0">
            <a:noFill/>
          </a:ln>
        </p:spPr>
      </p:pic>
      <p:pic>
        <p:nvPicPr>
          <p:cNvPr id="422" name="Google Shape;1396;p227"/>
          <p:cNvPicPr>
            <a:picLocks noChangeAspect="1"/>
          </p:cNvPicPr>
          <p:nvPr/>
        </p:nvPicPr>
        <p:blipFill>
          <a:blip r:embed="rId14"/>
          <a:srcRect l="19608" b="484"/>
          <a:stretch/>
        </p:blipFill>
        <p:spPr>
          <a:xfrm>
            <a:off x="2684880" y="3872880"/>
            <a:ext cx="178200" cy="412200"/>
          </a:xfrm>
          <a:prstGeom prst="rect">
            <a:avLst/>
          </a:prstGeom>
          <a:ln w="0">
            <a:noFill/>
          </a:ln>
        </p:spPr>
      </p:pic>
      <p:sp>
        <p:nvSpPr>
          <p:cNvPr id="330" name="PageNum">
            <a:extLst>
              <a:ext uri="{FF2B5EF4-FFF2-40B4-BE49-F238E27FC236}">
                <a16:creationId xmlns:a16="http://schemas.microsoft.com/office/drawing/2014/main" id="{F738B5C8-1C7F-40D1-8E03-9887C2B0B3E4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856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155214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" name="Table 34"/>
          <p:cNvGraphicFramePr/>
          <p:nvPr/>
        </p:nvGraphicFramePr>
        <p:xfrm>
          <a:off x="212760" y="82800"/>
          <a:ext cx="7015680" cy="254160"/>
        </p:xfrm>
        <a:graphic>
          <a:graphicData uri="http://schemas.openxmlformats.org/drawingml/2006/table">
            <a:tbl>
              <a:tblPr/>
              <a:tblGrid>
                <a:gridCol w="701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NORTH ZONE PERFORMANCE</a:t>
                      </a:r>
                    </a:p>
                  </a:txBody>
                  <a:tcPr marL="65520" marR="65520" marT="0" marB="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2" name="Graphic 251">
            <a:extLst>
              <a:ext uri="{FF2B5EF4-FFF2-40B4-BE49-F238E27FC236}">
                <a16:creationId xmlns:a16="http://schemas.microsoft.com/office/drawing/2014/main" id="{0135D841-B71F-407C-9EF2-6F0145008F76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33" name="Graphic 252">
            <a:extLst>
              <a:ext uri="{FF2B5EF4-FFF2-40B4-BE49-F238E27FC236}">
                <a16:creationId xmlns:a16="http://schemas.microsoft.com/office/drawing/2014/main" id="{CD88AC2D-ADF8-4E09-81B3-D1C09D4B34CD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34" name="Textbox 253">
            <a:extLst>
              <a:ext uri="{FF2B5EF4-FFF2-40B4-BE49-F238E27FC236}">
                <a16:creationId xmlns:a16="http://schemas.microsoft.com/office/drawing/2014/main" id="{3F5BCA93-E6FC-4889-AEDE-ECA0BA0378FF}"/>
              </a:ext>
            </a:extLst>
          </p:cNvPr>
          <p:cNvSpPr>
            <a:spLocks noGrp="1"/>
          </p:cNvSpPr>
          <p:nvPr/>
        </p:nvSpPr>
        <p:spPr>
          <a:xfrm>
            <a:off x="2127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Jun-26 Sales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860</a:t>
            </a:r>
          </a:p>
        </p:txBody>
      </p:sp>
      <p:sp>
        <p:nvSpPr>
          <p:cNvPr id="335" name="Graphic 255">
            <a:extLst>
              <a:ext uri="{FF2B5EF4-FFF2-40B4-BE49-F238E27FC236}">
                <a16:creationId xmlns:a16="http://schemas.microsoft.com/office/drawing/2014/main" id="{13754C8C-E209-4CD5-A42E-EDA1D9E2A4E3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36" name="Graphic 256">
            <a:extLst>
              <a:ext uri="{FF2B5EF4-FFF2-40B4-BE49-F238E27FC236}">
                <a16:creationId xmlns:a16="http://schemas.microsoft.com/office/drawing/2014/main" id="{931F5228-B110-4BD1-8DC3-09AC38DC7C26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37" name="Textbox 257">
            <a:extLst>
              <a:ext uri="{FF2B5EF4-FFF2-40B4-BE49-F238E27FC236}">
                <a16:creationId xmlns:a16="http://schemas.microsoft.com/office/drawing/2014/main" id="{348B9F68-9C0F-461E-B26C-2E47F5DCD105}"/>
              </a:ext>
            </a:extLst>
          </p:cNvPr>
          <p:cNvSpPr>
            <a:spLocks noGrp="1"/>
          </p:cNvSpPr>
          <p:nvPr/>
        </p:nvSpPr>
        <p:spPr>
          <a:xfrm>
            <a:off x="198792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Share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22.5%</a:t>
            </a:r>
          </a:p>
        </p:txBody>
      </p:sp>
      <p:sp>
        <p:nvSpPr>
          <p:cNvPr id="338" name="Graphic 259">
            <a:extLst>
              <a:ext uri="{FF2B5EF4-FFF2-40B4-BE49-F238E27FC236}">
                <a16:creationId xmlns:a16="http://schemas.microsoft.com/office/drawing/2014/main" id="{F045D91F-18C9-4DE0-9462-674B7BB4E2BF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39" name="Graphic 260">
            <a:extLst>
              <a:ext uri="{FF2B5EF4-FFF2-40B4-BE49-F238E27FC236}">
                <a16:creationId xmlns:a16="http://schemas.microsoft.com/office/drawing/2014/main" id="{5359BD09-B515-4F72-99A3-D6D00FCB2A1E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40" name="Textbox 261">
            <a:extLst>
              <a:ext uri="{FF2B5EF4-FFF2-40B4-BE49-F238E27FC236}">
                <a16:creationId xmlns:a16="http://schemas.microsoft.com/office/drawing/2014/main" id="{FC794FC7-8286-4080-8694-BA846B9F0256}"/>
              </a:ext>
            </a:extLst>
          </p:cNvPr>
          <p:cNvSpPr>
            <a:spLocks noGrp="1"/>
          </p:cNvSpPr>
          <p:nvPr/>
        </p:nvSpPr>
        <p:spPr>
          <a:xfrm>
            <a:off x="3763440" y="40932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L3M Avg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848</a:t>
            </a:r>
          </a:p>
        </p:txBody>
      </p:sp>
      <p:sp>
        <p:nvSpPr>
          <p:cNvPr id="341" name="Graphic 263">
            <a:extLst>
              <a:ext uri="{FF2B5EF4-FFF2-40B4-BE49-F238E27FC236}">
                <a16:creationId xmlns:a16="http://schemas.microsoft.com/office/drawing/2014/main" id="{52A3837B-36A4-4849-86D4-E136BBAFEAFA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42" name="Graphic 264">
            <a:extLst>
              <a:ext uri="{FF2B5EF4-FFF2-40B4-BE49-F238E27FC236}">
                <a16:creationId xmlns:a16="http://schemas.microsoft.com/office/drawing/2014/main" id="{5CA8B10E-73C6-4164-98E1-2C2C8EBAD880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43" name="Textbox 265">
            <a:extLst>
              <a:ext uri="{FF2B5EF4-FFF2-40B4-BE49-F238E27FC236}">
                <a16:creationId xmlns:a16="http://schemas.microsoft.com/office/drawing/2014/main" id="{6269561F-1618-40C6-BBF0-B696A50C0521}"/>
              </a:ext>
            </a:extLst>
          </p:cNvPr>
          <p:cNvSpPr>
            <a:spLocks noGrp="1"/>
          </p:cNvSpPr>
          <p:nvPr/>
        </p:nvSpPr>
        <p:spPr>
          <a:xfrm>
            <a:off x="55389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GOLY Jun</a:t>
            </a:r>
          </a:p>
          <a:p>
            <a:pPr marL="17640" algn="ctr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6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72%</a:t>
            </a:r>
          </a:p>
        </p:txBody>
      </p:sp>
      <p:sp>
        <p:nvSpPr>
          <p:cNvPr id="344" name="Rectangle 48">
            <a:extLst>
              <a:ext uri="{FF2B5EF4-FFF2-40B4-BE49-F238E27FC236}">
                <a16:creationId xmlns:a16="http://schemas.microsoft.com/office/drawing/2014/main" id="{DBD5C286-5D49-4532-8A6E-4DF2EE315B33}"/>
              </a:ext>
            </a:extLst>
          </p:cNvPr>
          <p:cNvSpPr>
            <a:spLocks noGrp="1"/>
          </p:cNvSpPr>
          <p:nvPr/>
        </p:nvSpPr>
        <p:spPr>
          <a:xfrm>
            <a:off x="288720" y="427680"/>
            <a:ext cx="184320" cy="46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endParaRPr/>
          </a:p>
        </p:txBody>
      </p:sp>
      <p:sp>
        <p:nvSpPr>
          <p:cNvPr id="345" name="Rectangle 50">
            <a:extLst>
              <a:ext uri="{FF2B5EF4-FFF2-40B4-BE49-F238E27FC236}">
                <a16:creationId xmlns:a16="http://schemas.microsoft.com/office/drawing/2014/main" id="{7C2151D0-BA55-45AC-9484-E42979BD29D9}"/>
              </a:ext>
            </a:extLst>
          </p:cNvPr>
          <p:cNvSpPr>
            <a:spLocks noGrp="1"/>
          </p:cNvSpPr>
          <p:nvPr/>
        </p:nvSpPr>
        <p:spPr>
          <a:xfrm>
            <a:off x="212760" y="54428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46" name="Rectangle 54">
            <a:extLst>
              <a:ext uri="{FF2B5EF4-FFF2-40B4-BE49-F238E27FC236}">
                <a16:creationId xmlns:a16="http://schemas.microsoft.com/office/drawing/2014/main" id="{B6EBC35E-1626-4AF5-9A2A-ED498EE2D040}"/>
              </a:ext>
            </a:extLst>
          </p:cNvPr>
          <p:cNvSpPr>
            <a:spLocks noGrp="1"/>
          </p:cNvSpPr>
          <p:nvPr/>
        </p:nvSpPr>
        <p:spPr>
          <a:xfrm>
            <a:off x="212760" y="7372080"/>
            <a:ext cx="6926040" cy="399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347" name="Rectangle 56">
            <a:extLst>
              <a:ext uri="{FF2B5EF4-FFF2-40B4-BE49-F238E27FC236}">
                <a16:creationId xmlns:a16="http://schemas.microsoft.com/office/drawing/2014/main" id="{50C57C71-9F8D-47BB-A4A4-7D99D4F8808D}"/>
              </a:ext>
            </a:extLst>
          </p:cNvPr>
          <p:cNvSpPr>
            <a:spLocks noGrp="1"/>
          </p:cNvSpPr>
          <p:nvPr/>
        </p:nvSpPr>
        <p:spPr>
          <a:xfrm>
            <a:off x="212760" y="6867720"/>
            <a:ext cx="69260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348" name="Textbox 268">
            <a:extLst>
              <a:ext uri="{FF2B5EF4-FFF2-40B4-BE49-F238E27FC236}">
                <a16:creationId xmlns:a16="http://schemas.microsoft.com/office/drawing/2014/main" id="{74C6FA08-825D-407D-9E54-6A0C41A616C6}"/>
              </a:ext>
            </a:extLst>
          </p:cNvPr>
          <p:cNvSpPr>
            <a:spLocks noGrp="1"/>
          </p:cNvSpPr>
          <p:nvPr/>
        </p:nvSpPr>
        <p:spPr>
          <a:xfrm>
            <a:off x="212760" y="988200"/>
            <a:ext cx="6926040" cy="848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27080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 Performance Highlights</a:t>
            </a:r>
          </a:p>
          <a:p>
            <a:pPr defTabSz="91440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184320" indent="-5724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Jun-26 closed at 860 for North (22.5% of channel), ▼ 8% MoM off the May-26 record of 936. Q1 FY27 = 2,641 Lacs, ▲ 67% vs Q1 FY26.</a:t>
            </a:r>
          </a:p>
          <a:p>
            <a:pPr marL="184320" indent="-57240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05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Growth View: Jun-26 was ▲ 1% vs L3M and ▲ 72% vs Jun-25 — YoY momentum intact despite seasonal moderation.</a:t>
            </a:r>
          </a:p>
        </p:txBody>
      </p:sp>
      <p:sp>
        <p:nvSpPr>
          <p:cNvPr id="349" name="Shape 3">
            <a:extLst>
              <a:ext uri="{FF2B5EF4-FFF2-40B4-BE49-F238E27FC236}">
                <a16:creationId xmlns:a16="http://schemas.microsoft.com/office/drawing/2014/main" id="{209E890A-B35D-4998-A722-AD13236F53DF}"/>
              </a:ext>
            </a:extLst>
          </p:cNvPr>
          <p:cNvSpPr>
            <a:spLocks noGrp="1"/>
          </p:cNvSpPr>
          <p:nvPr/>
        </p:nvSpPr>
        <p:spPr>
          <a:xfrm>
            <a:off x="212760" y="3474000"/>
            <a:ext cx="6926040" cy="255600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50" name="Text 4">
            <a:extLst>
              <a:ext uri="{FF2B5EF4-FFF2-40B4-BE49-F238E27FC236}">
                <a16:creationId xmlns:a16="http://schemas.microsoft.com/office/drawing/2014/main" id="{0EC76B45-1261-42BF-9696-A884066390BD}"/>
              </a:ext>
            </a:extLst>
          </p:cNvPr>
          <p:cNvSpPr>
            <a:spLocks noGrp="1"/>
          </p:cNvSpPr>
          <p:nvPr/>
        </p:nvSpPr>
        <p:spPr>
          <a:xfrm>
            <a:off x="212760" y="3538080"/>
            <a:ext cx="69260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North | Mamaearth — Top 3 Sub-category Monthly Trend (NSV)</a:t>
            </a:r>
          </a:p>
        </p:txBody>
      </p:sp>
      <p:sp>
        <p:nvSpPr>
          <p:cNvPr id="351" name="Text 5">
            <a:extLst>
              <a:ext uri="{FF2B5EF4-FFF2-40B4-BE49-F238E27FC236}">
                <a16:creationId xmlns:a16="http://schemas.microsoft.com/office/drawing/2014/main" id="{76713EEC-28F8-49FF-8ADE-5F34DE5F6F53}"/>
              </a:ext>
            </a:extLst>
          </p:cNvPr>
          <p:cNvSpPr>
            <a:spLocks noGrp="1"/>
          </p:cNvSpPr>
          <p:nvPr/>
        </p:nvSpPr>
        <p:spPr>
          <a:xfrm>
            <a:off x="336240" y="389376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352" name="Text 6">
            <a:extLst>
              <a:ext uri="{FF2B5EF4-FFF2-40B4-BE49-F238E27FC236}">
                <a16:creationId xmlns:a16="http://schemas.microsoft.com/office/drawing/2014/main" id="{291A6EB1-DBB6-4C2C-8C39-B4C3CA69AE19}"/>
              </a:ext>
            </a:extLst>
          </p:cNvPr>
          <p:cNvSpPr>
            <a:spLocks noGrp="1"/>
          </p:cNvSpPr>
          <p:nvPr/>
        </p:nvSpPr>
        <p:spPr>
          <a:xfrm>
            <a:off x="679680" y="389376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32%</a:t>
            </a:r>
          </a:p>
        </p:txBody>
      </p:sp>
      <p:sp>
        <p:nvSpPr>
          <p:cNvPr id="353" name="Text 7">
            <a:extLst>
              <a:ext uri="{FF2B5EF4-FFF2-40B4-BE49-F238E27FC236}">
                <a16:creationId xmlns:a16="http://schemas.microsoft.com/office/drawing/2014/main" id="{E9B4B6DD-ACB7-444D-AF14-DB89E7E614EE}"/>
              </a:ext>
            </a:extLst>
          </p:cNvPr>
          <p:cNvSpPr>
            <a:spLocks noGrp="1"/>
          </p:cNvSpPr>
          <p:nvPr/>
        </p:nvSpPr>
        <p:spPr>
          <a:xfrm>
            <a:off x="1153800" y="390564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6%</a:t>
            </a:r>
          </a:p>
        </p:txBody>
      </p:sp>
      <p:sp>
        <p:nvSpPr>
          <p:cNvPr id="354" name="Text 8">
            <a:extLst>
              <a:ext uri="{FF2B5EF4-FFF2-40B4-BE49-F238E27FC236}">
                <a16:creationId xmlns:a16="http://schemas.microsoft.com/office/drawing/2014/main" id="{7A492F67-4103-4226-B0A6-A3DB6A8DE2CA}"/>
              </a:ext>
            </a:extLst>
          </p:cNvPr>
          <p:cNvSpPr>
            <a:spLocks noGrp="1"/>
          </p:cNvSpPr>
          <p:nvPr/>
        </p:nvSpPr>
        <p:spPr>
          <a:xfrm>
            <a:off x="1627920" y="3893760"/>
            <a:ext cx="5094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252</a:t>
            </a:r>
          </a:p>
        </p:txBody>
      </p:sp>
      <p:graphicFrame>
        <p:nvGraphicFramePr>
          <p:cNvPr id="454" name="Chart 0"/>
          <p:cNvGraphicFramePr/>
          <p:nvPr/>
        </p:nvGraphicFramePr>
        <p:xfrm>
          <a:off x="201240" y="3821040"/>
          <a:ext cx="2222280" cy="155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6" name="Text 9">
            <a:extLst>
              <a:ext uri="{FF2B5EF4-FFF2-40B4-BE49-F238E27FC236}">
                <a16:creationId xmlns:a16="http://schemas.microsoft.com/office/drawing/2014/main" id="{1BCEB364-CFF3-4B18-B078-6C1711A25C43}"/>
              </a:ext>
            </a:extLst>
          </p:cNvPr>
          <p:cNvSpPr>
            <a:spLocks noGrp="1"/>
          </p:cNvSpPr>
          <p:nvPr/>
        </p:nvSpPr>
        <p:spPr>
          <a:xfrm>
            <a:off x="2648160" y="3903480"/>
            <a:ext cx="5598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357" name="Text 10">
            <a:extLst>
              <a:ext uri="{FF2B5EF4-FFF2-40B4-BE49-F238E27FC236}">
                <a16:creationId xmlns:a16="http://schemas.microsoft.com/office/drawing/2014/main" id="{035339C9-5685-4363-AAEE-17AD8BE29A1C}"/>
              </a:ext>
            </a:extLst>
          </p:cNvPr>
          <p:cNvSpPr>
            <a:spLocks noGrp="1"/>
          </p:cNvSpPr>
          <p:nvPr/>
        </p:nvSpPr>
        <p:spPr>
          <a:xfrm>
            <a:off x="3240720" y="389376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78%</a:t>
            </a:r>
          </a:p>
        </p:txBody>
      </p:sp>
      <p:sp>
        <p:nvSpPr>
          <p:cNvPr id="358" name="Text 11">
            <a:extLst>
              <a:ext uri="{FF2B5EF4-FFF2-40B4-BE49-F238E27FC236}">
                <a16:creationId xmlns:a16="http://schemas.microsoft.com/office/drawing/2014/main" id="{D6C7CABE-E4E1-499B-9562-29AE18EA6B49}"/>
              </a:ext>
            </a:extLst>
          </p:cNvPr>
          <p:cNvSpPr>
            <a:spLocks noGrp="1"/>
          </p:cNvSpPr>
          <p:nvPr/>
        </p:nvSpPr>
        <p:spPr>
          <a:xfrm>
            <a:off x="3645360" y="3889800"/>
            <a:ext cx="371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4%</a:t>
            </a:r>
          </a:p>
        </p:txBody>
      </p:sp>
      <p:sp>
        <p:nvSpPr>
          <p:cNvPr id="359" name="Text 12">
            <a:extLst>
              <a:ext uri="{FF2B5EF4-FFF2-40B4-BE49-F238E27FC236}">
                <a16:creationId xmlns:a16="http://schemas.microsoft.com/office/drawing/2014/main" id="{8209DB4D-D28C-4041-BF81-291F8A398DC1}"/>
              </a:ext>
            </a:extLst>
          </p:cNvPr>
          <p:cNvSpPr>
            <a:spLocks noGrp="1"/>
          </p:cNvSpPr>
          <p:nvPr/>
        </p:nvSpPr>
        <p:spPr>
          <a:xfrm>
            <a:off x="4116600" y="3891960"/>
            <a:ext cx="41292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Jun'26 182</a:t>
            </a:r>
          </a:p>
        </p:txBody>
      </p:sp>
      <p:graphicFrame>
        <p:nvGraphicFramePr>
          <p:cNvPr id="459" name="Chart 1"/>
          <p:cNvGraphicFramePr/>
          <p:nvPr/>
        </p:nvGraphicFramePr>
        <p:xfrm>
          <a:off x="2523240" y="3794040"/>
          <a:ext cx="2245680" cy="1604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1" name="Text 13">
            <a:extLst>
              <a:ext uri="{FF2B5EF4-FFF2-40B4-BE49-F238E27FC236}">
                <a16:creationId xmlns:a16="http://schemas.microsoft.com/office/drawing/2014/main" id="{C611D249-B982-4EEF-8505-149A903D85BA}"/>
              </a:ext>
            </a:extLst>
          </p:cNvPr>
          <p:cNvSpPr>
            <a:spLocks noGrp="1"/>
          </p:cNvSpPr>
          <p:nvPr/>
        </p:nvSpPr>
        <p:spPr>
          <a:xfrm>
            <a:off x="4973040" y="3855600"/>
            <a:ext cx="537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362" name="Text 14">
            <a:extLst>
              <a:ext uri="{FF2B5EF4-FFF2-40B4-BE49-F238E27FC236}">
                <a16:creationId xmlns:a16="http://schemas.microsoft.com/office/drawing/2014/main" id="{6067DEC1-E76F-498C-A9E0-DEC09F81C6BA}"/>
              </a:ext>
            </a:extLst>
          </p:cNvPr>
          <p:cNvSpPr>
            <a:spLocks noGrp="1"/>
          </p:cNvSpPr>
          <p:nvPr/>
        </p:nvSpPr>
        <p:spPr>
          <a:xfrm>
            <a:off x="5552640" y="3874320"/>
            <a:ext cx="61488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47%</a:t>
            </a:r>
          </a:p>
        </p:txBody>
      </p:sp>
      <p:sp>
        <p:nvSpPr>
          <p:cNvPr id="363" name="Text 15">
            <a:extLst>
              <a:ext uri="{FF2B5EF4-FFF2-40B4-BE49-F238E27FC236}">
                <a16:creationId xmlns:a16="http://schemas.microsoft.com/office/drawing/2014/main" id="{2950C848-3C56-4F23-B3E0-8D5BFD1AA9DA}"/>
              </a:ext>
            </a:extLst>
          </p:cNvPr>
          <p:cNvSpPr>
            <a:spLocks noGrp="1"/>
          </p:cNvSpPr>
          <p:nvPr/>
        </p:nvSpPr>
        <p:spPr>
          <a:xfrm>
            <a:off x="6019200" y="3854880"/>
            <a:ext cx="371880" cy="2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26%</a:t>
            </a:r>
          </a:p>
        </p:txBody>
      </p:sp>
      <p:sp>
        <p:nvSpPr>
          <p:cNvPr id="364" name="Text 16">
            <a:extLst>
              <a:ext uri="{FF2B5EF4-FFF2-40B4-BE49-F238E27FC236}">
                <a16:creationId xmlns:a16="http://schemas.microsoft.com/office/drawing/2014/main" id="{A3DD3B84-5C33-49EC-ADAD-8DB15BBE8C9D}"/>
              </a:ext>
            </a:extLst>
          </p:cNvPr>
          <p:cNvSpPr>
            <a:spLocks noGrp="1"/>
          </p:cNvSpPr>
          <p:nvPr/>
        </p:nvSpPr>
        <p:spPr>
          <a:xfrm>
            <a:off x="6447600" y="3903480"/>
            <a:ext cx="41292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  <p:graphicFrame>
        <p:nvGraphicFramePr>
          <p:cNvPr id="464" name="Chart 2"/>
          <p:cNvGraphicFramePr/>
          <p:nvPr/>
        </p:nvGraphicFramePr>
        <p:xfrm>
          <a:off x="4830840" y="3790080"/>
          <a:ext cx="2307960" cy="1621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6" name="Shape 17">
            <a:extLst>
              <a:ext uri="{FF2B5EF4-FFF2-40B4-BE49-F238E27FC236}">
                <a16:creationId xmlns:a16="http://schemas.microsoft.com/office/drawing/2014/main" id="{918CB594-9BEA-4A45-8753-700CBB27F75C}"/>
              </a:ext>
            </a:extLst>
          </p:cNvPr>
          <p:cNvSpPr>
            <a:spLocks noGrp="1"/>
          </p:cNvSpPr>
          <p:nvPr/>
        </p:nvSpPr>
        <p:spPr>
          <a:xfrm>
            <a:off x="212760" y="5470200"/>
            <a:ext cx="6926040" cy="323280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367" name="Text 18">
            <a:extLst>
              <a:ext uri="{FF2B5EF4-FFF2-40B4-BE49-F238E27FC236}">
                <a16:creationId xmlns:a16="http://schemas.microsoft.com/office/drawing/2014/main" id="{294AF385-571E-4140-8E1A-BA66A6D3F889}"/>
              </a:ext>
            </a:extLst>
          </p:cNvPr>
          <p:cNvSpPr>
            <a:spLocks noGrp="1"/>
          </p:cNvSpPr>
          <p:nvPr/>
        </p:nvSpPr>
        <p:spPr>
          <a:xfrm>
            <a:off x="212760" y="5468760"/>
            <a:ext cx="69260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North | The Derma Co. — Top 3 Sub-category Monthly Trend (NSV)</a:t>
            </a:r>
          </a:p>
        </p:txBody>
      </p:sp>
      <p:sp>
        <p:nvSpPr>
          <p:cNvPr id="368" name="Text 19">
            <a:extLst>
              <a:ext uri="{FF2B5EF4-FFF2-40B4-BE49-F238E27FC236}">
                <a16:creationId xmlns:a16="http://schemas.microsoft.com/office/drawing/2014/main" id="{4C6ED42F-101C-4085-BDD8-CEFDB725977C}"/>
              </a:ext>
            </a:extLst>
          </p:cNvPr>
          <p:cNvSpPr>
            <a:spLocks noGrp="1"/>
          </p:cNvSpPr>
          <p:nvPr/>
        </p:nvSpPr>
        <p:spPr>
          <a:xfrm>
            <a:off x="336240" y="5868000"/>
            <a:ext cx="397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369" name="Text 20">
            <a:extLst>
              <a:ext uri="{FF2B5EF4-FFF2-40B4-BE49-F238E27FC236}">
                <a16:creationId xmlns:a16="http://schemas.microsoft.com/office/drawing/2014/main" id="{2E68D505-8166-42DD-8000-C516615186F4}"/>
              </a:ext>
            </a:extLst>
          </p:cNvPr>
          <p:cNvSpPr>
            <a:spLocks noGrp="1"/>
          </p:cNvSpPr>
          <p:nvPr/>
        </p:nvSpPr>
        <p:spPr>
          <a:xfrm>
            <a:off x="630360" y="5868000"/>
            <a:ext cx="471600" cy="24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1400%</a:t>
            </a:r>
          </a:p>
        </p:txBody>
      </p:sp>
      <p:sp>
        <p:nvSpPr>
          <p:cNvPr id="370" name="Text 21">
            <a:extLst>
              <a:ext uri="{FF2B5EF4-FFF2-40B4-BE49-F238E27FC236}">
                <a16:creationId xmlns:a16="http://schemas.microsoft.com/office/drawing/2014/main" id="{A48DE14E-0B65-4D48-A842-13A565984A94}"/>
              </a:ext>
            </a:extLst>
          </p:cNvPr>
          <p:cNvSpPr>
            <a:spLocks noGrp="1"/>
          </p:cNvSpPr>
          <p:nvPr/>
        </p:nvSpPr>
        <p:spPr>
          <a:xfrm>
            <a:off x="1238760" y="5883480"/>
            <a:ext cx="425880" cy="17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2%</a:t>
            </a:r>
          </a:p>
        </p:txBody>
      </p:sp>
      <p:sp>
        <p:nvSpPr>
          <p:cNvPr id="371" name="Text 22">
            <a:extLst>
              <a:ext uri="{FF2B5EF4-FFF2-40B4-BE49-F238E27FC236}">
                <a16:creationId xmlns:a16="http://schemas.microsoft.com/office/drawing/2014/main" id="{47C6F50F-2026-40AD-8463-1986B00275B7}"/>
              </a:ext>
            </a:extLst>
          </p:cNvPr>
          <p:cNvSpPr>
            <a:spLocks noGrp="1"/>
          </p:cNvSpPr>
          <p:nvPr/>
        </p:nvSpPr>
        <p:spPr>
          <a:xfrm>
            <a:off x="1808280" y="5874480"/>
            <a:ext cx="49608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Jun'26 135</a:t>
            </a:r>
          </a:p>
        </p:txBody>
      </p:sp>
      <p:graphicFrame>
        <p:nvGraphicFramePr>
          <p:cNvPr id="471" name="Chart 3"/>
          <p:cNvGraphicFramePr/>
          <p:nvPr/>
        </p:nvGraphicFramePr>
        <p:xfrm>
          <a:off x="176760" y="5845680"/>
          <a:ext cx="2239560" cy="146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73" name="Text 23">
            <a:extLst>
              <a:ext uri="{FF2B5EF4-FFF2-40B4-BE49-F238E27FC236}">
                <a16:creationId xmlns:a16="http://schemas.microsoft.com/office/drawing/2014/main" id="{24C39CC9-327D-4C94-B84A-F72E358574A1}"/>
              </a:ext>
            </a:extLst>
          </p:cNvPr>
          <p:cNvSpPr>
            <a:spLocks noGrp="1"/>
          </p:cNvSpPr>
          <p:nvPr/>
        </p:nvSpPr>
        <p:spPr>
          <a:xfrm>
            <a:off x="2622240" y="5868000"/>
            <a:ext cx="54108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374" name="Text 24">
            <a:extLst>
              <a:ext uri="{FF2B5EF4-FFF2-40B4-BE49-F238E27FC236}">
                <a16:creationId xmlns:a16="http://schemas.microsoft.com/office/drawing/2014/main" id="{A8472866-E486-4721-BD26-E99B22F2E399}"/>
              </a:ext>
            </a:extLst>
          </p:cNvPr>
          <p:cNvSpPr>
            <a:spLocks noGrp="1"/>
          </p:cNvSpPr>
          <p:nvPr/>
        </p:nvSpPr>
        <p:spPr>
          <a:xfrm>
            <a:off x="3191760" y="5935680"/>
            <a:ext cx="447480" cy="20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283%</a:t>
            </a:r>
          </a:p>
        </p:txBody>
      </p:sp>
      <p:sp>
        <p:nvSpPr>
          <p:cNvPr id="375" name="Text 25">
            <a:extLst>
              <a:ext uri="{FF2B5EF4-FFF2-40B4-BE49-F238E27FC236}">
                <a16:creationId xmlns:a16="http://schemas.microsoft.com/office/drawing/2014/main" id="{79AF083A-3DC6-470B-9122-51EDEE64B134}"/>
              </a:ext>
            </a:extLst>
          </p:cNvPr>
          <p:cNvSpPr>
            <a:spLocks noGrp="1"/>
          </p:cNvSpPr>
          <p:nvPr/>
        </p:nvSpPr>
        <p:spPr>
          <a:xfrm>
            <a:off x="3673080" y="5898240"/>
            <a:ext cx="40572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25%</a:t>
            </a:r>
          </a:p>
        </p:txBody>
      </p:sp>
      <p:sp>
        <p:nvSpPr>
          <p:cNvPr id="376" name="Text 26">
            <a:extLst>
              <a:ext uri="{FF2B5EF4-FFF2-40B4-BE49-F238E27FC236}">
                <a16:creationId xmlns:a16="http://schemas.microsoft.com/office/drawing/2014/main" id="{E0FEF19C-0C30-46B8-9BCC-E6CD5568F245}"/>
              </a:ext>
            </a:extLst>
          </p:cNvPr>
          <p:cNvSpPr>
            <a:spLocks noGrp="1"/>
          </p:cNvSpPr>
          <p:nvPr/>
        </p:nvSpPr>
        <p:spPr>
          <a:xfrm>
            <a:off x="4092120" y="5888160"/>
            <a:ext cx="51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  <p:graphicFrame>
        <p:nvGraphicFramePr>
          <p:cNvPr id="476" name="Chart 4"/>
          <p:cNvGraphicFramePr/>
          <p:nvPr/>
        </p:nvGraphicFramePr>
        <p:xfrm>
          <a:off x="2495160" y="5860080"/>
          <a:ext cx="2273760" cy="1482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78" name="Text 27">
            <a:extLst>
              <a:ext uri="{FF2B5EF4-FFF2-40B4-BE49-F238E27FC236}">
                <a16:creationId xmlns:a16="http://schemas.microsoft.com/office/drawing/2014/main" id="{82A7A09F-FEA6-4642-8742-59AA7A8792AD}"/>
              </a:ext>
            </a:extLst>
          </p:cNvPr>
          <p:cNvSpPr>
            <a:spLocks noGrp="1"/>
          </p:cNvSpPr>
          <p:nvPr/>
        </p:nvSpPr>
        <p:spPr>
          <a:xfrm>
            <a:off x="5022360" y="5889600"/>
            <a:ext cx="565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Face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Serum</a:t>
            </a:r>
          </a:p>
        </p:txBody>
      </p:sp>
      <p:sp>
        <p:nvSpPr>
          <p:cNvPr id="379" name="Text 28">
            <a:extLst>
              <a:ext uri="{FF2B5EF4-FFF2-40B4-BE49-F238E27FC236}">
                <a16:creationId xmlns:a16="http://schemas.microsoft.com/office/drawing/2014/main" id="{7AD9F572-8F3A-4E3D-A0E9-A219CA8880F8}"/>
              </a:ext>
            </a:extLst>
          </p:cNvPr>
          <p:cNvSpPr>
            <a:spLocks noGrp="1"/>
          </p:cNvSpPr>
          <p:nvPr/>
        </p:nvSpPr>
        <p:spPr>
          <a:xfrm>
            <a:off x="5538240" y="5902200"/>
            <a:ext cx="43920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88%</a:t>
            </a:r>
          </a:p>
        </p:txBody>
      </p:sp>
      <p:sp>
        <p:nvSpPr>
          <p:cNvPr id="380" name="Text 29">
            <a:extLst>
              <a:ext uri="{FF2B5EF4-FFF2-40B4-BE49-F238E27FC236}">
                <a16:creationId xmlns:a16="http://schemas.microsoft.com/office/drawing/2014/main" id="{9A19D1BC-E34C-425C-B32C-1257DD89AE8B}"/>
              </a:ext>
            </a:extLst>
          </p:cNvPr>
          <p:cNvSpPr>
            <a:spLocks noGrp="1"/>
          </p:cNvSpPr>
          <p:nvPr/>
        </p:nvSpPr>
        <p:spPr>
          <a:xfrm>
            <a:off x="6181920" y="5921280"/>
            <a:ext cx="40572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▼ 6%</a:t>
            </a:r>
          </a:p>
        </p:txBody>
      </p:sp>
      <p:sp>
        <p:nvSpPr>
          <p:cNvPr id="381" name="Text 30">
            <a:extLst>
              <a:ext uri="{FF2B5EF4-FFF2-40B4-BE49-F238E27FC236}">
                <a16:creationId xmlns:a16="http://schemas.microsoft.com/office/drawing/2014/main" id="{A974794B-32BB-4237-B73B-23DD324E17A8}"/>
              </a:ext>
            </a:extLst>
          </p:cNvPr>
          <p:cNvSpPr>
            <a:spLocks noGrp="1"/>
          </p:cNvSpPr>
          <p:nvPr/>
        </p:nvSpPr>
        <p:spPr>
          <a:xfrm>
            <a:off x="6568920" y="5910480"/>
            <a:ext cx="451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481" name="Chart 5"/>
          <p:cNvGraphicFramePr/>
          <p:nvPr/>
        </p:nvGraphicFramePr>
        <p:xfrm>
          <a:off x="4841280" y="5860440"/>
          <a:ext cx="2297520" cy="148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82" name="Table 190"/>
          <p:cNvGraphicFramePr/>
          <p:nvPr/>
        </p:nvGraphicFramePr>
        <p:xfrm>
          <a:off x="212760" y="1935000"/>
          <a:ext cx="6936840" cy="1464120"/>
        </p:xfrm>
        <a:graphic>
          <a:graphicData uri="http://schemas.openxmlformats.org/drawingml/2006/table">
            <a:tbl>
              <a:tblPr/>
              <a:tblGrid>
                <a:gridCol w="12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42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 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453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673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618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638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3%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36%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243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223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26%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15%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519%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80%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Emerging Brands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3" name="Table 193"/>
          <p:cNvGraphicFramePr/>
          <p:nvPr/>
        </p:nvGraphicFramePr>
        <p:xfrm>
          <a:off x="212760" y="7863480"/>
          <a:ext cx="7008480" cy="1615680"/>
        </p:xfrm>
        <a:graphic>
          <a:graphicData uri="http://schemas.openxmlformats.org/drawingml/2006/table">
            <a:tbl>
              <a:tblPr/>
              <a:tblGrid>
                <a:gridCol w="17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Dmart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182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351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328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38%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308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6%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80%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Reliance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337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309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36%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295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60%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Apollo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161%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Sancus(Rmt)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18%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Lulu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260%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Metro Cnc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34%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Others Combined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32%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18%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5" name="Rectangle 81">
            <a:extLst>
              <a:ext uri="{FF2B5EF4-FFF2-40B4-BE49-F238E27FC236}">
                <a16:creationId xmlns:a16="http://schemas.microsoft.com/office/drawing/2014/main" id="{A038C51E-CF03-45AB-8127-9B0CE98D9D29}"/>
              </a:ext>
            </a:extLst>
          </p:cNvPr>
          <p:cNvSpPr>
            <a:spLocks noGrp="1"/>
          </p:cNvSpPr>
          <p:nvPr/>
        </p:nvSpPr>
        <p:spPr>
          <a:xfrm>
            <a:off x="0" y="15840"/>
            <a:ext cx="75625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386" name="Graphic 278">
            <a:extLst>
              <a:ext uri="{FF2B5EF4-FFF2-40B4-BE49-F238E27FC236}">
                <a16:creationId xmlns:a16="http://schemas.microsoft.com/office/drawing/2014/main" id="{3F15A763-C5F6-4FA0-9416-64CA1218AE7B}"/>
              </a:ext>
            </a:extLst>
          </p:cNvPr>
          <p:cNvSpPr>
            <a:spLocks noGrp="1"/>
          </p:cNvSpPr>
          <p:nvPr/>
        </p:nvSpPr>
        <p:spPr>
          <a:xfrm>
            <a:off x="228600" y="9543600"/>
            <a:ext cx="6910200" cy="1078920"/>
          </a:xfrm>
          <a:custGeom>
            <a:avLst/>
            <a:gdLst>
              <a:gd name="textAreaLeft" fmla="*/ 0 w 6910200"/>
              <a:gd name="textAreaRight" fmla="*/ 6910560 w 6910200"/>
              <a:gd name="textAreaTop" fmla="*/ 0 h 1078920"/>
              <a:gd name="textAreaBottom" fmla="*/ 1079280 h 1078920"/>
            </a:gdLst>
            <a:ahLst/>
            <a:cxnLst/>
            <a:rect l="textAreaLeft" t="textAreaTop" r="textAreaRight" b="textAreaBottom"/>
            <a:pathLst>
              <a:path w="6950709" h="2163445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2074415"/>
                </a:lnTo>
                <a:lnTo>
                  <a:pt x="6979" y="2109038"/>
                </a:lnTo>
                <a:lnTo>
                  <a:pt x="26021" y="2137294"/>
                </a:lnTo>
                <a:lnTo>
                  <a:pt x="54276" y="2156335"/>
                </a:lnTo>
                <a:lnTo>
                  <a:pt x="88900" y="2163315"/>
                </a:lnTo>
                <a:lnTo>
                  <a:pt x="6861500" y="2163315"/>
                </a:lnTo>
                <a:lnTo>
                  <a:pt x="6896123" y="2156335"/>
                </a:lnTo>
                <a:lnTo>
                  <a:pt x="6924379" y="2137294"/>
                </a:lnTo>
                <a:lnTo>
                  <a:pt x="6943420" y="2109038"/>
                </a:lnTo>
                <a:lnTo>
                  <a:pt x="6950400" y="2074415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EFFD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87" name="Graphic 280">
            <a:extLst>
              <a:ext uri="{FF2B5EF4-FFF2-40B4-BE49-F238E27FC236}">
                <a16:creationId xmlns:a16="http://schemas.microsoft.com/office/drawing/2014/main" id="{D218EE25-947A-4D41-B64B-101C50E416A2}"/>
              </a:ext>
            </a:extLst>
          </p:cNvPr>
          <p:cNvSpPr>
            <a:spLocks noGrp="1"/>
          </p:cNvSpPr>
          <p:nvPr/>
        </p:nvSpPr>
        <p:spPr>
          <a:xfrm>
            <a:off x="212760" y="9495360"/>
            <a:ext cx="6910200" cy="207720"/>
          </a:xfrm>
          <a:custGeom>
            <a:avLst/>
            <a:gdLst>
              <a:gd name="textAreaLeft" fmla="*/ 0 w 6910200"/>
              <a:gd name="textAreaRight" fmla="*/ 6910560 w 6910200"/>
              <a:gd name="textAreaTop" fmla="*/ 0 h 207720"/>
              <a:gd name="textAreaBottom" fmla="*/ 208080 h 207720"/>
            </a:gdLst>
            <a:ahLst/>
            <a:cxnLst/>
            <a:rect l="textAreaLeft" t="textAreaTop" r="textAreaRight" b="textAreaBottom"/>
            <a:pathLst>
              <a:path w="6950709" h="241300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152399"/>
                </a:lnTo>
                <a:lnTo>
                  <a:pt x="6979" y="187023"/>
                </a:lnTo>
                <a:lnTo>
                  <a:pt x="26021" y="215278"/>
                </a:lnTo>
                <a:lnTo>
                  <a:pt x="54276" y="234320"/>
                </a:lnTo>
                <a:lnTo>
                  <a:pt x="88900" y="241299"/>
                </a:lnTo>
                <a:lnTo>
                  <a:pt x="6861500" y="241299"/>
                </a:lnTo>
                <a:lnTo>
                  <a:pt x="6896123" y="234320"/>
                </a:lnTo>
                <a:lnTo>
                  <a:pt x="6924379" y="215278"/>
                </a:lnTo>
                <a:lnTo>
                  <a:pt x="6943420" y="187023"/>
                </a:lnTo>
                <a:lnTo>
                  <a:pt x="6950400" y="152399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0377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88" name="Graphic 281">
            <a:extLst>
              <a:ext uri="{FF2B5EF4-FFF2-40B4-BE49-F238E27FC236}">
                <a16:creationId xmlns:a16="http://schemas.microsoft.com/office/drawing/2014/main" id="{205228A3-C83F-438E-8C42-478D4E2E2B60}"/>
              </a:ext>
            </a:extLst>
          </p:cNvPr>
          <p:cNvSpPr>
            <a:spLocks noGrp="1"/>
          </p:cNvSpPr>
          <p:nvPr/>
        </p:nvSpPr>
        <p:spPr>
          <a:xfrm>
            <a:off x="31248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89" name="Graphic 282">
            <a:extLst>
              <a:ext uri="{FF2B5EF4-FFF2-40B4-BE49-F238E27FC236}">
                <a16:creationId xmlns:a16="http://schemas.microsoft.com/office/drawing/2014/main" id="{9E577166-1F86-4666-BD3D-45B0ADAE0130}"/>
              </a:ext>
            </a:extLst>
          </p:cNvPr>
          <p:cNvSpPr>
            <a:spLocks noGrp="1"/>
          </p:cNvSpPr>
          <p:nvPr/>
        </p:nvSpPr>
        <p:spPr>
          <a:xfrm>
            <a:off x="33120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90" name="Graphic 283">
            <a:extLst>
              <a:ext uri="{FF2B5EF4-FFF2-40B4-BE49-F238E27FC236}">
                <a16:creationId xmlns:a16="http://schemas.microsoft.com/office/drawing/2014/main" id="{36815D51-81A8-45B5-9277-67DED23B15FB}"/>
              </a:ext>
            </a:extLst>
          </p:cNvPr>
          <p:cNvSpPr>
            <a:spLocks noGrp="1"/>
          </p:cNvSpPr>
          <p:nvPr/>
        </p:nvSpPr>
        <p:spPr>
          <a:xfrm>
            <a:off x="2022480" y="1006452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91" name="Graphic 284">
            <a:extLst>
              <a:ext uri="{FF2B5EF4-FFF2-40B4-BE49-F238E27FC236}">
                <a16:creationId xmlns:a16="http://schemas.microsoft.com/office/drawing/2014/main" id="{3D71B1E2-37C4-45E4-9888-CC5FC6130083}"/>
              </a:ext>
            </a:extLst>
          </p:cNvPr>
          <p:cNvSpPr>
            <a:spLocks noGrp="1"/>
          </p:cNvSpPr>
          <p:nvPr/>
        </p:nvSpPr>
        <p:spPr>
          <a:xfrm>
            <a:off x="201456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92" name="Graphic 285">
            <a:extLst>
              <a:ext uri="{FF2B5EF4-FFF2-40B4-BE49-F238E27FC236}">
                <a16:creationId xmlns:a16="http://schemas.microsoft.com/office/drawing/2014/main" id="{9AF4D95C-F9A9-4618-A874-0DCAC4D9B54E}"/>
              </a:ext>
            </a:extLst>
          </p:cNvPr>
          <p:cNvSpPr>
            <a:spLocks noGrp="1"/>
          </p:cNvSpPr>
          <p:nvPr/>
        </p:nvSpPr>
        <p:spPr>
          <a:xfrm>
            <a:off x="3688920" y="1006128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93" name="Graphic 286">
            <a:extLst>
              <a:ext uri="{FF2B5EF4-FFF2-40B4-BE49-F238E27FC236}">
                <a16:creationId xmlns:a16="http://schemas.microsoft.com/office/drawing/2014/main" id="{265AD91A-1031-47EB-B1A2-F2738A42E0ED}"/>
              </a:ext>
            </a:extLst>
          </p:cNvPr>
          <p:cNvSpPr>
            <a:spLocks noGrp="1"/>
          </p:cNvSpPr>
          <p:nvPr/>
        </p:nvSpPr>
        <p:spPr>
          <a:xfrm>
            <a:off x="368892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94" name="Graphic 287">
            <a:extLst>
              <a:ext uri="{FF2B5EF4-FFF2-40B4-BE49-F238E27FC236}">
                <a16:creationId xmlns:a16="http://schemas.microsoft.com/office/drawing/2014/main" id="{037E218A-9775-43EC-9F81-E61A174CF6D6}"/>
              </a:ext>
            </a:extLst>
          </p:cNvPr>
          <p:cNvSpPr>
            <a:spLocks noGrp="1"/>
          </p:cNvSpPr>
          <p:nvPr/>
        </p:nvSpPr>
        <p:spPr>
          <a:xfrm>
            <a:off x="538128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95" name="Graphic 288">
            <a:extLst>
              <a:ext uri="{FF2B5EF4-FFF2-40B4-BE49-F238E27FC236}">
                <a16:creationId xmlns:a16="http://schemas.microsoft.com/office/drawing/2014/main" id="{F4140652-5422-4A03-B4AB-769B8B8EF15A}"/>
              </a:ext>
            </a:extLst>
          </p:cNvPr>
          <p:cNvSpPr>
            <a:spLocks noGrp="1"/>
          </p:cNvSpPr>
          <p:nvPr/>
        </p:nvSpPr>
        <p:spPr>
          <a:xfrm>
            <a:off x="537192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396" name="Textbox 289">
            <a:extLst>
              <a:ext uri="{FF2B5EF4-FFF2-40B4-BE49-F238E27FC236}">
                <a16:creationId xmlns:a16="http://schemas.microsoft.com/office/drawing/2014/main" id="{87259DA3-6DDD-47FC-AC88-A98A26331E86}"/>
              </a:ext>
            </a:extLst>
          </p:cNvPr>
          <p:cNvSpPr>
            <a:spLocks noGrp="1"/>
          </p:cNvSpPr>
          <p:nvPr/>
        </p:nvSpPr>
        <p:spPr>
          <a:xfrm>
            <a:off x="339120" y="9493920"/>
            <a:ext cx="6677640" cy="24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CHAIN KEY HIGHLIGHTS</a:t>
            </a:r>
          </a:p>
        </p:txBody>
      </p:sp>
      <p:sp>
        <p:nvSpPr>
          <p:cNvPr id="397" name="Textbox 290">
            <a:extLst>
              <a:ext uri="{FF2B5EF4-FFF2-40B4-BE49-F238E27FC236}">
                <a16:creationId xmlns:a16="http://schemas.microsoft.com/office/drawing/2014/main" id="{F6FDBB1B-98EA-4D21-817E-CC473909CFF1}"/>
              </a:ext>
            </a:extLst>
          </p:cNvPr>
          <p:cNvSpPr>
            <a:spLocks noGrp="1"/>
          </p:cNvSpPr>
          <p:nvPr/>
        </p:nvSpPr>
        <p:spPr>
          <a:xfrm>
            <a:off x="320400" y="9741960"/>
            <a:ext cx="66960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ts val="859"/>
              </a:lnSpc>
              <a:buClr>
                <a:srgbClr val="000000"/>
              </a:buClr>
              <a:buFont typeface="Symbol"/>
              <a:buChar char=""/>
            </a:pPr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North closed Jun-26 at 860, ▲ 1% vs L3M and ▲ 72% vs Jun-25; Q1 FY27 ▲ 67% YoY (corrected NSV).</a:t>
            </a:r>
            <a:br/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Chain Highlights: Dmart leads; Lulu is the fastest YoY chain.</a:t>
            </a:r>
          </a:p>
        </p:txBody>
      </p:sp>
      <p:sp>
        <p:nvSpPr>
          <p:cNvPr id="398" name="Textbox 291">
            <a:extLst>
              <a:ext uri="{FF2B5EF4-FFF2-40B4-BE49-F238E27FC236}">
                <a16:creationId xmlns:a16="http://schemas.microsoft.com/office/drawing/2014/main" id="{61408976-E1B7-486A-854D-86FB321BD876}"/>
              </a:ext>
            </a:extLst>
          </p:cNvPr>
          <p:cNvSpPr>
            <a:spLocks noGrp="1"/>
          </p:cNvSpPr>
          <p:nvPr/>
        </p:nvSpPr>
        <p:spPr>
          <a:xfrm>
            <a:off x="394200" y="10137240"/>
            <a:ext cx="475200" cy="1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Lead Chain</a:t>
            </a:r>
          </a:p>
        </p:txBody>
      </p:sp>
      <p:sp>
        <p:nvSpPr>
          <p:cNvPr id="399" name="Textbox 292">
            <a:extLst>
              <a:ext uri="{FF2B5EF4-FFF2-40B4-BE49-F238E27FC236}">
                <a16:creationId xmlns:a16="http://schemas.microsoft.com/office/drawing/2014/main" id="{3F44219A-4B31-4CA8-B496-2E9681D429A6}"/>
              </a:ext>
            </a:extLst>
          </p:cNvPr>
          <p:cNvSpPr>
            <a:spLocks noGrp="1"/>
          </p:cNvSpPr>
          <p:nvPr/>
        </p:nvSpPr>
        <p:spPr>
          <a:xfrm>
            <a:off x="2077560" y="10137240"/>
            <a:ext cx="76680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Fastest YoY Chain</a:t>
            </a:r>
          </a:p>
        </p:txBody>
      </p:sp>
      <p:sp>
        <p:nvSpPr>
          <p:cNvPr id="400" name="Textbox 293">
            <a:extLst>
              <a:ext uri="{FF2B5EF4-FFF2-40B4-BE49-F238E27FC236}">
                <a16:creationId xmlns:a16="http://schemas.microsoft.com/office/drawing/2014/main" id="{83E832FD-B07B-4EB2-B3E1-B6399CBC8DBB}"/>
              </a:ext>
            </a:extLst>
          </p:cNvPr>
          <p:cNvSpPr>
            <a:spLocks noGrp="1"/>
          </p:cNvSpPr>
          <p:nvPr/>
        </p:nvSpPr>
        <p:spPr>
          <a:xfrm>
            <a:off x="3760920" y="10137240"/>
            <a:ext cx="81900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Record Chain Lines</a:t>
            </a:r>
          </a:p>
        </p:txBody>
      </p:sp>
      <p:sp>
        <p:nvSpPr>
          <p:cNvPr id="401" name="Textbox 294">
            <a:extLst>
              <a:ext uri="{FF2B5EF4-FFF2-40B4-BE49-F238E27FC236}">
                <a16:creationId xmlns:a16="http://schemas.microsoft.com/office/drawing/2014/main" id="{2D75DBE9-548F-482F-8701-4001080623BA}"/>
              </a:ext>
            </a:extLst>
          </p:cNvPr>
          <p:cNvSpPr>
            <a:spLocks noGrp="1"/>
          </p:cNvSpPr>
          <p:nvPr/>
        </p:nvSpPr>
        <p:spPr>
          <a:xfrm>
            <a:off x="5444280" y="10137240"/>
            <a:ext cx="53748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Zone Record</a:t>
            </a:r>
          </a:p>
        </p:txBody>
      </p:sp>
      <p:sp>
        <p:nvSpPr>
          <p:cNvPr id="402" name="Textbox 295">
            <a:extLst>
              <a:ext uri="{FF2B5EF4-FFF2-40B4-BE49-F238E27FC236}">
                <a16:creationId xmlns:a16="http://schemas.microsoft.com/office/drawing/2014/main" id="{75CF229E-5E47-46DE-9895-8F520FFF1F99}"/>
              </a:ext>
            </a:extLst>
          </p:cNvPr>
          <p:cNvSpPr>
            <a:spLocks noGrp="1"/>
          </p:cNvSpPr>
          <p:nvPr/>
        </p:nvSpPr>
        <p:spPr>
          <a:xfrm>
            <a:off x="393840" y="10267200"/>
            <a:ext cx="576720" cy="5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Dmart - 328</a:t>
            </a:r>
          </a:p>
        </p:txBody>
      </p:sp>
      <p:sp>
        <p:nvSpPr>
          <p:cNvPr id="403" name="Textbox 296">
            <a:extLst>
              <a:ext uri="{FF2B5EF4-FFF2-40B4-BE49-F238E27FC236}">
                <a16:creationId xmlns:a16="http://schemas.microsoft.com/office/drawing/2014/main" id="{0E4FAF30-40DD-4F8B-AF1F-BAC338C8BB80}"/>
              </a:ext>
            </a:extLst>
          </p:cNvPr>
          <p:cNvSpPr>
            <a:spLocks noGrp="1"/>
          </p:cNvSpPr>
          <p:nvPr/>
        </p:nvSpPr>
        <p:spPr>
          <a:xfrm>
            <a:off x="2067120" y="10260720"/>
            <a:ext cx="113040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51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Lulu  - </a:t>
            </a: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260%</a:t>
            </a:r>
          </a:p>
        </p:txBody>
      </p:sp>
      <p:sp>
        <p:nvSpPr>
          <p:cNvPr id="404" name="Textbox 297">
            <a:extLst>
              <a:ext uri="{FF2B5EF4-FFF2-40B4-BE49-F238E27FC236}">
                <a16:creationId xmlns:a16="http://schemas.microsoft.com/office/drawing/2014/main" id="{93782846-9941-4105-8919-08A0F5E4F607}"/>
              </a:ext>
            </a:extLst>
          </p:cNvPr>
          <p:cNvSpPr>
            <a:spLocks noGrp="1"/>
          </p:cNvSpPr>
          <p:nvPr/>
        </p:nvSpPr>
        <p:spPr>
          <a:xfrm>
            <a:off x="3738960" y="10253160"/>
            <a:ext cx="1607040" cy="36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Dmart, Reliance, Apollo, </a:t>
            </a:r>
          </a:p>
        </p:txBody>
      </p:sp>
      <p:sp>
        <p:nvSpPr>
          <p:cNvPr id="405" name="Textbox 298">
            <a:extLst>
              <a:ext uri="{FF2B5EF4-FFF2-40B4-BE49-F238E27FC236}">
                <a16:creationId xmlns:a16="http://schemas.microsoft.com/office/drawing/2014/main" id="{704F99C4-4EA8-44B1-B56F-DF782A69E995}"/>
              </a:ext>
            </a:extLst>
          </p:cNvPr>
          <p:cNvSpPr>
            <a:spLocks noGrp="1"/>
          </p:cNvSpPr>
          <p:nvPr/>
        </p:nvSpPr>
        <p:spPr>
          <a:xfrm>
            <a:off x="5444280" y="10267200"/>
            <a:ext cx="743760" cy="1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May-26 - 936 </a:t>
            </a:r>
          </a:p>
        </p:txBody>
      </p:sp>
      <p:sp>
        <p:nvSpPr>
          <p:cNvPr id="407" name="TextBox 218">
            <a:extLst>
              <a:ext uri="{FF2B5EF4-FFF2-40B4-BE49-F238E27FC236}">
                <a16:creationId xmlns:a16="http://schemas.microsoft.com/office/drawing/2014/main" id="{B20C8A0F-00CA-4130-8B67-B39D43CDFC6B}"/>
              </a:ext>
            </a:extLst>
          </p:cNvPr>
          <p:cNvSpPr>
            <a:spLocks noGrp="1"/>
          </p:cNvSpPr>
          <p:nvPr/>
        </p:nvSpPr>
        <p:spPr>
          <a:xfrm>
            <a:off x="212760" y="7400880"/>
            <a:ext cx="6926040" cy="361080"/>
          </a:xfrm>
          <a:prstGeom prst="rect">
            <a:avLst/>
          </a:prstGeom>
          <a:solidFill>
            <a:srgbClr val="2D9B7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5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North Chain Summary</a:t>
            </a:r>
          </a:p>
        </p:txBody>
      </p:sp>
      <p:pic>
        <p:nvPicPr>
          <p:cNvPr id="506" name="Picture 2"/>
          <p:cNvPicPr>
            <a:picLocks noChangeAspect="1"/>
          </p:cNvPicPr>
          <p:nvPr/>
        </p:nvPicPr>
        <p:blipFill>
          <a:blip r:embed="rId9"/>
          <a:srcRect l="24445" r="23555"/>
          <a:stretch/>
        </p:blipFill>
        <p:spPr>
          <a:xfrm>
            <a:off x="2622600" y="6149880"/>
            <a:ext cx="212040" cy="407880"/>
          </a:xfrm>
          <a:prstGeom prst="rect">
            <a:avLst/>
          </a:prstGeom>
          <a:ln w="0">
            <a:noFill/>
          </a:ln>
        </p:spPr>
      </p:pic>
      <p:pic>
        <p:nvPicPr>
          <p:cNvPr id="507" name="Picture 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12840" y="6166080"/>
            <a:ext cx="209880" cy="445320"/>
          </a:xfrm>
          <a:prstGeom prst="rect">
            <a:avLst/>
          </a:prstGeom>
          <a:ln w="0">
            <a:noFill/>
          </a:ln>
        </p:spPr>
      </p:pic>
      <p:pic>
        <p:nvPicPr>
          <p:cNvPr id="508" name="Picture 3"/>
          <p:cNvPicPr>
            <a:picLocks noChangeAspect="1"/>
          </p:cNvPicPr>
          <p:nvPr/>
        </p:nvPicPr>
        <p:blipFill>
          <a:blip r:embed="rId11"/>
          <a:srcRect l="27803" t="6058" r="29329" b="4206"/>
          <a:stretch/>
        </p:blipFill>
        <p:spPr>
          <a:xfrm>
            <a:off x="362160" y="4059000"/>
            <a:ext cx="160560" cy="331200"/>
          </a:xfrm>
          <a:prstGeom prst="rect">
            <a:avLst/>
          </a:prstGeom>
          <a:ln w="0">
            <a:noFill/>
          </a:ln>
        </p:spPr>
      </p:pic>
      <p:pic>
        <p:nvPicPr>
          <p:cNvPr id="509" name="Picture 4"/>
          <p:cNvPicPr>
            <a:picLocks noChangeAspect="1"/>
          </p:cNvPicPr>
          <p:nvPr/>
        </p:nvPicPr>
        <p:blipFill>
          <a:blip r:embed="rId12"/>
          <a:srcRect l="32066" t="9039" r="31757" b="9269"/>
          <a:stretch/>
        </p:blipFill>
        <p:spPr>
          <a:xfrm>
            <a:off x="5090760" y="4049280"/>
            <a:ext cx="195840" cy="443160"/>
          </a:xfrm>
          <a:prstGeom prst="rect">
            <a:avLst/>
          </a:prstGeom>
          <a:ln w="0">
            <a:noFill/>
          </a:ln>
        </p:spPr>
      </p:pic>
      <p:pic>
        <p:nvPicPr>
          <p:cNvPr id="510" name="Google Shape;1518;p235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088960" y="6183000"/>
            <a:ext cx="216000" cy="298440"/>
          </a:xfrm>
          <a:prstGeom prst="rect">
            <a:avLst/>
          </a:prstGeom>
          <a:ln w="0">
            <a:noFill/>
          </a:ln>
        </p:spPr>
      </p:pic>
      <p:pic>
        <p:nvPicPr>
          <p:cNvPr id="511" name="Google Shape;1396;p227"/>
          <p:cNvPicPr>
            <a:picLocks noChangeAspect="1"/>
          </p:cNvPicPr>
          <p:nvPr/>
        </p:nvPicPr>
        <p:blipFill>
          <a:blip r:embed="rId14"/>
          <a:srcRect l="19608" b="484"/>
          <a:stretch/>
        </p:blipFill>
        <p:spPr>
          <a:xfrm>
            <a:off x="2676960" y="4024080"/>
            <a:ext cx="178200" cy="412200"/>
          </a:xfrm>
          <a:prstGeom prst="rect">
            <a:avLst/>
          </a:prstGeom>
          <a:ln w="0">
            <a:noFill/>
          </a:ln>
        </p:spPr>
      </p:pic>
      <p:sp>
        <p:nvSpPr>
          <p:cNvPr id="414" name="PageNum">
            <a:extLst>
              <a:ext uri="{FF2B5EF4-FFF2-40B4-BE49-F238E27FC236}">
                <a16:creationId xmlns:a16="http://schemas.microsoft.com/office/drawing/2014/main" id="{5C5C3A38-A0AC-4B15-811F-DE4910B901CB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856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206513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Table 34"/>
          <p:cNvGraphicFramePr/>
          <p:nvPr/>
        </p:nvGraphicFramePr>
        <p:xfrm>
          <a:off x="212760" y="82800"/>
          <a:ext cx="7015680" cy="254160"/>
        </p:xfrm>
        <a:graphic>
          <a:graphicData uri="http://schemas.openxmlformats.org/drawingml/2006/table">
            <a:tbl>
              <a:tblPr/>
              <a:tblGrid>
                <a:gridCol w="701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SOUTH-1 ZONE PERFORMANCE</a:t>
                      </a:r>
                    </a:p>
                  </a:txBody>
                  <a:tcPr marL="65520" marR="65520" marT="0" marB="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6" name="Graphic 251">
            <a:extLst>
              <a:ext uri="{FF2B5EF4-FFF2-40B4-BE49-F238E27FC236}">
                <a16:creationId xmlns:a16="http://schemas.microsoft.com/office/drawing/2014/main" id="{4EC1EC39-8394-4E4B-B174-9753BC117F1C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17" name="Graphic 252">
            <a:extLst>
              <a:ext uri="{FF2B5EF4-FFF2-40B4-BE49-F238E27FC236}">
                <a16:creationId xmlns:a16="http://schemas.microsoft.com/office/drawing/2014/main" id="{10F90E4A-A72D-46A8-866B-8736CA818621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18" name="Textbox 253">
            <a:extLst>
              <a:ext uri="{FF2B5EF4-FFF2-40B4-BE49-F238E27FC236}">
                <a16:creationId xmlns:a16="http://schemas.microsoft.com/office/drawing/2014/main" id="{5B92CFD0-ED81-405A-8E3E-5777A1D7EDF0}"/>
              </a:ext>
            </a:extLst>
          </p:cNvPr>
          <p:cNvSpPr>
            <a:spLocks noGrp="1"/>
          </p:cNvSpPr>
          <p:nvPr/>
        </p:nvSpPr>
        <p:spPr>
          <a:xfrm>
            <a:off x="2127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Jun-26 Sales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827</a:t>
            </a:r>
          </a:p>
        </p:txBody>
      </p:sp>
      <p:sp>
        <p:nvSpPr>
          <p:cNvPr id="419" name="Graphic 255">
            <a:extLst>
              <a:ext uri="{FF2B5EF4-FFF2-40B4-BE49-F238E27FC236}">
                <a16:creationId xmlns:a16="http://schemas.microsoft.com/office/drawing/2014/main" id="{ED61F8B1-9472-4FDE-95CB-2A88C99DC3F6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20" name="Graphic 256">
            <a:extLst>
              <a:ext uri="{FF2B5EF4-FFF2-40B4-BE49-F238E27FC236}">
                <a16:creationId xmlns:a16="http://schemas.microsoft.com/office/drawing/2014/main" id="{8623C7EE-88FD-4267-9BFB-494174B27F34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21" name="Textbox 257">
            <a:extLst>
              <a:ext uri="{FF2B5EF4-FFF2-40B4-BE49-F238E27FC236}">
                <a16:creationId xmlns:a16="http://schemas.microsoft.com/office/drawing/2014/main" id="{F0B79417-9161-42EB-9956-09188D07A9E4}"/>
              </a:ext>
            </a:extLst>
          </p:cNvPr>
          <p:cNvSpPr>
            <a:spLocks noGrp="1"/>
          </p:cNvSpPr>
          <p:nvPr/>
        </p:nvSpPr>
        <p:spPr>
          <a:xfrm>
            <a:off x="198792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Share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21.6%</a:t>
            </a:r>
          </a:p>
        </p:txBody>
      </p:sp>
      <p:sp>
        <p:nvSpPr>
          <p:cNvPr id="422" name="Graphic 259">
            <a:extLst>
              <a:ext uri="{FF2B5EF4-FFF2-40B4-BE49-F238E27FC236}">
                <a16:creationId xmlns:a16="http://schemas.microsoft.com/office/drawing/2014/main" id="{764415D6-F6B9-4BB0-B889-91A0BFF86368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23" name="Graphic 260">
            <a:extLst>
              <a:ext uri="{FF2B5EF4-FFF2-40B4-BE49-F238E27FC236}">
                <a16:creationId xmlns:a16="http://schemas.microsoft.com/office/drawing/2014/main" id="{06862E4C-005C-4112-BAD0-FAFAD7E66962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24" name="Textbox 261">
            <a:extLst>
              <a:ext uri="{FF2B5EF4-FFF2-40B4-BE49-F238E27FC236}">
                <a16:creationId xmlns:a16="http://schemas.microsoft.com/office/drawing/2014/main" id="{09A259C1-013C-462F-9457-76078403CAA3}"/>
              </a:ext>
            </a:extLst>
          </p:cNvPr>
          <p:cNvSpPr>
            <a:spLocks noGrp="1"/>
          </p:cNvSpPr>
          <p:nvPr/>
        </p:nvSpPr>
        <p:spPr>
          <a:xfrm>
            <a:off x="3763440" y="40932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L3M Avg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774</a:t>
            </a:r>
          </a:p>
        </p:txBody>
      </p:sp>
      <p:sp>
        <p:nvSpPr>
          <p:cNvPr id="425" name="Graphic 263">
            <a:extLst>
              <a:ext uri="{FF2B5EF4-FFF2-40B4-BE49-F238E27FC236}">
                <a16:creationId xmlns:a16="http://schemas.microsoft.com/office/drawing/2014/main" id="{33D3F565-7741-4577-BE4A-1E2BED2C8406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26" name="Graphic 264">
            <a:extLst>
              <a:ext uri="{FF2B5EF4-FFF2-40B4-BE49-F238E27FC236}">
                <a16:creationId xmlns:a16="http://schemas.microsoft.com/office/drawing/2014/main" id="{31C7BD9C-CF1B-414F-9D54-D9D424F99746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27" name="Textbox 265">
            <a:extLst>
              <a:ext uri="{FF2B5EF4-FFF2-40B4-BE49-F238E27FC236}">
                <a16:creationId xmlns:a16="http://schemas.microsoft.com/office/drawing/2014/main" id="{8416C487-E7F5-4A98-B992-BBBDA8256C6B}"/>
              </a:ext>
            </a:extLst>
          </p:cNvPr>
          <p:cNvSpPr>
            <a:spLocks noGrp="1"/>
          </p:cNvSpPr>
          <p:nvPr/>
        </p:nvSpPr>
        <p:spPr>
          <a:xfrm>
            <a:off x="55389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GOLY Jun</a:t>
            </a:r>
          </a:p>
          <a:p>
            <a:pPr marL="17640" algn="ctr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6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82%</a:t>
            </a:r>
          </a:p>
        </p:txBody>
      </p:sp>
      <p:sp>
        <p:nvSpPr>
          <p:cNvPr id="428" name="Rectangle 48">
            <a:extLst>
              <a:ext uri="{FF2B5EF4-FFF2-40B4-BE49-F238E27FC236}">
                <a16:creationId xmlns:a16="http://schemas.microsoft.com/office/drawing/2014/main" id="{9E0DE725-14B1-42D3-BD4E-B4FD5FBE7B66}"/>
              </a:ext>
            </a:extLst>
          </p:cNvPr>
          <p:cNvSpPr>
            <a:spLocks noGrp="1"/>
          </p:cNvSpPr>
          <p:nvPr/>
        </p:nvSpPr>
        <p:spPr>
          <a:xfrm>
            <a:off x="288720" y="427680"/>
            <a:ext cx="184320" cy="46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endParaRPr/>
          </a:p>
        </p:txBody>
      </p:sp>
      <p:sp>
        <p:nvSpPr>
          <p:cNvPr id="429" name="Rectangle 50">
            <a:extLst>
              <a:ext uri="{FF2B5EF4-FFF2-40B4-BE49-F238E27FC236}">
                <a16:creationId xmlns:a16="http://schemas.microsoft.com/office/drawing/2014/main" id="{46095432-1615-4043-99C0-7C52D74D8C1B}"/>
              </a:ext>
            </a:extLst>
          </p:cNvPr>
          <p:cNvSpPr>
            <a:spLocks noGrp="1"/>
          </p:cNvSpPr>
          <p:nvPr/>
        </p:nvSpPr>
        <p:spPr>
          <a:xfrm>
            <a:off x="212760" y="54428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430" name="Rectangle 52">
            <a:extLst>
              <a:ext uri="{FF2B5EF4-FFF2-40B4-BE49-F238E27FC236}">
                <a16:creationId xmlns:a16="http://schemas.microsoft.com/office/drawing/2014/main" id="{57A259E0-158A-4FB0-8CBD-18F7C9E0D815}"/>
              </a:ext>
            </a:extLst>
          </p:cNvPr>
          <p:cNvSpPr>
            <a:spLocks noGrp="1"/>
          </p:cNvSpPr>
          <p:nvPr/>
        </p:nvSpPr>
        <p:spPr>
          <a:xfrm>
            <a:off x="212760" y="59126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431" name="Rectangle 54">
            <a:extLst>
              <a:ext uri="{FF2B5EF4-FFF2-40B4-BE49-F238E27FC236}">
                <a16:creationId xmlns:a16="http://schemas.microsoft.com/office/drawing/2014/main" id="{CE8457CD-CF7F-408C-8AE3-07C477E55B21}"/>
              </a:ext>
            </a:extLst>
          </p:cNvPr>
          <p:cNvSpPr>
            <a:spLocks noGrp="1"/>
          </p:cNvSpPr>
          <p:nvPr/>
        </p:nvSpPr>
        <p:spPr>
          <a:xfrm>
            <a:off x="212760" y="7372080"/>
            <a:ext cx="6926040" cy="399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432" name="Rectangle 56">
            <a:extLst>
              <a:ext uri="{FF2B5EF4-FFF2-40B4-BE49-F238E27FC236}">
                <a16:creationId xmlns:a16="http://schemas.microsoft.com/office/drawing/2014/main" id="{AD4B66A4-ED51-4E35-BE26-BFB34A8BACB3}"/>
              </a:ext>
            </a:extLst>
          </p:cNvPr>
          <p:cNvSpPr>
            <a:spLocks noGrp="1"/>
          </p:cNvSpPr>
          <p:nvPr/>
        </p:nvSpPr>
        <p:spPr>
          <a:xfrm>
            <a:off x="212760" y="6867720"/>
            <a:ext cx="69260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433" name="Textbox 268">
            <a:extLst>
              <a:ext uri="{FF2B5EF4-FFF2-40B4-BE49-F238E27FC236}">
                <a16:creationId xmlns:a16="http://schemas.microsoft.com/office/drawing/2014/main" id="{F1DB9BC9-32F4-4B13-AFFE-702DE5B7F7D4}"/>
              </a:ext>
            </a:extLst>
          </p:cNvPr>
          <p:cNvSpPr>
            <a:spLocks noGrp="1"/>
          </p:cNvSpPr>
          <p:nvPr/>
        </p:nvSpPr>
        <p:spPr>
          <a:xfrm>
            <a:off x="212760" y="988200"/>
            <a:ext cx="6926040" cy="848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27080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 Performance Highlights</a:t>
            </a:r>
          </a:p>
          <a:p>
            <a:pPr defTabSz="91440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184320" indent="-5724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Jun-26 closed at 827 for South-1 (21.6% of channel), ▼ 8% MoM off the May-26 record of 895. Q1 FY27 = 2,489 Lacs, ▲ 84% vs Q1 FY26.</a:t>
            </a:r>
          </a:p>
          <a:p>
            <a:pPr marL="184320" indent="-57240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05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Growth View: Jun-26 was ▲ 7% vs L3M and ▲ 82% vs Jun-25 — YoY momentum intact despite seasonal moderation.</a:t>
            </a:r>
          </a:p>
        </p:txBody>
      </p:sp>
      <p:sp>
        <p:nvSpPr>
          <p:cNvPr id="434" name="Shape 3">
            <a:extLst>
              <a:ext uri="{FF2B5EF4-FFF2-40B4-BE49-F238E27FC236}">
                <a16:creationId xmlns:a16="http://schemas.microsoft.com/office/drawing/2014/main" id="{310C764B-B0EF-4BE2-A31E-D243794B5DC3}"/>
              </a:ext>
            </a:extLst>
          </p:cNvPr>
          <p:cNvSpPr>
            <a:spLocks noGrp="1"/>
          </p:cNvSpPr>
          <p:nvPr/>
        </p:nvSpPr>
        <p:spPr>
          <a:xfrm>
            <a:off x="212760" y="3474000"/>
            <a:ext cx="6926040" cy="255600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35" name="Text 4">
            <a:extLst>
              <a:ext uri="{FF2B5EF4-FFF2-40B4-BE49-F238E27FC236}">
                <a16:creationId xmlns:a16="http://schemas.microsoft.com/office/drawing/2014/main" id="{01705DC8-B98E-4398-AF06-B28BA16E5FF6}"/>
              </a:ext>
            </a:extLst>
          </p:cNvPr>
          <p:cNvSpPr>
            <a:spLocks noGrp="1"/>
          </p:cNvSpPr>
          <p:nvPr/>
        </p:nvSpPr>
        <p:spPr>
          <a:xfrm>
            <a:off x="212760" y="3538080"/>
            <a:ext cx="69260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South-1 | Mamaearth — Top 3 Sub-category Monthly Trend (NSV)</a:t>
            </a:r>
          </a:p>
        </p:txBody>
      </p:sp>
      <p:sp>
        <p:nvSpPr>
          <p:cNvPr id="436" name="Text 5">
            <a:extLst>
              <a:ext uri="{FF2B5EF4-FFF2-40B4-BE49-F238E27FC236}">
                <a16:creationId xmlns:a16="http://schemas.microsoft.com/office/drawing/2014/main" id="{D6AE23D7-795F-4B4D-B6DB-F8DEEF970258}"/>
              </a:ext>
            </a:extLst>
          </p:cNvPr>
          <p:cNvSpPr>
            <a:spLocks noGrp="1"/>
          </p:cNvSpPr>
          <p:nvPr/>
        </p:nvSpPr>
        <p:spPr>
          <a:xfrm>
            <a:off x="280800" y="389592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437" name="Text 6">
            <a:extLst>
              <a:ext uri="{FF2B5EF4-FFF2-40B4-BE49-F238E27FC236}">
                <a16:creationId xmlns:a16="http://schemas.microsoft.com/office/drawing/2014/main" id="{32B1DA06-2136-4DF4-812B-C0F697F86B10}"/>
              </a:ext>
            </a:extLst>
          </p:cNvPr>
          <p:cNvSpPr>
            <a:spLocks noGrp="1"/>
          </p:cNvSpPr>
          <p:nvPr/>
        </p:nvSpPr>
        <p:spPr>
          <a:xfrm>
            <a:off x="624240" y="389592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41%</a:t>
            </a:r>
          </a:p>
        </p:txBody>
      </p:sp>
      <p:sp>
        <p:nvSpPr>
          <p:cNvPr id="438" name="Text 7">
            <a:extLst>
              <a:ext uri="{FF2B5EF4-FFF2-40B4-BE49-F238E27FC236}">
                <a16:creationId xmlns:a16="http://schemas.microsoft.com/office/drawing/2014/main" id="{EC80A9D8-6EF2-4FC9-9616-773A1E0A2938}"/>
              </a:ext>
            </a:extLst>
          </p:cNvPr>
          <p:cNvSpPr>
            <a:spLocks noGrp="1"/>
          </p:cNvSpPr>
          <p:nvPr/>
        </p:nvSpPr>
        <p:spPr>
          <a:xfrm>
            <a:off x="1098360" y="390780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9%</a:t>
            </a:r>
          </a:p>
        </p:txBody>
      </p:sp>
      <p:sp>
        <p:nvSpPr>
          <p:cNvPr id="439" name="Text 8">
            <a:extLst>
              <a:ext uri="{FF2B5EF4-FFF2-40B4-BE49-F238E27FC236}">
                <a16:creationId xmlns:a16="http://schemas.microsoft.com/office/drawing/2014/main" id="{8F173C7A-5173-451B-B820-A5C73C583F05}"/>
              </a:ext>
            </a:extLst>
          </p:cNvPr>
          <p:cNvSpPr>
            <a:spLocks noGrp="1"/>
          </p:cNvSpPr>
          <p:nvPr/>
        </p:nvSpPr>
        <p:spPr>
          <a:xfrm>
            <a:off x="1631520" y="3895920"/>
            <a:ext cx="5094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173</a:t>
            </a:r>
          </a:p>
        </p:txBody>
      </p:sp>
      <p:graphicFrame>
        <p:nvGraphicFramePr>
          <p:cNvPr id="540" name="Chart 0"/>
          <p:cNvGraphicFramePr/>
          <p:nvPr/>
        </p:nvGraphicFramePr>
        <p:xfrm>
          <a:off x="157680" y="3808080"/>
          <a:ext cx="2246040" cy="1593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1" name="Text 9">
            <a:extLst>
              <a:ext uri="{FF2B5EF4-FFF2-40B4-BE49-F238E27FC236}">
                <a16:creationId xmlns:a16="http://schemas.microsoft.com/office/drawing/2014/main" id="{716D5A81-AAEC-4BBD-AF88-5215DEDEB3B8}"/>
              </a:ext>
            </a:extLst>
          </p:cNvPr>
          <p:cNvSpPr>
            <a:spLocks noGrp="1"/>
          </p:cNvSpPr>
          <p:nvPr/>
        </p:nvSpPr>
        <p:spPr>
          <a:xfrm>
            <a:off x="2618280" y="3885480"/>
            <a:ext cx="653760" cy="18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442" name="Text 10">
            <a:extLst>
              <a:ext uri="{FF2B5EF4-FFF2-40B4-BE49-F238E27FC236}">
                <a16:creationId xmlns:a16="http://schemas.microsoft.com/office/drawing/2014/main" id="{BDD32866-1DF8-4A9D-9CB3-FC8C1B4A3FC0}"/>
              </a:ext>
            </a:extLst>
          </p:cNvPr>
          <p:cNvSpPr>
            <a:spLocks noGrp="1"/>
          </p:cNvSpPr>
          <p:nvPr/>
        </p:nvSpPr>
        <p:spPr>
          <a:xfrm>
            <a:off x="3210840" y="387540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72%</a:t>
            </a:r>
          </a:p>
        </p:txBody>
      </p:sp>
      <p:sp>
        <p:nvSpPr>
          <p:cNvPr id="443" name="Text 11">
            <a:extLst>
              <a:ext uri="{FF2B5EF4-FFF2-40B4-BE49-F238E27FC236}">
                <a16:creationId xmlns:a16="http://schemas.microsoft.com/office/drawing/2014/main" id="{1AD3AE45-795C-4E1E-8F4B-353DA2859229}"/>
              </a:ext>
            </a:extLst>
          </p:cNvPr>
          <p:cNvSpPr>
            <a:spLocks noGrp="1"/>
          </p:cNvSpPr>
          <p:nvPr/>
        </p:nvSpPr>
        <p:spPr>
          <a:xfrm>
            <a:off x="3615480" y="3871800"/>
            <a:ext cx="371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5%</a:t>
            </a:r>
          </a:p>
        </p:txBody>
      </p:sp>
      <p:sp>
        <p:nvSpPr>
          <p:cNvPr id="444" name="Text 12">
            <a:extLst>
              <a:ext uri="{FF2B5EF4-FFF2-40B4-BE49-F238E27FC236}">
                <a16:creationId xmlns:a16="http://schemas.microsoft.com/office/drawing/2014/main" id="{4DFB9B31-560A-4AE1-8E7B-9626D1D44C8C}"/>
              </a:ext>
            </a:extLst>
          </p:cNvPr>
          <p:cNvSpPr>
            <a:spLocks noGrp="1"/>
          </p:cNvSpPr>
          <p:nvPr/>
        </p:nvSpPr>
        <p:spPr>
          <a:xfrm>
            <a:off x="4086720" y="3873960"/>
            <a:ext cx="41292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Jun'26 179</a:t>
            </a:r>
          </a:p>
        </p:txBody>
      </p:sp>
      <p:graphicFrame>
        <p:nvGraphicFramePr>
          <p:cNvPr id="545" name="Chart 1"/>
          <p:cNvGraphicFramePr/>
          <p:nvPr/>
        </p:nvGraphicFramePr>
        <p:xfrm>
          <a:off x="2513880" y="3792960"/>
          <a:ext cx="2251440" cy="162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6" name="Text 13">
            <a:extLst>
              <a:ext uri="{FF2B5EF4-FFF2-40B4-BE49-F238E27FC236}">
                <a16:creationId xmlns:a16="http://schemas.microsoft.com/office/drawing/2014/main" id="{617FEAAF-6E0A-4EAC-BC36-EA2D2A765ED2}"/>
              </a:ext>
            </a:extLst>
          </p:cNvPr>
          <p:cNvSpPr>
            <a:spLocks noGrp="1"/>
          </p:cNvSpPr>
          <p:nvPr/>
        </p:nvSpPr>
        <p:spPr>
          <a:xfrm>
            <a:off x="4943160" y="3837240"/>
            <a:ext cx="537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447" name="Text 14">
            <a:extLst>
              <a:ext uri="{FF2B5EF4-FFF2-40B4-BE49-F238E27FC236}">
                <a16:creationId xmlns:a16="http://schemas.microsoft.com/office/drawing/2014/main" id="{773A920E-E18C-4C61-BFA8-16D01835AAED}"/>
              </a:ext>
            </a:extLst>
          </p:cNvPr>
          <p:cNvSpPr>
            <a:spLocks noGrp="1"/>
          </p:cNvSpPr>
          <p:nvPr/>
        </p:nvSpPr>
        <p:spPr>
          <a:xfrm>
            <a:off x="5410440" y="3855960"/>
            <a:ext cx="61488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130%</a:t>
            </a:r>
          </a:p>
        </p:txBody>
      </p:sp>
      <p:sp>
        <p:nvSpPr>
          <p:cNvPr id="448" name="Text 15">
            <a:extLst>
              <a:ext uri="{FF2B5EF4-FFF2-40B4-BE49-F238E27FC236}">
                <a16:creationId xmlns:a16="http://schemas.microsoft.com/office/drawing/2014/main" id="{94AA79F6-B156-440E-9BD7-23068A3BD41E}"/>
              </a:ext>
            </a:extLst>
          </p:cNvPr>
          <p:cNvSpPr>
            <a:spLocks noGrp="1"/>
          </p:cNvSpPr>
          <p:nvPr/>
        </p:nvSpPr>
        <p:spPr>
          <a:xfrm>
            <a:off x="5997600" y="3845160"/>
            <a:ext cx="371880" cy="2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▼ 24%</a:t>
            </a:r>
          </a:p>
        </p:txBody>
      </p:sp>
      <p:sp>
        <p:nvSpPr>
          <p:cNvPr id="449" name="Text 16">
            <a:extLst>
              <a:ext uri="{FF2B5EF4-FFF2-40B4-BE49-F238E27FC236}">
                <a16:creationId xmlns:a16="http://schemas.microsoft.com/office/drawing/2014/main" id="{9E744488-73C7-43F3-9090-C4CE307DB5C5}"/>
              </a:ext>
            </a:extLst>
          </p:cNvPr>
          <p:cNvSpPr>
            <a:spLocks noGrp="1"/>
          </p:cNvSpPr>
          <p:nvPr/>
        </p:nvSpPr>
        <p:spPr>
          <a:xfrm>
            <a:off x="6417720" y="3885480"/>
            <a:ext cx="41292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  <p:graphicFrame>
        <p:nvGraphicFramePr>
          <p:cNvPr id="550" name="Chart 2"/>
          <p:cNvGraphicFramePr/>
          <p:nvPr/>
        </p:nvGraphicFramePr>
        <p:xfrm>
          <a:off x="4862880" y="3792240"/>
          <a:ext cx="2275920" cy="161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1" name="Shape 17">
            <a:extLst>
              <a:ext uri="{FF2B5EF4-FFF2-40B4-BE49-F238E27FC236}">
                <a16:creationId xmlns:a16="http://schemas.microsoft.com/office/drawing/2014/main" id="{AF4BD8CD-7F9A-4D0F-A46A-F6458F453910}"/>
              </a:ext>
            </a:extLst>
          </p:cNvPr>
          <p:cNvSpPr>
            <a:spLocks noGrp="1"/>
          </p:cNvSpPr>
          <p:nvPr/>
        </p:nvSpPr>
        <p:spPr>
          <a:xfrm>
            <a:off x="212760" y="5470200"/>
            <a:ext cx="6926040" cy="323280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452" name="Text 18">
            <a:extLst>
              <a:ext uri="{FF2B5EF4-FFF2-40B4-BE49-F238E27FC236}">
                <a16:creationId xmlns:a16="http://schemas.microsoft.com/office/drawing/2014/main" id="{B0B43446-A8FC-4D38-BB1D-DAA23B03BEC7}"/>
              </a:ext>
            </a:extLst>
          </p:cNvPr>
          <p:cNvSpPr>
            <a:spLocks noGrp="1"/>
          </p:cNvSpPr>
          <p:nvPr/>
        </p:nvSpPr>
        <p:spPr>
          <a:xfrm>
            <a:off x="212760" y="5468760"/>
            <a:ext cx="69260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South-1 | The Derma Co. — Top 3 Sub-category Monthly Trend (NSV)</a:t>
            </a:r>
          </a:p>
        </p:txBody>
      </p:sp>
      <p:sp>
        <p:nvSpPr>
          <p:cNvPr id="453" name="Text 19">
            <a:extLst>
              <a:ext uri="{FF2B5EF4-FFF2-40B4-BE49-F238E27FC236}">
                <a16:creationId xmlns:a16="http://schemas.microsoft.com/office/drawing/2014/main" id="{22072E98-FF3B-4DB5-9131-788AEE3BAD1F}"/>
              </a:ext>
            </a:extLst>
          </p:cNvPr>
          <p:cNvSpPr>
            <a:spLocks noGrp="1"/>
          </p:cNvSpPr>
          <p:nvPr/>
        </p:nvSpPr>
        <p:spPr>
          <a:xfrm>
            <a:off x="278280" y="5927040"/>
            <a:ext cx="397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454" name="Text 20">
            <a:extLst>
              <a:ext uri="{FF2B5EF4-FFF2-40B4-BE49-F238E27FC236}">
                <a16:creationId xmlns:a16="http://schemas.microsoft.com/office/drawing/2014/main" id="{5CD2B470-C0E3-4705-8418-D1171B361FA8}"/>
              </a:ext>
            </a:extLst>
          </p:cNvPr>
          <p:cNvSpPr>
            <a:spLocks noGrp="1"/>
          </p:cNvSpPr>
          <p:nvPr/>
        </p:nvSpPr>
        <p:spPr>
          <a:xfrm>
            <a:off x="607680" y="5957280"/>
            <a:ext cx="4453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721%</a:t>
            </a:r>
          </a:p>
        </p:txBody>
      </p:sp>
      <p:sp>
        <p:nvSpPr>
          <p:cNvPr id="455" name="Text 21">
            <a:extLst>
              <a:ext uri="{FF2B5EF4-FFF2-40B4-BE49-F238E27FC236}">
                <a16:creationId xmlns:a16="http://schemas.microsoft.com/office/drawing/2014/main" id="{2EC7489A-4106-42EF-AB00-8E3B2AC61250}"/>
              </a:ext>
            </a:extLst>
          </p:cNvPr>
          <p:cNvSpPr>
            <a:spLocks noGrp="1"/>
          </p:cNvSpPr>
          <p:nvPr/>
        </p:nvSpPr>
        <p:spPr>
          <a:xfrm>
            <a:off x="1180800" y="5933520"/>
            <a:ext cx="40572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1%</a:t>
            </a:r>
          </a:p>
        </p:txBody>
      </p:sp>
      <p:sp>
        <p:nvSpPr>
          <p:cNvPr id="456" name="Text 22">
            <a:extLst>
              <a:ext uri="{FF2B5EF4-FFF2-40B4-BE49-F238E27FC236}">
                <a16:creationId xmlns:a16="http://schemas.microsoft.com/office/drawing/2014/main" id="{DF9D7526-EE4C-4D31-AD7C-0CA9FF681A51}"/>
              </a:ext>
            </a:extLst>
          </p:cNvPr>
          <p:cNvSpPr>
            <a:spLocks noGrp="1"/>
          </p:cNvSpPr>
          <p:nvPr/>
        </p:nvSpPr>
        <p:spPr>
          <a:xfrm>
            <a:off x="1699920" y="5933520"/>
            <a:ext cx="49608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Jun'26 115</a:t>
            </a:r>
          </a:p>
        </p:txBody>
      </p:sp>
      <p:graphicFrame>
        <p:nvGraphicFramePr>
          <p:cNvPr id="557" name="Chart 3"/>
          <p:cNvGraphicFramePr/>
          <p:nvPr/>
        </p:nvGraphicFramePr>
        <p:xfrm>
          <a:off x="169920" y="5838480"/>
          <a:ext cx="225612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58" name="Text 23">
            <a:extLst>
              <a:ext uri="{FF2B5EF4-FFF2-40B4-BE49-F238E27FC236}">
                <a16:creationId xmlns:a16="http://schemas.microsoft.com/office/drawing/2014/main" id="{C4823874-804F-4C28-8565-461685DB76FB}"/>
              </a:ext>
            </a:extLst>
          </p:cNvPr>
          <p:cNvSpPr>
            <a:spLocks noGrp="1"/>
          </p:cNvSpPr>
          <p:nvPr/>
        </p:nvSpPr>
        <p:spPr>
          <a:xfrm>
            <a:off x="2564280" y="5927040"/>
            <a:ext cx="54108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459" name="Text 24">
            <a:extLst>
              <a:ext uri="{FF2B5EF4-FFF2-40B4-BE49-F238E27FC236}">
                <a16:creationId xmlns:a16="http://schemas.microsoft.com/office/drawing/2014/main" id="{B195AD79-F363-4CED-828B-3B69E1C48C7B}"/>
              </a:ext>
            </a:extLst>
          </p:cNvPr>
          <p:cNvSpPr>
            <a:spLocks noGrp="1"/>
          </p:cNvSpPr>
          <p:nvPr/>
        </p:nvSpPr>
        <p:spPr>
          <a:xfrm>
            <a:off x="3133800" y="5994720"/>
            <a:ext cx="447480" cy="20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210%</a:t>
            </a:r>
          </a:p>
        </p:txBody>
      </p:sp>
      <p:sp>
        <p:nvSpPr>
          <p:cNvPr id="460" name="Text 25">
            <a:extLst>
              <a:ext uri="{FF2B5EF4-FFF2-40B4-BE49-F238E27FC236}">
                <a16:creationId xmlns:a16="http://schemas.microsoft.com/office/drawing/2014/main" id="{2E2490B4-F21E-41B2-92F8-8440552419E3}"/>
              </a:ext>
            </a:extLst>
          </p:cNvPr>
          <p:cNvSpPr>
            <a:spLocks noGrp="1"/>
          </p:cNvSpPr>
          <p:nvPr/>
        </p:nvSpPr>
        <p:spPr>
          <a:xfrm>
            <a:off x="3615480" y="5957280"/>
            <a:ext cx="40572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29%</a:t>
            </a:r>
          </a:p>
        </p:txBody>
      </p:sp>
      <p:sp>
        <p:nvSpPr>
          <p:cNvPr id="461" name="Text 26">
            <a:extLst>
              <a:ext uri="{FF2B5EF4-FFF2-40B4-BE49-F238E27FC236}">
                <a16:creationId xmlns:a16="http://schemas.microsoft.com/office/drawing/2014/main" id="{786408DB-656C-4D6F-B1D6-582B1AF82B07}"/>
              </a:ext>
            </a:extLst>
          </p:cNvPr>
          <p:cNvSpPr>
            <a:spLocks noGrp="1"/>
          </p:cNvSpPr>
          <p:nvPr/>
        </p:nvSpPr>
        <p:spPr>
          <a:xfrm>
            <a:off x="4144320" y="5962680"/>
            <a:ext cx="51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93</a:t>
            </a:r>
          </a:p>
        </p:txBody>
      </p:sp>
      <p:graphicFrame>
        <p:nvGraphicFramePr>
          <p:cNvPr id="562" name="Chart 4"/>
          <p:cNvGraphicFramePr/>
          <p:nvPr/>
        </p:nvGraphicFramePr>
        <p:xfrm>
          <a:off x="2518200" y="5857200"/>
          <a:ext cx="225612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63" name="Text 27">
            <a:extLst>
              <a:ext uri="{FF2B5EF4-FFF2-40B4-BE49-F238E27FC236}">
                <a16:creationId xmlns:a16="http://schemas.microsoft.com/office/drawing/2014/main" id="{B32FCEE1-EDA6-4053-81FB-E8CDE1F3E019}"/>
              </a:ext>
            </a:extLst>
          </p:cNvPr>
          <p:cNvSpPr>
            <a:spLocks noGrp="1"/>
          </p:cNvSpPr>
          <p:nvPr/>
        </p:nvSpPr>
        <p:spPr>
          <a:xfrm>
            <a:off x="4840920" y="5906160"/>
            <a:ext cx="681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Face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Serum</a:t>
            </a:r>
          </a:p>
        </p:txBody>
      </p:sp>
      <p:sp>
        <p:nvSpPr>
          <p:cNvPr id="464" name="Text 28">
            <a:extLst>
              <a:ext uri="{FF2B5EF4-FFF2-40B4-BE49-F238E27FC236}">
                <a16:creationId xmlns:a16="http://schemas.microsoft.com/office/drawing/2014/main" id="{6D1C4814-623C-4F81-B276-E934FB7DC60A}"/>
              </a:ext>
            </a:extLst>
          </p:cNvPr>
          <p:cNvSpPr>
            <a:spLocks noGrp="1"/>
          </p:cNvSpPr>
          <p:nvPr/>
        </p:nvSpPr>
        <p:spPr>
          <a:xfrm>
            <a:off x="5519520" y="5910840"/>
            <a:ext cx="43920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1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▲ 76%</a:t>
            </a:r>
          </a:p>
        </p:txBody>
      </p:sp>
      <p:sp>
        <p:nvSpPr>
          <p:cNvPr id="465" name="Text 29">
            <a:extLst>
              <a:ext uri="{FF2B5EF4-FFF2-40B4-BE49-F238E27FC236}">
                <a16:creationId xmlns:a16="http://schemas.microsoft.com/office/drawing/2014/main" id="{FB8CBC3F-A55C-49D8-835B-4D885B2B3939}"/>
              </a:ext>
            </a:extLst>
          </p:cNvPr>
          <p:cNvSpPr>
            <a:spLocks noGrp="1"/>
          </p:cNvSpPr>
          <p:nvPr/>
        </p:nvSpPr>
        <p:spPr>
          <a:xfrm>
            <a:off x="6031440" y="5887800"/>
            <a:ext cx="40572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0%</a:t>
            </a:r>
          </a:p>
        </p:txBody>
      </p:sp>
      <p:sp>
        <p:nvSpPr>
          <p:cNvPr id="466" name="Text 30">
            <a:extLst>
              <a:ext uri="{FF2B5EF4-FFF2-40B4-BE49-F238E27FC236}">
                <a16:creationId xmlns:a16="http://schemas.microsoft.com/office/drawing/2014/main" id="{EB6BE40E-DC81-4C92-BD8A-EF11E2B91B5B}"/>
              </a:ext>
            </a:extLst>
          </p:cNvPr>
          <p:cNvSpPr>
            <a:spLocks noGrp="1"/>
          </p:cNvSpPr>
          <p:nvPr/>
        </p:nvSpPr>
        <p:spPr>
          <a:xfrm>
            <a:off x="6639480" y="5910480"/>
            <a:ext cx="451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graphicFrame>
        <p:nvGraphicFramePr>
          <p:cNvPr id="567" name="Chart 5"/>
          <p:cNvGraphicFramePr/>
          <p:nvPr/>
        </p:nvGraphicFramePr>
        <p:xfrm>
          <a:off x="4887720" y="5856840"/>
          <a:ext cx="225108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68" name="Table 190"/>
          <p:cNvGraphicFramePr/>
          <p:nvPr/>
        </p:nvGraphicFramePr>
        <p:xfrm>
          <a:off x="212760" y="1935000"/>
          <a:ext cx="6996240" cy="1464120"/>
        </p:xfrm>
        <a:graphic>
          <a:graphicData uri="http://schemas.openxmlformats.org/drawingml/2006/table">
            <a:tbl>
              <a:tblPr/>
              <a:tblGrid>
                <a:gridCol w="120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42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 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366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586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559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68%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522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7%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53%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286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248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230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8%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276%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▲ 7%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Emerging Brands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69" name="Table 193"/>
          <p:cNvGraphicFramePr/>
          <p:nvPr/>
        </p:nvGraphicFramePr>
        <p:xfrm>
          <a:off x="212760" y="7863480"/>
          <a:ext cx="7008480" cy="1615680"/>
        </p:xfrm>
        <a:graphic>
          <a:graphicData uri="http://schemas.openxmlformats.org/drawingml/2006/table">
            <a:tbl>
              <a:tblPr/>
              <a:tblGrid>
                <a:gridCol w="17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Apollo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292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289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257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183%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Dmart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267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229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28%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223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66%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Reliance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18%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59%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Lulu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139%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H&amp;G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23%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35%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Metro Cnc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11%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Others Combined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11%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42%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70" name="Rectangle 81">
            <a:extLst>
              <a:ext uri="{FF2B5EF4-FFF2-40B4-BE49-F238E27FC236}">
                <a16:creationId xmlns:a16="http://schemas.microsoft.com/office/drawing/2014/main" id="{BF5EF367-2FCE-49EF-A2BD-52A713D3030F}"/>
              </a:ext>
            </a:extLst>
          </p:cNvPr>
          <p:cNvSpPr>
            <a:spLocks noGrp="1"/>
          </p:cNvSpPr>
          <p:nvPr/>
        </p:nvSpPr>
        <p:spPr>
          <a:xfrm>
            <a:off x="0" y="15840"/>
            <a:ext cx="75625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471" name="Graphic 278">
            <a:extLst>
              <a:ext uri="{FF2B5EF4-FFF2-40B4-BE49-F238E27FC236}">
                <a16:creationId xmlns:a16="http://schemas.microsoft.com/office/drawing/2014/main" id="{F7DF3A66-3FEE-4A91-8BC8-2ED8399E9AFF}"/>
              </a:ext>
            </a:extLst>
          </p:cNvPr>
          <p:cNvSpPr>
            <a:spLocks noGrp="1"/>
          </p:cNvSpPr>
          <p:nvPr/>
        </p:nvSpPr>
        <p:spPr>
          <a:xfrm>
            <a:off x="228600" y="9543600"/>
            <a:ext cx="6910200" cy="1078920"/>
          </a:xfrm>
          <a:custGeom>
            <a:avLst/>
            <a:gdLst>
              <a:gd name="textAreaLeft" fmla="*/ 0 w 6910200"/>
              <a:gd name="textAreaRight" fmla="*/ 6910560 w 6910200"/>
              <a:gd name="textAreaTop" fmla="*/ 0 h 1078920"/>
              <a:gd name="textAreaBottom" fmla="*/ 1079280 h 1078920"/>
            </a:gdLst>
            <a:ahLst/>
            <a:cxnLst/>
            <a:rect l="textAreaLeft" t="textAreaTop" r="textAreaRight" b="textAreaBottom"/>
            <a:pathLst>
              <a:path w="6950709" h="2163445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2074415"/>
                </a:lnTo>
                <a:lnTo>
                  <a:pt x="6979" y="2109038"/>
                </a:lnTo>
                <a:lnTo>
                  <a:pt x="26021" y="2137294"/>
                </a:lnTo>
                <a:lnTo>
                  <a:pt x="54276" y="2156335"/>
                </a:lnTo>
                <a:lnTo>
                  <a:pt x="88900" y="2163315"/>
                </a:lnTo>
                <a:lnTo>
                  <a:pt x="6861500" y="2163315"/>
                </a:lnTo>
                <a:lnTo>
                  <a:pt x="6896123" y="2156335"/>
                </a:lnTo>
                <a:lnTo>
                  <a:pt x="6924379" y="2137294"/>
                </a:lnTo>
                <a:lnTo>
                  <a:pt x="6943420" y="2109038"/>
                </a:lnTo>
                <a:lnTo>
                  <a:pt x="6950400" y="2074415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EFFD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72" name="Graphic 280">
            <a:extLst>
              <a:ext uri="{FF2B5EF4-FFF2-40B4-BE49-F238E27FC236}">
                <a16:creationId xmlns:a16="http://schemas.microsoft.com/office/drawing/2014/main" id="{8A240187-CDB6-48BF-A19F-366BA7A076AE}"/>
              </a:ext>
            </a:extLst>
          </p:cNvPr>
          <p:cNvSpPr>
            <a:spLocks noGrp="1"/>
          </p:cNvSpPr>
          <p:nvPr/>
        </p:nvSpPr>
        <p:spPr>
          <a:xfrm>
            <a:off x="212760" y="9495360"/>
            <a:ext cx="6910200" cy="207720"/>
          </a:xfrm>
          <a:custGeom>
            <a:avLst/>
            <a:gdLst>
              <a:gd name="textAreaLeft" fmla="*/ 0 w 6910200"/>
              <a:gd name="textAreaRight" fmla="*/ 6910560 w 6910200"/>
              <a:gd name="textAreaTop" fmla="*/ 0 h 207720"/>
              <a:gd name="textAreaBottom" fmla="*/ 208080 h 207720"/>
            </a:gdLst>
            <a:ahLst/>
            <a:cxnLst/>
            <a:rect l="textAreaLeft" t="textAreaTop" r="textAreaRight" b="textAreaBottom"/>
            <a:pathLst>
              <a:path w="6950709" h="241300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152399"/>
                </a:lnTo>
                <a:lnTo>
                  <a:pt x="6979" y="187023"/>
                </a:lnTo>
                <a:lnTo>
                  <a:pt x="26021" y="215278"/>
                </a:lnTo>
                <a:lnTo>
                  <a:pt x="54276" y="234320"/>
                </a:lnTo>
                <a:lnTo>
                  <a:pt x="88900" y="241299"/>
                </a:lnTo>
                <a:lnTo>
                  <a:pt x="6861500" y="241299"/>
                </a:lnTo>
                <a:lnTo>
                  <a:pt x="6896123" y="234320"/>
                </a:lnTo>
                <a:lnTo>
                  <a:pt x="6924379" y="215278"/>
                </a:lnTo>
                <a:lnTo>
                  <a:pt x="6943420" y="187023"/>
                </a:lnTo>
                <a:lnTo>
                  <a:pt x="6950400" y="152399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0377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73" name="Graphic 281">
            <a:extLst>
              <a:ext uri="{FF2B5EF4-FFF2-40B4-BE49-F238E27FC236}">
                <a16:creationId xmlns:a16="http://schemas.microsoft.com/office/drawing/2014/main" id="{D86F32CB-2B59-44FE-B3AD-076588B384DC}"/>
              </a:ext>
            </a:extLst>
          </p:cNvPr>
          <p:cNvSpPr>
            <a:spLocks noGrp="1"/>
          </p:cNvSpPr>
          <p:nvPr/>
        </p:nvSpPr>
        <p:spPr>
          <a:xfrm>
            <a:off x="31248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74" name="Graphic 282">
            <a:extLst>
              <a:ext uri="{FF2B5EF4-FFF2-40B4-BE49-F238E27FC236}">
                <a16:creationId xmlns:a16="http://schemas.microsoft.com/office/drawing/2014/main" id="{8F3796A8-74C6-43D8-A342-978A155DCFCE}"/>
              </a:ext>
            </a:extLst>
          </p:cNvPr>
          <p:cNvSpPr>
            <a:spLocks noGrp="1"/>
          </p:cNvSpPr>
          <p:nvPr/>
        </p:nvSpPr>
        <p:spPr>
          <a:xfrm>
            <a:off x="33120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75" name="Graphic 283">
            <a:extLst>
              <a:ext uri="{FF2B5EF4-FFF2-40B4-BE49-F238E27FC236}">
                <a16:creationId xmlns:a16="http://schemas.microsoft.com/office/drawing/2014/main" id="{00C1750C-9E15-4AB9-84C7-6D6D18CDB26A}"/>
              </a:ext>
            </a:extLst>
          </p:cNvPr>
          <p:cNvSpPr>
            <a:spLocks noGrp="1"/>
          </p:cNvSpPr>
          <p:nvPr/>
        </p:nvSpPr>
        <p:spPr>
          <a:xfrm>
            <a:off x="2022480" y="1006452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76" name="Graphic 284">
            <a:extLst>
              <a:ext uri="{FF2B5EF4-FFF2-40B4-BE49-F238E27FC236}">
                <a16:creationId xmlns:a16="http://schemas.microsoft.com/office/drawing/2014/main" id="{F8ECC92B-4C0B-4718-8F09-A6FFF19413C1}"/>
              </a:ext>
            </a:extLst>
          </p:cNvPr>
          <p:cNvSpPr>
            <a:spLocks noGrp="1"/>
          </p:cNvSpPr>
          <p:nvPr/>
        </p:nvSpPr>
        <p:spPr>
          <a:xfrm>
            <a:off x="201456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77" name="Graphic 285">
            <a:extLst>
              <a:ext uri="{FF2B5EF4-FFF2-40B4-BE49-F238E27FC236}">
                <a16:creationId xmlns:a16="http://schemas.microsoft.com/office/drawing/2014/main" id="{2A87B243-ED49-4115-93ED-4B17A54E9D85}"/>
              </a:ext>
            </a:extLst>
          </p:cNvPr>
          <p:cNvSpPr>
            <a:spLocks noGrp="1"/>
          </p:cNvSpPr>
          <p:nvPr/>
        </p:nvSpPr>
        <p:spPr>
          <a:xfrm>
            <a:off x="3688920" y="1006128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78" name="Graphic 286">
            <a:extLst>
              <a:ext uri="{FF2B5EF4-FFF2-40B4-BE49-F238E27FC236}">
                <a16:creationId xmlns:a16="http://schemas.microsoft.com/office/drawing/2014/main" id="{E71BC2FB-09DA-48A7-87AF-11B8AF2E79DF}"/>
              </a:ext>
            </a:extLst>
          </p:cNvPr>
          <p:cNvSpPr>
            <a:spLocks noGrp="1"/>
          </p:cNvSpPr>
          <p:nvPr/>
        </p:nvSpPr>
        <p:spPr>
          <a:xfrm>
            <a:off x="368892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79" name="Graphic 287">
            <a:extLst>
              <a:ext uri="{FF2B5EF4-FFF2-40B4-BE49-F238E27FC236}">
                <a16:creationId xmlns:a16="http://schemas.microsoft.com/office/drawing/2014/main" id="{C5FA0DF9-8C41-4225-9B4A-5A010189DFA1}"/>
              </a:ext>
            </a:extLst>
          </p:cNvPr>
          <p:cNvSpPr>
            <a:spLocks noGrp="1"/>
          </p:cNvSpPr>
          <p:nvPr/>
        </p:nvSpPr>
        <p:spPr>
          <a:xfrm>
            <a:off x="538128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80" name="Graphic 288">
            <a:extLst>
              <a:ext uri="{FF2B5EF4-FFF2-40B4-BE49-F238E27FC236}">
                <a16:creationId xmlns:a16="http://schemas.microsoft.com/office/drawing/2014/main" id="{B8933F29-705B-46E2-86A8-EEF5401356AB}"/>
              </a:ext>
            </a:extLst>
          </p:cNvPr>
          <p:cNvSpPr>
            <a:spLocks noGrp="1"/>
          </p:cNvSpPr>
          <p:nvPr/>
        </p:nvSpPr>
        <p:spPr>
          <a:xfrm>
            <a:off x="537192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481" name="Textbox 289">
            <a:extLst>
              <a:ext uri="{FF2B5EF4-FFF2-40B4-BE49-F238E27FC236}">
                <a16:creationId xmlns:a16="http://schemas.microsoft.com/office/drawing/2014/main" id="{8BE32DA9-1EC0-40E8-99BE-37E122D40E64}"/>
              </a:ext>
            </a:extLst>
          </p:cNvPr>
          <p:cNvSpPr>
            <a:spLocks noGrp="1"/>
          </p:cNvSpPr>
          <p:nvPr/>
        </p:nvSpPr>
        <p:spPr>
          <a:xfrm>
            <a:off x="339120" y="9493920"/>
            <a:ext cx="6677640" cy="24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CHAIN KEY HIGHLIGHTS</a:t>
            </a:r>
          </a:p>
        </p:txBody>
      </p:sp>
      <p:sp>
        <p:nvSpPr>
          <p:cNvPr id="482" name="Textbox 290">
            <a:extLst>
              <a:ext uri="{FF2B5EF4-FFF2-40B4-BE49-F238E27FC236}">
                <a16:creationId xmlns:a16="http://schemas.microsoft.com/office/drawing/2014/main" id="{3E1EE3C3-C59C-4F5F-BF73-C1F4D04867B7}"/>
              </a:ext>
            </a:extLst>
          </p:cNvPr>
          <p:cNvSpPr>
            <a:spLocks noGrp="1"/>
          </p:cNvSpPr>
          <p:nvPr/>
        </p:nvSpPr>
        <p:spPr>
          <a:xfrm>
            <a:off x="320400" y="9741960"/>
            <a:ext cx="6696000" cy="27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ts val="859"/>
              </a:lnSpc>
              <a:buClr>
                <a:srgbClr val="000000"/>
              </a:buClr>
              <a:buFont typeface="Symbol"/>
              <a:buChar char=""/>
            </a:pPr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South-1 closed Jun-26 at 827, ▲ 7% vs L3M and ▲ 82% vs Jun-25; Q1 FY27 ▲ 84% YoY (corrected NSV).</a:t>
            </a:r>
            <a:br/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Chain Highlights: Apollo leads; Apollo is the fastest YoY chain.</a:t>
            </a:r>
          </a:p>
        </p:txBody>
      </p:sp>
      <p:sp>
        <p:nvSpPr>
          <p:cNvPr id="483" name="Textbox 291">
            <a:extLst>
              <a:ext uri="{FF2B5EF4-FFF2-40B4-BE49-F238E27FC236}">
                <a16:creationId xmlns:a16="http://schemas.microsoft.com/office/drawing/2014/main" id="{C9ED4CE6-E409-4F7C-AB98-CBBCBB0C6A87}"/>
              </a:ext>
            </a:extLst>
          </p:cNvPr>
          <p:cNvSpPr>
            <a:spLocks noGrp="1"/>
          </p:cNvSpPr>
          <p:nvPr/>
        </p:nvSpPr>
        <p:spPr>
          <a:xfrm>
            <a:off x="394200" y="10137240"/>
            <a:ext cx="475200" cy="1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Lead Chain</a:t>
            </a:r>
          </a:p>
        </p:txBody>
      </p:sp>
      <p:sp>
        <p:nvSpPr>
          <p:cNvPr id="484" name="Textbox 292">
            <a:extLst>
              <a:ext uri="{FF2B5EF4-FFF2-40B4-BE49-F238E27FC236}">
                <a16:creationId xmlns:a16="http://schemas.microsoft.com/office/drawing/2014/main" id="{D9810EF6-CA9D-4646-B8FC-1198FB30CF9F}"/>
              </a:ext>
            </a:extLst>
          </p:cNvPr>
          <p:cNvSpPr>
            <a:spLocks noGrp="1"/>
          </p:cNvSpPr>
          <p:nvPr/>
        </p:nvSpPr>
        <p:spPr>
          <a:xfrm>
            <a:off x="2077560" y="10137240"/>
            <a:ext cx="76680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Fastest YoY Chain</a:t>
            </a:r>
          </a:p>
        </p:txBody>
      </p:sp>
      <p:sp>
        <p:nvSpPr>
          <p:cNvPr id="485" name="Textbox 293">
            <a:extLst>
              <a:ext uri="{FF2B5EF4-FFF2-40B4-BE49-F238E27FC236}">
                <a16:creationId xmlns:a16="http://schemas.microsoft.com/office/drawing/2014/main" id="{4A891B7B-FFF4-414F-A273-6766D9D622A2}"/>
              </a:ext>
            </a:extLst>
          </p:cNvPr>
          <p:cNvSpPr>
            <a:spLocks noGrp="1"/>
          </p:cNvSpPr>
          <p:nvPr/>
        </p:nvSpPr>
        <p:spPr>
          <a:xfrm>
            <a:off x="3760920" y="10137240"/>
            <a:ext cx="81900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Record Chain Lines</a:t>
            </a:r>
          </a:p>
        </p:txBody>
      </p:sp>
      <p:sp>
        <p:nvSpPr>
          <p:cNvPr id="486" name="Textbox 294">
            <a:extLst>
              <a:ext uri="{FF2B5EF4-FFF2-40B4-BE49-F238E27FC236}">
                <a16:creationId xmlns:a16="http://schemas.microsoft.com/office/drawing/2014/main" id="{E2777140-A07D-4042-B62C-1B932AF2284C}"/>
              </a:ext>
            </a:extLst>
          </p:cNvPr>
          <p:cNvSpPr>
            <a:spLocks noGrp="1"/>
          </p:cNvSpPr>
          <p:nvPr/>
        </p:nvSpPr>
        <p:spPr>
          <a:xfrm>
            <a:off x="5444280" y="10137240"/>
            <a:ext cx="53748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Zone Record</a:t>
            </a:r>
          </a:p>
        </p:txBody>
      </p:sp>
      <p:sp>
        <p:nvSpPr>
          <p:cNvPr id="487" name="Textbox 295">
            <a:extLst>
              <a:ext uri="{FF2B5EF4-FFF2-40B4-BE49-F238E27FC236}">
                <a16:creationId xmlns:a16="http://schemas.microsoft.com/office/drawing/2014/main" id="{AE1102D7-7407-4316-91A7-DB5695E0A0B1}"/>
              </a:ext>
            </a:extLst>
          </p:cNvPr>
          <p:cNvSpPr>
            <a:spLocks noGrp="1"/>
          </p:cNvSpPr>
          <p:nvPr/>
        </p:nvSpPr>
        <p:spPr>
          <a:xfrm>
            <a:off x="393840" y="10267200"/>
            <a:ext cx="576720" cy="5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Apollo - 289</a:t>
            </a:r>
          </a:p>
        </p:txBody>
      </p:sp>
      <p:sp>
        <p:nvSpPr>
          <p:cNvPr id="488" name="Textbox 296">
            <a:extLst>
              <a:ext uri="{FF2B5EF4-FFF2-40B4-BE49-F238E27FC236}">
                <a16:creationId xmlns:a16="http://schemas.microsoft.com/office/drawing/2014/main" id="{724BA7C0-0EBD-4343-A1AD-108DAA844D06}"/>
              </a:ext>
            </a:extLst>
          </p:cNvPr>
          <p:cNvSpPr>
            <a:spLocks noGrp="1"/>
          </p:cNvSpPr>
          <p:nvPr/>
        </p:nvSpPr>
        <p:spPr>
          <a:xfrm>
            <a:off x="2067120" y="10260720"/>
            <a:ext cx="113040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51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Apollo  - </a:t>
            </a: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183%</a:t>
            </a:r>
          </a:p>
        </p:txBody>
      </p:sp>
      <p:sp>
        <p:nvSpPr>
          <p:cNvPr id="489" name="Textbox 297">
            <a:extLst>
              <a:ext uri="{FF2B5EF4-FFF2-40B4-BE49-F238E27FC236}">
                <a16:creationId xmlns:a16="http://schemas.microsoft.com/office/drawing/2014/main" id="{B51F8F75-6C06-4420-B471-923846DC6756}"/>
              </a:ext>
            </a:extLst>
          </p:cNvPr>
          <p:cNvSpPr>
            <a:spLocks noGrp="1"/>
          </p:cNvSpPr>
          <p:nvPr/>
        </p:nvSpPr>
        <p:spPr>
          <a:xfrm>
            <a:off x="3738960" y="10253160"/>
            <a:ext cx="1607040" cy="36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Apollo, Dmart, Reliance, </a:t>
            </a:r>
          </a:p>
        </p:txBody>
      </p:sp>
      <p:sp>
        <p:nvSpPr>
          <p:cNvPr id="490" name="Textbox 298">
            <a:extLst>
              <a:ext uri="{FF2B5EF4-FFF2-40B4-BE49-F238E27FC236}">
                <a16:creationId xmlns:a16="http://schemas.microsoft.com/office/drawing/2014/main" id="{5BCF4DA0-7BB6-4889-B2DD-C601DFECF874}"/>
              </a:ext>
            </a:extLst>
          </p:cNvPr>
          <p:cNvSpPr>
            <a:spLocks noGrp="1"/>
          </p:cNvSpPr>
          <p:nvPr/>
        </p:nvSpPr>
        <p:spPr>
          <a:xfrm>
            <a:off x="5444280" y="10267200"/>
            <a:ext cx="743760" cy="1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May-26 - 895 </a:t>
            </a:r>
          </a:p>
        </p:txBody>
      </p:sp>
      <p:sp>
        <p:nvSpPr>
          <p:cNvPr id="492" name="TextBox 218">
            <a:extLst>
              <a:ext uri="{FF2B5EF4-FFF2-40B4-BE49-F238E27FC236}">
                <a16:creationId xmlns:a16="http://schemas.microsoft.com/office/drawing/2014/main" id="{88EEDC71-3543-4FAD-B5A0-148E2642CA68}"/>
              </a:ext>
            </a:extLst>
          </p:cNvPr>
          <p:cNvSpPr>
            <a:spLocks noGrp="1"/>
          </p:cNvSpPr>
          <p:nvPr/>
        </p:nvSpPr>
        <p:spPr>
          <a:xfrm>
            <a:off x="212760" y="7400880"/>
            <a:ext cx="6926040" cy="361080"/>
          </a:xfrm>
          <a:prstGeom prst="rect">
            <a:avLst/>
          </a:prstGeom>
          <a:solidFill>
            <a:srgbClr val="2D9B7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5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South-1 Chain Summary</a:t>
            </a:r>
          </a:p>
        </p:txBody>
      </p:sp>
      <p:pic>
        <p:nvPicPr>
          <p:cNvPr id="592" name="Picture 2"/>
          <p:cNvPicPr>
            <a:picLocks noChangeAspect="1"/>
          </p:cNvPicPr>
          <p:nvPr/>
        </p:nvPicPr>
        <p:blipFill>
          <a:blip r:embed="rId9"/>
          <a:srcRect l="24445" r="23555"/>
          <a:stretch/>
        </p:blipFill>
        <p:spPr>
          <a:xfrm>
            <a:off x="2748240" y="6198120"/>
            <a:ext cx="212040" cy="407880"/>
          </a:xfrm>
          <a:prstGeom prst="rect">
            <a:avLst/>
          </a:prstGeom>
          <a:ln w="0">
            <a:noFill/>
          </a:ln>
        </p:spPr>
      </p:pic>
      <p:pic>
        <p:nvPicPr>
          <p:cNvPr id="593" name="Picture 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50280" y="6156720"/>
            <a:ext cx="240480" cy="510840"/>
          </a:xfrm>
          <a:prstGeom prst="rect">
            <a:avLst/>
          </a:prstGeom>
          <a:ln w="0">
            <a:noFill/>
          </a:ln>
        </p:spPr>
      </p:pic>
      <p:pic>
        <p:nvPicPr>
          <p:cNvPr id="594" name="Picture 3"/>
          <p:cNvPicPr>
            <a:picLocks noChangeAspect="1"/>
          </p:cNvPicPr>
          <p:nvPr/>
        </p:nvPicPr>
        <p:blipFill>
          <a:blip r:embed="rId11"/>
          <a:srcRect l="27803" t="6058" r="29329" b="4206"/>
          <a:stretch/>
        </p:blipFill>
        <p:spPr>
          <a:xfrm>
            <a:off x="194040" y="3919320"/>
            <a:ext cx="177120" cy="365400"/>
          </a:xfrm>
          <a:prstGeom prst="rect">
            <a:avLst/>
          </a:prstGeom>
          <a:ln w="0">
            <a:noFill/>
          </a:ln>
        </p:spPr>
      </p:pic>
      <p:pic>
        <p:nvPicPr>
          <p:cNvPr id="595" name="Picture 4"/>
          <p:cNvPicPr>
            <a:picLocks noChangeAspect="1"/>
          </p:cNvPicPr>
          <p:nvPr/>
        </p:nvPicPr>
        <p:blipFill>
          <a:blip r:embed="rId12"/>
          <a:srcRect l="32066" t="9039" r="31757" b="9269"/>
          <a:stretch/>
        </p:blipFill>
        <p:spPr>
          <a:xfrm>
            <a:off x="5134680" y="4060080"/>
            <a:ext cx="195840" cy="443160"/>
          </a:xfrm>
          <a:prstGeom prst="rect">
            <a:avLst/>
          </a:prstGeom>
          <a:ln w="0">
            <a:noFill/>
          </a:ln>
        </p:spPr>
      </p:pic>
      <p:pic>
        <p:nvPicPr>
          <p:cNvPr id="596" name="Google Shape;1518;p235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056920" y="6176880"/>
            <a:ext cx="216000" cy="273960"/>
          </a:xfrm>
          <a:prstGeom prst="rect">
            <a:avLst/>
          </a:prstGeom>
          <a:ln w="0">
            <a:noFill/>
          </a:ln>
        </p:spPr>
      </p:pic>
      <p:pic>
        <p:nvPicPr>
          <p:cNvPr id="597" name="Google Shape;1396;p227"/>
          <p:cNvPicPr>
            <a:picLocks noChangeAspect="1"/>
          </p:cNvPicPr>
          <p:nvPr/>
        </p:nvPicPr>
        <p:blipFill>
          <a:blip r:embed="rId14"/>
          <a:srcRect l="19608" b="484"/>
          <a:stretch/>
        </p:blipFill>
        <p:spPr>
          <a:xfrm>
            <a:off x="2549880" y="3936960"/>
            <a:ext cx="178200" cy="412200"/>
          </a:xfrm>
          <a:prstGeom prst="rect">
            <a:avLst/>
          </a:prstGeom>
          <a:ln w="0">
            <a:noFill/>
          </a:ln>
        </p:spPr>
      </p:pic>
      <p:sp>
        <p:nvSpPr>
          <p:cNvPr id="499" name="PageNum">
            <a:extLst>
              <a:ext uri="{FF2B5EF4-FFF2-40B4-BE49-F238E27FC236}">
                <a16:creationId xmlns:a16="http://schemas.microsoft.com/office/drawing/2014/main" id="{CB2887F1-7559-4206-83EC-817DCCE1BE7F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856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100903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0" name="Table 34"/>
          <p:cNvGraphicFramePr/>
          <p:nvPr/>
        </p:nvGraphicFramePr>
        <p:xfrm>
          <a:off x="212760" y="82800"/>
          <a:ext cx="7015680" cy="254160"/>
        </p:xfrm>
        <a:graphic>
          <a:graphicData uri="http://schemas.openxmlformats.org/drawingml/2006/table">
            <a:tbl>
              <a:tblPr/>
              <a:tblGrid>
                <a:gridCol w="701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SOUTH-2 ZONE PERFORMANCE</a:t>
                      </a:r>
                    </a:p>
                  </a:txBody>
                  <a:tcPr marL="65520" marR="65520" marT="0" marB="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1" name="Graphic 251">
            <a:extLst>
              <a:ext uri="{FF2B5EF4-FFF2-40B4-BE49-F238E27FC236}">
                <a16:creationId xmlns:a16="http://schemas.microsoft.com/office/drawing/2014/main" id="{2C331BEC-BDF4-4067-BAD1-F028F6CEDFBE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02" name="Graphic 252">
            <a:extLst>
              <a:ext uri="{FF2B5EF4-FFF2-40B4-BE49-F238E27FC236}">
                <a16:creationId xmlns:a16="http://schemas.microsoft.com/office/drawing/2014/main" id="{4E093437-C6DA-478F-B868-FE5751113DCB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03" name="Textbox 253">
            <a:extLst>
              <a:ext uri="{FF2B5EF4-FFF2-40B4-BE49-F238E27FC236}">
                <a16:creationId xmlns:a16="http://schemas.microsoft.com/office/drawing/2014/main" id="{281FCF79-E32B-429E-898A-3012815F4850}"/>
              </a:ext>
            </a:extLst>
          </p:cNvPr>
          <p:cNvSpPr>
            <a:spLocks noGrp="1"/>
          </p:cNvSpPr>
          <p:nvPr/>
        </p:nvSpPr>
        <p:spPr>
          <a:xfrm>
            <a:off x="2127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Jun-26 Sales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548</a:t>
            </a:r>
          </a:p>
        </p:txBody>
      </p:sp>
      <p:sp>
        <p:nvSpPr>
          <p:cNvPr id="504" name="Graphic 255">
            <a:extLst>
              <a:ext uri="{FF2B5EF4-FFF2-40B4-BE49-F238E27FC236}">
                <a16:creationId xmlns:a16="http://schemas.microsoft.com/office/drawing/2014/main" id="{D7657E1D-102E-4BA9-AB9F-CFC7463DBFE7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05" name="Graphic 256">
            <a:extLst>
              <a:ext uri="{FF2B5EF4-FFF2-40B4-BE49-F238E27FC236}">
                <a16:creationId xmlns:a16="http://schemas.microsoft.com/office/drawing/2014/main" id="{8EAC7EB6-F6B9-4639-8476-DCC3D366D899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06" name="Textbox 257">
            <a:extLst>
              <a:ext uri="{FF2B5EF4-FFF2-40B4-BE49-F238E27FC236}">
                <a16:creationId xmlns:a16="http://schemas.microsoft.com/office/drawing/2014/main" id="{9D595B8A-4F72-45C5-ABF5-40888EE6227E}"/>
              </a:ext>
            </a:extLst>
          </p:cNvPr>
          <p:cNvSpPr>
            <a:spLocks noGrp="1"/>
          </p:cNvSpPr>
          <p:nvPr/>
        </p:nvSpPr>
        <p:spPr>
          <a:xfrm>
            <a:off x="198792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Share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14.3%</a:t>
            </a:r>
          </a:p>
        </p:txBody>
      </p:sp>
      <p:sp>
        <p:nvSpPr>
          <p:cNvPr id="507" name="Graphic 259">
            <a:extLst>
              <a:ext uri="{FF2B5EF4-FFF2-40B4-BE49-F238E27FC236}">
                <a16:creationId xmlns:a16="http://schemas.microsoft.com/office/drawing/2014/main" id="{261BE6E3-0CE1-4B1C-9167-A4983EF698E3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08" name="Graphic 260">
            <a:extLst>
              <a:ext uri="{FF2B5EF4-FFF2-40B4-BE49-F238E27FC236}">
                <a16:creationId xmlns:a16="http://schemas.microsoft.com/office/drawing/2014/main" id="{8DF86B07-174B-4875-93AD-8A1AB3F38032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09" name="Textbox 261">
            <a:extLst>
              <a:ext uri="{FF2B5EF4-FFF2-40B4-BE49-F238E27FC236}">
                <a16:creationId xmlns:a16="http://schemas.microsoft.com/office/drawing/2014/main" id="{516D2D7C-21E6-4BAA-B911-A4131C4340AA}"/>
              </a:ext>
            </a:extLst>
          </p:cNvPr>
          <p:cNvSpPr>
            <a:spLocks noGrp="1"/>
          </p:cNvSpPr>
          <p:nvPr/>
        </p:nvSpPr>
        <p:spPr>
          <a:xfrm>
            <a:off x="3763440" y="40932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L3M Avg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486</a:t>
            </a:r>
          </a:p>
        </p:txBody>
      </p:sp>
      <p:sp>
        <p:nvSpPr>
          <p:cNvPr id="510" name="Graphic 263">
            <a:extLst>
              <a:ext uri="{FF2B5EF4-FFF2-40B4-BE49-F238E27FC236}">
                <a16:creationId xmlns:a16="http://schemas.microsoft.com/office/drawing/2014/main" id="{89CBEF0E-37D2-4275-B225-F2A9948B8E8F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11" name="Graphic 264">
            <a:extLst>
              <a:ext uri="{FF2B5EF4-FFF2-40B4-BE49-F238E27FC236}">
                <a16:creationId xmlns:a16="http://schemas.microsoft.com/office/drawing/2014/main" id="{3919384A-750E-454F-922A-452F9BF35C9E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12" name="Textbox 265">
            <a:extLst>
              <a:ext uri="{FF2B5EF4-FFF2-40B4-BE49-F238E27FC236}">
                <a16:creationId xmlns:a16="http://schemas.microsoft.com/office/drawing/2014/main" id="{D8A98C48-9B2B-46FC-8B06-BCCF1F0109C5}"/>
              </a:ext>
            </a:extLst>
          </p:cNvPr>
          <p:cNvSpPr>
            <a:spLocks noGrp="1"/>
          </p:cNvSpPr>
          <p:nvPr/>
        </p:nvSpPr>
        <p:spPr>
          <a:xfrm>
            <a:off x="55389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GOLY Jun</a:t>
            </a:r>
          </a:p>
          <a:p>
            <a:pPr marL="17640" algn="ctr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6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64%</a:t>
            </a:r>
          </a:p>
        </p:txBody>
      </p:sp>
      <p:sp>
        <p:nvSpPr>
          <p:cNvPr id="513" name="Rectangle 48">
            <a:extLst>
              <a:ext uri="{FF2B5EF4-FFF2-40B4-BE49-F238E27FC236}">
                <a16:creationId xmlns:a16="http://schemas.microsoft.com/office/drawing/2014/main" id="{0AC96B62-6A86-484D-A352-BAC3D81F69CB}"/>
              </a:ext>
            </a:extLst>
          </p:cNvPr>
          <p:cNvSpPr>
            <a:spLocks noGrp="1"/>
          </p:cNvSpPr>
          <p:nvPr/>
        </p:nvSpPr>
        <p:spPr>
          <a:xfrm>
            <a:off x="288720" y="427680"/>
            <a:ext cx="184320" cy="46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endParaRPr/>
          </a:p>
        </p:txBody>
      </p:sp>
      <p:sp>
        <p:nvSpPr>
          <p:cNvPr id="514" name="Rectangle 50">
            <a:extLst>
              <a:ext uri="{FF2B5EF4-FFF2-40B4-BE49-F238E27FC236}">
                <a16:creationId xmlns:a16="http://schemas.microsoft.com/office/drawing/2014/main" id="{9530CC34-8FFE-4407-9838-87F928BCC37F}"/>
              </a:ext>
            </a:extLst>
          </p:cNvPr>
          <p:cNvSpPr>
            <a:spLocks noGrp="1"/>
          </p:cNvSpPr>
          <p:nvPr/>
        </p:nvSpPr>
        <p:spPr>
          <a:xfrm>
            <a:off x="212760" y="54428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515" name="Rectangle 52">
            <a:extLst>
              <a:ext uri="{FF2B5EF4-FFF2-40B4-BE49-F238E27FC236}">
                <a16:creationId xmlns:a16="http://schemas.microsoft.com/office/drawing/2014/main" id="{4E2D4A4C-1325-413A-A0C6-3C509FB51E66}"/>
              </a:ext>
            </a:extLst>
          </p:cNvPr>
          <p:cNvSpPr>
            <a:spLocks noGrp="1"/>
          </p:cNvSpPr>
          <p:nvPr/>
        </p:nvSpPr>
        <p:spPr>
          <a:xfrm>
            <a:off x="212760" y="59126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516" name="Rectangle 54">
            <a:extLst>
              <a:ext uri="{FF2B5EF4-FFF2-40B4-BE49-F238E27FC236}">
                <a16:creationId xmlns:a16="http://schemas.microsoft.com/office/drawing/2014/main" id="{26A13E01-51D6-4799-9B75-EE8570B575E1}"/>
              </a:ext>
            </a:extLst>
          </p:cNvPr>
          <p:cNvSpPr>
            <a:spLocks noGrp="1"/>
          </p:cNvSpPr>
          <p:nvPr/>
        </p:nvSpPr>
        <p:spPr>
          <a:xfrm>
            <a:off x="212760" y="7372080"/>
            <a:ext cx="6926040" cy="399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517" name="Rectangle 56">
            <a:extLst>
              <a:ext uri="{FF2B5EF4-FFF2-40B4-BE49-F238E27FC236}">
                <a16:creationId xmlns:a16="http://schemas.microsoft.com/office/drawing/2014/main" id="{0955BAB1-9538-4DB3-9A3C-7BF399345B35}"/>
              </a:ext>
            </a:extLst>
          </p:cNvPr>
          <p:cNvSpPr>
            <a:spLocks noGrp="1"/>
          </p:cNvSpPr>
          <p:nvPr/>
        </p:nvSpPr>
        <p:spPr>
          <a:xfrm>
            <a:off x="212760" y="6867720"/>
            <a:ext cx="69260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518" name="Textbox 268">
            <a:extLst>
              <a:ext uri="{FF2B5EF4-FFF2-40B4-BE49-F238E27FC236}">
                <a16:creationId xmlns:a16="http://schemas.microsoft.com/office/drawing/2014/main" id="{3F843B64-93F4-464D-B997-5F402BE9A634}"/>
              </a:ext>
            </a:extLst>
          </p:cNvPr>
          <p:cNvSpPr>
            <a:spLocks noGrp="1"/>
          </p:cNvSpPr>
          <p:nvPr/>
        </p:nvSpPr>
        <p:spPr>
          <a:xfrm>
            <a:off x="212760" y="988200"/>
            <a:ext cx="6926040" cy="848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27080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 Performance Highlights</a:t>
            </a:r>
          </a:p>
          <a:p>
            <a:pPr defTabSz="91440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184320" indent="-5724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Jun-26 closed at 548 for South-2 (14.3% of channel), ▼ 1% MoM off the May-26 record of 555. Q1 FY27 = 1,576 Lacs, ▲ 65% vs Q1 FY26.</a:t>
            </a:r>
          </a:p>
          <a:p>
            <a:pPr marL="184320" indent="-57240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05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Growth View: Jun-26 was ▲ 13% vs L3M and ▲ 64% vs Jun-25 — YoY momentum intact despite seasonal moderation.</a:t>
            </a:r>
          </a:p>
        </p:txBody>
      </p:sp>
      <p:sp>
        <p:nvSpPr>
          <p:cNvPr id="519" name="Shape 3">
            <a:extLst>
              <a:ext uri="{FF2B5EF4-FFF2-40B4-BE49-F238E27FC236}">
                <a16:creationId xmlns:a16="http://schemas.microsoft.com/office/drawing/2014/main" id="{785D2691-F4E3-4418-B7BE-DB1DC14F7278}"/>
              </a:ext>
            </a:extLst>
          </p:cNvPr>
          <p:cNvSpPr>
            <a:spLocks noGrp="1"/>
          </p:cNvSpPr>
          <p:nvPr/>
        </p:nvSpPr>
        <p:spPr>
          <a:xfrm>
            <a:off x="212760" y="3474000"/>
            <a:ext cx="6926040" cy="255600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520" name="Text 4">
            <a:extLst>
              <a:ext uri="{FF2B5EF4-FFF2-40B4-BE49-F238E27FC236}">
                <a16:creationId xmlns:a16="http://schemas.microsoft.com/office/drawing/2014/main" id="{D40EAD64-5F58-499B-B8C0-E49B37C60B53}"/>
              </a:ext>
            </a:extLst>
          </p:cNvPr>
          <p:cNvSpPr>
            <a:spLocks noGrp="1"/>
          </p:cNvSpPr>
          <p:nvPr/>
        </p:nvSpPr>
        <p:spPr>
          <a:xfrm>
            <a:off x="212760" y="3538080"/>
            <a:ext cx="69260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South-2 | Mamaearth — Top 3 Sub-category Monthly Trend (NSV)</a:t>
            </a:r>
          </a:p>
        </p:txBody>
      </p:sp>
      <p:sp>
        <p:nvSpPr>
          <p:cNvPr id="521" name="Text 5">
            <a:extLst>
              <a:ext uri="{FF2B5EF4-FFF2-40B4-BE49-F238E27FC236}">
                <a16:creationId xmlns:a16="http://schemas.microsoft.com/office/drawing/2014/main" id="{79B4E544-E179-4755-9B55-D24307DAC717}"/>
              </a:ext>
            </a:extLst>
          </p:cNvPr>
          <p:cNvSpPr>
            <a:spLocks noGrp="1"/>
          </p:cNvSpPr>
          <p:nvPr/>
        </p:nvSpPr>
        <p:spPr>
          <a:xfrm>
            <a:off x="239400" y="385956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522" name="Text 6">
            <a:extLst>
              <a:ext uri="{FF2B5EF4-FFF2-40B4-BE49-F238E27FC236}">
                <a16:creationId xmlns:a16="http://schemas.microsoft.com/office/drawing/2014/main" id="{3FC05356-4B61-4555-AEC8-8DA5CE2DAD06}"/>
              </a:ext>
            </a:extLst>
          </p:cNvPr>
          <p:cNvSpPr>
            <a:spLocks noGrp="1"/>
          </p:cNvSpPr>
          <p:nvPr/>
        </p:nvSpPr>
        <p:spPr>
          <a:xfrm>
            <a:off x="725760" y="387684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47%</a:t>
            </a:r>
          </a:p>
        </p:txBody>
      </p:sp>
      <p:sp>
        <p:nvSpPr>
          <p:cNvPr id="523" name="Text 7">
            <a:extLst>
              <a:ext uri="{FF2B5EF4-FFF2-40B4-BE49-F238E27FC236}">
                <a16:creationId xmlns:a16="http://schemas.microsoft.com/office/drawing/2014/main" id="{9C91AFB2-BF49-4CB6-901E-AF86E40C7B18}"/>
              </a:ext>
            </a:extLst>
          </p:cNvPr>
          <p:cNvSpPr>
            <a:spLocks noGrp="1"/>
          </p:cNvSpPr>
          <p:nvPr/>
        </p:nvSpPr>
        <p:spPr>
          <a:xfrm>
            <a:off x="1310040" y="389736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10%</a:t>
            </a:r>
          </a:p>
        </p:txBody>
      </p:sp>
      <p:sp>
        <p:nvSpPr>
          <p:cNvPr id="524" name="Text 8">
            <a:extLst>
              <a:ext uri="{FF2B5EF4-FFF2-40B4-BE49-F238E27FC236}">
                <a16:creationId xmlns:a16="http://schemas.microsoft.com/office/drawing/2014/main" id="{FAFAEBA4-D463-4DE2-93FE-B8B0DAA0F175}"/>
              </a:ext>
            </a:extLst>
          </p:cNvPr>
          <p:cNvSpPr>
            <a:spLocks noGrp="1"/>
          </p:cNvSpPr>
          <p:nvPr/>
        </p:nvSpPr>
        <p:spPr>
          <a:xfrm>
            <a:off x="1843200" y="3885480"/>
            <a:ext cx="5094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159</a:t>
            </a:r>
          </a:p>
        </p:txBody>
      </p:sp>
      <p:graphicFrame>
        <p:nvGraphicFramePr>
          <p:cNvPr id="625" name="Chart 0"/>
          <p:cNvGraphicFramePr/>
          <p:nvPr/>
        </p:nvGraphicFramePr>
        <p:xfrm>
          <a:off x="275400" y="3805560"/>
          <a:ext cx="2174040" cy="157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6" name="Text 9">
            <a:extLst>
              <a:ext uri="{FF2B5EF4-FFF2-40B4-BE49-F238E27FC236}">
                <a16:creationId xmlns:a16="http://schemas.microsoft.com/office/drawing/2014/main" id="{624F9116-3FE1-403C-88FE-53159E0440C6}"/>
              </a:ext>
            </a:extLst>
          </p:cNvPr>
          <p:cNvSpPr>
            <a:spLocks noGrp="1"/>
          </p:cNvSpPr>
          <p:nvPr/>
        </p:nvSpPr>
        <p:spPr>
          <a:xfrm>
            <a:off x="2618280" y="3885480"/>
            <a:ext cx="627480" cy="21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527" name="Text 10">
            <a:extLst>
              <a:ext uri="{FF2B5EF4-FFF2-40B4-BE49-F238E27FC236}">
                <a16:creationId xmlns:a16="http://schemas.microsoft.com/office/drawing/2014/main" id="{F6AB67B0-4966-485F-8ACE-F60268F890BA}"/>
              </a:ext>
            </a:extLst>
          </p:cNvPr>
          <p:cNvSpPr>
            <a:spLocks noGrp="1"/>
          </p:cNvSpPr>
          <p:nvPr/>
        </p:nvSpPr>
        <p:spPr>
          <a:xfrm>
            <a:off x="3210840" y="387540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60%</a:t>
            </a:r>
          </a:p>
        </p:txBody>
      </p:sp>
      <p:sp>
        <p:nvSpPr>
          <p:cNvPr id="528" name="Text 11">
            <a:extLst>
              <a:ext uri="{FF2B5EF4-FFF2-40B4-BE49-F238E27FC236}">
                <a16:creationId xmlns:a16="http://schemas.microsoft.com/office/drawing/2014/main" id="{928F51A9-E795-4974-821D-65CCA328B6BD}"/>
              </a:ext>
            </a:extLst>
          </p:cNvPr>
          <p:cNvSpPr>
            <a:spLocks noGrp="1"/>
          </p:cNvSpPr>
          <p:nvPr/>
        </p:nvSpPr>
        <p:spPr>
          <a:xfrm>
            <a:off x="3615480" y="3871800"/>
            <a:ext cx="371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9%</a:t>
            </a:r>
          </a:p>
        </p:txBody>
      </p:sp>
      <p:sp>
        <p:nvSpPr>
          <p:cNvPr id="529" name="Text 12">
            <a:extLst>
              <a:ext uri="{FF2B5EF4-FFF2-40B4-BE49-F238E27FC236}">
                <a16:creationId xmlns:a16="http://schemas.microsoft.com/office/drawing/2014/main" id="{7708EF49-1810-4D53-804A-2974E209B702}"/>
              </a:ext>
            </a:extLst>
          </p:cNvPr>
          <p:cNvSpPr>
            <a:spLocks noGrp="1"/>
          </p:cNvSpPr>
          <p:nvPr/>
        </p:nvSpPr>
        <p:spPr>
          <a:xfrm>
            <a:off x="4078440" y="3873960"/>
            <a:ext cx="41292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Jun'26 130</a:t>
            </a:r>
          </a:p>
        </p:txBody>
      </p:sp>
      <p:graphicFrame>
        <p:nvGraphicFramePr>
          <p:cNvPr id="630" name="Chart 1"/>
          <p:cNvGraphicFramePr/>
          <p:nvPr/>
        </p:nvGraphicFramePr>
        <p:xfrm>
          <a:off x="2466000" y="3818160"/>
          <a:ext cx="2262600" cy="157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31" name="Text 13">
            <a:extLst>
              <a:ext uri="{FF2B5EF4-FFF2-40B4-BE49-F238E27FC236}">
                <a16:creationId xmlns:a16="http://schemas.microsoft.com/office/drawing/2014/main" id="{72C963E0-BC56-46EF-89D9-3E77C7ED284D}"/>
              </a:ext>
            </a:extLst>
          </p:cNvPr>
          <p:cNvSpPr>
            <a:spLocks noGrp="1"/>
          </p:cNvSpPr>
          <p:nvPr/>
        </p:nvSpPr>
        <p:spPr>
          <a:xfrm>
            <a:off x="4943160" y="3837240"/>
            <a:ext cx="537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532" name="Text 14">
            <a:extLst>
              <a:ext uri="{FF2B5EF4-FFF2-40B4-BE49-F238E27FC236}">
                <a16:creationId xmlns:a16="http://schemas.microsoft.com/office/drawing/2014/main" id="{8B7DA545-964B-4B07-B139-D38B8C92F475}"/>
              </a:ext>
            </a:extLst>
          </p:cNvPr>
          <p:cNvSpPr>
            <a:spLocks noGrp="1"/>
          </p:cNvSpPr>
          <p:nvPr/>
        </p:nvSpPr>
        <p:spPr>
          <a:xfrm>
            <a:off x="5522760" y="3855960"/>
            <a:ext cx="61488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93%</a:t>
            </a:r>
          </a:p>
        </p:txBody>
      </p:sp>
      <p:sp>
        <p:nvSpPr>
          <p:cNvPr id="533" name="Text 15">
            <a:extLst>
              <a:ext uri="{FF2B5EF4-FFF2-40B4-BE49-F238E27FC236}">
                <a16:creationId xmlns:a16="http://schemas.microsoft.com/office/drawing/2014/main" id="{9D7AA220-3927-41B7-BFC5-54F793DEA9A7}"/>
              </a:ext>
            </a:extLst>
          </p:cNvPr>
          <p:cNvSpPr>
            <a:spLocks noGrp="1"/>
          </p:cNvSpPr>
          <p:nvPr/>
        </p:nvSpPr>
        <p:spPr>
          <a:xfrm>
            <a:off x="5989320" y="3836880"/>
            <a:ext cx="371880" cy="2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28%</a:t>
            </a:r>
          </a:p>
        </p:txBody>
      </p:sp>
      <p:sp>
        <p:nvSpPr>
          <p:cNvPr id="534" name="Text 16">
            <a:extLst>
              <a:ext uri="{FF2B5EF4-FFF2-40B4-BE49-F238E27FC236}">
                <a16:creationId xmlns:a16="http://schemas.microsoft.com/office/drawing/2014/main" id="{115710FA-F0A7-4262-A9A9-19643A5242DA}"/>
              </a:ext>
            </a:extLst>
          </p:cNvPr>
          <p:cNvSpPr>
            <a:spLocks noGrp="1"/>
          </p:cNvSpPr>
          <p:nvPr/>
        </p:nvSpPr>
        <p:spPr>
          <a:xfrm>
            <a:off x="6417720" y="3885480"/>
            <a:ext cx="41292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graphicFrame>
        <p:nvGraphicFramePr>
          <p:cNvPr id="635" name="Chart 2"/>
          <p:cNvGraphicFramePr/>
          <p:nvPr/>
        </p:nvGraphicFramePr>
        <p:xfrm>
          <a:off x="4824720" y="3822480"/>
          <a:ext cx="2239200" cy="159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36" name="Shape 17">
            <a:extLst>
              <a:ext uri="{FF2B5EF4-FFF2-40B4-BE49-F238E27FC236}">
                <a16:creationId xmlns:a16="http://schemas.microsoft.com/office/drawing/2014/main" id="{EA47D8CC-9C33-4F0C-B6B5-9A4A568090AD}"/>
              </a:ext>
            </a:extLst>
          </p:cNvPr>
          <p:cNvSpPr>
            <a:spLocks noGrp="1"/>
          </p:cNvSpPr>
          <p:nvPr/>
        </p:nvSpPr>
        <p:spPr>
          <a:xfrm>
            <a:off x="212760" y="5470200"/>
            <a:ext cx="6926040" cy="323280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537" name="Text 18">
            <a:extLst>
              <a:ext uri="{FF2B5EF4-FFF2-40B4-BE49-F238E27FC236}">
                <a16:creationId xmlns:a16="http://schemas.microsoft.com/office/drawing/2014/main" id="{18D4B2EF-39CC-4927-9FDE-ACDE68CDB11B}"/>
              </a:ext>
            </a:extLst>
          </p:cNvPr>
          <p:cNvSpPr>
            <a:spLocks noGrp="1"/>
          </p:cNvSpPr>
          <p:nvPr/>
        </p:nvSpPr>
        <p:spPr>
          <a:xfrm>
            <a:off x="212760" y="5468760"/>
            <a:ext cx="69260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South-2 | The Derma Co. — Top 3 Sub-category Monthly Trend (NSV)</a:t>
            </a:r>
          </a:p>
        </p:txBody>
      </p:sp>
      <p:sp>
        <p:nvSpPr>
          <p:cNvPr id="538" name="Text 19">
            <a:extLst>
              <a:ext uri="{FF2B5EF4-FFF2-40B4-BE49-F238E27FC236}">
                <a16:creationId xmlns:a16="http://schemas.microsoft.com/office/drawing/2014/main" id="{AB7962DA-ED14-482B-9300-7D29518CDC69}"/>
              </a:ext>
            </a:extLst>
          </p:cNvPr>
          <p:cNvSpPr>
            <a:spLocks noGrp="1"/>
          </p:cNvSpPr>
          <p:nvPr/>
        </p:nvSpPr>
        <p:spPr>
          <a:xfrm>
            <a:off x="278280" y="5927040"/>
            <a:ext cx="397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539" name="Text 20">
            <a:extLst>
              <a:ext uri="{FF2B5EF4-FFF2-40B4-BE49-F238E27FC236}">
                <a16:creationId xmlns:a16="http://schemas.microsoft.com/office/drawing/2014/main" id="{EFAB8390-297C-404C-9695-0FB95F11F397}"/>
              </a:ext>
            </a:extLst>
          </p:cNvPr>
          <p:cNvSpPr>
            <a:spLocks noGrp="1"/>
          </p:cNvSpPr>
          <p:nvPr/>
        </p:nvSpPr>
        <p:spPr>
          <a:xfrm>
            <a:off x="700560" y="5941080"/>
            <a:ext cx="4453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1220%</a:t>
            </a:r>
          </a:p>
        </p:txBody>
      </p:sp>
      <p:sp>
        <p:nvSpPr>
          <p:cNvPr id="540" name="Text 21">
            <a:extLst>
              <a:ext uri="{FF2B5EF4-FFF2-40B4-BE49-F238E27FC236}">
                <a16:creationId xmlns:a16="http://schemas.microsoft.com/office/drawing/2014/main" id="{62BB01C9-53AF-4EE8-9CCF-C7DD5BEC4B33}"/>
              </a:ext>
            </a:extLst>
          </p:cNvPr>
          <p:cNvSpPr>
            <a:spLocks noGrp="1"/>
          </p:cNvSpPr>
          <p:nvPr/>
        </p:nvSpPr>
        <p:spPr>
          <a:xfrm>
            <a:off x="1298880" y="5948280"/>
            <a:ext cx="40572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6%</a:t>
            </a:r>
          </a:p>
        </p:txBody>
      </p:sp>
      <p:sp>
        <p:nvSpPr>
          <p:cNvPr id="541" name="Text 22">
            <a:extLst>
              <a:ext uri="{FF2B5EF4-FFF2-40B4-BE49-F238E27FC236}">
                <a16:creationId xmlns:a16="http://schemas.microsoft.com/office/drawing/2014/main" id="{85C0CDE4-04A6-44C7-8E55-6E68A9CEDE9B}"/>
              </a:ext>
            </a:extLst>
          </p:cNvPr>
          <p:cNvSpPr>
            <a:spLocks noGrp="1"/>
          </p:cNvSpPr>
          <p:nvPr/>
        </p:nvSpPr>
        <p:spPr>
          <a:xfrm>
            <a:off x="1911960" y="5925240"/>
            <a:ext cx="49608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66</a:t>
            </a:r>
          </a:p>
        </p:txBody>
      </p:sp>
      <p:graphicFrame>
        <p:nvGraphicFramePr>
          <p:cNvPr id="642" name="Chart 3"/>
          <p:cNvGraphicFramePr/>
          <p:nvPr/>
        </p:nvGraphicFramePr>
        <p:xfrm>
          <a:off x="222480" y="5887800"/>
          <a:ext cx="2269440" cy="146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43" name="Text 23">
            <a:extLst>
              <a:ext uri="{FF2B5EF4-FFF2-40B4-BE49-F238E27FC236}">
                <a16:creationId xmlns:a16="http://schemas.microsoft.com/office/drawing/2014/main" id="{B5EE008F-FDA9-4244-A3FA-F1401832F1CD}"/>
              </a:ext>
            </a:extLst>
          </p:cNvPr>
          <p:cNvSpPr>
            <a:spLocks noGrp="1"/>
          </p:cNvSpPr>
          <p:nvPr/>
        </p:nvSpPr>
        <p:spPr>
          <a:xfrm>
            <a:off x="2564280" y="5927040"/>
            <a:ext cx="54108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544" name="Text 24">
            <a:extLst>
              <a:ext uri="{FF2B5EF4-FFF2-40B4-BE49-F238E27FC236}">
                <a16:creationId xmlns:a16="http://schemas.microsoft.com/office/drawing/2014/main" id="{3828CE46-AB67-432B-AC06-E9EC5E740392}"/>
              </a:ext>
            </a:extLst>
          </p:cNvPr>
          <p:cNvSpPr>
            <a:spLocks noGrp="1"/>
          </p:cNvSpPr>
          <p:nvPr/>
        </p:nvSpPr>
        <p:spPr>
          <a:xfrm>
            <a:off x="3176280" y="5977080"/>
            <a:ext cx="447480" cy="20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250%</a:t>
            </a:r>
          </a:p>
        </p:txBody>
      </p:sp>
      <p:sp>
        <p:nvSpPr>
          <p:cNvPr id="545" name="Text 25">
            <a:extLst>
              <a:ext uri="{FF2B5EF4-FFF2-40B4-BE49-F238E27FC236}">
                <a16:creationId xmlns:a16="http://schemas.microsoft.com/office/drawing/2014/main" id="{1E6EDFB3-C627-4C17-BC08-BE77B17F9522}"/>
              </a:ext>
            </a:extLst>
          </p:cNvPr>
          <p:cNvSpPr>
            <a:spLocks noGrp="1"/>
          </p:cNvSpPr>
          <p:nvPr/>
        </p:nvSpPr>
        <p:spPr>
          <a:xfrm>
            <a:off x="3691800" y="5957280"/>
            <a:ext cx="40572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39%</a:t>
            </a:r>
          </a:p>
        </p:txBody>
      </p:sp>
      <p:sp>
        <p:nvSpPr>
          <p:cNvPr id="546" name="Text 26">
            <a:extLst>
              <a:ext uri="{FF2B5EF4-FFF2-40B4-BE49-F238E27FC236}">
                <a16:creationId xmlns:a16="http://schemas.microsoft.com/office/drawing/2014/main" id="{6248BD11-5AB2-42B2-A193-73B8C1E13635}"/>
              </a:ext>
            </a:extLst>
          </p:cNvPr>
          <p:cNvSpPr>
            <a:spLocks noGrp="1"/>
          </p:cNvSpPr>
          <p:nvPr/>
        </p:nvSpPr>
        <p:spPr>
          <a:xfrm>
            <a:off x="4144320" y="5962680"/>
            <a:ext cx="51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graphicFrame>
        <p:nvGraphicFramePr>
          <p:cNvPr id="647" name="Chart 4"/>
          <p:cNvGraphicFramePr/>
          <p:nvPr/>
        </p:nvGraphicFramePr>
        <p:xfrm>
          <a:off x="2559600" y="5887080"/>
          <a:ext cx="2269440" cy="146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48" name="Text 27">
            <a:extLst>
              <a:ext uri="{FF2B5EF4-FFF2-40B4-BE49-F238E27FC236}">
                <a16:creationId xmlns:a16="http://schemas.microsoft.com/office/drawing/2014/main" id="{6D85FCF1-C3B5-4663-9EA2-73CA75066736}"/>
              </a:ext>
            </a:extLst>
          </p:cNvPr>
          <p:cNvSpPr>
            <a:spLocks noGrp="1"/>
          </p:cNvSpPr>
          <p:nvPr/>
        </p:nvSpPr>
        <p:spPr>
          <a:xfrm>
            <a:off x="5023080" y="5906160"/>
            <a:ext cx="481680" cy="26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Face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Serum</a:t>
            </a:r>
          </a:p>
        </p:txBody>
      </p:sp>
      <p:sp>
        <p:nvSpPr>
          <p:cNvPr id="549" name="Text 28">
            <a:extLst>
              <a:ext uri="{FF2B5EF4-FFF2-40B4-BE49-F238E27FC236}">
                <a16:creationId xmlns:a16="http://schemas.microsoft.com/office/drawing/2014/main" id="{EE66A229-7665-446C-B982-E11648558F00}"/>
              </a:ext>
            </a:extLst>
          </p:cNvPr>
          <p:cNvSpPr>
            <a:spLocks noGrp="1"/>
          </p:cNvSpPr>
          <p:nvPr/>
        </p:nvSpPr>
        <p:spPr>
          <a:xfrm>
            <a:off x="5573520" y="5927040"/>
            <a:ext cx="43920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50%</a:t>
            </a:r>
          </a:p>
        </p:txBody>
      </p:sp>
      <p:sp>
        <p:nvSpPr>
          <p:cNvPr id="550" name="Text 29">
            <a:extLst>
              <a:ext uri="{FF2B5EF4-FFF2-40B4-BE49-F238E27FC236}">
                <a16:creationId xmlns:a16="http://schemas.microsoft.com/office/drawing/2014/main" id="{98140F69-D6BA-4CB2-8D6D-735C273265A1}"/>
              </a:ext>
            </a:extLst>
          </p:cNvPr>
          <p:cNvSpPr>
            <a:spLocks noGrp="1"/>
          </p:cNvSpPr>
          <p:nvPr/>
        </p:nvSpPr>
        <p:spPr>
          <a:xfrm>
            <a:off x="6087960" y="5937840"/>
            <a:ext cx="40572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10%</a:t>
            </a:r>
          </a:p>
        </p:txBody>
      </p:sp>
      <p:sp>
        <p:nvSpPr>
          <p:cNvPr id="551" name="Text 30">
            <a:extLst>
              <a:ext uri="{FF2B5EF4-FFF2-40B4-BE49-F238E27FC236}">
                <a16:creationId xmlns:a16="http://schemas.microsoft.com/office/drawing/2014/main" id="{88409AF9-006A-4D03-9F7D-40E54263194C}"/>
              </a:ext>
            </a:extLst>
          </p:cNvPr>
          <p:cNvSpPr>
            <a:spLocks noGrp="1"/>
          </p:cNvSpPr>
          <p:nvPr/>
        </p:nvSpPr>
        <p:spPr>
          <a:xfrm>
            <a:off x="6569280" y="5927040"/>
            <a:ext cx="451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graphicFrame>
        <p:nvGraphicFramePr>
          <p:cNvPr id="652" name="Chart 5"/>
          <p:cNvGraphicFramePr/>
          <p:nvPr/>
        </p:nvGraphicFramePr>
        <p:xfrm>
          <a:off x="4943160" y="5865840"/>
          <a:ext cx="2160000" cy="148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653" name="Table 190"/>
          <p:cNvGraphicFramePr/>
          <p:nvPr/>
        </p:nvGraphicFramePr>
        <p:xfrm>
          <a:off x="212760" y="1935000"/>
          <a:ext cx="7121160" cy="1464120"/>
        </p:xfrm>
        <a:graphic>
          <a:graphicData uri="http://schemas.openxmlformats.org/drawingml/2006/table">
            <a:tbl>
              <a:tblPr/>
              <a:tblGrid>
                <a:gridCol w="12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42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 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305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414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427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78%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382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40%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94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391%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10%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Emerging Brands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54" name="Table 193"/>
          <p:cNvGraphicFramePr/>
          <p:nvPr/>
        </p:nvGraphicFramePr>
        <p:xfrm>
          <a:off x="212760" y="7863480"/>
          <a:ext cx="7008480" cy="1615680"/>
        </p:xfrm>
        <a:graphic>
          <a:graphicData uri="http://schemas.openxmlformats.org/drawingml/2006/table">
            <a:tbl>
              <a:tblPr/>
              <a:tblGrid>
                <a:gridCol w="17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Dmart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218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229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187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62%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Apollo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176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132%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Reliance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66%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H&amp;G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20%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39%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More Retail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18%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Lulu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485%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Others Combined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17%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55" name="Rectangle 81">
            <a:extLst>
              <a:ext uri="{FF2B5EF4-FFF2-40B4-BE49-F238E27FC236}">
                <a16:creationId xmlns:a16="http://schemas.microsoft.com/office/drawing/2014/main" id="{ECD39DEA-B003-44CA-9FC2-8C283B83115D}"/>
              </a:ext>
            </a:extLst>
          </p:cNvPr>
          <p:cNvSpPr>
            <a:spLocks noGrp="1"/>
          </p:cNvSpPr>
          <p:nvPr/>
        </p:nvSpPr>
        <p:spPr>
          <a:xfrm>
            <a:off x="0" y="15840"/>
            <a:ext cx="75625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556" name="Graphic 278">
            <a:extLst>
              <a:ext uri="{FF2B5EF4-FFF2-40B4-BE49-F238E27FC236}">
                <a16:creationId xmlns:a16="http://schemas.microsoft.com/office/drawing/2014/main" id="{CE6C66E9-3F95-4683-83EB-515D3D386F48}"/>
              </a:ext>
            </a:extLst>
          </p:cNvPr>
          <p:cNvSpPr>
            <a:spLocks noGrp="1"/>
          </p:cNvSpPr>
          <p:nvPr/>
        </p:nvSpPr>
        <p:spPr>
          <a:xfrm>
            <a:off x="228600" y="9541080"/>
            <a:ext cx="6910200" cy="1020600"/>
          </a:xfrm>
          <a:custGeom>
            <a:avLst/>
            <a:gdLst>
              <a:gd name="textAreaLeft" fmla="*/ 0 w 6910200"/>
              <a:gd name="textAreaRight" fmla="*/ 6910560 w 6910200"/>
              <a:gd name="textAreaTop" fmla="*/ 0 h 1020600"/>
              <a:gd name="textAreaBottom" fmla="*/ 1020960 h 1020600"/>
            </a:gdLst>
            <a:ahLst/>
            <a:cxnLst/>
            <a:rect l="textAreaLeft" t="textAreaTop" r="textAreaRight" b="textAreaBottom"/>
            <a:pathLst>
              <a:path w="6950709" h="2163445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2074415"/>
                </a:lnTo>
                <a:lnTo>
                  <a:pt x="6979" y="2109038"/>
                </a:lnTo>
                <a:lnTo>
                  <a:pt x="26021" y="2137294"/>
                </a:lnTo>
                <a:lnTo>
                  <a:pt x="54276" y="2156335"/>
                </a:lnTo>
                <a:lnTo>
                  <a:pt x="88900" y="2163315"/>
                </a:lnTo>
                <a:lnTo>
                  <a:pt x="6861500" y="2163315"/>
                </a:lnTo>
                <a:lnTo>
                  <a:pt x="6896123" y="2156335"/>
                </a:lnTo>
                <a:lnTo>
                  <a:pt x="6924379" y="2137294"/>
                </a:lnTo>
                <a:lnTo>
                  <a:pt x="6943420" y="2109038"/>
                </a:lnTo>
                <a:lnTo>
                  <a:pt x="6950400" y="2074415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EFFD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57" name="Graphic 280">
            <a:extLst>
              <a:ext uri="{FF2B5EF4-FFF2-40B4-BE49-F238E27FC236}">
                <a16:creationId xmlns:a16="http://schemas.microsoft.com/office/drawing/2014/main" id="{90D22E40-0940-4352-B5FB-7900BE13CE45}"/>
              </a:ext>
            </a:extLst>
          </p:cNvPr>
          <p:cNvSpPr>
            <a:spLocks noGrp="1"/>
          </p:cNvSpPr>
          <p:nvPr/>
        </p:nvSpPr>
        <p:spPr>
          <a:xfrm>
            <a:off x="212760" y="9495360"/>
            <a:ext cx="6910200" cy="196560"/>
          </a:xfrm>
          <a:custGeom>
            <a:avLst/>
            <a:gdLst>
              <a:gd name="textAreaLeft" fmla="*/ 0 w 6910200"/>
              <a:gd name="textAreaRight" fmla="*/ 6910560 w 6910200"/>
              <a:gd name="textAreaTop" fmla="*/ 0 h 196560"/>
              <a:gd name="textAreaBottom" fmla="*/ 196920 h 196560"/>
            </a:gdLst>
            <a:ahLst/>
            <a:cxnLst/>
            <a:rect l="textAreaLeft" t="textAreaTop" r="textAreaRight" b="textAreaBottom"/>
            <a:pathLst>
              <a:path w="6950709" h="241300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152399"/>
                </a:lnTo>
                <a:lnTo>
                  <a:pt x="6979" y="187023"/>
                </a:lnTo>
                <a:lnTo>
                  <a:pt x="26021" y="215278"/>
                </a:lnTo>
                <a:lnTo>
                  <a:pt x="54276" y="234320"/>
                </a:lnTo>
                <a:lnTo>
                  <a:pt x="88900" y="241299"/>
                </a:lnTo>
                <a:lnTo>
                  <a:pt x="6861500" y="241299"/>
                </a:lnTo>
                <a:lnTo>
                  <a:pt x="6896123" y="234320"/>
                </a:lnTo>
                <a:lnTo>
                  <a:pt x="6924379" y="215278"/>
                </a:lnTo>
                <a:lnTo>
                  <a:pt x="6943420" y="187023"/>
                </a:lnTo>
                <a:lnTo>
                  <a:pt x="6950400" y="152399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0377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58" name="Graphic 281">
            <a:extLst>
              <a:ext uri="{FF2B5EF4-FFF2-40B4-BE49-F238E27FC236}">
                <a16:creationId xmlns:a16="http://schemas.microsoft.com/office/drawing/2014/main" id="{66620A98-EE62-4A14-A3E9-E8AB4DDA75CE}"/>
              </a:ext>
            </a:extLst>
          </p:cNvPr>
          <p:cNvSpPr>
            <a:spLocks noGrp="1"/>
          </p:cNvSpPr>
          <p:nvPr/>
        </p:nvSpPr>
        <p:spPr>
          <a:xfrm>
            <a:off x="312480" y="10186560"/>
            <a:ext cx="1607760" cy="2840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284040"/>
              <a:gd name="textAreaBottom" fmla="*/ 284400 h 2840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59" name="Graphic 282">
            <a:extLst>
              <a:ext uri="{FF2B5EF4-FFF2-40B4-BE49-F238E27FC236}">
                <a16:creationId xmlns:a16="http://schemas.microsoft.com/office/drawing/2014/main" id="{41048128-0D64-4360-AA54-03975BF24605}"/>
              </a:ext>
            </a:extLst>
          </p:cNvPr>
          <p:cNvSpPr>
            <a:spLocks noGrp="1"/>
          </p:cNvSpPr>
          <p:nvPr/>
        </p:nvSpPr>
        <p:spPr>
          <a:xfrm>
            <a:off x="358200" y="10185480"/>
            <a:ext cx="1607760" cy="2840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284040"/>
              <a:gd name="textAreaBottom" fmla="*/ 284400 h 2840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60" name="Graphic 283">
            <a:extLst>
              <a:ext uri="{FF2B5EF4-FFF2-40B4-BE49-F238E27FC236}">
                <a16:creationId xmlns:a16="http://schemas.microsoft.com/office/drawing/2014/main" id="{12163126-E5E0-4C9F-BB35-59109E9E6314}"/>
              </a:ext>
            </a:extLst>
          </p:cNvPr>
          <p:cNvSpPr>
            <a:spLocks noGrp="1"/>
          </p:cNvSpPr>
          <p:nvPr/>
        </p:nvSpPr>
        <p:spPr>
          <a:xfrm>
            <a:off x="2058480" y="10152360"/>
            <a:ext cx="1607760" cy="2840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284040"/>
              <a:gd name="textAreaBottom" fmla="*/ 284400 h 2840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61" name="Graphic 284">
            <a:extLst>
              <a:ext uri="{FF2B5EF4-FFF2-40B4-BE49-F238E27FC236}">
                <a16:creationId xmlns:a16="http://schemas.microsoft.com/office/drawing/2014/main" id="{C4D5B70A-1AED-4356-AA2A-65F9163B8A1E}"/>
              </a:ext>
            </a:extLst>
          </p:cNvPr>
          <p:cNvSpPr>
            <a:spLocks noGrp="1"/>
          </p:cNvSpPr>
          <p:nvPr/>
        </p:nvSpPr>
        <p:spPr>
          <a:xfrm>
            <a:off x="2032560" y="10156320"/>
            <a:ext cx="1607760" cy="2840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284040"/>
              <a:gd name="textAreaBottom" fmla="*/ 284400 h 2840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62" name="Graphic 285">
            <a:extLst>
              <a:ext uri="{FF2B5EF4-FFF2-40B4-BE49-F238E27FC236}">
                <a16:creationId xmlns:a16="http://schemas.microsoft.com/office/drawing/2014/main" id="{A0B629A1-7437-4942-AE44-897AA221F0B1}"/>
              </a:ext>
            </a:extLst>
          </p:cNvPr>
          <p:cNvSpPr>
            <a:spLocks noGrp="1"/>
          </p:cNvSpPr>
          <p:nvPr/>
        </p:nvSpPr>
        <p:spPr>
          <a:xfrm>
            <a:off x="3699360" y="10172880"/>
            <a:ext cx="1607760" cy="2840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284040"/>
              <a:gd name="textAreaBottom" fmla="*/ 284400 h 2840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63" name="Graphic 286">
            <a:extLst>
              <a:ext uri="{FF2B5EF4-FFF2-40B4-BE49-F238E27FC236}">
                <a16:creationId xmlns:a16="http://schemas.microsoft.com/office/drawing/2014/main" id="{DD353CE9-A43F-4194-B0EE-E878BEE84686}"/>
              </a:ext>
            </a:extLst>
          </p:cNvPr>
          <p:cNvSpPr>
            <a:spLocks noGrp="1"/>
          </p:cNvSpPr>
          <p:nvPr/>
        </p:nvSpPr>
        <p:spPr>
          <a:xfrm>
            <a:off x="3706560" y="10156320"/>
            <a:ext cx="1607760" cy="2840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284040"/>
              <a:gd name="textAreaBottom" fmla="*/ 284400 h 2840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64" name="Graphic 287">
            <a:extLst>
              <a:ext uri="{FF2B5EF4-FFF2-40B4-BE49-F238E27FC236}">
                <a16:creationId xmlns:a16="http://schemas.microsoft.com/office/drawing/2014/main" id="{18F6B1E8-FA3E-42C5-96EA-48C2D8341D3E}"/>
              </a:ext>
            </a:extLst>
          </p:cNvPr>
          <p:cNvSpPr>
            <a:spLocks noGrp="1"/>
          </p:cNvSpPr>
          <p:nvPr/>
        </p:nvSpPr>
        <p:spPr>
          <a:xfrm>
            <a:off x="5399280" y="10156320"/>
            <a:ext cx="1607760" cy="2840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284040"/>
              <a:gd name="textAreaBottom" fmla="*/ 284400 h 2840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65" name="Graphic 288">
            <a:extLst>
              <a:ext uri="{FF2B5EF4-FFF2-40B4-BE49-F238E27FC236}">
                <a16:creationId xmlns:a16="http://schemas.microsoft.com/office/drawing/2014/main" id="{EAA69C03-8408-45AC-9351-51A8B415EBF1}"/>
              </a:ext>
            </a:extLst>
          </p:cNvPr>
          <p:cNvSpPr>
            <a:spLocks noGrp="1"/>
          </p:cNvSpPr>
          <p:nvPr/>
        </p:nvSpPr>
        <p:spPr>
          <a:xfrm>
            <a:off x="5371920" y="10039320"/>
            <a:ext cx="1607760" cy="2840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284040"/>
              <a:gd name="textAreaBottom" fmla="*/ 284400 h 2840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66" name="Textbox 289">
            <a:extLst>
              <a:ext uri="{FF2B5EF4-FFF2-40B4-BE49-F238E27FC236}">
                <a16:creationId xmlns:a16="http://schemas.microsoft.com/office/drawing/2014/main" id="{CFA8369A-006F-4B45-9857-AD9D55FF6149}"/>
              </a:ext>
            </a:extLst>
          </p:cNvPr>
          <p:cNvSpPr>
            <a:spLocks noGrp="1"/>
          </p:cNvSpPr>
          <p:nvPr/>
        </p:nvSpPr>
        <p:spPr>
          <a:xfrm>
            <a:off x="339120" y="9493920"/>
            <a:ext cx="6677640" cy="2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CHAIN KEY HIGHLIGHTS</a:t>
            </a:r>
          </a:p>
        </p:txBody>
      </p:sp>
      <p:sp>
        <p:nvSpPr>
          <p:cNvPr id="567" name="Textbox 290">
            <a:extLst>
              <a:ext uri="{FF2B5EF4-FFF2-40B4-BE49-F238E27FC236}">
                <a16:creationId xmlns:a16="http://schemas.microsoft.com/office/drawing/2014/main" id="{AA9C69C9-732F-4DA9-B26C-CD4F8914E1AC}"/>
              </a:ext>
            </a:extLst>
          </p:cNvPr>
          <p:cNvSpPr>
            <a:spLocks noGrp="1"/>
          </p:cNvSpPr>
          <p:nvPr/>
        </p:nvSpPr>
        <p:spPr>
          <a:xfrm>
            <a:off x="358200" y="9677880"/>
            <a:ext cx="6658200" cy="257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ts val="859"/>
              </a:lnSpc>
              <a:buClr>
                <a:srgbClr val="000000"/>
              </a:buClr>
              <a:buFont typeface="Symbol"/>
              <a:buChar char=""/>
            </a:pPr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South-2 closed Jun-26 at 548, ▲ 13% vs L3M and ▲ 64% vs Jun-25; Q1 FY27 ▲ 65% YoY (corrected NSV).</a:t>
            </a:r>
            <a:br/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Chain Highlights: Dmart leads; Apollo is the fastest YoY chain.</a:t>
            </a:r>
          </a:p>
        </p:txBody>
      </p:sp>
      <p:sp>
        <p:nvSpPr>
          <p:cNvPr id="568" name="Textbox 291">
            <a:extLst>
              <a:ext uri="{FF2B5EF4-FFF2-40B4-BE49-F238E27FC236}">
                <a16:creationId xmlns:a16="http://schemas.microsoft.com/office/drawing/2014/main" id="{182F3325-A67B-41C8-BA62-0717BE7A826D}"/>
              </a:ext>
            </a:extLst>
          </p:cNvPr>
          <p:cNvSpPr>
            <a:spLocks noGrp="1"/>
          </p:cNvSpPr>
          <p:nvPr/>
        </p:nvSpPr>
        <p:spPr>
          <a:xfrm>
            <a:off x="412200" y="10219320"/>
            <a:ext cx="47520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Lead Chain</a:t>
            </a:r>
          </a:p>
        </p:txBody>
      </p:sp>
      <p:sp>
        <p:nvSpPr>
          <p:cNvPr id="569" name="Textbox 292">
            <a:extLst>
              <a:ext uri="{FF2B5EF4-FFF2-40B4-BE49-F238E27FC236}">
                <a16:creationId xmlns:a16="http://schemas.microsoft.com/office/drawing/2014/main" id="{8594C784-AF00-4E3B-B9D3-038CE72D292B}"/>
              </a:ext>
            </a:extLst>
          </p:cNvPr>
          <p:cNvSpPr>
            <a:spLocks noGrp="1"/>
          </p:cNvSpPr>
          <p:nvPr/>
        </p:nvSpPr>
        <p:spPr>
          <a:xfrm>
            <a:off x="2095560" y="10219320"/>
            <a:ext cx="766800" cy="5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Fastest YoY Chain</a:t>
            </a:r>
          </a:p>
        </p:txBody>
      </p:sp>
      <p:sp>
        <p:nvSpPr>
          <p:cNvPr id="570" name="Textbox 293">
            <a:extLst>
              <a:ext uri="{FF2B5EF4-FFF2-40B4-BE49-F238E27FC236}">
                <a16:creationId xmlns:a16="http://schemas.microsoft.com/office/drawing/2014/main" id="{90BE28D4-B8C0-4DDF-A3FA-15B34E7EFF0F}"/>
              </a:ext>
            </a:extLst>
          </p:cNvPr>
          <p:cNvSpPr>
            <a:spLocks noGrp="1"/>
          </p:cNvSpPr>
          <p:nvPr/>
        </p:nvSpPr>
        <p:spPr>
          <a:xfrm>
            <a:off x="3778920" y="10219320"/>
            <a:ext cx="819000" cy="5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Record Chain Lines</a:t>
            </a:r>
          </a:p>
        </p:txBody>
      </p:sp>
      <p:sp>
        <p:nvSpPr>
          <p:cNvPr id="571" name="Textbox 294">
            <a:extLst>
              <a:ext uri="{FF2B5EF4-FFF2-40B4-BE49-F238E27FC236}">
                <a16:creationId xmlns:a16="http://schemas.microsoft.com/office/drawing/2014/main" id="{212C6069-72E5-4FDB-A52F-6F41C87C12E3}"/>
              </a:ext>
            </a:extLst>
          </p:cNvPr>
          <p:cNvSpPr>
            <a:spLocks noGrp="1"/>
          </p:cNvSpPr>
          <p:nvPr/>
        </p:nvSpPr>
        <p:spPr>
          <a:xfrm>
            <a:off x="5462280" y="10185480"/>
            <a:ext cx="504720" cy="8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Zone Record</a:t>
            </a:r>
          </a:p>
        </p:txBody>
      </p:sp>
      <p:sp>
        <p:nvSpPr>
          <p:cNvPr id="572" name="Textbox 295">
            <a:extLst>
              <a:ext uri="{FF2B5EF4-FFF2-40B4-BE49-F238E27FC236}">
                <a16:creationId xmlns:a16="http://schemas.microsoft.com/office/drawing/2014/main" id="{39AE884E-47A1-41BB-BD71-2CAE42B74B57}"/>
              </a:ext>
            </a:extLst>
          </p:cNvPr>
          <p:cNvSpPr>
            <a:spLocks noGrp="1"/>
          </p:cNvSpPr>
          <p:nvPr/>
        </p:nvSpPr>
        <p:spPr>
          <a:xfrm>
            <a:off x="411840" y="10342440"/>
            <a:ext cx="576720" cy="5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Dmart - 229</a:t>
            </a:r>
          </a:p>
        </p:txBody>
      </p:sp>
      <p:sp>
        <p:nvSpPr>
          <p:cNvPr id="573" name="Textbox 296">
            <a:extLst>
              <a:ext uri="{FF2B5EF4-FFF2-40B4-BE49-F238E27FC236}">
                <a16:creationId xmlns:a16="http://schemas.microsoft.com/office/drawing/2014/main" id="{7D04F504-C67C-400F-85D3-CAA8EA9162D6}"/>
              </a:ext>
            </a:extLst>
          </p:cNvPr>
          <p:cNvSpPr>
            <a:spLocks noGrp="1"/>
          </p:cNvSpPr>
          <p:nvPr/>
        </p:nvSpPr>
        <p:spPr>
          <a:xfrm>
            <a:off x="2084760" y="10336320"/>
            <a:ext cx="1130400" cy="16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51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Apollo  - </a:t>
            </a: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132%</a:t>
            </a:r>
          </a:p>
        </p:txBody>
      </p:sp>
      <p:sp>
        <p:nvSpPr>
          <p:cNvPr id="574" name="Textbox 297">
            <a:extLst>
              <a:ext uri="{FF2B5EF4-FFF2-40B4-BE49-F238E27FC236}">
                <a16:creationId xmlns:a16="http://schemas.microsoft.com/office/drawing/2014/main" id="{2FBE31FA-0551-4499-B84C-2C61FD0EDA26}"/>
              </a:ext>
            </a:extLst>
          </p:cNvPr>
          <p:cNvSpPr>
            <a:spLocks noGrp="1"/>
          </p:cNvSpPr>
          <p:nvPr/>
        </p:nvSpPr>
        <p:spPr>
          <a:xfrm>
            <a:off x="3756960" y="10328760"/>
            <a:ext cx="1607040" cy="34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Dmart, Apollo, Reliance, </a:t>
            </a:r>
          </a:p>
        </p:txBody>
      </p:sp>
      <p:sp>
        <p:nvSpPr>
          <p:cNvPr id="575" name="Textbox 298">
            <a:extLst>
              <a:ext uri="{FF2B5EF4-FFF2-40B4-BE49-F238E27FC236}">
                <a16:creationId xmlns:a16="http://schemas.microsoft.com/office/drawing/2014/main" id="{D5DF0295-6034-4DF7-BAC2-8683D06CCA82}"/>
              </a:ext>
            </a:extLst>
          </p:cNvPr>
          <p:cNvSpPr>
            <a:spLocks noGrp="1"/>
          </p:cNvSpPr>
          <p:nvPr/>
        </p:nvSpPr>
        <p:spPr>
          <a:xfrm>
            <a:off x="5462280" y="10319040"/>
            <a:ext cx="771480" cy="12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May-26 - 555 </a:t>
            </a:r>
          </a:p>
        </p:txBody>
      </p:sp>
      <p:sp>
        <p:nvSpPr>
          <p:cNvPr id="577" name="TextBox 218">
            <a:extLst>
              <a:ext uri="{FF2B5EF4-FFF2-40B4-BE49-F238E27FC236}">
                <a16:creationId xmlns:a16="http://schemas.microsoft.com/office/drawing/2014/main" id="{DDFA26F7-79C8-4E89-80D9-61AC5BE2A50C}"/>
              </a:ext>
            </a:extLst>
          </p:cNvPr>
          <p:cNvSpPr>
            <a:spLocks noGrp="1"/>
          </p:cNvSpPr>
          <p:nvPr/>
        </p:nvSpPr>
        <p:spPr>
          <a:xfrm>
            <a:off x="212760" y="7400880"/>
            <a:ext cx="6926040" cy="361080"/>
          </a:xfrm>
          <a:prstGeom prst="rect">
            <a:avLst/>
          </a:prstGeom>
          <a:solidFill>
            <a:srgbClr val="2D9B7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5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South-2 Chain Summary</a:t>
            </a:r>
          </a:p>
        </p:txBody>
      </p:sp>
      <p:pic>
        <p:nvPicPr>
          <p:cNvPr id="677" name="Picture 2"/>
          <p:cNvPicPr>
            <a:picLocks noChangeAspect="1"/>
          </p:cNvPicPr>
          <p:nvPr/>
        </p:nvPicPr>
        <p:blipFill>
          <a:blip r:embed="rId9"/>
          <a:srcRect l="24445" r="23555"/>
          <a:stretch/>
        </p:blipFill>
        <p:spPr>
          <a:xfrm>
            <a:off x="2735640" y="6189840"/>
            <a:ext cx="212040" cy="407880"/>
          </a:xfrm>
          <a:prstGeom prst="rect">
            <a:avLst/>
          </a:prstGeom>
          <a:ln w="0">
            <a:noFill/>
          </a:ln>
        </p:spPr>
      </p:pic>
      <p:pic>
        <p:nvPicPr>
          <p:cNvPr id="678" name="Picture 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68640" y="6195960"/>
            <a:ext cx="209880" cy="445320"/>
          </a:xfrm>
          <a:prstGeom prst="rect">
            <a:avLst/>
          </a:prstGeom>
          <a:ln w="0">
            <a:noFill/>
          </a:ln>
        </p:spPr>
      </p:pic>
      <p:pic>
        <p:nvPicPr>
          <p:cNvPr id="679" name="Picture 3"/>
          <p:cNvPicPr>
            <a:picLocks noChangeAspect="1"/>
          </p:cNvPicPr>
          <p:nvPr/>
        </p:nvPicPr>
        <p:blipFill>
          <a:blip r:embed="rId11"/>
          <a:srcRect l="27803" t="6058" r="29329" b="4206"/>
          <a:stretch/>
        </p:blipFill>
        <p:spPr>
          <a:xfrm>
            <a:off x="315360" y="4054320"/>
            <a:ext cx="176760" cy="364680"/>
          </a:xfrm>
          <a:prstGeom prst="rect">
            <a:avLst/>
          </a:prstGeom>
          <a:ln w="0">
            <a:noFill/>
          </a:ln>
        </p:spPr>
      </p:pic>
      <p:pic>
        <p:nvPicPr>
          <p:cNvPr id="680" name="Picture 4"/>
          <p:cNvPicPr>
            <a:picLocks noChangeAspect="1"/>
          </p:cNvPicPr>
          <p:nvPr/>
        </p:nvPicPr>
        <p:blipFill>
          <a:blip r:embed="rId12"/>
          <a:srcRect l="32066" t="9039" r="31757" b="9269"/>
          <a:stretch/>
        </p:blipFill>
        <p:spPr>
          <a:xfrm>
            <a:off x="5136480" y="4069440"/>
            <a:ext cx="195840" cy="443160"/>
          </a:xfrm>
          <a:prstGeom prst="rect">
            <a:avLst/>
          </a:prstGeom>
          <a:ln w="0">
            <a:noFill/>
          </a:ln>
        </p:spPr>
      </p:pic>
      <p:pic>
        <p:nvPicPr>
          <p:cNvPr id="681" name="Google Shape;1518;p235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126400" y="6257520"/>
            <a:ext cx="216000" cy="204840"/>
          </a:xfrm>
          <a:prstGeom prst="rect">
            <a:avLst/>
          </a:prstGeom>
          <a:ln w="0">
            <a:noFill/>
          </a:ln>
        </p:spPr>
      </p:pic>
      <p:pic>
        <p:nvPicPr>
          <p:cNvPr id="682" name="Google Shape;1396;p227"/>
          <p:cNvPicPr>
            <a:picLocks noChangeAspect="1"/>
          </p:cNvPicPr>
          <p:nvPr/>
        </p:nvPicPr>
        <p:blipFill>
          <a:blip r:embed="rId14"/>
          <a:srcRect l="19608" b="484"/>
          <a:stretch/>
        </p:blipFill>
        <p:spPr>
          <a:xfrm>
            <a:off x="2831040" y="4024080"/>
            <a:ext cx="178200" cy="412200"/>
          </a:xfrm>
          <a:prstGeom prst="rect">
            <a:avLst/>
          </a:prstGeom>
          <a:ln w="0">
            <a:noFill/>
          </a:ln>
        </p:spPr>
      </p:pic>
      <p:sp>
        <p:nvSpPr>
          <p:cNvPr id="584" name="PageNum">
            <a:extLst>
              <a:ext uri="{FF2B5EF4-FFF2-40B4-BE49-F238E27FC236}">
                <a16:creationId xmlns:a16="http://schemas.microsoft.com/office/drawing/2014/main" id="{8CA0C70F-8357-4970-9710-A6C277A22AB6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856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58162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4" name="Table 34"/>
          <p:cNvGraphicFramePr/>
          <p:nvPr/>
        </p:nvGraphicFramePr>
        <p:xfrm>
          <a:off x="212760" y="82800"/>
          <a:ext cx="7015680" cy="254160"/>
        </p:xfrm>
        <a:graphic>
          <a:graphicData uri="http://schemas.openxmlformats.org/drawingml/2006/table">
            <a:tbl>
              <a:tblPr/>
              <a:tblGrid>
                <a:gridCol w="701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WEST ZONE PERFORMANCE</a:t>
                      </a:r>
                    </a:p>
                  </a:txBody>
                  <a:tcPr marL="65520" marR="65520" marT="0" marB="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6" name="Graphic 251">
            <a:extLst>
              <a:ext uri="{FF2B5EF4-FFF2-40B4-BE49-F238E27FC236}">
                <a16:creationId xmlns:a16="http://schemas.microsoft.com/office/drawing/2014/main" id="{F3D71A79-FD8F-447C-AE86-973FA176C253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87" name="Graphic 252">
            <a:extLst>
              <a:ext uri="{FF2B5EF4-FFF2-40B4-BE49-F238E27FC236}">
                <a16:creationId xmlns:a16="http://schemas.microsoft.com/office/drawing/2014/main" id="{27689D5B-16D1-454B-A7F9-B1D7010F9F4A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88" name="Textbox 253">
            <a:extLst>
              <a:ext uri="{FF2B5EF4-FFF2-40B4-BE49-F238E27FC236}">
                <a16:creationId xmlns:a16="http://schemas.microsoft.com/office/drawing/2014/main" id="{2CB81813-1472-4099-8B8B-D7C607F6A530}"/>
              </a:ext>
            </a:extLst>
          </p:cNvPr>
          <p:cNvSpPr>
            <a:spLocks noGrp="1"/>
          </p:cNvSpPr>
          <p:nvPr/>
        </p:nvSpPr>
        <p:spPr>
          <a:xfrm>
            <a:off x="2127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Jun-26 Sales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985</a:t>
            </a:r>
          </a:p>
        </p:txBody>
      </p:sp>
      <p:sp>
        <p:nvSpPr>
          <p:cNvPr id="589" name="Graphic 255">
            <a:extLst>
              <a:ext uri="{FF2B5EF4-FFF2-40B4-BE49-F238E27FC236}">
                <a16:creationId xmlns:a16="http://schemas.microsoft.com/office/drawing/2014/main" id="{D8EB42EE-5ED4-4B93-AE76-3114E6C81114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90" name="Graphic 256">
            <a:extLst>
              <a:ext uri="{FF2B5EF4-FFF2-40B4-BE49-F238E27FC236}">
                <a16:creationId xmlns:a16="http://schemas.microsoft.com/office/drawing/2014/main" id="{1B99D8C1-FC49-4D48-B311-AB460D6702F4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91" name="Textbox 257">
            <a:extLst>
              <a:ext uri="{FF2B5EF4-FFF2-40B4-BE49-F238E27FC236}">
                <a16:creationId xmlns:a16="http://schemas.microsoft.com/office/drawing/2014/main" id="{D3C176EE-427C-4E70-B668-BE8A22028827}"/>
              </a:ext>
            </a:extLst>
          </p:cNvPr>
          <p:cNvSpPr>
            <a:spLocks noGrp="1"/>
          </p:cNvSpPr>
          <p:nvPr/>
        </p:nvSpPr>
        <p:spPr>
          <a:xfrm>
            <a:off x="198792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Share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25.8%</a:t>
            </a:r>
          </a:p>
        </p:txBody>
      </p:sp>
      <p:sp>
        <p:nvSpPr>
          <p:cNvPr id="592" name="Graphic 259">
            <a:extLst>
              <a:ext uri="{FF2B5EF4-FFF2-40B4-BE49-F238E27FC236}">
                <a16:creationId xmlns:a16="http://schemas.microsoft.com/office/drawing/2014/main" id="{BD7BCF58-E610-4F6F-B82C-DDDF1AA6454C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93" name="Graphic 260">
            <a:extLst>
              <a:ext uri="{FF2B5EF4-FFF2-40B4-BE49-F238E27FC236}">
                <a16:creationId xmlns:a16="http://schemas.microsoft.com/office/drawing/2014/main" id="{A522AC6D-C670-4407-A4F4-23221A480336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94" name="Textbox 261">
            <a:extLst>
              <a:ext uri="{FF2B5EF4-FFF2-40B4-BE49-F238E27FC236}">
                <a16:creationId xmlns:a16="http://schemas.microsoft.com/office/drawing/2014/main" id="{9E0FD97D-0593-447C-AB70-4C937777217D}"/>
              </a:ext>
            </a:extLst>
          </p:cNvPr>
          <p:cNvSpPr>
            <a:spLocks noGrp="1"/>
          </p:cNvSpPr>
          <p:nvPr/>
        </p:nvSpPr>
        <p:spPr>
          <a:xfrm>
            <a:off x="3763440" y="40932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L3M Avg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938</a:t>
            </a:r>
          </a:p>
        </p:txBody>
      </p:sp>
      <p:sp>
        <p:nvSpPr>
          <p:cNvPr id="595" name="Graphic 263">
            <a:extLst>
              <a:ext uri="{FF2B5EF4-FFF2-40B4-BE49-F238E27FC236}">
                <a16:creationId xmlns:a16="http://schemas.microsoft.com/office/drawing/2014/main" id="{431058F2-9D56-4991-9354-83B475E9EBDE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96" name="Graphic 264">
            <a:extLst>
              <a:ext uri="{FF2B5EF4-FFF2-40B4-BE49-F238E27FC236}">
                <a16:creationId xmlns:a16="http://schemas.microsoft.com/office/drawing/2014/main" id="{C337CABC-AE77-4A9B-8D21-400BD1123340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597" name="Textbox 265">
            <a:extLst>
              <a:ext uri="{FF2B5EF4-FFF2-40B4-BE49-F238E27FC236}">
                <a16:creationId xmlns:a16="http://schemas.microsoft.com/office/drawing/2014/main" id="{F48A476B-F4F2-4874-A9CE-783D685B6910}"/>
              </a:ext>
            </a:extLst>
          </p:cNvPr>
          <p:cNvSpPr>
            <a:spLocks noGrp="1"/>
          </p:cNvSpPr>
          <p:nvPr/>
        </p:nvSpPr>
        <p:spPr>
          <a:xfrm>
            <a:off x="55389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GOLY Jun</a:t>
            </a:r>
          </a:p>
          <a:p>
            <a:pPr marL="17640" algn="ctr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6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67%</a:t>
            </a:r>
          </a:p>
        </p:txBody>
      </p:sp>
      <p:sp>
        <p:nvSpPr>
          <p:cNvPr id="598" name="Rectangle 48">
            <a:extLst>
              <a:ext uri="{FF2B5EF4-FFF2-40B4-BE49-F238E27FC236}">
                <a16:creationId xmlns:a16="http://schemas.microsoft.com/office/drawing/2014/main" id="{C1F33B01-7131-4694-83D2-E986A9D649E5}"/>
              </a:ext>
            </a:extLst>
          </p:cNvPr>
          <p:cNvSpPr>
            <a:spLocks noGrp="1"/>
          </p:cNvSpPr>
          <p:nvPr/>
        </p:nvSpPr>
        <p:spPr>
          <a:xfrm>
            <a:off x="288720" y="427680"/>
            <a:ext cx="184320" cy="46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endParaRPr/>
          </a:p>
        </p:txBody>
      </p:sp>
      <p:sp>
        <p:nvSpPr>
          <p:cNvPr id="599" name="Rectangle 50">
            <a:extLst>
              <a:ext uri="{FF2B5EF4-FFF2-40B4-BE49-F238E27FC236}">
                <a16:creationId xmlns:a16="http://schemas.microsoft.com/office/drawing/2014/main" id="{2F53214B-E6D9-4E13-BCEC-C749A401E753}"/>
              </a:ext>
            </a:extLst>
          </p:cNvPr>
          <p:cNvSpPr>
            <a:spLocks noGrp="1"/>
          </p:cNvSpPr>
          <p:nvPr/>
        </p:nvSpPr>
        <p:spPr>
          <a:xfrm>
            <a:off x="212760" y="54428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00" name="Rectangle 54">
            <a:extLst>
              <a:ext uri="{FF2B5EF4-FFF2-40B4-BE49-F238E27FC236}">
                <a16:creationId xmlns:a16="http://schemas.microsoft.com/office/drawing/2014/main" id="{463A035B-C74D-47F6-B56B-16D37CF03344}"/>
              </a:ext>
            </a:extLst>
          </p:cNvPr>
          <p:cNvSpPr>
            <a:spLocks noGrp="1"/>
          </p:cNvSpPr>
          <p:nvPr/>
        </p:nvSpPr>
        <p:spPr>
          <a:xfrm>
            <a:off x="212760" y="7372080"/>
            <a:ext cx="6926040" cy="399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01" name="Rectangle 56">
            <a:extLst>
              <a:ext uri="{FF2B5EF4-FFF2-40B4-BE49-F238E27FC236}">
                <a16:creationId xmlns:a16="http://schemas.microsoft.com/office/drawing/2014/main" id="{76AA4E7E-DD10-433F-8581-0C06CCFE9F28}"/>
              </a:ext>
            </a:extLst>
          </p:cNvPr>
          <p:cNvSpPr>
            <a:spLocks noGrp="1"/>
          </p:cNvSpPr>
          <p:nvPr/>
        </p:nvSpPr>
        <p:spPr>
          <a:xfrm>
            <a:off x="212760" y="6867720"/>
            <a:ext cx="69260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602" name="Textbox 268">
            <a:extLst>
              <a:ext uri="{FF2B5EF4-FFF2-40B4-BE49-F238E27FC236}">
                <a16:creationId xmlns:a16="http://schemas.microsoft.com/office/drawing/2014/main" id="{C18062FB-0291-474D-BB02-177A964837DD}"/>
              </a:ext>
            </a:extLst>
          </p:cNvPr>
          <p:cNvSpPr>
            <a:spLocks noGrp="1"/>
          </p:cNvSpPr>
          <p:nvPr/>
        </p:nvSpPr>
        <p:spPr>
          <a:xfrm>
            <a:off x="212760" y="988200"/>
            <a:ext cx="6926040" cy="848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27080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sz="1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 Performance Highlights</a:t>
            </a:r>
          </a:p>
          <a:p>
            <a:pPr defTabSz="91440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sz="1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184320" indent="-5724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Jun-26 closed at 985 for West (25.8% of channel), ▼ 3% MoM off the May-26 record of 1017. Q1 FY27 = 2,905 Lacs, ▲ 55% vs Q1 FY26.</a:t>
            </a:r>
          </a:p>
          <a:p>
            <a:pPr marL="184320" indent="-57240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9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Growth View: Jun-26 was ▲ 5% vs L3M and ▲ 67% vs Jun-25 — YoY momentum intact despite seasonal moderation.</a:t>
            </a:r>
          </a:p>
        </p:txBody>
      </p:sp>
      <p:sp>
        <p:nvSpPr>
          <p:cNvPr id="603" name="Shape 3">
            <a:extLst>
              <a:ext uri="{FF2B5EF4-FFF2-40B4-BE49-F238E27FC236}">
                <a16:creationId xmlns:a16="http://schemas.microsoft.com/office/drawing/2014/main" id="{18B907B0-A25F-46EF-8C5E-4214DF7B5EAC}"/>
              </a:ext>
            </a:extLst>
          </p:cNvPr>
          <p:cNvSpPr>
            <a:spLocks noGrp="1"/>
          </p:cNvSpPr>
          <p:nvPr/>
        </p:nvSpPr>
        <p:spPr>
          <a:xfrm>
            <a:off x="212760" y="3474000"/>
            <a:ext cx="6926040" cy="255600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604" name="Text 4">
            <a:extLst>
              <a:ext uri="{FF2B5EF4-FFF2-40B4-BE49-F238E27FC236}">
                <a16:creationId xmlns:a16="http://schemas.microsoft.com/office/drawing/2014/main" id="{98CF66CF-67D9-4C15-9388-3110D55BCB6D}"/>
              </a:ext>
            </a:extLst>
          </p:cNvPr>
          <p:cNvSpPr>
            <a:spLocks noGrp="1"/>
          </p:cNvSpPr>
          <p:nvPr/>
        </p:nvSpPr>
        <p:spPr>
          <a:xfrm>
            <a:off x="212760" y="3538080"/>
            <a:ext cx="69260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West | Mamaearth — Top 3 Sub-category Monthly Trend (NSV)</a:t>
            </a:r>
          </a:p>
        </p:txBody>
      </p:sp>
      <p:sp>
        <p:nvSpPr>
          <p:cNvPr id="605" name="Text 5">
            <a:extLst>
              <a:ext uri="{FF2B5EF4-FFF2-40B4-BE49-F238E27FC236}">
                <a16:creationId xmlns:a16="http://schemas.microsoft.com/office/drawing/2014/main" id="{25CAA3BB-A9AE-45C3-AC65-BAFE145CAC21}"/>
              </a:ext>
            </a:extLst>
          </p:cNvPr>
          <p:cNvSpPr>
            <a:spLocks noGrp="1"/>
          </p:cNvSpPr>
          <p:nvPr/>
        </p:nvSpPr>
        <p:spPr>
          <a:xfrm>
            <a:off x="297000" y="386820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606" name="Text 6">
            <a:extLst>
              <a:ext uri="{FF2B5EF4-FFF2-40B4-BE49-F238E27FC236}">
                <a16:creationId xmlns:a16="http://schemas.microsoft.com/office/drawing/2014/main" id="{155ABBEF-FD36-48B0-8093-52EDC9D76063}"/>
              </a:ext>
            </a:extLst>
          </p:cNvPr>
          <p:cNvSpPr>
            <a:spLocks noGrp="1"/>
          </p:cNvSpPr>
          <p:nvPr/>
        </p:nvSpPr>
        <p:spPr>
          <a:xfrm>
            <a:off x="835560" y="388548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19%</a:t>
            </a:r>
          </a:p>
        </p:txBody>
      </p:sp>
      <p:sp>
        <p:nvSpPr>
          <p:cNvPr id="607" name="Text 7">
            <a:extLst>
              <a:ext uri="{FF2B5EF4-FFF2-40B4-BE49-F238E27FC236}">
                <a16:creationId xmlns:a16="http://schemas.microsoft.com/office/drawing/2014/main" id="{972D52FC-ABB0-46EF-8920-3963C4BEFCEF}"/>
              </a:ext>
            </a:extLst>
          </p:cNvPr>
          <p:cNvSpPr>
            <a:spLocks noGrp="1"/>
          </p:cNvSpPr>
          <p:nvPr/>
        </p:nvSpPr>
        <p:spPr>
          <a:xfrm>
            <a:off x="1310040" y="389736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6%</a:t>
            </a:r>
          </a:p>
        </p:txBody>
      </p:sp>
      <p:sp>
        <p:nvSpPr>
          <p:cNvPr id="608" name="Text 8">
            <a:extLst>
              <a:ext uri="{FF2B5EF4-FFF2-40B4-BE49-F238E27FC236}">
                <a16:creationId xmlns:a16="http://schemas.microsoft.com/office/drawing/2014/main" id="{4E9235AA-83F5-4564-AF7A-63100CC2E995}"/>
              </a:ext>
            </a:extLst>
          </p:cNvPr>
          <p:cNvSpPr>
            <a:spLocks noGrp="1"/>
          </p:cNvSpPr>
          <p:nvPr/>
        </p:nvSpPr>
        <p:spPr>
          <a:xfrm>
            <a:off x="1843200" y="3885480"/>
            <a:ext cx="5094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308</a:t>
            </a:r>
          </a:p>
        </p:txBody>
      </p:sp>
      <p:graphicFrame>
        <p:nvGraphicFramePr>
          <p:cNvPr id="708" name="Chart 0"/>
          <p:cNvGraphicFramePr/>
          <p:nvPr/>
        </p:nvGraphicFramePr>
        <p:xfrm>
          <a:off x="183240" y="3764160"/>
          <a:ext cx="2199240" cy="1665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0" name="Text 9">
            <a:extLst>
              <a:ext uri="{FF2B5EF4-FFF2-40B4-BE49-F238E27FC236}">
                <a16:creationId xmlns:a16="http://schemas.microsoft.com/office/drawing/2014/main" id="{69988161-C1CC-4117-8219-BB63092A198A}"/>
              </a:ext>
            </a:extLst>
          </p:cNvPr>
          <p:cNvSpPr>
            <a:spLocks noGrp="1"/>
          </p:cNvSpPr>
          <p:nvPr/>
        </p:nvSpPr>
        <p:spPr>
          <a:xfrm>
            <a:off x="2618280" y="3885480"/>
            <a:ext cx="559800" cy="17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611" name="Text 10">
            <a:extLst>
              <a:ext uri="{FF2B5EF4-FFF2-40B4-BE49-F238E27FC236}">
                <a16:creationId xmlns:a16="http://schemas.microsoft.com/office/drawing/2014/main" id="{649CD0EB-2115-4676-8A25-C4AE34751B95}"/>
              </a:ext>
            </a:extLst>
          </p:cNvPr>
          <p:cNvSpPr>
            <a:spLocks noGrp="1"/>
          </p:cNvSpPr>
          <p:nvPr/>
        </p:nvSpPr>
        <p:spPr>
          <a:xfrm>
            <a:off x="3210840" y="387540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44%</a:t>
            </a:r>
          </a:p>
        </p:txBody>
      </p:sp>
      <p:sp>
        <p:nvSpPr>
          <p:cNvPr id="612" name="Text 11">
            <a:extLst>
              <a:ext uri="{FF2B5EF4-FFF2-40B4-BE49-F238E27FC236}">
                <a16:creationId xmlns:a16="http://schemas.microsoft.com/office/drawing/2014/main" id="{F37070C5-E5F3-4967-AD44-66259B4FF4D3}"/>
              </a:ext>
            </a:extLst>
          </p:cNvPr>
          <p:cNvSpPr>
            <a:spLocks noGrp="1"/>
          </p:cNvSpPr>
          <p:nvPr/>
        </p:nvSpPr>
        <p:spPr>
          <a:xfrm>
            <a:off x="3615480" y="3871800"/>
            <a:ext cx="371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9%</a:t>
            </a:r>
          </a:p>
        </p:txBody>
      </p:sp>
      <p:sp>
        <p:nvSpPr>
          <p:cNvPr id="613" name="Text 12">
            <a:extLst>
              <a:ext uri="{FF2B5EF4-FFF2-40B4-BE49-F238E27FC236}">
                <a16:creationId xmlns:a16="http://schemas.microsoft.com/office/drawing/2014/main" id="{4FF21BD8-FD19-4B87-A897-6BB82275121A}"/>
              </a:ext>
            </a:extLst>
          </p:cNvPr>
          <p:cNvSpPr>
            <a:spLocks noGrp="1"/>
          </p:cNvSpPr>
          <p:nvPr/>
        </p:nvSpPr>
        <p:spPr>
          <a:xfrm>
            <a:off x="4086720" y="3873960"/>
            <a:ext cx="41292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Jun'26 191</a:t>
            </a:r>
          </a:p>
        </p:txBody>
      </p:sp>
      <p:graphicFrame>
        <p:nvGraphicFramePr>
          <p:cNvPr id="713" name="Chart 1"/>
          <p:cNvGraphicFramePr/>
          <p:nvPr/>
        </p:nvGraphicFramePr>
        <p:xfrm>
          <a:off x="2479320" y="3793320"/>
          <a:ext cx="2340000" cy="161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5" name="Text 13">
            <a:extLst>
              <a:ext uri="{FF2B5EF4-FFF2-40B4-BE49-F238E27FC236}">
                <a16:creationId xmlns:a16="http://schemas.microsoft.com/office/drawing/2014/main" id="{E03AB591-C379-4187-BCF1-E522C68227E8}"/>
              </a:ext>
            </a:extLst>
          </p:cNvPr>
          <p:cNvSpPr>
            <a:spLocks noGrp="1"/>
          </p:cNvSpPr>
          <p:nvPr/>
        </p:nvSpPr>
        <p:spPr>
          <a:xfrm>
            <a:off x="4943160" y="3837240"/>
            <a:ext cx="537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Care</a:t>
            </a:r>
          </a:p>
        </p:txBody>
      </p:sp>
      <p:sp>
        <p:nvSpPr>
          <p:cNvPr id="616" name="Text 14">
            <a:extLst>
              <a:ext uri="{FF2B5EF4-FFF2-40B4-BE49-F238E27FC236}">
                <a16:creationId xmlns:a16="http://schemas.microsoft.com/office/drawing/2014/main" id="{3CDC6468-6E3A-42FB-8858-EAE531EEABC6}"/>
              </a:ext>
            </a:extLst>
          </p:cNvPr>
          <p:cNvSpPr>
            <a:spLocks noGrp="1"/>
          </p:cNvSpPr>
          <p:nvPr/>
        </p:nvSpPr>
        <p:spPr>
          <a:xfrm>
            <a:off x="5413320" y="3814560"/>
            <a:ext cx="61488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▲ 50%</a:t>
            </a:r>
          </a:p>
        </p:txBody>
      </p:sp>
      <p:sp>
        <p:nvSpPr>
          <p:cNvPr id="617" name="Text 15">
            <a:extLst>
              <a:ext uri="{FF2B5EF4-FFF2-40B4-BE49-F238E27FC236}">
                <a16:creationId xmlns:a16="http://schemas.microsoft.com/office/drawing/2014/main" id="{21770759-5269-4B59-858C-A2A85408B307}"/>
              </a:ext>
            </a:extLst>
          </p:cNvPr>
          <p:cNvSpPr>
            <a:spLocks noGrp="1"/>
          </p:cNvSpPr>
          <p:nvPr/>
        </p:nvSpPr>
        <p:spPr>
          <a:xfrm>
            <a:off x="6045480" y="3813120"/>
            <a:ext cx="371880" cy="25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▼ 42%</a:t>
            </a:r>
          </a:p>
        </p:txBody>
      </p:sp>
      <p:sp>
        <p:nvSpPr>
          <p:cNvPr id="618" name="Text 16">
            <a:extLst>
              <a:ext uri="{FF2B5EF4-FFF2-40B4-BE49-F238E27FC236}">
                <a16:creationId xmlns:a16="http://schemas.microsoft.com/office/drawing/2014/main" id="{97727E2A-4913-4BAE-B01E-ED4A464CAEC8}"/>
              </a:ext>
            </a:extLst>
          </p:cNvPr>
          <p:cNvSpPr>
            <a:spLocks noGrp="1"/>
          </p:cNvSpPr>
          <p:nvPr/>
        </p:nvSpPr>
        <p:spPr>
          <a:xfrm>
            <a:off x="6607440" y="3835080"/>
            <a:ext cx="41292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  <p:graphicFrame>
        <p:nvGraphicFramePr>
          <p:cNvPr id="718" name="Chart 2"/>
          <p:cNvGraphicFramePr/>
          <p:nvPr/>
        </p:nvGraphicFramePr>
        <p:xfrm>
          <a:off x="4849560" y="3784320"/>
          <a:ext cx="2289240" cy="163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20" name="Shape 17">
            <a:extLst>
              <a:ext uri="{FF2B5EF4-FFF2-40B4-BE49-F238E27FC236}">
                <a16:creationId xmlns:a16="http://schemas.microsoft.com/office/drawing/2014/main" id="{A2DA630D-D748-4CF5-B3D9-E2D8F674025A}"/>
              </a:ext>
            </a:extLst>
          </p:cNvPr>
          <p:cNvSpPr>
            <a:spLocks noGrp="1"/>
          </p:cNvSpPr>
          <p:nvPr/>
        </p:nvSpPr>
        <p:spPr>
          <a:xfrm>
            <a:off x="212760" y="5470200"/>
            <a:ext cx="6926040" cy="323280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621" name="Text 18">
            <a:extLst>
              <a:ext uri="{FF2B5EF4-FFF2-40B4-BE49-F238E27FC236}">
                <a16:creationId xmlns:a16="http://schemas.microsoft.com/office/drawing/2014/main" id="{A65A316D-1631-41CC-9834-92891A33297E}"/>
              </a:ext>
            </a:extLst>
          </p:cNvPr>
          <p:cNvSpPr>
            <a:spLocks noGrp="1"/>
          </p:cNvSpPr>
          <p:nvPr/>
        </p:nvSpPr>
        <p:spPr>
          <a:xfrm>
            <a:off x="212760" y="5468760"/>
            <a:ext cx="69260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West | The Derma Co. — Top 3 Sub-category Monthly Trend (NSV)</a:t>
            </a:r>
          </a:p>
        </p:txBody>
      </p:sp>
      <p:sp>
        <p:nvSpPr>
          <p:cNvPr id="622" name="Text 19">
            <a:extLst>
              <a:ext uri="{FF2B5EF4-FFF2-40B4-BE49-F238E27FC236}">
                <a16:creationId xmlns:a16="http://schemas.microsoft.com/office/drawing/2014/main" id="{822603E3-A022-4BE6-BF50-0AD9F3146EAC}"/>
              </a:ext>
            </a:extLst>
          </p:cNvPr>
          <p:cNvSpPr>
            <a:spLocks noGrp="1"/>
          </p:cNvSpPr>
          <p:nvPr/>
        </p:nvSpPr>
        <p:spPr>
          <a:xfrm>
            <a:off x="151200" y="5927040"/>
            <a:ext cx="397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623" name="Text 20">
            <a:extLst>
              <a:ext uri="{FF2B5EF4-FFF2-40B4-BE49-F238E27FC236}">
                <a16:creationId xmlns:a16="http://schemas.microsoft.com/office/drawing/2014/main" id="{DF01EC42-A199-4CA9-816B-BD401D72FEBA}"/>
              </a:ext>
            </a:extLst>
          </p:cNvPr>
          <p:cNvSpPr>
            <a:spLocks noGrp="1"/>
          </p:cNvSpPr>
          <p:nvPr/>
        </p:nvSpPr>
        <p:spPr>
          <a:xfrm>
            <a:off x="607680" y="5965560"/>
            <a:ext cx="4453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1669%</a:t>
            </a:r>
          </a:p>
        </p:txBody>
      </p:sp>
      <p:sp>
        <p:nvSpPr>
          <p:cNvPr id="624" name="Text 21">
            <a:extLst>
              <a:ext uri="{FF2B5EF4-FFF2-40B4-BE49-F238E27FC236}">
                <a16:creationId xmlns:a16="http://schemas.microsoft.com/office/drawing/2014/main" id="{A32C68F2-B1AF-4AC0-B8D5-A6E6EA3FFDCA}"/>
              </a:ext>
            </a:extLst>
          </p:cNvPr>
          <p:cNvSpPr>
            <a:spLocks noGrp="1"/>
          </p:cNvSpPr>
          <p:nvPr/>
        </p:nvSpPr>
        <p:spPr>
          <a:xfrm>
            <a:off x="1180800" y="5933520"/>
            <a:ext cx="40572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7%</a:t>
            </a:r>
          </a:p>
        </p:txBody>
      </p:sp>
      <p:sp>
        <p:nvSpPr>
          <p:cNvPr id="625" name="Text 22">
            <a:extLst>
              <a:ext uri="{FF2B5EF4-FFF2-40B4-BE49-F238E27FC236}">
                <a16:creationId xmlns:a16="http://schemas.microsoft.com/office/drawing/2014/main" id="{FDF18FB4-C5D4-4B95-BB8A-67EC9E245463}"/>
              </a:ext>
            </a:extLst>
          </p:cNvPr>
          <p:cNvSpPr>
            <a:spLocks noGrp="1"/>
          </p:cNvSpPr>
          <p:nvPr/>
        </p:nvSpPr>
        <p:spPr>
          <a:xfrm>
            <a:off x="1741680" y="5942160"/>
            <a:ext cx="49608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Jun'26 230</a:t>
            </a:r>
          </a:p>
        </p:txBody>
      </p:sp>
      <p:graphicFrame>
        <p:nvGraphicFramePr>
          <p:cNvPr id="725" name="Chart 3"/>
          <p:cNvGraphicFramePr/>
          <p:nvPr/>
        </p:nvGraphicFramePr>
        <p:xfrm>
          <a:off x="195480" y="5885640"/>
          <a:ext cx="225612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27" name="Text 23">
            <a:extLst>
              <a:ext uri="{FF2B5EF4-FFF2-40B4-BE49-F238E27FC236}">
                <a16:creationId xmlns:a16="http://schemas.microsoft.com/office/drawing/2014/main" id="{1906D02F-2144-4B9E-A3A2-CDCE960865AF}"/>
              </a:ext>
            </a:extLst>
          </p:cNvPr>
          <p:cNvSpPr>
            <a:spLocks noGrp="1"/>
          </p:cNvSpPr>
          <p:nvPr/>
        </p:nvSpPr>
        <p:spPr>
          <a:xfrm>
            <a:off x="2564280" y="5927040"/>
            <a:ext cx="54108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628" name="Text 24">
            <a:extLst>
              <a:ext uri="{FF2B5EF4-FFF2-40B4-BE49-F238E27FC236}">
                <a16:creationId xmlns:a16="http://schemas.microsoft.com/office/drawing/2014/main" id="{31DCB21C-258A-4520-B95C-7268E53EABC6}"/>
              </a:ext>
            </a:extLst>
          </p:cNvPr>
          <p:cNvSpPr>
            <a:spLocks noGrp="1"/>
          </p:cNvSpPr>
          <p:nvPr/>
        </p:nvSpPr>
        <p:spPr>
          <a:xfrm>
            <a:off x="3133800" y="5994720"/>
            <a:ext cx="447480" cy="20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407%</a:t>
            </a:r>
          </a:p>
        </p:txBody>
      </p:sp>
      <p:sp>
        <p:nvSpPr>
          <p:cNvPr id="629" name="Text 25">
            <a:extLst>
              <a:ext uri="{FF2B5EF4-FFF2-40B4-BE49-F238E27FC236}">
                <a16:creationId xmlns:a16="http://schemas.microsoft.com/office/drawing/2014/main" id="{109623F7-AA81-4F0A-AAC8-553A7EBEFFA9}"/>
              </a:ext>
            </a:extLst>
          </p:cNvPr>
          <p:cNvSpPr>
            <a:spLocks noGrp="1"/>
          </p:cNvSpPr>
          <p:nvPr/>
        </p:nvSpPr>
        <p:spPr>
          <a:xfrm>
            <a:off x="3615480" y="5957280"/>
            <a:ext cx="40572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▼ 36%</a:t>
            </a:r>
          </a:p>
        </p:txBody>
      </p:sp>
      <p:sp>
        <p:nvSpPr>
          <p:cNvPr id="630" name="Text 26">
            <a:extLst>
              <a:ext uri="{FF2B5EF4-FFF2-40B4-BE49-F238E27FC236}">
                <a16:creationId xmlns:a16="http://schemas.microsoft.com/office/drawing/2014/main" id="{BD359689-090F-40D7-840D-3492BB369D60}"/>
              </a:ext>
            </a:extLst>
          </p:cNvPr>
          <p:cNvSpPr>
            <a:spLocks noGrp="1"/>
          </p:cNvSpPr>
          <p:nvPr/>
        </p:nvSpPr>
        <p:spPr>
          <a:xfrm>
            <a:off x="4144320" y="5962680"/>
            <a:ext cx="51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76</a:t>
            </a:r>
          </a:p>
        </p:txBody>
      </p:sp>
      <p:graphicFrame>
        <p:nvGraphicFramePr>
          <p:cNvPr id="730" name="Chart 4"/>
          <p:cNvGraphicFramePr/>
          <p:nvPr/>
        </p:nvGraphicFramePr>
        <p:xfrm>
          <a:off x="2540880" y="5853960"/>
          <a:ext cx="225612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632" name="Text 27">
            <a:extLst>
              <a:ext uri="{FF2B5EF4-FFF2-40B4-BE49-F238E27FC236}">
                <a16:creationId xmlns:a16="http://schemas.microsoft.com/office/drawing/2014/main" id="{704641BF-5E8D-4B7F-AA07-C8FBDFE8D9B2}"/>
              </a:ext>
            </a:extLst>
          </p:cNvPr>
          <p:cNvSpPr>
            <a:spLocks noGrp="1"/>
          </p:cNvSpPr>
          <p:nvPr/>
        </p:nvSpPr>
        <p:spPr>
          <a:xfrm>
            <a:off x="4820760" y="5906160"/>
            <a:ext cx="681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Face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Serum</a:t>
            </a:r>
          </a:p>
        </p:txBody>
      </p:sp>
      <p:sp>
        <p:nvSpPr>
          <p:cNvPr id="633" name="Text 28">
            <a:extLst>
              <a:ext uri="{FF2B5EF4-FFF2-40B4-BE49-F238E27FC236}">
                <a16:creationId xmlns:a16="http://schemas.microsoft.com/office/drawing/2014/main" id="{0AE5324A-744A-42E6-B6C7-EC9254B5F55F}"/>
              </a:ext>
            </a:extLst>
          </p:cNvPr>
          <p:cNvSpPr>
            <a:spLocks noGrp="1"/>
          </p:cNvSpPr>
          <p:nvPr/>
        </p:nvSpPr>
        <p:spPr>
          <a:xfrm>
            <a:off x="5494320" y="5902920"/>
            <a:ext cx="43920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1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▲ 6%</a:t>
            </a:r>
          </a:p>
        </p:txBody>
      </p:sp>
      <p:sp>
        <p:nvSpPr>
          <p:cNvPr id="634" name="Text 29">
            <a:extLst>
              <a:ext uri="{FF2B5EF4-FFF2-40B4-BE49-F238E27FC236}">
                <a16:creationId xmlns:a16="http://schemas.microsoft.com/office/drawing/2014/main" id="{F04D7205-FEB7-44E1-96B7-E1088F9AB4CD}"/>
              </a:ext>
            </a:extLst>
          </p:cNvPr>
          <p:cNvSpPr>
            <a:spLocks noGrp="1"/>
          </p:cNvSpPr>
          <p:nvPr/>
        </p:nvSpPr>
        <p:spPr>
          <a:xfrm>
            <a:off x="6011640" y="5894640"/>
            <a:ext cx="40572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▼ 5%</a:t>
            </a:r>
          </a:p>
        </p:txBody>
      </p:sp>
      <p:sp>
        <p:nvSpPr>
          <p:cNvPr id="635" name="Text 30">
            <a:extLst>
              <a:ext uri="{FF2B5EF4-FFF2-40B4-BE49-F238E27FC236}">
                <a16:creationId xmlns:a16="http://schemas.microsoft.com/office/drawing/2014/main" id="{9A0A7E9F-7B02-44B7-A62F-2975E12F2710}"/>
              </a:ext>
            </a:extLst>
          </p:cNvPr>
          <p:cNvSpPr>
            <a:spLocks noGrp="1"/>
          </p:cNvSpPr>
          <p:nvPr/>
        </p:nvSpPr>
        <p:spPr>
          <a:xfrm>
            <a:off x="6569280" y="5893200"/>
            <a:ext cx="451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graphicFrame>
        <p:nvGraphicFramePr>
          <p:cNvPr id="735" name="Chart 5"/>
          <p:cNvGraphicFramePr/>
          <p:nvPr/>
        </p:nvGraphicFramePr>
        <p:xfrm>
          <a:off x="4930200" y="5845320"/>
          <a:ext cx="220860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36" name="Table 190"/>
          <p:cNvGraphicFramePr/>
          <p:nvPr/>
        </p:nvGraphicFramePr>
        <p:xfrm>
          <a:off x="212760" y="1935000"/>
          <a:ext cx="7121160" cy="1464120"/>
        </p:xfrm>
        <a:graphic>
          <a:graphicData uri="http://schemas.openxmlformats.org/drawingml/2006/table">
            <a:tbl>
              <a:tblPr/>
              <a:tblGrid>
                <a:gridCol w="12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42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 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532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642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643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65%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635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359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330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33%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288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15%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560%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18%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83%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Emerging Brands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37" name="Table 193"/>
          <p:cNvGraphicFramePr/>
          <p:nvPr/>
        </p:nvGraphicFramePr>
        <p:xfrm>
          <a:off x="212760" y="7863480"/>
          <a:ext cx="7008480" cy="1615680"/>
        </p:xfrm>
        <a:graphic>
          <a:graphicData uri="http://schemas.openxmlformats.org/drawingml/2006/table">
            <a:tbl>
              <a:tblPr/>
              <a:tblGrid>
                <a:gridCol w="17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Dmart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394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680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668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68%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614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70%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Reliance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91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145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57%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Wellness Forever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94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22%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Apollo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79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4%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187%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Metro Cnc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▲ 212%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▲ 199%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Trent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84%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230%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Others Combined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60%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70%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39" name="Rectangle 81">
            <a:extLst>
              <a:ext uri="{FF2B5EF4-FFF2-40B4-BE49-F238E27FC236}">
                <a16:creationId xmlns:a16="http://schemas.microsoft.com/office/drawing/2014/main" id="{701D885A-7156-44DD-955B-857E50B73982}"/>
              </a:ext>
            </a:extLst>
          </p:cNvPr>
          <p:cNvSpPr>
            <a:spLocks noGrp="1"/>
          </p:cNvSpPr>
          <p:nvPr/>
        </p:nvSpPr>
        <p:spPr>
          <a:xfrm>
            <a:off x="0" y="15840"/>
            <a:ext cx="75625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640" name="Graphic 278">
            <a:extLst>
              <a:ext uri="{FF2B5EF4-FFF2-40B4-BE49-F238E27FC236}">
                <a16:creationId xmlns:a16="http://schemas.microsoft.com/office/drawing/2014/main" id="{DDEE0422-AE68-45EE-8FD6-75B7FEDD06AA}"/>
              </a:ext>
            </a:extLst>
          </p:cNvPr>
          <p:cNvSpPr>
            <a:spLocks noGrp="1"/>
          </p:cNvSpPr>
          <p:nvPr/>
        </p:nvSpPr>
        <p:spPr>
          <a:xfrm>
            <a:off x="228600" y="9543600"/>
            <a:ext cx="6910200" cy="1078920"/>
          </a:xfrm>
          <a:custGeom>
            <a:avLst/>
            <a:gdLst>
              <a:gd name="textAreaLeft" fmla="*/ 0 w 6910200"/>
              <a:gd name="textAreaRight" fmla="*/ 6910560 w 6910200"/>
              <a:gd name="textAreaTop" fmla="*/ 0 h 1078920"/>
              <a:gd name="textAreaBottom" fmla="*/ 1079280 h 1078920"/>
            </a:gdLst>
            <a:ahLst/>
            <a:cxnLst/>
            <a:rect l="textAreaLeft" t="textAreaTop" r="textAreaRight" b="textAreaBottom"/>
            <a:pathLst>
              <a:path w="6950709" h="2163445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2074415"/>
                </a:lnTo>
                <a:lnTo>
                  <a:pt x="6979" y="2109038"/>
                </a:lnTo>
                <a:lnTo>
                  <a:pt x="26021" y="2137294"/>
                </a:lnTo>
                <a:lnTo>
                  <a:pt x="54276" y="2156335"/>
                </a:lnTo>
                <a:lnTo>
                  <a:pt x="88900" y="2163315"/>
                </a:lnTo>
                <a:lnTo>
                  <a:pt x="6861500" y="2163315"/>
                </a:lnTo>
                <a:lnTo>
                  <a:pt x="6896123" y="2156335"/>
                </a:lnTo>
                <a:lnTo>
                  <a:pt x="6924379" y="2137294"/>
                </a:lnTo>
                <a:lnTo>
                  <a:pt x="6943420" y="2109038"/>
                </a:lnTo>
                <a:lnTo>
                  <a:pt x="6950400" y="2074415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EFFD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1" name="Graphic 280">
            <a:extLst>
              <a:ext uri="{FF2B5EF4-FFF2-40B4-BE49-F238E27FC236}">
                <a16:creationId xmlns:a16="http://schemas.microsoft.com/office/drawing/2014/main" id="{F0C538D0-9670-4D26-9042-46AA4375E96F}"/>
              </a:ext>
            </a:extLst>
          </p:cNvPr>
          <p:cNvSpPr>
            <a:spLocks noGrp="1"/>
          </p:cNvSpPr>
          <p:nvPr/>
        </p:nvSpPr>
        <p:spPr>
          <a:xfrm>
            <a:off x="212760" y="9495360"/>
            <a:ext cx="6910200" cy="207720"/>
          </a:xfrm>
          <a:custGeom>
            <a:avLst/>
            <a:gdLst>
              <a:gd name="textAreaLeft" fmla="*/ 0 w 6910200"/>
              <a:gd name="textAreaRight" fmla="*/ 6910560 w 6910200"/>
              <a:gd name="textAreaTop" fmla="*/ 0 h 207720"/>
              <a:gd name="textAreaBottom" fmla="*/ 208080 h 207720"/>
            </a:gdLst>
            <a:ahLst/>
            <a:cxnLst/>
            <a:rect l="textAreaLeft" t="textAreaTop" r="textAreaRight" b="textAreaBottom"/>
            <a:pathLst>
              <a:path w="6950709" h="241300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152399"/>
                </a:lnTo>
                <a:lnTo>
                  <a:pt x="6979" y="187023"/>
                </a:lnTo>
                <a:lnTo>
                  <a:pt x="26021" y="215278"/>
                </a:lnTo>
                <a:lnTo>
                  <a:pt x="54276" y="234320"/>
                </a:lnTo>
                <a:lnTo>
                  <a:pt x="88900" y="241299"/>
                </a:lnTo>
                <a:lnTo>
                  <a:pt x="6861500" y="241299"/>
                </a:lnTo>
                <a:lnTo>
                  <a:pt x="6896123" y="234320"/>
                </a:lnTo>
                <a:lnTo>
                  <a:pt x="6924379" y="215278"/>
                </a:lnTo>
                <a:lnTo>
                  <a:pt x="6943420" y="187023"/>
                </a:lnTo>
                <a:lnTo>
                  <a:pt x="6950400" y="152399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0377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2" name="Graphic 281">
            <a:extLst>
              <a:ext uri="{FF2B5EF4-FFF2-40B4-BE49-F238E27FC236}">
                <a16:creationId xmlns:a16="http://schemas.microsoft.com/office/drawing/2014/main" id="{8290C9AD-DAE4-4742-AC9D-746FE4D21E9E}"/>
              </a:ext>
            </a:extLst>
          </p:cNvPr>
          <p:cNvSpPr>
            <a:spLocks noGrp="1"/>
          </p:cNvSpPr>
          <p:nvPr/>
        </p:nvSpPr>
        <p:spPr>
          <a:xfrm>
            <a:off x="31248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3" name="Graphic 282">
            <a:extLst>
              <a:ext uri="{FF2B5EF4-FFF2-40B4-BE49-F238E27FC236}">
                <a16:creationId xmlns:a16="http://schemas.microsoft.com/office/drawing/2014/main" id="{B8063C88-297B-41BB-95AA-55AD1CAE77B0}"/>
              </a:ext>
            </a:extLst>
          </p:cNvPr>
          <p:cNvSpPr>
            <a:spLocks noGrp="1"/>
          </p:cNvSpPr>
          <p:nvPr/>
        </p:nvSpPr>
        <p:spPr>
          <a:xfrm>
            <a:off x="33120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4" name="Graphic 283">
            <a:extLst>
              <a:ext uri="{FF2B5EF4-FFF2-40B4-BE49-F238E27FC236}">
                <a16:creationId xmlns:a16="http://schemas.microsoft.com/office/drawing/2014/main" id="{2B50BB46-1BA6-4C84-9A25-9F1F95F85F7D}"/>
              </a:ext>
            </a:extLst>
          </p:cNvPr>
          <p:cNvSpPr>
            <a:spLocks noGrp="1"/>
          </p:cNvSpPr>
          <p:nvPr/>
        </p:nvSpPr>
        <p:spPr>
          <a:xfrm>
            <a:off x="2022480" y="1006452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5" name="Graphic 284">
            <a:extLst>
              <a:ext uri="{FF2B5EF4-FFF2-40B4-BE49-F238E27FC236}">
                <a16:creationId xmlns:a16="http://schemas.microsoft.com/office/drawing/2014/main" id="{C923ECF9-947C-4346-9D88-92E6D078B018}"/>
              </a:ext>
            </a:extLst>
          </p:cNvPr>
          <p:cNvSpPr>
            <a:spLocks noGrp="1"/>
          </p:cNvSpPr>
          <p:nvPr/>
        </p:nvSpPr>
        <p:spPr>
          <a:xfrm>
            <a:off x="201456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6" name="Graphic 285">
            <a:extLst>
              <a:ext uri="{FF2B5EF4-FFF2-40B4-BE49-F238E27FC236}">
                <a16:creationId xmlns:a16="http://schemas.microsoft.com/office/drawing/2014/main" id="{02B85A35-EE36-49BD-A083-B08AB3269A29}"/>
              </a:ext>
            </a:extLst>
          </p:cNvPr>
          <p:cNvSpPr>
            <a:spLocks noGrp="1"/>
          </p:cNvSpPr>
          <p:nvPr/>
        </p:nvSpPr>
        <p:spPr>
          <a:xfrm>
            <a:off x="3688920" y="1006128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7" name="Graphic 286">
            <a:extLst>
              <a:ext uri="{FF2B5EF4-FFF2-40B4-BE49-F238E27FC236}">
                <a16:creationId xmlns:a16="http://schemas.microsoft.com/office/drawing/2014/main" id="{96580943-9BB3-4695-999C-70E5EBB80A69}"/>
              </a:ext>
            </a:extLst>
          </p:cNvPr>
          <p:cNvSpPr>
            <a:spLocks noGrp="1"/>
          </p:cNvSpPr>
          <p:nvPr/>
        </p:nvSpPr>
        <p:spPr>
          <a:xfrm>
            <a:off x="368892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8" name="Graphic 287">
            <a:extLst>
              <a:ext uri="{FF2B5EF4-FFF2-40B4-BE49-F238E27FC236}">
                <a16:creationId xmlns:a16="http://schemas.microsoft.com/office/drawing/2014/main" id="{4A5CA3F3-0271-4AC7-B0E7-0AB31661DA55}"/>
              </a:ext>
            </a:extLst>
          </p:cNvPr>
          <p:cNvSpPr>
            <a:spLocks noGrp="1"/>
          </p:cNvSpPr>
          <p:nvPr/>
        </p:nvSpPr>
        <p:spPr>
          <a:xfrm>
            <a:off x="538128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49" name="Graphic 288">
            <a:extLst>
              <a:ext uri="{FF2B5EF4-FFF2-40B4-BE49-F238E27FC236}">
                <a16:creationId xmlns:a16="http://schemas.microsoft.com/office/drawing/2014/main" id="{2D2EE081-A730-4033-BA2C-8AA866F416D6}"/>
              </a:ext>
            </a:extLst>
          </p:cNvPr>
          <p:cNvSpPr>
            <a:spLocks noGrp="1"/>
          </p:cNvSpPr>
          <p:nvPr/>
        </p:nvSpPr>
        <p:spPr>
          <a:xfrm>
            <a:off x="5371920" y="10070640"/>
            <a:ext cx="1607760" cy="300240"/>
          </a:xfrm>
          <a:custGeom>
            <a:avLst/>
            <a:gdLst>
              <a:gd name="textAreaLeft" fmla="*/ 0 w 1607760"/>
              <a:gd name="textAreaRight" fmla="*/ 1608120 w 1607760"/>
              <a:gd name="textAreaTop" fmla="*/ 0 h 300240"/>
              <a:gd name="textAreaBottom" fmla="*/ 300600 h 30024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50" name="Textbox 289">
            <a:extLst>
              <a:ext uri="{FF2B5EF4-FFF2-40B4-BE49-F238E27FC236}">
                <a16:creationId xmlns:a16="http://schemas.microsoft.com/office/drawing/2014/main" id="{93BC6F30-2D68-4E32-B5D0-5661BE77D73C}"/>
              </a:ext>
            </a:extLst>
          </p:cNvPr>
          <p:cNvSpPr>
            <a:spLocks noGrp="1"/>
          </p:cNvSpPr>
          <p:nvPr/>
        </p:nvSpPr>
        <p:spPr>
          <a:xfrm>
            <a:off x="339120" y="9493920"/>
            <a:ext cx="6677640" cy="24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CHAIN KEY HIGHLIGHTS</a:t>
            </a:r>
          </a:p>
        </p:txBody>
      </p:sp>
      <p:sp>
        <p:nvSpPr>
          <p:cNvPr id="651" name="Textbox 290">
            <a:extLst>
              <a:ext uri="{FF2B5EF4-FFF2-40B4-BE49-F238E27FC236}">
                <a16:creationId xmlns:a16="http://schemas.microsoft.com/office/drawing/2014/main" id="{E1AA246C-4809-4AA6-B6BD-95373914EF91}"/>
              </a:ext>
            </a:extLst>
          </p:cNvPr>
          <p:cNvSpPr>
            <a:spLocks noGrp="1"/>
          </p:cNvSpPr>
          <p:nvPr/>
        </p:nvSpPr>
        <p:spPr>
          <a:xfrm>
            <a:off x="320400" y="9741960"/>
            <a:ext cx="6696000" cy="271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ts val="859"/>
              </a:lnSpc>
              <a:buClr>
                <a:srgbClr val="000000"/>
              </a:buClr>
              <a:buFont typeface="Symbol"/>
              <a:buChar char=""/>
            </a:pPr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View: West closed Jun-26 at 985, ▲ 5% vs L3M and ▲ 67% vs Jun-25; Q1 FY27 ▲ 55% YoY (corrected NSV).</a:t>
            </a:r>
            <a:br/>
            <a:r>
              <a:rPr sz="72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Chain Highlights: Dmart leads; Metro Cnc is the fastest YoY chain.</a:t>
            </a:r>
          </a:p>
        </p:txBody>
      </p:sp>
      <p:sp>
        <p:nvSpPr>
          <p:cNvPr id="652" name="Textbox 291">
            <a:extLst>
              <a:ext uri="{FF2B5EF4-FFF2-40B4-BE49-F238E27FC236}">
                <a16:creationId xmlns:a16="http://schemas.microsoft.com/office/drawing/2014/main" id="{710C34D4-5F27-4D2D-805B-2922CFCECBE6}"/>
              </a:ext>
            </a:extLst>
          </p:cNvPr>
          <p:cNvSpPr>
            <a:spLocks noGrp="1"/>
          </p:cNvSpPr>
          <p:nvPr/>
        </p:nvSpPr>
        <p:spPr>
          <a:xfrm>
            <a:off x="394200" y="10137240"/>
            <a:ext cx="475200" cy="1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Lead Chain</a:t>
            </a:r>
          </a:p>
        </p:txBody>
      </p:sp>
      <p:sp>
        <p:nvSpPr>
          <p:cNvPr id="653" name="Textbox 292">
            <a:extLst>
              <a:ext uri="{FF2B5EF4-FFF2-40B4-BE49-F238E27FC236}">
                <a16:creationId xmlns:a16="http://schemas.microsoft.com/office/drawing/2014/main" id="{381E2C38-28EC-4980-B3D2-6F3A0983B689}"/>
              </a:ext>
            </a:extLst>
          </p:cNvPr>
          <p:cNvSpPr>
            <a:spLocks noGrp="1"/>
          </p:cNvSpPr>
          <p:nvPr/>
        </p:nvSpPr>
        <p:spPr>
          <a:xfrm>
            <a:off x="2077560" y="10137240"/>
            <a:ext cx="76680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Fastest YoY Chain</a:t>
            </a:r>
          </a:p>
        </p:txBody>
      </p:sp>
      <p:sp>
        <p:nvSpPr>
          <p:cNvPr id="654" name="Textbox 293">
            <a:extLst>
              <a:ext uri="{FF2B5EF4-FFF2-40B4-BE49-F238E27FC236}">
                <a16:creationId xmlns:a16="http://schemas.microsoft.com/office/drawing/2014/main" id="{970E46F3-3947-40FD-8B21-54D638664681}"/>
              </a:ext>
            </a:extLst>
          </p:cNvPr>
          <p:cNvSpPr>
            <a:spLocks noGrp="1"/>
          </p:cNvSpPr>
          <p:nvPr/>
        </p:nvSpPr>
        <p:spPr>
          <a:xfrm>
            <a:off x="3760920" y="10137240"/>
            <a:ext cx="81900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Record Chain Lines</a:t>
            </a:r>
          </a:p>
        </p:txBody>
      </p:sp>
      <p:sp>
        <p:nvSpPr>
          <p:cNvPr id="655" name="Textbox 294">
            <a:extLst>
              <a:ext uri="{FF2B5EF4-FFF2-40B4-BE49-F238E27FC236}">
                <a16:creationId xmlns:a16="http://schemas.microsoft.com/office/drawing/2014/main" id="{A47DEAD3-8852-46B2-BDAC-EF59DC3DB338}"/>
              </a:ext>
            </a:extLst>
          </p:cNvPr>
          <p:cNvSpPr>
            <a:spLocks noGrp="1"/>
          </p:cNvSpPr>
          <p:nvPr/>
        </p:nvSpPr>
        <p:spPr>
          <a:xfrm>
            <a:off x="5444280" y="10137240"/>
            <a:ext cx="537480" cy="5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Zone Record</a:t>
            </a:r>
          </a:p>
        </p:txBody>
      </p:sp>
      <p:sp>
        <p:nvSpPr>
          <p:cNvPr id="656" name="Textbox 295">
            <a:extLst>
              <a:ext uri="{FF2B5EF4-FFF2-40B4-BE49-F238E27FC236}">
                <a16:creationId xmlns:a16="http://schemas.microsoft.com/office/drawing/2014/main" id="{FF8C7BD8-4A39-4E41-8B7E-5E4A5A3A51A4}"/>
              </a:ext>
            </a:extLst>
          </p:cNvPr>
          <p:cNvSpPr>
            <a:spLocks noGrp="1"/>
          </p:cNvSpPr>
          <p:nvPr/>
        </p:nvSpPr>
        <p:spPr>
          <a:xfrm>
            <a:off x="393840" y="10267200"/>
            <a:ext cx="576720" cy="5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Dmart - 668</a:t>
            </a:r>
          </a:p>
        </p:txBody>
      </p:sp>
      <p:sp>
        <p:nvSpPr>
          <p:cNvPr id="657" name="Textbox 296">
            <a:extLst>
              <a:ext uri="{FF2B5EF4-FFF2-40B4-BE49-F238E27FC236}">
                <a16:creationId xmlns:a16="http://schemas.microsoft.com/office/drawing/2014/main" id="{96F79C17-5A24-4D28-BAA8-66D10DAE7B40}"/>
              </a:ext>
            </a:extLst>
          </p:cNvPr>
          <p:cNvSpPr>
            <a:spLocks noGrp="1"/>
          </p:cNvSpPr>
          <p:nvPr/>
        </p:nvSpPr>
        <p:spPr>
          <a:xfrm>
            <a:off x="2067120" y="10260720"/>
            <a:ext cx="113040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51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Metro Cnc  - </a:t>
            </a:r>
            <a:r>
              <a:rPr sz="6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199%</a:t>
            </a:r>
          </a:p>
        </p:txBody>
      </p:sp>
      <p:sp>
        <p:nvSpPr>
          <p:cNvPr id="658" name="Textbox 297">
            <a:extLst>
              <a:ext uri="{FF2B5EF4-FFF2-40B4-BE49-F238E27FC236}">
                <a16:creationId xmlns:a16="http://schemas.microsoft.com/office/drawing/2014/main" id="{BE83083A-816C-47EC-88B2-B7D0FACCCD50}"/>
              </a:ext>
            </a:extLst>
          </p:cNvPr>
          <p:cNvSpPr>
            <a:spLocks noGrp="1"/>
          </p:cNvSpPr>
          <p:nvPr/>
        </p:nvSpPr>
        <p:spPr>
          <a:xfrm>
            <a:off x="3738960" y="10253160"/>
            <a:ext cx="1607040" cy="36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Dmart, Reliance, Wellness Forever, </a:t>
            </a:r>
          </a:p>
        </p:txBody>
      </p:sp>
      <p:sp>
        <p:nvSpPr>
          <p:cNvPr id="659" name="Textbox 298">
            <a:extLst>
              <a:ext uri="{FF2B5EF4-FFF2-40B4-BE49-F238E27FC236}">
                <a16:creationId xmlns:a16="http://schemas.microsoft.com/office/drawing/2014/main" id="{6C49B9B3-1C5F-4B8C-B00F-80100947EB77}"/>
              </a:ext>
            </a:extLst>
          </p:cNvPr>
          <p:cNvSpPr>
            <a:spLocks noGrp="1"/>
          </p:cNvSpPr>
          <p:nvPr/>
        </p:nvSpPr>
        <p:spPr>
          <a:xfrm>
            <a:off x="5444280" y="10267200"/>
            <a:ext cx="743760" cy="10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65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May-26 - 1017 </a:t>
            </a:r>
          </a:p>
        </p:txBody>
      </p:sp>
      <p:sp>
        <p:nvSpPr>
          <p:cNvPr id="661" name="TextBox 218">
            <a:extLst>
              <a:ext uri="{FF2B5EF4-FFF2-40B4-BE49-F238E27FC236}">
                <a16:creationId xmlns:a16="http://schemas.microsoft.com/office/drawing/2014/main" id="{F1E29D63-3712-4E07-9CFC-D46A0C81B9F5}"/>
              </a:ext>
            </a:extLst>
          </p:cNvPr>
          <p:cNvSpPr>
            <a:spLocks noGrp="1"/>
          </p:cNvSpPr>
          <p:nvPr/>
        </p:nvSpPr>
        <p:spPr>
          <a:xfrm>
            <a:off x="212760" y="7400880"/>
            <a:ext cx="6926040" cy="361080"/>
          </a:xfrm>
          <a:prstGeom prst="rect">
            <a:avLst/>
          </a:prstGeom>
          <a:solidFill>
            <a:srgbClr val="2D9B7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5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West Chain Summary</a:t>
            </a:r>
          </a:p>
        </p:txBody>
      </p:sp>
      <p:pic>
        <p:nvPicPr>
          <p:cNvPr id="760" name="Picture 2"/>
          <p:cNvPicPr>
            <a:picLocks noChangeAspect="1"/>
          </p:cNvPicPr>
          <p:nvPr/>
        </p:nvPicPr>
        <p:blipFill>
          <a:blip r:embed="rId9"/>
          <a:srcRect l="24445" r="23555"/>
          <a:stretch/>
        </p:blipFill>
        <p:spPr>
          <a:xfrm>
            <a:off x="2691720" y="6140880"/>
            <a:ext cx="272880" cy="525240"/>
          </a:xfrm>
          <a:prstGeom prst="rect">
            <a:avLst/>
          </a:prstGeom>
          <a:ln w="0">
            <a:noFill/>
          </a:ln>
        </p:spPr>
      </p:pic>
      <p:pic>
        <p:nvPicPr>
          <p:cNvPr id="761" name="Picture 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26080" y="6127200"/>
            <a:ext cx="258480" cy="548640"/>
          </a:xfrm>
          <a:prstGeom prst="rect">
            <a:avLst/>
          </a:prstGeom>
          <a:ln w="0">
            <a:noFill/>
          </a:ln>
        </p:spPr>
      </p:pic>
      <p:pic>
        <p:nvPicPr>
          <p:cNvPr id="762" name="Picture 3"/>
          <p:cNvPicPr>
            <a:picLocks noChangeAspect="1"/>
          </p:cNvPicPr>
          <p:nvPr/>
        </p:nvPicPr>
        <p:blipFill>
          <a:blip r:embed="rId11"/>
          <a:srcRect l="27803" t="6058" r="29329" b="4206"/>
          <a:stretch/>
        </p:blipFill>
        <p:spPr>
          <a:xfrm>
            <a:off x="595800" y="3978000"/>
            <a:ext cx="199800" cy="412560"/>
          </a:xfrm>
          <a:prstGeom prst="rect">
            <a:avLst/>
          </a:prstGeom>
          <a:ln w="0">
            <a:noFill/>
          </a:ln>
        </p:spPr>
      </p:pic>
      <p:pic>
        <p:nvPicPr>
          <p:cNvPr id="763" name="Picture 4"/>
          <p:cNvPicPr>
            <a:picLocks noChangeAspect="1"/>
          </p:cNvPicPr>
          <p:nvPr/>
        </p:nvPicPr>
        <p:blipFill>
          <a:blip r:embed="rId12"/>
          <a:srcRect l="32066" t="9039" r="31757" b="9269"/>
          <a:stretch/>
        </p:blipFill>
        <p:spPr>
          <a:xfrm>
            <a:off x="5149800" y="4108680"/>
            <a:ext cx="195840" cy="443160"/>
          </a:xfrm>
          <a:prstGeom prst="rect">
            <a:avLst/>
          </a:prstGeom>
          <a:ln w="0">
            <a:noFill/>
          </a:ln>
        </p:spPr>
      </p:pic>
      <p:pic>
        <p:nvPicPr>
          <p:cNvPr id="764" name="Google Shape;1518;p235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6874920" y="5998680"/>
            <a:ext cx="216000" cy="204840"/>
          </a:xfrm>
          <a:prstGeom prst="rect">
            <a:avLst/>
          </a:prstGeom>
          <a:ln w="0">
            <a:noFill/>
          </a:ln>
        </p:spPr>
      </p:pic>
      <p:pic>
        <p:nvPicPr>
          <p:cNvPr id="765" name="Google Shape;1396;p227"/>
          <p:cNvPicPr>
            <a:picLocks noChangeAspect="1"/>
          </p:cNvPicPr>
          <p:nvPr/>
        </p:nvPicPr>
        <p:blipFill>
          <a:blip r:embed="rId14"/>
          <a:srcRect l="19608" b="484"/>
          <a:stretch/>
        </p:blipFill>
        <p:spPr>
          <a:xfrm>
            <a:off x="2503440" y="3879720"/>
            <a:ext cx="178200" cy="412200"/>
          </a:xfrm>
          <a:prstGeom prst="rect">
            <a:avLst/>
          </a:prstGeom>
          <a:ln w="0">
            <a:noFill/>
          </a:ln>
        </p:spPr>
      </p:pic>
      <p:sp>
        <p:nvSpPr>
          <p:cNvPr id="668" name="PageNum">
            <a:extLst>
              <a:ext uri="{FF2B5EF4-FFF2-40B4-BE49-F238E27FC236}">
                <a16:creationId xmlns:a16="http://schemas.microsoft.com/office/drawing/2014/main" id="{0E57CAAB-10FC-41D1-B274-C36EF218794F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856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951014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9" name="Table 34"/>
          <p:cNvGraphicFramePr/>
          <p:nvPr/>
        </p:nvGraphicFramePr>
        <p:xfrm>
          <a:off x="212760" y="82800"/>
          <a:ext cx="7015680" cy="254160"/>
        </p:xfrm>
        <a:graphic>
          <a:graphicData uri="http://schemas.openxmlformats.org/drawingml/2006/table">
            <a:tbl>
              <a:tblPr/>
              <a:tblGrid>
                <a:gridCol w="701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PAN INDIA PERFORMANCE</a:t>
                      </a:r>
                    </a:p>
                  </a:txBody>
                  <a:tcPr marL="65520" marR="65520" marT="0" marB="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0" name="Graphic 251">
            <a:extLst>
              <a:ext uri="{FF2B5EF4-FFF2-40B4-BE49-F238E27FC236}">
                <a16:creationId xmlns:a16="http://schemas.microsoft.com/office/drawing/2014/main" id="{991962A5-DE08-42CF-A9AA-C9D73B616BA4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71" name="Graphic 252">
            <a:extLst>
              <a:ext uri="{FF2B5EF4-FFF2-40B4-BE49-F238E27FC236}">
                <a16:creationId xmlns:a16="http://schemas.microsoft.com/office/drawing/2014/main" id="{C6602933-0F9F-4966-BD54-A322785EA020}"/>
              </a:ext>
            </a:extLst>
          </p:cNvPr>
          <p:cNvSpPr>
            <a:spLocks noGrp="1"/>
          </p:cNvSpPr>
          <p:nvPr/>
        </p:nvSpPr>
        <p:spPr>
          <a:xfrm>
            <a:off x="21888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72" name="Textbox 253">
            <a:extLst>
              <a:ext uri="{FF2B5EF4-FFF2-40B4-BE49-F238E27FC236}">
                <a16:creationId xmlns:a16="http://schemas.microsoft.com/office/drawing/2014/main" id="{B6A916A7-B016-4C47-B020-8F73E215E23B}"/>
              </a:ext>
            </a:extLst>
          </p:cNvPr>
          <p:cNvSpPr>
            <a:spLocks noGrp="1"/>
          </p:cNvSpPr>
          <p:nvPr/>
        </p:nvSpPr>
        <p:spPr>
          <a:xfrm>
            <a:off x="2127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Jun-26 Sales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217</a:t>
            </a:r>
          </a:p>
        </p:txBody>
      </p:sp>
      <p:sp>
        <p:nvSpPr>
          <p:cNvPr id="673" name="Graphic 255">
            <a:extLst>
              <a:ext uri="{FF2B5EF4-FFF2-40B4-BE49-F238E27FC236}">
                <a16:creationId xmlns:a16="http://schemas.microsoft.com/office/drawing/2014/main" id="{2C508FDA-8F85-4455-808A-EDD8074D2E38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74" name="Graphic 256">
            <a:extLst>
              <a:ext uri="{FF2B5EF4-FFF2-40B4-BE49-F238E27FC236}">
                <a16:creationId xmlns:a16="http://schemas.microsoft.com/office/drawing/2014/main" id="{5226446A-2EED-4913-A290-0831BA2164D5}"/>
              </a:ext>
            </a:extLst>
          </p:cNvPr>
          <p:cNvSpPr>
            <a:spLocks noGrp="1"/>
          </p:cNvSpPr>
          <p:nvPr/>
        </p:nvSpPr>
        <p:spPr>
          <a:xfrm>
            <a:off x="199440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75" name="Textbox 257">
            <a:extLst>
              <a:ext uri="{FF2B5EF4-FFF2-40B4-BE49-F238E27FC236}">
                <a16:creationId xmlns:a16="http://schemas.microsoft.com/office/drawing/2014/main" id="{D02EE8B6-86DE-4D8F-998C-DC935B028690}"/>
              </a:ext>
            </a:extLst>
          </p:cNvPr>
          <p:cNvSpPr>
            <a:spLocks noGrp="1"/>
          </p:cNvSpPr>
          <p:nvPr/>
        </p:nvSpPr>
        <p:spPr>
          <a:xfrm>
            <a:off x="198792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Share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5.7%</a:t>
            </a:r>
          </a:p>
        </p:txBody>
      </p:sp>
      <p:sp>
        <p:nvSpPr>
          <p:cNvPr id="676" name="Graphic 259">
            <a:extLst>
              <a:ext uri="{FF2B5EF4-FFF2-40B4-BE49-F238E27FC236}">
                <a16:creationId xmlns:a16="http://schemas.microsoft.com/office/drawing/2014/main" id="{C4CC4CC0-3691-4225-8396-A3DFBB831448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77" name="Graphic 260">
            <a:extLst>
              <a:ext uri="{FF2B5EF4-FFF2-40B4-BE49-F238E27FC236}">
                <a16:creationId xmlns:a16="http://schemas.microsoft.com/office/drawing/2014/main" id="{BEB91413-C38D-40FD-8BF1-5C2F7AA852CB}"/>
              </a:ext>
            </a:extLst>
          </p:cNvPr>
          <p:cNvSpPr>
            <a:spLocks noGrp="1"/>
          </p:cNvSpPr>
          <p:nvPr/>
        </p:nvSpPr>
        <p:spPr>
          <a:xfrm>
            <a:off x="3769920" y="4154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78" name="Textbox 261">
            <a:extLst>
              <a:ext uri="{FF2B5EF4-FFF2-40B4-BE49-F238E27FC236}">
                <a16:creationId xmlns:a16="http://schemas.microsoft.com/office/drawing/2014/main" id="{DFB5DCB4-00D9-4C45-B8AF-CB929377EE71}"/>
              </a:ext>
            </a:extLst>
          </p:cNvPr>
          <p:cNvSpPr>
            <a:spLocks noGrp="1"/>
          </p:cNvSpPr>
          <p:nvPr/>
        </p:nvSpPr>
        <p:spPr>
          <a:xfrm>
            <a:off x="3763440" y="40932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L3M Avg</a:t>
            </a:r>
          </a:p>
          <a:p>
            <a:pPr marL="17640" algn="ctr" defTabSz="914400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203</a:t>
            </a:r>
          </a:p>
        </p:txBody>
      </p:sp>
      <p:sp>
        <p:nvSpPr>
          <p:cNvPr id="679" name="Graphic 263">
            <a:extLst>
              <a:ext uri="{FF2B5EF4-FFF2-40B4-BE49-F238E27FC236}">
                <a16:creationId xmlns:a16="http://schemas.microsoft.com/office/drawing/2014/main" id="{736CEC2D-2746-4D1B-A49B-545492BC0C0B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1511300" y="0"/>
                </a:move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close/>
              </a:path>
            </a:pathLst>
          </a:custGeom>
          <a:solidFill>
            <a:srgbClr val="F7F9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80" name="Graphic 264">
            <a:extLst>
              <a:ext uri="{FF2B5EF4-FFF2-40B4-BE49-F238E27FC236}">
                <a16:creationId xmlns:a16="http://schemas.microsoft.com/office/drawing/2014/main" id="{F8F05676-FDB7-4624-930E-D87CE63C7583}"/>
              </a:ext>
            </a:extLst>
          </p:cNvPr>
          <p:cNvSpPr>
            <a:spLocks noGrp="1"/>
          </p:cNvSpPr>
          <p:nvPr/>
        </p:nvSpPr>
        <p:spPr>
          <a:xfrm>
            <a:off x="5545440" y="417240"/>
            <a:ext cx="1587240" cy="456840"/>
          </a:xfrm>
          <a:custGeom>
            <a:avLst/>
            <a:gdLst>
              <a:gd name="textAreaLeft" fmla="*/ 0 w 1587240"/>
              <a:gd name="textAreaRight" fmla="*/ 1587600 w 1587240"/>
              <a:gd name="textAreaTop" fmla="*/ 0 h 456840"/>
              <a:gd name="textAreaBottom" fmla="*/ 457200 h 456840"/>
            </a:gdLst>
            <a:ahLst/>
            <a:cxnLst/>
            <a:rect l="textAreaLeft" t="textAreaTop" r="textAreaRight" b="textAreaBottom"/>
            <a:pathLst>
              <a:path w="1587500" h="457200">
                <a:moveTo>
                  <a:pt x="76200" y="457200"/>
                </a:moveTo>
                <a:lnTo>
                  <a:pt x="1511300" y="457200"/>
                </a:lnTo>
                <a:lnTo>
                  <a:pt x="1540977" y="451217"/>
                </a:lnTo>
                <a:lnTo>
                  <a:pt x="1565196" y="434896"/>
                </a:lnTo>
                <a:lnTo>
                  <a:pt x="1581517" y="410677"/>
                </a:lnTo>
                <a:lnTo>
                  <a:pt x="1587500" y="381000"/>
                </a:lnTo>
                <a:lnTo>
                  <a:pt x="1587500" y="76200"/>
                </a:lnTo>
                <a:lnTo>
                  <a:pt x="1581517" y="46522"/>
                </a:lnTo>
                <a:lnTo>
                  <a:pt x="1565196" y="22303"/>
                </a:lnTo>
                <a:lnTo>
                  <a:pt x="1540977" y="5982"/>
                </a:lnTo>
                <a:lnTo>
                  <a:pt x="1511300" y="0"/>
                </a:lnTo>
                <a:lnTo>
                  <a:pt x="76200" y="0"/>
                </a:lnTo>
                <a:lnTo>
                  <a:pt x="46522" y="5982"/>
                </a:lnTo>
                <a:lnTo>
                  <a:pt x="22303" y="22303"/>
                </a:lnTo>
                <a:lnTo>
                  <a:pt x="5982" y="46522"/>
                </a:lnTo>
                <a:lnTo>
                  <a:pt x="0" y="76200"/>
                </a:lnTo>
                <a:lnTo>
                  <a:pt x="0" y="381000"/>
                </a:lnTo>
                <a:lnTo>
                  <a:pt x="5982" y="410677"/>
                </a:lnTo>
                <a:lnTo>
                  <a:pt x="22303" y="434896"/>
                </a:lnTo>
                <a:lnTo>
                  <a:pt x="46522" y="451217"/>
                </a:lnTo>
                <a:lnTo>
                  <a:pt x="76200" y="4572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681" name="Textbox 265">
            <a:extLst>
              <a:ext uri="{FF2B5EF4-FFF2-40B4-BE49-F238E27FC236}">
                <a16:creationId xmlns:a16="http://schemas.microsoft.com/office/drawing/2014/main" id="{6D2CFC9F-5947-4865-9725-2B5FBC94DA3B}"/>
              </a:ext>
            </a:extLst>
          </p:cNvPr>
          <p:cNvSpPr>
            <a:spLocks noGrp="1"/>
          </p:cNvSpPr>
          <p:nvPr/>
        </p:nvSpPr>
        <p:spPr>
          <a:xfrm>
            <a:off x="5538960" y="410760"/>
            <a:ext cx="1599840" cy="46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7640" algn="ctr" defTabSz="914400">
              <a:lnSpc>
                <a:spcPct val="100000"/>
              </a:lnSpc>
              <a:spcBef>
                <a:spcPts val="590"/>
              </a:spcBef>
              <a:buNone/>
              <a:tabLst>
                <a:tab pos="0" algn="l"/>
              </a:tabLst>
            </a:pPr>
            <a:r>
              <a:rPr sz="9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GOLY Jun</a:t>
            </a:r>
          </a:p>
          <a:p>
            <a:pPr marL="17640" algn="ctr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6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32%</a:t>
            </a:r>
          </a:p>
        </p:txBody>
      </p:sp>
      <p:sp>
        <p:nvSpPr>
          <p:cNvPr id="682" name="Rectangle 48">
            <a:extLst>
              <a:ext uri="{FF2B5EF4-FFF2-40B4-BE49-F238E27FC236}">
                <a16:creationId xmlns:a16="http://schemas.microsoft.com/office/drawing/2014/main" id="{52639A55-CC6D-45AC-B3D3-EB79585951B1}"/>
              </a:ext>
            </a:extLst>
          </p:cNvPr>
          <p:cNvSpPr>
            <a:spLocks noGrp="1"/>
          </p:cNvSpPr>
          <p:nvPr/>
        </p:nvSpPr>
        <p:spPr>
          <a:xfrm>
            <a:off x="288720" y="427680"/>
            <a:ext cx="184320" cy="46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anchor="t">
            <a:spAutoFit/>
          </a:bodyPr>
          <a:lstStyle/>
          <a:p>
            <a:endParaRPr/>
          </a:p>
        </p:txBody>
      </p:sp>
      <p:sp>
        <p:nvSpPr>
          <p:cNvPr id="683" name="Rectangle 50">
            <a:extLst>
              <a:ext uri="{FF2B5EF4-FFF2-40B4-BE49-F238E27FC236}">
                <a16:creationId xmlns:a16="http://schemas.microsoft.com/office/drawing/2014/main" id="{8CB6CC76-FB5D-41BA-BB8F-AD24E664C0E4}"/>
              </a:ext>
            </a:extLst>
          </p:cNvPr>
          <p:cNvSpPr>
            <a:spLocks noGrp="1"/>
          </p:cNvSpPr>
          <p:nvPr/>
        </p:nvSpPr>
        <p:spPr>
          <a:xfrm>
            <a:off x="212760" y="54428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84" name="Rectangle 52">
            <a:extLst>
              <a:ext uri="{FF2B5EF4-FFF2-40B4-BE49-F238E27FC236}">
                <a16:creationId xmlns:a16="http://schemas.microsoft.com/office/drawing/2014/main" id="{90DFB448-DE53-4486-8188-8E13BE6B7268}"/>
              </a:ext>
            </a:extLst>
          </p:cNvPr>
          <p:cNvSpPr>
            <a:spLocks noGrp="1"/>
          </p:cNvSpPr>
          <p:nvPr/>
        </p:nvSpPr>
        <p:spPr>
          <a:xfrm>
            <a:off x="212760" y="5912640"/>
            <a:ext cx="69260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85" name="Rectangle 54">
            <a:extLst>
              <a:ext uri="{FF2B5EF4-FFF2-40B4-BE49-F238E27FC236}">
                <a16:creationId xmlns:a16="http://schemas.microsoft.com/office/drawing/2014/main" id="{1477F1CF-6E16-4D4A-9357-6162930CB518}"/>
              </a:ext>
            </a:extLst>
          </p:cNvPr>
          <p:cNvSpPr>
            <a:spLocks noGrp="1"/>
          </p:cNvSpPr>
          <p:nvPr/>
        </p:nvSpPr>
        <p:spPr>
          <a:xfrm>
            <a:off x="212760" y="7372080"/>
            <a:ext cx="6926040" cy="399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686" name="Rectangle 56">
            <a:extLst>
              <a:ext uri="{FF2B5EF4-FFF2-40B4-BE49-F238E27FC236}">
                <a16:creationId xmlns:a16="http://schemas.microsoft.com/office/drawing/2014/main" id="{F9F600B0-C695-4308-9A5B-33B92F104B15}"/>
              </a:ext>
            </a:extLst>
          </p:cNvPr>
          <p:cNvSpPr>
            <a:spLocks noGrp="1"/>
          </p:cNvSpPr>
          <p:nvPr/>
        </p:nvSpPr>
        <p:spPr>
          <a:xfrm>
            <a:off x="212760" y="6867720"/>
            <a:ext cx="69260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687" name="Textbox 268">
            <a:extLst>
              <a:ext uri="{FF2B5EF4-FFF2-40B4-BE49-F238E27FC236}">
                <a16:creationId xmlns:a16="http://schemas.microsoft.com/office/drawing/2014/main" id="{D2BA0F7B-7573-42DE-A693-064ACD75A20E}"/>
              </a:ext>
            </a:extLst>
          </p:cNvPr>
          <p:cNvSpPr>
            <a:spLocks noGrp="1"/>
          </p:cNvSpPr>
          <p:nvPr/>
        </p:nvSpPr>
        <p:spPr>
          <a:xfrm>
            <a:off x="212760" y="988200"/>
            <a:ext cx="6926040" cy="848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127080" defTabSz="914400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 Performance Highlights</a:t>
            </a:r>
          </a:p>
          <a:p>
            <a:pPr defTabSz="914400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sz="11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184320" indent="-5724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Chain View: Jun-26 closed at 217 for FSN (5.7% of channel), ▲ 4% MoM. Q1 FY27 = 653 Lacs, ▲ 25% vs Q1 FY26.</a:t>
            </a:r>
          </a:p>
          <a:p>
            <a:pPr marL="184320" indent="-57240" defTabSz="914400">
              <a:lnSpc>
                <a:spcPct val="100000"/>
              </a:lnSpc>
              <a:spcBef>
                <a:spcPts val="54"/>
              </a:spcBef>
              <a:buNone/>
              <a:tabLst>
                <a:tab pos="0" algn="l"/>
              </a:tabLst>
            </a:pPr>
            <a:r>
              <a:rPr sz="105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Growth View: Jun-26 was ▲ 7% vs L3M and ▲ 32% vs Jun-25 — best month since the Apr-26 record of 229.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Zone Insight: FSN improved to +32% YoY but still trails the network (+68%); assortment plus promo refresh remains the lever.</a:t>
            </a:r>
          </a:p>
        </p:txBody>
      </p:sp>
      <p:sp>
        <p:nvSpPr>
          <p:cNvPr id="688" name="Shape 3">
            <a:extLst>
              <a:ext uri="{FF2B5EF4-FFF2-40B4-BE49-F238E27FC236}">
                <a16:creationId xmlns:a16="http://schemas.microsoft.com/office/drawing/2014/main" id="{2B2BB98F-39C9-49CB-ACD7-845427776A59}"/>
              </a:ext>
            </a:extLst>
          </p:cNvPr>
          <p:cNvSpPr>
            <a:spLocks noGrp="1"/>
          </p:cNvSpPr>
          <p:nvPr/>
        </p:nvSpPr>
        <p:spPr>
          <a:xfrm>
            <a:off x="212760" y="3474000"/>
            <a:ext cx="6926040" cy="255600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689" name="Text 4">
            <a:extLst>
              <a:ext uri="{FF2B5EF4-FFF2-40B4-BE49-F238E27FC236}">
                <a16:creationId xmlns:a16="http://schemas.microsoft.com/office/drawing/2014/main" id="{3D84BA5A-1947-4BC4-9EF6-D2510EF4A726}"/>
              </a:ext>
            </a:extLst>
          </p:cNvPr>
          <p:cNvSpPr>
            <a:spLocks noGrp="1"/>
          </p:cNvSpPr>
          <p:nvPr/>
        </p:nvSpPr>
        <p:spPr>
          <a:xfrm>
            <a:off x="212760" y="3538080"/>
            <a:ext cx="69260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8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FSN | Mamaearth — Top 3 Sub-category Monthly Trend (NSV)</a:t>
            </a:r>
          </a:p>
        </p:txBody>
      </p:sp>
      <p:sp>
        <p:nvSpPr>
          <p:cNvPr id="690" name="Text 5">
            <a:extLst>
              <a:ext uri="{FF2B5EF4-FFF2-40B4-BE49-F238E27FC236}">
                <a16:creationId xmlns:a16="http://schemas.microsoft.com/office/drawing/2014/main" id="{8387D5CE-6206-4310-990A-9B782D0B64FA}"/>
              </a:ext>
            </a:extLst>
          </p:cNvPr>
          <p:cNvSpPr>
            <a:spLocks noGrp="1"/>
          </p:cNvSpPr>
          <p:nvPr/>
        </p:nvSpPr>
        <p:spPr>
          <a:xfrm>
            <a:off x="323640" y="382752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691" name="Text 6">
            <a:extLst>
              <a:ext uri="{FF2B5EF4-FFF2-40B4-BE49-F238E27FC236}">
                <a16:creationId xmlns:a16="http://schemas.microsoft.com/office/drawing/2014/main" id="{D2CB82A6-4BCC-414B-887B-18D516B7EDB8}"/>
              </a:ext>
            </a:extLst>
          </p:cNvPr>
          <p:cNvSpPr>
            <a:spLocks noGrp="1"/>
          </p:cNvSpPr>
          <p:nvPr/>
        </p:nvSpPr>
        <p:spPr>
          <a:xfrm>
            <a:off x="732960" y="385272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46%</a:t>
            </a:r>
          </a:p>
        </p:txBody>
      </p:sp>
      <p:sp>
        <p:nvSpPr>
          <p:cNvPr id="692" name="Text 7">
            <a:extLst>
              <a:ext uri="{FF2B5EF4-FFF2-40B4-BE49-F238E27FC236}">
                <a16:creationId xmlns:a16="http://schemas.microsoft.com/office/drawing/2014/main" id="{BAA25B14-89D3-4C5B-BC60-EB4F735A8011}"/>
              </a:ext>
            </a:extLst>
          </p:cNvPr>
          <p:cNvSpPr>
            <a:spLocks noGrp="1"/>
          </p:cNvSpPr>
          <p:nvPr/>
        </p:nvSpPr>
        <p:spPr>
          <a:xfrm>
            <a:off x="1292040" y="3846600"/>
            <a:ext cx="37188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12%</a:t>
            </a:r>
          </a:p>
        </p:txBody>
      </p:sp>
      <p:sp>
        <p:nvSpPr>
          <p:cNvPr id="693" name="Text 8">
            <a:extLst>
              <a:ext uri="{FF2B5EF4-FFF2-40B4-BE49-F238E27FC236}">
                <a16:creationId xmlns:a16="http://schemas.microsoft.com/office/drawing/2014/main" id="{2DD904AA-0C8F-47D5-A62D-D31466B896F8}"/>
              </a:ext>
            </a:extLst>
          </p:cNvPr>
          <p:cNvSpPr>
            <a:spLocks noGrp="1"/>
          </p:cNvSpPr>
          <p:nvPr/>
        </p:nvSpPr>
        <p:spPr>
          <a:xfrm>
            <a:off x="1843200" y="3885480"/>
            <a:ext cx="50940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108</a:t>
            </a:r>
          </a:p>
        </p:txBody>
      </p:sp>
      <p:graphicFrame>
        <p:nvGraphicFramePr>
          <p:cNvPr id="794" name="Chart 0"/>
          <p:cNvGraphicFramePr/>
          <p:nvPr/>
        </p:nvGraphicFramePr>
        <p:xfrm>
          <a:off x="207000" y="3823920"/>
          <a:ext cx="2145600" cy="1544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95" name="Text 9">
            <a:extLst>
              <a:ext uri="{FF2B5EF4-FFF2-40B4-BE49-F238E27FC236}">
                <a16:creationId xmlns:a16="http://schemas.microsoft.com/office/drawing/2014/main" id="{6016CA61-4D5B-431F-9501-1201FB1D40C2}"/>
              </a:ext>
            </a:extLst>
          </p:cNvPr>
          <p:cNvSpPr>
            <a:spLocks noGrp="1"/>
          </p:cNvSpPr>
          <p:nvPr/>
        </p:nvSpPr>
        <p:spPr>
          <a:xfrm>
            <a:off x="2618280" y="3885480"/>
            <a:ext cx="577800" cy="20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696" name="Text 10">
            <a:extLst>
              <a:ext uri="{FF2B5EF4-FFF2-40B4-BE49-F238E27FC236}">
                <a16:creationId xmlns:a16="http://schemas.microsoft.com/office/drawing/2014/main" id="{A62E4403-96F3-4E82-A68C-A45A96EAC21E}"/>
              </a:ext>
            </a:extLst>
          </p:cNvPr>
          <p:cNvSpPr>
            <a:spLocks noGrp="1"/>
          </p:cNvSpPr>
          <p:nvPr/>
        </p:nvSpPr>
        <p:spPr>
          <a:xfrm>
            <a:off x="3210840" y="387540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▲ 7%</a:t>
            </a:r>
          </a:p>
        </p:txBody>
      </p:sp>
      <p:sp>
        <p:nvSpPr>
          <p:cNvPr id="697" name="Text 11">
            <a:extLst>
              <a:ext uri="{FF2B5EF4-FFF2-40B4-BE49-F238E27FC236}">
                <a16:creationId xmlns:a16="http://schemas.microsoft.com/office/drawing/2014/main" id="{55E237AE-DC06-4011-89AF-02611CDBDD66}"/>
              </a:ext>
            </a:extLst>
          </p:cNvPr>
          <p:cNvSpPr>
            <a:spLocks noGrp="1"/>
          </p:cNvSpPr>
          <p:nvPr/>
        </p:nvSpPr>
        <p:spPr>
          <a:xfrm>
            <a:off x="3615480" y="3871800"/>
            <a:ext cx="371880" cy="2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▲ 23%</a:t>
            </a:r>
          </a:p>
        </p:txBody>
      </p:sp>
      <p:sp>
        <p:nvSpPr>
          <p:cNvPr id="698" name="Text 12">
            <a:extLst>
              <a:ext uri="{FF2B5EF4-FFF2-40B4-BE49-F238E27FC236}">
                <a16:creationId xmlns:a16="http://schemas.microsoft.com/office/drawing/2014/main" id="{A4B0DECA-1104-4C36-856D-3D4EAD1CF6B4}"/>
              </a:ext>
            </a:extLst>
          </p:cNvPr>
          <p:cNvSpPr>
            <a:spLocks noGrp="1"/>
          </p:cNvSpPr>
          <p:nvPr/>
        </p:nvSpPr>
        <p:spPr>
          <a:xfrm>
            <a:off x="4086720" y="3873960"/>
            <a:ext cx="412920" cy="2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16</a:t>
            </a:r>
          </a:p>
        </p:txBody>
      </p:sp>
      <p:graphicFrame>
        <p:nvGraphicFramePr>
          <p:cNvPr id="799" name="Chart 1"/>
          <p:cNvGraphicFramePr/>
          <p:nvPr/>
        </p:nvGraphicFramePr>
        <p:xfrm>
          <a:off x="2462400" y="3819240"/>
          <a:ext cx="2269080" cy="155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00" name="Text 13">
            <a:extLst>
              <a:ext uri="{FF2B5EF4-FFF2-40B4-BE49-F238E27FC236}">
                <a16:creationId xmlns:a16="http://schemas.microsoft.com/office/drawing/2014/main" id="{F3C3A121-F12C-41EF-9A4A-5C70C1F9E071}"/>
              </a:ext>
            </a:extLst>
          </p:cNvPr>
          <p:cNvSpPr>
            <a:spLocks noGrp="1"/>
          </p:cNvSpPr>
          <p:nvPr/>
        </p:nvSpPr>
        <p:spPr>
          <a:xfrm>
            <a:off x="4943160" y="3871800"/>
            <a:ext cx="537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Care</a:t>
            </a:r>
          </a:p>
        </p:txBody>
      </p:sp>
      <p:sp>
        <p:nvSpPr>
          <p:cNvPr id="701" name="Text 14">
            <a:extLst>
              <a:ext uri="{FF2B5EF4-FFF2-40B4-BE49-F238E27FC236}">
                <a16:creationId xmlns:a16="http://schemas.microsoft.com/office/drawing/2014/main" id="{DA42BAFB-920D-4F74-B2FA-1B330B35D82D}"/>
              </a:ext>
            </a:extLst>
          </p:cNvPr>
          <p:cNvSpPr>
            <a:spLocks noGrp="1"/>
          </p:cNvSpPr>
          <p:nvPr/>
        </p:nvSpPr>
        <p:spPr>
          <a:xfrm>
            <a:off x="5427360" y="3848040"/>
            <a:ext cx="61488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50%</a:t>
            </a:r>
          </a:p>
        </p:txBody>
      </p:sp>
      <p:sp>
        <p:nvSpPr>
          <p:cNvPr id="702" name="Text 15">
            <a:extLst>
              <a:ext uri="{FF2B5EF4-FFF2-40B4-BE49-F238E27FC236}">
                <a16:creationId xmlns:a16="http://schemas.microsoft.com/office/drawing/2014/main" id="{98886909-5F39-49ED-B5F4-6AC91B02F4BD}"/>
              </a:ext>
            </a:extLst>
          </p:cNvPr>
          <p:cNvSpPr>
            <a:spLocks noGrp="1"/>
          </p:cNvSpPr>
          <p:nvPr/>
        </p:nvSpPr>
        <p:spPr>
          <a:xfrm>
            <a:off x="6075000" y="3845160"/>
            <a:ext cx="371880" cy="2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▼ 17%</a:t>
            </a:r>
          </a:p>
        </p:txBody>
      </p:sp>
      <p:sp>
        <p:nvSpPr>
          <p:cNvPr id="703" name="Text 16">
            <a:extLst>
              <a:ext uri="{FF2B5EF4-FFF2-40B4-BE49-F238E27FC236}">
                <a16:creationId xmlns:a16="http://schemas.microsoft.com/office/drawing/2014/main" id="{EC079458-4E95-435C-BDEC-06E829625F5A}"/>
              </a:ext>
            </a:extLst>
          </p:cNvPr>
          <p:cNvSpPr>
            <a:spLocks noGrp="1"/>
          </p:cNvSpPr>
          <p:nvPr/>
        </p:nvSpPr>
        <p:spPr>
          <a:xfrm>
            <a:off x="6552720" y="3885480"/>
            <a:ext cx="41292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graphicFrame>
        <p:nvGraphicFramePr>
          <p:cNvPr id="804" name="Chart 2"/>
          <p:cNvGraphicFramePr/>
          <p:nvPr/>
        </p:nvGraphicFramePr>
        <p:xfrm>
          <a:off x="4846320" y="3822120"/>
          <a:ext cx="2292480" cy="157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05" name="Shape 17">
            <a:extLst>
              <a:ext uri="{FF2B5EF4-FFF2-40B4-BE49-F238E27FC236}">
                <a16:creationId xmlns:a16="http://schemas.microsoft.com/office/drawing/2014/main" id="{440AB981-CE2B-4EF1-A7F1-A83D0F01DE80}"/>
              </a:ext>
            </a:extLst>
          </p:cNvPr>
          <p:cNvSpPr>
            <a:spLocks noGrp="1"/>
          </p:cNvSpPr>
          <p:nvPr/>
        </p:nvSpPr>
        <p:spPr>
          <a:xfrm>
            <a:off x="212760" y="5470200"/>
            <a:ext cx="6926040" cy="323280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706" name="Text 18">
            <a:extLst>
              <a:ext uri="{FF2B5EF4-FFF2-40B4-BE49-F238E27FC236}">
                <a16:creationId xmlns:a16="http://schemas.microsoft.com/office/drawing/2014/main" id="{779D3570-1412-4C00-9DC3-1C8046491BA3}"/>
              </a:ext>
            </a:extLst>
          </p:cNvPr>
          <p:cNvSpPr>
            <a:spLocks noGrp="1"/>
          </p:cNvSpPr>
          <p:nvPr/>
        </p:nvSpPr>
        <p:spPr>
          <a:xfrm>
            <a:off x="212760" y="5468760"/>
            <a:ext cx="692604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FSN | The Derma Co. — Top 3 Sub-category Monthly Trend (NSV)</a:t>
            </a:r>
          </a:p>
        </p:txBody>
      </p:sp>
      <p:sp>
        <p:nvSpPr>
          <p:cNvPr id="707" name="Text 19">
            <a:extLst>
              <a:ext uri="{FF2B5EF4-FFF2-40B4-BE49-F238E27FC236}">
                <a16:creationId xmlns:a16="http://schemas.microsoft.com/office/drawing/2014/main" id="{0250C87A-621F-4DFE-96E7-6B9106A3073E}"/>
              </a:ext>
            </a:extLst>
          </p:cNvPr>
          <p:cNvSpPr>
            <a:spLocks noGrp="1"/>
          </p:cNvSpPr>
          <p:nvPr/>
        </p:nvSpPr>
        <p:spPr>
          <a:xfrm>
            <a:off x="278280" y="5927040"/>
            <a:ext cx="397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FW</a:t>
            </a:r>
          </a:p>
        </p:txBody>
      </p:sp>
      <p:sp>
        <p:nvSpPr>
          <p:cNvPr id="708" name="Text 20">
            <a:extLst>
              <a:ext uri="{FF2B5EF4-FFF2-40B4-BE49-F238E27FC236}">
                <a16:creationId xmlns:a16="http://schemas.microsoft.com/office/drawing/2014/main" id="{A1B60A89-2541-4B33-A3C6-E183E15F9365}"/>
              </a:ext>
            </a:extLst>
          </p:cNvPr>
          <p:cNvSpPr>
            <a:spLocks noGrp="1"/>
          </p:cNvSpPr>
          <p:nvPr/>
        </p:nvSpPr>
        <p:spPr>
          <a:xfrm>
            <a:off x="607680" y="5957280"/>
            <a:ext cx="4453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433%</a:t>
            </a:r>
          </a:p>
        </p:txBody>
      </p:sp>
      <p:sp>
        <p:nvSpPr>
          <p:cNvPr id="709" name="Text 21">
            <a:extLst>
              <a:ext uri="{FF2B5EF4-FFF2-40B4-BE49-F238E27FC236}">
                <a16:creationId xmlns:a16="http://schemas.microsoft.com/office/drawing/2014/main" id="{053CAD5D-EC31-4669-B3C8-907EEE175923}"/>
              </a:ext>
            </a:extLst>
          </p:cNvPr>
          <p:cNvSpPr>
            <a:spLocks noGrp="1"/>
          </p:cNvSpPr>
          <p:nvPr/>
        </p:nvSpPr>
        <p:spPr>
          <a:xfrm>
            <a:off x="1180800" y="5933520"/>
            <a:ext cx="40572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▲ 14%</a:t>
            </a:r>
          </a:p>
        </p:txBody>
      </p:sp>
      <p:sp>
        <p:nvSpPr>
          <p:cNvPr id="710" name="Text 22">
            <a:extLst>
              <a:ext uri="{FF2B5EF4-FFF2-40B4-BE49-F238E27FC236}">
                <a16:creationId xmlns:a16="http://schemas.microsoft.com/office/drawing/2014/main" id="{00F51D14-29BD-4D3C-B889-ADA9B7C17202}"/>
              </a:ext>
            </a:extLst>
          </p:cNvPr>
          <p:cNvSpPr>
            <a:spLocks noGrp="1"/>
          </p:cNvSpPr>
          <p:nvPr/>
        </p:nvSpPr>
        <p:spPr>
          <a:xfrm>
            <a:off x="1555920" y="5933520"/>
            <a:ext cx="49608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16</a:t>
            </a:r>
          </a:p>
        </p:txBody>
      </p:sp>
      <p:graphicFrame>
        <p:nvGraphicFramePr>
          <p:cNvPr id="811" name="Chart 3"/>
          <p:cNvGraphicFramePr/>
          <p:nvPr/>
        </p:nvGraphicFramePr>
        <p:xfrm>
          <a:off x="202320" y="5866560"/>
          <a:ext cx="2202480" cy="14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12" name="Text 23">
            <a:extLst>
              <a:ext uri="{FF2B5EF4-FFF2-40B4-BE49-F238E27FC236}">
                <a16:creationId xmlns:a16="http://schemas.microsoft.com/office/drawing/2014/main" id="{53EFD0C9-0C86-4529-9F42-88880866694B}"/>
              </a:ext>
            </a:extLst>
          </p:cNvPr>
          <p:cNvSpPr>
            <a:spLocks noGrp="1"/>
          </p:cNvSpPr>
          <p:nvPr/>
        </p:nvSpPr>
        <p:spPr>
          <a:xfrm>
            <a:off x="2564280" y="5927040"/>
            <a:ext cx="54108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Sun Care</a:t>
            </a:r>
          </a:p>
        </p:txBody>
      </p:sp>
      <p:sp>
        <p:nvSpPr>
          <p:cNvPr id="713" name="Text 24">
            <a:extLst>
              <a:ext uri="{FF2B5EF4-FFF2-40B4-BE49-F238E27FC236}">
                <a16:creationId xmlns:a16="http://schemas.microsoft.com/office/drawing/2014/main" id="{2D65C9F4-CA35-4B0E-9275-FDA4DFDEC46E}"/>
              </a:ext>
            </a:extLst>
          </p:cNvPr>
          <p:cNvSpPr>
            <a:spLocks noGrp="1"/>
          </p:cNvSpPr>
          <p:nvPr/>
        </p:nvSpPr>
        <p:spPr>
          <a:xfrm>
            <a:off x="3133800" y="5994720"/>
            <a:ext cx="447480" cy="20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GOLY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29%</a:t>
            </a:r>
          </a:p>
        </p:txBody>
      </p:sp>
      <p:sp>
        <p:nvSpPr>
          <p:cNvPr id="714" name="Text 25">
            <a:extLst>
              <a:ext uri="{FF2B5EF4-FFF2-40B4-BE49-F238E27FC236}">
                <a16:creationId xmlns:a16="http://schemas.microsoft.com/office/drawing/2014/main" id="{E6A9D62A-1783-452B-A796-C1406CC6B668}"/>
              </a:ext>
            </a:extLst>
          </p:cNvPr>
          <p:cNvSpPr>
            <a:spLocks noGrp="1"/>
          </p:cNvSpPr>
          <p:nvPr/>
        </p:nvSpPr>
        <p:spPr>
          <a:xfrm>
            <a:off x="3615480" y="5957280"/>
            <a:ext cx="40572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▼ 25%</a:t>
            </a:r>
          </a:p>
        </p:txBody>
      </p:sp>
      <p:sp>
        <p:nvSpPr>
          <p:cNvPr id="715" name="Text 26">
            <a:extLst>
              <a:ext uri="{FF2B5EF4-FFF2-40B4-BE49-F238E27FC236}">
                <a16:creationId xmlns:a16="http://schemas.microsoft.com/office/drawing/2014/main" id="{5C30D6BD-4F1D-4443-B0FA-CE83F8ECFBBA}"/>
              </a:ext>
            </a:extLst>
          </p:cNvPr>
          <p:cNvSpPr>
            <a:spLocks noGrp="1"/>
          </p:cNvSpPr>
          <p:nvPr/>
        </p:nvSpPr>
        <p:spPr>
          <a:xfrm>
            <a:off x="4144320" y="5962680"/>
            <a:ext cx="51084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graphicFrame>
        <p:nvGraphicFramePr>
          <p:cNvPr id="816" name="Chart 4"/>
          <p:cNvGraphicFramePr/>
          <p:nvPr/>
        </p:nvGraphicFramePr>
        <p:xfrm>
          <a:off x="2481480" y="5883480"/>
          <a:ext cx="2202120" cy="154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17" name="Text 27">
            <a:extLst>
              <a:ext uri="{FF2B5EF4-FFF2-40B4-BE49-F238E27FC236}">
                <a16:creationId xmlns:a16="http://schemas.microsoft.com/office/drawing/2014/main" id="{C894C5C4-3993-4159-B0E2-34303AC62A28}"/>
              </a:ext>
            </a:extLst>
          </p:cNvPr>
          <p:cNvSpPr>
            <a:spLocks noGrp="1"/>
          </p:cNvSpPr>
          <p:nvPr/>
        </p:nvSpPr>
        <p:spPr>
          <a:xfrm>
            <a:off x="5023080" y="5906160"/>
            <a:ext cx="457200" cy="27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Face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Serum</a:t>
            </a:r>
          </a:p>
        </p:txBody>
      </p:sp>
      <p:sp>
        <p:nvSpPr>
          <p:cNvPr id="718" name="Text 28">
            <a:extLst>
              <a:ext uri="{FF2B5EF4-FFF2-40B4-BE49-F238E27FC236}">
                <a16:creationId xmlns:a16="http://schemas.microsoft.com/office/drawing/2014/main" id="{60E7D450-FA39-4C95-9FD0-371486B2501B}"/>
              </a:ext>
            </a:extLst>
          </p:cNvPr>
          <p:cNvSpPr>
            <a:spLocks noGrp="1"/>
          </p:cNvSpPr>
          <p:nvPr/>
        </p:nvSpPr>
        <p:spPr>
          <a:xfrm>
            <a:off x="5567760" y="5919120"/>
            <a:ext cx="43920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GOLY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1" u="none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▲ 0%</a:t>
            </a:r>
          </a:p>
        </p:txBody>
      </p:sp>
      <p:sp>
        <p:nvSpPr>
          <p:cNvPr id="719" name="Text 29">
            <a:extLst>
              <a:ext uri="{FF2B5EF4-FFF2-40B4-BE49-F238E27FC236}">
                <a16:creationId xmlns:a16="http://schemas.microsoft.com/office/drawing/2014/main" id="{86EB67BB-95FD-4A0B-B1F1-6C282595FD63}"/>
              </a:ext>
            </a:extLst>
          </p:cNvPr>
          <p:cNvSpPr>
            <a:spLocks noGrp="1"/>
          </p:cNvSpPr>
          <p:nvPr/>
        </p:nvSpPr>
        <p:spPr>
          <a:xfrm>
            <a:off x="6085080" y="5920560"/>
            <a:ext cx="405720" cy="2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MoM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▼ 10%</a:t>
            </a:r>
          </a:p>
        </p:txBody>
      </p:sp>
      <p:sp>
        <p:nvSpPr>
          <p:cNvPr id="720" name="Text 30">
            <a:extLst>
              <a:ext uri="{FF2B5EF4-FFF2-40B4-BE49-F238E27FC236}">
                <a16:creationId xmlns:a16="http://schemas.microsoft.com/office/drawing/2014/main" id="{88FA53B9-5F34-4DF4-A440-0C66444D58C8}"/>
              </a:ext>
            </a:extLst>
          </p:cNvPr>
          <p:cNvSpPr>
            <a:spLocks noGrp="1"/>
          </p:cNvSpPr>
          <p:nvPr/>
        </p:nvSpPr>
        <p:spPr>
          <a:xfrm>
            <a:off x="6569280" y="5927040"/>
            <a:ext cx="451080" cy="24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Jun'26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graphicFrame>
        <p:nvGraphicFramePr>
          <p:cNvPr id="821" name="Chart 5"/>
          <p:cNvGraphicFramePr/>
          <p:nvPr/>
        </p:nvGraphicFramePr>
        <p:xfrm>
          <a:off x="4885560" y="5849640"/>
          <a:ext cx="2202120" cy="153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822" name="Table 190"/>
          <p:cNvGraphicFramePr/>
          <p:nvPr/>
        </p:nvGraphicFramePr>
        <p:xfrm>
          <a:off x="212760" y="1935000"/>
          <a:ext cx="7111440" cy="1514520"/>
        </p:xfrm>
        <a:graphic>
          <a:graphicData uri="http://schemas.openxmlformats.org/drawingml/2006/table">
            <a:tbl>
              <a:tblPr/>
              <a:tblGrid>
                <a:gridCol w="120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4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42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Brand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 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Mamaearth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139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164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177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82%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158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12%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27%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The Derma Co.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▼ 5%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75%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Aqualogica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47%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1" u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</a:rPr>
                        <a:t>▼ 40%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Emerging Brands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1%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5520" marR="65520" marT="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23" name="Table 193"/>
          <p:cNvGraphicFramePr/>
          <p:nvPr/>
        </p:nvGraphicFramePr>
        <p:xfrm>
          <a:off x="212760" y="7854120"/>
          <a:ext cx="6982560" cy="695880"/>
        </p:xfrm>
        <a:graphic>
          <a:graphicData uri="http://schemas.openxmlformats.org/drawingml/2006/table">
            <a:tbl>
              <a:tblPr/>
              <a:tblGrid>
                <a:gridCol w="169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9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9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7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Chain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Jun-25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May-26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Jun-26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 L3M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GOLY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Fsn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164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208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217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100%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203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7%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008A3D"/>
                          </a:solidFill>
                          <a:latin typeface="Calibri"/>
                          <a:ea typeface="Calibri"/>
                          <a:cs typeface="Calibri"/>
                        </a:rPr>
                        <a:t>▲ 32%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Others Combined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>
                          <a:solidFill>
                            <a:srgbClr val="1A1F29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120" marR="6120" marT="6120" marB="0" anchor="ctr">
                    <a:lnL w="12240">
                      <a:solidFill>
                        <a:srgbClr val="D9E2EC"/>
                      </a:solidFill>
                      <a:prstDash val="solid"/>
                    </a:lnL>
                    <a:lnR w="12240">
                      <a:solidFill>
                        <a:srgbClr val="D9E2EC"/>
                      </a:solidFill>
                      <a:prstDash val="solid"/>
                    </a:lnR>
                    <a:lnT w="12240">
                      <a:solidFill>
                        <a:srgbClr val="D9E2EC"/>
                      </a:solidFill>
                      <a:prstDash val="solid"/>
                    </a:lnT>
                    <a:lnB w="12240">
                      <a:solidFill>
                        <a:srgbClr val="D9E2EC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4" name="Rectangle 81">
            <a:extLst>
              <a:ext uri="{FF2B5EF4-FFF2-40B4-BE49-F238E27FC236}">
                <a16:creationId xmlns:a16="http://schemas.microsoft.com/office/drawing/2014/main" id="{B9A49952-7323-4654-B88C-9175185A4543}"/>
              </a:ext>
            </a:extLst>
          </p:cNvPr>
          <p:cNvSpPr>
            <a:spLocks noGrp="1"/>
          </p:cNvSpPr>
          <p:nvPr/>
        </p:nvSpPr>
        <p:spPr>
          <a:xfrm>
            <a:off x="0" y="15840"/>
            <a:ext cx="75625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endParaRPr/>
          </a:p>
        </p:txBody>
      </p:sp>
      <p:sp>
        <p:nvSpPr>
          <p:cNvPr id="725" name="Graphic 278">
            <a:extLst>
              <a:ext uri="{FF2B5EF4-FFF2-40B4-BE49-F238E27FC236}">
                <a16:creationId xmlns:a16="http://schemas.microsoft.com/office/drawing/2014/main" id="{548B5EC6-FD92-4E2F-8DFB-B5829278848F}"/>
              </a:ext>
            </a:extLst>
          </p:cNvPr>
          <p:cNvSpPr>
            <a:spLocks noGrp="1"/>
          </p:cNvSpPr>
          <p:nvPr/>
        </p:nvSpPr>
        <p:spPr>
          <a:xfrm>
            <a:off x="176400" y="8556840"/>
            <a:ext cx="6962760" cy="1720440"/>
          </a:xfrm>
          <a:custGeom>
            <a:avLst/>
            <a:gdLst>
              <a:gd name="textAreaLeft" fmla="*/ 0 w 6962760"/>
              <a:gd name="textAreaRight" fmla="*/ 6963120 w 6962760"/>
              <a:gd name="textAreaTop" fmla="*/ 0 h 1720440"/>
              <a:gd name="textAreaBottom" fmla="*/ 1720800 h 1720440"/>
            </a:gdLst>
            <a:ahLst/>
            <a:cxnLst/>
            <a:rect l="textAreaLeft" t="textAreaTop" r="textAreaRight" b="textAreaBottom"/>
            <a:pathLst>
              <a:path w="6950709" h="2163445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2074415"/>
                </a:lnTo>
                <a:lnTo>
                  <a:pt x="6979" y="2109038"/>
                </a:lnTo>
                <a:lnTo>
                  <a:pt x="26021" y="2137294"/>
                </a:lnTo>
                <a:lnTo>
                  <a:pt x="54276" y="2156335"/>
                </a:lnTo>
                <a:lnTo>
                  <a:pt x="88900" y="2163315"/>
                </a:lnTo>
                <a:lnTo>
                  <a:pt x="6861500" y="2163315"/>
                </a:lnTo>
                <a:lnTo>
                  <a:pt x="6896123" y="2156335"/>
                </a:lnTo>
                <a:lnTo>
                  <a:pt x="6924379" y="2137294"/>
                </a:lnTo>
                <a:lnTo>
                  <a:pt x="6943420" y="2109038"/>
                </a:lnTo>
                <a:lnTo>
                  <a:pt x="6950400" y="2074415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EFFD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26" name="Graphic 280">
            <a:extLst>
              <a:ext uri="{FF2B5EF4-FFF2-40B4-BE49-F238E27FC236}">
                <a16:creationId xmlns:a16="http://schemas.microsoft.com/office/drawing/2014/main" id="{FC1A2E7E-9199-436F-BFEC-2CA6D3EB63AA}"/>
              </a:ext>
            </a:extLst>
          </p:cNvPr>
          <p:cNvSpPr>
            <a:spLocks noGrp="1"/>
          </p:cNvSpPr>
          <p:nvPr/>
        </p:nvSpPr>
        <p:spPr>
          <a:xfrm>
            <a:off x="160200" y="8479800"/>
            <a:ext cx="6962760" cy="331560"/>
          </a:xfrm>
          <a:custGeom>
            <a:avLst/>
            <a:gdLst>
              <a:gd name="textAreaLeft" fmla="*/ 0 w 6962760"/>
              <a:gd name="textAreaRight" fmla="*/ 6963120 w 6962760"/>
              <a:gd name="textAreaTop" fmla="*/ 0 h 331560"/>
              <a:gd name="textAreaBottom" fmla="*/ 331920 h 331560"/>
            </a:gdLst>
            <a:ahLst/>
            <a:cxnLst/>
            <a:rect l="textAreaLeft" t="textAreaTop" r="textAreaRight" b="textAreaBottom"/>
            <a:pathLst>
              <a:path w="6950709" h="241300">
                <a:moveTo>
                  <a:pt x="6861500" y="0"/>
                </a:moveTo>
                <a:lnTo>
                  <a:pt x="88900" y="0"/>
                </a:lnTo>
                <a:lnTo>
                  <a:pt x="54276" y="6979"/>
                </a:lnTo>
                <a:lnTo>
                  <a:pt x="26021" y="26021"/>
                </a:lnTo>
                <a:lnTo>
                  <a:pt x="6979" y="54276"/>
                </a:lnTo>
                <a:lnTo>
                  <a:pt x="0" y="88899"/>
                </a:lnTo>
                <a:lnTo>
                  <a:pt x="0" y="152399"/>
                </a:lnTo>
                <a:lnTo>
                  <a:pt x="6979" y="187023"/>
                </a:lnTo>
                <a:lnTo>
                  <a:pt x="26021" y="215278"/>
                </a:lnTo>
                <a:lnTo>
                  <a:pt x="54276" y="234320"/>
                </a:lnTo>
                <a:lnTo>
                  <a:pt x="88900" y="241299"/>
                </a:lnTo>
                <a:lnTo>
                  <a:pt x="6861500" y="241299"/>
                </a:lnTo>
                <a:lnTo>
                  <a:pt x="6896123" y="234320"/>
                </a:lnTo>
                <a:lnTo>
                  <a:pt x="6924379" y="215278"/>
                </a:lnTo>
                <a:lnTo>
                  <a:pt x="6943420" y="187023"/>
                </a:lnTo>
                <a:lnTo>
                  <a:pt x="6950400" y="152399"/>
                </a:lnTo>
                <a:lnTo>
                  <a:pt x="6950400" y="88899"/>
                </a:lnTo>
                <a:lnTo>
                  <a:pt x="6943420" y="54276"/>
                </a:lnTo>
                <a:lnTo>
                  <a:pt x="6924379" y="26021"/>
                </a:lnTo>
                <a:lnTo>
                  <a:pt x="6896123" y="6979"/>
                </a:lnTo>
                <a:lnTo>
                  <a:pt x="6861500" y="0"/>
                </a:lnTo>
                <a:close/>
              </a:path>
            </a:pathLst>
          </a:custGeom>
          <a:solidFill>
            <a:srgbClr val="0377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27" name="Graphic 281">
            <a:extLst>
              <a:ext uri="{FF2B5EF4-FFF2-40B4-BE49-F238E27FC236}">
                <a16:creationId xmlns:a16="http://schemas.microsoft.com/office/drawing/2014/main" id="{8EFA9C9A-5BC4-44A8-87C4-70A8F7959B07}"/>
              </a:ext>
            </a:extLst>
          </p:cNvPr>
          <p:cNvSpPr>
            <a:spLocks noGrp="1"/>
          </p:cNvSpPr>
          <p:nvPr/>
        </p:nvSpPr>
        <p:spPr>
          <a:xfrm>
            <a:off x="271440" y="9417240"/>
            <a:ext cx="1620000" cy="47916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479160"/>
              <a:gd name="textAreaBottom" fmla="*/ 479520 h 4791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28" name="Graphic 282">
            <a:extLst>
              <a:ext uri="{FF2B5EF4-FFF2-40B4-BE49-F238E27FC236}">
                <a16:creationId xmlns:a16="http://schemas.microsoft.com/office/drawing/2014/main" id="{8AAEDB43-2444-4C78-8B71-43E62B319937}"/>
              </a:ext>
            </a:extLst>
          </p:cNvPr>
          <p:cNvSpPr>
            <a:spLocks noGrp="1"/>
          </p:cNvSpPr>
          <p:nvPr/>
        </p:nvSpPr>
        <p:spPr>
          <a:xfrm>
            <a:off x="279720" y="9397440"/>
            <a:ext cx="1620000" cy="47916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479160"/>
              <a:gd name="textAreaBottom" fmla="*/ 479520 h 4791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29" name="Graphic 283">
            <a:extLst>
              <a:ext uri="{FF2B5EF4-FFF2-40B4-BE49-F238E27FC236}">
                <a16:creationId xmlns:a16="http://schemas.microsoft.com/office/drawing/2014/main" id="{1A3980AB-59AE-42D4-81B4-B4811F229477}"/>
              </a:ext>
            </a:extLst>
          </p:cNvPr>
          <p:cNvSpPr>
            <a:spLocks noGrp="1"/>
          </p:cNvSpPr>
          <p:nvPr/>
        </p:nvSpPr>
        <p:spPr>
          <a:xfrm>
            <a:off x="1983600" y="9387360"/>
            <a:ext cx="1620000" cy="47916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479160"/>
              <a:gd name="textAreaBottom" fmla="*/ 479520 h 4791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30" name="Graphic 284">
            <a:extLst>
              <a:ext uri="{FF2B5EF4-FFF2-40B4-BE49-F238E27FC236}">
                <a16:creationId xmlns:a16="http://schemas.microsoft.com/office/drawing/2014/main" id="{45C46F19-47B8-47A8-9512-380A1991D911}"/>
              </a:ext>
            </a:extLst>
          </p:cNvPr>
          <p:cNvSpPr>
            <a:spLocks noGrp="1"/>
          </p:cNvSpPr>
          <p:nvPr/>
        </p:nvSpPr>
        <p:spPr>
          <a:xfrm>
            <a:off x="1975680" y="9397440"/>
            <a:ext cx="1620000" cy="47916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479160"/>
              <a:gd name="textAreaBottom" fmla="*/ 479520 h 4791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31" name="Graphic 285">
            <a:extLst>
              <a:ext uri="{FF2B5EF4-FFF2-40B4-BE49-F238E27FC236}">
                <a16:creationId xmlns:a16="http://schemas.microsoft.com/office/drawing/2014/main" id="{69CA8460-D56B-4458-A564-51ACA6837681}"/>
              </a:ext>
            </a:extLst>
          </p:cNvPr>
          <p:cNvSpPr>
            <a:spLocks noGrp="1"/>
          </p:cNvSpPr>
          <p:nvPr/>
        </p:nvSpPr>
        <p:spPr>
          <a:xfrm>
            <a:off x="3662640" y="9382320"/>
            <a:ext cx="1620000" cy="47916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479160"/>
              <a:gd name="textAreaBottom" fmla="*/ 479520 h 4791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32" name="Graphic 286">
            <a:extLst>
              <a:ext uri="{FF2B5EF4-FFF2-40B4-BE49-F238E27FC236}">
                <a16:creationId xmlns:a16="http://schemas.microsoft.com/office/drawing/2014/main" id="{BC4A4C79-658C-44AE-8039-3353F3000380}"/>
              </a:ext>
            </a:extLst>
          </p:cNvPr>
          <p:cNvSpPr>
            <a:spLocks noGrp="1"/>
          </p:cNvSpPr>
          <p:nvPr/>
        </p:nvSpPr>
        <p:spPr>
          <a:xfrm>
            <a:off x="3662640" y="9397440"/>
            <a:ext cx="1620000" cy="47916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479160"/>
              <a:gd name="textAreaBottom" fmla="*/ 479520 h 4791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33" name="Graphic 287">
            <a:extLst>
              <a:ext uri="{FF2B5EF4-FFF2-40B4-BE49-F238E27FC236}">
                <a16:creationId xmlns:a16="http://schemas.microsoft.com/office/drawing/2014/main" id="{5B445410-CF80-4147-9FCC-BE6620003B4D}"/>
              </a:ext>
            </a:extLst>
          </p:cNvPr>
          <p:cNvSpPr>
            <a:spLocks noGrp="1"/>
          </p:cNvSpPr>
          <p:nvPr/>
        </p:nvSpPr>
        <p:spPr>
          <a:xfrm>
            <a:off x="5367960" y="9397440"/>
            <a:ext cx="1620000" cy="47916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479160"/>
              <a:gd name="textAreaBottom" fmla="*/ 479520 h 4791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1553450" y="0"/>
                </a:move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34" name="Graphic 288">
            <a:extLst>
              <a:ext uri="{FF2B5EF4-FFF2-40B4-BE49-F238E27FC236}">
                <a16:creationId xmlns:a16="http://schemas.microsoft.com/office/drawing/2014/main" id="{54794944-7CC1-44A2-A530-419E9BFCBE87}"/>
              </a:ext>
            </a:extLst>
          </p:cNvPr>
          <p:cNvSpPr>
            <a:spLocks noGrp="1"/>
          </p:cNvSpPr>
          <p:nvPr/>
        </p:nvSpPr>
        <p:spPr>
          <a:xfrm>
            <a:off x="5358600" y="9397440"/>
            <a:ext cx="1620000" cy="479160"/>
          </a:xfrm>
          <a:custGeom>
            <a:avLst/>
            <a:gdLst>
              <a:gd name="textAreaLeft" fmla="*/ 0 w 1620000"/>
              <a:gd name="textAreaRight" fmla="*/ 1620360 w 1620000"/>
              <a:gd name="textAreaTop" fmla="*/ 0 h 479160"/>
              <a:gd name="textAreaBottom" fmla="*/ 479520 h 479160"/>
            </a:gdLst>
            <a:ahLst/>
            <a:cxnLst/>
            <a:rect l="textAreaLeft" t="textAreaTop" r="textAreaRight" b="textAreaBottom"/>
            <a:pathLst>
              <a:path w="1617345" h="508000">
                <a:moveTo>
                  <a:pt x="63500" y="508000"/>
                </a:moveTo>
                <a:lnTo>
                  <a:pt x="1553450" y="508000"/>
                </a:lnTo>
                <a:lnTo>
                  <a:pt x="1578180" y="503014"/>
                </a:lnTo>
                <a:lnTo>
                  <a:pt x="1598363" y="489413"/>
                </a:lnTo>
                <a:lnTo>
                  <a:pt x="1611964" y="469230"/>
                </a:lnTo>
                <a:lnTo>
                  <a:pt x="1616950" y="444500"/>
                </a:lnTo>
                <a:lnTo>
                  <a:pt x="1616950" y="63500"/>
                </a:lnTo>
                <a:lnTo>
                  <a:pt x="1611964" y="38769"/>
                </a:lnTo>
                <a:lnTo>
                  <a:pt x="1598363" y="18586"/>
                </a:lnTo>
                <a:lnTo>
                  <a:pt x="1578180" y="4985"/>
                </a:lnTo>
                <a:lnTo>
                  <a:pt x="1553450" y="0"/>
                </a:lnTo>
                <a:lnTo>
                  <a:pt x="63500" y="0"/>
                </a:lnTo>
                <a:lnTo>
                  <a:pt x="38769" y="4985"/>
                </a:lnTo>
                <a:lnTo>
                  <a:pt x="18586" y="18586"/>
                </a:lnTo>
                <a:lnTo>
                  <a:pt x="4985" y="38769"/>
                </a:lnTo>
                <a:lnTo>
                  <a:pt x="0" y="63500"/>
                </a:lnTo>
                <a:lnTo>
                  <a:pt x="0" y="444500"/>
                </a:lnTo>
                <a:lnTo>
                  <a:pt x="4985" y="469230"/>
                </a:lnTo>
                <a:lnTo>
                  <a:pt x="18586" y="489413"/>
                </a:lnTo>
                <a:lnTo>
                  <a:pt x="38769" y="503014"/>
                </a:lnTo>
                <a:lnTo>
                  <a:pt x="63500" y="508000"/>
                </a:lnTo>
                <a:close/>
              </a:path>
            </a:pathLst>
          </a:custGeom>
          <a:noFill/>
          <a:ln w="12700">
            <a:solidFill>
              <a:srgbClr val="85EFA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/>
          </a:p>
        </p:txBody>
      </p:sp>
      <p:sp>
        <p:nvSpPr>
          <p:cNvPr id="735" name="Textbox 289">
            <a:extLst>
              <a:ext uri="{FF2B5EF4-FFF2-40B4-BE49-F238E27FC236}">
                <a16:creationId xmlns:a16="http://schemas.microsoft.com/office/drawing/2014/main" id="{D296538D-BDBC-45DB-8203-45A3427CEB8C}"/>
              </a:ext>
            </a:extLst>
          </p:cNvPr>
          <p:cNvSpPr>
            <a:spLocks noGrp="1"/>
          </p:cNvSpPr>
          <p:nvPr/>
        </p:nvSpPr>
        <p:spPr>
          <a:xfrm>
            <a:off x="287280" y="8477640"/>
            <a:ext cx="672804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CHAIN KEY HIGHLIGHTS</a:t>
            </a:r>
          </a:p>
        </p:txBody>
      </p:sp>
      <p:sp>
        <p:nvSpPr>
          <p:cNvPr id="736" name="Textbox 290">
            <a:extLst>
              <a:ext uri="{FF2B5EF4-FFF2-40B4-BE49-F238E27FC236}">
                <a16:creationId xmlns:a16="http://schemas.microsoft.com/office/drawing/2014/main" id="{B8BA701C-18D3-4EDE-B333-06A96181A6CA}"/>
              </a:ext>
            </a:extLst>
          </p:cNvPr>
          <p:cNvSpPr>
            <a:spLocks noGrp="1"/>
          </p:cNvSpPr>
          <p:nvPr/>
        </p:nvSpPr>
        <p:spPr>
          <a:xfrm>
            <a:off x="214560" y="8872920"/>
            <a:ext cx="6842520" cy="3787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859"/>
              </a:lnSpc>
              <a:buNone/>
            </a:pPr>
            <a:endParaRPr/>
          </a:p>
          <a:p>
            <a:pPr marL="343080" indent="-343080" defTabSz="914400">
              <a:lnSpc>
                <a:spcPts val="859"/>
              </a:lnSpc>
              <a:buClr>
                <a:srgbClr val="008A3D"/>
              </a:buClr>
              <a:buFont typeface="Symbol"/>
              <a:buChar char=""/>
            </a:pPr>
            <a:r>
              <a:rPr sz="10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Chain Highlights:-  FSN closed Jun-26 at 217, ▲ 7% vs L3M and ▲ 32% vs Jun-25; the Apr-26 record of 229 stands.</a:t>
            </a:r>
          </a:p>
        </p:txBody>
      </p:sp>
      <p:sp>
        <p:nvSpPr>
          <p:cNvPr id="737" name="Textbox 291">
            <a:extLst>
              <a:ext uri="{FF2B5EF4-FFF2-40B4-BE49-F238E27FC236}">
                <a16:creationId xmlns:a16="http://schemas.microsoft.com/office/drawing/2014/main" id="{381C7C14-59E1-4792-BA51-0CE7C4B33223}"/>
              </a:ext>
            </a:extLst>
          </p:cNvPr>
          <p:cNvSpPr>
            <a:spLocks noGrp="1"/>
          </p:cNvSpPr>
          <p:nvPr/>
        </p:nvSpPr>
        <p:spPr>
          <a:xfrm>
            <a:off x="691560" y="9503280"/>
            <a:ext cx="727200" cy="32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105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Lead Chain</a:t>
            </a:r>
          </a:p>
        </p:txBody>
      </p:sp>
      <p:sp>
        <p:nvSpPr>
          <p:cNvPr id="738" name="Textbox 292">
            <a:extLst>
              <a:ext uri="{FF2B5EF4-FFF2-40B4-BE49-F238E27FC236}">
                <a16:creationId xmlns:a16="http://schemas.microsoft.com/office/drawing/2014/main" id="{145D8C3D-11D4-467C-BF7C-B70FE1D9C041}"/>
              </a:ext>
            </a:extLst>
          </p:cNvPr>
          <p:cNvSpPr>
            <a:spLocks noGrp="1"/>
          </p:cNvSpPr>
          <p:nvPr/>
        </p:nvSpPr>
        <p:spPr>
          <a:xfrm>
            <a:off x="2301480" y="9511920"/>
            <a:ext cx="1535400" cy="15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10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Fastest YoY Chain</a:t>
            </a:r>
          </a:p>
        </p:txBody>
      </p:sp>
      <p:sp>
        <p:nvSpPr>
          <p:cNvPr id="739" name="Textbox 293">
            <a:extLst>
              <a:ext uri="{FF2B5EF4-FFF2-40B4-BE49-F238E27FC236}">
                <a16:creationId xmlns:a16="http://schemas.microsoft.com/office/drawing/2014/main" id="{C2C8794C-DF45-4A2F-A672-2C90E4CDA8CA}"/>
              </a:ext>
            </a:extLst>
          </p:cNvPr>
          <p:cNvSpPr>
            <a:spLocks noGrp="1"/>
          </p:cNvSpPr>
          <p:nvPr/>
        </p:nvSpPr>
        <p:spPr>
          <a:xfrm>
            <a:off x="3921480" y="9459000"/>
            <a:ext cx="1170360" cy="33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10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Record Chain Lines</a:t>
            </a:r>
          </a:p>
        </p:txBody>
      </p:sp>
      <p:sp>
        <p:nvSpPr>
          <p:cNvPr id="740" name="Textbox 294">
            <a:extLst>
              <a:ext uri="{FF2B5EF4-FFF2-40B4-BE49-F238E27FC236}">
                <a16:creationId xmlns:a16="http://schemas.microsoft.com/office/drawing/2014/main" id="{9521A81F-C8EA-41CB-B969-D459CA8B19B3}"/>
              </a:ext>
            </a:extLst>
          </p:cNvPr>
          <p:cNvSpPr>
            <a:spLocks noGrp="1"/>
          </p:cNvSpPr>
          <p:nvPr/>
        </p:nvSpPr>
        <p:spPr>
          <a:xfrm>
            <a:off x="5541840" y="9459000"/>
            <a:ext cx="541440" cy="9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6"/>
              </a:spcBef>
              <a:buNone/>
              <a:tabLst>
                <a:tab pos="0" algn="l"/>
              </a:tabLst>
            </a:pPr>
            <a:r>
              <a:rPr sz="9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Zone Record</a:t>
            </a:r>
          </a:p>
        </p:txBody>
      </p:sp>
      <p:sp>
        <p:nvSpPr>
          <p:cNvPr id="741" name="Textbox 295">
            <a:extLst>
              <a:ext uri="{FF2B5EF4-FFF2-40B4-BE49-F238E27FC236}">
                <a16:creationId xmlns:a16="http://schemas.microsoft.com/office/drawing/2014/main" id="{B5AADA26-F7F5-45F8-A712-32141110485D}"/>
              </a:ext>
            </a:extLst>
          </p:cNvPr>
          <p:cNvSpPr>
            <a:spLocks noGrp="1"/>
          </p:cNvSpPr>
          <p:nvPr/>
        </p:nvSpPr>
        <p:spPr>
          <a:xfrm>
            <a:off x="739800" y="9738360"/>
            <a:ext cx="537840" cy="20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Fsn - 217</a:t>
            </a:r>
          </a:p>
        </p:txBody>
      </p:sp>
      <p:sp>
        <p:nvSpPr>
          <p:cNvPr id="742" name="Textbox 296">
            <a:extLst>
              <a:ext uri="{FF2B5EF4-FFF2-40B4-BE49-F238E27FC236}">
                <a16:creationId xmlns:a16="http://schemas.microsoft.com/office/drawing/2014/main" id="{1C1EC093-0909-495D-ADF4-4847257501E8}"/>
              </a:ext>
            </a:extLst>
          </p:cNvPr>
          <p:cNvSpPr>
            <a:spLocks noGrp="1"/>
          </p:cNvSpPr>
          <p:nvPr/>
        </p:nvSpPr>
        <p:spPr>
          <a:xfrm>
            <a:off x="2356200" y="9710640"/>
            <a:ext cx="1139040" cy="28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51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Fsn  - </a:t>
            </a:r>
            <a:r>
              <a:rPr sz="1000" b="1" u="none">
                <a:solidFill>
                  <a:srgbClr val="008A3D"/>
                </a:solidFill>
                <a:latin typeface="Calibri"/>
                <a:ea typeface="Calibri"/>
                <a:cs typeface="Calibri"/>
              </a:rPr>
              <a:t>▲ 32%</a:t>
            </a:r>
          </a:p>
        </p:txBody>
      </p:sp>
      <p:sp>
        <p:nvSpPr>
          <p:cNvPr id="743" name="Textbox 297">
            <a:extLst>
              <a:ext uri="{FF2B5EF4-FFF2-40B4-BE49-F238E27FC236}">
                <a16:creationId xmlns:a16="http://schemas.microsoft.com/office/drawing/2014/main" id="{6BA0A4BC-6D0A-498B-B0F0-D0A12B13847B}"/>
              </a:ext>
            </a:extLst>
          </p:cNvPr>
          <p:cNvSpPr>
            <a:spLocks noGrp="1"/>
          </p:cNvSpPr>
          <p:nvPr/>
        </p:nvSpPr>
        <p:spPr>
          <a:xfrm>
            <a:off x="4259880" y="9675720"/>
            <a:ext cx="1619280" cy="58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8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Fsn</a:t>
            </a:r>
          </a:p>
        </p:txBody>
      </p:sp>
      <p:sp>
        <p:nvSpPr>
          <p:cNvPr id="744" name="Textbox 298">
            <a:extLst>
              <a:ext uri="{FF2B5EF4-FFF2-40B4-BE49-F238E27FC236}">
                <a16:creationId xmlns:a16="http://schemas.microsoft.com/office/drawing/2014/main" id="{E9399EB9-67C9-4ACC-AF12-F38C5E82F755}"/>
              </a:ext>
            </a:extLst>
          </p:cNvPr>
          <p:cNvSpPr>
            <a:spLocks noGrp="1"/>
          </p:cNvSpPr>
          <p:nvPr/>
        </p:nvSpPr>
        <p:spPr>
          <a:xfrm>
            <a:off x="6109560" y="9538920"/>
            <a:ext cx="74952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746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A1F29"/>
                </a:solidFill>
                <a:latin typeface="Calibri"/>
                <a:ea typeface="Calibri"/>
                <a:cs typeface="Calibri"/>
              </a:rPr>
              <a:t>Apr-26 - 229</a:t>
            </a:r>
          </a:p>
        </p:txBody>
      </p:sp>
      <p:sp>
        <p:nvSpPr>
          <p:cNvPr id="746" name="TextBox 218">
            <a:extLst>
              <a:ext uri="{FF2B5EF4-FFF2-40B4-BE49-F238E27FC236}">
                <a16:creationId xmlns:a16="http://schemas.microsoft.com/office/drawing/2014/main" id="{E0BFC662-DCF2-49B8-A9C6-AC44BCEEF564}"/>
              </a:ext>
            </a:extLst>
          </p:cNvPr>
          <p:cNvSpPr>
            <a:spLocks noGrp="1"/>
          </p:cNvSpPr>
          <p:nvPr/>
        </p:nvSpPr>
        <p:spPr>
          <a:xfrm>
            <a:off x="212760" y="7400880"/>
            <a:ext cx="6926040" cy="361080"/>
          </a:xfrm>
          <a:prstGeom prst="rect">
            <a:avLst/>
          </a:prstGeom>
          <a:solidFill>
            <a:srgbClr val="2D9B7F"/>
          </a:solidFill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5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FSN Chain Summary</a:t>
            </a:r>
          </a:p>
        </p:txBody>
      </p:sp>
      <p:pic>
        <p:nvPicPr>
          <p:cNvPr id="846" name="Picture 2"/>
          <p:cNvPicPr>
            <a:picLocks noChangeAspect="1"/>
          </p:cNvPicPr>
          <p:nvPr/>
        </p:nvPicPr>
        <p:blipFill>
          <a:blip r:embed="rId9"/>
          <a:srcRect l="24445" r="23555"/>
          <a:stretch/>
        </p:blipFill>
        <p:spPr>
          <a:xfrm>
            <a:off x="2709720" y="6141240"/>
            <a:ext cx="212040" cy="407880"/>
          </a:xfrm>
          <a:prstGeom prst="rect">
            <a:avLst/>
          </a:prstGeom>
          <a:ln w="0">
            <a:noFill/>
          </a:ln>
        </p:spPr>
      </p:pic>
      <p:pic>
        <p:nvPicPr>
          <p:cNvPr id="847" name="Picture 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373320" y="6117120"/>
            <a:ext cx="249480" cy="530280"/>
          </a:xfrm>
          <a:prstGeom prst="rect">
            <a:avLst/>
          </a:prstGeom>
          <a:ln w="0">
            <a:noFill/>
          </a:ln>
        </p:spPr>
      </p:pic>
      <p:pic>
        <p:nvPicPr>
          <p:cNvPr id="848" name="Picture 3"/>
          <p:cNvPicPr>
            <a:picLocks noChangeAspect="1"/>
          </p:cNvPicPr>
          <p:nvPr/>
        </p:nvPicPr>
        <p:blipFill>
          <a:blip r:embed="rId11"/>
          <a:srcRect l="27803" t="6058" r="29329" b="4206"/>
          <a:stretch/>
        </p:blipFill>
        <p:spPr>
          <a:xfrm>
            <a:off x="373320" y="3994920"/>
            <a:ext cx="199800" cy="412560"/>
          </a:xfrm>
          <a:prstGeom prst="rect">
            <a:avLst/>
          </a:prstGeom>
          <a:ln w="0">
            <a:noFill/>
          </a:ln>
        </p:spPr>
      </p:pic>
      <p:pic>
        <p:nvPicPr>
          <p:cNvPr id="849" name="Picture 4"/>
          <p:cNvPicPr>
            <a:picLocks noChangeAspect="1"/>
          </p:cNvPicPr>
          <p:nvPr/>
        </p:nvPicPr>
        <p:blipFill>
          <a:blip r:embed="rId12"/>
          <a:srcRect l="32066" t="9039" r="31757" b="9269"/>
          <a:stretch/>
        </p:blipFill>
        <p:spPr>
          <a:xfrm>
            <a:off x="5140440" y="4098600"/>
            <a:ext cx="195840" cy="443160"/>
          </a:xfrm>
          <a:prstGeom prst="rect">
            <a:avLst/>
          </a:prstGeom>
          <a:ln w="0">
            <a:noFill/>
          </a:ln>
        </p:spPr>
      </p:pic>
      <p:pic>
        <p:nvPicPr>
          <p:cNvPr id="850" name="Google Shape;1518;p235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179320" y="6228360"/>
            <a:ext cx="216000" cy="204840"/>
          </a:xfrm>
          <a:prstGeom prst="rect">
            <a:avLst/>
          </a:prstGeom>
          <a:ln w="0">
            <a:noFill/>
          </a:ln>
        </p:spPr>
      </p:pic>
      <p:pic>
        <p:nvPicPr>
          <p:cNvPr id="851" name="Google Shape;1396;p227"/>
          <p:cNvPicPr>
            <a:picLocks noChangeAspect="1"/>
          </p:cNvPicPr>
          <p:nvPr/>
        </p:nvPicPr>
        <p:blipFill>
          <a:blip r:embed="rId14"/>
          <a:srcRect l="19608" b="484"/>
          <a:stretch/>
        </p:blipFill>
        <p:spPr>
          <a:xfrm>
            <a:off x="2512440" y="3850200"/>
            <a:ext cx="178200" cy="412200"/>
          </a:xfrm>
          <a:prstGeom prst="rect">
            <a:avLst/>
          </a:prstGeom>
          <a:ln w="0">
            <a:noFill/>
          </a:ln>
        </p:spPr>
      </p:pic>
      <p:sp>
        <p:nvSpPr>
          <p:cNvPr id="753" name="PageNum">
            <a:extLst>
              <a:ext uri="{FF2B5EF4-FFF2-40B4-BE49-F238E27FC236}">
                <a16:creationId xmlns:a16="http://schemas.microsoft.com/office/drawing/2014/main" id="{899838F7-C687-4090-87E3-11441E7E0928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856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435732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Rectangle 1">
            <a:extLst>
              <a:ext uri="{FF2B5EF4-FFF2-40B4-BE49-F238E27FC236}">
                <a16:creationId xmlns:a16="http://schemas.microsoft.com/office/drawing/2014/main" id="{A0F08598-D7AE-4FFE-98F6-581201E377ED}"/>
              </a:ext>
            </a:extLst>
          </p:cNvPr>
          <p:cNvSpPr>
            <a:spLocks noGrp="1"/>
          </p:cNvSpPr>
          <p:nvPr/>
        </p:nvSpPr>
        <p:spPr>
          <a:xfrm>
            <a:off x="775080" y="0"/>
            <a:ext cx="6012000" cy="841320"/>
          </a:xfrm>
          <a:prstGeom prst="rect">
            <a:avLst/>
          </a:prstGeom>
          <a:solidFill>
            <a:srgbClr val="2D9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55" name="Rectangle 2">
            <a:extLst>
              <a:ext uri="{FF2B5EF4-FFF2-40B4-BE49-F238E27FC236}">
                <a16:creationId xmlns:a16="http://schemas.microsoft.com/office/drawing/2014/main" id="{B2BA8EAF-771A-4F87-9584-B6EF0D59E047}"/>
              </a:ext>
            </a:extLst>
          </p:cNvPr>
          <p:cNvSpPr>
            <a:spLocks noGrp="1"/>
          </p:cNvSpPr>
          <p:nvPr/>
        </p:nvSpPr>
        <p:spPr>
          <a:xfrm>
            <a:off x="775080" y="812880"/>
            <a:ext cx="6012000" cy="28440"/>
          </a:xfrm>
          <a:prstGeom prst="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6200" rIns="90000" bIns="-16200" anchor="ctr">
            <a:noAutofit/>
          </a:bodyPr>
          <a:lstStyle/>
          <a:p>
            <a:endParaRPr/>
          </a:p>
        </p:txBody>
      </p:sp>
      <p:sp>
        <p:nvSpPr>
          <p:cNvPr id="756" name="TextBox 3">
            <a:extLst>
              <a:ext uri="{FF2B5EF4-FFF2-40B4-BE49-F238E27FC236}">
                <a16:creationId xmlns:a16="http://schemas.microsoft.com/office/drawing/2014/main" id="{4EDDB468-7DBA-45A5-8207-639130148B51}"/>
              </a:ext>
            </a:extLst>
          </p:cNvPr>
          <p:cNvSpPr>
            <a:spLocks noGrp="1"/>
          </p:cNvSpPr>
          <p:nvPr/>
        </p:nvSpPr>
        <p:spPr>
          <a:xfrm>
            <a:off x="1095840" y="160200"/>
            <a:ext cx="5370840" cy="61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9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Zone-wise Best Execution Images</a:t>
            </a:r>
          </a:p>
          <a:p>
            <a:pPr defTabSz="914400">
              <a:lnSpc>
                <a:spcPct val="100000"/>
              </a:lnSpc>
              <a:spcBef>
                <a:spcPts val="264"/>
              </a:spcBef>
              <a:buNone/>
              <a:tabLst>
                <a:tab pos="0" algn="l"/>
              </a:tabLst>
            </a:pPr>
            <a:r>
              <a:rPr sz="880" b="0" u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Best available field execution proof, by zone — and where the image bank still needs to be built</a:t>
            </a:r>
          </a:p>
          <a:p>
            <a:pPr defTabSz="9144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sz="750" b="1" u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FIELD CAPTURES</a:t>
            </a:r>
          </a:p>
        </p:txBody>
      </p:sp>
      <p:sp>
        <p:nvSpPr>
          <p:cNvPr id="757" name="TextBox 4">
            <a:extLst>
              <a:ext uri="{FF2B5EF4-FFF2-40B4-BE49-F238E27FC236}">
                <a16:creationId xmlns:a16="http://schemas.microsoft.com/office/drawing/2014/main" id="{EBC2CD31-9ECD-49E2-B8DF-54A002E5610C}"/>
              </a:ext>
            </a:extLst>
          </p:cNvPr>
          <p:cNvSpPr>
            <a:spLocks noGrp="1"/>
          </p:cNvSpPr>
          <p:nvPr/>
        </p:nvSpPr>
        <p:spPr>
          <a:xfrm>
            <a:off x="1095840" y="986040"/>
            <a:ext cx="2625120" cy="1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6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SOUTH-1 — HYDERABAD</a:t>
            </a:r>
          </a:p>
        </p:txBody>
      </p:sp>
      <p:sp>
        <p:nvSpPr>
          <p:cNvPr id="758" name="Rectangle 5">
            <a:extLst>
              <a:ext uri="{FF2B5EF4-FFF2-40B4-BE49-F238E27FC236}">
                <a16:creationId xmlns:a16="http://schemas.microsoft.com/office/drawing/2014/main" id="{EE68E8D0-65B3-4D45-A6ED-7E741B627142}"/>
              </a:ext>
            </a:extLst>
          </p:cNvPr>
          <p:cNvSpPr>
            <a:spLocks noGrp="1"/>
          </p:cNvSpPr>
          <p:nvPr/>
        </p:nvSpPr>
        <p:spPr>
          <a:xfrm>
            <a:off x="1095840" y="1186560"/>
            <a:ext cx="2625120" cy="15120"/>
          </a:xfrm>
          <a:prstGeom prst="rect">
            <a:avLst/>
          </a:prstGeom>
          <a:solidFill>
            <a:srgbClr val="2D9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520" rIns="90000" bIns="-29520" anchor="ctr">
            <a:noAutofit/>
          </a:bodyPr>
          <a:lstStyle/>
          <a:p>
            <a:endParaRPr/>
          </a:p>
        </p:txBody>
      </p:sp>
      <p:sp>
        <p:nvSpPr>
          <p:cNvPr id="759" name="TextBox 6">
            <a:extLst>
              <a:ext uri="{FF2B5EF4-FFF2-40B4-BE49-F238E27FC236}">
                <a16:creationId xmlns:a16="http://schemas.microsoft.com/office/drawing/2014/main" id="{D4864A7F-360C-4C71-8F79-3870B2E106BA}"/>
              </a:ext>
            </a:extLst>
          </p:cNvPr>
          <p:cNvSpPr>
            <a:spLocks noGrp="1"/>
          </p:cNvSpPr>
          <p:nvPr/>
        </p:nvSpPr>
        <p:spPr>
          <a:xfrm>
            <a:off x="3841560" y="986040"/>
            <a:ext cx="2625120" cy="1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6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SOUTH-2 — KARNATAKA</a:t>
            </a:r>
          </a:p>
        </p:txBody>
      </p:sp>
      <p:sp>
        <p:nvSpPr>
          <p:cNvPr id="760" name="Rectangle 7">
            <a:extLst>
              <a:ext uri="{FF2B5EF4-FFF2-40B4-BE49-F238E27FC236}">
                <a16:creationId xmlns:a16="http://schemas.microsoft.com/office/drawing/2014/main" id="{894D6FD6-E10A-4EBF-8364-B2C218E6B5DF}"/>
              </a:ext>
            </a:extLst>
          </p:cNvPr>
          <p:cNvSpPr>
            <a:spLocks noGrp="1"/>
          </p:cNvSpPr>
          <p:nvPr/>
        </p:nvSpPr>
        <p:spPr>
          <a:xfrm>
            <a:off x="3841560" y="1186560"/>
            <a:ext cx="2625120" cy="15120"/>
          </a:xfrm>
          <a:prstGeom prst="rect">
            <a:avLst/>
          </a:prstGeom>
          <a:solidFill>
            <a:srgbClr val="2D9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520" rIns="90000" bIns="-29520" anchor="ctr">
            <a:noAutofit/>
          </a:bodyPr>
          <a:lstStyle/>
          <a:p>
            <a:endParaRPr/>
          </a:p>
        </p:txBody>
      </p:sp>
      <p:pic>
        <p:nvPicPr>
          <p:cNvPr id="79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16000" y="1258200"/>
            <a:ext cx="1845360" cy="2460600"/>
          </a:xfrm>
          <a:prstGeom prst="rect">
            <a:avLst/>
          </a:prstGeom>
          <a:ln w="0">
            <a:noFill/>
          </a:ln>
        </p:spPr>
      </p:pic>
      <p:pic>
        <p:nvPicPr>
          <p:cNvPr id="80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61720" y="1258200"/>
            <a:ext cx="1803240" cy="2404440"/>
          </a:xfrm>
          <a:prstGeom prst="rect">
            <a:avLst/>
          </a:prstGeom>
          <a:ln w="0">
            <a:noFill/>
          </a:ln>
        </p:spPr>
      </p:pic>
      <p:sp>
        <p:nvSpPr>
          <p:cNvPr id="763" name="TextBox 11">
            <a:extLst>
              <a:ext uri="{FF2B5EF4-FFF2-40B4-BE49-F238E27FC236}">
                <a16:creationId xmlns:a16="http://schemas.microsoft.com/office/drawing/2014/main" id="{1E56DF6C-412C-46B1-88D5-820C2887E734}"/>
              </a:ext>
            </a:extLst>
          </p:cNvPr>
          <p:cNvSpPr>
            <a:spLocks noGrp="1"/>
          </p:cNvSpPr>
          <p:nvPr/>
        </p:nvSpPr>
        <p:spPr>
          <a:xfrm>
            <a:off x="579600" y="3719520"/>
            <a:ext cx="2464560" cy="11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6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Lulu | Hyderabad* | South-1 | Endcap / Bin-Tower</a:t>
            </a:r>
          </a:p>
        </p:txBody>
      </p:sp>
      <p:sp>
        <p:nvSpPr>
          <p:cNvPr id="764" name="TextBox 14">
            <a:extLst>
              <a:ext uri="{FF2B5EF4-FFF2-40B4-BE49-F238E27FC236}">
                <a16:creationId xmlns:a16="http://schemas.microsoft.com/office/drawing/2014/main" id="{B7B42B9E-9E14-4143-A90F-2FED54EF1A38}"/>
              </a:ext>
            </a:extLst>
          </p:cNvPr>
          <p:cNvSpPr>
            <a:spLocks noGrp="1"/>
          </p:cNvSpPr>
          <p:nvPr/>
        </p:nvSpPr>
        <p:spPr>
          <a:xfrm>
            <a:off x="3603240" y="3736080"/>
            <a:ext cx="2464560" cy="11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6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D-Mart | Bengaluru | South-2 | BOGO Bin Display</a:t>
            </a:r>
          </a:p>
        </p:txBody>
      </p:sp>
      <p:sp>
        <p:nvSpPr>
          <p:cNvPr id="766" name="TextBox 17">
            <a:extLst>
              <a:ext uri="{FF2B5EF4-FFF2-40B4-BE49-F238E27FC236}">
                <a16:creationId xmlns:a16="http://schemas.microsoft.com/office/drawing/2014/main" id="{51A61E64-E369-4851-86A3-CBC63D4648E1}"/>
              </a:ext>
            </a:extLst>
          </p:cNvPr>
          <p:cNvSpPr>
            <a:spLocks noGrp="1"/>
          </p:cNvSpPr>
          <p:nvPr/>
        </p:nvSpPr>
        <p:spPr>
          <a:xfrm>
            <a:off x="1441440" y="4167000"/>
            <a:ext cx="2625120" cy="1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6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APOLLO — SOUTH-1</a:t>
            </a:r>
          </a:p>
        </p:txBody>
      </p:sp>
      <p:pic>
        <p:nvPicPr>
          <p:cNvPr id="804" name="Picture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33440" y="4371480"/>
            <a:ext cx="1352520" cy="2404440"/>
          </a:xfrm>
          <a:prstGeom prst="rect">
            <a:avLst/>
          </a:prstGeom>
          <a:ln w="0">
            <a:noFill/>
          </a:ln>
        </p:spPr>
      </p:pic>
      <p:sp>
        <p:nvSpPr>
          <p:cNvPr id="768" name="TextBox 20">
            <a:extLst>
              <a:ext uri="{FF2B5EF4-FFF2-40B4-BE49-F238E27FC236}">
                <a16:creationId xmlns:a16="http://schemas.microsoft.com/office/drawing/2014/main" id="{E0DAA85B-EE79-4C44-B2B4-1CAF1FDCE985}"/>
              </a:ext>
            </a:extLst>
          </p:cNvPr>
          <p:cNvSpPr>
            <a:spLocks noGrp="1"/>
          </p:cNvSpPr>
          <p:nvPr/>
        </p:nvSpPr>
        <p:spPr>
          <a:xfrm>
            <a:off x="777240" y="6872760"/>
            <a:ext cx="2464560" cy="11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Apollo | Hyderabad* | Eye-Level Shelf Block</a:t>
            </a:r>
          </a:p>
        </p:txBody>
      </p:sp>
      <p:sp>
        <p:nvSpPr>
          <p:cNvPr id="769" name="TextBox 21">
            <a:extLst>
              <a:ext uri="{FF2B5EF4-FFF2-40B4-BE49-F238E27FC236}">
                <a16:creationId xmlns:a16="http://schemas.microsoft.com/office/drawing/2014/main" id="{7BE6B649-04F3-40B9-ABC8-60182D5B6926}"/>
              </a:ext>
            </a:extLst>
          </p:cNvPr>
          <p:cNvSpPr>
            <a:spLocks noGrp="1"/>
          </p:cNvSpPr>
          <p:nvPr/>
        </p:nvSpPr>
        <p:spPr>
          <a:xfrm>
            <a:off x="777240" y="7065000"/>
            <a:ext cx="24645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9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Mamaearth Sun Care range fronted with BOGO talkers on a dedicated shelf strip.</a:t>
            </a:r>
          </a:p>
        </p:txBody>
      </p:sp>
      <p:sp>
        <p:nvSpPr>
          <p:cNvPr id="770" name="TextBox 22">
            <a:extLst>
              <a:ext uri="{FF2B5EF4-FFF2-40B4-BE49-F238E27FC236}">
                <a16:creationId xmlns:a16="http://schemas.microsoft.com/office/drawing/2014/main" id="{829D3485-72D7-4B3E-AED7-19471E593108}"/>
              </a:ext>
            </a:extLst>
          </p:cNvPr>
          <p:cNvSpPr>
            <a:spLocks noGrp="1"/>
          </p:cNvSpPr>
          <p:nvPr/>
        </p:nvSpPr>
        <p:spPr>
          <a:xfrm>
            <a:off x="3709080" y="4167000"/>
            <a:ext cx="2625120" cy="1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6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LULU — SOUTH-1</a:t>
            </a:r>
          </a:p>
        </p:txBody>
      </p:sp>
      <p:pic>
        <p:nvPicPr>
          <p:cNvPr id="808" name="Picture 2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853800" y="4371480"/>
            <a:ext cx="1803240" cy="2404440"/>
          </a:xfrm>
          <a:prstGeom prst="rect">
            <a:avLst/>
          </a:prstGeom>
          <a:ln w="0">
            <a:noFill/>
          </a:ln>
        </p:spPr>
      </p:pic>
      <p:sp>
        <p:nvSpPr>
          <p:cNvPr id="772" name="TextBox 25">
            <a:extLst>
              <a:ext uri="{FF2B5EF4-FFF2-40B4-BE49-F238E27FC236}">
                <a16:creationId xmlns:a16="http://schemas.microsoft.com/office/drawing/2014/main" id="{A3EF4EC7-5FAA-4446-856F-B76526AE2805}"/>
              </a:ext>
            </a:extLst>
          </p:cNvPr>
          <p:cNvSpPr>
            <a:spLocks noGrp="1"/>
          </p:cNvSpPr>
          <p:nvPr/>
        </p:nvSpPr>
        <p:spPr>
          <a:xfrm>
            <a:off x="3522960" y="6872760"/>
            <a:ext cx="2464560" cy="11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Lulu | Hyderabad* | Shampoo Aisle Block</a:t>
            </a:r>
          </a:p>
        </p:txBody>
      </p:sp>
      <p:sp>
        <p:nvSpPr>
          <p:cNvPr id="773" name="TextBox 26">
            <a:extLst>
              <a:ext uri="{FF2B5EF4-FFF2-40B4-BE49-F238E27FC236}">
                <a16:creationId xmlns:a16="http://schemas.microsoft.com/office/drawing/2014/main" id="{574B936C-1BAC-409C-A38C-9A93E84388A9}"/>
              </a:ext>
            </a:extLst>
          </p:cNvPr>
          <p:cNvSpPr>
            <a:spLocks noGrp="1"/>
          </p:cNvSpPr>
          <p:nvPr/>
        </p:nvSpPr>
        <p:spPr>
          <a:xfrm>
            <a:off x="3522960" y="7065000"/>
            <a:ext cx="24645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9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Three uninterrupted Mamaearth shampoo shelves at eye level, ahead of competitor sets.</a:t>
            </a:r>
          </a:p>
        </p:txBody>
      </p:sp>
      <p:sp>
        <p:nvSpPr>
          <p:cNvPr id="774" name="TextBox 27">
            <a:extLst>
              <a:ext uri="{FF2B5EF4-FFF2-40B4-BE49-F238E27FC236}">
                <a16:creationId xmlns:a16="http://schemas.microsoft.com/office/drawing/2014/main" id="{2177F6DB-1279-4452-87F5-7F0AD6110084}"/>
              </a:ext>
            </a:extLst>
          </p:cNvPr>
          <p:cNvSpPr>
            <a:spLocks noGrp="1"/>
          </p:cNvSpPr>
          <p:nvPr/>
        </p:nvSpPr>
        <p:spPr>
          <a:xfrm>
            <a:off x="962640" y="7399440"/>
            <a:ext cx="2625120" cy="1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6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RELIANCE — SOUTH-1</a:t>
            </a:r>
          </a:p>
        </p:txBody>
      </p:sp>
      <p:sp>
        <p:nvSpPr>
          <p:cNvPr id="775" name="Rectangle 28">
            <a:extLst>
              <a:ext uri="{FF2B5EF4-FFF2-40B4-BE49-F238E27FC236}">
                <a16:creationId xmlns:a16="http://schemas.microsoft.com/office/drawing/2014/main" id="{1DA31AD7-08AA-4BB6-BE1A-0122515362F1}"/>
              </a:ext>
            </a:extLst>
          </p:cNvPr>
          <p:cNvSpPr>
            <a:spLocks noGrp="1"/>
          </p:cNvSpPr>
          <p:nvPr/>
        </p:nvSpPr>
        <p:spPr>
          <a:xfrm>
            <a:off x="962640" y="7599960"/>
            <a:ext cx="2625120" cy="15120"/>
          </a:xfrm>
          <a:prstGeom prst="rect">
            <a:avLst/>
          </a:prstGeom>
          <a:solidFill>
            <a:srgbClr val="2D9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520" rIns="90000" bIns="-29520" anchor="ctr">
            <a:noAutofit/>
          </a:bodyPr>
          <a:lstStyle/>
          <a:p>
            <a:endParaRPr/>
          </a:p>
        </p:txBody>
      </p:sp>
      <p:pic>
        <p:nvPicPr>
          <p:cNvPr id="813" name="Picture 29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373400" y="7855200"/>
            <a:ext cx="1630800" cy="2174760"/>
          </a:xfrm>
          <a:prstGeom prst="rect">
            <a:avLst/>
          </a:prstGeom>
          <a:ln w="0">
            <a:noFill/>
          </a:ln>
        </p:spPr>
      </p:pic>
      <p:sp>
        <p:nvSpPr>
          <p:cNvPr id="777" name="Rectangle 30">
            <a:extLst>
              <a:ext uri="{FF2B5EF4-FFF2-40B4-BE49-F238E27FC236}">
                <a16:creationId xmlns:a16="http://schemas.microsoft.com/office/drawing/2014/main" id="{85F2F43D-5167-4796-96EA-9C9BBD61F52D}"/>
              </a:ext>
            </a:extLst>
          </p:cNvPr>
          <p:cNvSpPr>
            <a:spLocks noGrp="1"/>
          </p:cNvSpPr>
          <p:nvPr/>
        </p:nvSpPr>
        <p:spPr>
          <a:xfrm>
            <a:off x="962640" y="10124640"/>
            <a:ext cx="2625120" cy="49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78" name="TextBox 33">
            <a:extLst>
              <a:ext uri="{FF2B5EF4-FFF2-40B4-BE49-F238E27FC236}">
                <a16:creationId xmlns:a16="http://schemas.microsoft.com/office/drawing/2014/main" id="{A1DFD21B-A6EB-4321-A10E-F6389DB557CF}"/>
              </a:ext>
            </a:extLst>
          </p:cNvPr>
          <p:cNvSpPr>
            <a:spLocks noGrp="1"/>
          </p:cNvSpPr>
          <p:nvPr/>
        </p:nvSpPr>
        <p:spPr>
          <a:xfrm>
            <a:off x="1042920" y="10172880"/>
            <a:ext cx="2464560" cy="11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Reliance | Hyderabad* | Branded Endcap</a:t>
            </a:r>
          </a:p>
        </p:txBody>
      </p:sp>
      <p:sp>
        <p:nvSpPr>
          <p:cNvPr id="779" name="TextBox 34">
            <a:extLst>
              <a:ext uri="{FF2B5EF4-FFF2-40B4-BE49-F238E27FC236}">
                <a16:creationId xmlns:a16="http://schemas.microsoft.com/office/drawing/2014/main" id="{15138B81-62FB-4791-9B09-5EB1804B1F45}"/>
              </a:ext>
            </a:extLst>
          </p:cNvPr>
          <p:cNvSpPr>
            <a:spLocks noGrp="1"/>
          </p:cNvSpPr>
          <p:nvPr/>
        </p:nvSpPr>
        <p:spPr>
          <a:xfrm>
            <a:off x="1042920" y="10365120"/>
            <a:ext cx="24645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9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'Merawala Combo' endcap with Mamaearth Buy-4-Get-1 signage and combo pricing.</a:t>
            </a:r>
          </a:p>
        </p:txBody>
      </p:sp>
      <p:sp>
        <p:nvSpPr>
          <p:cNvPr id="780" name="TextBox 35">
            <a:extLst>
              <a:ext uri="{FF2B5EF4-FFF2-40B4-BE49-F238E27FC236}">
                <a16:creationId xmlns:a16="http://schemas.microsoft.com/office/drawing/2014/main" id="{7734F9CA-6DDC-4F42-B52E-6EAF847659C9}"/>
              </a:ext>
            </a:extLst>
          </p:cNvPr>
          <p:cNvSpPr>
            <a:spLocks noGrp="1"/>
          </p:cNvSpPr>
          <p:nvPr/>
        </p:nvSpPr>
        <p:spPr>
          <a:xfrm>
            <a:off x="3708360" y="7399440"/>
            <a:ext cx="2625120" cy="1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6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D-MART — SOUTH-2</a:t>
            </a:r>
          </a:p>
        </p:txBody>
      </p:sp>
      <p:sp>
        <p:nvSpPr>
          <p:cNvPr id="781" name="Rectangle 36">
            <a:extLst>
              <a:ext uri="{FF2B5EF4-FFF2-40B4-BE49-F238E27FC236}">
                <a16:creationId xmlns:a16="http://schemas.microsoft.com/office/drawing/2014/main" id="{3DA283BD-F663-47C1-ABB2-1817F5CEE00B}"/>
              </a:ext>
            </a:extLst>
          </p:cNvPr>
          <p:cNvSpPr>
            <a:spLocks noGrp="1"/>
          </p:cNvSpPr>
          <p:nvPr/>
        </p:nvSpPr>
        <p:spPr>
          <a:xfrm>
            <a:off x="3708360" y="7599960"/>
            <a:ext cx="2625120" cy="15120"/>
          </a:xfrm>
          <a:prstGeom prst="rect">
            <a:avLst/>
          </a:prstGeom>
          <a:solidFill>
            <a:srgbClr val="2D9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520" rIns="90000" bIns="-29520" anchor="ctr">
            <a:noAutofit/>
          </a:bodyPr>
          <a:lstStyle/>
          <a:p>
            <a:endParaRPr/>
          </a:p>
        </p:txBody>
      </p:sp>
      <p:pic>
        <p:nvPicPr>
          <p:cNvPr id="819" name="Picture 3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19120" y="7671600"/>
            <a:ext cx="1803240" cy="2404440"/>
          </a:xfrm>
          <a:prstGeom prst="rect">
            <a:avLst/>
          </a:prstGeom>
          <a:ln w="0">
            <a:noFill/>
          </a:ln>
        </p:spPr>
      </p:pic>
      <p:sp>
        <p:nvSpPr>
          <p:cNvPr id="783" name="Rectangle 38">
            <a:extLst>
              <a:ext uri="{FF2B5EF4-FFF2-40B4-BE49-F238E27FC236}">
                <a16:creationId xmlns:a16="http://schemas.microsoft.com/office/drawing/2014/main" id="{E33DDFE1-EF87-4F24-A3BE-00114CD03312}"/>
              </a:ext>
            </a:extLst>
          </p:cNvPr>
          <p:cNvSpPr>
            <a:spLocks noGrp="1"/>
          </p:cNvSpPr>
          <p:nvPr/>
        </p:nvSpPr>
        <p:spPr>
          <a:xfrm>
            <a:off x="3708360" y="10124640"/>
            <a:ext cx="2625120" cy="49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84" name="TextBox 39">
            <a:extLst>
              <a:ext uri="{FF2B5EF4-FFF2-40B4-BE49-F238E27FC236}">
                <a16:creationId xmlns:a16="http://schemas.microsoft.com/office/drawing/2014/main" id="{F6C96292-3290-4894-887E-24FE7B2457EA}"/>
              </a:ext>
            </a:extLst>
          </p:cNvPr>
          <p:cNvSpPr>
            <a:spLocks noGrp="1"/>
          </p:cNvSpPr>
          <p:nvPr/>
        </p:nvSpPr>
        <p:spPr>
          <a:xfrm>
            <a:off x="3788640" y="10172880"/>
            <a:ext cx="2464560" cy="11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D-Mart | Bengaluru | BOGO Bin Display</a:t>
            </a:r>
          </a:p>
        </p:txBody>
      </p:sp>
      <p:sp>
        <p:nvSpPr>
          <p:cNvPr id="785" name="TextBox 40">
            <a:extLst>
              <a:ext uri="{FF2B5EF4-FFF2-40B4-BE49-F238E27FC236}">
                <a16:creationId xmlns:a16="http://schemas.microsoft.com/office/drawing/2014/main" id="{49FB07F3-8DBF-4F48-A5B9-E4708E019E2F}"/>
              </a:ext>
            </a:extLst>
          </p:cNvPr>
          <p:cNvSpPr>
            <a:spLocks noGrp="1"/>
          </p:cNvSpPr>
          <p:nvPr/>
        </p:nvSpPr>
        <p:spPr>
          <a:xfrm>
            <a:off x="3788640" y="10365120"/>
            <a:ext cx="2464560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9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Derma Co. Hyaluronic Sunscreen bin (geotagged 4-Jun-2026), paired with a Neutrogena combo crate.</a:t>
            </a:r>
          </a:p>
        </p:txBody>
      </p:sp>
    </p:spTree>
    <p:extLst>
      <p:ext uri="{BB962C8B-B14F-4D97-AF65-F5344CB8AC3E}">
        <p14:creationId xmlns:p14="http://schemas.microsoft.com/office/powerpoint/2010/main" val="68002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itle">
            <a:extLst>
              <a:ext uri="{FF2B5EF4-FFF2-40B4-BE49-F238E27FC236}">
                <a16:creationId xmlns:a16="http://schemas.microsoft.com/office/drawing/2014/main" id="{6AA54927-A6A6-4181-BC24-34E123F76FAA}"/>
              </a:ext>
            </a:extLst>
          </p:cNvPr>
          <p:cNvSpPr>
            <a:spLocks noGrp="1"/>
          </p:cNvSpPr>
          <p:nvPr/>
        </p:nvSpPr>
        <p:spPr>
          <a:xfrm>
            <a:off x="274320" y="228600"/>
            <a:ext cx="701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2D9B7F"/>
                </a:solidFill>
                <a:latin typeface="Calibri"/>
                <a:ea typeface="Calibri"/>
                <a:cs typeface="Calibri"/>
              </a:rPr>
              <a:t>Gujarat Region – Execution Snapshot</a:t>
            </a:r>
          </a:p>
        </p:txBody>
      </p:sp>
      <p:sp>
        <p:nvSpPr>
          <p:cNvPr id="804" name="Rule">
            <a:extLst>
              <a:ext uri="{FF2B5EF4-FFF2-40B4-BE49-F238E27FC236}">
                <a16:creationId xmlns:a16="http://schemas.microsoft.com/office/drawing/2014/main" id="{7CC6C9A7-7058-4F21-9162-ACEBC4873D2E}"/>
              </a:ext>
            </a:extLst>
          </p:cNvPr>
          <p:cNvSpPr>
            <a:spLocks noGrp="1"/>
          </p:cNvSpPr>
          <p:nvPr/>
        </p:nvSpPr>
        <p:spPr>
          <a:xfrm>
            <a:off x="274320" y="749880"/>
            <a:ext cx="7013880" cy="25560"/>
          </a:xfrm>
          <a:prstGeom prst="rect">
            <a:avLst/>
          </a:prstGeom>
          <a:solidFill>
            <a:srgbClr val="2D9B7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080" rIns="90000" bIns="-19080" anchor="t">
            <a:noAutofit/>
          </a:bodyPr>
          <a:lstStyle/>
          <a:p>
            <a:endParaRPr/>
          </a:p>
        </p:txBody>
      </p:sp>
      <p:pic>
        <p:nvPicPr>
          <p:cNvPr id="826" name="Pic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5040" y="844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06" name="Cap0">
            <a:extLst>
              <a:ext uri="{FF2B5EF4-FFF2-40B4-BE49-F238E27FC236}">
                <a16:creationId xmlns:a16="http://schemas.microsoft.com/office/drawing/2014/main" id="{C5831E78-6189-471C-A671-A3C31718AF39}"/>
              </a:ext>
            </a:extLst>
          </p:cNvPr>
          <p:cNvSpPr>
            <a:spLocks noGrp="1"/>
          </p:cNvSpPr>
          <p:nvPr/>
        </p:nvSpPr>
        <p:spPr>
          <a:xfrm>
            <a:off x="329400" y="3694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Gujarat Region Execution May 26</a:t>
            </a:r>
          </a:p>
        </p:txBody>
      </p:sp>
      <p:pic>
        <p:nvPicPr>
          <p:cNvPr id="828" name="Pic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42160" y="844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08" name="Cap1">
            <a:extLst>
              <a:ext uri="{FF2B5EF4-FFF2-40B4-BE49-F238E27FC236}">
                <a16:creationId xmlns:a16="http://schemas.microsoft.com/office/drawing/2014/main" id="{8CDCCAFC-5B85-4873-9F64-0DDCE85083B2}"/>
              </a:ext>
            </a:extLst>
          </p:cNvPr>
          <p:cNvSpPr>
            <a:spLocks noGrp="1"/>
          </p:cNvSpPr>
          <p:nvPr/>
        </p:nvSpPr>
        <p:spPr>
          <a:xfrm>
            <a:off x="3836520" y="3694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Ganesh Khengre ROM May-26</a:t>
            </a:r>
          </a:p>
        </p:txBody>
      </p:sp>
      <p:pic>
        <p:nvPicPr>
          <p:cNvPr id="830" name="Pic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5040" y="3976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10" name="Cap2">
            <a:extLst>
              <a:ext uri="{FF2B5EF4-FFF2-40B4-BE49-F238E27FC236}">
                <a16:creationId xmlns:a16="http://schemas.microsoft.com/office/drawing/2014/main" id="{77BDF89D-F8E5-4E64-9F29-D306ABFF91E8}"/>
              </a:ext>
            </a:extLst>
          </p:cNvPr>
          <p:cNvSpPr>
            <a:spLocks noGrp="1"/>
          </p:cNvSpPr>
          <p:nvPr/>
        </p:nvSpPr>
        <p:spPr>
          <a:xfrm>
            <a:off x="329400" y="6826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Ganesh Khengre ROM May-26</a:t>
            </a:r>
          </a:p>
        </p:txBody>
      </p:sp>
      <p:pic>
        <p:nvPicPr>
          <p:cNvPr id="832" name="Pic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142160" y="3976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12" name="Cap3">
            <a:extLst>
              <a:ext uri="{FF2B5EF4-FFF2-40B4-BE49-F238E27FC236}">
                <a16:creationId xmlns:a16="http://schemas.microsoft.com/office/drawing/2014/main" id="{CC59AAC0-0E53-4B59-9727-310839575AF2}"/>
              </a:ext>
            </a:extLst>
          </p:cNvPr>
          <p:cNvSpPr>
            <a:spLocks noGrp="1"/>
          </p:cNvSpPr>
          <p:nvPr/>
        </p:nvSpPr>
        <p:spPr>
          <a:xfrm>
            <a:off x="3836520" y="6826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Gujarat Region Execution May 26</a:t>
            </a:r>
          </a:p>
        </p:txBody>
      </p:sp>
      <p:pic>
        <p:nvPicPr>
          <p:cNvPr id="834" name="Pic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35040" y="7108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14" name="Cap4">
            <a:extLst>
              <a:ext uri="{FF2B5EF4-FFF2-40B4-BE49-F238E27FC236}">
                <a16:creationId xmlns:a16="http://schemas.microsoft.com/office/drawing/2014/main" id="{47FC33FD-5D72-409E-AA0B-3FC36D70FEFB}"/>
              </a:ext>
            </a:extLst>
          </p:cNvPr>
          <p:cNvSpPr>
            <a:spLocks noGrp="1"/>
          </p:cNvSpPr>
          <p:nvPr/>
        </p:nvSpPr>
        <p:spPr>
          <a:xfrm>
            <a:off x="329400" y="9958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Gujarat Region Execution May 26</a:t>
            </a:r>
          </a:p>
        </p:txBody>
      </p:sp>
      <p:pic>
        <p:nvPicPr>
          <p:cNvPr id="836" name="Pic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42160" y="7108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16" name="Cap5">
            <a:extLst>
              <a:ext uri="{FF2B5EF4-FFF2-40B4-BE49-F238E27FC236}">
                <a16:creationId xmlns:a16="http://schemas.microsoft.com/office/drawing/2014/main" id="{27D7260B-9A96-498D-8BDD-1D475489F411}"/>
              </a:ext>
            </a:extLst>
          </p:cNvPr>
          <p:cNvSpPr>
            <a:spLocks noGrp="1"/>
          </p:cNvSpPr>
          <p:nvPr/>
        </p:nvSpPr>
        <p:spPr>
          <a:xfrm>
            <a:off x="3836520" y="9958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Ganesh Khengre ROM May-26</a:t>
            </a:r>
          </a:p>
        </p:txBody>
      </p:sp>
      <p:sp>
        <p:nvSpPr>
          <p:cNvPr id="817" name="PageNum">
            <a:extLst>
              <a:ext uri="{FF2B5EF4-FFF2-40B4-BE49-F238E27FC236}">
                <a16:creationId xmlns:a16="http://schemas.microsoft.com/office/drawing/2014/main" id="{1A0B492A-AD36-4264-ABB1-C9074BCC370A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753294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Title">
            <a:extLst>
              <a:ext uri="{FF2B5EF4-FFF2-40B4-BE49-F238E27FC236}">
                <a16:creationId xmlns:a16="http://schemas.microsoft.com/office/drawing/2014/main" id="{AACE822D-CBDF-4639-A334-893168E28EC7}"/>
              </a:ext>
            </a:extLst>
          </p:cNvPr>
          <p:cNvSpPr>
            <a:spLocks noGrp="1"/>
          </p:cNvSpPr>
          <p:nvPr/>
        </p:nvSpPr>
        <p:spPr>
          <a:xfrm>
            <a:off x="274320" y="228600"/>
            <a:ext cx="701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2D9B7F"/>
                </a:solidFill>
                <a:latin typeface="Calibri"/>
                <a:ea typeface="Calibri"/>
                <a:cs typeface="Calibri"/>
              </a:rPr>
              <a:t>TDC / SIS Delhi NCR – Execution Snapshot</a:t>
            </a:r>
          </a:p>
        </p:txBody>
      </p:sp>
      <p:sp>
        <p:nvSpPr>
          <p:cNvPr id="834" name="Rule">
            <a:extLst>
              <a:ext uri="{FF2B5EF4-FFF2-40B4-BE49-F238E27FC236}">
                <a16:creationId xmlns:a16="http://schemas.microsoft.com/office/drawing/2014/main" id="{192E351D-0AD7-469F-8CE6-8D91DF4C0BB0}"/>
              </a:ext>
            </a:extLst>
          </p:cNvPr>
          <p:cNvSpPr>
            <a:spLocks noGrp="1"/>
          </p:cNvSpPr>
          <p:nvPr/>
        </p:nvSpPr>
        <p:spPr>
          <a:xfrm>
            <a:off x="274320" y="749880"/>
            <a:ext cx="7013880" cy="25560"/>
          </a:xfrm>
          <a:prstGeom prst="rect">
            <a:avLst/>
          </a:prstGeom>
          <a:solidFill>
            <a:srgbClr val="2D9B7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080" rIns="90000" bIns="-19080" anchor="t">
            <a:noAutofit/>
          </a:bodyPr>
          <a:lstStyle/>
          <a:p>
            <a:endParaRPr/>
          </a:p>
        </p:txBody>
      </p:sp>
      <p:pic>
        <p:nvPicPr>
          <p:cNvPr id="856" name="Pic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5040" y="844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36" name="Cap0">
            <a:extLst>
              <a:ext uri="{FF2B5EF4-FFF2-40B4-BE49-F238E27FC236}">
                <a16:creationId xmlns:a16="http://schemas.microsoft.com/office/drawing/2014/main" id="{1ED68195-00C7-40CD-8D47-0FAFA275F85E}"/>
              </a:ext>
            </a:extLst>
          </p:cNvPr>
          <p:cNvSpPr>
            <a:spLocks noGrp="1"/>
          </p:cNvSpPr>
          <p:nvPr/>
        </p:nvSpPr>
        <p:spPr>
          <a:xfrm>
            <a:off x="329400" y="3694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Tdc Sis Delhi Ncr PPT</a:t>
            </a:r>
          </a:p>
        </p:txBody>
      </p:sp>
      <p:pic>
        <p:nvPicPr>
          <p:cNvPr id="858" name="Pic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42160" y="844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38" name="Cap1">
            <a:extLst>
              <a:ext uri="{FF2B5EF4-FFF2-40B4-BE49-F238E27FC236}">
                <a16:creationId xmlns:a16="http://schemas.microsoft.com/office/drawing/2014/main" id="{CF124450-0776-4065-95EA-F030DD1440D6}"/>
              </a:ext>
            </a:extLst>
          </p:cNvPr>
          <p:cNvSpPr>
            <a:spLocks noGrp="1"/>
          </p:cNvSpPr>
          <p:nvPr/>
        </p:nvSpPr>
        <p:spPr>
          <a:xfrm>
            <a:off x="3836520" y="3694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Tdc Sis Delhi Ncr PPT</a:t>
            </a:r>
          </a:p>
        </p:txBody>
      </p:sp>
      <p:pic>
        <p:nvPicPr>
          <p:cNvPr id="860" name="Pic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5040" y="3976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40" name="Cap2">
            <a:extLst>
              <a:ext uri="{FF2B5EF4-FFF2-40B4-BE49-F238E27FC236}">
                <a16:creationId xmlns:a16="http://schemas.microsoft.com/office/drawing/2014/main" id="{3CD43203-A308-4CC8-85BD-E2F28BB6209B}"/>
              </a:ext>
            </a:extLst>
          </p:cNvPr>
          <p:cNvSpPr>
            <a:spLocks noGrp="1"/>
          </p:cNvSpPr>
          <p:nvPr/>
        </p:nvSpPr>
        <p:spPr>
          <a:xfrm>
            <a:off x="329400" y="6826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Tdc Sis Delhi Ncr PPT</a:t>
            </a:r>
          </a:p>
        </p:txBody>
      </p:sp>
      <p:pic>
        <p:nvPicPr>
          <p:cNvPr id="862" name="Pic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142160" y="3976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42" name="Cap3">
            <a:extLst>
              <a:ext uri="{FF2B5EF4-FFF2-40B4-BE49-F238E27FC236}">
                <a16:creationId xmlns:a16="http://schemas.microsoft.com/office/drawing/2014/main" id="{20814A2B-69BB-4DB6-812B-02F41A0317F6}"/>
              </a:ext>
            </a:extLst>
          </p:cNvPr>
          <p:cNvSpPr>
            <a:spLocks noGrp="1"/>
          </p:cNvSpPr>
          <p:nvPr/>
        </p:nvSpPr>
        <p:spPr>
          <a:xfrm>
            <a:off x="3836520" y="6826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Tdc Sis Delhi Ncr PPT</a:t>
            </a:r>
          </a:p>
        </p:txBody>
      </p:sp>
      <p:pic>
        <p:nvPicPr>
          <p:cNvPr id="864" name="Pic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35040" y="7108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44" name="Cap4">
            <a:extLst>
              <a:ext uri="{FF2B5EF4-FFF2-40B4-BE49-F238E27FC236}">
                <a16:creationId xmlns:a16="http://schemas.microsoft.com/office/drawing/2014/main" id="{FE6330DA-FDA0-463B-99BD-57852D3C1DE4}"/>
              </a:ext>
            </a:extLst>
          </p:cNvPr>
          <p:cNvSpPr>
            <a:spLocks noGrp="1"/>
          </p:cNvSpPr>
          <p:nvPr/>
        </p:nvSpPr>
        <p:spPr>
          <a:xfrm>
            <a:off x="329400" y="9958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Tdc Sis Delhi Ncr PPT</a:t>
            </a:r>
          </a:p>
        </p:txBody>
      </p:sp>
      <p:pic>
        <p:nvPicPr>
          <p:cNvPr id="866" name="Pic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42160" y="7108920"/>
            <a:ext cx="2784960" cy="282168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46" name="Cap5">
            <a:extLst>
              <a:ext uri="{FF2B5EF4-FFF2-40B4-BE49-F238E27FC236}">
                <a16:creationId xmlns:a16="http://schemas.microsoft.com/office/drawing/2014/main" id="{F25BB541-ACF0-407E-96AD-BF63A1499E45}"/>
              </a:ext>
            </a:extLst>
          </p:cNvPr>
          <p:cNvSpPr>
            <a:spLocks noGrp="1"/>
          </p:cNvSpPr>
          <p:nvPr/>
        </p:nvSpPr>
        <p:spPr>
          <a:xfrm>
            <a:off x="3836520" y="9958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Tdc Sis Delhi Ncr PPT</a:t>
            </a:r>
          </a:p>
        </p:txBody>
      </p:sp>
      <p:sp>
        <p:nvSpPr>
          <p:cNvPr id="847" name="PageNum">
            <a:extLst>
              <a:ext uri="{FF2B5EF4-FFF2-40B4-BE49-F238E27FC236}">
                <a16:creationId xmlns:a16="http://schemas.microsoft.com/office/drawing/2014/main" id="{6B839A8A-E30B-4AA9-AA38-BC2C0163B713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845317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Title">
            <a:extLst>
              <a:ext uri="{FF2B5EF4-FFF2-40B4-BE49-F238E27FC236}">
                <a16:creationId xmlns:a16="http://schemas.microsoft.com/office/drawing/2014/main" id="{F3D6DC97-EA98-46C3-85EC-78A28BC0CF4D}"/>
              </a:ext>
            </a:extLst>
          </p:cNvPr>
          <p:cNvSpPr>
            <a:spLocks noGrp="1"/>
          </p:cNvSpPr>
          <p:nvPr/>
        </p:nvSpPr>
        <p:spPr>
          <a:xfrm>
            <a:off x="274320" y="228600"/>
            <a:ext cx="7013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2D9B7F"/>
                </a:solidFill>
                <a:latin typeface="Calibri"/>
                <a:ea typeface="Calibri"/>
                <a:cs typeface="Calibri"/>
              </a:rPr>
              <a:t>SOS / SOA – Honasa Portfolio Visibility</a:t>
            </a:r>
          </a:p>
        </p:txBody>
      </p:sp>
      <p:sp>
        <p:nvSpPr>
          <p:cNvPr id="864" name="Rule">
            <a:extLst>
              <a:ext uri="{FF2B5EF4-FFF2-40B4-BE49-F238E27FC236}">
                <a16:creationId xmlns:a16="http://schemas.microsoft.com/office/drawing/2014/main" id="{50775234-3C35-486A-9C5A-601ECD0D6CF3}"/>
              </a:ext>
            </a:extLst>
          </p:cNvPr>
          <p:cNvSpPr>
            <a:spLocks noGrp="1"/>
          </p:cNvSpPr>
          <p:nvPr/>
        </p:nvSpPr>
        <p:spPr>
          <a:xfrm>
            <a:off x="274320" y="749880"/>
            <a:ext cx="7013880" cy="25560"/>
          </a:xfrm>
          <a:prstGeom prst="rect">
            <a:avLst/>
          </a:prstGeom>
          <a:solidFill>
            <a:srgbClr val="2D9B7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080" rIns="90000" bIns="-19080" anchor="t">
            <a:noAutofit/>
          </a:bodyPr>
          <a:lstStyle/>
          <a:p>
            <a:endParaRPr/>
          </a:p>
        </p:txBody>
      </p:sp>
      <p:pic>
        <p:nvPicPr>
          <p:cNvPr id="880" name="Pic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9400" y="1317960"/>
            <a:ext cx="3396600" cy="344124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66" name="Cap0">
            <a:extLst>
              <a:ext uri="{FF2B5EF4-FFF2-40B4-BE49-F238E27FC236}">
                <a16:creationId xmlns:a16="http://schemas.microsoft.com/office/drawing/2014/main" id="{96DB687A-DBA6-4E50-8A96-D7B1E2FEB292}"/>
              </a:ext>
            </a:extLst>
          </p:cNvPr>
          <p:cNvSpPr>
            <a:spLocks noGrp="1"/>
          </p:cNvSpPr>
          <p:nvPr/>
        </p:nvSpPr>
        <p:spPr>
          <a:xfrm>
            <a:off x="329400" y="5260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SUMO SAVE DISPLAY</a:t>
            </a:r>
          </a:p>
        </p:txBody>
      </p:sp>
      <p:pic>
        <p:nvPicPr>
          <p:cNvPr id="882" name="Pic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36520" y="1317960"/>
            <a:ext cx="3396600" cy="344124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68" name="Cap1">
            <a:extLst>
              <a:ext uri="{FF2B5EF4-FFF2-40B4-BE49-F238E27FC236}">
                <a16:creationId xmlns:a16="http://schemas.microsoft.com/office/drawing/2014/main" id="{D7269D76-FBB5-44D9-B50A-38DB2EAF1BAD}"/>
              </a:ext>
            </a:extLst>
          </p:cNvPr>
          <p:cNvSpPr>
            <a:spLocks noGrp="1"/>
          </p:cNvSpPr>
          <p:nvPr/>
        </p:nvSpPr>
        <p:spPr>
          <a:xfrm>
            <a:off x="3836520" y="5260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SUMO SAVE DISPLAY</a:t>
            </a:r>
          </a:p>
        </p:txBody>
      </p:sp>
      <p:pic>
        <p:nvPicPr>
          <p:cNvPr id="884" name="Pic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9400" y="6015960"/>
            <a:ext cx="3396600" cy="344124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70" name="Cap2">
            <a:extLst>
              <a:ext uri="{FF2B5EF4-FFF2-40B4-BE49-F238E27FC236}">
                <a16:creationId xmlns:a16="http://schemas.microsoft.com/office/drawing/2014/main" id="{A393F52A-28A8-4728-9C2C-4CC60C31F7AC}"/>
              </a:ext>
            </a:extLst>
          </p:cNvPr>
          <p:cNvSpPr>
            <a:spLocks noGrp="1"/>
          </p:cNvSpPr>
          <p:nvPr/>
        </p:nvSpPr>
        <p:spPr>
          <a:xfrm>
            <a:off x="329400" y="9958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SUMO SAVE DISPLAY</a:t>
            </a:r>
          </a:p>
        </p:txBody>
      </p:sp>
      <p:pic>
        <p:nvPicPr>
          <p:cNvPr id="886" name="Pic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836520" y="6015960"/>
            <a:ext cx="3396600" cy="3441240"/>
          </a:xfrm>
          <a:prstGeom prst="rect">
            <a:avLst/>
          </a:prstGeom>
          <a:ln w="9525">
            <a:solidFill>
              <a:srgbClr val="2D9B7F"/>
            </a:solidFill>
            <a:round/>
          </a:ln>
        </p:spPr>
      </p:pic>
      <p:sp>
        <p:nvSpPr>
          <p:cNvPr id="872" name="Cap3">
            <a:extLst>
              <a:ext uri="{FF2B5EF4-FFF2-40B4-BE49-F238E27FC236}">
                <a16:creationId xmlns:a16="http://schemas.microsoft.com/office/drawing/2014/main" id="{7B00C135-3DE9-4F5D-AEBA-CAC0E23A0388}"/>
              </a:ext>
            </a:extLst>
          </p:cNvPr>
          <p:cNvSpPr>
            <a:spLocks noGrp="1"/>
          </p:cNvSpPr>
          <p:nvPr/>
        </p:nvSpPr>
        <p:spPr>
          <a:xfrm>
            <a:off x="3836520" y="9958320"/>
            <a:ext cx="33966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0160" tIns="0" rIns="2016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SUMO SAVE DISPLAY</a:t>
            </a:r>
          </a:p>
        </p:txBody>
      </p:sp>
      <p:sp>
        <p:nvSpPr>
          <p:cNvPr id="873" name="PageNum">
            <a:extLst>
              <a:ext uri="{FF2B5EF4-FFF2-40B4-BE49-F238E27FC236}">
                <a16:creationId xmlns:a16="http://schemas.microsoft.com/office/drawing/2014/main" id="{B6859766-B4BD-4186-9B77-E0FCA4E82225}"/>
              </a:ext>
            </a:extLst>
          </p:cNvPr>
          <p:cNvSpPr>
            <a:spLocks noGrp="1"/>
          </p:cNvSpPr>
          <p:nvPr/>
        </p:nvSpPr>
        <p:spPr>
          <a:xfrm>
            <a:off x="6282720" y="1041444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884551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HeaderBg">
            <a:extLst>
              <a:ext uri="{FF2B5EF4-FFF2-40B4-BE49-F238E27FC236}">
                <a16:creationId xmlns:a16="http://schemas.microsoft.com/office/drawing/2014/main" id="{A762FE1A-77F8-4CB1-BEA1-C0D9EBD999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520" cy="502560"/>
          </a:xfrm>
          <a:prstGeom prst="rect">
            <a:avLst/>
          </a:prstGeom>
          <a:solidFill>
            <a:srgbClr val="2D9B7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882" name="BrandAnchor">
            <a:extLst>
              <a:ext uri="{FF2B5EF4-FFF2-40B4-BE49-F238E27FC236}">
                <a16:creationId xmlns:a16="http://schemas.microsoft.com/office/drawing/2014/main" id="{60AB2A56-758E-4BAF-9F58-0A46255B37B0}"/>
              </a:ext>
            </a:extLst>
          </p:cNvPr>
          <p:cNvSpPr>
            <a:spLocks noGrp="1"/>
          </p:cNvSpPr>
          <p:nvPr/>
        </p:nvSpPr>
        <p:spPr>
          <a:xfrm>
            <a:off x="228600" y="60120"/>
            <a:ext cx="710532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BDD7EE"/>
                </a:solidFill>
                <a:latin typeface="Calibri"/>
                <a:ea typeface="Calibri"/>
                <a:cs typeface="Calibri"/>
              </a:rPr>
              <a:t>Portfolio | All Categories | Executive Summary</a:t>
            </a:r>
          </a:p>
        </p:txBody>
      </p:sp>
      <p:sp>
        <p:nvSpPr>
          <p:cNvPr id="883" name="Title">
            <a:extLst>
              <a:ext uri="{FF2B5EF4-FFF2-40B4-BE49-F238E27FC236}">
                <a16:creationId xmlns:a16="http://schemas.microsoft.com/office/drawing/2014/main" id="{CC25B054-016D-490C-BB63-517231F4AE76}"/>
              </a:ext>
            </a:extLst>
          </p:cNvPr>
          <p:cNvSpPr>
            <a:spLocks noGrp="1"/>
          </p:cNvSpPr>
          <p:nvPr/>
        </p:nvSpPr>
        <p:spPr>
          <a:xfrm>
            <a:off x="228600" y="200160"/>
            <a:ext cx="7105320" cy="2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Primary vs. Offtake Sell-Out — Executive View</a:t>
            </a:r>
          </a:p>
        </p:txBody>
      </p:sp>
      <p:sp>
        <p:nvSpPr>
          <p:cNvPr id="884" name="Subtitle">
            <a:extLst>
              <a:ext uri="{FF2B5EF4-FFF2-40B4-BE49-F238E27FC236}">
                <a16:creationId xmlns:a16="http://schemas.microsoft.com/office/drawing/2014/main" id="{742B67BE-8C6A-4CAF-82BE-215A857A73C5}"/>
              </a:ext>
            </a:extLst>
          </p:cNvPr>
          <p:cNvSpPr>
            <a:spLocks noGrp="1"/>
          </p:cNvSpPr>
          <p:nvPr/>
        </p:nvSpPr>
        <p:spPr>
          <a:xfrm>
            <a:off x="228600" y="380160"/>
            <a:ext cx="7105320" cy="13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Q1 FY26-27 (Apr-Jun'26) consolidated | 26-chain matched universe (Primary &amp; Offtake both report)</a:t>
            </a:r>
          </a:p>
        </p:txBody>
      </p:sp>
      <p:sp>
        <p:nvSpPr>
          <p:cNvPr id="885" name="KpiTile">
            <a:extLst>
              <a:ext uri="{FF2B5EF4-FFF2-40B4-BE49-F238E27FC236}">
                <a16:creationId xmlns:a16="http://schemas.microsoft.com/office/drawing/2014/main" id="{E30F0C59-7D54-41B7-906C-0F62F3B45356}"/>
              </a:ext>
            </a:extLst>
          </p:cNvPr>
          <p:cNvSpPr>
            <a:spLocks noGrp="1"/>
          </p:cNvSpPr>
          <p:nvPr/>
        </p:nvSpPr>
        <p:spPr>
          <a:xfrm>
            <a:off x="228600" y="693360"/>
            <a:ext cx="1701000" cy="3104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886" name="KpiAccent">
            <a:extLst>
              <a:ext uri="{FF2B5EF4-FFF2-40B4-BE49-F238E27FC236}">
                <a16:creationId xmlns:a16="http://schemas.microsoft.com/office/drawing/2014/main" id="{CE8503B1-AC00-4612-AD98-9B12FE7EAEC6}"/>
              </a:ext>
            </a:extLst>
          </p:cNvPr>
          <p:cNvSpPr>
            <a:spLocks noGrp="1"/>
          </p:cNvSpPr>
          <p:nvPr/>
        </p:nvSpPr>
        <p:spPr>
          <a:xfrm>
            <a:off x="228600" y="693360"/>
            <a:ext cx="54720" cy="310428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887" name="KpiLabel">
            <a:extLst>
              <a:ext uri="{FF2B5EF4-FFF2-40B4-BE49-F238E27FC236}">
                <a16:creationId xmlns:a16="http://schemas.microsoft.com/office/drawing/2014/main" id="{8D517F61-A90B-49BB-B2C3-6A26D9AD2F62}"/>
              </a:ext>
            </a:extLst>
          </p:cNvPr>
          <p:cNvSpPr>
            <a:spLocks noGrp="1"/>
          </p:cNvSpPr>
          <p:nvPr/>
        </p:nvSpPr>
        <p:spPr>
          <a:xfrm>
            <a:off x="348480" y="783360"/>
            <a:ext cx="1460880" cy="10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Total Primary (Q1 FY27)</a:t>
            </a:r>
          </a:p>
        </p:txBody>
      </p:sp>
      <p:sp>
        <p:nvSpPr>
          <p:cNvPr id="888" name="KpiValue">
            <a:extLst>
              <a:ext uri="{FF2B5EF4-FFF2-40B4-BE49-F238E27FC236}">
                <a16:creationId xmlns:a16="http://schemas.microsoft.com/office/drawing/2014/main" id="{C052051D-E1E1-412D-8786-4DAEAEA95E35}"/>
              </a:ext>
            </a:extLst>
          </p:cNvPr>
          <p:cNvSpPr>
            <a:spLocks noGrp="1"/>
          </p:cNvSpPr>
          <p:nvPr/>
        </p:nvSpPr>
        <p:spPr>
          <a:xfrm>
            <a:off x="348480" y="1935360"/>
            <a:ext cx="1460880" cy="139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Rs 13,625L</a:t>
            </a:r>
          </a:p>
        </p:txBody>
      </p:sp>
      <p:sp>
        <p:nvSpPr>
          <p:cNvPr id="889" name="KpiDelta">
            <a:extLst>
              <a:ext uri="{FF2B5EF4-FFF2-40B4-BE49-F238E27FC236}">
                <a16:creationId xmlns:a16="http://schemas.microsoft.com/office/drawing/2014/main" id="{02C77745-88BA-4837-BD13-0C6B77127452}"/>
              </a:ext>
            </a:extLst>
          </p:cNvPr>
          <p:cNvSpPr>
            <a:spLocks noGrp="1"/>
          </p:cNvSpPr>
          <p:nvPr/>
        </p:nvSpPr>
        <p:spPr>
          <a:xfrm>
            <a:off x="348480" y="3115080"/>
            <a:ext cx="1460880" cy="62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26-chain matched universe</a:t>
            </a:r>
          </a:p>
        </p:txBody>
      </p:sp>
      <p:sp>
        <p:nvSpPr>
          <p:cNvPr id="890" name="KpiTile">
            <a:extLst>
              <a:ext uri="{FF2B5EF4-FFF2-40B4-BE49-F238E27FC236}">
                <a16:creationId xmlns:a16="http://schemas.microsoft.com/office/drawing/2014/main" id="{E8647D95-C177-4E61-B0CF-58F68FB7884F}"/>
              </a:ext>
            </a:extLst>
          </p:cNvPr>
          <p:cNvSpPr>
            <a:spLocks noGrp="1"/>
          </p:cNvSpPr>
          <p:nvPr/>
        </p:nvSpPr>
        <p:spPr>
          <a:xfrm>
            <a:off x="228600" y="3988800"/>
            <a:ext cx="1701000" cy="3104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891" name="KpiAccent">
            <a:extLst>
              <a:ext uri="{FF2B5EF4-FFF2-40B4-BE49-F238E27FC236}">
                <a16:creationId xmlns:a16="http://schemas.microsoft.com/office/drawing/2014/main" id="{D756AEE7-0CBF-47ED-93C4-F4108B9FD784}"/>
              </a:ext>
            </a:extLst>
          </p:cNvPr>
          <p:cNvSpPr>
            <a:spLocks noGrp="1"/>
          </p:cNvSpPr>
          <p:nvPr/>
        </p:nvSpPr>
        <p:spPr>
          <a:xfrm>
            <a:off x="228600" y="3988800"/>
            <a:ext cx="54720" cy="310428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892" name="KpiLabel">
            <a:extLst>
              <a:ext uri="{FF2B5EF4-FFF2-40B4-BE49-F238E27FC236}">
                <a16:creationId xmlns:a16="http://schemas.microsoft.com/office/drawing/2014/main" id="{FB455333-18D6-4972-95D8-704FF4BA3C02}"/>
              </a:ext>
            </a:extLst>
          </p:cNvPr>
          <p:cNvSpPr>
            <a:spLocks noGrp="1"/>
          </p:cNvSpPr>
          <p:nvPr/>
        </p:nvSpPr>
        <p:spPr>
          <a:xfrm>
            <a:off x="348480" y="4078800"/>
            <a:ext cx="1460880" cy="10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Total Offtake (Q1 FY27)</a:t>
            </a:r>
          </a:p>
        </p:txBody>
      </p:sp>
      <p:sp>
        <p:nvSpPr>
          <p:cNvPr id="893" name="KpiValue">
            <a:extLst>
              <a:ext uri="{FF2B5EF4-FFF2-40B4-BE49-F238E27FC236}">
                <a16:creationId xmlns:a16="http://schemas.microsoft.com/office/drawing/2014/main" id="{55FDF766-54E8-4099-AF3B-4390EEF2A65B}"/>
              </a:ext>
            </a:extLst>
          </p:cNvPr>
          <p:cNvSpPr>
            <a:spLocks noGrp="1"/>
          </p:cNvSpPr>
          <p:nvPr/>
        </p:nvSpPr>
        <p:spPr>
          <a:xfrm>
            <a:off x="348480" y="5230440"/>
            <a:ext cx="1460880" cy="139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Rs 11,436L</a:t>
            </a:r>
          </a:p>
        </p:txBody>
      </p:sp>
      <p:sp>
        <p:nvSpPr>
          <p:cNvPr id="894" name="KpiDelta">
            <a:extLst>
              <a:ext uri="{FF2B5EF4-FFF2-40B4-BE49-F238E27FC236}">
                <a16:creationId xmlns:a16="http://schemas.microsoft.com/office/drawing/2014/main" id="{43960856-BAA6-44FC-93C2-E6DC2740F42A}"/>
              </a:ext>
            </a:extLst>
          </p:cNvPr>
          <p:cNvSpPr>
            <a:spLocks noGrp="1"/>
          </p:cNvSpPr>
          <p:nvPr/>
        </p:nvSpPr>
        <p:spPr>
          <a:xfrm>
            <a:off x="348480" y="6410520"/>
            <a:ext cx="1460880" cy="62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Same 26-chain universe</a:t>
            </a:r>
          </a:p>
        </p:txBody>
      </p:sp>
      <p:sp>
        <p:nvSpPr>
          <p:cNvPr id="895" name="KpiTile">
            <a:extLst>
              <a:ext uri="{FF2B5EF4-FFF2-40B4-BE49-F238E27FC236}">
                <a16:creationId xmlns:a16="http://schemas.microsoft.com/office/drawing/2014/main" id="{E3175C74-4352-4F95-9C42-E06A89131BB1}"/>
              </a:ext>
            </a:extLst>
          </p:cNvPr>
          <p:cNvSpPr>
            <a:spLocks noGrp="1"/>
          </p:cNvSpPr>
          <p:nvPr/>
        </p:nvSpPr>
        <p:spPr>
          <a:xfrm>
            <a:off x="228600" y="7283880"/>
            <a:ext cx="1701000" cy="3104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896" name="KpiAccent">
            <a:extLst>
              <a:ext uri="{FF2B5EF4-FFF2-40B4-BE49-F238E27FC236}">
                <a16:creationId xmlns:a16="http://schemas.microsoft.com/office/drawing/2014/main" id="{81CB0CE0-805E-4F5F-8F5C-0723261C28C1}"/>
              </a:ext>
            </a:extLst>
          </p:cNvPr>
          <p:cNvSpPr>
            <a:spLocks noGrp="1"/>
          </p:cNvSpPr>
          <p:nvPr/>
        </p:nvSpPr>
        <p:spPr>
          <a:xfrm>
            <a:off x="228600" y="7283880"/>
            <a:ext cx="54720" cy="3104280"/>
          </a:xfrm>
          <a:prstGeom prst="rect">
            <a:avLst/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897" name="KpiLabel">
            <a:extLst>
              <a:ext uri="{FF2B5EF4-FFF2-40B4-BE49-F238E27FC236}">
                <a16:creationId xmlns:a16="http://schemas.microsoft.com/office/drawing/2014/main" id="{C4B2F357-380A-4519-AAB7-EC913EA28A4E}"/>
              </a:ext>
            </a:extLst>
          </p:cNvPr>
          <p:cNvSpPr>
            <a:spLocks noGrp="1"/>
          </p:cNvSpPr>
          <p:nvPr/>
        </p:nvSpPr>
        <p:spPr>
          <a:xfrm>
            <a:off x="348480" y="7373880"/>
            <a:ext cx="1460880" cy="10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Sell-Out %</a:t>
            </a:r>
          </a:p>
        </p:txBody>
      </p:sp>
      <p:sp>
        <p:nvSpPr>
          <p:cNvPr id="898" name="KpiValue">
            <a:extLst>
              <a:ext uri="{FF2B5EF4-FFF2-40B4-BE49-F238E27FC236}">
                <a16:creationId xmlns:a16="http://schemas.microsoft.com/office/drawing/2014/main" id="{4A5B4D7B-5A83-4889-92FE-E5FBC2F63FDD}"/>
              </a:ext>
            </a:extLst>
          </p:cNvPr>
          <p:cNvSpPr>
            <a:spLocks noGrp="1"/>
          </p:cNvSpPr>
          <p:nvPr/>
        </p:nvSpPr>
        <p:spPr>
          <a:xfrm>
            <a:off x="348480" y="8525880"/>
            <a:ext cx="1460880" cy="139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E2A500"/>
                </a:solidFill>
                <a:latin typeface="Calibri"/>
                <a:ea typeface="Calibri"/>
                <a:cs typeface="Calibri"/>
              </a:rPr>
              <a:t>83.9%</a:t>
            </a:r>
          </a:p>
        </p:txBody>
      </p:sp>
      <p:sp>
        <p:nvSpPr>
          <p:cNvPr id="899" name="KpiDelta">
            <a:extLst>
              <a:ext uri="{FF2B5EF4-FFF2-40B4-BE49-F238E27FC236}">
                <a16:creationId xmlns:a16="http://schemas.microsoft.com/office/drawing/2014/main" id="{A7972846-2309-4603-B241-23629CED7EA6}"/>
              </a:ext>
            </a:extLst>
          </p:cNvPr>
          <p:cNvSpPr>
            <a:spLocks noGrp="1"/>
          </p:cNvSpPr>
          <p:nvPr/>
        </p:nvSpPr>
        <p:spPr>
          <a:xfrm>
            <a:off x="348480" y="9705600"/>
            <a:ext cx="1460880" cy="62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Gap: Rs 2,188L billed-not-sold</a:t>
            </a:r>
          </a:p>
        </p:txBody>
      </p:sp>
      <p:sp>
        <p:nvSpPr>
          <p:cNvPr id="900" name="CenterTitle">
            <a:extLst>
              <a:ext uri="{FF2B5EF4-FFF2-40B4-BE49-F238E27FC236}">
                <a16:creationId xmlns:a16="http://schemas.microsoft.com/office/drawing/2014/main" id="{73505DED-88A1-467A-9618-B26DB5C4AEE6}"/>
              </a:ext>
            </a:extLst>
          </p:cNvPr>
          <p:cNvSpPr>
            <a:spLocks noGrp="1"/>
          </p:cNvSpPr>
          <p:nvPr/>
        </p:nvSpPr>
        <p:spPr>
          <a:xfrm>
            <a:off x="2080080" y="693360"/>
            <a:ext cx="340236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vs. Offtake — Sell-Out Tracking</a:t>
            </a:r>
          </a:p>
        </p:txBody>
      </p:sp>
      <p:sp>
        <p:nvSpPr>
          <p:cNvPr id="901" name="LegPrimary">
            <a:extLst>
              <a:ext uri="{FF2B5EF4-FFF2-40B4-BE49-F238E27FC236}">
                <a16:creationId xmlns:a16="http://schemas.microsoft.com/office/drawing/2014/main" id="{C832AD69-529E-4BAB-A988-2211B0326B41}"/>
              </a:ext>
            </a:extLst>
          </p:cNvPr>
          <p:cNvSpPr>
            <a:spLocks noGrp="1"/>
          </p:cNvSpPr>
          <p:nvPr/>
        </p:nvSpPr>
        <p:spPr>
          <a:xfrm>
            <a:off x="2080080" y="913320"/>
            <a:ext cx="139680" cy="9972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02" name="LegPrimaryTxt">
            <a:extLst>
              <a:ext uri="{FF2B5EF4-FFF2-40B4-BE49-F238E27FC236}">
                <a16:creationId xmlns:a16="http://schemas.microsoft.com/office/drawing/2014/main" id="{A8F41AAC-5095-4702-BC74-63B2FADC2FF5}"/>
              </a:ext>
            </a:extLst>
          </p:cNvPr>
          <p:cNvSpPr>
            <a:spLocks noGrp="1"/>
          </p:cNvSpPr>
          <p:nvPr/>
        </p:nvSpPr>
        <p:spPr>
          <a:xfrm>
            <a:off x="2250000" y="883440"/>
            <a:ext cx="899640" cy="1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(billed-in)</a:t>
            </a:r>
          </a:p>
        </p:txBody>
      </p:sp>
      <p:sp>
        <p:nvSpPr>
          <p:cNvPr id="903" name="LegOfftake">
            <a:extLst>
              <a:ext uri="{FF2B5EF4-FFF2-40B4-BE49-F238E27FC236}">
                <a16:creationId xmlns:a16="http://schemas.microsoft.com/office/drawing/2014/main" id="{AE6DF86A-C8DA-432D-8B33-6840EBA7323F}"/>
              </a:ext>
            </a:extLst>
          </p:cNvPr>
          <p:cNvSpPr>
            <a:spLocks noGrp="1"/>
          </p:cNvSpPr>
          <p:nvPr/>
        </p:nvSpPr>
        <p:spPr>
          <a:xfrm>
            <a:off x="3380040" y="913320"/>
            <a:ext cx="139680" cy="9972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04" name="LegOfftakeTxt">
            <a:extLst>
              <a:ext uri="{FF2B5EF4-FFF2-40B4-BE49-F238E27FC236}">
                <a16:creationId xmlns:a16="http://schemas.microsoft.com/office/drawing/2014/main" id="{982BFD2D-FE9C-412A-B882-2AA753184495}"/>
              </a:ext>
            </a:extLst>
          </p:cNvPr>
          <p:cNvSpPr>
            <a:spLocks noGrp="1"/>
          </p:cNvSpPr>
          <p:nvPr/>
        </p:nvSpPr>
        <p:spPr>
          <a:xfrm>
            <a:off x="3549960" y="883440"/>
            <a:ext cx="899640" cy="1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Offtake (sold-out)</a:t>
            </a:r>
          </a:p>
        </p:txBody>
      </p:sp>
      <p:sp>
        <p:nvSpPr>
          <p:cNvPr id="905" name="RowLabel">
            <a:extLst>
              <a:ext uri="{FF2B5EF4-FFF2-40B4-BE49-F238E27FC236}">
                <a16:creationId xmlns:a16="http://schemas.microsoft.com/office/drawing/2014/main" id="{E3D648FA-9C9E-4FA5-A1BF-4BDB19C9668D}"/>
              </a:ext>
            </a:extLst>
          </p:cNvPr>
          <p:cNvSpPr>
            <a:spLocks noGrp="1"/>
          </p:cNvSpPr>
          <p:nvPr/>
        </p:nvSpPr>
        <p:spPr>
          <a:xfrm>
            <a:off x="2080080" y="1113480"/>
            <a:ext cx="1020600" cy="461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Q1 FY27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(Apr-Jun26)</a:t>
            </a:r>
          </a:p>
        </p:txBody>
      </p:sp>
      <p:sp>
        <p:nvSpPr>
          <p:cNvPr id="906" name="PrimaryBar">
            <a:extLst>
              <a:ext uri="{FF2B5EF4-FFF2-40B4-BE49-F238E27FC236}">
                <a16:creationId xmlns:a16="http://schemas.microsoft.com/office/drawing/2014/main" id="{B4A30C2B-67EA-4CF0-A4C7-EA657AA7079D}"/>
              </a:ext>
            </a:extLst>
          </p:cNvPr>
          <p:cNvSpPr>
            <a:spLocks noGrp="1"/>
          </p:cNvSpPr>
          <p:nvPr/>
        </p:nvSpPr>
        <p:spPr>
          <a:xfrm>
            <a:off x="3141000" y="1390320"/>
            <a:ext cx="1721520" cy="147744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07" name="PrimaryVal">
            <a:extLst>
              <a:ext uri="{FF2B5EF4-FFF2-40B4-BE49-F238E27FC236}">
                <a16:creationId xmlns:a16="http://schemas.microsoft.com/office/drawing/2014/main" id="{AD909EAF-9D06-4058-BEB4-B6DA37A4B65E}"/>
              </a:ext>
            </a:extLst>
          </p:cNvPr>
          <p:cNvSpPr>
            <a:spLocks noGrp="1"/>
          </p:cNvSpPr>
          <p:nvPr/>
        </p:nvSpPr>
        <p:spPr>
          <a:xfrm>
            <a:off x="4892760" y="1205640"/>
            <a:ext cx="619560" cy="151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13,625L</a:t>
            </a:r>
          </a:p>
        </p:txBody>
      </p:sp>
      <p:sp>
        <p:nvSpPr>
          <p:cNvPr id="908" name="OfftakeBar">
            <a:extLst>
              <a:ext uri="{FF2B5EF4-FFF2-40B4-BE49-F238E27FC236}">
                <a16:creationId xmlns:a16="http://schemas.microsoft.com/office/drawing/2014/main" id="{CE0DB694-A579-4BDF-9F28-CB5DB6AC519C}"/>
              </a:ext>
            </a:extLst>
          </p:cNvPr>
          <p:cNvSpPr>
            <a:spLocks noGrp="1"/>
          </p:cNvSpPr>
          <p:nvPr/>
        </p:nvSpPr>
        <p:spPr>
          <a:xfrm>
            <a:off x="3141000" y="3514680"/>
            <a:ext cx="1445040" cy="147744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09" name="OfftakeVal">
            <a:extLst>
              <a:ext uri="{FF2B5EF4-FFF2-40B4-BE49-F238E27FC236}">
                <a16:creationId xmlns:a16="http://schemas.microsoft.com/office/drawing/2014/main" id="{E7858338-EE5D-44E7-A0C8-08517589109B}"/>
              </a:ext>
            </a:extLst>
          </p:cNvPr>
          <p:cNvSpPr>
            <a:spLocks noGrp="1"/>
          </p:cNvSpPr>
          <p:nvPr/>
        </p:nvSpPr>
        <p:spPr>
          <a:xfrm>
            <a:off x="4616280" y="3330000"/>
            <a:ext cx="619560" cy="151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11,436L</a:t>
            </a:r>
          </a:p>
        </p:txBody>
      </p:sp>
      <p:sp>
        <p:nvSpPr>
          <p:cNvPr id="910" name="SOChip">
            <a:extLst>
              <a:ext uri="{FF2B5EF4-FFF2-40B4-BE49-F238E27FC236}">
                <a16:creationId xmlns:a16="http://schemas.microsoft.com/office/drawing/2014/main" id="{0295208C-37A8-4438-A3BC-C8B9B65BAF9A}"/>
              </a:ext>
            </a:extLst>
          </p:cNvPr>
          <p:cNvSpPr>
            <a:spLocks noGrp="1"/>
          </p:cNvSpPr>
          <p:nvPr/>
        </p:nvSpPr>
        <p:spPr>
          <a:xfrm>
            <a:off x="4923000" y="1806120"/>
            <a:ext cx="559800" cy="323208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11" name="SOChipTxt">
            <a:extLst>
              <a:ext uri="{FF2B5EF4-FFF2-40B4-BE49-F238E27FC236}">
                <a16:creationId xmlns:a16="http://schemas.microsoft.com/office/drawing/2014/main" id="{ADB0DA65-951F-4184-9019-4BA75E316A4F}"/>
              </a:ext>
            </a:extLst>
          </p:cNvPr>
          <p:cNvSpPr>
            <a:spLocks noGrp="1"/>
          </p:cNvSpPr>
          <p:nvPr/>
        </p:nvSpPr>
        <p:spPr>
          <a:xfrm>
            <a:off x="4923000" y="1806120"/>
            <a:ext cx="559800" cy="323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84%</a:t>
            </a:r>
          </a:p>
        </p:txBody>
      </p:sp>
      <p:sp>
        <p:nvSpPr>
          <p:cNvPr id="912" name="RowLabel">
            <a:extLst>
              <a:ext uri="{FF2B5EF4-FFF2-40B4-BE49-F238E27FC236}">
                <a16:creationId xmlns:a16="http://schemas.microsoft.com/office/drawing/2014/main" id="{3FCB5FD2-2222-43A6-AACD-A2E0A43C7DAC}"/>
              </a:ext>
            </a:extLst>
          </p:cNvPr>
          <p:cNvSpPr>
            <a:spLocks noGrp="1"/>
          </p:cNvSpPr>
          <p:nvPr/>
        </p:nvSpPr>
        <p:spPr>
          <a:xfrm>
            <a:off x="2080080" y="5771160"/>
            <a:ext cx="1020600" cy="461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Jun'26</a:t>
            </a:r>
          </a:p>
        </p:txBody>
      </p:sp>
      <p:sp>
        <p:nvSpPr>
          <p:cNvPr id="913" name="PrimaryBar">
            <a:extLst>
              <a:ext uri="{FF2B5EF4-FFF2-40B4-BE49-F238E27FC236}">
                <a16:creationId xmlns:a16="http://schemas.microsoft.com/office/drawing/2014/main" id="{A1A13C45-3FBA-4E3B-91CD-1585EE64EBD0}"/>
              </a:ext>
            </a:extLst>
          </p:cNvPr>
          <p:cNvSpPr>
            <a:spLocks noGrp="1"/>
          </p:cNvSpPr>
          <p:nvPr/>
        </p:nvSpPr>
        <p:spPr>
          <a:xfrm>
            <a:off x="3141000" y="6048000"/>
            <a:ext cx="525960" cy="147744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14" name="PrimaryVal">
            <a:extLst>
              <a:ext uri="{FF2B5EF4-FFF2-40B4-BE49-F238E27FC236}">
                <a16:creationId xmlns:a16="http://schemas.microsoft.com/office/drawing/2014/main" id="{61FDF1C4-7187-4BB3-98F0-E70D3C628DF3}"/>
              </a:ext>
            </a:extLst>
          </p:cNvPr>
          <p:cNvSpPr>
            <a:spLocks noGrp="1"/>
          </p:cNvSpPr>
          <p:nvPr/>
        </p:nvSpPr>
        <p:spPr>
          <a:xfrm>
            <a:off x="3697200" y="5863320"/>
            <a:ext cx="619560" cy="151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4,163L</a:t>
            </a:r>
          </a:p>
        </p:txBody>
      </p:sp>
      <p:sp>
        <p:nvSpPr>
          <p:cNvPr id="915" name="OfftakeBar">
            <a:extLst>
              <a:ext uri="{FF2B5EF4-FFF2-40B4-BE49-F238E27FC236}">
                <a16:creationId xmlns:a16="http://schemas.microsoft.com/office/drawing/2014/main" id="{5DA097A3-F2BE-4D86-ADEE-CEFC7042D31C}"/>
              </a:ext>
            </a:extLst>
          </p:cNvPr>
          <p:cNvSpPr>
            <a:spLocks noGrp="1"/>
          </p:cNvSpPr>
          <p:nvPr/>
        </p:nvSpPr>
        <p:spPr>
          <a:xfrm>
            <a:off x="3141000" y="8172360"/>
            <a:ext cx="482760" cy="147744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16" name="OfftakeVal">
            <a:extLst>
              <a:ext uri="{FF2B5EF4-FFF2-40B4-BE49-F238E27FC236}">
                <a16:creationId xmlns:a16="http://schemas.microsoft.com/office/drawing/2014/main" id="{1F3F91FC-CC85-4A3D-B3CB-46BD5C7DAEFB}"/>
              </a:ext>
            </a:extLst>
          </p:cNvPr>
          <p:cNvSpPr>
            <a:spLocks noGrp="1"/>
          </p:cNvSpPr>
          <p:nvPr/>
        </p:nvSpPr>
        <p:spPr>
          <a:xfrm>
            <a:off x="3654000" y="7987320"/>
            <a:ext cx="619560" cy="151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3,823L</a:t>
            </a:r>
          </a:p>
        </p:txBody>
      </p:sp>
      <p:sp>
        <p:nvSpPr>
          <p:cNvPr id="917" name="SOChip">
            <a:extLst>
              <a:ext uri="{FF2B5EF4-FFF2-40B4-BE49-F238E27FC236}">
                <a16:creationId xmlns:a16="http://schemas.microsoft.com/office/drawing/2014/main" id="{2D196577-6735-4CC0-ACB4-04856AC2C001}"/>
              </a:ext>
            </a:extLst>
          </p:cNvPr>
          <p:cNvSpPr>
            <a:spLocks noGrp="1"/>
          </p:cNvSpPr>
          <p:nvPr/>
        </p:nvSpPr>
        <p:spPr>
          <a:xfrm>
            <a:off x="4923000" y="6463800"/>
            <a:ext cx="559800" cy="3232080"/>
          </a:xfrm>
          <a:prstGeom prst="roundRect">
            <a:avLst>
              <a:gd name="adj" fmla="val 5000"/>
            </a:avLst>
          </a:prstGeom>
          <a:solidFill>
            <a:srgbClr val="1F7A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18" name="SOChipTxt">
            <a:extLst>
              <a:ext uri="{FF2B5EF4-FFF2-40B4-BE49-F238E27FC236}">
                <a16:creationId xmlns:a16="http://schemas.microsoft.com/office/drawing/2014/main" id="{D718C4E3-B376-41D5-846D-2E3AB5B7E82D}"/>
              </a:ext>
            </a:extLst>
          </p:cNvPr>
          <p:cNvSpPr>
            <a:spLocks noGrp="1"/>
          </p:cNvSpPr>
          <p:nvPr/>
        </p:nvSpPr>
        <p:spPr>
          <a:xfrm>
            <a:off x="4923000" y="6463800"/>
            <a:ext cx="559800" cy="323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92%</a:t>
            </a:r>
          </a:p>
        </p:txBody>
      </p:sp>
      <p:sp>
        <p:nvSpPr>
          <p:cNvPr id="919" name="SCRBox">
            <a:extLst>
              <a:ext uri="{FF2B5EF4-FFF2-40B4-BE49-F238E27FC236}">
                <a16:creationId xmlns:a16="http://schemas.microsoft.com/office/drawing/2014/main" id="{7F8E49F0-71DE-4BF2-A6B1-3B6B5F3DE3D9}"/>
              </a:ext>
            </a:extLst>
          </p:cNvPr>
          <p:cNvSpPr>
            <a:spLocks noGrp="1"/>
          </p:cNvSpPr>
          <p:nvPr/>
        </p:nvSpPr>
        <p:spPr>
          <a:xfrm>
            <a:off x="5632920" y="693360"/>
            <a:ext cx="1701000" cy="969480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SITUATION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Q1 FY27: Primary Rs13,625L vs Offtake Rs11,436L - Sell-Out 83.9%.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COMPLICATION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Rs2,188L billed but not yet sold-through - trade inventory is building faster than consumer offtake.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RESOLUTION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Slow Q2 primary billing pace vs Q1 to let channel inventory normalize; prioritize sell-out schemes.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0" name="Footnote">
            <a:extLst>
              <a:ext uri="{FF2B5EF4-FFF2-40B4-BE49-F238E27FC236}">
                <a16:creationId xmlns:a16="http://schemas.microsoft.com/office/drawing/2014/main" id="{613E9814-67FD-4E1C-B1C3-B28D9A769CC5}"/>
              </a:ext>
            </a:extLst>
          </p:cNvPr>
          <p:cNvSpPr>
            <a:spLocks noGrp="1"/>
          </p:cNvSpPr>
          <p:nvPr/>
        </p:nvSpPr>
        <p:spPr>
          <a:xfrm>
            <a:off x="228600" y="10408680"/>
            <a:ext cx="7105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Sell-Out % = Offtake / Primary Billing x 100. Matched universe = chains present in both Primary and Offtake reporting (see Chain_Mapping sheet).</a:t>
            </a:r>
          </a:p>
        </p:txBody>
      </p:sp>
    </p:spTree>
    <p:extLst>
      <p:ext uri="{BB962C8B-B14F-4D97-AF65-F5344CB8AC3E}">
        <p14:creationId xmlns:p14="http://schemas.microsoft.com/office/powerpoint/2010/main" val="356539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HeaderBg">
            <a:extLst>
              <a:ext uri="{FF2B5EF4-FFF2-40B4-BE49-F238E27FC236}">
                <a16:creationId xmlns:a16="http://schemas.microsoft.com/office/drawing/2014/main" id="{791643B2-7168-44AC-9C62-C60FDD0F4C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520" cy="502560"/>
          </a:xfrm>
          <a:prstGeom prst="rect">
            <a:avLst/>
          </a:prstGeom>
          <a:solidFill>
            <a:srgbClr val="2D9B7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22" name="BrandAnchor">
            <a:extLst>
              <a:ext uri="{FF2B5EF4-FFF2-40B4-BE49-F238E27FC236}">
                <a16:creationId xmlns:a16="http://schemas.microsoft.com/office/drawing/2014/main" id="{8305013D-E5FC-450F-B784-0CA00350261D}"/>
              </a:ext>
            </a:extLst>
          </p:cNvPr>
          <p:cNvSpPr>
            <a:spLocks noGrp="1"/>
          </p:cNvSpPr>
          <p:nvPr/>
        </p:nvSpPr>
        <p:spPr>
          <a:xfrm>
            <a:off x="228600" y="60120"/>
            <a:ext cx="710532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BDD7EE"/>
                </a:solidFill>
                <a:latin typeface="Calibri"/>
                <a:ea typeface="Calibri"/>
                <a:cs typeface="Calibri"/>
              </a:rPr>
              <a:t>Portfolio | All Categories | Chain-Level Deep Dive</a:t>
            </a:r>
          </a:p>
        </p:txBody>
      </p:sp>
      <p:sp>
        <p:nvSpPr>
          <p:cNvPr id="923" name="Title">
            <a:extLst>
              <a:ext uri="{FF2B5EF4-FFF2-40B4-BE49-F238E27FC236}">
                <a16:creationId xmlns:a16="http://schemas.microsoft.com/office/drawing/2014/main" id="{805BDAB3-65DC-4300-B57B-5D44EABA0E61}"/>
              </a:ext>
            </a:extLst>
          </p:cNvPr>
          <p:cNvSpPr>
            <a:spLocks noGrp="1"/>
          </p:cNvSpPr>
          <p:nvPr/>
        </p:nvSpPr>
        <p:spPr>
          <a:xfrm>
            <a:off x="228600" y="200160"/>
            <a:ext cx="7105320" cy="2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Primary vs. Offtake Sell-Out — Chain / KAM View</a:t>
            </a:r>
          </a:p>
        </p:txBody>
      </p:sp>
      <p:sp>
        <p:nvSpPr>
          <p:cNvPr id="924" name="Subtitle">
            <a:extLst>
              <a:ext uri="{FF2B5EF4-FFF2-40B4-BE49-F238E27FC236}">
                <a16:creationId xmlns:a16="http://schemas.microsoft.com/office/drawing/2014/main" id="{91CB2E20-77D9-4A1C-B1AA-EC94C0B8DC98}"/>
              </a:ext>
            </a:extLst>
          </p:cNvPr>
          <p:cNvSpPr>
            <a:spLocks noGrp="1"/>
          </p:cNvSpPr>
          <p:nvPr/>
        </p:nvSpPr>
        <p:spPr>
          <a:xfrm>
            <a:off x="228600" y="380160"/>
            <a:ext cx="7105320" cy="13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D9E2F3"/>
                </a:solidFill>
                <a:latin typeface="Calibri"/>
                <a:ea typeface="Calibri"/>
                <a:cs typeface="Calibri"/>
              </a:rPr>
              <a:t>Q1 FY26-27 (Apr-Jun'26) | Key accounts: Dmart, Reliance, Apollo + top format chains</a:t>
            </a:r>
          </a:p>
        </p:txBody>
      </p:sp>
      <p:sp>
        <p:nvSpPr>
          <p:cNvPr id="925" name="KpiTile">
            <a:extLst>
              <a:ext uri="{FF2B5EF4-FFF2-40B4-BE49-F238E27FC236}">
                <a16:creationId xmlns:a16="http://schemas.microsoft.com/office/drawing/2014/main" id="{52954F6A-AA53-44A1-83A3-99FC1E7F2A4E}"/>
              </a:ext>
            </a:extLst>
          </p:cNvPr>
          <p:cNvSpPr>
            <a:spLocks noGrp="1"/>
          </p:cNvSpPr>
          <p:nvPr/>
        </p:nvSpPr>
        <p:spPr>
          <a:xfrm>
            <a:off x="228600" y="693360"/>
            <a:ext cx="1701000" cy="3104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26" name="KpiAccent">
            <a:extLst>
              <a:ext uri="{FF2B5EF4-FFF2-40B4-BE49-F238E27FC236}">
                <a16:creationId xmlns:a16="http://schemas.microsoft.com/office/drawing/2014/main" id="{6346E0A2-7F61-4EDF-86E6-16E411688882}"/>
              </a:ext>
            </a:extLst>
          </p:cNvPr>
          <p:cNvSpPr>
            <a:spLocks noGrp="1"/>
          </p:cNvSpPr>
          <p:nvPr/>
        </p:nvSpPr>
        <p:spPr>
          <a:xfrm>
            <a:off x="228600" y="693360"/>
            <a:ext cx="54720" cy="310428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27" name="KpiLabel">
            <a:extLst>
              <a:ext uri="{FF2B5EF4-FFF2-40B4-BE49-F238E27FC236}">
                <a16:creationId xmlns:a16="http://schemas.microsoft.com/office/drawing/2014/main" id="{5091A015-96A6-49A8-BA0F-C289D26EDB45}"/>
              </a:ext>
            </a:extLst>
          </p:cNvPr>
          <p:cNvSpPr>
            <a:spLocks noGrp="1"/>
          </p:cNvSpPr>
          <p:nvPr/>
        </p:nvSpPr>
        <p:spPr>
          <a:xfrm>
            <a:off x="348480" y="783360"/>
            <a:ext cx="1460880" cy="10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Weakest Sell-Out (Q1)</a:t>
            </a:r>
          </a:p>
        </p:txBody>
      </p:sp>
      <p:sp>
        <p:nvSpPr>
          <p:cNvPr id="928" name="KpiValue">
            <a:extLst>
              <a:ext uri="{FF2B5EF4-FFF2-40B4-BE49-F238E27FC236}">
                <a16:creationId xmlns:a16="http://schemas.microsoft.com/office/drawing/2014/main" id="{5CB70F43-6AFE-4BA4-A060-4EE58147616B}"/>
              </a:ext>
            </a:extLst>
          </p:cNvPr>
          <p:cNvSpPr>
            <a:spLocks noGrp="1"/>
          </p:cNvSpPr>
          <p:nvPr/>
        </p:nvSpPr>
        <p:spPr>
          <a:xfrm>
            <a:off x="348480" y="1935360"/>
            <a:ext cx="1460880" cy="139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Dmart 77%</a:t>
            </a:r>
          </a:p>
        </p:txBody>
      </p:sp>
      <p:sp>
        <p:nvSpPr>
          <p:cNvPr id="929" name="KpiDelta">
            <a:extLst>
              <a:ext uri="{FF2B5EF4-FFF2-40B4-BE49-F238E27FC236}">
                <a16:creationId xmlns:a16="http://schemas.microsoft.com/office/drawing/2014/main" id="{AFEB2B84-3915-4592-8D6B-87BEB3BEAFF3}"/>
              </a:ext>
            </a:extLst>
          </p:cNvPr>
          <p:cNvSpPr>
            <a:spLocks noGrp="1"/>
          </p:cNvSpPr>
          <p:nvPr/>
        </p:nvSpPr>
        <p:spPr>
          <a:xfrm>
            <a:off x="348480" y="3115080"/>
            <a:ext cx="1460880" cy="62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Rs5,527L vs Offtake Rs4,232L</a:t>
            </a:r>
          </a:p>
        </p:txBody>
      </p:sp>
      <p:sp>
        <p:nvSpPr>
          <p:cNvPr id="930" name="KpiTile">
            <a:extLst>
              <a:ext uri="{FF2B5EF4-FFF2-40B4-BE49-F238E27FC236}">
                <a16:creationId xmlns:a16="http://schemas.microsoft.com/office/drawing/2014/main" id="{D0A73EB1-23D9-444E-BD61-DF4F6F3AF542}"/>
              </a:ext>
            </a:extLst>
          </p:cNvPr>
          <p:cNvSpPr>
            <a:spLocks noGrp="1"/>
          </p:cNvSpPr>
          <p:nvPr/>
        </p:nvSpPr>
        <p:spPr>
          <a:xfrm>
            <a:off x="228600" y="3988800"/>
            <a:ext cx="1701000" cy="3104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31" name="KpiAccent">
            <a:extLst>
              <a:ext uri="{FF2B5EF4-FFF2-40B4-BE49-F238E27FC236}">
                <a16:creationId xmlns:a16="http://schemas.microsoft.com/office/drawing/2014/main" id="{3DE1407A-8FFE-4601-BF79-FA8BE000F5C0}"/>
              </a:ext>
            </a:extLst>
          </p:cNvPr>
          <p:cNvSpPr>
            <a:spLocks noGrp="1"/>
          </p:cNvSpPr>
          <p:nvPr/>
        </p:nvSpPr>
        <p:spPr>
          <a:xfrm>
            <a:off x="228600" y="3988800"/>
            <a:ext cx="54720" cy="310428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32" name="KpiLabel">
            <a:extLst>
              <a:ext uri="{FF2B5EF4-FFF2-40B4-BE49-F238E27FC236}">
                <a16:creationId xmlns:a16="http://schemas.microsoft.com/office/drawing/2014/main" id="{11CD27D0-6C16-418D-8B90-6BE16959E6E3}"/>
              </a:ext>
            </a:extLst>
          </p:cNvPr>
          <p:cNvSpPr>
            <a:spLocks noGrp="1"/>
          </p:cNvSpPr>
          <p:nvPr/>
        </p:nvSpPr>
        <p:spPr>
          <a:xfrm>
            <a:off x="348480" y="4078800"/>
            <a:ext cx="1460880" cy="10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OOS Risk Flag (Q1)</a:t>
            </a:r>
          </a:p>
        </p:txBody>
      </p:sp>
      <p:sp>
        <p:nvSpPr>
          <p:cNvPr id="933" name="KpiValue">
            <a:extLst>
              <a:ext uri="{FF2B5EF4-FFF2-40B4-BE49-F238E27FC236}">
                <a16:creationId xmlns:a16="http://schemas.microsoft.com/office/drawing/2014/main" id="{69FF2D0F-0379-4BB2-83AC-9229341B783B}"/>
              </a:ext>
            </a:extLst>
          </p:cNvPr>
          <p:cNvSpPr>
            <a:spLocks noGrp="1"/>
          </p:cNvSpPr>
          <p:nvPr/>
        </p:nvSpPr>
        <p:spPr>
          <a:xfrm>
            <a:off x="348480" y="5230440"/>
            <a:ext cx="1460880" cy="139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Metro Cnc 152%</a:t>
            </a:r>
          </a:p>
        </p:txBody>
      </p:sp>
      <p:sp>
        <p:nvSpPr>
          <p:cNvPr id="934" name="KpiDelta">
            <a:extLst>
              <a:ext uri="{FF2B5EF4-FFF2-40B4-BE49-F238E27FC236}">
                <a16:creationId xmlns:a16="http://schemas.microsoft.com/office/drawing/2014/main" id="{DD502E81-2EE9-4709-9261-6CE0C81FACE7}"/>
              </a:ext>
            </a:extLst>
          </p:cNvPr>
          <p:cNvSpPr>
            <a:spLocks noGrp="1"/>
          </p:cNvSpPr>
          <p:nvPr/>
        </p:nvSpPr>
        <p:spPr>
          <a:xfrm>
            <a:off x="348480" y="6410520"/>
            <a:ext cx="1460880" cy="62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Offtake exceeds Primary - stock depleting</a:t>
            </a:r>
          </a:p>
        </p:txBody>
      </p:sp>
      <p:sp>
        <p:nvSpPr>
          <p:cNvPr id="935" name="KpiTile">
            <a:extLst>
              <a:ext uri="{FF2B5EF4-FFF2-40B4-BE49-F238E27FC236}">
                <a16:creationId xmlns:a16="http://schemas.microsoft.com/office/drawing/2014/main" id="{ABAC8CF2-E93C-4681-8E53-3EB3D806EC1B}"/>
              </a:ext>
            </a:extLst>
          </p:cNvPr>
          <p:cNvSpPr>
            <a:spLocks noGrp="1"/>
          </p:cNvSpPr>
          <p:nvPr/>
        </p:nvSpPr>
        <p:spPr>
          <a:xfrm>
            <a:off x="228600" y="7283880"/>
            <a:ext cx="1701000" cy="3104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36" name="KpiAccent">
            <a:extLst>
              <a:ext uri="{FF2B5EF4-FFF2-40B4-BE49-F238E27FC236}">
                <a16:creationId xmlns:a16="http://schemas.microsoft.com/office/drawing/2014/main" id="{2E68F1B2-C4DD-4EA3-8F4D-8E59781B4CFB}"/>
              </a:ext>
            </a:extLst>
          </p:cNvPr>
          <p:cNvSpPr>
            <a:spLocks noGrp="1"/>
          </p:cNvSpPr>
          <p:nvPr/>
        </p:nvSpPr>
        <p:spPr>
          <a:xfrm>
            <a:off x="228600" y="7283880"/>
            <a:ext cx="54720" cy="3104280"/>
          </a:xfrm>
          <a:prstGeom prst="rect">
            <a:avLst/>
          </a:prstGeom>
          <a:solidFill>
            <a:srgbClr val="1F7A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37" name="KpiLabel">
            <a:extLst>
              <a:ext uri="{FF2B5EF4-FFF2-40B4-BE49-F238E27FC236}">
                <a16:creationId xmlns:a16="http://schemas.microsoft.com/office/drawing/2014/main" id="{36C3A68D-3F8E-415C-ADAD-5064E108AC92}"/>
              </a:ext>
            </a:extLst>
          </p:cNvPr>
          <p:cNvSpPr>
            <a:spLocks noGrp="1"/>
          </p:cNvSpPr>
          <p:nvPr/>
        </p:nvSpPr>
        <p:spPr>
          <a:xfrm>
            <a:off x="348480" y="7373880"/>
            <a:ext cx="1460880" cy="10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Healthiest Large KAM</a:t>
            </a:r>
          </a:p>
        </p:txBody>
      </p:sp>
      <p:sp>
        <p:nvSpPr>
          <p:cNvPr id="938" name="KpiValue">
            <a:extLst>
              <a:ext uri="{FF2B5EF4-FFF2-40B4-BE49-F238E27FC236}">
                <a16:creationId xmlns:a16="http://schemas.microsoft.com/office/drawing/2014/main" id="{33D64A6D-B952-4226-AC59-294A1738F23F}"/>
              </a:ext>
            </a:extLst>
          </p:cNvPr>
          <p:cNvSpPr>
            <a:spLocks noGrp="1"/>
          </p:cNvSpPr>
          <p:nvPr/>
        </p:nvSpPr>
        <p:spPr>
          <a:xfrm>
            <a:off x="348480" y="8525880"/>
            <a:ext cx="1460880" cy="139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Reliance 92%</a:t>
            </a:r>
          </a:p>
        </p:txBody>
      </p:sp>
      <p:sp>
        <p:nvSpPr>
          <p:cNvPr id="939" name="KpiDelta">
            <a:extLst>
              <a:ext uri="{FF2B5EF4-FFF2-40B4-BE49-F238E27FC236}">
                <a16:creationId xmlns:a16="http://schemas.microsoft.com/office/drawing/2014/main" id="{65BF0488-E545-45D5-9C34-DA9A979E11B8}"/>
              </a:ext>
            </a:extLst>
          </p:cNvPr>
          <p:cNvSpPr>
            <a:spLocks noGrp="1"/>
          </p:cNvSpPr>
          <p:nvPr/>
        </p:nvSpPr>
        <p:spPr>
          <a:xfrm>
            <a:off x="348480" y="9705600"/>
            <a:ext cx="1460880" cy="62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Rs3,047L vs Offtake Rs2,806L</a:t>
            </a:r>
          </a:p>
        </p:txBody>
      </p:sp>
      <p:sp>
        <p:nvSpPr>
          <p:cNvPr id="940" name="CenterTitle">
            <a:extLst>
              <a:ext uri="{FF2B5EF4-FFF2-40B4-BE49-F238E27FC236}">
                <a16:creationId xmlns:a16="http://schemas.microsoft.com/office/drawing/2014/main" id="{FE40FA82-B37C-40E3-8D68-D6CB5E4ECED7}"/>
              </a:ext>
            </a:extLst>
          </p:cNvPr>
          <p:cNvSpPr>
            <a:spLocks noGrp="1"/>
          </p:cNvSpPr>
          <p:nvPr/>
        </p:nvSpPr>
        <p:spPr>
          <a:xfrm>
            <a:off x="2080080" y="693360"/>
            <a:ext cx="340236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vs. Offtake — Sell-Out Tracking</a:t>
            </a:r>
          </a:p>
        </p:txBody>
      </p:sp>
      <p:sp>
        <p:nvSpPr>
          <p:cNvPr id="941" name="LegPrimary">
            <a:extLst>
              <a:ext uri="{FF2B5EF4-FFF2-40B4-BE49-F238E27FC236}">
                <a16:creationId xmlns:a16="http://schemas.microsoft.com/office/drawing/2014/main" id="{0B9F78D3-810D-4DE0-91A1-BFE170FE6D19}"/>
              </a:ext>
            </a:extLst>
          </p:cNvPr>
          <p:cNvSpPr>
            <a:spLocks noGrp="1"/>
          </p:cNvSpPr>
          <p:nvPr/>
        </p:nvSpPr>
        <p:spPr>
          <a:xfrm>
            <a:off x="2080080" y="913320"/>
            <a:ext cx="139680" cy="9972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42" name="LegPrimaryTxt">
            <a:extLst>
              <a:ext uri="{FF2B5EF4-FFF2-40B4-BE49-F238E27FC236}">
                <a16:creationId xmlns:a16="http://schemas.microsoft.com/office/drawing/2014/main" id="{8FF131B3-62E9-4FE0-BCCB-752165E6E6E1}"/>
              </a:ext>
            </a:extLst>
          </p:cNvPr>
          <p:cNvSpPr>
            <a:spLocks noGrp="1"/>
          </p:cNvSpPr>
          <p:nvPr/>
        </p:nvSpPr>
        <p:spPr>
          <a:xfrm>
            <a:off x="2250000" y="883440"/>
            <a:ext cx="899640" cy="1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Primary (billed-in)</a:t>
            </a:r>
          </a:p>
        </p:txBody>
      </p:sp>
      <p:sp>
        <p:nvSpPr>
          <p:cNvPr id="943" name="LegOfftake">
            <a:extLst>
              <a:ext uri="{FF2B5EF4-FFF2-40B4-BE49-F238E27FC236}">
                <a16:creationId xmlns:a16="http://schemas.microsoft.com/office/drawing/2014/main" id="{F0C3F121-FEB7-4CDE-927B-933072C40C06}"/>
              </a:ext>
            </a:extLst>
          </p:cNvPr>
          <p:cNvSpPr>
            <a:spLocks noGrp="1"/>
          </p:cNvSpPr>
          <p:nvPr/>
        </p:nvSpPr>
        <p:spPr>
          <a:xfrm>
            <a:off x="3380040" y="913320"/>
            <a:ext cx="139680" cy="9972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44" name="LegOfftakeTxt">
            <a:extLst>
              <a:ext uri="{FF2B5EF4-FFF2-40B4-BE49-F238E27FC236}">
                <a16:creationId xmlns:a16="http://schemas.microsoft.com/office/drawing/2014/main" id="{E2DFE7E4-A342-4D6E-9AEA-12AE043FC890}"/>
              </a:ext>
            </a:extLst>
          </p:cNvPr>
          <p:cNvSpPr>
            <a:spLocks noGrp="1"/>
          </p:cNvSpPr>
          <p:nvPr/>
        </p:nvSpPr>
        <p:spPr>
          <a:xfrm>
            <a:off x="3549960" y="883440"/>
            <a:ext cx="899640" cy="15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Offtake (sold-out)</a:t>
            </a:r>
          </a:p>
        </p:txBody>
      </p:sp>
      <p:sp>
        <p:nvSpPr>
          <p:cNvPr id="945" name="RowLabel">
            <a:extLst>
              <a:ext uri="{FF2B5EF4-FFF2-40B4-BE49-F238E27FC236}">
                <a16:creationId xmlns:a16="http://schemas.microsoft.com/office/drawing/2014/main" id="{ABFB2609-CFE2-49F5-8786-0435FDD67ECC}"/>
              </a:ext>
            </a:extLst>
          </p:cNvPr>
          <p:cNvSpPr>
            <a:spLocks noGrp="1"/>
          </p:cNvSpPr>
          <p:nvPr/>
        </p:nvSpPr>
        <p:spPr>
          <a:xfrm>
            <a:off x="2080080" y="1113480"/>
            <a:ext cx="1020600" cy="151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Dmart</a:t>
            </a:r>
          </a:p>
        </p:txBody>
      </p:sp>
      <p:sp>
        <p:nvSpPr>
          <p:cNvPr id="946" name="PrimaryBar">
            <a:extLst>
              <a:ext uri="{FF2B5EF4-FFF2-40B4-BE49-F238E27FC236}">
                <a16:creationId xmlns:a16="http://schemas.microsoft.com/office/drawing/2014/main" id="{7365189F-1D15-44A4-903A-FC8EEDB6E958}"/>
              </a:ext>
            </a:extLst>
          </p:cNvPr>
          <p:cNvSpPr>
            <a:spLocks noGrp="1"/>
          </p:cNvSpPr>
          <p:nvPr/>
        </p:nvSpPr>
        <p:spPr>
          <a:xfrm>
            <a:off x="3141000" y="1204200"/>
            <a:ext cx="1721520" cy="48348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47" name="PrimaryVal">
            <a:extLst>
              <a:ext uri="{FF2B5EF4-FFF2-40B4-BE49-F238E27FC236}">
                <a16:creationId xmlns:a16="http://schemas.microsoft.com/office/drawing/2014/main" id="{5B35A35B-3F6F-4E51-AABE-F428FB9B15B7}"/>
              </a:ext>
            </a:extLst>
          </p:cNvPr>
          <p:cNvSpPr>
            <a:spLocks noGrp="1"/>
          </p:cNvSpPr>
          <p:nvPr/>
        </p:nvSpPr>
        <p:spPr>
          <a:xfrm>
            <a:off x="4892760" y="114372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5,527L</a:t>
            </a:r>
          </a:p>
        </p:txBody>
      </p:sp>
      <p:sp>
        <p:nvSpPr>
          <p:cNvPr id="948" name="OfftakeBar">
            <a:extLst>
              <a:ext uri="{FF2B5EF4-FFF2-40B4-BE49-F238E27FC236}">
                <a16:creationId xmlns:a16="http://schemas.microsoft.com/office/drawing/2014/main" id="{60680C6E-9FBB-4085-B4D2-AA1AAFBF427B}"/>
              </a:ext>
            </a:extLst>
          </p:cNvPr>
          <p:cNvSpPr>
            <a:spLocks noGrp="1"/>
          </p:cNvSpPr>
          <p:nvPr/>
        </p:nvSpPr>
        <p:spPr>
          <a:xfrm>
            <a:off x="3141000" y="1900080"/>
            <a:ext cx="1317960" cy="48348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49" name="OfftakeVal">
            <a:extLst>
              <a:ext uri="{FF2B5EF4-FFF2-40B4-BE49-F238E27FC236}">
                <a16:creationId xmlns:a16="http://schemas.microsoft.com/office/drawing/2014/main" id="{87169A55-E3C2-4364-826D-274A6D23D414}"/>
              </a:ext>
            </a:extLst>
          </p:cNvPr>
          <p:cNvSpPr>
            <a:spLocks noGrp="1"/>
          </p:cNvSpPr>
          <p:nvPr/>
        </p:nvSpPr>
        <p:spPr>
          <a:xfrm>
            <a:off x="4489200" y="183960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4,232L</a:t>
            </a:r>
          </a:p>
        </p:txBody>
      </p:sp>
      <p:sp>
        <p:nvSpPr>
          <p:cNvPr id="950" name="SOChip">
            <a:extLst>
              <a:ext uri="{FF2B5EF4-FFF2-40B4-BE49-F238E27FC236}">
                <a16:creationId xmlns:a16="http://schemas.microsoft.com/office/drawing/2014/main" id="{A8864DD4-B44C-4D77-AEB0-CA732600D600}"/>
              </a:ext>
            </a:extLst>
          </p:cNvPr>
          <p:cNvSpPr>
            <a:spLocks noGrp="1"/>
          </p:cNvSpPr>
          <p:nvPr/>
        </p:nvSpPr>
        <p:spPr>
          <a:xfrm>
            <a:off x="4923000" y="1340280"/>
            <a:ext cx="559800" cy="105840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51" name="SOChipTxt">
            <a:extLst>
              <a:ext uri="{FF2B5EF4-FFF2-40B4-BE49-F238E27FC236}">
                <a16:creationId xmlns:a16="http://schemas.microsoft.com/office/drawing/2014/main" id="{A84D3107-40BF-4E9B-A3C7-2EE75FB8D849}"/>
              </a:ext>
            </a:extLst>
          </p:cNvPr>
          <p:cNvSpPr>
            <a:spLocks noGrp="1"/>
          </p:cNvSpPr>
          <p:nvPr/>
        </p:nvSpPr>
        <p:spPr>
          <a:xfrm>
            <a:off x="4923000" y="1340280"/>
            <a:ext cx="559800" cy="105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77%</a:t>
            </a:r>
          </a:p>
        </p:txBody>
      </p:sp>
      <p:sp>
        <p:nvSpPr>
          <p:cNvPr id="952" name="RowLabel">
            <a:extLst>
              <a:ext uri="{FF2B5EF4-FFF2-40B4-BE49-F238E27FC236}">
                <a16:creationId xmlns:a16="http://schemas.microsoft.com/office/drawing/2014/main" id="{E12AE677-3C29-4557-B1D0-A6EB91E3C54B}"/>
              </a:ext>
            </a:extLst>
          </p:cNvPr>
          <p:cNvSpPr>
            <a:spLocks noGrp="1"/>
          </p:cNvSpPr>
          <p:nvPr/>
        </p:nvSpPr>
        <p:spPr>
          <a:xfrm>
            <a:off x="2080080" y="2665800"/>
            <a:ext cx="1020600" cy="151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Reliance</a:t>
            </a:r>
          </a:p>
        </p:txBody>
      </p:sp>
      <p:sp>
        <p:nvSpPr>
          <p:cNvPr id="953" name="PrimaryBar">
            <a:extLst>
              <a:ext uri="{FF2B5EF4-FFF2-40B4-BE49-F238E27FC236}">
                <a16:creationId xmlns:a16="http://schemas.microsoft.com/office/drawing/2014/main" id="{243B2B05-6544-4F5D-87DA-F9D2958D7203}"/>
              </a:ext>
            </a:extLst>
          </p:cNvPr>
          <p:cNvSpPr>
            <a:spLocks noGrp="1"/>
          </p:cNvSpPr>
          <p:nvPr/>
        </p:nvSpPr>
        <p:spPr>
          <a:xfrm>
            <a:off x="3141000" y="2756880"/>
            <a:ext cx="948960" cy="48348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54" name="PrimaryVal">
            <a:extLst>
              <a:ext uri="{FF2B5EF4-FFF2-40B4-BE49-F238E27FC236}">
                <a16:creationId xmlns:a16="http://schemas.microsoft.com/office/drawing/2014/main" id="{DC243F3E-CA47-4FA2-AD6B-B512D04F32CD}"/>
              </a:ext>
            </a:extLst>
          </p:cNvPr>
          <p:cNvSpPr>
            <a:spLocks noGrp="1"/>
          </p:cNvSpPr>
          <p:nvPr/>
        </p:nvSpPr>
        <p:spPr>
          <a:xfrm>
            <a:off x="4120200" y="269604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3,047L</a:t>
            </a:r>
          </a:p>
        </p:txBody>
      </p:sp>
      <p:sp>
        <p:nvSpPr>
          <p:cNvPr id="955" name="OfftakeBar">
            <a:extLst>
              <a:ext uri="{FF2B5EF4-FFF2-40B4-BE49-F238E27FC236}">
                <a16:creationId xmlns:a16="http://schemas.microsoft.com/office/drawing/2014/main" id="{2794F594-6DFF-4343-BBEC-404576230B7D}"/>
              </a:ext>
            </a:extLst>
          </p:cNvPr>
          <p:cNvSpPr>
            <a:spLocks noGrp="1"/>
          </p:cNvSpPr>
          <p:nvPr/>
        </p:nvSpPr>
        <p:spPr>
          <a:xfrm>
            <a:off x="3141000" y="3452400"/>
            <a:ext cx="873720" cy="48348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56" name="OfftakeVal">
            <a:extLst>
              <a:ext uri="{FF2B5EF4-FFF2-40B4-BE49-F238E27FC236}">
                <a16:creationId xmlns:a16="http://schemas.microsoft.com/office/drawing/2014/main" id="{9BD33057-4AA8-4C03-AC02-85DBE5290A0F}"/>
              </a:ext>
            </a:extLst>
          </p:cNvPr>
          <p:cNvSpPr>
            <a:spLocks noGrp="1"/>
          </p:cNvSpPr>
          <p:nvPr/>
        </p:nvSpPr>
        <p:spPr>
          <a:xfrm>
            <a:off x="4044960" y="339192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2,806L</a:t>
            </a:r>
          </a:p>
        </p:txBody>
      </p:sp>
      <p:sp>
        <p:nvSpPr>
          <p:cNvPr id="957" name="SOChip">
            <a:extLst>
              <a:ext uri="{FF2B5EF4-FFF2-40B4-BE49-F238E27FC236}">
                <a16:creationId xmlns:a16="http://schemas.microsoft.com/office/drawing/2014/main" id="{90CD29A4-2846-4FD3-BA38-CE4CDCE6139D}"/>
              </a:ext>
            </a:extLst>
          </p:cNvPr>
          <p:cNvSpPr>
            <a:spLocks noGrp="1"/>
          </p:cNvSpPr>
          <p:nvPr/>
        </p:nvSpPr>
        <p:spPr>
          <a:xfrm>
            <a:off x="4923000" y="2892960"/>
            <a:ext cx="559800" cy="1058400"/>
          </a:xfrm>
          <a:prstGeom prst="roundRect">
            <a:avLst>
              <a:gd name="adj" fmla="val 5000"/>
            </a:avLst>
          </a:prstGeom>
          <a:solidFill>
            <a:srgbClr val="1F7A3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58" name="SOChipTxt">
            <a:extLst>
              <a:ext uri="{FF2B5EF4-FFF2-40B4-BE49-F238E27FC236}">
                <a16:creationId xmlns:a16="http://schemas.microsoft.com/office/drawing/2014/main" id="{FA084728-58B9-461F-8CE3-C864133A5FDA}"/>
              </a:ext>
            </a:extLst>
          </p:cNvPr>
          <p:cNvSpPr>
            <a:spLocks noGrp="1"/>
          </p:cNvSpPr>
          <p:nvPr/>
        </p:nvSpPr>
        <p:spPr>
          <a:xfrm>
            <a:off x="4923000" y="2892960"/>
            <a:ext cx="559800" cy="105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92%</a:t>
            </a:r>
          </a:p>
        </p:txBody>
      </p:sp>
      <p:sp>
        <p:nvSpPr>
          <p:cNvPr id="959" name="RowLabel">
            <a:extLst>
              <a:ext uri="{FF2B5EF4-FFF2-40B4-BE49-F238E27FC236}">
                <a16:creationId xmlns:a16="http://schemas.microsoft.com/office/drawing/2014/main" id="{07875FC4-FC68-4F8A-84D8-8BF5F50FEE03}"/>
              </a:ext>
            </a:extLst>
          </p:cNvPr>
          <p:cNvSpPr>
            <a:spLocks noGrp="1"/>
          </p:cNvSpPr>
          <p:nvPr/>
        </p:nvSpPr>
        <p:spPr>
          <a:xfrm>
            <a:off x="2080080" y="4218480"/>
            <a:ext cx="1020600" cy="151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Apollo</a:t>
            </a:r>
          </a:p>
        </p:txBody>
      </p:sp>
      <p:sp>
        <p:nvSpPr>
          <p:cNvPr id="960" name="PrimaryBar">
            <a:extLst>
              <a:ext uri="{FF2B5EF4-FFF2-40B4-BE49-F238E27FC236}">
                <a16:creationId xmlns:a16="http://schemas.microsoft.com/office/drawing/2014/main" id="{BFB6FE86-DFCF-4ACB-B5DD-033F60EC3EA1}"/>
              </a:ext>
            </a:extLst>
          </p:cNvPr>
          <p:cNvSpPr>
            <a:spLocks noGrp="1"/>
          </p:cNvSpPr>
          <p:nvPr/>
        </p:nvSpPr>
        <p:spPr>
          <a:xfrm>
            <a:off x="3141000" y="4309200"/>
            <a:ext cx="795600" cy="48348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61" name="PrimaryVal">
            <a:extLst>
              <a:ext uri="{FF2B5EF4-FFF2-40B4-BE49-F238E27FC236}">
                <a16:creationId xmlns:a16="http://schemas.microsoft.com/office/drawing/2014/main" id="{33518815-8178-4D67-B669-6DE9396D2037}"/>
              </a:ext>
            </a:extLst>
          </p:cNvPr>
          <p:cNvSpPr>
            <a:spLocks noGrp="1"/>
          </p:cNvSpPr>
          <p:nvPr/>
        </p:nvSpPr>
        <p:spPr>
          <a:xfrm>
            <a:off x="3966840" y="424872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2,555L</a:t>
            </a:r>
          </a:p>
        </p:txBody>
      </p:sp>
      <p:sp>
        <p:nvSpPr>
          <p:cNvPr id="962" name="OfftakeBar">
            <a:extLst>
              <a:ext uri="{FF2B5EF4-FFF2-40B4-BE49-F238E27FC236}">
                <a16:creationId xmlns:a16="http://schemas.microsoft.com/office/drawing/2014/main" id="{A9C4C56F-6A9A-41EE-AB03-0EF60F66AA48}"/>
              </a:ext>
            </a:extLst>
          </p:cNvPr>
          <p:cNvSpPr>
            <a:spLocks noGrp="1"/>
          </p:cNvSpPr>
          <p:nvPr/>
        </p:nvSpPr>
        <p:spPr>
          <a:xfrm>
            <a:off x="3141000" y="5005080"/>
            <a:ext cx="676440" cy="48348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63" name="OfftakeVal">
            <a:extLst>
              <a:ext uri="{FF2B5EF4-FFF2-40B4-BE49-F238E27FC236}">
                <a16:creationId xmlns:a16="http://schemas.microsoft.com/office/drawing/2014/main" id="{D6518EF5-F455-4AE2-B941-A46CD310BCEB}"/>
              </a:ext>
            </a:extLst>
          </p:cNvPr>
          <p:cNvSpPr>
            <a:spLocks noGrp="1"/>
          </p:cNvSpPr>
          <p:nvPr/>
        </p:nvSpPr>
        <p:spPr>
          <a:xfrm>
            <a:off x="3847680" y="494460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2,173L</a:t>
            </a:r>
          </a:p>
        </p:txBody>
      </p:sp>
      <p:sp>
        <p:nvSpPr>
          <p:cNvPr id="964" name="SOChip">
            <a:extLst>
              <a:ext uri="{FF2B5EF4-FFF2-40B4-BE49-F238E27FC236}">
                <a16:creationId xmlns:a16="http://schemas.microsoft.com/office/drawing/2014/main" id="{812B5C0E-F7D7-4F48-8908-5AF1A2B0065D}"/>
              </a:ext>
            </a:extLst>
          </p:cNvPr>
          <p:cNvSpPr>
            <a:spLocks noGrp="1"/>
          </p:cNvSpPr>
          <p:nvPr/>
        </p:nvSpPr>
        <p:spPr>
          <a:xfrm>
            <a:off x="4923000" y="4445280"/>
            <a:ext cx="559800" cy="105840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65" name="SOChipTxt">
            <a:extLst>
              <a:ext uri="{FF2B5EF4-FFF2-40B4-BE49-F238E27FC236}">
                <a16:creationId xmlns:a16="http://schemas.microsoft.com/office/drawing/2014/main" id="{E4DFDA2D-65A6-42A9-957A-B92671D3E027}"/>
              </a:ext>
            </a:extLst>
          </p:cNvPr>
          <p:cNvSpPr>
            <a:spLocks noGrp="1"/>
          </p:cNvSpPr>
          <p:nvPr/>
        </p:nvSpPr>
        <p:spPr>
          <a:xfrm>
            <a:off x="4923000" y="4445280"/>
            <a:ext cx="559800" cy="105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85%</a:t>
            </a:r>
          </a:p>
        </p:txBody>
      </p:sp>
      <p:sp>
        <p:nvSpPr>
          <p:cNvPr id="966" name="RowLabel">
            <a:extLst>
              <a:ext uri="{FF2B5EF4-FFF2-40B4-BE49-F238E27FC236}">
                <a16:creationId xmlns:a16="http://schemas.microsoft.com/office/drawing/2014/main" id="{F38BC0D9-62B3-4D56-A955-D67A0A6CA08F}"/>
              </a:ext>
            </a:extLst>
          </p:cNvPr>
          <p:cNvSpPr>
            <a:spLocks noGrp="1"/>
          </p:cNvSpPr>
          <p:nvPr/>
        </p:nvSpPr>
        <p:spPr>
          <a:xfrm>
            <a:off x="2080080" y="5771160"/>
            <a:ext cx="1020600" cy="151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Metro Cnc</a:t>
            </a:r>
          </a:p>
        </p:txBody>
      </p:sp>
      <p:sp>
        <p:nvSpPr>
          <p:cNvPr id="967" name="PrimaryBar">
            <a:extLst>
              <a:ext uri="{FF2B5EF4-FFF2-40B4-BE49-F238E27FC236}">
                <a16:creationId xmlns:a16="http://schemas.microsoft.com/office/drawing/2014/main" id="{65979606-301F-4D8D-985C-55E4B3C261B1}"/>
              </a:ext>
            </a:extLst>
          </p:cNvPr>
          <p:cNvSpPr>
            <a:spLocks noGrp="1"/>
          </p:cNvSpPr>
          <p:nvPr/>
        </p:nvSpPr>
        <p:spPr>
          <a:xfrm>
            <a:off x="3141000" y="5861880"/>
            <a:ext cx="31680" cy="48348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68" name="PrimaryVal">
            <a:extLst>
              <a:ext uri="{FF2B5EF4-FFF2-40B4-BE49-F238E27FC236}">
                <a16:creationId xmlns:a16="http://schemas.microsoft.com/office/drawing/2014/main" id="{4CEE1BB8-6792-4128-A79D-C58697398657}"/>
              </a:ext>
            </a:extLst>
          </p:cNvPr>
          <p:cNvSpPr>
            <a:spLocks noGrp="1"/>
          </p:cNvSpPr>
          <p:nvPr/>
        </p:nvSpPr>
        <p:spPr>
          <a:xfrm>
            <a:off x="3202920" y="580140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103L</a:t>
            </a:r>
          </a:p>
        </p:txBody>
      </p:sp>
      <p:sp>
        <p:nvSpPr>
          <p:cNvPr id="969" name="OfftakeBar">
            <a:extLst>
              <a:ext uri="{FF2B5EF4-FFF2-40B4-BE49-F238E27FC236}">
                <a16:creationId xmlns:a16="http://schemas.microsoft.com/office/drawing/2014/main" id="{44E062AF-5235-4408-82AC-020FD2F517C7}"/>
              </a:ext>
            </a:extLst>
          </p:cNvPr>
          <p:cNvSpPr>
            <a:spLocks noGrp="1"/>
          </p:cNvSpPr>
          <p:nvPr/>
        </p:nvSpPr>
        <p:spPr>
          <a:xfrm>
            <a:off x="3141000" y="6557400"/>
            <a:ext cx="48240" cy="48348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70" name="OfftakeVal">
            <a:extLst>
              <a:ext uri="{FF2B5EF4-FFF2-40B4-BE49-F238E27FC236}">
                <a16:creationId xmlns:a16="http://schemas.microsoft.com/office/drawing/2014/main" id="{98928489-2E19-46D9-B180-804F51E55414}"/>
              </a:ext>
            </a:extLst>
          </p:cNvPr>
          <p:cNvSpPr>
            <a:spLocks noGrp="1"/>
          </p:cNvSpPr>
          <p:nvPr/>
        </p:nvSpPr>
        <p:spPr>
          <a:xfrm>
            <a:off x="3219480" y="649692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157L</a:t>
            </a:r>
          </a:p>
        </p:txBody>
      </p:sp>
      <p:sp>
        <p:nvSpPr>
          <p:cNvPr id="971" name="SOChip">
            <a:extLst>
              <a:ext uri="{FF2B5EF4-FFF2-40B4-BE49-F238E27FC236}">
                <a16:creationId xmlns:a16="http://schemas.microsoft.com/office/drawing/2014/main" id="{B36165E7-C5AE-4D11-857C-B877FC3F0FE7}"/>
              </a:ext>
            </a:extLst>
          </p:cNvPr>
          <p:cNvSpPr>
            <a:spLocks noGrp="1"/>
          </p:cNvSpPr>
          <p:nvPr/>
        </p:nvSpPr>
        <p:spPr>
          <a:xfrm>
            <a:off x="4923000" y="5997960"/>
            <a:ext cx="559800" cy="10584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72" name="SOChipTxt">
            <a:extLst>
              <a:ext uri="{FF2B5EF4-FFF2-40B4-BE49-F238E27FC236}">
                <a16:creationId xmlns:a16="http://schemas.microsoft.com/office/drawing/2014/main" id="{798C16AE-3AE6-4D46-8E80-5C834D5ABC8F}"/>
              </a:ext>
            </a:extLst>
          </p:cNvPr>
          <p:cNvSpPr>
            <a:spLocks noGrp="1"/>
          </p:cNvSpPr>
          <p:nvPr/>
        </p:nvSpPr>
        <p:spPr>
          <a:xfrm>
            <a:off x="4923000" y="5997960"/>
            <a:ext cx="559800" cy="105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152%</a:t>
            </a:r>
          </a:p>
        </p:txBody>
      </p:sp>
      <p:sp>
        <p:nvSpPr>
          <p:cNvPr id="973" name="RowLabel">
            <a:extLst>
              <a:ext uri="{FF2B5EF4-FFF2-40B4-BE49-F238E27FC236}">
                <a16:creationId xmlns:a16="http://schemas.microsoft.com/office/drawing/2014/main" id="{55F528F6-854A-4849-AA15-1F4E87743186}"/>
              </a:ext>
            </a:extLst>
          </p:cNvPr>
          <p:cNvSpPr>
            <a:spLocks noGrp="1"/>
          </p:cNvSpPr>
          <p:nvPr/>
        </p:nvSpPr>
        <p:spPr>
          <a:xfrm>
            <a:off x="2080080" y="7323480"/>
            <a:ext cx="1020600" cy="151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Lulu</a:t>
            </a:r>
          </a:p>
        </p:txBody>
      </p:sp>
      <p:sp>
        <p:nvSpPr>
          <p:cNvPr id="974" name="PrimaryBar">
            <a:extLst>
              <a:ext uri="{FF2B5EF4-FFF2-40B4-BE49-F238E27FC236}">
                <a16:creationId xmlns:a16="http://schemas.microsoft.com/office/drawing/2014/main" id="{7D9C9FC7-2CE9-4524-A418-40DF504B41D8}"/>
              </a:ext>
            </a:extLst>
          </p:cNvPr>
          <p:cNvSpPr>
            <a:spLocks noGrp="1"/>
          </p:cNvSpPr>
          <p:nvPr/>
        </p:nvSpPr>
        <p:spPr>
          <a:xfrm>
            <a:off x="3141000" y="7414200"/>
            <a:ext cx="156960" cy="48348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75" name="PrimaryVal">
            <a:extLst>
              <a:ext uri="{FF2B5EF4-FFF2-40B4-BE49-F238E27FC236}">
                <a16:creationId xmlns:a16="http://schemas.microsoft.com/office/drawing/2014/main" id="{7B73A996-939C-4425-BE33-A9FF48408FA5}"/>
              </a:ext>
            </a:extLst>
          </p:cNvPr>
          <p:cNvSpPr>
            <a:spLocks noGrp="1"/>
          </p:cNvSpPr>
          <p:nvPr/>
        </p:nvSpPr>
        <p:spPr>
          <a:xfrm>
            <a:off x="3328200" y="735372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505L</a:t>
            </a:r>
          </a:p>
        </p:txBody>
      </p:sp>
      <p:sp>
        <p:nvSpPr>
          <p:cNvPr id="976" name="OfftakeBar">
            <a:extLst>
              <a:ext uri="{FF2B5EF4-FFF2-40B4-BE49-F238E27FC236}">
                <a16:creationId xmlns:a16="http://schemas.microsoft.com/office/drawing/2014/main" id="{041AF3E7-6045-4BFE-938A-84B1BBDC8D8F}"/>
              </a:ext>
            </a:extLst>
          </p:cNvPr>
          <p:cNvSpPr>
            <a:spLocks noGrp="1"/>
          </p:cNvSpPr>
          <p:nvPr/>
        </p:nvSpPr>
        <p:spPr>
          <a:xfrm>
            <a:off x="3141000" y="8110080"/>
            <a:ext cx="103320" cy="48348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77" name="OfftakeVal">
            <a:extLst>
              <a:ext uri="{FF2B5EF4-FFF2-40B4-BE49-F238E27FC236}">
                <a16:creationId xmlns:a16="http://schemas.microsoft.com/office/drawing/2014/main" id="{97ED26E0-88A5-4BE2-8928-928E140A4DEA}"/>
              </a:ext>
            </a:extLst>
          </p:cNvPr>
          <p:cNvSpPr>
            <a:spLocks noGrp="1"/>
          </p:cNvSpPr>
          <p:nvPr/>
        </p:nvSpPr>
        <p:spPr>
          <a:xfrm>
            <a:off x="3274560" y="804960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333L</a:t>
            </a:r>
          </a:p>
        </p:txBody>
      </p:sp>
      <p:sp>
        <p:nvSpPr>
          <p:cNvPr id="978" name="SOChip">
            <a:extLst>
              <a:ext uri="{FF2B5EF4-FFF2-40B4-BE49-F238E27FC236}">
                <a16:creationId xmlns:a16="http://schemas.microsoft.com/office/drawing/2014/main" id="{B20D451D-DAA5-43ED-BF24-D7B4BE10DC27}"/>
              </a:ext>
            </a:extLst>
          </p:cNvPr>
          <p:cNvSpPr>
            <a:spLocks noGrp="1"/>
          </p:cNvSpPr>
          <p:nvPr/>
        </p:nvSpPr>
        <p:spPr>
          <a:xfrm>
            <a:off x="4923000" y="7550280"/>
            <a:ext cx="559800" cy="105840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79" name="SOChipTxt">
            <a:extLst>
              <a:ext uri="{FF2B5EF4-FFF2-40B4-BE49-F238E27FC236}">
                <a16:creationId xmlns:a16="http://schemas.microsoft.com/office/drawing/2014/main" id="{AEA3A378-CD95-4F84-9423-7F4B735BA236}"/>
              </a:ext>
            </a:extLst>
          </p:cNvPr>
          <p:cNvSpPr>
            <a:spLocks noGrp="1"/>
          </p:cNvSpPr>
          <p:nvPr/>
        </p:nvSpPr>
        <p:spPr>
          <a:xfrm>
            <a:off x="4923000" y="7550280"/>
            <a:ext cx="559800" cy="105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66%</a:t>
            </a:r>
          </a:p>
        </p:txBody>
      </p:sp>
      <p:sp>
        <p:nvSpPr>
          <p:cNvPr id="980" name="RowLabel">
            <a:extLst>
              <a:ext uri="{FF2B5EF4-FFF2-40B4-BE49-F238E27FC236}">
                <a16:creationId xmlns:a16="http://schemas.microsoft.com/office/drawing/2014/main" id="{EE64F5FF-E663-4093-8D16-58ACADB4731C}"/>
              </a:ext>
            </a:extLst>
          </p:cNvPr>
          <p:cNvSpPr>
            <a:spLocks noGrp="1"/>
          </p:cNvSpPr>
          <p:nvPr/>
        </p:nvSpPr>
        <p:spPr>
          <a:xfrm>
            <a:off x="2080080" y="8876160"/>
            <a:ext cx="1020600" cy="151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H&amp;G</a:t>
            </a:r>
          </a:p>
        </p:txBody>
      </p:sp>
      <p:sp>
        <p:nvSpPr>
          <p:cNvPr id="981" name="PrimaryBar">
            <a:extLst>
              <a:ext uri="{FF2B5EF4-FFF2-40B4-BE49-F238E27FC236}">
                <a16:creationId xmlns:a16="http://schemas.microsoft.com/office/drawing/2014/main" id="{642047D0-3CA3-489F-9C59-DB66473643DA}"/>
              </a:ext>
            </a:extLst>
          </p:cNvPr>
          <p:cNvSpPr>
            <a:spLocks noGrp="1"/>
          </p:cNvSpPr>
          <p:nvPr/>
        </p:nvSpPr>
        <p:spPr>
          <a:xfrm>
            <a:off x="3141000" y="8966880"/>
            <a:ext cx="74160" cy="48348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82" name="PrimaryVal">
            <a:extLst>
              <a:ext uri="{FF2B5EF4-FFF2-40B4-BE49-F238E27FC236}">
                <a16:creationId xmlns:a16="http://schemas.microsoft.com/office/drawing/2014/main" id="{65144C74-CD3B-4116-8038-3A392914A575}"/>
              </a:ext>
            </a:extLst>
          </p:cNvPr>
          <p:cNvSpPr>
            <a:spLocks noGrp="1"/>
          </p:cNvSpPr>
          <p:nvPr/>
        </p:nvSpPr>
        <p:spPr>
          <a:xfrm>
            <a:off x="3245400" y="890640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239L</a:t>
            </a:r>
          </a:p>
        </p:txBody>
      </p:sp>
      <p:sp>
        <p:nvSpPr>
          <p:cNvPr id="983" name="OfftakeBar">
            <a:extLst>
              <a:ext uri="{FF2B5EF4-FFF2-40B4-BE49-F238E27FC236}">
                <a16:creationId xmlns:a16="http://schemas.microsoft.com/office/drawing/2014/main" id="{F0CE41FE-0FC9-4E01-B18B-D37F63478F92}"/>
              </a:ext>
            </a:extLst>
          </p:cNvPr>
          <p:cNvSpPr>
            <a:spLocks noGrp="1"/>
          </p:cNvSpPr>
          <p:nvPr/>
        </p:nvSpPr>
        <p:spPr>
          <a:xfrm>
            <a:off x="3141000" y="9662760"/>
            <a:ext cx="62280" cy="48348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84" name="OfftakeVal">
            <a:extLst>
              <a:ext uri="{FF2B5EF4-FFF2-40B4-BE49-F238E27FC236}">
                <a16:creationId xmlns:a16="http://schemas.microsoft.com/office/drawing/2014/main" id="{8CD8B3F1-90A5-43C0-8C43-927BBFEADF4F}"/>
              </a:ext>
            </a:extLst>
          </p:cNvPr>
          <p:cNvSpPr>
            <a:spLocks noGrp="1"/>
          </p:cNvSpPr>
          <p:nvPr/>
        </p:nvSpPr>
        <p:spPr>
          <a:xfrm>
            <a:off x="3233520" y="9602280"/>
            <a:ext cx="61956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201L</a:t>
            </a:r>
          </a:p>
        </p:txBody>
      </p:sp>
      <p:sp>
        <p:nvSpPr>
          <p:cNvPr id="985" name="SOChip">
            <a:extLst>
              <a:ext uri="{FF2B5EF4-FFF2-40B4-BE49-F238E27FC236}">
                <a16:creationId xmlns:a16="http://schemas.microsoft.com/office/drawing/2014/main" id="{D3F57398-0901-4E46-8FFE-E0ACA842D0E9}"/>
              </a:ext>
            </a:extLst>
          </p:cNvPr>
          <p:cNvSpPr>
            <a:spLocks noGrp="1"/>
          </p:cNvSpPr>
          <p:nvPr/>
        </p:nvSpPr>
        <p:spPr>
          <a:xfrm>
            <a:off x="4923000" y="9102960"/>
            <a:ext cx="559800" cy="1058400"/>
          </a:xfrm>
          <a:prstGeom prst="roundRect">
            <a:avLst>
              <a:gd name="adj" fmla="val 5000"/>
            </a:avLst>
          </a:prstGeom>
          <a:solidFill>
            <a:srgbClr val="E2A5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986" name="SOChipTxt">
            <a:extLst>
              <a:ext uri="{FF2B5EF4-FFF2-40B4-BE49-F238E27FC236}">
                <a16:creationId xmlns:a16="http://schemas.microsoft.com/office/drawing/2014/main" id="{08165F39-09D1-4CBD-A547-BD3E39E8116B}"/>
              </a:ext>
            </a:extLst>
          </p:cNvPr>
          <p:cNvSpPr>
            <a:spLocks noGrp="1"/>
          </p:cNvSpPr>
          <p:nvPr/>
        </p:nvSpPr>
        <p:spPr>
          <a:xfrm>
            <a:off x="4923000" y="9102960"/>
            <a:ext cx="559800" cy="105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84%</a:t>
            </a:r>
          </a:p>
        </p:txBody>
      </p:sp>
      <p:sp>
        <p:nvSpPr>
          <p:cNvPr id="987" name="SCRBox">
            <a:extLst>
              <a:ext uri="{FF2B5EF4-FFF2-40B4-BE49-F238E27FC236}">
                <a16:creationId xmlns:a16="http://schemas.microsoft.com/office/drawing/2014/main" id="{37E949C6-3540-445C-B716-05FD55632520}"/>
              </a:ext>
            </a:extLst>
          </p:cNvPr>
          <p:cNvSpPr>
            <a:spLocks noGrp="1"/>
          </p:cNvSpPr>
          <p:nvPr/>
        </p:nvSpPr>
        <p:spPr>
          <a:xfrm>
            <a:off x="5632920" y="693360"/>
            <a:ext cx="1701000" cy="969480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SITUATION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Dmart Q1: Primary Rs5,527L, Offtake Rs4,232L - Sell-Out 77%, weakest large KAM.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COMPLICATION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Dmart and Lulu show Primary well ahead of Offtake - stock sitting in DC/store, near-expiry claim risk builds.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F7A3D"/>
                </a:solidFill>
                <a:latin typeface="Calibri"/>
                <a:ea typeface="Calibri"/>
                <a:cs typeface="Calibri"/>
              </a:rPr>
              <a:t>RESOLUTION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Freeze incremental Dmart/Lulu primary orders this cycle; secure urgent PO for Metro Cnc (OOS risk).</a:t>
            </a:r>
          </a:p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8" name="Footnote">
            <a:extLst>
              <a:ext uri="{FF2B5EF4-FFF2-40B4-BE49-F238E27FC236}">
                <a16:creationId xmlns:a16="http://schemas.microsoft.com/office/drawing/2014/main" id="{238572E1-CE01-4718-8DE2-B208EE8A8207}"/>
              </a:ext>
            </a:extLst>
          </p:cNvPr>
          <p:cNvSpPr>
            <a:spLocks noGrp="1"/>
          </p:cNvSpPr>
          <p:nvPr/>
        </p:nvSpPr>
        <p:spPr>
          <a:xfrm>
            <a:off x="228600" y="10408680"/>
            <a:ext cx="7105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808080"/>
                </a:solidFill>
                <a:latin typeface="Calibri"/>
                <a:ea typeface="Calibri"/>
                <a:cs typeface="Calibri"/>
              </a:rPr>
              <a:t>Chains matched via Chain_Mapping sheet (confirmed name pairs only). Chains with Q1 Primary &lt;Rs20L excluded as immaterial.</a:t>
            </a:r>
          </a:p>
        </p:txBody>
      </p:sp>
    </p:spTree>
    <p:extLst>
      <p:ext uri="{BB962C8B-B14F-4D97-AF65-F5344CB8AC3E}">
        <p14:creationId xmlns:p14="http://schemas.microsoft.com/office/powerpoint/2010/main" val="716461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6260CD24-E719-4030-B89D-250A580D6B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520" cy="999720"/>
          </a:xfrm>
          <a:prstGeom prst="rect">
            <a:avLst/>
          </a:prstGeom>
          <a:solidFill>
            <a:srgbClr val="2D9B7F"/>
          </a:solidFill>
          <a:ln w="0">
            <a:solidFill>
              <a:srgbClr val="17365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2A62C755-16CD-4B8A-8CA6-7B4E985CC943}"/>
              </a:ext>
            </a:extLst>
          </p:cNvPr>
          <p:cNvSpPr>
            <a:spLocks noGrp="1"/>
          </p:cNvSpPr>
          <p:nvPr/>
        </p:nvSpPr>
        <p:spPr>
          <a:xfrm>
            <a:off x="399960" y="228600"/>
            <a:ext cx="676224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2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 SHARE MOMENTUM — FACEWASH &amp; SHAMPOO</a:t>
            </a: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E9E475D6-EB41-4235-90D8-2D4B345E2169}"/>
              </a:ext>
            </a:extLst>
          </p:cNvPr>
          <p:cNvSpPr>
            <a:spLocks noGrp="1"/>
          </p:cNvSpPr>
          <p:nvPr/>
        </p:nvSpPr>
        <p:spPr>
          <a:xfrm>
            <a:off x="399960" y="685800"/>
            <a:ext cx="6381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20" b="0" u="none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MT = AI (U+R) MT | MAT Jun-26 | Leadership cut</a:t>
            </a: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39E1C2C5-D6A9-42D0-BA52-1515BD516DCC}"/>
              </a:ext>
            </a:extLst>
          </p:cNvPr>
          <p:cNvSpPr>
            <a:spLocks noGrp="1"/>
          </p:cNvSpPr>
          <p:nvPr/>
        </p:nvSpPr>
        <p:spPr>
          <a:xfrm>
            <a:off x="6858000" y="66672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8DCF3F81-26C3-461C-BC5F-423092AAA19A}"/>
              </a:ext>
            </a:extLst>
          </p:cNvPr>
          <p:cNvSpPr>
            <a:spLocks noGrp="1"/>
          </p:cNvSpPr>
          <p:nvPr/>
        </p:nvSpPr>
        <p:spPr>
          <a:xfrm>
            <a:off x="399960" y="1200240"/>
            <a:ext cx="676224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50" b="1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Mamaearth is gaining share in both categories, with current momentum materially ahead of the market.</a:t>
            </a:r>
          </a:p>
        </p:txBody>
      </p:sp>
      <p:sp>
        <p:nvSpPr>
          <p:cNvPr id="1055" name="Rectangle: Rounded Corners 1054">
            <a:extLst>
              <a:ext uri="{FF2B5EF4-FFF2-40B4-BE49-F238E27FC236}">
                <a16:creationId xmlns:a16="http://schemas.microsoft.com/office/drawing/2014/main" id="{4069E458-220C-4CD0-97B6-87DA156F5209}"/>
              </a:ext>
            </a:extLst>
          </p:cNvPr>
          <p:cNvSpPr>
            <a:spLocks noGrp="1"/>
          </p:cNvSpPr>
          <p:nvPr/>
        </p:nvSpPr>
        <p:spPr>
          <a:xfrm>
            <a:off x="399960" y="1952640"/>
            <a:ext cx="3304800" cy="2857320"/>
          </a:xfrm>
          <a:prstGeom prst="roundRect">
            <a:avLst>
              <a:gd name="adj" fmla="val 2667"/>
            </a:avLst>
          </a:prstGeom>
          <a:solidFill>
            <a:srgbClr val="EAF2F8"/>
          </a:solidFill>
          <a:ln w="0">
            <a:solidFill>
              <a:srgbClr val="EAF2F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E998DF8-76EF-4616-89F5-C3B22FC8EE13}"/>
              </a:ext>
            </a:extLst>
          </p:cNvPr>
          <p:cNvSpPr>
            <a:spLocks noGrp="1"/>
          </p:cNvSpPr>
          <p:nvPr/>
        </p:nvSpPr>
        <p:spPr>
          <a:xfrm>
            <a:off x="628560" y="2114640"/>
            <a:ext cx="28476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FACEWASH</a:t>
            </a: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BCB20EF5-53AF-479C-890C-0253A2EAAD5C}"/>
              </a:ext>
            </a:extLst>
          </p:cNvPr>
          <p:cNvSpPr>
            <a:spLocks noGrp="1"/>
          </p:cNvSpPr>
          <p:nvPr/>
        </p:nvSpPr>
        <p:spPr>
          <a:xfrm>
            <a:off x="628560" y="2523960"/>
            <a:ext cx="138060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2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10.5%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F8F2E864-509D-4965-9C55-5B9B659671D4}"/>
              </a:ext>
            </a:extLst>
          </p:cNvPr>
          <p:cNvSpPr>
            <a:spLocks noGrp="1"/>
          </p:cNvSpPr>
          <p:nvPr/>
        </p:nvSpPr>
        <p:spPr>
          <a:xfrm>
            <a:off x="2019240" y="264780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MAT value share</a:t>
            </a:r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48967934-9B07-4A6C-9E5B-01873157B9E7}"/>
              </a:ext>
            </a:extLst>
          </p:cNvPr>
          <p:cNvSpPr>
            <a:spLocks noGrp="1"/>
          </p:cNvSpPr>
          <p:nvPr/>
        </p:nvSpPr>
        <p:spPr>
          <a:xfrm>
            <a:off x="628560" y="3191040"/>
            <a:ext cx="13806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2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+3.1 pp</a:t>
            </a:r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D00BD312-C3A4-4457-92C9-FFD1D3437B21}"/>
              </a:ext>
            </a:extLst>
          </p:cNvPr>
          <p:cNvSpPr>
            <a:spLocks noGrp="1"/>
          </p:cNvSpPr>
          <p:nvPr/>
        </p:nvSpPr>
        <p:spPr>
          <a:xfrm>
            <a:off x="2019240" y="324792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share gain</a:t>
            </a:r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6A4C8A23-6B57-46EB-A81B-1BB32AF491F3}"/>
              </a:ext>
            </a:extLst>
          </p:cNvPr>
          <p:cNvSpPr>
            <a:spLocks noGrp="1"/>
          </p:cNvSpPr>
          <p:nvPr/>
        </p:nvSpPr>
        <p:spPr>
          <a:xfrm>
            <a:off x="628560" y="3762360"/>
            <a:ext cx="13806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2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+58%</a:t>
            </a:r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30E165C3-13E4-4EA7-8808-C31F5BDD993E}"/>
              </a:ext>
            </a:extLst>
          </p:cNvPr>
          <p:cNvSpPr>
            <a:spLocks noGrp="1"/>
          </p:cNvSpPr>
          <p:nvPr/>
        </p:nvSpPr>
        <p:spPr>
          <a:xfrm>
            <a:off x="2019240" y="381960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L3M YoY</a:t>
            </a:r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384DE4C7-223D-4C0E-B29B-CCE70A893CD6}"/>
              </a:ext>
            </a:extLst>
          </p:cNvPr>
          <p:cNvSpPr>
            <a:spLocks noGrp="1"/>
          </p:cNvSpPr>
          <p:nvPr/>
        </p:nvSpPr>
        <p:spPr>
          <a:xfrm>
            <a:off x="628560" y="4314960"/>
            <a:ext cx="13806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50" b="1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89%</a:t>
            </a: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E78B24E9-9937-4BC8-A504-4B36784E0613}"/>
              </a:ext>
            </a:extLst>
          </p:cNvPr>
          <p:cNvSpPr>
            <a:spLocks noGrp="1"/>
          </p:cNvSpPr>
          <p:nvPr/>
        </p:nvSpPr>
        <p:spPr>
          <a:xfrm>
            <a:off x="2019240" y="4305240"/>
            <a:ext cx="14284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weighted distribution</a:t>
            </a: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13ECDAC1-DE0F-49F6-82F9-EDCD06B9D394}"/>
              </a:ext>
            </a:extLst>
          </p:cNvPr>
          <p:cNvSpPr>
            <a:spLocks noGrp="1"/>
          </p:cNvSpPr>
          <p:nvPr/>
        </p:nvSpPr>
        <p:spPr>
          <a:xfrm>
            <a:off x="3857760" y="1952640"/>
            <a:ext cx="3304800" cy="2857320"/>
          </a:xfrm>
          <a:prstGeom prst="roundRect">
            <a:avLst>
              <a:gd name="adj" fmla="val 2667"/>
            </a:avLst>
          </a:prstGeom>
          <a:solidFill>
            <a:srgbClr val="EAF2F8"/>
          </a:solidFill>
          <a:ln w="0">
            <a:solidFill>
              <a:srgbClr val="EAF2F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EC0DB1A8-591F-4E0C-9B65-1957E41A4BCA}"/>
              </a:ext>
            </a:extLst>
          </p:cNvPr>
          <p:cNvSpPr>
            <a:spLocks noGrp="1"/>
          </p:cNvSpPr>
          <p:nvPr/>
        </p:nvSpPr>
        <p:spPr>
          <a:xfrm>
            <a:off x="4086360" y="2114640"/>
            <a:ext cx="28476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C1B59AEA-70B4-4FCE-A88D-D13A7D413254}"/>
              </a:ext>
            </a:extLst>
          </p:cNvPr>
          <p:cNvSpPr>
            <a:spLocks noGrp="1"/>
          </p:cNvSpPr>
          <p:nvPr/>
        </p:nvSpPr>
        <p:spPr>
          <a:xfrm>
            <a:off x="4086360" y="2523960"/>
            <a:ext cx="138060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2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3.7%</a:t>
            </a: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F0F39591-A22A-41E4-B752-F8913BB7208D}"/>
              </a:ext>
            </a:extLst>
          </p:cNvPr>
          <p:cNvSpPr>
            <a:spLocks noGrp="1"/>
          </p:cNvSpPr>
          <p:nvPr/>
        </p:nvSpPr>
        <p:spPr>
          <a:xfrm>
            <a:off x="5477040" y="2647800"/>
            <a:ext cx="142848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MAT value share</a:t>
            </a:r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D6860606-EAF9-4433-B727-3041D4352DA0}"/>
              </a:ext>
            </a:extLst>
          </p:cNvPr>
          <p:cNvSpPr>
            <a:spLocks noGrp="1"/>
          </p:cNvSpPr>
          <p:nvPr/>
        </p:nvSpPr>
        <p:spPr>
          <a:xfrm>
            <a:off x="4086360" y="3191040"/>
            <a:ext cx="13806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2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+1.2 pp</a:t>
            </a: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4E1A2659-646B-48AA-91C8-A3E709AAFCEA}"/>
              </a:ext>
            </a:extLst>
          </p:cNvPr>
          <p:cNvSpPr>
            <a:spLocks noGrp="1"/>
          </p:cNvSpPr>
          <p:nvPr/>
        </p:nvSpPr>
        <p:spPr>
          <a:xfrm>
            <a:off x="5477040" y="324792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share gain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2BF360AC-07DD-4BF6-8958-97787F66C73A}"/>
              </a:ext>
            </a:extLst>
          </p:cNvPr>
          <p:cNvSpPr>
            <a:spLocks noGrp="1"/>
          </p:cNvSpPr>
          <p:nvPr/>
        </p:nvSpPr>
        <p:spPr>
          <a:xfrm>
            <a:off x="4086360" y="3762360"/>
            <a:ext cx="13806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2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+80%</a:t>
            </a: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AC682FDD-9BD5-44DD-A381-0D9F50D0199F}"/>
              </a:ext>
            </a:extLst>
          </p:cNvPr>
          <p:cNvSpPr>
            <a:spLocks noGrp="1"/>
          </p:cNvSpPr>
          <p:nvPr/>
        </p:nvSpPr>
        <p:spPr>
          <a:xfrm>
            <a:off x="5477040" y="3819600"/>
            <a:ext cx="14284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L3M YoY</a:t>
            </a: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2C5223F5-D395-4C5B-998F-42CC27B5EE76}"/>
              </a:ext>
            </a:extLst>
          </p:cNvPr>
          <p:cNvSpPr>
            <a:spLocks noGrp="1"/>
          </p:cNvSpPr>
          <p:nvPr/>
        </p:nvSpPr>
        <p:spPr>
          <a:xfrm>
            <a:off x="4086360" y="4314960"/>
            <a:ext cx="13806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50" b="1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81.5%</a:t>
            </a: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CB55CFF8-F422-4AB2-A6AF-4895ECE2DE77}"/>
              </a:ext>
            </a:extLst>
          </p:cNvPr>
          <p:cNvSpPr>
            <a:spLocks noGrp="1"/>
          </p:cNvSpPr>
          <p:nvPr/>
        </p:nvSpPr>
        <p:spPr>
          <a:xfrm>
            <a:off x="5477040" y="4305240"/>
            <a:ext cx="14284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weighted distribution</a:t>
            </a: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7BBE41A4-42A6-4CDF-930A-E1CE9DF17ED7}"/>
              </a:ext>
            </a:extLst>
          </p:cNvPr>
          <p:cNvSpPr>
            <a:spLocks noGrp="1"/>
          </p:cNvSpPr>
          <p:nvPr/>
        </p:nvSpPr>
        <p:spPr>
          <a:xfrm>
            <a:off x="399960" y="5191200"/>
            <a:ext cx="676224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WHAT THE MARKET IS SAYING</a:t>
            </a:r>
          </a:p>
        </p:txBody>
      </p:sp>
      <p:sp>
        <p:nvSpPr>
          <p:cNvPr id="1076" name="Oval 1075">
            <a:extLst>
              <a:ext uri="{FF2B5EF4-FFF2-40B4-BE49-F238E27FC236}">
                <a16:creationId xmlns:a16="http://schemas.microsoft.com/office/drawing/2014/main" id="{21C80909-2344-412F-A045-E09436938D33}"/>
              </a:ext>
            </a:extLst>
          </p:cNvPr>
          <p:cNvSpPr>
            <a:spLocks noGrp="1"/>
          </p:cNvSpPr>
          <p:nvPr/>
        </p:nvSpPr>
        <p:spPr>
          <a:xfrm>
            <a:off x="399960" y="5619600"/>
            <a:ext cx="418680" cy="418680"/>
          </a:xfrm>
          <a:prstGeom prst="ellipse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CFD05D69-0FEA-436F-9E83-675B333B663A}"/>
              </a:ext>
            </a:extLst>
          </p:cNvPr>
          <p:cNvSpPr>
            <a:spLocks noGrp="1"/>
          </p:cNvSpPr>
          <p:nvPr/>
        </p:nvSpPr>
        <p:spPr>
          <a:xfrm>
            <a:off x="399960" y="5619600"/>
            <a:ext cx="41868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FA37B650-FCA8-42EF-9B80-CA5C08881DBC}"/>
              </a:ext>
            </a:extLst>
          </p:cNvPr>
          <p:cNvSpPr>
            <a:spLocks noGrp="1"/>
          </p:cNvSpPr>
          <p:nvPr/>
        </p:nvSpPr>
        <p:spPr>
          <a:xfrm>
            <a:off x="990720" y="5619600"/>
            <a:ext cx="1190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FACEWASH</a:t>
            </a: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AAC4AD18-28C5-4AFD-8349-163DF27DB270}"/>
              </a:ext>
            </a:extLst>
          </p:cNvPr>
          <p:cNvSpPr>
            <a:spLocks noGrp="1"/>
          </p:cNvSpPr>
          <p:nvPr/>
        </p:nvSpPr>
        <p:spPr>
          <a:xfrm>
            <a:off x="2190600" y="5600880"/>
            <a:ext cx="497160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Mamaearth is the fastest-growing large brand: +55% MAT and +58% L3M versus category +10% MAT.</a:t>
            </a:r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B7CD4790-2659-4033-A461-B9B89F7FC557}"/>
              </a:ext>
            </a:extLst>
          </p:cNvPr>
          <p:cNvSpPr>
            <a:spLocks noGrp="1"/>
          </p:cNvSpPr>
          <p:nvPr/>
        </p:nvSpPr>
        <p:spPr>
          <a:xfrm>
            <a:off x="399960" y="6591240"/>
            <a:ext cx="418680" cy="418680"/>
          </a:xfrm>
          <a:prstGeom prst="ellipse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FEA180CC-09EE-42AC-AA6B-6602CD8C5890}"/>
              </a:ext>
            </a:extLst>
          </p:cNvPr>
          <p:cNvSpPr>
            <a:spLocks noGrp="1"/>
          </p:cNvSpPr>
          <p:nvPr/>
        </p:nvSpPr>
        <p:spPr>
          <a:xfrm>
            <a:off x="399960" y="6591240"/>
            <a:ext cx="41868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AE4339FE-28F7-4CE5-A8E8-9ED9E2196896}"/>
              </a:ext>
            </a:extLst>
          </p:cNvPr>
          <p:cNvSpPr>
            <a:spLocks noGrp="1"/>
          </p:cNvSpPr>
          <p:nvPr/>
        </p:nvSpPr>
        <p:spPr>
          <a:xfrm>
            <a:off x="990720" y="6591240"/>
            <a:ext cx="1190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SHAMPOO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F7EE7799-D2E6-4D15-AE3C-325EC4189DD5}"/>
              </a:ext>
            </a:extLst>
          </p:cNvPr>
          <p:cNvSpPr>
            <a:spLocks noGrp="1"/>
          </p:cNvSpPr>
          <p:nvPr/>
        </p:nvSpPr>
        <p:spPr>
          <a:xfrm>
            <a:off x="2190600" y="6572160"/>
            <a:ext cx="497160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Mamaearth is scaling faster than every major brand: +48% MAT and +80% L3M; share reached 3.7%.</a:t>
            </a:r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DEAF1DB2-5D5A-41AF-9B9B-D6B8653AC5C0}"/>
              </a:ext>
            </a:extLst>
          </p:cNvPr>
          <p:cNvSpPr>
            <a:spLocks noGrp="1"/>
          </p:cNvSpPr>
          <p:nvPr/>
        </p:nvSpPr>
        <p:spPr>
          <a:xfrm>
            <a:off x="399960" y="7562880"/>
            <a:ext cx="418680" cy="418680"/>
          </a:xfrm>
          <a:prstGeom prst="ellipse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C745F81F-926F-4140-8617-9D0DE6359D6C}"/>
              </a:ext>
            </a:extLst>
          </p:cNvPr>
          <p:cNvSpPr>
            <a:spLocks noGrp="1"/>
          </p:cNvSpPr>
          <p:nvPr/>
        </p:nvSpPr>
        <p:spPr>
          <a:xfrm>
            <a:off x="399960" y="7562880"/>
            <a:ext cx="41868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7A30819D-59B7-4476-A5BE-5CAE6B8F6686}"/>
              </a:ext>
            </a:extLst>
          </p:cNvPr>
          <p:cNvSpPr>
            <a:spLocks noGrp="1"/>
          </p:cNvSpPr>
          <p:nvPr/>
        </p:nvSpPr>
        <p:spPr>
          <a:xfrm>
            <a:off x="990720" y="7562880"/>
            <a:ext cx="1190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VELOCITY</a:t>
            </a: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11602B57-42A7-4FC1-B537-0F87DF3FC707}"/>
              </a:ext>
            </a:extLst>
          </p:cNvPr>
          <p:cNvSpPr>
            <a:spLocks noGrp="1"/>
          </p:cNvSpPr>
          <p:nvPr/>
        </p:nvSpPr>
        <p:spPr>
          <a:xfrm>
            <a:off x="2190600" y="7543800"/>
            <a:ext cx="497160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The next leg must come from PDO and shelf productivity, not distribution alone; mature leaders already sit near full WD.</a:t>
            </a:r>
          </a:p>
        </p:txBody>
      </p:sp>
      <p:sp>
        <p:nvSpPr>
          <p:cNvPr id="1088" name="Oval 1087">
            <a:extLst>
              <a:ext uri="{FF2B5EF4-FFF2-40B4-BE49-F238E27FC236}">
                <a16:creationId xmlns:a16="http://schemas.microsoft.com/office/drawing/2014/main" id="{CF4B9826-9877-45BE-9948-92CC3DB48339}"/>
              </a:ext>
            </a:extLst>
          </p:cNvPr>
          <p:cNvSpPr>
            <a:spLocks noGrp="1"/>
          </p:cNvSpPr>
          <p:nvPr/>
        </p:nvSpPr>
        <p:spPr>
          <a:xfrm>
            <a:off x="399960" y="8534520"/>
            <a:ext cx="418680" cy="418680"/>
          </a:xfrm>
          <a:prstGeom prst="ellipse">
            <a:avLst/>
          </a:prstGeom>
          <a:solidFill>
            <a:srgbClr val="ED7D31"/>
          </a:solidFill>
          <a:ln w="0">
            <a:solidFill>
              <a:srgbClr val="ED7D3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19B91C0B-6173-4B84-9904-977FBB69E038}"/>
              </a:ext>
            </a:extLst>
          </p:cNvPr>
          <p:cNvSpPr>
            <a:spLocks noGrp="1"/>
          </p:cNvSpPr>
          <p:nvPr/>
        </p:nvSpPr>
        <p:spPr>
          <a:xfrm>
            <a:off x="399960" y="8534520"/>
            <a:ext cx="41868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064CDD1A-335B-43F5-AF8E-F314B198F4B2}"/>
              </a:ext>
            </a:extLst>
          </p:cNvPr>
          <p:cNvSpPr>
            <a:spLocks noGrp="1"/>
          </p:cNvSpPr>
          <p:nvPr/>
        </p:nvSpPr>
        <p:spPr>
          <a:xfrm>
            <a:off x="990720" y="8534520"/>
            <a:ext cx="1190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8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WATCHLIST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F3165CE2-6707-4618-9AB5-DFD879152632}"/>
              </a:ext>
            </a:extLst>
          </p:cNvPr>
          <p:cNvSpPr>
            <a:spLocks noGrp="1"/>
          </p:cNvSpPr>
          <p:nvPr/>
        </p:nvSpPr>
        <p:spPr>
          <a:xfrm>
            <a:off x="2190600" y="8515440"/>
            <a:ext cx="497160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Ingredient-led challengers are expanding quickly. The Derma Co is still small in Facewash share but growing from a low base.</a:t>
            </a:r>
          </a:p>
        </p:txBody>
      </p:sp>
      <p:sp>
        <p:nvSpPr>
          <p:cNvPr id="1092" name="Rectangle: Rounded Corners 1091">
            <a:extLst>
              <a:ext uri="{FF2B5EF4-FFF2-40B4-BE49-F238E27FC236}">
                <a16:creationId xmlns:a16="http://schemas.microsoft.com/office/drawing/2014/main" id="{3FEE25CE-CBB7-4E28-AE16-1126A2B14A38}"/>
              </a:ext>
            </a:extLst>
          </p:cNvPr>
          <p:cNvSpPr>
            <a:spLocks noGrp="1"/>
          </p:cNvSpPr>
          <p:nvPr/>
        </p:nvSpPr>
        <p:spPr>
          <a:xfrm>
            <a:off x="399960" y="9505800"/>
            <a:ext cx="6762240" cy="552240"/>
          </a:xfrm>
          <a:prstGeom prst="roundRect">
            <a:avLst>
              <a:gd name="adj" fmla="val 13793"/>
            </a:avLst>
          </a:prstGeom>
          <a:solidFill>
            <a:srgbClr val="FFF4EC"/>
          </a:solidFill>
          <a:ln w="0">
            <a:solidFill>
              <a:srgbClr val="FFF4E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10554A60-49A8-4C49-8E59-483D4C6AE30A}"/>
              </a:ext>
            </a:extLst>
          </p:cNvPr>
          <p:cNvSpPr>
            <a:spLocks noGrp="1"/>
          </p:cNvSpPr>
          <p:nvPr/>
        </p:nvSpPr>
        <p:spPr>
          <a:xfrm>
            <a:off x="590400" y="9591840"/>
            <a:ext cx="638136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Decision: keep MT investment growth-led, but track weekly WD + PDO + fill rate together so share gains translate into durable sales.</a:t>
            </a:r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C1518ACF-5BC5-401D-81ED-1A0FBF24166A}"/>
              </a:ext>
            </a:extLst>
          </p:cNvPr>
          <p:cNvSpPr>
            <a:spLocks noGrp="1"/>
          </p:cNvSpPr>
          <p:nvPr/>
        </p:nvSpPr>
        <p:spPr>
          <a:xfrm>
            <a:off x="399960" y="10306080"/>
            <a:ext cx="67622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7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Source: MS insights.xlsx | MAT Jun-26 | External market sales; internal NSV shown separately elsewhere in this deck</a:t>
            </a:r>
          </a:p>
        </p:txBody>
      </p:sp>
    </p:spTree>
    <p:extLst>
      <p:ext uri="{BB962C8B-B14F-4D97-AF65-F5344CB8AC3E}">
        <p14:creationId xmlns:p14="http://schemas.microsoft.com/office/powerpoint/2010/main" val="1101429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Rectangle 1094">
            <a:extLst>
              <a:ext uri="{FF2B5EF4-FFF2-40B4-BE49-F238E27FC236}">
                <a16:creationId xmlns:a16="http://schemas.microsoft.com/office/drawing/2014/main" id="{562374CF-52BB-405C-9BFE-E966C864C4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562520" cy="999720"/>
          </a:xfrm>
          <a:prstGeom prst="rect">
            <a:avLst/>
          </a:prstGeom>
          <a:solidFill>
            <a:srgbClr val="2D9B7F"/>
          </a:solidFill>
          <a:ln w="0">
            <a:solidFill>
              <a:srgbClr val="17365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D4BDB2BF-E9C5-40D2-955E-B0C0B5ED386E}"/>
              </a:ext>
            </a:extLst>
          </p:cNvPr>
          <p:cNvSpPr>
            <a:spLocks noGrp="1"/>
          </p:cNvSpPr>
          <p:nvPr/>
        </p:nvSpPr>
        <p:spPr>
          <a:xfrm>
            <a:off x="399960" y="228600"/>
            <a:ext cx="676224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2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TURN SHARE GAINS INTO REPEATABLE GROWTH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0924738-3EEF-4183-A050-835A74E6F6F3}"/>
              </a:ext>
            </a:extLst>
          </p:cNvPr>
          <p:cNvSpPr>
            <a:spLocks noGrp="1"/>
          </p:cNvSpPr>
          <p:nvPr/>
        </p:nvSpPr>
        <p:spPr>
          <a:xfrm>
            <a:off x="399960" y="685800"/>
            <a:ext cx="63813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20" b="0" u="none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Four moves for Q2 FY27</a:t>
            </a: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D98762F4-C4DB-4C2C-BC9C-51C395E30BED}"/>
              </a:ext>
            </a:extLst>
          </p:cNvPr>
          <p:cNvSpPr>
            <a:spLocks noGrp="1"/>
          </p:cNvSpPr>
          <p:nvPr/>
        </p:nvSpPr>
        <p:spPr>
          <a:xfrm>
            <a:off x="6858000" y="666720"/>
            <a:ext cx="399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50" b="1" u="none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1A90FC57-D30E-46AF-913F-4B648223BFBD}"/>
              </a:ext>
            </a:extLst>
          </p:cNvPr>
          <p:cNvSpPr>
            <a:spLocks noGrp="1"/>
          </p:cNvSpPr>
          <p:nvPr/>
        </p:nvSpPr>
        <p:spPr>
          <a:xfrm>
            <a:off x="399960" y="1200240"/>
            <a:ext cx="676224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50" b="1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The opportunity is clear. Execution now decides whether momentum compounds or fades.</a:t>
            </a:r>
          </a:p>
        </p:txBody>
      </p:sp>
      <p:sp>
        <p:nvSpPr>
          <p:cNvPr id="1100" name="Rectangle: Rounded Corners 1099">
            <a:extLst>
              <a:ext uri="{FF2B5EF4-FFF2-40B4-BE49-F238E27FC236}">
                <a16:creationId xmlns:a16="http://schemas.microsoft.com/office/drawing/2014/main" id="{B7AA4E02-E384-43E5-9120-61592AEF7490}"/>
              </a:ext>
            </a:extLst>
          </p:cNvPr>
          <p:cNvSpPr>
            <a:spLocks noGrp="1"/>
          </p:cNvSpPr>
          <p:nvPr/>
        </p:nvSpPr>
        <p:spPr>
          <a:xfrm>
            <a:off x="399960" y="2000160"/>
            <a:ext cx="6762240" cy="1638000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 w="0">
            <a:solidFill>
              <a:srgbClr val="F7FAF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D2300528-0DB1-4B4C-A4CA-471F36F21288}"/>
              </a:ext>
            </a:extLst>
          </p:cNvPr>
          <p:cNvSpPr>
            <a:spLocks noGrp="1"/>
          </p:cNvSpPr>
          <p:nvPr/>
        </p:nvSpPr>
        <p:spPr>
          <a:xfrm>
            <a:off x="399960" y="2000160"/>
            <a:ext cx="75960" cy="163800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BFA74C56-4A1B-4E66-982B-C7CBF0B739B7}"/>
              </a:ext>
            </a:extLst>
          </p:cNvPr>
          <p:cNvSpPr>
            <a:spLocks noGrp="1"/>
          </p:cNvSpPr>
          <p:nvPr/>
        </p:nvSpPr>
        <p:spPr>
          <a:xfrm>
            <a:off x="647640" y="2266920"/>
            <a:ext cx="5522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7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BDCB2E62-0DC2-494C-BC1A-306447D27385}"/>
              </a:ext>
            </a:extLst>
          </p:cNvPr>
          <p:cNvSpPr>
            <a:spLocks noGrp="1"/>
          </p:cNvSpPr>
          <p:nvPr/>
        </p:nvSpPr>
        <p:spPr>
          <a:xfrm>
            <a:off x="1352520" y="2238480"/>
            <a:ext cx="5428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PROTECT FACEWASH LEAD</a:t>
            </a:r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573E83C3-7D13-4A33-A5B7-C52F47BD0616}"/>
              </a:ext>
            </a:extLst>
          </p:cNvPr>
          <p:cNvSpPr>
            <a:spLocks noGrp="1"/>
          </p:cNvSpPr>
          <p:nvPr/>
        </p:nvSpPr>
        <p:spPr>
          <a:xfrm>
            <a:off x="1352520" y="2590920"/>
            <a:ext cx="5428800" cy="5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Hold availability in 150ml and 100ml heroes; prioritise South accounts where category growth and Mamaearth momentum are strongest.</a:t>
            </a:r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8CAA225A-8DA3-4889-93F9-376E2E48924D}"/>
              </a:ext>
            </a:extLst>
          </p:cNvPr>
          <p:cNvSpPr>
            <a:spLocks noGrp="1"/>
          </p:cNvSpPr>
          <p:nvPr/>
        </p:nvSpPr>
        <p:spPr>
          <a:xfrm>
            <a:off x="1352520" y="323856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KPI: WD ≥90% | Fill rate ≥95%</a:t>
            </a: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6BFD5860-E0A9-48C3-A16F-D8D63851EE74}"/>
              </a:ext>
            </a:extLst>
          </p:cNvPr>
          <p:cNvSpPr>
            <a:spLocks noGrp="1"/>
          </p:cNvSpPr>
          <p:nvPr/>
        </p:nvSpPr>
        <p:spPr>
          <a:xfrm>
            <a:off x="399960" y="3790800"/>
            <a:ext cx="6762240" cy="1638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EBC38644-748B-4D7C-9E28-CCA88E18C791}"/>
              </a:ext>
            </a:extLst>
          </p:cNvPr>
          <p:cNvSpPr>
            <a:spLocks noGrp="1"/>
          </p:cNvSpPr>
          <p:nvPr/>
        </p:nvSpPr>
        <p:spPr>
          <a:xfrm>
            <a:off x="399960" y="3790800"/>
            <a:ext cx="75960" cy="163800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B3EBC146-9993-4ACA-A8A1-8A58D48DF5D9}"/>
              </a:ext>
            </a:extLst>
          </p:cNvPr>
          <p:cNvSpPr>
            <a:spLocks noGrp="1"/>
          </p:cNvSpPr>
          <p:nvPr/>
        </p:nvSpPr>
        <p:spPr>
          <a:xfrm>
            <a:off x="647640" y="4057560"/>
            <a:ext cx="5522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7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B4F9F7FF-5ED1-47BF-BBA5-8F0CB0119C63}"/>
              </a:ext>
            </a:extLst>
          </p:cNvPr>
          <p:cNvSpPr>
            <a:spLocks noGrp="1"/>
          </p:cNvSpPr>
          <p:nvPr/>
        </p:nvSpPr>
        <p:spPr>
          <a:xfrm>
            <a:off x="1352520" y="4029120"/>
            <a:ext cx="5428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SCALE SHAMPOO SMARTLY</a:t>
            </a:r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7CA8E08B-9EB5-4F78-AACB-2A269C331B85}"/>
              </a:ext>
            </a:extLst>
          </p:cNvPr>
          <p:cNvSpPr>
            <a:spLocks noGrp="1"/>
          </p:cNvSpPr>
          <p:nvPr/>
        </p:nvSpPr>
        <p:spPr>
          <a:xfrm>
            <a:off x="1352520" y="4381560"/>
            <a:ext cx="5428800" cy="5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Expand Rosemary as the scale lever while protecting Onion. Review pack mix to prevent volume growth from over-diluting realised price/ml.</a:t>
            </a:r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C0E6D78A-DAA6-4229-9A2C-F214405D06B1}"/>
              </a:ext>
            </a:extLst>
          </p:cNvPr>
          <p:cNvSpPr>
            <a:spLocks noGrp="1"/>
          </p:cNvSpPr>
          <p:nvPr/>
        </p:nvSpPr>
        <p:spPr>
          <a:xfrm>
            <a:off x="1352520" y="502920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KPI: Share &gt;4% | PDO growth &gt; category</a:t>
            </a:r>
          </a:p>
        </p:txBody>
      </p:sp>
      <p:sp>
        <p:nvSpPr>
          <p:cNvPr id="1112" name="Rectangle: Rounded Corners 1111">
            <a:extLst>
              <a:ext uri="{FF2B5EF4-FFF2-40B4-BE49-F238E27FC236}">
                <a16:creationId xmlns:a16="http://schemas.microsoft.com/office/drawing/2014/main" id="{0C6B0B2C-7B70-4DFA-B1EA-88445D692E4E}"/>
              </a:ext>
            </a:extLst>
          </p:cNvPr>
          <p:cNvSpPr>
            <a:spLocks noGrp="1"/>
          </p:cNvSpPr>
          <p:nvPr/>
        </p:nvSpPr>
        <p:spPr>
          <a:xfrm>
            <a:off x="399960" y="5581800"/>
            <a:ext cx="6762240" cy="1638000"/>
          </a:xfrm>
          <a:prstGeom prst="roundRect">
            <a:avLst>
              <a:gd name="adj" fmla="val 4651"/>
            </a:avLst>
          </a:prstGeom>
          <a:solidFill>
            <a:srgbClr val="F7FAFC"/>
          </a:solidFill>
          <a:ln w="0">
            <a:solidFill>
              <a:srgbClr val="F7FAF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7A068472-2060-4348-9FBE-C3DCE2164F85}"/>
              </a:ext>
            </a:extLst>
          </p:cNvPr>
          <p:cNvSpPr>
            <a:spLocks noGrp="1"/>
          </p:cNvSpPr>
          <p:nvPr/>
        </p:nvSpPr>
        <p:spPr>
          <a:xfrm>
            <a:off x="399960" y="5581800"/>
            <a:ext cx="75960" cy="163800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3F4C6350-E61F-416B-8CC2-9310404D0FB5}"/>
              </a:ext>
            </a:extLst>
          </p:cNvPr>
          <p:cNvSpPr>
            <a:spLocks noGrp="1"/>
          </p:cNvSpPr>
          <p:nvPr/>
        </p:nvSpPr>
        <p:spPr>
          <a:xfrm>
            <a:off x="647640" y="5848200"/>
            <a:ext cx="5522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7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CEEDB6CE-197B-46CC-AB01-8D42EA63296E}"/>
              </a:ext>
            </a:extLst>
          </p:cNvPr>
          <p:cNvSpPr>
            <a:spLocks noGrp="1"/>
          </p:cNvSpPr>
          <p:nvPr/>
        </p:nvSpPr>
        <p:spPr>
          <a:xfrm>
            <a:off x="1352520" y="5819760"/>
            <a:ext cx="5428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WIN THE VELOCITY BATTLE</a:t>
            </a:r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C8D67F1A-9A7A-4102-9C7B-B3633C6CEF6D}"/>
              </a:ext>
            </a:extLst>
          </p:cNvPr>
          <p:cNvSpPr>
            <a:spLocks noGrp="1"/>
          </p:cNvSpPr>
          <p:nvPr/>
        </p:nvSpPr>
        <p:spPr>
          <a:xfrm>
            <a:off x="1352520" y="6172200"/>
            <a:ext cx="5428800" cy="5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Rank chains by share opportunity using WD × PDO. Fix the largest high-distribution, low-velocity gaps before adding broad new listings.</a:t>
            </a:r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94935B7D-974F-4257-B97C-586F6D509096}"/>
              </a:ext>
            </a:extLst>
          </p:cNvPr>
          <p:cNvSpPr>
            <a:spLocks noGrp="1"/>
          </p:cNvSpPr>
          <p:nvPr/>
        </p:nvSpPr>
        <p:spPr>
          <a:xfrm>
            <a:off x="1352520" y="681984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70AD47"/>
                </a:solidFill>
                <a:latin typeface="Calibri"/>
                <a:ea typeface="Calibri"/>
                <a:cs typeface="Calibri"/>
              </a:rPr>
              <a:t>KPI: Top-10 gap closure weekly</a:t>
            </a:r>
          </a:p>
        </p:txBody>
      </p:sp>
      <p:sp>
        <p:nvSpPr>
          <p:cNvPr id="1118" name="Rectangle: Rounded Corners 1117">
            <a:extLst>
              <a:ext uri="{FF2B5EF4-FFF2-40B4-BE49-F238E27FC236}">
                <a16:creationId xmlns:a16="http://schemas.microsoft.com/office/drawing/2014/main" id="{BB3067D5-F543-4A06-A25C-BFE7081E09E4}"/>
              </a:ext>
            </a:extLst>
          </p:cNvPr>
          <p:cNvSpPr>
            <a:spLocks noGrp="1"/>
          </p:cNvSpPr>
          <p:nvPr/>
        </p:nvSpPr>
        <p:spPr>
          <a:xfrm>
            <a:off x="399960" y="7372440"/>
            <a:ext cx="6762240" cy="1638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63092DC9-BF55-4261-8C73-106064B0BBB8}"/>
              </a:ext>
            </a:extLst>
          </p:cNvPr>
          <p:cNvSpPr>
            <a:spLocks noGrp="1"/>
          </p:cNvSpPr>
          <p:nvPr/>
        </p:nvSpPr>
        <p:spPr>
          <a:xfrm>
            <a:off x="399960" y="7372440"/>
            <a:ext cx="75960" cy="163800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11012368-7C1A-4003-A449-3B0310FDCC77}"/>
              </a:ext>
            </a:extLst>
          </p:cNvPr>
          <p:cNvSpPr>
            <a:spLocks noGrp="1"/>
          </p:cNvSpPr>
          <p:nvPr/>
        </p:nvSpPr>
        <p:spPr>
          <a:xfrm>
            <a:off x="647640" y="7639200"/>
            <a:ext cx="5522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70" b="1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07A9DDB-49A2-49E3-B077-A743823415F0}"/>
              </a:ext>
            </a:extLst>
          </p:cNvPr>
          <p:cNvSpPr>
            <a:spLocks noGrp="1"/>
          </p:cNvSpPr>
          <p:nvPr/>
        </p:nvSpPr>
        <p:spPr>
          <a:xfrm>
            <a:off x="1352520" y="7610400"/>
            <a:ext cx="5428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7365D"/>
                </a:solidFill>
                <a:latin typeface="Calibri"/>
                <a:ea typeface="Calibri"/>
                <a:cs typeface="Calibri"/>
              </a:rPr>
              <a:t>SEPARATE THE MEASUREMENT BASES</a:t>
            </a: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99EEE4D8-91D6-4D3E-BD15-889C478E2C53}"/>
              </a:ext>
            </a:extLst>
          </p:cNvPr>
          <p:cNvSpPr>
            <a:spLocks noGrp="1"/>
          </p:cNvSpPr>
          <p:nvPr/>
        </p:nvSpPr>
        <p:spPr>
          <a:xfrm>
            <a:off x="1352520" y="7962840"/>
            <a:ext cx="5428800" cy="5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Use external market share for competitive health and internal NSV for business delivery. Do not compare them as the same sales base.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7E8AC10B-655C-4494-AFE0-759249D5BAEA}"/>
              </a:ext>
            </a:extLst>
          </p:cNvPr>
          <p:cNvSpPr>
            <a:spLocks noGrp="1"/>
          </p:cNvSpPr>
          <p:nvPr/>
        </p:nvSpPr>
        <p:spPr>
          <a:xfrm>
            <a:off x="1352520" y="8610480"/>
            <a:ext cx="5428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KPI: One source label on every chart</a:t>
            </a:r>
          </a:p>
        </p:txBody>
      </p:sp>
      <p:sp>
        <p:nvSpPr>
          <p:cNvPr id="1124" name="Rectangle: Rounded Corners 1123">
            <a:extLst>
              <a:ext uri="{FF2B5EF4-FFF2-40B4-BE49-F238E27FC236}">
                <a16:creationId xmlns:a16="http://schemas.microsoft.com/office/drawing/2014/main" id="{3D0780C5-5B76-47D4-91EB-87489DFEC29C}"/>
              </a:ext>
            </a:extLst>
          </p:cNvPr>
          <p:cNvSpPr>
            <a:spLocks noGrp="1"/>
          </p:cNvSpPr>
          <p:nvPr/>
        </p:nvSpPr>
        <p:spPr>
          <a:xfrm>
            <a:off x="399960" y="9353520"/>
            <a:ext cx="6762240" cy="723600"/>
          </a:xfrm>
          <a:prstGeom prst="roundRect">
            <a:avLst>
              <a:gd name="adj" fmla="val 10526"/>
            </a:avLst>
          </a:prstGeom>
          <a:solidFill>
            <a:srgbClr val="17365D"/>
          </a:solidFill>
          <a:ln w="0">
            <a:solidFill>
              <a:srgbClr val="17365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CCA79C4D-A48C-4B7A-89A7-FCC7D527FDBB}"/>
              </a:ext>
            </a:extLst>
          </p:cNvPr>
          <p:cNvSpPr>
            <a:spLocks noGrp="1"/>
          </p:cNvSpPr>
          <p:nvPr/>
        </p:nvSpPr>
        <p:spPr>
          <a:xfrm>
            <a:off x="590400" y="945828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DDEBF7"/>
                </a:solidFill>
                <a:latin typeface="Calibri"/>
                <a:ea typeface="Calibri"/>
                <a:cs typeface="Calibri"/>
              </a:rPr>
              <a:t>LEADERSHIP ASK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9A359D00-AA7C-41BE-8645-5EB26BB8F8C7}"/>
              </a:ext>
            </a:extLst>
          </p:cNvPr>
          <p:cNvSpPr>
            <a:spLocks noGrp="1"/>
          </p:cNvSpPr>
          <p:nvPr/>
        </p:nvSpPr>
        <p:spPr>
          <a:xfrm>
            <a:off x="590400" y="9705960"/>
            <a:ext cx="628632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 chain-level WD × PDO review and monthly pack-mix governance for Facewash and Shampoo.</a:t>
            </a: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B361ED5C-C172-4AEF-BBD0-2568F6D663BE}"/>
              </a:ext>
            </a:extLst>
          </p:cNvPr>
          <p:cNvSpPr>
            <a:spLocks noGrp="1"/>
          </p:cNvSpPr>
          <p:nvPr/>
        </p:nvSpPr>
        <p:spPr>
          <a:xfrm>
            <a:off x="399960" y="10306080"/>
            <a:ext cx="676224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70" b="0" u="none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Source: MS insights.xlsx | MAT Jun-26 | External market sales; internal NSV shown separately elsewhere in this deck</a:t>
            </a:r>
          </a:p>
        </p:txBody>
      </p:sp>
    </p:spTree>
    <p:extLst>
      <p:ext uri="{BB962C8B-B14F-4D97-AF65-F5344CB8AC3E}">
        <p14:creationId xmlns:p14="http://schemas.microsoft.com/office/powerpoint/2010/main" val="1232781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5229</Words>
  <Application>Microsoft Office PowerPoint</Application>
  <DocSecurity>0</DocSecurity>
  <PresentationFormat>Custom</PresentationFormat>
  <Paragraphs>1798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Sheshant  Singh Aswal</cp:lastModifiedBy>
  <cp:revision>1</cp:revision>
  <dcterms:created xsi:type="dcterms:W3CDTF">2026-07-23T05:22:09Z</dcterms:created>
  <dcterms:modified xsi:type="dcterms:W3CDTF">2026-07-23T12:07:14Z</dcterms:modified>
</cp:coreProperties>
</file>