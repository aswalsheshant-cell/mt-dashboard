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0" r:id="rId2"/>
    <p:sldId id="291" r:id="rId3"/>
    <p:sldId id="29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.xlsx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MAMAEARTH</c:v>
                </c:pt>
              </c:strCache>
            </c:strRef>
          </c:tx>
          <c:spPr>
            <a:solidFill>
              <a:schemeClr val="accent6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1.53</c:v>
                </c:pt>
                <c:pt idx="2">
                  <c:v>0.45</c:v>
                </c:pt>
                <c:pt idx="4">
                  <c:v>45.86</c:v>
                </c:pt>
                <c:pt idx="6">
                  <c:v>0.63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1B-488A-8575-5BF1DC4FA4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Category Leader</c:v>
                </c:pt>
              </c:strCache>
            </c:strRef>
          </c:tx>
          <c:spPr>
            <a:solidFill>
              <a:schemeClr val="accent1">
                <a:lumMod val="20000"/>
                <a:lumOff val="8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650 ml</c:v>
                </c:pt>
                <c:pt idx="1">
                  <c:v>340 ml</c:v>
                </c:pt>
                <c:pt idx="2">
                  <c:v>180 ml</c:v>
                </c:pt>
                <c:pt idx="3">
                  <c:v>1000 ml</c:v>
                </c:pt>
                <c:pt idx="4">
                  <c:v>400 ml</c:v>
                </c:pt>
                <c:pt idx="5">
                  <c:v>580 ml</c:v>
                </c:pt>
                <c:pt idx="6">
                  <c:v>200 ml</c:v>
                </c:pt>
                <c:pt idx="7">
                  <c:v>175 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103.48</c:v>
                </c:pt>
                <c:pt idx="1">
                  <c:v>59.59</c:v>
                </c:pt>
                <c:pt idx="2">
                  <c:v>59.4</c:v>
                </c:pt>
                <c:pt idx="3">
                  <c:v>55</c:v>
                </c:pt>
                <c:pt idx="4">
                  <c:v>45.86</c:v>
                </c:pt>
                <c:pt idx="5">
                  <c:v>51.61</c:v>
                </c:pt>
                <c:pt idx="6">
                  <c:v>12.76</c:v>
                </c:pt>
                <c:pt idx="7">
                  <c:v>31.18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1B-488A-8575-5BF1DC4FA47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solidFill>
        <a:sysClr val="windowText" lastClr="000000"/>
      </a:solidFill>
    </a:ln>
    <a:effectLst/>
  </c:spPr>
  <c:externalData r:id="rId2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03459C-1D66-4710-89D5-D5F5E14A9374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88D4F16-44A7-42A3-A434-61A9821A57FD}">
      <dgm:prSet custT="1"/>
      <dgm:spPr/>
      <dgm:t>
        <a:bodyPr/>
        <a:lstStyle/>
        <a:p>
          <a:pPr algn="ctr"/>
          <a:r>
            <a:rPr lang="en-US" sz="1400" b="1" dirty="0"/>
            <a:t>Key Insights:</a:t>
          </a:r>
          <a:endParaRPr lang="en-IN" sz="1400" dirty="0"/>
        </a:p>
      </dgm:t>
    </dgm:pt>
    <dgm:pt modelId="{3D3F4EF9-76F6-4B1F-97CA-6F48CF3FFB05}" type="parTrans" cxnId="{572A3D41-00D1-4A3C-B823-6ADD7A809769}">
      <dgm:prSet/>
      <dgm:spPr/>
      <dgm:t>
        <a:bodyPr/>
        <a:lstStyle/>
        <a:p>
          <a:endParaRPr lang="en-IN"/>
        </a:p>
      </dgm:t>
    </dgm:pt>
    <dgm:pt modelId="{C2DECF14-2383-4C37-863A-EC0093DB8623}" type="sibTrans" cxnId="{572A3D41-00D1-4A3C-B823-6ADD7A809769}">
      <dgm:prSet/>
      <dgm:spPr/>
      <dgm:t>
        <a:bodyPr/>
        <a:lstStyle/>
        <a:p>
          <a:endParaRPr lang="en-IN"/>
        </a:p>
      </dgm:t>
    </dgm:pt>
    <dgm:pt modelId="{87E49969-AFF0-4C2D-9F91-2EC054FCCAAC}">
      <dgm:prSet custT="1"/>
      <dgm:spPr/>
      <dgm:t>
        <a:bodyPr/>
        <a:lstStyle/>
        <a:p>
          <a:r>
            <a:rPr lang="en-US" sz="900" dirty="0"/>
            <a:t>Category ₹83 Cr (+13% YoY). Himalaya leads (21.6%) but down 3.3 pt. </a:t>
          </a:r>
          <a:r>
            <a:rPr lang="en-US" sz="900" dirty="0" err="1"/>
            <a:t>Mamaearth</a:t>
          </a:r>
          <a:r>
            <a:rPr lang="en-US" sz="900" dirty="0"/>
            <a:t> (#4, +3.1 pt) is the biggest gainer. ★ = </a:t>
          </a:r>
          <a:r>
            <a:rPr lang="en-US" sz="900" dirty="0" err="1"/>
            <a:t>Honasa</a:t>
          </a:r>
          <a:r>
            <a:rPr lang="en-US" sz="900" dirty="0"/>
            <a:t>.</a:t>
          </a:r>
          <a:endParaRPr lang="en-IN" sz="900" dirty="0"/>
        </a:p>
      </dgm:t>
    </dgm:pt>
    <dgm:pt modelId="{23B6B4E8-52F4-41E9-8194-EE8E10CCC699}" type="parTrans" cxnId="{23D46F68-A7F7-4404-A94E-F38E272054DC}">
      <dgm:prSet/>
      <dgm:spPr/>
      <dgm:t>
        <a:bodyPr/>
        <a:lstStyle/>
        <a:p>
          <a:endParaRPr lang="en-IN"/>
        </a:p>
      </dgm:t>
    </dgm:pt>
    <dgm:pt modelId="{7C6C15CF-A8AA-4F3A-A95E-741E99069EA8}" type="sibTrans" cxnId="{23D46F68-A7F7-4404-A94E-F38E272054DC}">
      <dgm:prSet/>
      <dgm:spPr/>
      <dgm:t>
        <a:bodyPr/>
        <a:lstStyle/>
        <a:p>
          <a:endParaRPr lang="en-IN"/>
        </a:p>
      </dgm:t>
    </dgm:pt>
    <dgm:pt modelId="{52572700-72E5-413D-8805-1A6E3F05A616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is the #4 Face Wash brand in MT at 11.6% (+3.1 pt YoY). The legacy leader Himalaya is down 3.3 pt. </a:t>
          </a:r>
          <a:endParaRPr lang="en-IN" sz="900" dirty="0"/>
        </a:p>
      </dgm:t>
    </dgm:pt>
    <dgm:pt modelId="{F3131F66-5DCF-4146-B5F6-E087F2CC272C}" type="parTrans" cxnId="{CA3757B4-7A7C-4D89-A07E-66695AE9B75F}">
      <dgm:prSet/>
      <dgm:spPr/>
      <dgm:t>
        <a:bodyPr/>
        <a:lstStyle/>
        <a:p>
          <a:endParaRPr lang="en-IN"/>
        </a:p>
      </dgm:t>
    </dgm:pt>
    <dgm:pt modelId="{F9B6203A-2301-47AF-BC08-ACA759654F02}" type="sibTrans" cxnId="{CA3757B4-7A7C-4D89-A07E-66695AE9B75F}">
      <dgm:prSet/>
      <dgm:spPr/>
      <dgm:t>
        <a:bodyPr/>
        <a:lstStyle/>
        <a:p>
          <a:endParaRPr lang="en-IN"/>
        </a:p>
      </dgm:t>
    </dgm:pt>
    <dgm:pt modelId="{9DCCF6CA-4A10-4ADA-A146-221BE34A7A05}">
      <dgm:prSet custT="1"/>
      <dgm:spPr/>
      <dgm:t>
        <a:bodyPr/>
        <a:lstStyle/>
        <a:p>
          <a:r>
            <a:rPr lang="en-US" sz="900" dirty="0"/>
            <a:t>The gains are distribution-led: ME weighted handling moved 81→87% &amp; The Derma Co weighted handling moved .6 →14.2%. </a:t>
          </a:r>
          <a:endParaRPr lang="en-IN" sz="900" dirty="0"/>
        </a:p>
      </dgm:t>
    </dgm:pt>
    <dgm:pt modelId="{B809DD88-988F-4B43-BDBB-86BD549B2261}" type="parTrans" cxnId="{AE91A830-5A56-4E87-AEBA-165B309E8088}">
      <dgm:prSet/>
      <dgm:spPr/>
      <dgm:t>
        <a:bodyPr/>
        <a:lstStyle/>
        <a:p>
          <a:endParaRPr lang="en-IN"/>
        </a:p>
      </dgm:t>
    </dgm:pt>
    <dgm:pt modelId="{CF485B60-5D6C-40EC-9C6F-20E352480155}" type="sibTrans" cxnId="{AE91A830-5A56-4E87-AEBA-165B309E8088}">
      <dgm:prSet/>
      <dgm:spPr/>
      <dgm:t>
        <a:bodyPr/>
        <a:lstStyle/>
        <a:p>
          <a:endParaRPr lang="en-IN"/>
        </a:p>
      </dgm:t>
    </dgm:pt>
    <dgm:pt modelId="{AD6E3193-4514-4A2B-BE9C-39882F9A2686}" type="pres">
      <dgm:prSet presAssocID="{B003459C-1D66-4710-89D5-D5F5E14A9374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D8A5A1A7-49EE-4743-A08D-67E6CADAFD57}" type="pres">
      <dgm:prSet presAssocID="{A88D4F16-44A7-42A3-A434-61A9821A57FD}" presName="horFlow" presStyleCnt="0"/>
      <dgm:spPr/>
    </dgm:pt>
    <dgm:pt modelId="{AC9DFAA5-85F2-4063-83FE-0003ECDF3129}" type="pres">
      <dgm:prSet presAssocID="{A88D4F16-44A7-42A3-A434-61A9821A57FD}" presName="bigChev" presStyleLbl="node1" presStyleIdx="0" presStyleCnt="1" custScaleX="73148" custScaleY="104764"/>
      <dgm:spPr/>
    </dgm:pt>
    <dgm:pt modelId="{6359CE99-CB1F-4F08-8C17-30AFE0A4C310}" type="pres">
      <dgm:prSet presAssocID="{23B6B4E8-52F4-41E9-8194-EE8E10CCC699}" presName="parTrans" presStyleCnt="0"/>
      <dgm:spPr/>
    </dgm:pt>
    <dgm:pt modelId="{B45F4E3A-F28A-4933-AFD2-26B673249C7F}" type="pres">
      <dgm:prSet presAssocID="{87E49969-AFF0-4C2D-9F91-2EC054FCCAAC}" presName="node" presStyleLbl="alignAccFollowNode1" presStyleIdx="0" presStyleCnt="3" custScaleX="97781" custScaleY="114375">
        <dgm:presLayoutVars>
          <dgm:bulletEnabled val="1"/>
        </dgm:presLayoutVars>
      </dgm:prSet>
      <dgm:spPr/>
    </dgm:pt>
    <dgm:pt modelId="{58DA012F-2DF5-4CF8-A157-C603A031B9A5}" type="pres">
      <dgm:prSet presAssocID="{7C6C15CF-A8AA-4F3A-A95E-741E99069EA8}" presName="sibTrans" presStyleCnt="0"/>
      <dgm:spPr/>
    </dgm:pt>
    <dgm:pt modelId="{EABA3E1B-A6F8-4933-8515-1587A22C6B11}" type="pres">
      <dgm:prSet presAssocID="{52572700-72E5-413D-8805-1A6E3F05A616}" presName="node" presStyleLbl="alignAccFollowNode1" presStyleIdx="1" presStyleCnt="3" custScaleX="100512" custScaleY="114215">
        <dgm:presLayoutVars>
          <dgm:bulletEnabled val="1"/>
        </dgm:presLayoutVars>
      </dgm:prSet>
      <dgm:spPr/>
    </dgm:pt>
    <dgm:pt modelId="{C1047C29-2B73-45AA-8FF9-A3C9ACEA117E}" type="pres">
      <dgm:prSet presAssocID="{F9B6203A-2301-47AF-BC08-ACA759654F02}" presName="sibTrans" presStyleCnt="0"/>
      <dgm:spPr/>
    </dgm:pt>
    <dgm:pt modelId="{F4933751-6B04-458B-9157-85E9F085117B}" type="pres">
      <dgm:prSet presAssocID="{9DCCF6CA-4A10-4ADA-A146-221BE34A7A05}" presName="node" presStyleLbl="alignAccFollowNode1" presStyleIdx="2" presStyleCnt="3" custScaleX="99566" custScaleY="114375">
        <dgm:presLayoutVars>
          <dgm:bulletEnabled val="1"/>
        </dgm:presLayoutVars>
      </dgm:prSet>
      <dgm:spPr/>
    </dgm:pt>
  </dgm:ptLst>
  <dgm:cxnLst>
    <dgm:cxn modelId="{AE91A830-5A56-4E87-AEBA-165B309E8088}" srcId="{A88D4F16-44A7-42A3-A434-61A9821A57FD}" destId="{9DCCF6CA-4A10-4ADA-A146-221BE34A7A05}" srcOrd="2" destOrd="0" parTransId="{B809DD88-988F-4B43-BDBB-86BD549B2261}" sibTransId="{CF485B60-5D6C-40EC-9C6F-20E352480155}"/>
    <dgm:cxn modelId="{D9783132-0E6A-4D76-B3F2-376F77AA9E0A}" type="presOf" srcId="{A88D4F16-44A7-42A3-A434-61A9821A57FD}" destId="{AC9DFAA5-85F2-4063-83FE-0003ECDF3129}" srcOrd="0" destOrd="0" presId="urn:microsoft.com/office/officeart/2005/8/layout/lProcess3"/>
    <dgm:cxn modelId="{C1E7D736-BF55-4E3B-B76E-1D22C51B6BC9}" type="presOf" srcId="{9DCCF6CA-4A10-4ADA-A146-221BE34A7A05}" destId="{F4933751-6B04-458B-9157-85E9F085117B}" srcOrd="0" destOrd="0" presId="urn:microsoft.com/office/officeart/2005/8/layout/lProcess3"/>
    <dgm:cxn modelId="{04F9853A-B687-4C18-A36A-471DE764BB4A}" type="presOf" srcId="{52572700-72E5-413D-8805-1A6E3F05A616}" destId="{EABA3E1B-A6F8-4933-8515-1587A22C6B11}" srcOrd="0" destOrd="0" presId="urn:microsoft.com/office/officeart/2005/8/layout/lProcess3"/>
    <dgm:cxn modelId="{572A3D41-00D1-4A3C-B823-6ADD7A809769}" srcId="{B003459C-1D66-4710-89D5-D5F5E14A9374}" destId="{A88D4F16-44A7-42A3-A434-61A9821A57FD}" srcOrd="0" destOrd="0" parTransId="{3D3F4EF9-76F6-4B1F-97CA-6F48CF3FFB05}" sibTransId="{C2DECF14-2383-4C37-863A-EC0093DB8623}"/>
    <dgm:cxn modelId="{23D46F68-A7F7-4404-A94E-F38E272054DC}" srcId="{A88D4F16-44A7-42A3-A434-61A9821A57FD}" destId="{87E49969-AFF0-4C2D-9F91-2EC054FCCAAC}" srcOrd="0" destOrd="0" parTransId="{23B6B4E8-52F4-41E9-8194-EE8E10CCC699}" sibTransId="{7C6C15CF-A8AA-4F3A-A95E-741E99069EA8}"/>
    <dgm:cxn modelId="{29DDA381-7530-48E7-AEE3-7253EEA10B96}" type="presOf" srcId="{87E49969-AFF0-4C2D-9F91-2EC054FCCAAC}" destId="{B45F4E3A-F28A-4933-AFD2-26B673249C7F}" srcOrd="0" destOrd="0" presId="urn:microsoft.com/office/officeart/2005/8/layout/lProcess3"/>
    <dgm:cxn modelId="{CA3757B4-7A7C-4D89-A07E-66695AE9B75F}" srcId="{A88D4F16-44A7-42A3-A434-61A9821A57FD}" destId="{52572700-72E5-413D-8805-1A6E3F05A616}" srcOrd="1" destOrd="0" parTransId="{F3131F66-5DCF-4146-B5F6-E087F2CC272C}" sibTransId="{F9B6203A-2301-47AF-BC08-ACA759654F02}"/>
    <dgm:cxn modelId="{76732CF6-396B-4DFA-AB5C-36D67923B029}" type="presOf" srcId="{B003459C-1D66-4710-89D5-D5F5E14A9374}" destId="{AD6E3193-4514-4A2B-BE9C-39882F9A2686}" srcOrd="0" destOrd="0" presId="urn:microsoft.com/office/officeart/2005/8/layout/lProcess3"/>
    <dgm:cxn modelId="{533D6C61-C347-4617-B058-A19377F9F06F}" type="presParOf" srcId="{AD6E3193-4514-4A2B-BE9C-39882F9A2686}" destId="{D8A5A1A7-49EE-4743-A08D-67E6CADAFD57}" srcOrd="0" destOrd="0" presId="urn:microsoft.com/office/officeart/2005/8/layout/lProcess3"/>
    <dgm:cxn modelId="{1F7715B7-ABED-4585-AA96-F284C1795814}" type="presParOf" srcId="{D8A5A1A7-49EE-4743-A08D-67E6CADAFD57}" destId="{AC9DFAA5-85F2-4063-83FE-0003ECDF3129}" srcOrd="0" destOrd="0" presId="urn:microsoft.com/office/officeart/2005/8/layout/lProcess3"/>
    <dgm:cxn modelId="{79F7A6DD-D3BD-4B48-ADA3-F83C536E8D56}" type="presParOf" srcId="{D8A5A1A7-49EE-4743-A08D-67E6CADAFD57}" destId="{6359CE99-CB1F-4F08-8C17-30AFE0A4C310}" srcOrd="1" destOrd="0" presId="urn:microsoft.com/office/officeart/2005/8/layout/lProcess3"/>
    <dgm:cxn modelId="{EF8CED7C-93EC-4ED1-BD7F-2D6CD748B053}" type="presParOf" srcId="{D8A5A1A7-49EE-4743-A08D-67E6CADAFD57}" destId="{B45F4E3A-F28A-4933-AFD2-26B673249C7F}" srcOrd="2" destOrd="0" presId="urn:microsoft.com/office/officeart/2005/8/layout/lProcess3"/>
    <dgm:cxn modelId="{ADEA485C-7B33-4A45-93DF-637749C51B67}" type="presParOf" srcId="{D8A5A1A7-49EE-4743-A08D-67E6CADAFD57}" destId="{58DA012F-2DF5-4CF8-A157-C603A031B9A5}" srcOrd="3" destOrd="0" presId="urn:microsoft.com/office/officeart/2005/8/layout/lProcess3"/>
    <dgm:cxn modelId="{33165E48-9C02-4A3A-8A09-02E1CF59F59D}" type="presParOf" srcId="{D8A5A1A7-49EE-4743-A08D-67E6CADAFD57}" destId="{EABA3E1B-A6F8-4933-8515-1587A22C6B11}" srcOrd="4" destOrd="0" presId="urn:microsoft.com/office/officeart/2005/8/layout/lProcess3"/>
    <dgm:cxn modelId="{9D273AF1-8D07-4980-8BB4-4CB3131BA62A}" type="presParOf" srcId="{D8A5A1A7-49EE-4743-A08D-67E6CADAFD57}" destId="{C1047C29-2B73-45AA-8FF9-A3C9ACEA117E}" srcOrd="5" destOrd="0" presId="urn:microsoft.com/office/officeart/2005/8/layout/lProcess3"/>
    <dgm:cxn modelId="{76D999B4-34D5-496D-885D-186AADEC1AAA}" type="presParOf" srcId="{D8A5A1A7-49EE-4743-A08D-67E6CADAFD57}" destId="{F4933751-6B04-458B-9157-85E9F085117B}" srcOrd="6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EB36DA-30FD-429E-B9A4-51B560F482B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32710A2-009A-4113-971E-D380B36D09E6}">
      <dgm:prSet/>
      <dgm:spPr>
        <a:ln>
          <a:solidFill>
            <a:schemeClr val="tx1"/>
          </a:solidFill>
        </a:ln>
      </dgm:spPr>
      <dgm:t>
        <a:bodyPr anchor="ctr"/>
        <a:lstStyle/>
        <a:p>
          <a:pPr algn="ctr"/>
          <a:r>
            <a:rPr lang="en-US" b="1" dirty="0"/>
            <a:t>HONASA IS GAINING MODERN TRADE SHARE, LED BY STRONGER DISTRIBUTION</a:t>
          </a:r>
          <a:endParaRPr lang="en-IN" b="1" dirty="0"/>
        </a:p>
      </dgm:t>
    </dgm:pt>
    <dgm:pt modelId="{77A8BBB5-2042-49F7-863A-76353FCFE8F7}" type="parTrans" cxnId="{BC8A70D3-BF2B-4A5F-8773-9FC967FF8CC9}">
      <dgm:prSet/>
      <dgm:spPr/>
      <dgm:t>
        <a:bodyPr/>
        <a:lstStyle/>
        <a:p>
          <a:endParaRPr lang="en-IN"/>
        </a:p>
      </dgm:t>
    </dgm:pt>
    <dgm:pt modelId="{7143A624-5FB9-45AF-BF01-CF0F3C8992E9}" type="sibTrans" cxnId="{BC8A70D3-BF2B-4A5F-8773-9FC967FF8CC9}">
      <dgm:prSet/>
      <dgm:spPr/>
      <dgm:t>
        <a:bodyPr/>
        <a:lstStyle/>
        <a:p>
          <a:endParaRPr lang="en-IN"/>
        </a:p>
      </dgm:t>
    </dgm:pt>
    <dgm:pt modelId="{65062155-B76B-4E17-B234-C42AA233000B}">
      <dgm:prSet/>
      <dgm:spPr/>
      <dgm:t>
        <a:bodyPr anchor="ctr"/>
        <a:lstStyle/>
        <a:p>
          <a:r>
            <a:rPr lang="en-US" b="1" dirty="0"/>
            <a:t>What happened —</a:t>
          </a:r>
          <a:r>
            <a:rPr lang="en-US" dirty="0"/>
            <a:t> </a:t>
          </a:r>
          <a:r>
            <a:rPr lang="en-US" dirty="0" err="1"/>
            <a:t>Mamaearth</a:t>
          </a:r>
          <a:r>
            <a:rPr lang="en-US" dirty="0"/>
            <a:t> is the </a:t>
          </a:r>
          <a:r>
            <a:rPr lang="en-IN" dirty="0"/>
            <a:t>★</a:t>
          </a:r>
          <a:r>
            <a:rPr lang="en-US" dirty="0"/>
            <a:t>#4 Face Wash brand in MT at 11.6% (+3.1 pt YoY) and is gaining in Shampoo at 3.9% (+1.3 pt). The legacy leader Himalaya is down 3.3 pt.</a:t>
          </a:r>
          <a:endParaRPr lang="en-IN" dirty="0"/>
        </a:p>
      </dgm:t>
    </dgm:pt>
    <dgm:pt modelId="{8EBADEEC-D99C-40E2-9C3E-97ED7271DAF0}" type="parTrans" cxnId="{557630BE-3F3C-4E2C-9CF4-4F2EA7032795}">
      <dgm:prSet/>
      <dgm:spPr/>
      <dgm:t>
        <a:bodyPr/>
        <a:lstStyle/>
        <a:p>
          <a:endParaRPr lang="en-IN"/>
        </a:p>
      </dgm:t>
    </dgm:pt>
    <dgm:pt modelId="{CAE335FC-6799-4C68-A04B-8F4C99A3522A}" type="sibTrans" cxnId="{557630BE-3F3C-4E2C-9CF4-4F2EA7032795}">
      <dgm:prSet/>
      <dgm:spPr/>
      <dgm:t>
        <a:bodyPr/>
        <a:lstStyle/>
        <a:p>
          <a:endParaRPr lang="en-IN"/>
        </a:p>
      </dgm:t>
    </dgm:pt>
    <dgm:pt modelId="{AD2F7022-A92B-4326-809D-8C15496F8AF5}">
      <dgm:prSet/>
      <dgm:spPr/>
      <dgm:t>
        <a:bodyPr anchor="ctr"/>
        <a:lstStyle/>
        <a:p>
          <a:r>
            <a:rPr lang="en-US" b="1" dirty="0"/>
            <a:t>Why — </a:t>
          </a:r>
          <a:r>
            <a:rPr lang="en-US" dirty="0"/>
            <a:t>The gains are distribution-led: </a:t>
          </a:r>
          <a:r>
            <a:rPr lang="en-US" dirty="0" err="1"/>
            <a:t>Mamaearth</a:t>
          </a:r>
          <a:r>
            <a:rPr lang="en-US" dirty="0"/>
            <a:t> weighted handling moved 81→87% (FW) and 76→81% (Shampoo). The Derma Co is building MT from near-zero (0.6→14.2% handling).</a:t>
          </a:r>
          <a:endParaRPr lang="en-IN" dirty="0"/>
        </a:p>
      </dgm:t>
    </dgm:pt>
    <dgm:pt modelId="{ECE58BA4-3994-49E3-92E3-13878623A988}" type="parTrans" cxnId="{0DBC56BB-FABC-40C2-A142-B5B12F9F6A28}">
      <dgm:prSet/>
      <dgm:spPr/>
      <dgm:t>
        <a:bodyPr/>
        <a:lstStyle/>
        <a:p>
          <a:endParaRPr lang="en-IN"/>
        </a:p>
      </dgm:t>
    </dgm:pt>
    <dgm:pt modelId="{20D77FC4-020E-4F7C-894A-6AADA65B8F59}" type="sibTrans" cxnId="{0DBC56BB-FABC-40C2-A142-B5B12F9F6A28}">
      <dgm:prSet/>
      <dgm:spPr/>
      <dgm:t>
        <a:bodyPr/>
        <a:lstStyle/>
        <a:p>
          <a:endParaRPr lang="en-IN"/>
        </a:p>
      </dgm:t>
    </dgm:pt>
    <dgm:pt modelId="{C95A7DCC-3215-4427-A522-A9DB460B3818}">
      <dgm:prSet/>
      <dgm:spPr/>
      <dgm:t>
        <a:bodyPr anchor="ctr"/>
        <a:lstStyle/>
        <a:p>
          <a:r>
            <a:rPr lang="en-US" b="1" dirty="0"/>
            <a:t>Impact — </a:t>
          </a:r>
          <a:r>
            <a:rPr lang="en-US" dirty="0" err="1"/>
            <a:t>Honasa</a:t>
          </a:r>
          <a:r>
            <a:rPr lang="en-US" dirty="0"/>
            <a:t> is converting MT shelf into share in the two largest cleansing categories, worth ₹9.6 Cr + ₹6.5 Cr monthly RR and rising.</a:t>
          </a:r>
          <a:endParaRPr lang="en-IN" dirty="0"/>
        </a:p>
      </dgm:t>
    </dgm:pt>
    <dgm:pt modelId="{EA264769-8ED4-4932-98D6-FD482E0D63DB}" type="parTrans" cxnId="{4144644D-09D3-40B0-BF02-B5C18B638B52}">
      <dgm:prSet/>
      <dgm:spPr/>
      <dgm:t>
        <a:bodyPr/>
        <a:lstStyle/>
        <a:p>
          <a:endParaRPr lang="en-IN"/>
        </a:p>
      </dgm:t>
    </dgm:pt>
    <dgm:pt modelId="{23ACEAC4-F078-47AD-9EC3-923BAD8E42AE}" type="sibTrans" cxnId="{4144644D-09D3-40B0-BF02-B5C18B638B52}">
      <dgm:prSet/>
      <dgm:spPr/>
      <dgm:t>
        <a:bodyPr/>
        <a:lstStyle/>
        <a:p>
          <a:endParaRPr lang="en-IN"/>
        </a:p>
      </dgm:t>
    </dgm:pt>
    <dgm:pt modelId="{0231D5BF-FF2C-47A3-9220-CA1B4AB7CB93}">
      <dgm:prSet/>
      <dgm:spPr/>
      <dgm:t>
        <a:bodyPr anchor="ctr"/>
        <a:lstStyle/>
        <a:p>
          <a:r>
            <a:rPr lang="en-US" b="1" dirty="0"/>
            <a:t>Action — </a:t>
          </a:r>
          <a:r>
            <a:rPr lang="en-US" dirty="0"/>
            <a:t>Need to protect the FW Distribution gain and checked for Shampoo assortment gaps in chains to identify further growth opportunities.</a:t>
          </a:r>
          <a:endParaRPr lang="en-IN" dirty="0"/>
        </a:p>
      </dgm:t>
    </dgm:pt>
    <dgm:pt modelId="{79B768AB-A91E-4780-81A9-835F5D174731}" type="parTrans" cxnId="{F2A07B7C-864A-40D5-B4C3-1F4858D9A574}">
      <dgm:prSet/>
      <dgm:spPr/>
      <dgm:t>
        <a:bodyPr/>
        <a:lstStyle/>
        <a:p>
          <a:endParaRPr lang="en-IN"/>
        </a:p>
      </dgm:t>
    </dgm:pt>
    <dgm:pt modelId="{E361D35A-9D18-4D8D-BF61-FDC36DD7A871}" type="sibTrans" cxnId="{F2A07B7C-864A-40D5-B4C3-1F4858D9A574}">
      <dgm:prSet/>
      <dgm:spPr/>
      <dgm:t>
        <a:bodyPr/>
        <a:lstStyle/>
        <a:p>
          <a:endParaRPr lang="en-IN"/>
        </a:p>
      </dgm:t>
    </dgm:pt>
    <dgm:pt modelId="{4458F8B2-7309-4B79-B1ED-66772D733DE5}" type="pres">
      <dgm:prSet presAssocID="{75EB36DA-30FD-429E-B9A4-51B560F482B3}" presName="vert0" presStyleCnt="0">
        <dgm:presLayoutVars>
          <dgm:dir/>
          <dgm:animOne val="branch"/>
          <dgm:animLvl val="lvl"/>
        </dgm:presLayoutVars>
      </dgm:prSet>
      <dgm:spPr/>
    </dgm:pt>
    <dgm:pt modelId="{E1A54491-AF60-4F4A-8502-1EC3307DAD88}" type="pres">
      <dgm:prSet presAssocID="{C32710A2-009A-4113-971E-D380B36D09E6}" presName="thickLine" presStyleLbl="alignNode1" presStyleIdx="0" presStyleCnt="1"/>
      <dgm:spPr/>
    </dgm:pt>
    <dgm:pt modelId="{CB6BA72A-8EE0-4FC8-8FA4-54E4E6C5ED45}" type="pres">
      <dgm:prSet presAssocID="{C32710A2-009A-4113-971E-D380B36D09E6}" presName="horz1" presStyleCnt="0"/>
      <dgm:spPr/>
    </dgm:pt>
    <dgm:pt modelId="{3B507AF8-74BE-4443-B823-02C4F7422963}" type="pres">
      <dgm:prSet presAssocID="{C32710A2-009A-4113-971E-D380B36D09E6}" presName="tx1" presStyleLbl="revTx" presStyleIdx="0" presStyleCnt="5"/>
      <dgm:spPr/>
    </dgm:pt>
    <dgm:pt modelId="{1C525586-FFAD-4571-8EBA-CC0DC154B7EA}" type="pres">
      <dgm:prSet presAssocID="{C32710A2-009A-4113-971E-D380B36D09E6}" presName="vert1" presStyleCnt="0"/>
      <dgm:spPr/>
    </dgm:pt>
    <dgm:pt modelId="{63B59168-D6A9-41C1-B52C-0CD7F2EDF0B0}" type="pres">
      <dgm:prSet presAssocID="{65062155-B76B-4E17-B234-C42AA233000B}" presName="vertSpace2a" presStyleCnt="0"/>
      <dgm:spPr/>
    </dgm:pt>
    <dgm:pt modelId="{C8B4FAEE-E7A3-4EBE-88EB-8866AB80EE67}" type="pres">
      <dgm:prSet presAssocID="{65062155-B76B-4E17-B234-C42AA233000B}" presName="horz2" presStyleCnt="0"/>
      <dgm:spPr/>
    </dgm:pt>
    <dgm:pt modelId="{84322DDF-A8D5-49B8-B460-A4052A9E28E1}" type="pres">
      <dgm:prSet presAssocID="{65062155-B76B-4E17-B234-C42AA233000B}" presName="horzSpace2" presStyleCnt="0"/>
      <dgm:spPr/>
    </dgm:pt>
    <dgm:pt modelId="{5E9C23F4-222C-484A-A108-B17963B330E8}" type="pres">
      <dgm:prSet presAssocID="{65062155-B76B-4E17-B234-C42AA233000B}" presName="tx2" presStyleLbl="revTx" presStyleIdx="1" presStyleCnt="5"/>
      <dgm:spPr/>
    </dgm:pt>
    <dgm:pt modelId="{FAF4E696-6F7F-475B-93ED-5E188493B912}" type="pres">
      <dgm:prSet presAssocID="{65062155-B76B-4E17-B234-C42AA233000B}" presName="vert2" presStyleCnt="0"/>
      <dgm:spPr/>
    </dgm:pt>
    <dgm:pt modelId="{3014EFA0-5169-4D60-A5D7-934DE2186031}" type="pres">
      <dgm:prSet presAssocID="{65062155-B76B-4E17-B234-C42AA233000B}" presName="thinLine2b" presStyleLbl="callout" presStyleIdx="0" presStyleCnt="4"/>
      <dgm:spPr/>
    </dgm:pt>
    <dgm:pt modelId="{39C494F3-19B0-4FB7-90E5-F670D3B4B257}" type="pres">
      <dgm:prSet presAssocID="{65062155-B76B-4E17-B234-C42AA233000B}" presName="vertSpace2b" presStyleCnt="0"/>
      <dgm:spPr/>
    </dgm:pt>
    <dgm:pt modelId="{5498A288-DDD5-4853-9327-3F6A151FAE97}" type="pres">
      <dgm:prSet presAssocID="{AD2F7022-A92B-4326-809D-8C15496F8AF5}" presName="horz2" presStyleCnt="0"/>
      <dgm:spPr/>
    </dgm:pt>
    <dgm:pt modelId="{3F6E9E9D-FE16-4198-9FB1-0AF8A68AB476}" type="pres">
      <dgm:prSet presAssocID="{AD2F7022-A92B-4326-809D-8C15496F8AF5}" presName="horzSpace2" presStyleCnt="0"/>
      <dgm:spPr/>
    </dgm:pt>
    <dgm:pt modelId="{E45FC06D-6131-4C7B-A993-903F08057C44}" type="pres">
      <dgm:prSet presAssocID="{AD2F7022-A92B-4326-809D-8C15496F8AF5}" presName="tx2" presStyleLbl="revTx" presStyleIdx="2" presStyleCnt="5"/>
      <dgm:spPr/>
    </dgm:pt>
    <dgm:pt modelId="{5956D816-3A2A-4FF7-8EA9-1EDAAF1FB6FE}" type="pres">
      <dgm:prSet presAssocID="{AD2F7022-A92B-4326-809D-8C15496F8AF5}" presName="vert2" presStyleCnt="0"/>
      <dgm:spPr/>
    </dgm:pt>
    <dgm:pt modelId="{F922B264-6F20-4425-AC71-9BADBD8A3A38}" type="pres">
      <dgm:prSet presAssocID="{AD2F7022-A92B-4326-809D-8C15496F8AF5}" presName="thinLine2b" presStyleLbl="callout" presStyleIdx="1" presStyleCnt="4"/>
      <dgm:spPr/>
    </dgm:pt>
    <dgm:pt modelId="{5DA1D6C3-C866-47C8-B04A-EA15568887FE}" type="pres">
      <dgm:prSet presAssocID="{AD2F7022-A92B-4326-809D-8C15496F8AF5}" presName="vertSpace2b" presStyleCnt="0"/>
      <dgm:spPr/>
    </dgm:pt>
    <dgm:pt modelId="{2E8A8921-BE3D-4F50-AC22-6C0B922A5820}" type="pres">
      <dgm:prSet presAssocID="{C95A7DCC-3215-4427-A522-A9DB460B3818}" presName="horz2" presStyleCnt="0"/>
      <dgm:spPr/>
    </dgm:pt>
    <dgm:pt modelId="{747D342F-7564-44FB-A10F-D2A845DCB75E}" type="pres">
      <dgm:prSet presAssocID="{C95A7DCC-3215-4427-A522-A9DB460B3818}" presName="horzSpace2" presStyleCnt="0"/>
      <dgm:spPr/>
    </dgm:pt>
    <dgm:pt modelId="{62D7282F-3AA8-4F87-A566-78073F7C75EA}" type="pres">
      <dgm:prSet presAssocID="{C95A7DCC-3215-4427-A522-A9DB460B3818}" presName="tx2" presStyleLbl="revTx" presStyleIdx="3" presStyleCnt="5"/>
      <dgm:spPr/>
    </dgm:pt>
    <dgm:pt modelId="{1DBCDDB6-6592-4860-9B19-39ADE4DB973A}" type="pres">
      <dgm:prSet presAssocID="{C95A7DCC-3215-4427-A522-A9DB460B3818}" presName="vert2" presStyleCnt="0"/>
      <dgm:spPr/>
    </dgm:pt>
    <dgm:pt modelId="{8DC5D532-BBE1-460A-89C0-ACB6DAE14AE6}" type="pres">
      <dgm:prSet presAssocID="{C95A7DCC-3215-4427-A522-A9DB460B3818}" presName="thinLine2b" presStyleLbl="callout" presStyleIdx="2" presStyleCnt="4"/>
      <dgm:spPr/>
    </dgm:pt>
    <dgm:pt modelId="{22A50117-8D7B-4228-A30A-E75B7155CE8F}" type="pres">
      <dgm:prSet presAssocID="{C95A7DCC-3215-4427-A522-A9DB460B3818}" presName="vertSpace2b" presStyleCnt="0"/>
      <dgm:spPr/>
    </dgm:pt>
    <dgm:pt modelId="{64471B8F-F3FB-4176-B9E4-FEFEA83F20F6}" type="pres">
      <dgm:prSet presAssocID="{0231D5BF-FF2C-47A3-9220-CA1B4AB7CB93}" presName="horz2" presStyleCnt="0"/>
      <dgm:spPr/>
    </dgm:pt>
    <dgm:pt modelId="{579E74B1-70B1-4C7D-8FE6-1489450309D8}" type="pres">
      <dgm:prSet presAssocID="{0231D5BF-FF2C-47A3-9220-CA1B4AB7CB93}" presName="horzSpace2" presStyleCnt="0"/>
      <dgm:spPr/>
    </dgm:pt>
    <dgm:pt modelId="{E42BC4FB-B2B9-457A-B6B4-FE95B4CFE12C}" type="pres">
      <dgm:prSet presAssocID="{0231D5BF-FF2C-47A3-9220-CA1B4AB7CB93}" presName="tx2" presStyleLbl="revTx" presStyleIdx="4" presStyleCnt="5"/>
      <dgm:spPr/>
    </dgm:pt>
    <dgm:pt modelId="{842F7F69-C9FB-4612-A5F7-A25F5B9258C3}" type="pres">
      <dgm:prSet presAssocID="{0231D5BF-FF2C-47A3-9220-CA1B4AB7CB93}" presName="vert2" presStyleCnt="0"/>
      <dgm:spPr/>
    </dgm:pt>
    <dgm:pt modelId="{092B1DD1-FC62-4791-879B-64E5524300D7}" type="pres">
      <dgm:prSet presAssocID="{0231D5BF-FF2C-47A3-9220-CA1B4AB7CB93}" presName="thinLine2b" presStyleLbl="callout" presStyleIdx="3" presStyleCnt="4"/>
      <dgm:spPr/>
    </dgm:pt>
    <dgm:pt modelId="{20B40DFB-F8CA-4BAF-AFF6-27C7BB5E08E9}" type="pres">
      <dgm:prSet presAssocID="{0231D5BF-FF2C-47A3-9220-CA1B4AB7CB93}" presName="vertSpace2b" presStyleCnt="0"/>
      <dgm:spPr/>
    </dgm:pt>
  </dgm:ptLst>
  <dgm:cxnLst>
    <dgm:cxn modelId="{C2FCC767-0288-47FD-9624-EF8ADA1B5CDD}" type="presOf" srcId="{75EB36DA-30FD-429E-B9A4-51B560F482B3}" destId="{4458F8B2-7309-4B79-B1ED-66772D733DE5}" srcOrd="0" destOrd="0" presId="urn:microsoft.com/office/officeart/2008/layout/LinedList"/>
    <dgm:cxn modelId="{4144644D-09D3-40B0-BF02-B5C18B638B52}" srcId="{C32710A2-009A-4113-971E-D380B36D09E6}" destId="{C95A7DCC-3215-4427-A522-A9DB460B3818}" srcOrd="2" destOrd="0" parTransId="{EA264769-8ED4-4932-98D6-FD482E0D63DB}" sibTransId="{23ACEAC4-F078-47AD-9EC3-923BAD8E42AE}"/>
    <dgm:cxn modelId="{F2A07B7C-864A-40D5-B4C3-1F4858D9A574}" srcId="{C32710A2-009A-4113-971E-D380B36D09E6}" destId="{0231D5BF-FF2C-47A3-9220-CA1B4AB7CB93}" srcOrd="3" destOrd="0" parTransId="{79B768AB-A91E-4780-81A9-835F5D174731}" sibTransId="{E361D35A-9D18-4D8D-BF61-FDC36DD7A871}"/>
    <dgm:cxn modelId="{9F224C98-A5BF-46A2-A540-055DABFFA67A}" type="presOf" srcId="{65062155-B76B-4E17-B234-C42AA233000B}" destId="{5E9C23F4-222C-484A-A108-B17963B330E8}" srcOrd="0" destOrd="0" presId="urn:microsoft.com/office/officeart/2008/layout/LinedList"/>
    <dgm:cxn modelId="{DDCE4F99-D085-46B9-BA80-CD977D309E88}" type="presOf" srcId="{C95A7DCC-3215-4427-A522-A9DB460B3818}" destId="{62D7282F-3AA8-4F87-A566-78073F7C75EA}" srcOrd="0" destOrd="0" presId="urn:microsoft.com/office/officeart/2008/layout/LinedList"/>
    <dgm:cxn modelId="{0DC6DB9F-D289-45DC-A118-BC7240D24651}" type="presOf" srcId="{AD2F7022-A92B-4326-809D-8C15496F8AF5}" destId="{E45FC06D-6131-4C7B-A993-903F08057C44}" srcOrd="0" destOrd="0" presId="urn:microsoft.com/office/officeart/2008/layout/LinedList"/>
    <dgm:cxn modelId="{C6138AA3-EE38-485D-897E-8B85585F309B}" type="presOf" srcId="{C32710A2-009A-4113-971E-D380B36D09E6}" destId="{3B507AF8-74BE-4443-B823-02C4F7422963}" srcOrd="0" destOrd="0" presId="urn:microsoft.com/office/officeart/2008/layout/LinedList"/>
    <dgm:cxn modelId="{0DBC56BB-FABC-40C2-A142-B5B12F9F6A28}" srcId="{C32710A2-009A-4113-971E-D380B36D09E6}" destId="{AD2F7022-A92B-4326-809D-8C15496F8AF5}" srcOrd="1" destOrd="0" parTransId="{ECE58BA4-3994-49E3-92E3-13878623A988}" sibTransId="{20D77FC4-020E-4F7C-894A-6AADA65B8F59}"/>
    <dgm:cxn modelId="{557630BE-3F3C-4E2C-9CF4-4F2EA7032795}" srcId="{C32710A2-009A-4113-971E-D380B36D09E6}" destId="{65062155-B76B-4E17-B234-C42AA233000B}" srcOrd="0" destOrd="0" parTransId="{8EBADEEC-D99C-40E2-9C3E-97ED7271DAF0}" sibTransId="{CAE335FC-6799-4C68-A04B-8F4C99A3522A}"/>
    <dgm:cxn modelId="{BC8A70D3-BF2B-4A5F-8773-9FC967FF8CC9}" srcId="{75EB36DA-30FD-429E-B9A4-51B560F482B3}" destId="{C32710A2-009A-4113-971E-D380B36D09E6}" srcOrd="0" destOrd="0" parTransId="{77A8BBB5-2042-49F7-863A-76353FCFE8F7}" sibTransId="{7143A624-5FB9-45AF-BF01-CF0F3C8992E9}"/>
    <dgm:cxn modelId="{A31D49D4-1DB4-4CA5-8DFE-26D02212E6E6}" type="presOf" srcId="{0231D5BF-FF2C-47A3-9220-CA1B4AB7CB93}" destId="{E42BC4FB-B2B9-457A-B6B4-FE95B4CFE12C}" srcOrd="0" destOrd="0" presId="urn:microsoft.com/office/officeart/2008/layout/LinedList"/>
    <dgm:cxn modelId="{3AB21902-67C7-401B-B15F-A1DA86DBEC47}" type="presParOf" srcId="{4458F8B2-7309-4B79-B1ED-66772D733DE5}" destId="{E1A54491-AF60-4F4A-8502-1EC3307DAD88}" srcOrd="0" destOrd="0" presId="urn:microsoft.com/office/officeart/2008/layout/LinedList"/>
    <dgm:cxn modelId="{D78A1E92-3096-4E60-98BB-084C2B005E02}" type="presParOf" srcId="{4458F8B2-7309-4B79-B1ED-66772D733DE5}" destId="{CB6BA72A-8EE0-4FC8-8FA4-54E4E6C5ED45}" srcOrd="1" destOrd="0" presId="urn:microsoft.com/office/officeart/2008/layout/LinedList"/>
    <dgm:cxn modelId="{8955D87E-5A4D-40F9-A7C5-6B3958627CE0}" type="presParOf" srcId="{CB6BA72A-8EE0-4FC8-8FA4-54E4E6C5ED45}" destId="{3B507AF8-74BE-4443-B823-02C4F7422963}" srcOrd="0" destOrd="0" presId="urn:microsoft.com/office/officeart/2008/layout/LinedList"/>
    <dgm:cxn modelId="{BCBB8ECB-22B9-4212-BE7F-E07239677EB0}" type="presParOf" srcId="{CB6BA72A-8EE0-4FC8-8FA4-54E4E6C5ED45}" destId="{1C525586-FFAD-4571-8EBA-CC0DC154B7EA}" srcOrd="1" destOrd="0" presId="urn:microsoft.com/office/officeart/2008/layout/LinedList"/>
    <dgm:cxn modelId="{23E79147-D1FB-4BAF-A3ED-52286EEA67A5}" type="presParOf" srcId="{1C525586-FFAD-4571-8EBA-CC0DC154B7EA}" destId="{63B59168-D6A9-41C1-B52C-0CD7F2EDF0B0}" srcOrd="0" destOrd="0" presId="urn:microsoft.com/office/officeart/2008/layout/LinedList"/>
    <dgm:cxn modelId="{5F1CAAAC-7956-4F5E-9C90-EDE723CA080A}" type="presParOf" srcId="{1C525586-FFAD-4571-8EBA-CC0DC154B7EA}" destId="{C8B4FAEE-E7A3-4EBE-88EB-8866AB80EE67}" srcOrd="1" destOrd="0" presId="urn:microsoft.com/office/officeart/2008/layout/LinedList"/>
    <dgm:cxn modelId="{31834F5C-EDA1-4F2A-9F99-DFA5FAE96C2A}" type="presParOf" srcId="{C8B4FAEE-E7A3-4EBE-88EB-8866AB80EE67}" destId="{84322DDF-A8D5-49B8-B460-A4052A9E28E1}" srcOrd="0" destOrd="0" presId="urn:microsoft.com/office/officeart/2008/layout/LinedList"/>
    <dgm:cxn modelId="{D9A26043-D95D-4D28-B75A-EEB4D4C18696}" type="presParOf" srcId="{C8B4FAEE-E7A3-4EBE-88EB-8866AB80EE67}" destId="{5E9C23F4-222C-484A-A108-B17963B330E8}" srcOrd="1" destOrd="0" presId="urn:microsoft.com/office/officeart/2008/layout/LinedList"/>
    <dgm:cxn modelId="{D396140F-C327-4B9E-81B9-519219CEF1C4}" type="presParOf" srcId="{C8B4FAEE-E7A3-4EBE-88EB-8866AB80EE67}" destId="{FAF4E696-6F7F-475B-93ED-5E188493B912}" srcOrd="2" destOrd="0" presId="urn:microsoft.com/office/officeart/2008/layout/LinedList"/>
    <dgm:cxn modelId="{EE8B8F39-E981-420C-BBC8-1F4254DF65A8}" type="presParOf" srcId="{1C525586-FFAD-4571-8EBA-CC0DC154B7EA}" destId="{3014EFA0-5169-4D60-A5D7-934DE2186031}" srcOrd="2" destOrd="0" presId="urn:microsoft.com/office/officeart/2008/layout/LinedList"/>
    <dgm:cxn modelId="{D6D54DA1-B28F-46CB-9325-5A88D8948B17}" type="presParOf" srcId="{1C525586-FFAD-4571-8EBA-CC0DC154B7EA}" destId="{39C494F3-19B0-4FB7-90E5-F670D3B4B257}" srcOrd="3" destOrd="0" presId="urn:microsoft.com/office/officeart/2008/layout/LinedList"/>
    <dgm:cxn modelId="{572D55D7-6C07-474F-BD58-2F4E7BAA3808}" type="presParOf" srcId="{1C525586-FFAD-4571-8EBA-CC0DC154B7EA}" destId="{5498A288-DDD5-4853-9327-3F6A151FAE97}" srcOrd="4" destOrd="0" presId="urn:microsoft.com/office/officeart/2008/layout/LinedList"/>
    <dgm:cxn modelId="{F218E96C-3CF3-4DFB-960C-0883FD9E7B41}" type="presParOf" srcId="{5498A288-DDD5-4853-9327-3F6A151FAE97}" destId="{3F6E9E9D-FE16-4198-9FB1-0AF8A68AB476}" srcOrd="0" destOrd="0" presId="urn:microsoft.com/office/officeart/2008/layout/LinedList"/>
    <dgm:cxn modelId="{3251F834-C988-4C95-92D0-7D59F0478919}" type="presParOf" srcId="{5498A288-DDD5-4853-9327-3F6A151FAE97}" destId="{E45FC06D-6131-4C7B-A993-903F08057C44}" srcOrd="1" destOrd="0" presId="urn:microsoft.com/office/officeart/2008/layout/LinedList"/>
    <dgm:cxn modelId="{B470ECA7-A5F3-4861-8E18-2677E2F4A467}" type="presParOf" srcId="{5498A288-DDD5-4853-9327-3F6A151FAE97}" destId="{5956D816-3A2A-4FF7-8EA9-1EDAAF1FB6FE}" srcOrd="2" destOrd="0" presId="urn:microsoft.com/office/officeart/2008/layout/LinedList"/>
    <dgm:cxn modelId="{CD33BF6E-A8C8-4F27-96EB-156C27371EEB}" type="presParOf" srcId="{1C525586-FFAD-4571-8EBA-CC0DC154B7EA}" destId="{F922B264-6F20-4425-AC71-9BADBD8A3A38}" srcOrd="5" destOrd="0" presId="urn:microsoft.com/office/officeart/2008/layout/LinedList"/>
    <dgm:cxn modelId="{C8E64ABA-F452-40A6-A4AC-F5E23E681436}" type="presParOf" srcId="{1C525586-FFAD-4571-8EBA-CC0DC154B7EA}" destId="{5DA1D6C3-C866-47C8-B04A-EA15568887FE}" srcOrd="6" destOrd="0" presId="urn:microsoft.com/office/officeart/2008/layout/LinedList"/>
    <dgm:cxn modelId="{BADDD9CB-1AA6-4F73-A1E3-FE1680BA1A68}" type="presParOf" srcId="{1C525586-FFAD-4571-8EBA-CC0DC154B7EA}" destId="{2E8A8921-BE3D-4F50-AC22-6C0B922A5820}" srcOrd="7" destOrd="0" presId="urn:microsoft.com/office/officeart/2008/layout/LinedList"/>
    <dgm:cxn modelId="{EABD49A0-DAA5-43A7-8FA3-E786316B34C7}" type="presParOf" srcId="{2E8A8921-BE3D-4F50-AC22-6C0B922A5820}" destId="{747D342F-7564-44FB-A10F-D2A845DCB75E}" srcOrd="0" destOrd="0" presId="urn:microsoft.com/office/officeart/2008/layout/LinedList"/>
    <dgm:cxn modelId="{0EECFB8E-F6E1-4D23-B648-D80BFD7B8F9B}" type="presParOf" srcId="{2E8A8921-BE3D-4F50-AC22-6C0B922A5820}" destId="{62D7282F-3AA8-4F87-A566-78073F7C75EA}" srcOrd="1" destOrd="0" presId="urn:microsoft.com/office/officeart/2008/layout/LinedList"/>
    <dgm:cxn modelId="{B2046D31-882E-4168-9B6F-7D43FD1F5666}" type="presParOf" srcId="{2E8A8921-BE3D-4F50-AC22-6C0B922A5820}" destId="{1DBCDDB6-6592-4860-9B19-39ADE4DB973A}" srcOrd="2" destOrd="0" presId="urn:microsoft.com/office/officeart/2008/layout/LinedList"/>
    <dgm:cxn modelId="{C0F349F0-D130-40B3-856F-3BA37EE65F0F}" type="presParOf" srcId="{1C525586-FFAD-4571-8EBA-CC0DC154B7EA}" destId="{8DC5D532-BBE1-460A-89C0-ACB6DAE14AE6}" srcOrd="8" destOrd="0" presId="urn:microsoft.com/office/officeart/2008/layout/LinedList"/>
    <dgm:cxn modelId="{B56FC561-24A3-480C-AB59-125A4F481241}" type="presParOf" srcId="{1C525586-FFAD-4571-8EBA-CC0DC154B7EA}" destId="{22A50117-8D7B-4228-A30A-E75B7155CE8F}" srcOrd="9" destOrd="0" presId="urn:microsoft.com/office/officeart/2008/layout/LinedList"/>
    <dgm:cxn modelId="{6318A558-CE03-435F-9350-145906589A84}" type="presParOf" srcId="{1C525586-FFAD-4571-8EBA-CC0DC154B7EA}" destId="{64471B8F-F3FB-4176-B9E4-FEFEA83F20F6}" srcOrd="10" destOrd="0" presId="urn:microsoft.com/office/officeart/2008/layout/LinedList"/>
    <dgm:cxn modelId="{BABAAC55-A042-43AB-AE25-6CF1ED3F9F04}" type="presParOf" srcId="{64471B8F-F3FB-4176-B9E4-FEFEA83F20F6}" destId="{579E74B1-70B1-4C7D-8FE6-1489450309D8}" srcOrd="0" destOrd="0" presId="urn:microsoft.com/office/officeart/2008/layout/LinedList"/>
    <dgm:cxn modelId="{8D4A277A-0F05-4CB0-9BC4-61B5E56F9ED5}" type="presParOf" srcId="{64471B8F-F3FB-4176-B9E4-FEFEA83F20F6}" destId="{E42BC4FB-B2B9-457A-B6B4-FE95B4CFE12C}" srcOrd="1" destOrd="0" presId="urn:microsoft.com/office/officeart/2008/layout/LinedList"/>
    <dgm:cxn modelId="{0FADBEEB-B71D-4884-ACA5-4F8A4E30DD5A}" type="presParOf" srcId="{64471B8F-F3FB-4176-B9E4-FEFEA83F20F6}" destId="{842F7F69-C9FB-4612-A5F7-A25F5B9258C3}" srcOrd="2" destOrd="0" presId="urn:microsoft.com/office/officeart/2008/layout/LinedList"/>
    <dgm:cxn modelId="{54DFCB68-F7C7-4AF7-A8AB-70354883EC73}" type="presParOf" srcId="{1C525586-FFAD-4571-8EBA-CC0DC154B7EA}" destId="{092B1DD1-FC62-4791-879B-64E5524300D7}" srcOrd="11" destOrd="0" presId="urn:microsoft.com/office/officeart/2008/layout/LinedList"/>
    <dgm:cxn modelId="{89CFDCA0-76ED-41B9-9126-8BDE11AE9C6C}" type="presParOf" srcId="{1C525586-FFAD-4571-8EBA-CC0DC154B7EA}" destId="{20B40DFB-F8CA-4BAF-AFF6-27C7BB5E08E9}" srcOrd="12" destOrd="0" presId="urn:microsoft.com/office/officeart/2008/layout/LinedList"/>
  </dgm:cxnLst>
  <dgm:bg/>
  <dgm:whole>
    <a:ln>
      <a:solidFill>
        <a:schemeClr val="tx1"/>
      </a:solidFill>
    </a:ln>
  </dgm:whole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16750C4-ABC0-4C9D-9091-09703C9AC4E2}" type="doc">
      <dgm:prSet loTypeId="urn:microsoft.com/office/officeart/2005/8/layout/lProcess3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8FC8273-F82C-49C1-88D0-B81F65EF0EC5}">
      <dgm:prSet custT="1"/>
      <dgm:spPr/>
      <dgm:t>
        <a:bodyPr/>
        <a:lstStyle/>
        <a:p>
          <a:r>
            <a:rPr lang="en-US" sz="900" b="1" dirty="0"/>
            <a:t>Key Insights</a:t>
          </a:r>
          <a:endParaRPr lang="en-IN" sz="900" dirty="0"/>
        </a:p>
      </dgm:t>
    </dgm:pt>
    <dgm:pt modelId="{2B970594-08CF-4850-8EDD-3D076ABC06DC}" type="parTrans" cxnId="{E20E84E8-2813-41F9-B80C-0EB767889401}">
      <dgm:prSet/>
      <dgm:spPr/>
      <dgm:t>
        <a:bodyPr/>
        <a:lstStyle/>
        <a:p>
          <a:endParaRPr lang="en-IN"/>
        </a:p>
      </dgm:t>
    </dgm:pt>
    <dgm:pt modelId="{804D3B1E-43B5-45F8-8FD7-FAA5EF8EB8A0}" type="sibTrans" cxnId="{E20E84E8-2813-41F9-B80C-0EB767889401}">
      <dgm:prSet/>
      <dgm:spPr/>
      <dgm:t>
        <a:bodyPr/>
        <a:lstStyle/>
        <a:p>
          <a:endParaRPr lang="en-IN"/>
        </a:p>
      </dgm:t>
    </dgm:pt>
    <dgm:pt modelId="{5F04684C-213A-40A4-BF75-9BB00EE192A9}">
      <dgm:prSet custT="1"/>
      <dgm:spPr/>
      <dgm:t>
        <a:bodyPr/>
        <a:lstStyle/>
        <a:p>
          <a:r>
            <a:rPr lang="en-US" sz="900" dirty="0"/>
            <a:t>Face Wash category size is ₹166 Cr.</a:t>
          </a:r>
          <a:endParaRPr lang="en-IN" sz="900" dirty="0"/>
        </a:p>
      </dgm:t>
    </dgm:pt>
    <dgm:pt modelId="{33EB2E9C-66A1-45FB-A163-F23B23D5B7F0}" type="parTrans" cxnId="{5699E2B3-50D0-45FF-9538-EB734158738D}">
      <dgm:prSet/>
      <dgm:spPr/>
      <dgm:t>
        <a:bodyPr/>
        <a:lstStyle/>
        <a:p>
          <a:endParaRPr lang="en-IN"/>
        </a:p>
      </dgm:t>
    </dgm:pt>
    <dgm:pt modelId="{D3B6A091-3B71-4808-85FE-2C3481B60BB9}" type="sibTrans" cxnId="{5699E2B3-50D0-45FF-9538-EB734158738D}">
      <dgm:prSet/>
      <dgm:spPr/>
      <dgm:t>
        <a:bodyPr/>
        <a:lstStyle/>
        <a:p>
          <a:endParaRPr lang="en-IN"/>
        </a:p>
      </dgm:t>
    </dgm:pt>
    <dgm:pt modelId="{68C2ABE7-7329-4D88-88C6-19E80AC3C835}">
      <dgm:prSet custT="1"/>
      <dgm:spPr/>
      <dgm:t>
        <a:bodyPr/>
        <a:lstStyle/>
        <a:p>
          <a:r>
            <a:rPr lang="en-US" sz="900" dirty="0"/>
            <a:t>Dove leads the category with 17.8% share.</a:t>
          </a:r>
          <a:endParaRPr lang="en-IN" sz="900" dirty="0"/>
        </a:p>
      </dgm:t>
    </dgm:pt>
    <dgm:pt modelId="{206BCBA7-8397-4724-A10C-4FD9D6B57C7B}" type="parTrans" cxnId="{40BDD8FD-AEF7-45AE-BCED-0D1A6C5D729F}">
      <dgm:prSet/>
      <dgm:spPr/>
      <dgm:t>
        <a:bodyPr/>
        <a:lstStyle/>
        <a:p>
          <a:endParaRPr lang="en-IN"/>
        </a:p>
      </dgm:t>
    </dgm:pt>
    <dgm:pt modelId="{505CDC2C-0D28-47B8-B3E5-4E97CA2B5074}" type="sibTrans" cxnId="{40BDD8FD-AEF7-45AE-BCED-0D1A6C5D729F}">
      <dgm:prSet/>
      <dgm:spPr/>
      <dgm:t>
        <a:bodyPr/>
        <a:lstStyle/>
        <a:p>
          <a:endParaRPr lang="en-IN"/>
        </a:p>
      </dgm:t>
    </dgm:pt>
    <dgm:pt modelId="{1C633E28-23F6-43C7-A9A9-3DC09B7C93A1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ranks #7 with 3.9% share.</a:t>
          </a:r>
          <a:endParaRPr lang="en-IN" sz="900" dirty="0"/>
        </a:p>
      </dgm:t>
    </dgm:pt>
    <dgm:pt modelId="{161488AA-B640-4A37-9CF9-87C218033D75}" type="parTrans" cxnId="{DDE8710E-5770-447C-A682-B68A2A932409}">
      <dgm:prSet/>
      <dgm:spPr/>
      <dgm:t>
        <a:bodyPr/>
        <a:lstStyle/>
        <a:p>
          <a:endParaRPr lang="en-IN"/>
        </a:p>
      </dgm:t>
    </dgm:pt>
    <dgm:pt modelId="{2757AEA1-EA51-42EB-B4D5-9B7D02309E8A}" type="sibTrans" cxnId="{DDE8710E-5770-447C-A682-B68A2A932409}">
      <dgm:prSet/>
      <dgm:spPr/>
      <dgm:t>
        <a:bodyPr/>
        <a:lstStyle/>
        <a:p>
          <a:endParaRPr lang="en-IN"/>
        </a:p>
      </dgm:t>
    </dgm:pt>
    <dgm:pt modelId="{A497CF4D-07CE-4489-A252-2F82C2339DB3}">
      <dgm:prSet custT="1"/>
      <dgm:spPr/>
      <dgm:t>
        <a:bodyPr/>
        <a:lstStyle/>
        <a:p>
          <a:r>
            <a:rPr lang="en-US" sz="900" dirty="0" err="1"/>
            <a:t>Mamaearth</a:t>
          </a:r>
          <a:r>
            <a:rPr lang="en-US" sz="900" dirty="0"/>
            <a:t> has gained </a:t>
          </a:r>
          <a:r>
            <a:rPr lang="en-IN" sz="900" b="0" i="0" dirty="0"/>
            <a:t>▲ +134 Bps YOY.</a:t>
          </a:r>
          <a:endParaRPr lang="en-IN" sz="900" dirty="0"/>
        </a:p>
      </dgm:t>
    </dgm:pt>
    <dgm:pt modelId="{D91B9C50-805A-4DFB-A3DA-617BF09A859D}" type="parTrans" cxnId="{2AC6ED87-00DB-4AA2-99EA-C5D9CD56DF5C}">
      <dgm:prSet/>
      <dgm:spPr/>
      <dgm:t>
        <a:bodyPr/>
        <a:lstStyle/>
        <a:p>
          <a:endParaRPr lang="en-IN"/>
        </a:p>
      </dgm:t>
    </dgm:pt>
    <dgm:pt modelId="{F9BCB82A-09F6-457B-B41C-73A6BA6ED05D}" type="sibTrans" cxnId="{2AC6ED87-00DB-4AA2-99EA-C5D9CD56DF5C}">
      <dgm:prSet/>
      <dgm:spPr/>
      <dgm:t>
        <a:bodyPr/>
        <a:lstStyle/>
        <a:p>
          <a:endParaRPr lang="en-IN"/>
        </a:p>
      </dgm:t>
    </dgm:pt>
    <dgm:pt modelId="{0FDB900C-170F-4DD4-878D-53CA40FFC88C}">
      <dgm:prSet custT="1"/>
      <dgm:spPr/>
      <dgm:t>
        <a:bodyPr/>
        <a:lstStyle/>
        <a:p>
          <a:pPr algn="ctr"/>
          <a:r>
            <a:rPr lang="en-US" sz="900" dirty="0"/>
            <a:t>Shampoo distribution remains under-indexed vs Face Wash Dist.</a:t>
          </a:r>
          <a:endParaRPr lang="en-IN" sz="900" dirty="0"/>
        </a:p>
      </dgm:t>
    </dgm:pt>
    <dgm:pt modelId="{466A949E-8297-47C4-ADA8-CF39B0BE8C14}" type="parTrans" cxnId="{4A6087EC-DC6D-4F3A-94A4-27EA2EBBAE78}">
      <dgm:prSet/>
      <dgm:spPr/>
      <dgm:t>
        <a:bodyPr/>
        <a:lstStyle/>
        <a:p>
          <a:endParaRPr lang="en-IN"/>
        </a:p>
      </dgm:t>
    </dgm:pt>
    <dgm:pt modelId="{8593A00F-7F6D-49E6-BAF2-7D2BDF26A4D8}" type="sibTrans" cxnId="{4A6087EC-DC6D-4F3A-94A4-27EA2EBBAE78}">
      <dgm:prSet/>
      <dgm:spPr/>
      <dgm:t>
        <a:bodyPr/>
        <a:lstStyle/>
        <a:p>
          <a:endParaRPr lang="en-IN"/>
        </a:p>
      </dgm:t>
    </dgm:pt>
    <dgm:pt modelId="{B6B5BCF5-9087-401A-873A-EC079ECFC9F0}" type="pres">
      <dgm:prSet presAssocID="{216750C4-ABC0-4C9D-9091-09703C9AC4E2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CA76498F-E9C0-4631-8EEA-8821E72E4AA4}" type="pres">
      <dgm:prSet presAssocID="{08FC8273-F82C-49C1-88D0-B81F65EF0EC5}" presName="horFlow" presStyleCnt="0"/>
      <dgm:spPr/>
    </dgm:pt>
    <dgm:pt modelId="{78C14A7B-3B65-4C70-B03D-5F0637CE3B5E}" type="pres">
      <dgm:prSet presAssocID="{08FC8273-F82C-49C1-88D0-B81F65EF0EC5}" presName="bigChev" presStyleLbl="node1" presStyleIdx="0" presStyleCnt="1" custScaleX="101974" custScaleY="159029"/>
      <dgm:spPr/>
    </dgm:pt>
    <dgm:pt modelId="{16B3E8AD-D598-499D-A28C-AEF6B836E47A}" type="pres">
      <dgm:prSet presAssocID="{33EB2E9C-66A1-45FB-A163-F23B23D5B7F0}" presName="parTrans" presStyleCnt="0"/>
      <dgm:spPr/>
    </dgm:pt>
    <dgm:pt modelId="{5973C509-4AB8-4735-966D-2D967081E106}" type="pres">
      <dgm:prSet presAssocID="{5F04684C-213A-40A4-BF75-9BB00EE192A9}" presName="node" presStyleLbl="alignAccFollowNode1" presStyleIdx="0" presStyleCnt="5" custScaleX="124427" custScaleY="168055">
        <dgm:presLayoutVars>
          <dgm:bulletEnabled val="1"/>
        </dgm:presLayoutVars>
      </dgm:prSet>
      <dgm:spPr/>
    </dgm:pt>
    <dgm:pt modelId="{A465F7EE-5826-4E91-8049-F2A9A480CA57}" type="pres">
      <dgm:prSet presAssocID="{D3B6A091-3B71-4808-85FE-2C3481B60BB9}" presName="sibTrans" presStyleCnt="0"/>
      <dgm:spPr/>
    </dgm:pt>
    <dgm:pt modelId="{E9687380-6A82-460F-8F04-ADD58EE968CC}" type="pres">
      <dgm:prSet presAssocID="{68C2ABE7-7329-4D88-88C6-19E80AC3C835}" presName="node" presStyleLbl="alignAccFollowNode1" presStyleIdx="1" presStyleCnt="5" custScaleX="130455" custScaleY="142315">
        <dgm:presLayoutVars>
          <dgm:bulletEnabled val="1"/>
        </dgm:presLayoutVars>
      </dgm:prSet>
      <dgm:spPr/>
    </dgm:pt>
    <dgm:pt modelId="{72E4ABD4-D89D-4E78-970A-E01D7C1F75CD}" type="pres">
      <dgm:prSet presAssocID="{505CDC2C-0D28-47B8-B3E5-4E97CA2B5074}" presName="sibTrans" presStyleCnt="0"/>
      <dgm:spPr/>
    </dgm:pt>
    <dgm:pt modelId="{2F73885B-CDC5-433F-94F0-1740FB0BA9A6}" type="pres">
      <dgm:prSet presAssocID="{1C633E28-23F6-43C7-A9A9-3DC09B7C93A1}" presName="node" presStyleLbl="alignAccFollowNode1" presStyleIdx="2" presStyleCnt="5" custScaleX="125586" custScaleY="168055">
        <dgm:presLayoutVars>
          <dgm:bulletEnabled val="1"/>
        </dgm:presLayoutVars>
      </dgm:prSet>
      <dgm:spPr/>
    </dgm:pt>
    <dgm:pt modelId="{B401AD46-3C31-42B6-8879-1972A925F20B}" type="pres">
      <dgm:prSet presAssocID="{2757AEA1-EA51-42EB-B4D5-9B7D02309E8A}" presName="sibTrans" presStyleCnt="0"/>
      <dgm:spPr/>
    </dgm:pt>
    <dgm:pt modelId="{396E9B92-0D71-4E89-AEFC-311FEFF5F3F1}" type="pres">
      <dgm:prSet presAssocID="{A497CF4D-07CE-4489-A252-2F82C2339DB3}" presName="node" presStyleLbl="alignAccFollowNode1" presStyleIdx="3" presStyleCnt="5" custScaleX="144592" custScaleY="200648">
        <dgm:presLayoutVars>
          <dgm:bulletEnabled val="1"/>
        </dgm:presLayoutVars>
      </dgm:prSet>
      <dgm:spPr/>
    </dgm:pt>
    <dgm:pt modelId="{BA19C750-A68F-4118-99F8-EF22DAEAEF6A}" type="pres">
      <dgm:prSet presAssocID="{F9BCB82A-09F6-457B-B41C-73A6BA6ED05D}" presName="sibTrans" presStyleCnt="0"/>
      <dgm:spPr/>
    </dgm:pt>
    <dgm:pt modelId="{D1A1E34E-0E15-4817-855B-5BE12623273D}" type="pres">
      <dgm:prSet presAssocID="{0FDB900C-170F-4DD4-878D-53CA40FFC88C}" presName="node" presStyleLbl="alignAccFollowNode1" presStyleIdx="4" presStyleCnt="5" custScaleX="168534" custScaleY="242471" custLinFactNeighborX="-24812" custLinFactNeighborY="3899">
        <dgm:presLayoutVars>
          <dgm:bulletEnabled val="1"/>
        </dgm:presLayoutVars>
      </dgm:prSet>
      <dgm:spPr/>
    </dgm:pt>
  </dgm:ptLst>
  <dgm:cxnLst>
    <dgm:cxn modelId="{DDE8710E-5770-447C-A682-B68A2A932409}" srcId="{08FC8273-F82C-49C1-88D0-B81F65EF0EC5}" destId="{1C633E28-23F6-43C7-A9A9-3DC09B7C93A1}" srcOrd="2" destOrd="0" parTransId="{161488AA-B640-4A37-9CF9-87C218033D75}" sibTransId="{2757AEA1-EA51-42EB-B4D5-9B7D02309E8A}"/>
    <dgm:cxn modelId="{09E68717-2B7C-4986-9199-9E7A4CAD2133}" type="presOf" srcId="{08FC8273-F82C-49C1-88D0-B81F65EF0EC5}" destId="{78C14A7B-3B65-4C70-B03D-5F0637CE3B5E}" srcOrd="0" destOrd="0" presId="urn:microsoft.com/office/officeart/2005/8/layout/lProcess3"/>
    <dgm:cxn modelId="{C558DB42-B569-4009-A08D-B352C390C8B2}" type="presOf" srcId="{5F04684C-213A-40A4-BF75-9BB00EE192A9}" destId="{5973C509-4AB8-4735-966D-2D967081E106}" srcOrd="0" destOrd="0" presId="urn:microsoft.com/office/officeart/2005/8/layout/lProcess3"/>
    <dgm:cxn modelId="{5C5BA947-3F26-4FEF-984A-1BB3849C6B5D}" type="presOf" srcId="{216750C4-ABC0-4C9D-9091-09703C9AC4E2}" destId="{B6B5BCF5-9087-401A-873A-EC079ECFC9F0}" srcOrd="0" destOrd="0" presId="urn:microsoft.com/office/officeart/2005/8/layout/lProcess3"/>
    <dgm:cxn modelId="{11EFCE7C-F4DC-42CC-872E-DC0A30708279}" type="presOf" srcId="{1C633E28-23F6-43C7-A9A9-3DC09B7C93A1}" destId="{2F73885B-CDC5-433F-94F0-1740FB0BA9A6}" srcOrd="0" destOrd="0" presId="urn:microsoft.com/office/officeart/2005/8/layout/lProcess3"/>
    <dgm:cxn modelId="{2AC6ED87-00DB-4AA2-99EA-C5D9CD56DF5C}" srcId="{08FC8273-F82C-49C1-88D0-B81F65EF0EC5}" destId="{A497CF4D-07CE-4489-A252-2F82C2339DB3}" srcOrd="3" destOrd="0" parTransId="{D91B9C50-805A-4DFB-A3DA-617BF09A859D}" sibTransId="{F9BCB82A-09F6-457B-B41C-73A6BA6ED05D}"/>
    <dgm:cxn modelId="{5699E2B3-50D0-45FF-9538-EB734158738D}" srcId="{08FC8273-F82C-49C1-88D0-B81F65EF0EC5}" destId="{5F04684C-213A-40A4-BF75-9BB00EE192A9}" srcOrd="0" destOrd="0" parTransId="{33EB2E9C-66A1-45FB-A163-F23B23D5B7F0}" sibTransId="{D3B6A091-3B71-4808-85FE-2C3481B60BB9}"/>
    <dgm:cxn modelId="{A70BAEC2-A695-428D-8ADA-C7CF89F3A02F}" type="presOf" srcId="{0FDB900C-170F-4DD4-878D-53CA40FFC88C}" destId="{D1A1E34E-0E15-4817-855B-5BE12623273D}" srcOrd="0" destOrd="0" presId="urn:microsoft.com/office/officeart/2005/8/layout/lProcess3"/>
    <dgm:cxn modelId="{2E2AF8C5-94A1-420F-A888-64EBF5EB1D79}" type="presOf" srcId="{68C2ABE7-7329-4D88-88C6-19E80AC3C835}" destId="{E9687380-6A82-460F-8F04-ADD58EE968CC}" srcOrd="0" destOrd="0" presId="urn:microsoft.com/office/officeart/2005/8/layout/lProcess3"/>
    <dgm:cxn modelId="{CF58A8CE-1852-44E8-A106-DD41EDE3B5F8}" type="presOf" srcId="{A497CF4D-07CE-4489-A252-2F82C2339DB3}" destId="{396E9B92-0D71-4E89-AEFC-311FEFF5F3F1}" srcOrd="0" destOrd="0" presId="urn:microsoft.com/office/officeart/2005/8/layout/lProcess3"/>
    <dgm:cxn modelId="{E20E84E8-2813-41F9-B80C-0EB767889401}" srcId="{216750C4-ABC0-4C9D-9091-09703C9AC4E2}" destId="{08FC8273-F82C-49C1-88D0-B81F65EF0EC5}" srcOrd="0" destOrd="0" parTransId="{2B970594-08CF-4850-8EDD-3D076ABC06DC}" sibTransId="{804D3B1E-43B5-45F8-8FD7-FAA5EF8EB8A0}"/>
    <dgm:cxn modelId="{4A6087EC-DC6D-4F3A-94A4-27EA2EBBAE78}" srcId="{08FC8273-F82C-49C1-88D0-B81F65EF0EC5}" destId="{0FDB900C-170F-4DD4-878D-53CA40FFC88C}" srcOrd="4" destOrd="0" parTransId="{466A949E-8297-47C4-ADA8-CF39B0BE8C14}" sibTransId="{8593A00F-7F6D-49E6-BAF2-7D2BDF26A4D8}"/>
    <dgm:cxn modelId="{40BDD8FD-AEF7-45AE-BCED-0D1A6C5D729F}" srcId="{08FC8273-F82C-49C1-88D0-B81F65EF0EC5}" destId="{68C2ABE7-7329-4D88-88C6-19E80AC3C835}" srcOrd="1" destOrd="0" parTransId="{206BCBA7-8397-4724-A10C-4FD9D6B57C7B}" sibTransId="{505CDC2C-0D28-47B8-B3E5-4E97CA2B5074}"/>
    <dgm:cxn modelId="{AD415EDF-65FA-42B3-B6EE-7A8A1E5DE7D7}" type="presParOf" srcId="{B6B5BCF5-9087-401A-873A-EC079ECFC9F0}" destId="{CA76498F-E9C0-4631-8EEA-8821E72E4AA4}" srcOrd="0" destOrd="0" presId="urn:microsoft.com/office/officeart/2005/8/layout/lProcess3"/>
    <dgm:cxn modelId="{4C126FD4-A3E7-4121-B64E-7DC4C5B459F7}" type="presParOf" srcId="{CA76498F-E9C0-4631-8EEA-8821E72E4AA4}" destId="{78C14A7B-3B65-4C70-B03D-5F0637CE3B5E}" srcOrd="0" destOrd="0" presId="urn:microsoft.com/office/officeart/2005/8/layout/lProcess3"/>
    <dgm:cxn modelId="{ADBE2A6F-5FD9-402D-8F0F-A96C83AD6944}" type="presParOf" srcId="{CA76498F-E9C0-4631-8EEA-8821E72E4AA4}" destId="{16B3E8AD-D598-499D-A28C-AEF6B836E47A}" srcOrd="1" destOrd="0" presId="urn:microsoft.com/office/officeart/2005/8/layout/lProcess3"/>
    <dgm:cxn modelId="{EE4EFAE2-F642-4E74-AD84-6364F2AE9BAD}" type="presParOf" srcId="{CA76498F-E9C0-4631-8EEA-8821E72E4AA4}" destId="{5973C509-4AB8-4735-966D-2D967081E106}" srcOrd="2" destOrd="0" presId="urn:microsoft.com/office/officeart/2005/8/layout/lProcess3"/>
    <dgm:cxn modelId="{889887D3-4AB5-4E02-B626-5DCB1EBD6194}" type="presParOf" srcId="{CA76498F-E9C0-4631-8EEA-8821E72E4AA4}" destId="{A465F7EE-5826-4E91-8049-F2A9A480CA57}" srcOrd="3" destOrd="0" presId="urn:microsoft.com/office/officeart/2005/8/layout/lProcess3"/>
    <dgm:cxn modelId="{6069F2D3-2F0E-4EF5-B23B-A4CB789F562A}" type="presParOf" srcId="{CA76498F-E9C0-4631-8EEA-8821E72E4AA4}" destId="{E9687380-6A82-460F-8F04-ADD58EE968CC}" srcOrd="4" destOrd="0" presId="urn:microsoft.com/office/officeart/2005/8/layout/lProcess3"/>
    <dgm:cxn modelId="{85830F1A-C580-4D9C-BC83-297231640ED1}" type="presParOf" srcId="{CA76498F-E9C0-4631-8EEA-8821E72E4AA4}" destId="{72E4ABD4-D89D-4E78-970A-E01D7C1F75CD}" srcOrd="5" destOrd="0" presId="urn:microsoft.com/office/officeart/2005/8/layout/lProcess3"/>
    <dgm:cxn modelId="{CB9A9B38-61D8-4D68-AC60-01823EEAF62D}" type="presParOf" srcId="{CA76498F-E9C0-4631-8EEA-8821E72E4AA4}" destId="{2F73885B-CDC5-433F-94F0-1740FB0BA9A6}" srcOrd="6" destOrd="0" presId="urn:microsoft.com/office/officeart/2005/8/layout/lProcess3"/>
    <dgm:cxn modelId="{8841B721-1966-4D0C-B6A7-9EACA10ECD8E}" type="presParOf" srcId="{CA76498F-E9C0-4631-8EEA-8821E72E4AA4}" destId="{B401AD46-3C31-42B6-8879-1972A925F20B}" srcOrd="7" destOrd="0" presId="urn:microsoft.com/office/officeart/2005/8/layout/lProcess3"/>
    <dgm:cxn modelId="{ABB9A776-5958-455A-9C41-59DEA47445D6}" type="presParOf" srcId="{CA76498F-E9C0-4631-8EEA-8821E72E4AA4}" destId="{396E9B92-0D71-4E89-AEFC-311FEFF5F3F1}" srcOrd="8" destOrd="0" presId="urn:microsoft.com/office/officeart/2005/8/layout/lProcess3"/>
    <dgm:cxn modelId="{7202D997-CECF-4818-A944-37A4F47DBEF7}" type="presParOf" srcId="{CA76498F-E9C0-4631-8EEA-8821E72E4AA4}" destId="{BA19C750-A68F-4118-99F8-EF22DAEAEF6A}" srcOrd="9" destOrd="0" presId="urn:microsoft.com/office/officeart/2005/8/layout/lProcess3"/>
    <dgm:cxn modelId="{DBA51DBF-1945-4595-BFDE-6DBF27368842}" type="presParOf" srcId="{CA76498F-E9C0-4631-8EEA-8821E72E4AA4}" destId="{D1A1E34E-0E15-4817-855B-5BE12623273D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DFAA5-85F2-4063-83FE-0003ECDF3129}">
      <dsp:nvSpPr>
        <dsp:cNvPr id="0" name=""/>
        <dsp:cNvSpPr/>
      </dsp:nvSpPr>
      <dsp:spPr>
        <a:xfrm>
          <a:off x="2498" y="22038"/>
          <a:ext cx="1166253" cy="66813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8890" rIns="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Key Insights:</a:t>
          </a:r>
          <a:endParaRPr lang="en-IN" sz="1400" kern="1200" dirty="0"/>
        </a:p>
      </dsp:txBody>
      <dsp:txXfrm>
        <a:off x="336564" y="22038"/>
        <a:ext cx="498121" cy="668132"/>
      </dsp:txXfrm>
    </dsp:sp>
    <dsp:sp modelId="{B45F4E3A-F28A-4933-AFD2-26B673249C7F}">
      <dsp:nvSpPr>
        <dsp:cNvPr id="0" name=""/>
        <dsp:cNvSpPr/>
      </dsp:nvSpPr>
      <dsp:spPr>
        <a:xfrm>
          <a:off x="961483" y="53392"/>
          <a:ext cx="1293966" cy="60542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Category ₹83 Cr (+13% YoY). Himalaya leads (21.6%) but down 3.3 pt. </a:t>
          </a:r>
          <a:r>
            <a:rPr lang="en-US" sz="900" kern="1200" dirty="0" err="1"/>
            <a:t>Mamaearth</a:t>
          </a:r>
          <a:r>
            <a:rPr lang="en-US" sz="900" kern="1200" dirty="0"/>
            <a:t> (#4, +3.1 pt) is the biggest gainer. ★ = </a:t>
          </a:r>
          <a:r>
            <a:rPr lang="en-US" sz="900" kern="1200" dirty="0" err="1"/>
            <a:t>Honasa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1264195" y="53392"/>
        <a:ext cx="688542" cy="605424"/>
      </dsp:txXfrm>
    </dsp:sp>
    <dsp:sp modelId="{EABA3E1B-A6F8-4933-8515-1587A22C6B11}">
      <dsp:nvSpPr>
        <dsp:cNvPr id="0" name=""/>
        <dsp:cNvSpPr/>
      </dsp:nvSpPr>
      <dsp:spPr>
        <a:xfrm>
          <a:off x="2070184" y="53815"/>
          <a:ext cx="1330106" cy="60457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is the #4 Face Wash brand in MT at 11.6% (+3.1 pt YoY). The legacy leader Himalaya is down 3.3 pt. </a:t>
          </a:r>
          <a:endParaRPr lang="en-IN" sz="900" kern="1200" dirty="0"/>
        </a:p>
      </dsp:txBody>
      <dsp:txXfrm>
        <a:off x="2372473" y="53815"/>
        <a:ext cx="725529" cy="604577"/>
      </dsp:txXfrm>
    </dsp:sp>
    <dsp:sp modelId="{F4933751-6B04-458B-9157-85E9F085117B}">
      <dsp:nvSpPr>
        <dsp:cNvPr id="0" name=""/>
        <dsp:cNvSpPr/>
      </dsp:nvSpPr>
      <dsp:spPr>
        <a:xfrm>
          <a:off x="3215024" y="53392"/>
          <a:ext cx="1317588" cy="605424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The gains are distribution-led: ME weighted handling moved 81→87% &amp; The Derma Co weighted handling moved .6 →14.2%. </a:t>
          </a:r>
          <a:endParaRPr lang="en-IN" sz="900" kern="1200" dirty="0"/>
        </a:p>
      </dsp:txBody>
      <dsp:txXfrm>
        <a:off x="3517736" y="53392"/>
        <a:ext cx="712164" cy="605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A54491-AF60-4F4A-8502-1EC3307DAD88}">
      <dsp:nvSpPr>
        <dsp:cNvPr id="0" name=""/>
        <dsp:cNvSpPr/>
      </dsp:nvSpPr>
      <dsp:spPr>
        <a:xfrm>
          <a:off x="0" y="0"/>
          <a:ext cx="456570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07AF8-74BE-4443-B823-02C4F7422963}">
      <dsp:nvSpPr>
        <dsp:cNvPr id="0" name=""/>
        <dsp:cNvSpPr/>
      </dsp:nvSpPr>
      <dsp:spPr>
        <a:xfrm>
          <a:off x="0" y="0"/>
          <a:ext cx="913141" cy="1203694"/>
        </a:xfrm>
        <a:prstGeom prst="rect">
          <a:avLst/>
        </a:prstGeom>
        <a:noFill/>
        <a:ln>
          <a:solidFill>
            <a:schemeClr val="tx1"/>
          </a:solidFill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HONASA IS GAINING MODERN TRADE SHARE, LED BY STRONGER DISTRIBUTION</a:t>
          </a:r>
          <a:endParaRPr lang="en-IN" sz="900" b="1" kern="1200" dirty="0"/>
        </a:p>
      </dsp:txBody>
      <dsp:txXfrm>
        <a:off x="0" y="0"/>
        <a:ext cx="913141" cy="1203694"/>
      </dsp:txXfrm>
    </dsp:sp>
    <dsp:sp modelId="{5E9C23F4-222C-484A-A108-B17963B330E8}">
      <dsp:nvSpPr>
        <dsp:cNvPr id="0" name=""/>
        <dsp:cNvSpPr/>
      </dsp:nvSpPr>
      <dsp:spPr>
        <a:xfrm>
          <a:off x="981626" y="14149"/>
          <a:ext cx="3584079" cy="282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What happened —</a:t>
          </a:r>
          <a:r>
            <a:rPr lang="en-US" sz="700" kern="1200" dirty="0"/>
            <a:t> </a:t>
          </a:r>
          <a:r>
            <a:rPr lang="en-US" sz="700" kern="1200" dirty="0" err="1"/>
            <a:t>Mamaearth</a:t>
          </a:r>
          <a:r>
            <a:rPr lang="en-US" sz="700" kern="1200" dirty="0"/>
            <a:t> is the </a:t>
          </a:r>
          <a:r>
            <a:rPr lang="en-IN" sz="700" kern="1200" dirty="0"/>
            <a:t>★</a:t>
          </a:r>
          <a:r>
            <a:rPr lang="en-US" sz="700" kern="1200" dirty="0"/>
            <a:t>#4 Face Wash brand in MT at 11.6% (+3.1 pt YoY) and is gaining in Shampoo at 3.9% (+1.3 pt). The legacy leader Himalaya is down 3.3 pt.</a:t>
          </a:r>
          <a:endParaRPr lang="en-IN" sz="700" kern="1200" dirty="0"/>
        </a:p>
      </dsp:txBody>
      <dsp:txXfrm>
        <a:off x="981626" y="14149"/>
        <a:ext cx="3584079" cy="282997"/>
      </dsp:txXfrm>
    </dsp:sp>
    <dsp:sp modelId="{3014EFA0-5169-4D60-A5D7-934DE2186031}">
      <dsp:nvSpPr>
        <dsp:cNvPr id="0" name=""/>
        <dsp:cNvSpPr/>
      </dsp:nvSpPr>
      <dsp:spPr>
        <a:xfrm>
          <a:off x="913141" y="297147"/>
          <a:ext cx="36525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FC06D-6131-4C7B-A993-903F08057C44}">
      <dsp:nvSpPr>
        <dsp:cNvPr id="0" name=""/>
        <dsp:cNvSpPr/>
      </dsp:nvSpPr>
      <dsp:spPr>
        <a:xfrm>
          <a:off x="981626" y="311297"/>
          <a:ext cx="3584079" cy="282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Why — </a:t>
          </a:r>
          <a:r>
            <a:rPr lang="en-US" sz="700" kern="1200" dirty="0"/>
            <a:t>The gains are distribution-led: </a:t>
          </a:r>
          <a:r>
            <a:rPr lang="en-US" sz="700" kern="1200" dirty="0" err="1"/>
            <a:t>Mamaearth</a:t>
          </a:r>
          <a:r>
            <a:rPr lang="en-US" sz="700" kern="1200" dirty="0"/>
            <a:t> weighted handling moved 81→87% (FW) and 76→81% (Shampoo). The Derma Co is building MT from near-zero (0.6→14.2% handling).</a:t>
          </a:r>
          <a:endParaRPr lang="en-IN" sz="700" kern="1200" dirty="0"/>
        </a:p>
      </dsp:txBody>
      <dsp:txXfrm>
        <a:off x="981626" y="311297"/>
        <a:ext cx="3584079" cy="282997"/>
      </dsp:txXfrm>
    </dsp:sp>
    <dsp:sp modelId="{F922B264-6F20-4425-AC71-9BADBD8A3A38}">
      <dsp:nvSpPr>
        <dsp:cNvPr id="0" name=""/>
        <dsp:cNvSpPr/>
      </dsp:nvSpPr>
      <dsp:spPr>
        <a:xfrm>
          <a:off x="913141" y="594295"/>
          <a:ext cx="36525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D7282F-3AA8-4F87-A566-78073F7C75EA}">
      <dsp:nvSpPr>
        <dsp:cNvPr id="0" name=""/>
        <dsp:cNvSpPr/>
      </dsp:nvSpPr>
      <dsp:spPr>
        <a:xfrm>
          <a:off x="981626" y="608444"/>
          <a:ext cx="3584079" cy="282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Impact — </a:t>
          </a:r>
          <a:r>
            <a:rPr lang="en-US" sz="700" kern="1200" dirty="0" err="1"/>
            <a:t>Honasa</a:t>
          </a:r>
          <a:r>
            <a:rPr lang="en-US" sz="700" kern="1200" dirty="0"/>
            <a:t> is converting MT shelf into share in the two largest cleansing categories, worth ₹9.6 Cr + ₹6.5 Cr monthly RR and rising.</a:t>
          </a:r>
          <a:endParaRPr lang="en-IN" sz="700" kern="1200" dirty="0"/>
        </a:p>
      </dsp:txBody>
      <dsp:txXfrm>
        <a:off x="981626" y="608444"/>
        <a:ext cx="3584079" cy="282997"/>
      </dsp:txXfrm>
    </dsp:sp>
    <dsp:sp modelId="{8DC5D532-BBE1-460A-89C0-ACB6DAE14AE6}">
      <dsp:nvSpPr>
        <dsp:cNvPr id="0" name=""/>
        <dsp:cNvSpPr/>
      </dsp:nvSpPr>
      <dsp:spPr>
        <a:xfrm>
          <a:off x="913141" y="891442"/>
          <a:ext cx="36525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2BC4FB-B2B9-457A-B6B4-FE95B4CFE12C}">
      <dsp:nvSpPr>
        <dsp:cNvPr id="0" name=""/>
        <dsp:cNvSpPr/>
      </dsp:nvSpPr>
      <dsp:spPr>
        <a:xfrm>
          <a:off x="981626" y="905592"/>
          <a:ext cx="3584079" cy="2829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l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700" b="1" kern="1200" dirty="0"/>
            <a:t>Action — </a:t>
          </a:r>
          <a:r>
            <a:rPr lang="en-US" sz="700" kern="1200" dirty="0"/>
            <a:t>Need to protect the FW Distribution gain and checked for Shampoo assortment gaps in chains to identify further growth opportunities.</a:t>
          </a:r>
          <a:endParaRPr lang="en-IN" sz="700" kern="1200" dirty="0"/>
        </a:p>
      </dsp:txBody>
      <dsp:txXfrm>
        <a:off x="981626" y="905592"/>
        <a:ext cx="3584079" cy="282997"/>
      </dsp:txXfrm>
    </dsp:sp>
    <dsp:sp modelId="{092B1DD1-FC62-4791-879B-64E5524300D7}">
      <dsp:nvSpPr>
        <dsp:cNvPr id="0" name=""/>
        <dsp:cNvSpPr/>
      </dsp:nvSpPr>
      <dsp:spPr>
        <a:xfrm>
          <a:off x="913141" y="1188590"/>
          <a:ext cx="365256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C14A7B-3B65-4C70-B03D-5F0637CE3B5E}">
      <dsp:nvSpPr>
        <dsp:cNvPr id="0" name=""/>
        <dsp:cNvSpPr/>
      </dsp:nvSpPr>
      <dsp:spPr>
        <a:xfrm>
          <a:off x="2063" y="111212"/>
          <a:ext cx="759363" cy="47369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/>
            <a:t>Key Insights</a:t>
          </a:r>
          <a:endParaRPr lang="en-IN" sz="900" kern="1200" dirty="0"/>
        </a:p>
      </dsp:txBody>
      <dsp:txXfrm>
        <a:off x="238909" y="111212"/>
        <a:ext cx="285671" cy="473692"/>
      </dsp:txXfrm>
    </dsp:sp>
    <dsp:sp modelId="{5973C509-4AB8-4735-966D-2D967081E106}">
      <dsp:nvSpPr>
        <dsp:cNvPr id="0" name=""/>
        <dsp:cNvSpPr/>
      </dsp:nvSpPr>
      <dsp:spPr>
        <a:xfrm>
          <a:off x="664619" y="140318"/>
          <a:ext cx="769046" cy="41547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Face Wash category size is ₹166 Cr.</a:t>
          </a:r>
          <a:endParaRPr lang="en-IN" sz="900" kern="1200" dirty="0"/>
        </a:p>
      </dsp:txBody>
      <dsp:txXfrm>
        <a:off x="872359" y="140318"/>
        <a:ext cx="353567" cy="415479"/>
      </dsp:txXfrm>
    </dsp:sp>
    <dsp:sp modelId="{E9687380-6A82-460F-8F04-ADD58EE968CC}">
      <dsp:nvSpPr>
        <dsp:cNvPr id="0" name=""/>
        <dsp:cNvSpPr/>
      </dsp:nvSpPr>
      <dsp:spPr>
        <a:xfrm>
          <a:off x="1347136" y="172137"/>
          <a:ext cx="806303" cy="351842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Dove leads the category with 17.8% share.</a:t>
          </a:r>
          <a:endParaRPr lang="en-IN" sz="900" kern="1200" dirty="0"/>
        </a:p>
      </dsp:txBody>
      <dsp:txXfrm>
        <a:off x="1523057" y="172137"/>
        <a:ext cx="454461" cy="351842"/>
      </dsp:txXfrm>
    </dsp:sp>
    <dsp:sp modelId="{2F73885B-CDC5-433F-94F0-1740FB0BA9A6}">
      <dsp:nvSpPr>
        <dsp:cNvPr id="0" name=""/>
        <dsp:cNvSpPr/>
      </dsp:nvSpPr>
      <dsp:spPr>
        <a:xfrm>
          <a:off x="2066910" y="140318"/>
          <a:ext cx="776210" cy="41547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ranks #7 with 3.9% share.</a:t>
          </a:r>
          <a:endParaRPr lang="en-IN" sz="900" kern="1200" dirty="0"/>
        </a:p>
      </dsp:txBody>
      <dsp:txXfrm>
        <a:off x="2274650" y="140318"/>
        <a:ext cx="360731" cy="415479"/>
      </dsp:txXfrm>
    </dsp:sp>
    <dsp:sp modelId="{396E9B92-0D71-4E89-AEFC-311FEFF5F3F1}">
      <dsp:nvSpPr>
        <dsp:cNvPr id="0" name=""/>
        <dsp:cNvSpPr/>
      </dsp:nvSpPr>
      <dsp:spPr>
        <a:xfrm>
          <a:off x="2756591" y="100029"/>
          <a:ext cx="893680" cy="496058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 err="1"/>
            <a:t>Mamaearth</a:t>
          </a:r>
          <a:r>
            <a:rPr lang="en-US" sz="900" kern="1200" dirty="0"/>
            <a:t> has gained </a:t>
          </a:r>
          <a:r>
            <a:rPr lang="en-IN" sz="900" b="0" i="0" kern="1200" dirty="0"/>
            <a:t>▲ +134 Bps YOY.</a:t>
          </a:r>
          <a:endParaRPr lang="en-IN" sz="900" kern="1200" dirty="0"/>
        </a:p>
      </dsp:txBody>
      <dsp:txXfrm>
        <a:off x="3004620" y="100029"/>
        <a:ext cx="397622" cy="496058"/>
      </dsp:txXfrm>
    </dsp:sp>
    <dsp:sp modelId="{D1A1E34E-0E15-4817-855B-5BE12623273D}">
      <dsp:nvSpPr>
        <dsp:cNvPr id="0" name=""/>
        <dsp:cNvSpPr/>
      </dsp:nvSpPr>
      <dsp:spPr>
        <a:xfrm>
          <a:off x="3542272" y="57969"/>
          <a:ext cx="1041659" cy="599456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Shampoo distribution remains under-indexed vs Face Wash Dist.</a:t>
          </a:r>
          <a:endParaRPr lang="en-IN" sz="900" kern="1200" dirty="0"/>
        </a:p>
      </dsp:txBody>
      <dsp:txXfrm>
        <a:off x="3842000" y="57969"/>
        <a:ext cx="442203" cy="5994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B993-A681-0289-8F84-D969A7D83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1BFB24-69ED-CF79-FB75-7DD4447AE8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F36D5-0AB4-6DEC-AF5A-455F510D2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DF981-8B8E-F7D4-9CC3-5D62729BE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F345E-328E-8179-B613-6D68FC4E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403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10A6-FD4A-066D-9166-36C66BA52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CC106-B598-878D-BB38-8C522560C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9B246-5B72-0862-FF8C-C8542C663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9647F-A91B-4B9D-5EA3-27A461C6B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C8A1F-8E00-8A70-37AE-DF5875702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96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6656D-F81D-0AC0-848B-94B7AA2D6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DB4D6-6F10-CA4C-4748-9E40BE40D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C4B28-D38F-F6FB-9412-08313F1E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0E5FA-EC92-0211-D0DF-74ABEECF3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B2B0F-3C53-907C-FBC7-89D22CFC0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7459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1AF72-50AB-21B9-1E6A-5F2889C36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D2AC2-7BC4-B38E-40BB-4F2CA0E3F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AEFE7A-7407-29A0-9C92-942FB2830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C223C-0C26-C27E-CD89-AA16C4082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87DA7-8217-74F1-0899-69564C120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D4E1C-3FB0-9E09-0148-D0F4045E5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98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360C6-94BD-835A-C80E-7009B9D51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94E9D-5171-62FE-1D04-F5F1B0AE1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EA8660-0423-FC35-FB4F-FDA16C2B2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4B6850-734B-7D42-F383-28A13220C0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FF1F03-99D8-908A-FA67-57899C9D42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1FC64-ECA5-F05E-41E6-1AE834BF4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381D1-8F8F-2927-F0ED-7973B533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BD2F76-23BA-743F-D81E-B9447DACA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509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333B-8646-ECC5-026C-8BD7421D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E0093C-DF96-E1C5-C365-C7E9921E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91076-5B53-7812-672D-36266BA0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4F91F4-0D89-BF3D-824A-1FE625DD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57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DCD2E-5125-39CD-04D2-5948CDCF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43A86-A179-4280-810C-46FD9D7C4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B05E4-B63A-9554-295C-3622A8733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576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578F-D170-64D0-08F0-E9D0975FC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481ED-DA0E-EB22-8FB5-A8749C05B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E9691-4D6B-2E38-807E-DCEE8BDCD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C61EF-2E48-CD3C-1092-783368640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89A5EA-8043-85D0-BEB9-371B43CA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45050D-A1F0-95BD-1FF9-CCDBDAACA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375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07649-24F0-DEA7-F241-E420F298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3E1907-3DD6-3743-0449-15F5D95C4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04C06-9D5D-4583-DA2A-6E66A79F3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35687-BFE2-F0F6-D56D-68BC5D738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F4D639-42E4-52BB-05A4-D79778A6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C238F-FA51-ED0E-FF99-F13B7F7CD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9923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632E3-1BED-5030-33CA-D8209FB0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8739A-3C9E-1734-A754-4A42ECEAEF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EE7CC-7A03-FBE4-E225-797331C0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2F5-54A9-4D81-CD39-C554CFF82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D34824-0691-ECC6-71D2-53BBD6B0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30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9AF42-82B9-6F8F-3997-083E49D252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3C7F7-9FCE-6DEF-7A0A-68C368EADD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C438D-E1C4-AF1B-493F-BA9199B8B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6A99A-E25B-3D16-59AD-744C2E629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31FB3-2912-8302-DA93-994030F57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7016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196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918602-D7AC-671F-F906-38F158A3E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44805-2495-6D06-AD3B-799A80C21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E2BB2-9FBB-BA59-6A3D-E549BEE5F1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33E0E0-9DDA-42B7-AA60-5015A42952A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5F3040-F46C-7868-BE0A-840073EE96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13339-572A-A4F5-ECDF-56B677545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F4C2B-598B-4A78-943A-D3A7675691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92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Flowchart: Alternate Process 98">
            <a:extLst>
              <a:ext uri="{FF2B5EF4-FFF2-40B4-BE49-F238E27FC236}">
                <a16:creationId xmlns:a16="http://schemas.microsoft.com/office/drawing/2014/main" id="{379C9D4B-2F0C-E811-B5BC-4C5923256D3C}"/>
              </a:ext>
            </a:extLst>
          </p:cNvPr>
          <p:cNvSpPr/>
          <p:nvPr/>
        </p:nvSpPr>
        <p:spPr>
          <a:xfrm>
            <a:off x="3818796" y="3180459"/>
            <a:ext cx="2445946" cy="501414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155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" name="Shape 0"/>
          <p:cNvSpPr/>
          <p:nvPr/>
        </p:nvSpPr>
        <p:spPr>
          <a:xfrm>
            <a:off x="3669777" y="0"/>
            <a:ext cx="4852426" cy="36375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 sz="1155" dirty="0"/>
          </a:p>
        </p:txBody>
      </p:sp>
      <p:sp>
        <p:nvSpPr>
          <p:cNvPr id="3" name="Text 1"/>
          <p:cNvSpPr/>
          <p:nvPr/>
        </p:nvSpPr>
        <p:spPr>
          <a:xfrm>
            <a:off x="3664829" y="0"/>
            <a:ext cx="4857394" cy="365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8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INSIGHTS| BRAND (MAMAEARTH &amp; THE DERMA CO.| CATEGORY (FACEWASH  &amp; SHAMPOO)</a:t>
            </a:r>
            <a:endParaRPr lang="en-US" sz="1283" b="1" dirty="0"/>
          </a:p>
        </p:txBody>
      </p:sp>
      <p:graphicFrame>
        <p:nvGraphicFramePr>
          <p:cNvPr id="111" name="Diagram 110">
            <a:extLst>
              <a:ext uri="{FF2B5EF4-FFF2-40B4-BE49-F238E27FC236}">
                <a16:creationId xmlns:a16="http://schemas.microsoft.com/office/drawing/2014/main" id="{B9142154-E71F-1D64-C69C-BEDD14795E64}"/>
              </a:ext>
            </a:extLst>
          </p:cNvPr>
          <p:cNvGraphicFramePr/>
          <p:nvPr/>
        </p:nvGraphicFramePr>
        <p:xfrm>
          <a:off x="3849438" y="3720079"/>
          <a:ext cx="4535112" cy="712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9" name="Text 14">
            <a:extLst>
              <a:ext uri="{FF2B5EF4-FFF2-40B4-BE49-F238E27FC236}">
                <a16:creationId xmlns:a16="http://schemas.microsoft.com/office/drawing/2014/main" id="{44292181-E87A-FAFC-E853-8E63053EE850}"/>
              </a:ext>
            </a:extLst>
          </p:cNvPr>
          <p:cNvSpPr/>
          <p:nvPr/>
        </p:nvSpPr>
        <p:spPr>
          <a:xfrm>
            <a:off x="12665705" y="490510"/>
            <a:ext cx="2024093" cy="264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endParaRPr lang="en-US" sz="706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3578703-5602-E615-6449-0FE82BA386AF}"/>
              </a:ext>
            </a:extLst>
          </p:cNvPr>
          <p:cNvGraphicFramePr>
            <a:graphicFrameLocks noGrp="1"/>
          </p:cNvGraphicFramePr>
          <p:nvPr/>
        </p:nvGraphicFramePr>
        <p:xfrm>
          <a:off x="3820139" y="384528"/>
          <a:ext cx="4572480" cy="1096654"/>
        </p:xfrm>
        <a:graphic>
          <a:graphicData uri="http://schemas.openxmlformats.org/drawingml/2006/table">
            <a:tbl>
              <a:tblPr/>
              <a:tblGrid>
                <a:gridCol w="1051590">
                  <a:extLst>
                    <a:ext uri="{9D8B030D-6E8A-4147-A177-3AD203B41FA5}">
                      <a16:colId xmlns:a16="http://schemas.microsoft.com/office/drawing/2014/main" val="1040054215"/>
                    </a:ext>
                  </a:extLst>
                </a:gridCol>
                <a:gridCol w="487017">
                  <a:extLst>
                    <a:ext uri="{9D8B030D-6E8A-4147-A177-3AD203B41FA5}">
                      <a16:colId xmlns:a16="http://schemas.microsoft.com/office/drawing/2014/main" val="2448826045"/>
                    </a:ext>
                  </a:extLst>
                </a:gridCol>
                <a:gridCol w="497281">
                  <a:extLst>
                    <a:ext uri="{9D8B030D-6E8A-4147-A177-3AD203B41FA5}">
                      <a16:colId xmlns:a16="http://schemas.microsoft.com/office/drawing/2014/main" val="2451325949"/>
                    </a:ext>
                  </a:extLst>
                </a:gridCol>
                <a:gridCol w="578261">
                  <a:extLst>
                    <a:ext uri="{9D8B030D-6E8A-4147-A177-3AD203B41FA5}">
                      <a16:colId xmlns:a16="http://schemas.microsoft.com/office/drawing/2014/main" val="1241636394"/>
                    </a:ext>
                  </a:extLst>
                </a:gridCol>
                <a:gridCol w="460784">
                  <a:extLst>
                    <a:ext uri="{9D8B030D-6E8A-4147-A177-3AD203B41FA5}">
                      <a16:colId xmlns:a16="http://schemas.microsoft.com/office/drawing/2014/main" val="1072936001"/>
                    </a:ext>
                  </a:extLst>
                </a:gridCol>
                <a:gridCol w="504125">
                  <a:extLst>
                    <a:ext uri="{9D8B030D-6E8A-4147-A177-3AD203B41FA5}">
                      <a16:colId xmlns:a16="http://schemas.microsoft.com/office/drawing/2014/main" val="4003672162"/>
                    </a:ext>
                  </a:extLst>
                </a:gridCol>
                <a:gridCol w="432270">
                  <a:extLst>
                    <a:ext uri="{9D8B030D-6E8A-4147-A177-3AD203B41FA5}">
                      <a16:colId xmlns:a16="http://schemas.microsoft.com/office/drawing/2014/main" val="3060532485"/>
                    </a:ext>
                  </a:extLst>
                </a:gridCol>
                <a:gridCol w="561152">
                  <a:extLst>
                    <a:ext uri="{9D8B030D-6E8A-4147-A177-3AD203B41FA5}">
                      <a16:colId xmlns:a16="http://schemas.microsoft.com/office/drawing/2014/main" val="1825462759"/>
                    </a:ext>
                  </a:extLst>
                </a:gridCol>
              </a:tblGrid>
              <a:tr h="32706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Brand (Category)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 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 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 </a:t>
                      </a:r>
                      <a:b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 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Wtd</a:t>
                      </a:r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</a:t>
                      </a:r>
                      <a:r>
                        <a:rPr lang="en-IN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Dist</a:t>
                      </a:r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 </a:t>
                      </a:r>
                    </a:p>
                    <a:p>
                      <a:pPr algn="ctr" rtl="0" fontAlgn="ctr"/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(May'26)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885786"/>
                  </a:ext>
                </a:extLst>
              </a:tr>
              <a:tr h="2565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FW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12%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+311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9.6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9094831"/>
                  </a:ext>
                </a:extLst>
              </a:tr>
              <a:tr h="2565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The Derma Co FW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+71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3940%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14%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5232997"/>
                  </a:ext>
                </a:extLst>
              </a:tr>
              <a:tr h="2565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Mamaearth Shampoo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 +134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6.5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64%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81%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663541"/>
                  </a:ext>
                </a:extLst>
              </a:tr>
            </a:tbl>
          </a:graphicData>
        </a:graphic>
      </p:graphicFrame>
      <p:graphicFrame>
        <p:nvGraphicFramePr>
          <p:cNvPr id="56" name="Diagram 55">
            <a:extLst>
              <a:ext uri="{FF2B5EF4-FFF2-40B4-BE49-F238E27FC236}">
                <a16:creationId xmlns:a16="http://schemas.microsoft.com/office/drawing/2014/main" id="{010D717D-B200-F9C1-F0E0-9B6C4374F3A3}"/>
              </a:ext>
            </a:extLst>
          </p:cNvPr>
          <p:cNvGraphicFramePr/>
          <p:nvPr/>
        </p:nvGraphicFramePr>
        <p:xfrm>
          <a:off x="3820138" y="1707350"/>
          <a:ext cx="4565706" cy="12036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4F619751-52E2-97A6-50D1-C8D2040E4488}"/>
              </a:ext>
            </a:extLst>
          </p:cNvPr>
          <p:cNvSpPr/>
          <p:nvPr/>
        </p:nvSpPr>
        <p:spPr>
          <a:xfrm>
            <a:off x="3818797" y="3723503"/>
            <a:ext cx="29334" cy="722464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293340">
              <a:defRPr/>
            </a:pPr>
            <a:endParaRPr sz="1155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6A08DE1-78F5-E319-DC0C-43F567ADC4D5}"/>
              </a:ext>
            </a:extLst>
          </p:cNvPr>
          <p:cNvSpPr/>
          <p:nvPr/>
        </p:nvSpPr>
        <p:spPr>
          <a:xfrm>
            <a:off x="3818796" y="3702724"/>
            <a:ext cx="4549251" cy="37307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sz="1155"/>
          </a:p>
        </p:txBody>
      </p:sp>
      <p:sp>
        <p:nvSpPr>
          <p:cNvPr id="46" name="Text 6">
            <a:extLst>
              <a:ext uri="{FF2B5EF4-FFF2-40B4-BE49-F238E27FC236}">
                <a16:creationId xmlns:a16="http://schemas.microsoft.com/office/drawing/2014/main" id="{1B45652C-03FE-342E-DAD9-AFC958C3B610}"/>
              </a:ext>
            </a:extLst>
          </p:cNvPr>
          <p:cNvSpPr/>
          <p:nvPr/>
        </p:nvSpPr>
        <p:spPr>
          <a:xfrm>
            <a:off x="3830848" y="3720079"/>
            <a:ext cx="2024093" cy="17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06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FEBD2F1-506F-0C36-C7C0-69DD818A90A8}"/>
              </a:ext>
            </a:extLst>
          </p:cNvPr>
          <p:cNvSpPr/>
          <p:nvPr/>
        </p:nvSpPr>
        <p:spPr>
          <a:xfrm flipH="1">
            <a:off x="8356510" y="3724234"/>
            <a:ext cx="29334" cy="713438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293340">
              <a:defRPr/>
            </a:pPr>
            <a:endParaRPr sz="1155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3B9DB11-20E5-31CE-3C2B-9867D46644EF}"/>
              </a:ext>
            </a:extLst>
          </p:cNvPr>
          <p:cNvSpPr txBox="1"/>
          <p:nvPr/>
        </p:nvSpPr>
        <p:spPr>
          <a:xfrm>
            <a:off x="3826863" y="1441921"/>
            <a:ext cx="4565754" cy="28975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283" b="1" kern="0" spc="64" dirty="0">
                <a:solidFill>
                  <a:srgbClr val="C9A227"/>
                </a:solidFill>
                <a:ea typeface="Calibri" pitchFamily="34" charset="-122"/>
                <a:cs typeface="Calibri" pitchFamily="34" charset="-120"/>
              </a:rPr>
              <a:t>Key Insights for Facewash &amp; Shampoo M/s</a:t>
            </a:r>
            <a:endParaRPr lang="en-US" sz="154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F520BF0-7E50-AF2D-E0AF-738051766144}"/>
              </a:ext>
            </a:extLst>
          </p:cNvPr>
          <p:cNvSpPr txBox="1"/>
          <p:nvPr/>
        </p:nvSpPr>
        <p:spPr>
          <a:xfrm>
            <a:off x="3823627" y="2927468"/>
            <a:ext cx="4578365" cy="270074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155" b="1" dirty="0">
                <a:solidFill>
                  <a:schemeClr val="bg1"/>
                </a:solidFill>
                <a:latin typeface="Calibri" pitchFamily="34" charset="0"/>
                <a:ea typeface="Cambria" pitchFamily="34" charset="-122"/>
                <a:cs typeface="Calibri" pitchFamily="34" charset="-120"/>
              </a:rPr>
              <a:t>FACE WASH | BRAND |MARKET SHARE </a:t>
            </a:r>
            <a:endParaRPr lang="en-US" sz="1155" dirty="0">
              <a:solidFill>
                <a:schemeClr val="bg1"/>
              </a:solidFill>
            </a:endParaRPr>
          </a:p>
        </p:txBody>
      </p: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F7B7DEB-7D5B-EB9E-53AE-4EBB23EA84DD}"/>
              </a:ext>
            </a:extLst>
          </p:cNvPr>
          <p:cNvGraphicFramePr>
            <a:graphicFrameLocks noGrp="1"/>
          </p:cNvGraphicFramePr>
          <p:nvPr/>
        </p:nvGraphicFramePr>
        <p:xfrm>
          <a:off x="3823628" y="4481088"/>
          <a:ext cx="4560807" cy="2305915"/>
        </p:xfrm>
        <a:graphic>
          <a:graphicData uri="http://schemas.openxmlformats.org/drawingml/2006/table">
            <a:tbl>
              <a:tblPr/>
              <a:tblGrid>
                <a:gridCol w="370532">
                  <a:extLst>
                    <a:ext uri="{9D8B030D-6E8A-4147-A177-3AD203B41FA5}">
                      <a16:colId xmlns:a16="http://schemas.microsoft.com/office/drawing/2014/main" val="2077510050"/>
                    </a:ext>
                  </a:extLst>
                </a:gridCol>
                <a:gridCol w="963382">
                  <a:extLst>
                    <a:ext uri="{9D8B030D-6E8A-4147-A177-3AD203B41FA5}">
                      <a16:colId xmlns:a16="http://schemas.microsoft.com/office/drawing/2014/main" val="1905439698"/>
                    </a:ext>
                  </a:extLst>
                </a:gridCol>
                <a:gridCol w="408060">
                  <a:extLst>
                    <a:ext uri="{9D8B030D-6E8A-4147-A177-3AD203B41FA5}">
                      <a16:colId xmlns:a16="http://schemas.microsoft.com/office/drawing/2014/main" val="228860760"/>
                    </a:ext>
                  </a:extLst>
                </a:gridCol>
                <a:gridCol w="380318">
                  <a:extLst>
                    <a:ext uri="{9D8B030D-6E8A-4147-A177-3AD203B41FA5}">
                      <a16:colId xmlns:a16="http://schemas.microsoft.com/office/drawing/2014/main" val="285040429"/>
                    </a:ext>
                  </a:extLst>
                </a:gridCol>
                <a:gridCol w="413877">
                  <a:extLst>
                    <a:ext uri="{9D8B030D-6E8A-4147-A177-3AD203B41FA5}">
                      <a16:colId xmlns:a16="http://schemas.microsoft.com/office/drawing/2014/main" val="3185290885"/>
                    </a:ext>
                  </a:extLst>
                </a:gridCol>
                <a:gridCol w="619417">
                  <a:extLst>
                    <a:ext uri="{9D8B030D-6E8A-4147-A177-3AD203B41FA5}">
                      <a16:colId xmlns:a16="http://schemas.microsoft.com/office/drawing/2014/main" val="2971838831"/>
                    </a:ext>
                  </a:extLst>
                </a:gridCol>
                <a:gridCol w="647381">
                  <a:extLst>
                    <a:ext uri="{9D8B030D-6E8A-4147-A177-3AD203B41FA5}">
                      <a16:colId xmlns:a16="http://schemas.microsoft.com/office/drawing/2014/main" val="1677353121"/>
                    </a:ext>
                  </a:extLst>
                </a:gridCol>
                <a:gridCol w="342902">
                  <a:extLst>
                    <a:ext uri="{9D8B030D-6E8A-4147-A177-3AD203B41FA5}">
                      <a16:colId xmlns:a16="http://schemas.microsoft.com/office/drawing/2014/main" val="4225824249"/>
                    </a:ext>
                  </a:extLst>
                </a:gridCol>
                <a:gridCol w="414938">
                  <a:extLst>
                    <a:ext uri="{9D8B030D-6E8A-4147-A177-3AD203B41FA5}">
                      <a16:colId xmlns:a16="http://schemas.microsoft.com/office/drawing/2014/main" val="3515784118"/>
                    </a:ext>
                  </a:extLst>
                </a:gridCol>
              </a:tblGrid>
              <a:tr h="28406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  <a:b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</a:t>
                      </a:r>
                      <a:b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b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Dist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582666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-328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4157698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Garnier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11.8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+43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+55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790051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Pond's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11.4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▼ -114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74434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1" i="0" u="none" strike="noStrike" dirty="0" err="1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r>
                        <a:rPr lang="en-IN" sz="7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 ★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9.6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54%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 dirty="0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133876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Clean &amp; clear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78675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Joy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4.9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76944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Lakme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+60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3018163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Nivea men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-7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-54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568438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Simple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+223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47601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Biotique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−22%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-13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-49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55%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939208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Patanjali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-17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962692"/>
                  </a:ext>
                </a:extLst>
              </a:tr>
              <a:tr h="1211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Everyuth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1387041"/>
                  </a:ext>
                </a:extLst>
              </a:tr>
              <a:tr h="1420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VLCC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0.736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-22%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112%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117633"/>
                  </a:ext>
                </a:extLst>
              </a:tr>
              <a:tr h="1420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GLOW &amp; LOVELY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0.665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80%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-4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-5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5146126"/>
                  </a:ext>
                </a:extLst>
              </a:tr>
              <a:tr h="1420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LOTUS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0.615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▼ -10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+12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58%</a:t>
                      </a:r>
                      <a:endParaRPr lang="en-IN" sz="7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2227"/>
                  </a:ext>
                </a:extLst>
              </a:tr>
              <a:tr h="14203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7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THE DERMA CO ★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0.606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3940%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73%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▲ +6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 dirty="0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  <a:endParaRPr lang="en-IN" sz="7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848442"/>
                  </a:ext>
                </a:extLst>
              </a:tr>
            </a:tbl>
          </a:graphicData>
        </a:graphic>
      </p:graphicFrame>
      <p:sp>
        <p:nvSpPr>
          <p:cNvPr id="78" name="Rectangle 77">
            <a:extLst>
              <a:ext uri="{FF2B5EF4-FFF2-40B4-BE49-F238E27FC236}">
                <a16:creationId xmlns:a16="http://schemas.microsoft.com/office/drawing/2014/main" id="{9E03E78B-5ED6-90AA-121F-87E044E83A2C}"/>
              </a:ext>
            </a:extLst>
          </p:cNvPr>
          <p:cNvSpPr/>
          <p:nvPr/>
        </p:nvSpPr>
        <p:spPr>
          <a:xfrm>
            <a:off x="3835299" y="4407134"/>
            <a:ext cx="4549251" cy="37307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sz="1155"/>
          </a:p>
        </p:txBody>
      </p:sp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F9F466B6-FE5F-DA4E-34A0-AA74121404E1}"/>
              </a:ext>
            </a:extLst>
          </p:cNvPr>
          <p:cNvGraphicFramePr>
            <a:graphicFrameLocks noGrp="1"/>
          </p:cNvGraphicFramePr>
          <p:nvPr/>
        </p:nvGraphicFramePr>
        <p:xfrm>
          <a:off x="6318843" y="3180772"/>
          <a:ext cx="2071830" cy="504003"/>
        </p:xfrm>
        <a:graphic>
          <a:graphicData uri="http://schemas.openxmlformats.org/drawingml/2006/table">
            <a:tbl>
              <a:tblPr/>
              <a:tblGrid>
                <a:gridCol w="407841">
                  <a:extLst>
                    <a:ext uri="{9D8B030D-6E8A-4147-A177-3AD203B41FA5}">
                      <a16:colId xmlns:a16="http://schemas.microsoft.com/office/drawing/2014/main" val="4192271008"/>
                    </a:ext>
                  </a:extLst>
                </a:gridCol>
                <a:gridCol w="73411">
                  <a:extLst>
                    <a:ext uri="{9D8B030D-6E8A-4147-A177-3AD203B41FA5}">
                      <a16:colId xmlns:a16="http://schemas.microsoft.com/office/drawing/2014/main" val="526558863"/>
                    </a:ext>
                  </a:extLst>
                </a:gridCol>
                <a:gridCol w="73411">
                  <a:extLst>
                    <a:ext uri="{9D8B030D-6E8A-4147-A177-3AD203B41FA5}">
                      <a16:colId xmlns:a16="http://schemas.microsoft.com/office/drawing/2014/main" val="627186890"/>
                    </a:ext>
                  </a:extLst>
                </a:gridCol>
                <a:gridCol w="407841">
                  <a:extLst>
                    <a:ext uri="{9D8B030D-6E8A-4147-A177-3AD203B41FA5}">
                      <a16:colId xmlns:a16="http://schemas.microsoft.com/office/drawing/2014/main" val="4072241119"/>
                    </a:ext>
                  </a:extLst>
                </a:gridCol>
                <a:gridCol w="73411">
                  <a:extLst>
                    <a:ext uri="{9D8B030D-6E8A-4147-A177-3AD203B41FA5}">
                      <a16:colId xmlns:a16="http://schemas.microsoft.com/office/drawing/2014/main" val="188857945"/>
                    </a:ext>
                  </a:extLst>
                </a:gridCol>
                <a:gridCol w="73411">
                  <a:extLst>
                    <a:ext uri="{9D8B030D-6E8A-4147-A177-3AD203B41FA5}">
                      <a16:colId xmlns:a16="http://schemas.microsoft.com/office/drawing/2014/main" val="965029248"/>
                    </a:ext>
                  </a:extLst>
                </a:gridCol>
                <a:gridCol w="407841">
                  <a:extLst>
                    <a:ext uri="{9D8B030D-6E8A-4147-A177-3AD203B41FA5}">
                      <a16:colId xmlns:a16="http://schemas.microsoft.com/office/drawing/2014/main" val="2970150461"/>
                    </a:ext>
                  </a:extLst>
                </a:gridCol>
                <a:gridCol w="73411">
                  <a:extLst>
                    <a:ext uri="{9D8B030D-6E8A-4147-A177-3AD203B41FA5}">
                      <a16:colId xmlns:a16="http://schemas.microsoft.com/office/drawing/2014/main" val="388586537"/>
                    </a:ext>
                  </a:extLst>
                </a:gridCol>
                <a:gridCol w="73411">
                  <a:extLst>
                    <a:ext uri="{9D8B030D-6E8A-4147-A177-3AD203B41FA5}">
                      <a16:colId xmlns:a16="http://schemas.microsoft.com/office/drawing/2014/main" val="766113091"/>
                    </a:ext>
                  </a:extLst>
                </a:gridCol>
                <a:gridCol w="407841">
                  <a:extLst>
                    <a:ext uri="{9D8B030D-6E8A-4147-A177-3AD203B41FA5}">
                      <a16:colId xmlns:a16="http://schemas.microsoft.com/office/drawing/2014/main" val="499297180"/>
                    </a:ext>
                  </a:extLst>
                </a:gridCol>
              </a:tblGrid>
              <a:tr h="149398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The</a:t>
                      </a:r>
                      <a:b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Derma Co</a:t>
                      </a:r>
                      <a:b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FACE</a:t>
                      </a:r>
                      <a:br>
                        <a:rPr lang="en-US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US" sz="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WASHz</a:t>
                      </a:r>
                      <a:endParaRPr lang="en-US" sz="6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B0004020202020204" pitchFamily="34" charset="0"/>
                      </a:endParaRPr>
                    </a:p>
                  </a:txBody>
                  <a:tcPr marL="2955" marR="2955" marT="2955" marB="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A6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May’26</a:t>
                      </a:r>
                      <a:br>
                        <a:rPr lang="en-I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Value .60</a:t>
                      </a:r>
                      <a:br>
                        <a:rPr lang="en-I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Lakhs</a:t>
                      </a:r>
                    </a:p>
                  </a:txBody>
                  <a:tcPr marL="2955" marR="2955" marT="2955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F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M/S 0.7%</a:t>
                      </a:r>
                      <a:br>
                        <a:rPr lang="en-IN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</a:br>
                      <a:r>
                        <a:rPr lang="en-IN" sz="6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▲ +71 bps</a:t>
                      </a:r>
                    </a:p>
                  </a:txBody>
                  <a:tcPr marL="2955" marR="2955" marT="2955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8519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Dist</a:t>
                      </a:r>
                      <a:r>
                        <a:rPr lang="en-I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 </a:t>
                      </a:r>
                    </a:p>
                    <a:p>
                      <a:pPr algn="ctr" fontAlgn="ctr"/>
                      <a:r>
                        <a:rPr lang="en-IN" sz="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0.6%→14.2%</a:t>
                      </a:r>
                    </a:p>
                  </a:txBody>
                  <a:tcPr marL="2955" marR="2955" marT="2955" marB="0" anchor="ctr">
                    <a:lnL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35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438582"/>
                  </a:ext>
                </a:extLst>
              </a:tr>
              <a:tr h="205207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2955" marR="2955" marT="2955" marB="0" anchor="ctr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2955" marR="2955" marT="2955" marB="0" anchor="ctr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 dirty="0">
                          <a:solidFill>
                            <a:srgbClr val="C9D1EA"/>
                          </a:solidFill>
                          <a:effectLst/>
                          <a:latin typeface="Calibri" panose="020B0004020202020204" pitchFamily="34" charset="0"/>
                        </a:rPr>
                        <a:t>▶</a:t>
                      </a:r>
                    </a:p>
                  </a:txBody>
                  <a:tcPr marL="2955" marR="2955" marT="2955" marB="0" anchor="ctr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7F9F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107009"/>
                  </a:ext>
                </a:extLst>
              </a:tr>
              <a:tr h="14939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 w="6350" cap="flat" cmpd="sng" algn="ctr">
                      <a:solidFill>
                        <a:srgbClr val="1AA6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>
                      <a:noFill/>
                    </a:lnL>
                    <a:lnR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 w="6350" cap="flat" cmpd="sng" algn="ctr">
                      <a:solidFill>
                        <a:srgbClr val="356F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>
                      <a:noFill/>
                    </a:lnL>
                    <a:lnR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 w="6350" cap="flat" cmpd="sng" algn="ctr">
                      <a:solidFill>
                        <a:srgbClr val="6851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 dirty="0"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2955" marR="2955" marT="2955" marB="0" anchor="b">
                    <a:lnL>
                      <a:noFill/>
                    </a:lnL>
                    <a:lnR w="6350" cap="flat" cmpd="sng" algn="ctr">
                      <a:solidFill>
                        <a:srgbClr val="8735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65598"/>
                  </a:ext>
                </a:extLst>
              </a:tr>
            </a:tbl>
          </a:graphicData>
        </a:graphic>
      </p:graphicFrame>
      <p:grpSp>
        <p:nvGrpSpPr>
          <p:cNvPr id="100" name="Group 99">
            <a:extLst>
              <a:ext uri="{FF2B5EF4-FFF2-40B4-BE49-F238E27FC236}">
                <a16:creationId xmlns:a16="http://schemas.microsoft.com/office/drawing/2014/main" id="{BF1ADC7B-6C75-7E99-ADFA-E1880C2AE6B7}"/>
              </a:ext>
            </a:extLst>
          </p:cNvPr>
          <p:cNvGrpSpPr/>
          <p:nvPr/>
        </p:nvGrpSpPr>
        <p:grpSpPr>
          <a:xfrm>
            <a:off x="4328466" y="3318108"/>
            <a:ext cx="115026" cy="162662"/>
            <a:chOff x="995555" y="5177897"/>
            <a:chExt cx="177228" cy="241007"/>
          </a:xfrm>
        </p:grpSpPr>
        <p:sp>
          <p:nvSpPr>
            <p:cNvPr id="94" name="Arrow: Right 93">
              <a:extLst>
                <a:ext uri="{FF2B5EF4-FFF2-40B4-BE49-F238E27FC236}">
                  <a16:creationId xmlns:a16="http://schemas.microsoft.com/office/drawing/2014/main" id="{B5511F54-B5BA-4318-3DD3-EF580B187775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defTabSz="586679">
                <a:defRPr/>
              </a:pPr>
              <a:endParaRPr lang="en-IN" sz="1155"/>
            </a:p>
          </p:txBody>
        </p:sp>
        <p:sp>
          <p:nvSpPr>
            <p:cNvPr id="95" name="Arrow: Right 4">
              <a:extLst>
                <a:ext uri="{FF2B5EF4-FFF2-40B4-BE49-F238E27FC236}">
                  <a16:creationId xmlns:a16="http://schemas.microsoft.com/office/drawing/2014/main" id="{DF3C1ACD-D9CF-6F94-3D37-F0B86EEA1D04}"/>
                </a:ext>
              </a:extLst>
            </p:cNvPr>
            <p:cNvSpPr txBox="1"/>
            <p:nvPr/>
          </p:nvSpPr>
          <p:spPr>
            <a:xfrm>
              <a:off x="995555" y="5226099"/>
              <a:ext cx="106683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15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IN" sz="706"/>
            </a:p>
          </p:txBody>
        </p:sp>
      </p:grpSp>
      <p:sp>
        <p:nvSpPr>
          <p:cNvPr id="88" name="Flow Box 1">
            <a:extLst>
              <a:ext uri="{FF2B5EF4-FFF2-40B4-BE49-F238E27FC236}">
                <a16:creationId xmlns:a16="http://schemas.microsoft.com/office/drawing/2014/main" id="{65FFDF55-186E-4F70-B848-01B98474871B}"/>
              </a:ext>
            </a:extLst>
          </p:cNvPr>
          <p:cNvSpPr>
            <a:spLocks noGrp="1"/>
          </p:cNvSpPr>
          <p:nvPr/>
        </p:nvSpPr>
        <p:spPr>
          <a:xfrm>
            <a:off x="3835299" y="3187815"/>
            <a:ext cx="462090" cy="480319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lang="en-IN" sz="642" b="1" dirty="0">
                <a:solidFill>
                  <a:schemeClr val="bg1"/>
                </a:solidFill>
              </a:rPr>
              <a:t>ME</a:t>
            </a:r>
            <a:endParaRPr sz="642" b="1" dirty="0">
              <a:solidFill>
                <a:schemeClr val="bg1"/>
              </a:solidFill>
            </a:endParaRPr>
          </a:p>
          <a:p>
            <a:pPr algn="ctr" defTabSz="586679">
              <a:defRPr/>
            </a:pPr>
            <a:r>
              <a:rPr sz="642" b="1" dirty="0">
                <a:solidFill>
                  <a:schemeClr val="bg1"/>
                </a:solidFill>
              </a:rPr>
              <a:t>FACE</a:t>
            </a:r>
            <a:r>
              <a:rPr lang="en-IN" sz="642" b="1" dirty="0">
                <a:solidFill>
                  <a:schemeClr val="bg1"/>
                </a:solidFill>
              </a:rPr>
              <a:t> </a:t>
            </a:r>
            <a:r>
              <a:rPr sz="642" b="1" dirty="0">
                <a:solidFill>
                  <a:schemeClr val="bg1"/>
                </a:solidFill>
              </a:rPr>
              <a:t>WASH</a:t>
            </a:r>
            <a:r>
              <a:rPr lang="en-IN" sz="642" b="1" dirty="0">
                <a:solidFill>
                  <a:schemeClr val="bg1"/>
                </a:solidFill>
              </a:rPr>
              <a:t> Rank</a:t>
            </a:r>
          </a:p>
          <a:p>
            <a:pPr algn="ctr" defTabSz="586679">
              <a:defRPr/>
            </a:pPr>
            <a:r>
              <a:rPr lang="en-IN" sz="642" b="1" dirty="0">
                <a:solidFill>
                  <a:schemeClr val="bg1"/>
                </a:solidFill>
              </a:rPr>
              <a:t>#4 </a:t>
            </a:r>
            <a:endParaRPr sz="642" b="1" dirty="0">
              <a:solidFill>
                <a:schemeClr val="bg1"/>
              </a:solidFill>
            </a:endParaRPr>
          </a:p>
        </p:txBody>
      </p:sp>
      <p:sp>
        <p:nvSpPr>
          <p:cNvPr id="89" name="Flow Box 2">
            <a:extLst>
              <a:ext uri="{FF2B5EF4-FFF2-40B4-BE49-F238E27FC236}">
                <a16:creationId xmlns:a16="http://schemas.microsoft.com/office/drawing/2014/main" id="{DFAB2D56-689D-4CBB-B28E-14DA7BAB8D4B}"/>
              </a:ext>
            </a:extLst>
          </p:cNvPr>
          <p:cNvSpPr>
            <a:spLocks noGrp="1"/>
          </p:cNvSpPr>
          <p:nvPr/>
        </p:nvSpPr>
        <p:spPr>
          <a:xfrm>
            <a:off x="4474569" y="3191678"/>
            <a:ext cx="433089" cy="476227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sz="642" b="1" dirty="0">
                <a:solidFill>
                  <a:schemeClr val="bg1"/>
                </a:solidFill>
              </a:rPr>
              <a:t>May'26</a:t>
            </a:r>
          </a:p>
          <a:p>
            <a:pPr algn="ctr" defTabSz="586679">
              <a:defRPr/>
            </a:pPr>
            <a:r>
              <a:rPr sz="642" b="1" dirty="0">
                <a:solidFill>
                  <a:schemeClr val="bg1"/>
                </a:solidFill>
              </a:rPr>
              <a:t>Value ₹9.6</a:t>
            </a:r>
          </a:p>
          <a:p>
            <a:pPr algn="ctr" defTabSz="586679">
              <a:defRPr/>
            </a:pPr>
            <a:r>
              <a:rPr sz="642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90" name="Arrow: Right 89">
            <a:extLst>
              <a:ext uri="{FF2B5EF4-FFF2-40B4-BE49-F238E27FC236}">
                <a16:creationId xmlns:a16="http://schemas.microsoft.com/office/drawing/2014/main" id="{51B990B2-3BDA-4993-8961-8793336DBAB2}"/>
              </a:ext>
            </a:extLst>
          </p:cNvPr>
          <p:cNvSpPr/>
          <p:nvPr/>
        </p:nvSpPr>
        <p:spPr>
          <a:xfrm>
            <a:off x="4945468" y="3314402"/>
            <a:ext cx="123835" cy="16266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defTabSz="586679">
              <a:defRPr/>
            </a:pPr>
            <a:endParaRPr lang="en-IN" sz="1155"/>
          </a:p>
        </p:txBody>
      </p:sp>
      <p:sp>
        <p:nvSpPr>
          <p:cNvPr id="91" name="Flow Box 3">
            <a:extLst>
              <a:ext uri="{FF2B5EF4-FFF2-40B4-BE49-F238E27FC236}">
                <a16:creationId xmlns:a16="http://schemas.microsoft.com/office/drawing/2014/main" id="{12223511-186F-4E38-A6C9-D4AD296C1461}"/>
              </a:ext>
            </a:extLst>
          </p:cNvPr>
          <p:cNvSpPr>
            <a:spLocks noGrp="1"/>
          </p:cNvSpPr>
          <p:nvPr/>
        </p:nvSpPr>
        <p:spPr>
          <a:xfrm>
            <a:off x="5093528" y="3188056"/>
            <a:ext cx="487760" cy="470775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sz="642" b="1" dirty="0">
                <a:solidFill>
                  <a:schemeClr val="bg1"/>
                </a:solidFill>
              </a:rPr>
              <a:t>M/S</a:t>
            </a:r>
            <a:r>
              <a:rPr lang="en-IN" sz="642" b="1" dirty="0">
                <a:solidFill>
                  <a:schemeClr val="bg1"/>
                </a:solidFill>
              </a:rPr>
              <a:t> </a:t>
            </a:r>
            <a:r>
              <a:rPr sz="642" b="1" dirty="0">
                <a:solidFill>
                  <a:schemeClr val="bg1"/>
                </a:solidFill>
              </a:rPr>
              <a:t>11.6%</a:t>
            </a:r>
          </a:p>
          <a:p>
            <a:pPr algn="ctr" defTabSz="586679">
              <a:defRPr/>
            </a:pPr>
            <a:r>
              <a:rPr lang="en-US" sz="642" b="1" dirty="0">
                <a:solidFill>
                  <a:schemeClr val="bg1"/>
                </a:solidFill>
              </a:rPr>
              <a:t>▲</a:t>
            </a:r>
            <a:r>
              <a:rPr sz="642" b="1" dirty="0">
                <a:solidFill>
                  <a:schemeClr val="bg1"/>
                </a:solidFill>
              </a:rPr>
              <a:t>+311</a:t>
            </a:r>
            <a:endParaRPr lang="en-IN" sz="642" b="1" dirty="0">
              <a:solidFill>
                <a:schemeClr val="bg1"/>
              </a:solidFill>
            </a:endParaRPr>
          </a:p>
          <a:p>
            <a:pPr algn="ctr" defTabSz="586679">
              <a:defRPr/>
            </a:pPr>
            <a:r>
              <a:rPr lang="en-IN" sz="642" b="1" dirty="0">
                <a:solidFill>
                  <a:schemeClr val="bg1"/>
                </a:solidFill>
              </a:rPr>
              <a:t>B</a:t>
            </a:r>
            <a:r>
              <a:rPr sz="642" b="1" dirty="0" err="1">
                <a:solidFill>
                  <a:schemeClr val="bg1"/>
                </a:solidFill>
              </a:rPr>
              <a:t>ps</a:t>
            </a:r>
            <a:r>
              <a:rPr lang="en-IN" sz="642" b="1" dirty="0">
                <a:solidFill>
                  <a:schemeClr val="bg1"/>
                </a:solidFill>
              </a:rPr>
              <a:t> </a:t>
            </a:r>
            <a:r>
              <a:rPr sz="642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92" name="Flow Box 4">
            <a:extLst>
              <a:ext uri="{FF2B5EF4-FFF2-40B4-BE49-F238E27FC236}">
                <a16:creationId xmlns:a16="http://schemas.microsoft.com/office/drawing/2014/main" id="{6809C1E7-C082-4A53-A6C8-628BC455BEFC}"/>
              </a:ext>
            </a:extLst>
          </p:cNvPr>
          <p:cNvSpPr>
            <a:spLocks noGrp="1"/>
          </p:cNvSpPr>
          <p:nvPr/>
        </p:nvSpPr>
        <p:spPr>
          <a:xfrm>
            <a:off x="5780405" y="3180773"/>
            <a:ext cx="472078" cy="489030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sz="642" b="1" dirty="0" err="1">
                <a:solidFill>
                  <a:schemeClr val="bg1"/>
                </a:solidFill>
              </a:rPr>
              <a:t>Dist</a:t>
            </a:r>
            <a:r>
              <a:rPr lang="en-IN" sz="642" b="1" dirty="0">
                <a:solidFill>
                  <a:schemeClr val="bg1"/>
                </a:solidFill>
              </a:rPr>
              <a:t> </a:t>
            </a:r>
            <a:r>
              <a:rPr sz="642" b="1" dirty="0">
                <a:solidFill>
                  <a:schemeClr val="bg1"/>
                </a:solidFill>
              </a:rPr>
              <a:t>81→8</a:t>
            </a:r>
            <a:r>
              <a:rPr lang="en-IN" sz="642" b="1" dirty="0">
                <a:solidFill>
                  <a:schemeClr val="bg1"/>
                </a:solidFill>
              </a:rPr>
              <a:t>7</a:t>
            </a:r>
            <a:r>
              <a:rPr sz="642" b="1" dirty="0">
                <a:solidFill>
                  <a:schemeClr val="bg1"/>
                </a:solidFill>
              </a:rPr>
              <a:t>%</a:t>
            </a:r>
          </a:p>
        </p:txBody>
      </p:sp>
      <p:sp>
        <p:nvSpPr>
          <p:cNvPr id="93" name="Arrow: Right 92">
            <a:extLst>
              <a:ext uri="{FF2B5EF4-FFF2-40B4-BE49-F238E27FC236}">
                <a16:creationId xmlns:a16="http://schemas.microsoft.com/office/drawing/2014/main" id="{675A98A8-0D5E-4B24-B51C-30292EA1AC26}"/>
              </a:ext>
            </a:extLst>
          </p:cNvPr>
          <p:cNvSpPr/>
          <p:nvPr/>
        </p:nvSpPr>
        <p:spPr>
          <a:xfrm>
            <a:off x="5625492" y="3320336"/>
            <a:ext cx="123835" cy="162662"/>
          </a:xfrm>
          <a:prstGeom prst="rightArrow">
            <a:avLst>
              <a:gd name="adj1" fmla="val 60000"/>
              <a:gd name="adj2" fmla="val 50000"/>
            </a:avLst>
          </a:prstGeom>
          <a:solidFill>
            <a:srgbClr val="156082"/>
          </a:solidFill>
          <a:ln>
            <a:solidFill>
              <a:schemeClr val="tx1"/>
            </a:solidFill>
          </a:ln>
          <a:effectLst>
            <a:outerShdw blurRad="57150" dist="19050" dir="5400000">
              <a:srgbClr val="000000">
                <a:alpha val="63000"/>
              </a:srgbClr>
            </a:outerShdw>
          </a:effectLst>
        </p:spPr>
        <p:txBody>
          <a:bodyPr/>
          <a:lstStyle/>
          <a:p>
            <a:pPr defTabSz="586679">
              <a:defRPr/>
            </a:pPr>
            <a:endParaRPr lang="en-IN" sz="1155"/>
          </a:p>
        </p:txBody>
      </p:sp>
    </p:spTree>
    <p:extLst>
      <p:ext uri="{BB962C8B-B14F-4D97-AF65-F5344CB8AC3E}">
        <p14:creationId xmlns:p14="http://schemas.microsoft.com/office/powerpoint/2010/main" val="453419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69797" y="2524683"/>
            <a:ext cx="4852426" cy="272657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 sz="1155"/>
          </a:p>
        </p:txBody>
      </p:sp>
      <p:sp>
        <p:nvSpPr>
          <p:cNvPr id="3" name="Text 1"/>
          <p:cNvSpPr/>
          <p:nvPr/>
        </p:nvSpPr>
        <p:spPr>
          <a:xfrm>
            <a:off x="3669778" y="2553738"/>
            <a:ext cx="4852445" cy="235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5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SHAMPOO</a:t>
            </a:r>
            <a:endParaRPr lang="en-US" sz="866" dirty="0"/>
          </a:p>
        </p:txBody>
      </p:sp>
      <p:graphicFrame>
        <p:nvGraphicFramePr>
          <p:cNvPr id="46" name="Diagram 45">
            <a:extLst>
              <a:ext uri="{FF2B5EF4-FFF2-40B4-BE49-F238E27FC236}">
                <a16:creationId xmlns:a16="http://schemas.microsoft.com/office/drawing/2014/main" id="{1B6D1794-1D66-C673-96EC-A6D1FC734535}"/>
              </a:ext>
            </a:extLst>
          </p:cNvPr>
          <p:cNvGraphicFramePr/>
          <p:nvPr/>
        </p:nvGraphicFramePr>
        <p:xfrm>
          <a:off x="3768737" y="3444567"/>
          <a:ext cx="4607464" cy="696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636B1AAB-4748-7CC0-BEE7-26A29602347A}"/>
              </a:ext>
            </a:extLst>
          </p:cNvPr>
          <p:cNvSpPr/>
          <p:nvPr/>
        </p:nvSpPr>
        <p:spPr>
          <a:xfrm>
            <a:off x="3739886" y="3413386"/>
            <a:ext cx="39081" cy="764927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293340">
              <a:defRPr/>
            </a:pPr>
            <a:endParaRPr sz="1155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8656B2-8BE9-1A4B-D34B-2D4E8094CDD4}"/>
              </a:ext>
            </a:extLst>
          </p:cNvPr>
          <p:cNvSpPr/>
          <p:nvPr/>
        </p:nvSpPr>
        <p:spPr>
          <a:xfrm>
            <a:off x="3739886" y="4153147"/>
            <a:ext cx="4665650" cy="36927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sz="1155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12A20D-23EB-A36C-2630-4AC1414949C0}"/>
              </a:ext>
            </a:extLst>
          </p:cNvPr>
          <p:cNvSpPr/>
          <p:nvPr/>
        </p:nvSpPr>
        <p:spPr>
          <a:xfrm flipV="1">
            <a:off x="3749632" y="3405734"/>
            <a:ext cx="4665650" cy="29334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sz="1155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80BEB92-7A66-ADCE-38EA-A15EE053485B}"/>
              </a:ext>
            </a:extLst>
          </p:cNvPr>
          <p:cNvSpPr/>
          <p:nvPr/>
        </p:nvSpPr>
        <p:spPr>
          <a:xfrm>
            <a:off x="3761684" y="3452425"/>
            <a:ext cx="2024093" cy="17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706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908C298-A068-367C-958B-89B223497564}"/>
              </a:ext>
            </a:extLst>
          </p:cNvPr>
          <p:cNvSpPr/>
          <p:nvPr/>
        </p:nvSpPr>
        <p:spPr>
          <a:xfrm flipH="1">
            <a:off x="8376202" y="3405736"/>
            <a:ext cx="29334" cy="764282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algn="ctr" defTabSz="293340">
              <a:defRPr/>
            </a:pPr>
            <a:endParaRPr sz="1155" kern="0">
              <a:solidFill>
                <a:prstClr val="white"/>
              </a:solidFill>
              <a:latin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3E0B81-1D4E-027E-8644-ABE438577D25}"/>
              </a:ext>
            </a:extLst>
          </p:cNvPr>
          <p:cNvGraphicFramePr>
            <a:graphicFrameLocks noGrp="1"/>
          </p:cNvGraphicFramePr>
          <p:nvPr/>
        </p:nvGraphicFramePr>
        <p:xfrm>
          <a:off x="3771178" y="4225992"/>
          <a:ext cx="4605026" cy="2572629"/>
        </p:xfrm>
        <a:graphic>
          <a:graphicData uri="http://schemas.openxmlformats.org/drawingml/2006/table">
            <a:tbl>
              <a:tblPr/>
              <a:tblGrid>
                <a:gridCol w="295455">
                  <a:extLst>
                    <a:ext uri="{9D8B030D-6E8A-4147-A177-3AD203B41FA5}">
                      <a16:colId xmlns:a16="http://schemas.microsoft.com/office/drawing/2014/main" val="2287102801"/>
                    </a:ext>
                  </a:extLst>
                </a:gridCol>
                <a:gridCol w="967871">
                  <a:extLst>
                    <a:ext uri="{9D8B030D-6E8A-4147-A177-3AD203B41FA5}">
                      <a16:colId xmlns:a16="http://schemas.microsoft.com/office/drawing/2014/main" val="3967937189"/>
                    </a:ext>
                  </a:extLst>
                </a:gridCol>
                <a:gridCol w="295455">
                  <a:extLst>
                    <a:ext uri="{9D8B030D-6E8A-4147-A177-3AD203B41FA5}">
                      <a16:colId xmlns:a16="http://schemas.microsoft.com/office/drawing/2014/main" val="1876209470"/>
                    </a:ext>
                  </a:extLst>
                </a:gridCol>
                <a:gridCol w="387148">
                  <a:extLst>
                    <a:ext uri="{9D8B030D-6E8A-4147-A177-3AD203B41FA5}">
                      <a16:colId xmlns:a16="http://schemas.microsoft.com/office/drawing/2014/main" val="4020892610"/>
                    </a:ext>
                  </a:extLst>
                </a:gridCol>
                <a:gridCol w="601099">
                  <a:extLst>
                    <a:ext uri="{9D8B030D-6E8A-4147-A177-3AD203B41FA5}">
                      <a16:colId xmlns:a16="http://schemas.microsoft.com/office/drawing/2014/main" val="1655522661"/>
                    </a:ext>
                  </a:extLst>
                </a:gridCol>
                <a:gridCol w="601099">
                  <a:extLst>
                    <a:ext uri="{9D8B030D-6E8A-4147-A177-3AD203B41FA5}">
                      <a16:colId xmlns:a16="http://schemas.microsoft.com/office/drawing/2014/main" val="4020451871"/>
                    </a:ext>
                  </a:extLst>
                </a:gridCol>
                <a:gridCol w="601099">
                  <a:extLst>
                    <a:ext uri="{9D8B030D-6E8A-4147-A177-3AD203B41FA5}">
                      <a16:colId xmlns:a16="http://schemas.microsoft.com/office/drawing/2014/main" val="3277651063"/>
                    </a:ext>
                  </a:extLst>
                </a:gridCol>
                <a:gridCol w="427900">
                  <a:extLst>
                    <a:ext uri="{9D8B030D-6E8A-4147-A177-3AD203B41FA5}">
                      <a16:colId xmlns:a16="http://schemas.microsoft.com/office/drawing/2014/main" val="2945216774"/>
                    </a:ext>
                  </a:extLst>
                </a:gridCol>
                <a:gridCol w="427900">
                  <a:extLst>
                    <a:ext uri="{9D8B030D-6E8A-4147-A177-3AD203B41FA5}">
                      <a16:colId xmlns:a16="http://schemas.microsoft.com/office/drawing/2014/main" val="2232411814"/>
                    </a:ext>
                  </a:extLst>
                </a:gridCol>
              </a:tblGrid>
              <a:tr h="20901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Brand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Wtd Dist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059701"/>
                  </a:ext>
                </a:extLst>
              </a:tr>
              <a:tr h="12141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₹Cr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231749"/>
                  </a:ext>
                </a:extLst>
              </a:tr>
              <a:tr h="21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Dove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29.6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+170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914778"/>
                  </a:ext>
                </a:extLst>
              </a:tr>
              <a:tr h="21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L'oreal paris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22.1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+70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232837"/>
                  </a:ext>
                </a:extLst>
              </a:tr>
              <a:tr h="21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Head &amp; shoulders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14"/>
                  </a:ext>
                </a:extLst>
              </a:tr>
              <a:tr h="21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Tresemme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17.3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+90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+140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98%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606104"/>
                  </a:ext>
                </a:extLst>
              </a:tr>
              <a:tr h="1409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Clinic plus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16.7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4610130"/>
                  </a:ext>
                </a:extLst>
              </a:tr>
              <a:tr h="21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Sunsilk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14.8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Flat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+150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4994400"/>
                  </a:ext>
                </a:extLst>
              </a:tr>
              <a:tr h="21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Mamaearth ★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64%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81%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168150"/>
                  </a:ext>
                </a:extLst>
              </a:tr>
              <a:tr h="1409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Pantene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−4%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+50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776089"/>
                  </a:ext>
                </a:extLst>
              </a:tr>
              <a:tr h="1409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5.7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+40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85179"/>
                  </a:ext>
                </a:extLst>
              </a:tr>
              <a:tr h="21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Himalaya baby care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96%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723359"/>
                  </a:ext>
                </a:extLst>
              </a:tr>
              <a:tr h="1409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Meera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3.5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+20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1236189"/>
                  </a:ext>
                </a:extLst>
              </a:tr>
              <a:tr h="14096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5B6B86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Dabur vatika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2.5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35%</a:t>
                      </a:r>
                      <a:endParaRPr lang="en-IN" sz="900" b="1" i="0" u="none" strike="noStrike" dirty="0">
                        <a:solidFill>
                          <a:srgbClr val="008A3D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1F3864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C0392B"/>
                          </a:solidFill>
                          <a:effectLst/>
                          <a:latin typeface="Calibri" panose="020F0502020204030204" pitchFamily="34" charset="0"/>
                        </a:rPr>
                        <a:t>▲ +10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F0502020204030204" pitchFamily="34" charset="0"/>
                        </a:rPr>
                        <a:t>78%</a:t>
                      </a:r>
                      <a:endParaRPr lang="en-IN" sz="9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90598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3756641" y="97863"/>
            <a:ext cx="4572478" cy="29334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sz="1155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3757387" y="1532480"/>
            <a:ext cx="4549546" cy="9816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642" b="1" dirty="0"/>
              <a:t>• 150ml is the hero pack: </a:t>
            </a:r>
            <a:r>
              <a:rPr lang="en-US" sz="642" dirty="0"/>
              <a:t>6.7% MT share, ~58% of </a:t>
            </a:r>
            <a:r>
              <a:rPr lang="en-US" sz="642" dirty="0" err="1"/>
              <a:t>Mamaearth</a:t>
            </a:r>
            <a:r>
              <a:rPr lang="en-US" sz="642" dirty="0"/>
              <a:t> Face Wash, growing strongly at +98% YoY.</a:t>
            </a:r>
            <a:endParaRPr lang="en-US" sz="642" b="1" dirty="0"/>
          </a:p>
          <a:p>
            <a:r>
              <a:rPr lang="en-US" sz="642" b="1" dirty="0"/>
              <a:t>• 150ml has slight MoM softness at -0.4 bps but remains strong YoY with +2.9 bps gain.</a:t>
            </a:r>
          </a:p>
          <a:p>
            <a:r>
              <a:rPr lang="en-US" sz="642" b="1" dirty="0"/>
              <a:t>• 100ml is the 2</a:t>
            </a:r>
            <a:r>
              <a:rPr lang="en-US" sz="642" b="1" baseline="30000" dirty="0"/>
              <a:t>nd</a:t>
            </a:r>
            <a:r>
              <a:rPr lang="en-US" sz="642" b="1" dirty="0"/>
              <a:t> key pack: </a:t>
            </a:r>
            <a:r>
              <a:rPr lang="en-US" sz="642" dirty="0"/>
              <a:t>~21% contribution but declining -10.7% YoY with negative share movement. Needs availability and promo check.</a:t>
            </a:r>
            <a:endParaRPr lang="en-US" sz="642" b="1" dirty="0"/>
          </a:p>
          <a:p>
            <a:r>
              <a:rPr lang="en-US" sz="642" b="1" dirty="0"/>
              <a:t>• 150ml + 100ml contribute ~78% </a:t>
            </a:r>
            <a:r>
              <a:rPr lang="en-US" sz="642" dirty="0"/>
              <a:t>of the brand, so shelf depth for both packs must be protected in MT</a:t>
            </a:r>
            <a:r>
              <a:rPr lang="en-US" sz="642" b="1" dirty="0"/>
              <a:t>.</a:t>
            </a:r>
          </a:p>
          <a:p>
            <a:r>
              <a:rPr lang="en-US" sz="642" b="1" dirty="0"/>
              <a:t>• 200ml is emerging as a growth builder with ~11% contribution &amp; positive share gain. Track chain-wise for scale-up.</a:t>
            </a:r>
          </a:p>
          <a:p>
            <a:r>
              <a:rPr lang="en-US" sz="642" b="1" dirty="0"/>
              <a:t>• 50ml is a trial pack with ~10.5% contribution and +80% YoY growth. Use for till-points and entry visibility.</a:t>
            </a:r>
          </a:p>
          <a:p>
            <a:r>
              <a:rPr lang="en-US" sz="642" b="1" dirty="0"/>
              <a:t>• 250ml </a:t>
            </a:r>
            <a:r>
              <a:rPr lang="en-US" sz="642" dirty="0"/>
              <a:t>is sharply down at -94% YoY and very low contribution.</a:t>
            </a:r>
            <a:endParaRPr lang="en-US" sz="642" b="1" dirty="0"/>
          </a:p>
          <a:p>
            <a:r>
              <a:rPr lang="en-US" sz="642" b="1" dirty="0"/>
              <a:t>• Action: </a:t>
            </a:r>
            <a:r>
              <a:rPr lang="en-US" sz="642" dirty="0"/>
              <a:t>Use 50ml at till-points, impulse counters and trial-led visibility spots.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3766902" y="160502"/>
            <a:ext cx="4567048" cy="270074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834" b="1" dirty="0">
                <a:solidFill>
                  <a:srgbClr val="FFFFFF"/>
                </a:solidFill>
                <a:latin typeface="Calibri" panose="020B0604020202020204" pitchFamily="34" charset="0"/>
              </a:rPr>
              <a:t>MAMAEARTH FACE WASH | PACK-SIZE | MAY'26</a:t>
            </a:r>
            <a:r>
              <a:rPr lang="en-US" sz="1155" dirty="0"/>
              <a:t> </a:t>
            </a:r>
            <a:endParaRPr lang="en-IN" sz="1155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3F85A83E-85D5-4311-AB31-CEC3E1510A47}"/>
              </a:ext>
            </a:extLst>
          </p:cNvPr>
          <p:cNvGraphicFramePr>
            <a:graphicFrameLocks noGrp="1"/>
          </p:cNvGraphicFramePr>
          <p:nvPr/>
        </p:nvGraphicFramePr>
        <p:xfrm>
          <a:off x="3756641" y="435330"/>
          <a:ext cx="4572479" cy="1103468"/>
        </p:xfrm>
        <a:graphic>
          <a:graphicData uri="http://schemas.openxmlformats.org/drawingml/2006/table">
            <a:tbl>
              <a:tblPr/>
              <a:tblGrid>
                <a:gridCol w="514002">
                  <a:extLst>
                    <a:ext uri="{9D8B030D-6E8A-4147-A177-3AD203B41FA5}">
                      <a16:colId xmlns:a16="http://schemas.microsoft.com/office/drawing/2014/main" val="2384875462"/>
                    </a:ext>
                  </a:extLst>
                </a:gridCol>
                <a:gridCol w="331959">
                  <a:extLst>
                    <a:ext uri="{9D8B030D-6E8A-4147-A177-3AD203B41FA5}">
                      <a16:colId xmlns:a16="http://schemas.microsoft.com/office/drawing/2014/main" val="2593112309"/>
                    </a:ext>
                  </a:extLst>
                </a:gridCol>
                <a:gridCol w="514002">
                  <a:extLst>
                    <a:ext uri="{9D8B030D-6E8A-4147-A177-3AD203B41FA5}">
                      <a16:colId xmlns:a16="http://schemas.microsoft.com/office/drawing/2014/main" val="1583407350"/>
                    </a:ext>
                  </a:extLst>
                </a:gridCol>
                <a:gridCol w="578253">
                  <a:extLst>
                    <a:ext uri="{9D8B030D-6E8A-4147-A177-3AD203B41FA5}">
                      <a16:colId xmlns:a16="http://schemas.microsoft.com/office/drawing/2014/main" val="1652040375"/>
                    </a:ext>
                  </a:extLst>
                </a:gridCol>
                <a:gridCol w="578253">
                  <a:extLst>
                    <a:ext uri="{9D8B030D-6E8A-4147-A177-3AD203B41FA5}">
                      <a16:colId xmlns:a16="http://schemas.microsoft.com/office/drawing/2014/main" val="2239736604"/>
                    </a:ext>
                  </a:extLst>
                </a:gridCol>
                <a:gridCol w="578253">
                  <a:extLst>
                    <a:ext uri="{9D8B030D-6E8A-4147-A177-3AD203B41FA5}">
                      <a16:colId xmlns:a16="http://schemas.microsoft.com/office/drawing/2014/main" val="1708960461"/>
                    </a:ext>
                  </a:extLst>
                </a:gridCol>
                <a:gridCol w="535419">
                  <a:extLst>
                    <a:ext uri="{9D8B030D-6E8A-4147-A177-3AD203B41FA5}">
                      <a16:colId xmlns:a16="http://schemas.microsoft.com/office/drawing/2014/main" val="2639501366"/>
                    </a:ext>
                  </a:extLst>
                </a:gridCol>
                <a:gridCol w="535419">
                  <a:extLst>
                    <a:ext uri="{9D8B030D-6E8A-4147-A177-3AD203B41FA5}">
                      <a16:colId xmlns:a16="http://schemas.microsoft.com/office/drawing/2014/main" val="3372754032"/>
                    </a:ext>
                  </a:extLst>
                </a:gridCol>
                <a:gridCol w="406919">
                  <a:extLst>
                    <a:ext uri="{9D8B030D-6E8A-4147-A177-3AD203B41FA5}">
                      <a16:colId xmlns:a16="http://schemas.microsoft.com/office/drawing/2014/main" val="4086455608"/>
                    </a:ext>
                  </a:extLst>
                </a:gridCol>
              </a:tblGrid>
              <a:tr h="121413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Rank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 </a:t>
                      </a:r>
                      <a:b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</a:br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size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Pack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MoM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 ₹Cr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Value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8129558"/>
                  </a:ext>
                </a:extLst>
              </a:tr>
              <a:tr h="12141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Cont</a:t>
                      </a:r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MS Val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May'26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YoY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7461074"/>
                  </a:ext>
                </a:extLst>
              </a:tr>
              <a:tr h="173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58%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+290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5.53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98%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318464"/>
                  </a:ext>
                </a:extLst>
              </a:tr>
              <a:tr h="121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21%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-40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-60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1.96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-11%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460086"/>
                  </a:ext>
                </a:extLst>
              </a:tr>
              <a:tr h="1737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+90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+130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50014"/>
                  </a:ext>
                </a:extLst>
              </a:tr>
              <a:tr h="121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11%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-10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289C83"/>
                          </a:solidFill>
                          <a:effectLst/>
                          <a:latin typeface="Calibri" panose="020B0604020202020204" pitchFamily="34" charset="0"/>
                        </a:rPr>
                        <a:t>▲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+50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1.01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839366"/>
                  </a:ext>
                </a:extLst>
              </a:tr>
              <a:tr h="121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</a:t>
                      </a:r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 -80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-94%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866938"/>
                  </a:ext>
                </a:extLst>
              </a:tr>
              <a:tr h="121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  <a:endParaRPr lang="en-IN" sz="8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7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-25%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59911"/>
                  </a:ext>
                </a:extLst>
              </a:tr>
            </a:tbl>
          </a:graphicData>
        </a:graphic>
      </p:graphicFrame>
      <p:sp>
        <p:nvSpPr>
          <p:cNvPr id="16" name="Flowchart: Alternate Process 15">
            <a:extLst>
              <a:ext uri="{FF2B5EF4-FFF2-40B4-BE49-F238E27FC236}">
                <a16:creationId xmlns:a16="http://schemas.microsoft.com/office/drawing/2014/main" id="{3C25727F-59E7-04DE-5B50-72F3C442998C}"/>
              </a:ext>
            </a:extLst>
          </p:cNvPr>
          <p:cNvSpPr/>
          <p:nvPr/>
        </p:nvSpPr>
        <p:spPr>
          <a:xfrm>
            <a:off x="3758709" y="2847230"/>
            <a:ext cx="4566749" cy="515844"/>
          </a:xfrm>
          <a:prstGeom prst="flowChartAlternateProcess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796" b="1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75DA593-DB5E-8DFC-4D3C-965D1A154BA5}"/>
              </a:ext>
            </a:extLst>
          </p:cNvPr>
          <p:cNvGrpSpPr/>
          <p:nvPr/>
        </p:nvGrpSpPr>
        <p:grpSpPr>
          <a:xfrm>
            <a:off x="4746196" y="3025777"/>
            <a:ext cx="236231" cy="177916"/>
            <a:chOff x="996089" y="5177897"/>
            <a:chExt cx="176694" cy="241007"/>
          </a:xfrm>
        </p:grpSpPr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729D5F5B-A64A-98CE-A5CC-E04BCE306898}"/>
                </a:ext>
              </a:extLst>
            </p:cNvPr>
            <p:cNvSpPr/>
            <p:nvPr/>
          </p:nvSpPr>
          <p:spPr>
            <a:xfrm>
              <a:off x="1000989" y="5177897"/>
              <a:ext cx="171794" cy="241007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defTabSz="586679">
                <a:defRPr/>
              </a:pPr>
              <a:endParaRPr lang="en-IN" sz="1796"/>
            </a:p>
          </p:txBody>
        </p:sp>
        <p:sp>
          <p:nvSpPr>
            <p:cNvPr id="22" name="Arrow: Right 4">
              <a:extLst>
                <a:ext uri="{FF2B5EF4-FFF2-40B4-BE49-F238E27FC236}">
                  <a16:creationId xmlns:a16="http://schemas.microsoft.com/office/drawing/2014/main" id="{01D39A9F-8F17-7FED-EDDA-CA9DEC9A46DF}"/>
                </a:ext>
              </a:extLst>
            </p:cNvPr>
            <p:cNvSpPr txBox="1"/>
            <p:nvPr/>
          </p:nvSpPr>
          <p:spPr>
            <a:xfrm>
              <a:off x="996089" y="5226099"/>
              <a:ext cx="106148" cy="1584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15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IN" sz="1027"/>
            </a:p>
          </p:txBody>
        </p:sp>
      </p:grpSp>
      <p:sp>
        <p:nvSpPr>
          <p:cNvPr id="24" name="Flow Box 1">
            <a:extLst>
              <a:ext uri="{FF2B5EF4-FFF2-40B4-BE49-F238E27FC236}">
                <a16:creationId xmlns:a16="http://schemas.microsoft.com/office/drawing/2014/main" id="{18AC2083-4AC2-E809-B938-AB7B19D8CA5E}"/>
              </a:ext>
            </a:extLst>
          </p:cNvPr>
          <p:cNvSpPr>
            <a:spLocks noGrp="1"/>
          </p:cNvSpPr>
          <p:nvPr/>
        </p:nvSpPr>
        <p:spPr>
          <a:xfrm>
            <a:off x="3784302" y="2878351"/>
            <a:ext cx="930843" cy="459557"/>
          </a:xfrm>
          <a:prstGeom prst="roundRect">
            <a:avLst/>
          </a:prstGeom>
          <a:solidFill>
            <a:srgbClr val="08A5E1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lang="en-IN" sz="770" b="1" dirty="0">
                <a:solidFill>
                  <a:schemeClr val="bg1"/>
                </a:solidFill>
              </a:rPr>
              <a:t>ME</a:t>
            </a:r>
            <a:endParaRPr sz="770" b="1" dirty="0">
              <a:solidFill>
                <a:schemeClr val="bg1"/>
              </a:solidFill>
            </a:endParaRPr>
          </a:p>
          <a:p>
            <a:pPr algn="ctr" defTabSz="586679">
              <a:defRPr/>
            </a:pPr>
            <a:r>
              <a:rPr lang="en-IN" sz="770" b="1" dirty="0">
                <a:solidFill>
                  <a:schemeClr val="bg1"/>
                </a:solidFill>
              </a:rPr>
              <a:t>Shampoo</a:t>
            </a:r>
            <a:endParaRPr sz="770" b="1" dirty="0">
              <a:solidFill>
                <a:schemeClr val="bg1"/>
              </a:solidFill>
            </a:endParaRPr>
          </a:p>
        </p:txBody>
      </p:sp>
      <p:sp>
        <p:nvSpPr>
          <p:cNvPr id="25" name="Flow Box 2">
            <a:extLst>
              <a:ext uri="{FF2B5EF4-FFF2-40B4-BE49-F238E27FC236}">
                <a16:creationId xmlns:a16="http://schemas.microsoft.com/office/drawing/2014/main" id="{59232D69-DB1E-30EF-9DAA-2A11554791DC}"/>
              </a:ext>
            </a:extLst>
          </p:cNvPr>
          <p:cNvSpPr>
            <a:spLocks noGrp="1"/>
          </p:cNvSpPr>
          <p:nvPr/>
        </p:nvSpPr>
        <p:spPr>
          <a:xfrm>
            <a:off x="5018172" y="2877381"/>
            <a:ext cx="930843" cy="454964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sz="770" b="1" dirty="0">
                <a:solidFill>
                  <a:schemeClr val="bg1"/>
                </a:solidFill>
              </a:rPr>
              <a:t>May'26</a:t>
            </a:r>
          </a:p>
          <a:p>
            <a:pPr algn="ctr" defTabSz="586679">
              <a:defRPr/>
            </a:pPr>
            <a:r>
              <a:rPr sz="770" b="1" dirty="0">
                <a:solidFill>
                  <a:schemeClr val="bg1"/>
                </a:solidFill>
              </a:rPr>
              <a:t>Value ₹</a:t>
            </a:r>
            <a:r>
              <a:rPr lang="en-IN" sz="770" b="1" dirty="0">
                <a:solidFill>
                  <a:schemeClr val="bg1"/>
                </a:solidFill>
              </a:rPr>
              <a:t>6.5</a:t>
            </a:r>
            <a:endParaRPr sz="770" b="1" dirty="0">
              <a:solidFill>
                <a:schemeClr val="bg1"/>
              </a:solidFill>
            </a:endParaRPr>
          </a:p>
          <a:p>
            <a:pPr algn="ctr" defTabSz="586679">
              <a:defRPr/>
            </a:pPr>
            <a:r>
              <a:rPr sz="770" b="1" dirty="0">
                <a:solidFill>
                  <a:schemeClr val="bg1"/>
                </a:solidFill>
              </a:rPr>
              <a:t>Cr</a:t>
            </a:r>
          </a:p>
        </p:txBody>
      </p:sp>
      <p:sp>
        <p:nvSpPr>
          <p:cNvPr id="27" name="Flow Box 3">
            <a:extLst>
              <a:ext uri="{FF2B5EF4-FFF2-40B4-BE49-F238E27FC236}">
                <a16:creationId xmlns:a16="http://schemas.microsoft.com/office/drawing/2014/main" id="{1C740AFB-CEE7-26A8-407D-CAA911563BC9}"/>
              </a:ext>
            </a:extLst>
          </p:cNvPr>
          <p:cNvSpPr>
            <a:spLocks noGrp="1"/>
          </p:cNvSpPr>
          <p:nvPr/>
        </p:nvSpPr>
        <p:spPr>
          <a:xfrm>
            <a:off x="6274317" y="2882945"/>
            <a:ext cx="845735" cy="454963"/>
          </a:xfrm>
          <a:prstGeom prst="roundRect">
            <a:avLst/>
          </a:prstGeom>
          <a:solidFill>
            <a:srgbClr val="95C645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sz="898" b="1" dirty="0">
                <a:solidFill>
                  <a:schemeClr val="bg1"/>
                </a:solidFill>
              </a:rPr>
              <a:t>M/S</a:t>
            </a:r>
            <a:r>
              <a:rPr lang="en-IN" sz="898" b="1" dirty="0">
                <a:solidFill>
                  <a:schemeClr val="bg1"/>
                </a:solidFill>
              </a:rPr>
              <a:t> 3.9</a:t>
            </a:r>
            <a:r>
              <a:rPr sz="898" b="1" dirty="0">
                <a:solidFill>
                  <a:schemeClr val="bg1"/>
                </a:solidFill>
              </a:rPr>
              <a:t>%</a:t>
            </a:r>
          </a:p>
          <a:p>
            <a:pPr algn="ctr" defTabSz="586679">
              <a:defRPr/>
            </a:pPr>
            <a:r>
              <a:rPr lang="en-IN" sz="898" dirty="0">
                <a:solidFill>
                  <a:schemeClr val="bg1"/>
                </a:solidFill>
              </a:rPr>
              <a:t>▲ +134 </a:t>
            </a:r>
          </a:p>
          <a:p>
            <a:pPr algn="ctr" defTabSz="586679">
              <a:defRPr/>
            </a:pPr>
            <a:r>
              <a:rPr lang="en-IN" sz="898" dirty="0">
                <a:solidFill>
                  <a:schemeClr val="bg1"/>
                </a:solidFill>
              </a:rPr>
              <a:t>bps </a:t>
            </a:r>
            <a:r>
              <a:rPr sz="898" b="1" dirty="0">
                <a:solidFill>
                  <a:schemeClr val="bg1"/>
                </a:solidFill>
              </a:rPr>
              <a:t>YOY</a:t>
            </a:r>
          </a:p>
        </p:txBody>
      </p:sp>
      <p:sp>
        <p:nvSpPr>
          <p:cNvPr id="30" name="Flow Box 4">
            <a:extLst>
              <a:ext uri="{FF2B5EF4-FFF2-40B4-BE49-F238E27FC236}">
                <a16:creationId xmlns:a16="http://schemas.microsoft.com/office/drawing/2014/main" id="{338421EB-A654-8DE5-7208-E8DFB1B92A7F}"/>
              </a:ext>
            </a:extLst>
          </p:cNvPr>
          <p:cNvSpPr>
            <a:spLocks noGrp="1"/>
          </p:cNvSpPr>
          <p:nvPr/>
        </p:nvSpPr>
        <p:spPr>
          <a:xfrm>
            <a:off x="7460926" y="2878125"/>
            <a:ext cx="846007" cy="454220"/>
          </a:xfrm>
          <a:prstGeom prst="roundRect">
            <a:avLst/>
          </a:prstGeom>
          <a:solidFill>
            <a:srgbClr val="4EB693"/>
          </a:solidFill>
          <a:ln w="9525">
            <a:solidFill>
              <a:schemeClr val="tx1"/>
            </a:solidFill>
            <a:prstDash val="solid"/>
          </a:ln>
        </p:spPr>
        <p:txBody>
          <a:bodyPr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 defTabSz="586679">
              <a:defRPr/>
            </a:pPr>
            <a:r>
              <a:rPr lang="en-IN" sz="898" b="1" dirty="0" err="1">
                <a:solidFill>
                  <a:schemeClr val="bg1"/>
                </a:solidFill>
              </a:rPr>
              <a:t>Dist</a:t>
            </a:r>
            <a:r>
              <a:rPr lang="en-IN" sz="898" b="1" dirty="0">
                <a:solidFill>
                  <a:schemeClr val="bg1"/>
                </a:solidFill>
              </a:rPr>
              <a:t> </a:t>
            </a:r>
          </a:p>
          <a:p>
            <a:pPr algn="ctr" defTabSz="586679">
              <a:defRPr/>
            </a:pPr>
            <a:r>
              <a:rPr lang="en-IN" sz="898" b="1" dirty="0">
                <a:solidFill>
                  <a:schemeClr val="bg1"/>
                </a:solidFill>
              </a:rPr>
              <a:t>76%→81%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D17E33A-6CF9-6232-F89B-34A011C2BD4A}"/>
              </a:ext>
            </a:extLst>
          </p:cNvPr>
          <p:cNvGrpSpPr/>
          <p:nvPr/>
        </p:nvGrpSpPr>
        <p:grpSpPr>
          <a:xfrm>
            <a:off x="6001798" y="3040574"/>
            <a:ext cx="241467" cy="171819"/>
            <a:chOff x="992172" y="5177897"/>
            <a:chExt cx="180611" cy="257914"/>
          </a:xfrm>
        </p:grpSpPr>
        <p:sp>
          <p:nvSpPr>
            <p:cNvPr id="41" name="Arrow: Right 40">
              <a:extLst>
                <a:ext uri="{FF2B5EF4-FFF2-40B4-BE49-F238E27FC236}">
                  <a16:creationId xmlns:a16="http://schemas.microsoft.com/office/drawing/2014/main" id="{1824812A-F3F7-7E1D-016C-41D868C6B65C}"/>
                </a:ext>
              </a:extLst>
            </p:cNvPr>
            <p:cNvSpPr/>
            <p:nvPr/>
          </p:nvSpPr>
          <p:spPr>
            <a:xfrm>
              <a:off x="992172" y="5177897"/>
              <a:ext cx="180611" cy="25791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defTabSz="586679">
                <a:defRPr/>
              </a:pPr>
              <a:endParaRPr lang="en-IN" sz="1796"/>
            </a:p>
          </p:txBody>
        </p:sp>
        <p:sp>
          <p:nvSpPr>
            <p:cNvPr id="42" name="Arrow: Right 4">
              <a:extLst>
                <a:ext uri="{FF2B5EF4-FFF2-40B4-BE49-F238E27FC236}">
                  <a16:creationId xmlns:a16="http://schemas.microsoft.com/office/drawing/2014/main" id="{B7604E29-31FC-917B-AB16-0780BF19344C}"/>
                </a:ext>
              </a:extLst>
            </p:cNvPr>
            <p:cNvSpPr txBox="1"/>
            <p:nvPr/>
          </p:nvSpPr>
          <p:spPr>
            <a:xfrm>
              <a:off x="992172" y="5226098"/>
              <a:ext cx="110066" cy="17546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15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IN" sz="1027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08FC9B9-B996-D283-FE1B-1632F46A1A54}"/>
              </a:ext>
            </a:extLst>
          </p:cNvPr>
          <p:cNvGrpSpPr/>
          <p:nvPr/>
        </p:nvGrpSpPr>
        <p:grpSpPr>
          <a:xfrm>
            <a:off x="7153053" y="3023226"/>
            <a:ext cx="255090" cy="189171"/>
            <a:chOff x="981983" y="5177897"/>
            <a:chExt cx="190800" cy="256254"/>
          </a:xfrm>
        </p:grpSpPr>
        <p:sp>
          <p:nvSpPr>
            <p:cNvPr id="44" name="Arrow: Right 43">
              <a:extLst>
                <a:ext uri="{FF2B5EF4-FFF2-40B4-BE49-F238E27FC236}">
                  <a16:creationId xmlns:a16="http://schemas.microsoft.com/office/drawing/2014/main" id="{A9112158-420F-A389-6461-65534ED407FA}"/>
                </a:ext>
              </a:extLst>
            </p:cNvPr>
            <p:cNvSpPr/>
            <p:nvPr/>
          </p:nvSpPr>
          <p:spPr>
            <a:xfrm>
              <a:off x="981983" y="5177897"/>
              <a:ext cx="190800" cy="256254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156082"/>
            </a:solidFill>
            <a:ln>
              <a:solidFill>
                <a:schemeClr val="tx1"/>
              </a:solidFill>
            </a:ln>
            <a:effectLst>
              <a:outerShdw blurRad="57150" dist="19050" dir="5400000">
                <a:srgbClr val="000000">
                  <a:alpha val="63000"/>
                </a:srgbClr>
              </a:outerShdw>
            </a:effectLst>
          </p:spPr>
          <p:txBody>
            <a:bodyPr/>
            <a:lstStyle/>
            <a:p>
              <a:pPr defTabSz="586679">
                <a:defRPr/>
              </a:pPr>
              <a:endParaRPr lang="en-IN" sz="1796"/>
            </a:p>
          </p:txBody>
        </p:sp>
        <p:sp>
          <p:nvSpPr>
            <p:cNvPr id="45" name="Arrow: Right 4">
              <a:extLst>
                <a:ext uri="{FF2B5EF4-FFF2-40B4-BE49-F238E27FC236}">
                  <a16:creationId xmlns:a16="http://schemas.microsoft.com/office/drawing/2014/main" id="{65C70857-76D2-4919-84AF-262528A1BC7E}"/>
                </a:ext>
              </a:extLst>
            </p:cNvPr>
            <p:cNvSpPr txBox="1"/>
            <p:nvPr/>
          </p:nvSpPr>
          <p:spPr>
            <a:xfrm>
              <a:off x="981983" y="5226099"/>
              <a:ext cx="120255" cy="14460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ffectLst/>
          </p:spPr>
          <p:txBody>
            <a:bodyPr spcFirstLastPara="0" vert="horz" wrap="square" lIns="0" tIns="0" rIns="0" bIns="0" numCol="1" spcCol="1270" anchor="ctr" anchorCtr="0"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228153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endParaRPr lang="en-IN" sz="1027"/>
            </a:p>
          </p:txBody>
        </p:sp>
      </p:grpSp>
    </p:spTree>
    <p:extLst>
      <p:ext uri="{BB962C8B-B14F-4D97-AF65-F5344CB8AC3E}">
        <p14:creationId xmlns:p14="http://schemas.microsoft.com/office/powerpoint/2010/main" val="96933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95988B-2C53-CE52-FE20-615B28D6398F}"/>
              </a:ext>
            </a:extLst>
          </p:cNvPr>
          <p:cNvSpPr/>
          <p:nvPr/>
        </p:nvSpPr>
        <p:spPr>
          <a:xfrm>
            <a:off x="3756641" y="97863"/>
            <a:ext cx="4572478" cy="29334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sz="1155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F7C811-7D0E-BE95-1073-42658F76E103}"/>
              </a:ext>
            </a:extLst>
          </p:cNvPr>
          <p:cNvSpPr txBox="1"/>
          <p:nvPr/>
        </p:nvSpPr>
        <p:spPr>
          <a:xfrm>
            <a:off x="3759252" y="1775554"/>
            <a:ext cx="4601180" cy="18309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27" dirty="0"/>
              <a:t>• </a:t>
            </a:r>
            <a:r>
              <a:rPr lang="en-US" sz="1027" b="1" dirty="0"/>
              <a:t>400ml is the hero pack</a:t>
            </a:r>
            <a:r>
              <a:rPr lang="en-US" sz="1027" dirty="0"/>
              <a:t>: 3.0% MT share, ~76% of </a:t>
            </a:r>
            <a:r>
              <a:rPr lang="en-US" sz="1027" dirty="0" err="1"/>
              <a:t>Mamaearth</a:t>
            </a:r>
            <a:r>
              <a:rPr lang="en-US" sz="1027" dirty="0"/>
              <a:t> Shampoo, growing +71% YoY.</a:t>
            </a:r>
            <a:br>
              <a:rPr lang="en-US" sz="1027" dirty="0"/>
            </a:br>
            <a:r>
              <a:rPr lang="en-US" sz="1027" dirty="0"/>
              <a:t>• </a:t>
            </a:r>
            <a:r>
              <a:rPr lang="en-US" sz="1027" b="1" dirty="0"/>
              <a:t>High concentration risk</a:t>
            </a:r>
            <a:r>
              <a:rPr lang="en-US" sz="1027" dirty="0"/>
              <a:t>: Brand is heavily dependent on one pack, so any chain-level delisting or stock gap can impact overall performance.</a:t>
            </a:r>
            <a:br>
              <a:rPr lang="en-US" sz="1027" dirty="0"/>
            </a:br>
            <a:r>
              <a:rPr lang="en-US" sz="1027" dirty="0"/>
              <a:t>• </a:t>
            </a:r>
            <a:r>
              <a:rPr lang="en-US" sz="1027" b="1" dirty="0"/>
              <a:t>250ml needs recovery</a:t>
            </a:r>
            <a:r>
              <a:rPr lang="en-US" sz="1027" dirty="0"/>
              <a:t>: Second key pack at 12.5% contribution but declining -7% YoY. Listing expansion is required.</a:t>
            </a:r>
            <a:br>
              <a:rPr lang="en-US" sz="1027" dirty="0"/>
            </a:br>
            <a:r>
              <a:rPr lang="en-US" sz="1027" dirty="0"/>
              <a:t>• </a:t>
            </a:r>
            <a:r>
              <a:rPr lang="en-US" sz="1027" b="1" dirty="0"/>
              <a:t>650ml is emerging</a:t>
            </a:r>
            <a:r>
              <a:rPr lang="en-US" sz="1027" dirty="0"/>
              <a:t>: Small base but gaining share MoM. Track existing &amp; Listing chain wise for future scale-up.</a:t>
            </a:r>
            <a:br>
              <a:rPr lang="en-US" sz="1027" dirty="0"/>
            </a:br>
            <a:r>
              <a:rPr lang="en-US" sz="1027" dirty="0"/>
              <a:t>• </a:t>
            </a:r>
            <a:r>
              <a:rPr lang="en-US" sz="1027" b="1" dirty="0"/>
              <a:t>Action:</a:t>
            </a:r>
            <a:r>
              <a:rPr lang="en-US" sz="1027" dirty="0"/>
              <a:t> Need to Protect 400ml availability and increase listing for gaps to secure and increase sales, need to widen 250ml listing for gaining share and to extend the listing  &amp; linking for 650ml as the next opportunity.</a:t>
            </a:r>
            <a:endParaRPr lang="en-US" sz="962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D97565-8AF1-E76D-F683-A0CEFEDB138E}"/>
              </a:ext>
            </a:extLst>
          </p:cNvPr>
          <p:cNvSpPr txBox="1"/>
          <p:nvPr/>
        </p:nvSpPr>
        <p:spPr>
          <a:xfrm>
            <a:off x="3766902" y="160502"/>
            <a:ext cx="4567048" cy="270074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834" b="1" dirty="0">
                <a:solidFill>
                  <a:srgbClr val="FFFFFF"/>
                </a:solidFill>
                <a:latin typeface="Calibri" panose="020B0604020202020204" pitchFamily="34" charset="0"/>
              </a:rPr>
              <a:t>MAMAEARTH SHAMPOO | PACK-SIZE | MAY'26</a:t>
            </a:r>
            <a:r>
              <a:rPr lang="en-US" sz="1155" dirty="0"/>
              <a:t> </a:t>
            </a:r>
            <a:endParaRPr lang="en-IN" sz="1155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6BDE3B5-36EE-420F-AF74-A0208CB48B34}"/>
              </a:ext>
            </a:extLst>
          </p:cNvPr>
          <p:cNvGraphicFramePr>
            <a:graphicFrameLocks noGrp="1"/>
          </p:cNvGraphicFramePr>
          <p:nvPr/>
        </p:nvGraphicFramePr>
        <p:xfrm>
          <a:off x="3766903" y="418120"/>
          <a:ext cx="4567046" cy="1291544"/>
        </p:xfrm>
        <a:graphic>
          <a:graphicData uri="http://schemas.openxmlformats.org/drawingml/2006/table">
            <a:tbl>
              <a:tblPr/>
              <a:tblGrid>
                <a:gridCol w="276791">
                  <a:extLst>
                    <a:ext uri="{9D8B030D-6E8A-4147-A177-3AD203B41FA5}">
                      <a16:colId xmlns:a16="http://schemas.microsoft.com/office/drawing/2014/main" val="2318576066"/>
                    </a:ext>
                  </a:extLst>
                </a:gridCol>
                <a:gridCol w="468415">
                  <a:extLst>
                    <a:ext uri="{9D8B030D-6E8A-4147-A177-3AD203B41FA5}">
                      <a16:colId xmlns:a16="http://schemas.microsoft.com/office/drawing/2014/main" val="2089671565"/>
                    </a:ext>
                  </a:extLst>
                </a:gridCol>
                <a:gridCol w="489707">
                  <a:extLst>
                    <a:ext uri="{9D8B030D-6E8A-4147-A177-3AD203B41FA5}">
                      <a16:colId xmlns:a16="http://schemas.microsoft.com/office/drawing/2014/main" val="479983784"/>
                    </a:ext>
                  </a:extLst>
                </a:gridCol>
                <a:gridCol w="596164">
                  <a:extLst>
                    <a:ext uri="{9D8B030D-6E8A-4147-A177-3AD203B41FA5}">
                      <a16:colId xmlns:a16="http://schemas.microsoft.com/office/drawing/2014/main" val="505997824"/>
                    </a:ext>
                  </a:extLst>
                </a:gridCol>
                <a:gridCol w="660039">
                  <a:extLst>
                    <a:ext uri="{9D8B030D-6E8A-4147-A177-3AD203B41FA5}">
                      <a16:colId xmlns:a16="http://schemas.microsoft.com/office/drawing/2014/main" val="2872346768"/>
                    </a:ext>
                  </a:extLst>
                </a:gridCol>
                <a:gridCol w="596164">
                  <a:extLst>
                    <a:ext uri="{9D8B030D-6E8A-4147-A177-3AD203B41FA5}">
                      <a16:colId xmlns:a16="http://schemas.microsoft.com/office/drawing/2014/main" val="1067503429"/>
                    </a:ext>
                  </a:extLst>
                </a:gridCol>
                <a:gridCol w="489707">
                  <a:extLst>
                    <a:ext uri="{9D8B030D-6E8A-4147-A177-3AD203B41FA5}">
                      <a16:colId xmlns:a16="http://schemas.microsoft.com/office/drawing/2014/main" val="4096712120"/>
                    </a:ext>
                  </a:extLst>
                </a:gridCol>
                <a:gridCol w="510998">
                  <a:extLst>
                    <a:ext uri="{9D8B030D-6E8A-4147-A177-3AD203B41FA5}">
                      <a16:colId xmlns:a16="http://schemas.microsoft.com/office/drawing/2014/main" val="3718942374"/>
                    </a:ext>
                  </a:extLst>
                </a:gridCol>
                <a:gridCol w="479061">
                  <a:extLst>
                    <a:ext uri="{9D8B030D-6E8A-4147-A177-3AD203B41FA5}">
                      <a16:colId xmlns:a16="http://schemas.microsoft.com/office/drawing/2014/main" val="4195415328"/>
                    </a:ext>
                  </a:extLst>
                </a:gridCol>
              </a:tblGrid>
              <a:tr h="2281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Rank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 size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Pack</a:t>
                      </a:r>
                    </a:p>
                    <a:p>
                      <a:pPr algn="ctr" rtl="0" fontAlgn="ctr"/>
                      <a:r>
                        <a:rPr lang="en-IN" sz="7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MAT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MS Val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 ₹Cr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May'26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Value</a:t>
                      </a:r>
                      <a:b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YoY 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9C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306368"/>
                  </a:ext>
                </a:extLst>
              </a:tr>
              <a:tr h="2363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400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76%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+110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4.96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21227"/>
                  </a:ext>
                </a:extLst>
              </a:tr>
              <a:tr h="1181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250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-8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0.82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34482"/>
                  </a:ext>
                </a:extLst>
              </a:tr>
              <a:tr h="1181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650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+3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+26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0.43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 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742890"/>
                  </a:ext>
                </a:extLst>
              </a:tr>
              <a:tr h="1181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600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-2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+4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0.12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151%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8603302"/>
                  </a:ext>
                </a:extLst>
              </a:tr>
              <a:tr h="1181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200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Flat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0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0.08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3%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89104"/>
                  </a:ext>
                </a:extLst>
              </a:tr>
              <a:tr h="1181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100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-1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F0502020204030204" pitchFamily="34" charset="0"/>
                        </a:rPr>
                        <a:t>▲ +2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0.06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5144312"/>
                  </a:ext>
                </a:extLst>
              </a:tr>
              <a:tr h="1181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7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180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1%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-4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▲ +2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0.04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600" b="0" i="0" u="none" strike="noStrike" dirty="0">
                        <a:solidFill>
                          <a:srgbClr val="1A1F29"/>
                        </a:solidFill>
                        <a:effectLst/>
                        <a:latin typeface="Calibri" panose="020B0604020202020204" pitchFamily="34" charset="0"/>
                      </a:endParaRP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018092"/>
                  </a:ext>
                </a:extLst>
              </a:tr>
              <a:tr h="11815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8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50 ml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 dirty="0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-5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-3 bps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0.03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 dirty="0">
                          <a:solidFill>
                            <a:srgbClr val="1A1F29"/>
                          </a:solidFill>
                          <a:effectLst/>
                          <a:latin typeface="Calibri" panose="020B0604020202020204" pitchFamily="34" charset="0"/>
                        </a:rPr>
                        <a:t>-59%</a:t>
                      </a:r>
                    </a:p>
                  </a:txBody>
                  <a:tcPr marL="4074" marR="4074" marT="4074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75414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D42DC590-D1FD-9DD8-5138-6956995F8BF3}"/>
              </a:ext>
            </a:extLst>
          </p:cNvPr>
          <p:cNvSpPr txBox="1"/>
          <p:nvPr/>
        </p:nvSpPr>
        <p:spPr>
          <a:xfrm>
            <a:off x="3756641" y="3599400"/>
            <a:ext cx="4606403" cy="270074"/>
          </a:xfrm>
          <a:prstGeom prst="rect">
            <a:avLst/>
          </a:prstGeom>
          <a:solidFill>
            <a:srgbClr val="289C83"/>
          </a:solidFill>
        </p:spPr>
        <p:txBody>
          <a:bodyPr wrap="square">
            <a:spAutoFit/>
          </a:bodyPr>
          <a:lstStyle/>
          <a:p>
            <a:pPr algn="ctr"/>
            <a:r>
              <a:rPr lang="en-US" sz="1155" b="1" dirty="0">
                <a:solidFill>
                  <a:schemeClr val="bg1"/>
                </a:solidFill>
              </a:rPr>
              <a:t>ME Shampoo Pack Availability vs Opportunity Gap</a:t>
            </a:r>
          </a:p>
        </p:txBody>
      </p:sp>
      <p:graphicFrame>
        <p:nvGraphicFramePr>
          <p:cNvPr id="46" name="Chart 0">
            <a:extLst>
              <a:ext uri="{FF2B5EF4-FFF2-40B4-BE49-F238E27FC236}">
                <a16:creationId xmlns:a16="http://schemas.microsoft.com/office/drawing/2014/main" id="{FD5412DD-62DE-7EE7-D7EC-5F24EA860C67}"/>
              </a:ext>
            </a:extLst>
          </p:cNvPr>
          <p:cNvGraphicFramePr/>
          <p:nvPr/>
        </p:nvGraphicFramePr>
        <p:xfrm>
          <a:off x="3785735" y="3920883"/>
          <a:ext cx="4577309" cy="16705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7" name="Shape 16">
            <a:extLst>
              <a:ext uri="{FF2B5EF4-FFF2-40B4-BE49-F238E27FC236}">
                <a16:creationId xmlns:a16="http://schemas.microsoft.com/office/drawing/2014/main" id="{78EEF3A1-7740-B1F2-F8CE-770C531074F9}"/>
              </a:ext>
            </a:extLst>
          </p:cNvPr>
          <p:cNvSpPr/>
          <p:nvPr/>
        </p:nvSpPr>
        <p:spPr>
          <a:xfrm>
            <a:off x="3787628" y="5613286"/>
            <a:ext cx="2308372" cy="583121"/>
          </a:xfrm>
          <a:prstGeom prst="roundRect">
            <a:avLst>
              <a:gd name="adj" fmla="val 4444"/>
            </a:avLst>
          </a:prstGeom>
          <a:solidFill>
            <a:srgbClr val="E5F4EC"/>
          </a:solidFill>
          <a:ln>
            <a:solidFill>
              <a:schemeClr val="tx1"/>
            </a:solidFill>
          </a:ln>
        </p:spPr>
        <p:txBody>
          <a:bodyPr/>
          <a:lstStyle/>
          <a:p>
            <a:pPr defTabSz="293340">
              <a:spcAft>
                <a:spcPts val="128"/>
              </a:spcAft>
              <a:defRPr sz="900"/>
            </a:pPr>
            <a:r>
              <a:rPr lang="en-US" sz="898" dirty="0">
                <a:solidFill>
                  <a:prstClr val="black"/>
                </a:solidFill>
                <a:latin typeface="Calibri"/>
              </a:rPr>
              <a:t>• </a:t>
            </a:r>
            <a:r>
              <a:rPr lang="en-US" sz="898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400ml – 45.9 Cr (69% share) #1</a:t>
            </a:r>
          </a:p>
          <a:p>
            <a:pPr defTabSz="293340">
              <a:spcAft>
                <a:spcPts val="385"/>
              </a:spcAft>
              <a:defRPr sz="900"/>
            </a:pPr>
            <a:r>
              <a:rPr lang="en-US" sz="898" dirty="0">
                <a:solidFill>
                  <a:prstClr val="black"/>
                </a:solidFill>
                <a:latin typeface="Calibri"/>
              </a:rPr>
              <a:t>• </a:t>
            </a:r>
            <a:r>
              <a:rPr lang="en-US" sz="898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250ml – 9.9 Cr (79% share) #-1</a:t>
            </a:r>
          </a:p>
          <a:p>
            <a:pPr defTabSz="293340">
              <a:spcAft>
                <a:spcPts val="128"/>
              </a:spcAft>
              <a:defRPr sz="900"/>
            </a:pPr>
            <a:r>
              <a:rPr lang="en-US" sz="898" dirty="0">
                <a:solidFill>
                  <a:prstClr val="black"/>
                </a:solidFill>
                <a:latin typeface="Calibri"/>
              </a:rPr>
              <a:t>• </a:t>
            </a:r>
            <a:r>
              <a:rPr lang="en-US" sz="898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 650ml Track chain-wise, plan for scale</a:t>
            </a:r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53BD4E85-5535-370B-0B31-C665D95AC02B}"/>
              </a:ext>
            </a:extLst>
          </p:cNvPr>
          <p:cNvSpPr/>
          <p:nvPr/>
        </p:nvSpPr>
        <p:spPr>
          <a:xfrm>
            <a:off x="6135108" y="5669446"/>
            <a:ext cx="2194011" cy="1101054"/>
          </a:xfrm>
          <a:prstGeom prst="roundRect">
            <a:avLst>
              <a:gd name="adj" fmla="val 4138"/>
            </a:avLst>
          </a:prstGeom>
          <a:solidFill>
            <a:srgbClr val="FBEAE9"/>
          </a:solidFill>
          <a:ln>
            <a:solidFill>
              <a:schemeClr val="tx1"/>
            </a:solidFill>
          </a:ln>
        </p:spPr>
        <p:txBody>
          <a:bodyPr anchor="ctr"/>
          <a:lstStyle/>
          <a:p>
            <a:pPr>
              <a:lnSpc>
                <a:spcPct val="150000"/>
              </a:lnSpc>
              <a:spcAft>
                <a:spcPts val="192"/>
              </a:spcAft>
              <a:defRPr sz="1100" b="1">
                <a:solidFill>
                  <a:srgbClr val="8B4513"/>
                </a:solidFill>
              </a:defRPr>
            </a:pPr>
            <a:r>
              <a:rPr lang="en-IN" sz="1027" dirty="0"/>
              <a:t>WHERE WE'RE MISSING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898" dirty="0"/>
              <a:t>340ml – 261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898" dirty="0"/>
              <a:t>1000ml – 216 Cr Dove leads | We: 0 Cr</a:t>
            </a:r>
          </a:p>
          <a:p>
            <a:pPr>
              <a:lnSpc>
                <a:spcPct val="150000"/>
              </a:lnSpc>
              <a:defRPr sz="1100">
                <a:solidFill>
                  <a:srgbClr val="192D55"/>
                </a:solidFill>
              </a:defRPr>
            </a:pPr>
            <a:r>
              <a:rPr lang="en-US" sz="898" dirty="0"/>
              <a:t>580ml – 64 Cr </a:t>
            </a:r>
            <a:r>
              <a:rPr lang="en-US" sz="898" dirty="0" err="1"/>
              <a:t>Tresemmé</a:t>
            </a:r>
            <a:r>
              <a:rPr lang="en-US" sz="898" dirty="0"/>
              <a:t> leads | We: 0 Cr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8EA26C8-6633-76E7-6AFE-132E91B724C2}"/>
              </a:ext>
            </a:extLst>
          </p:cNvPr>
          <p:cNvSpPr txBox="1"/>
          <p:nvPr/>
        </p:nvSpPr>
        <p:spPr>
          <a:xfrm>
            <a:off x="3785734" y="6196407"/>
            <a:ext cx="2308372" cy="6766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defTabSz="293340">
              <a:spcAft>
                <a:spcPts val="192"/>
              </a:spcAft>
              <a:defRPr sz="1100" b="1">
                <a:solidFill>
                  <a:srgbClr val="800080"/>
                </a:solidFill>
              </a:defRPr>
            </a:pPr>
            <a:r>
              <a:rPr lang="en-US" sz="770" b="1" dirty="0">
                <a:solidFill>
                  <a:srgbClr val="800080"/>
                </a:solidFill>
                <a:latin typeface="Calibri"/>
              </a:rPr>
              <a:t>COMPETITORS STRONG:</a:t>
            </a:r>
          </a:p>
          <a:p>
            <a:pPr defTabSz="293340">
              <a:spcAft>
                <a:spcPts val="128"/>
              </a:spcAft>
              <a:defRPr sz="900"/>
            </a:pPr>
            <a:r>
              <a:rPr lang="en-US" sz="898" dirty="0">
                <a:solidFill>
                  <a:prstClr val="black"/>
                </a:solidFill>
                <a:latin typeface="Calibri"/>
              </a:rPr>
              <a:t>• Dove: 250ml, 340ml, 400ml, 1000ml</a:t>
            </a:r>
          </a:p>
          <a:p>
            <a:pPr defTabSz="293340">
              <a:spcAft>
                <a:spcPts val="128"/>
              </a:spcAft>
              <a:defRPr sz="900"/>
            </a:pPr>
            <a:r>
              <a:rPr lang="en-US" sz="898" dirty="0">
                <a:solidFill>
                  <a:prstClr val="black"/>
                </a:solidFill>
                <a:latin typeface="Calibri"/>
              </a:rPr>
              <a:t>• H&amp;S: 180ml, 250ml, 400ml, 580ml</a:t>
            </a:r>
          </a:p>
          <a:p>
            <a:pPr defTabSz="293340">
              <a:defRPr sz="900"/>
            </a:pPr>
            <a:r>
              <a:rPr lang="en-US" sz="898" dirty="0">
                <a:solidFill>
                  <a:prstClr val="black"/>
                </a:solidFill>
                <a:latin typeface="Calibri"/>
              </a:rPr>
              <a:t>• Himalaya: 180ml, 1000ml</a:t>
            </a:r>
          </a:p>
        </p:txBody>
      </p:sp>
    </p:spTree>
    <p:extLst>
      <p:ext uri="{BB962C8B-B14F-4D97-AF65-F5344CB8AC3E}">
        <p14:creationId xmlns:p14="http://schemas.microsoft.com/office/powerpoint/2010/main" val="2225327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1874</Words>
  <Application>Microsoft Office PowerPoint</Application>
  <PresentationFormat>Widescreen</PresentationFormat>
  <Paragraphs>542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Sheshant  Singh Aswal</dc:creator>
  <cp:lastModifiedBy>Sheshant  Singh Aswal</cp:lastModifiedBy>
  <cp:revision>1</cp:revision>
  <dcterms:created xsi:type="dcterms:W3CDTF">2026-07-21T07:12:22Z</dcterms:created>
  <dcterms:modified xsi:type="dcterms:W3CDTF">2026-07-22T06:32:43Z</dcterms:modified>
</cp:coreProperties>
</file>