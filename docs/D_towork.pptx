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Total Channel</c:v>
          </c:tx>
          <c:spPr>
            <a:ln w="28575">
              <a:solidFill>
                <a:srgbClr val="1F4E79"/>
              </a:solidFill>
              <a:prstDash val="solid"/>
            </a:ln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183F5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Jun-25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</c:strLit>
          </c:cat>
          <c:val>
            <c:numLit>
              <c:formatCode>General</c:formatCode>
              <c:ptCount val="6"/>
              <c:pt idx="0">
                <c:v>22.71</c:v>
              </c:pt>
              <c:pt idx="1">
                <c:v>27.61</c:v>
              </c:pt>
              <c:pt idx="2">
                <c:v>32.340000000000003</c:v>
              </c:pt>
              <c:pt idx="3">
                <c:v>35.89</c:v>
              </c:pt>
              <c:pt idx="4">
                <c:v>40.26</c:v>
              </c:pt>
              <c:pt idx="5">
                <c:v>38.24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CF4-4428-B921-CCCFBF7334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w="9525">
              <a:solidFill>
                <a:srgbClr val="D6DED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Jun’26 NSV</c:v>
          </c:tx>
          <c:spPr>
            <a:solidFill>
              <a:srgbClr val="2D9B7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183F5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West</c:v>
              </c:pt>
              <c:pt idx="1">
                <c:v>North</c:v>
              </c:pt>
              <c:pt idx="2">
                <c:v>S1</c:v>
              </c:pt>
              <c:pt idx="3">
                <c:v>S2</c:v>
              </c:pt>
              <c:pt idx="4">
                <c:v>East</c:v>
              </c:pt>
              <c:pt idx="5">
                <c:v>FSN</c:v>
              </c:pt>
            </c:strLit>
          </c:cat>
          <c:val>
            <c:numLit>
              <c:formatCode>General</c:formatCode>
              <c:ptCount val="6"/>
              <c:pt idx="0">
                <c:v>985</c:v>
              </c:pt>
              <c:pt idx="1">
                <c:v>860</c:v>
              </c:pt>
              <c:pt idx="2">
                <c:v>827</c:v>
              </c:pt>
              <c:pt idx="3">
                <c:v>548</c:v>
              </c:pt>
              <c:pt idx="4">
                <c:v>387</c:v>
              </c:pt>
              <c:pt idx="5">
                <c:v>217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23D-4BA0-8108-2B1DA24406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623DC-F9EB-4C36-ADB5-E3728B9ECA3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6C55C-4F1D-41CF-91DB-397D06BFF8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18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CCEC3-40E3-7F03-236E-2862F473C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8C4CE-FE11-6216-670C-7A25BE27C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88374-FA81-EEDA-A301-5867F21D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2607A-EEEC-B8EF-400F-1E37F52A1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B0404-725D-FD10-F392-6ED35F4F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02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C970-1A14-3DAC-C3E8-669C45F4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0C61C-9717-3010-FDB4-D9D936A9B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91E74-37A1-7D25-5EA7-E983BECD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6A86-B1B6-754B-472C-EA288B0D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9F5BD-DFFB-9FF9-B45F-CB3EC593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790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A320-1E66-1F5E-554E-37EFD451A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37781-46D3-14F7-155E-A20F57D22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2761-7BDD-CC37-BC8F-1322A52B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B729-7A15-B9A1-7030-A358A67D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F06-4E54-87BA-A541-3990E1E1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886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E040-0DB7-DC12-E28E-EF6702DB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9D8B-81C7-CCBD-C46E-AA383EAF2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2A39B-EE3A-9211-689F-B0FD2BD84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437DC-FCE3-2758-7E26-2332555A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F0B14-C450-FAFC-5A9F-1D0B9A4E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0C74F-017A-2ABD-6D54-AF328BFC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25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B40A-972E-7E60-DBB4-B845CEFA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00CB4-85F8-00C8-494E-55AA418A5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33501-9F74-AFBA-B341-00509D8FA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F58C9-8754-D169-97B0-ABFDB50C5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25C7E-C8F0-7E86-AF8F-829A5B012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82687-F583-DC5C-9B6D-988437EB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33147-1E10-A164-E090-020BCD81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76D87-4827-8558-E9E9-C080E109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72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B9B7-4A56-F7D9-BDB0-BF9FDEA20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A9983-0842-80FD-8C96-DA67BC01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06A54-49C7-9188-DAB5-E0D7D82D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21891-97A7-5ABD-9285-9EF86953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38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5504F-F313-4B98-6951-393A7C54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2A22F-1057-323E-1721-3444D6A0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C2D9-BF30-51CB-88AF-13C81FCC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00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D94F-6D2D-E1D3-3DD5-67A038A2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2FA5-37D2-120E-5AE4-C2BE6F2C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B6116-F64F-AD96-75A3-DE5401BC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25B56-41A8-58C8-E6DB-AF6F1F44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07164-A925-8394-2D91-CAB5B45D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B8FF6-9083-9078-B7D3-48D3451B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83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1420-E489-D070-A946-EBEDD578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E409D3-409C-951E-F4A1-089CF36F6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4E4E6-F0CB-1B97-AD99-03EF3B586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18CF1-95F8-EEF5-8AFC-D592E72E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74259-ECB1-45D1-5849-755282C4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22BAF-C519-4DD7-E435-48FE9656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65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FD90-4C78-87B7-E190-E48203DA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79971-2126-7C33-3ABC-BBF4FFAB1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D2518-B8CF-2DB5-2CF7-4646CE46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01316-3AEA-1AC9-9F07-DC70C5793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D6FE-D777-F46A-9EA5-32AB7BB0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18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84462-EE82-6616-8E6C-5729C27D5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BCE97-8330-0920-66E0-77241FC3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74380-E46E-44F0-2BA8-CFE9A301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A51EB-084D-AD27-F2C1-4CB597A6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4C68-CE52-8F1F-E357-8551D742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54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8341FB7-BD8A-42F8-8D18-8EDC15413D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586679">
              <a:lnSpc>
                <a:spcPct val="100000"/>
              </a:lnSpc>
              <a:buNone/>
              <a:tabLst>
                <a:tab pos="0" algn="l"/>
              </a:tabLst>
              <a:defRPr sz="1155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IN"/>
              <a:t> 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B56FEE3-CD57-449E-AB4A-D8432D6D187C}"/>
              </a:ext>
            </a:extLst>
          </p:cNvPr>
          <p:cNvSpPr>
            <a:spLocks noGrp="1"/>
          </p:cNvSpPr>
          <p:nvPr>
            <p:ph type="ftr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ctr">
              <a:buNone/>
              <a:defRPr sz="898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rPr lang="en-IN"/>
              <a:t> 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FF9A1C0-BD0D-4EEE-88FC-1FF9166B96FC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586679">
              <a:lnSpc>
                <a:spcPct val="100000"/>
              </a:lnSpc>
              <a:buNone/>
              <a:tabLst>
                <a:tab pos="0" algn="l"/>
              </a:tabLst>
              <a:defRPr sz="1155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fld id="{1B4D99C6-592F-460D-B118-53FBBDF0D91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644220C-9C41-46A0-A6ED-135E5BC1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70" y="273483"/>
            <a:ext cx="10972147" cy="11449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155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>
              <a:buNone/>
            </a:pPr>
            <a:r>
              <a:rPr sz="1155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A438A615-A340-425A-9C63-AF44C3A8689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370" y="1604630"/>
            <a:ext cx="10972147" cy="397727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1940198" indent="-138586" algn="l">
              <a:spcBef>
                <a:spcPts val="182"/>
              </a:spcBef>
              <a:buClr>
                <a:srgbClr val="000000"/>
              </a:buClr>
              <a:buSzPct val="45000"/>
              <a:buFont typeface="Wingdings"/>
              <a:buChar char=""/>
              <a:defRPr sz="2053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728"/>
              </a:spcBef>
              <a:buClr>
                <a:srgbClr val="000000"/>
              </a:buClr>
              <a:buSzPct val="75000"/>
              <a:buFont typeface="Symbol"/>
              <a:buChar char=""/>
              <a:defRPr sz="154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545"/>
              </a:spcBef>
              <a:buClr>
                <a:srgbClr val="000000"/>
              </a:buClr>
              <a:buSzPct val="45000"/>
              <a:buFont typeface="Wingdings"/>
              <a:buChar char=""/>
              <a:def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364"/>
              </a:spcBef>
              <a:buClr>
                <a:srgbClr val="000000"/>
              </a:buClr>
              <a:buSzPct val="75000"/>
              <a:buFont typeface="Symbol"/>
              <a:buChar char=""/>
              <a:def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182"/>
              </a:spcBef>
              <a:buClr>
                <a:srgbClr val="000000"/>
              </a:buClr>
              <a:buSzPct val="45000"/>
              <a:buFont typeface="Wingdings"/>
              <a:buChar char=""/>
              <a:def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182"/>
              </a:spcBef>
              <a:buClr>
                <a:srgbClr val="000000"/>
              </a:buClr>
              <a:buSzPct val="45000"/>
              <a:buFont typeface="Wingdings"/>
              <a:buChar char=""/>
              <a:def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182"/>
              </a:spcBef>
              <a:buClr>
                <a:srgbClr val="000000"/>
              </a:buClr>
              <a:buSzPct val="45000"/>
              <a:buFont typeface="Wingdings"/>
              <a:buChar char=""/>
              <a:def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53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54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283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199394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61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50078-D975-8B2B-AF37-EA0C679B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793B4-198C-651A-B9D6-56F43B946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7B066-F0EE-CE3D-5D8B-344019E5F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5393D-9AC1-4E9E-9620-2701374EB6A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D1DB7-B720-075F-D436-A4487FFA5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806EF-4F39-0FF0-3C36-DA04A7BC3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845CA-09AB-4A14-A02E-B294F121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0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aderBand">
            <a:extLst>
              <a:ext uri="{FF2B5EF4-FFF2-40B4-BE49-F238E27FC236}">
                <a16:creationId xmlns:a16="http://schemas.microsoft.com/office/drawing/2014/main" id="{461E3AC8-2712-403C-AE4B-A853F738C78F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445" cy="293347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9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FY27 SCORECARD — OFFTAKE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F98EE84-8930-4D99-B6A2-13039F39537B}"/>
              </a:ext>
            </a:extLst>
          </p:cNvPr>
          <p:cNvSpPr>
            <a:spLocks noGrp="1"/>
          </p:cNvSpPr>
          <p:nvPr/>
        </p:nvSpPr>
        <p:spPr>
          <a:xfrm>
            <a:off x="3877565" y="305569"/>
            <a:ext cx="4436870" cy="171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5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Apr–Jun’26 vs Apr–Jun’25  |  NSV ₹ Lacs  |  MT + EB2B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DE7E3C91-6848-4F1B-83FC-59D20E1CA712}"/>
              </a:ext>
            </a:extLst>
          </p:cNvPr>
          <p:cNvSpPr>
            <a:spLocks noGrp="1"/>
          </p:cNvSpPr>
          <p:nvPr/>
        </p:nvSpPr>
        <p:spPr>
          <a:xfrm>
            <a:off x="3877565" y="482800"/>
            <a:ext cx="4436870" cy="12223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 sz="1155"/>
          </a:p>
        </p:txBody>
      </p:sp>
      <p:sp>
        <p:nvSpPr>
          <p:cNvPr id="4" name="KPI Q1 FY27 NSV">
            <a:extLst>
              <a:ext uri="{FF2B5EF4-FFF2-40B4-BE49-F238E27FC236}">
                <a16:creationId xmlns:a16="http://schemas.microsoft.com/office/drawing/2014/main" id="{54919E40-456F-4E64-AFAC-C4916EEF175F}"/>
              </a:ext>
            </a:extLst>
          </p:cNvPr>
          <p:cNvSpPr>
            <a:spLocks noGrp="1"/>
          </p:cNvSpPr>
          <p:nvPr/>
        </p:nvSpPr>
        <p:spPr>
          <a:xfrm>
            <a:off x="3877565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Q1 FY27 NSV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114.39 Cr</a:t>
            </a:r>
          </a:p>
        </p:txBody>
      </p:sp>
      <p:sp>
        <p:nvSpPr>
          <p:cNvPr id="5" name="KPI Q1 GROWTH">
            <a:extLst>
              <a:ext uri="{FF2B5EF4-FFF2-40B4-BE49-F238E27FC236}">
                <a16:creationId xmlns:a16="http://schemas.microsoft.com/office/drawing/2014/main" id="{BB3AF1D4-D50C-4888-8E61-532D9B723CA8}"/>
              </a:ext>
            </a:extLst>
          </p:cNvPr>
          <p:cNvSpPr>
            <a:spLocks noGrp="1"/>
          </p:cNvSpPr>
          <p:nvPr/>
        </p:nvSpPr>
        <p:spPr>
          <a:xfrm>
            <a:off x="5002061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Q1 GROWTH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▲ 63.6%</a:t>
            </a:r>
          </a:p>
        </p:txBody>
      </p:sp>
      <p:sp>
        <p:nvSpPr>
          <p:cNvPr id="6" name="KPI BEST MONTH">
            <a:extLst>
              <a:ext uri="{FF2B5EF4-FFF2-40B4-BE49-F238E27FC236}">
                <a16:creationId xmlns:a16="http://schemas.microsoft.com/office/drawing/2014/main" id="{6821C8DA-C7C1-4503-89E7-5F9385416219}"/>
              </a:ext>
            </a:extLst>
          </p:cNvPr>
          <p:cNvSpPr>
            <a:spLocks noGrp="1"/>
          </p:cNvSpPr>
          <p:nvPr/>
        </p:nvSpPr>
        <p:spPr>
          <a:xfrm>
            <a:off x="6126557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BEST MONTH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May’26 ₹ 40.26 Cr</a:t>
            </a:r>
          </a:p>
        </p:txBody>
      </p:sp>
      <p:sp>
        <p:nvSpPr>
          <p:cNvPr id="7" name="KPI JUN’26">
            <a:extLst>
              <a:ext uri="{FF2B5EF4-FFF2-40B4-BE49-F238E27FC236}">
                <a16:creationId xmlns:a16="http://schemas.microsoft.com/office/drawing/2014/main" id="{FD18C5BF-35DF-4161-A08C-281CBA69CC95}"/>
              </a:ext>
            </a:extLst>
          </p:cNvPr>
          <p:cNvSpPr>
            <a:spLocks noGrp="1"/>
          </p:cNvSpPr>
          <p:nvPr/>
        </p:nvSpPr>
        <p:spPr>
          <a:xfrm>
            <a:off x="7251053" y="574471"/>
            <a:ext cx="1063382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JUN’26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38.24 Cr | ▲68%</a:t>
            </a:r>
          </a:p>
        </p:txBody>
      </p:sp>
      <p:sp>
        <p:nvSpPr>
          <p:cNvPr id="8" name="Section ZONE VIEW">
            <a:extLst>
              <a:ext uri="{FF2B5EF4-FFF2-40B4-BE49-F238E27FC236}">
                <a16:creationId xmlns:a16="http://schemas.microsoft.com/office/drawing/2014/main" id="{C5FA3112-01D3-45B5-813F-39D34F75F09E}"/>
              </a:ext>
            </a:extLst>
          </p:cNvPr>
          <p:cNvSpPr>
            <a:spLocks noGrp="1"/>
          </p:cNvSpPr>
          <p:nvPr/>
        </p:nvSpPr>
        <p:spPr>
          <a:xfrm>
            <a:off x="3877565" y="1087828"/>
            <a:ext cx="4436870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ZONE VIEW</a:t>
            </a:r>
          </a:p>
        </p:txBody>
      </p:sp>
      <p:graphicFrame>
        <p:nvGraphicFramePr>
          <p:cNvPr id="29" name="ZoneView"/>
          <p:cNvGraphicFramePr/>
          <p:nvPr/>
        </p:nvGraphicFramePr>
        <p:xfrm>
          <a:off x="3877565" y="1271169"/>
          <a:ext cx="4436870" cy="1931200"/>
        </p:xfrm>
        <a:graphic>
          <a:graphicData uri="http://schemas.openxmlformats.org/drawingml/2006/table">
            <a:tbl>
              <a:tblPr/>
              <a:tblGrid>
                <a:gridCol w="140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Zone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FY27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East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701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1,173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67%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1,583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2,641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23%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South-1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1,356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2,489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84%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South-2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952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1,576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1,877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2,905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55%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Pan India (FSN)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523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653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6,992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11,439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64%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ection TOP CHAINS">
            <a:extLst>
              <a:ext uri="{FF2B5EF4-FFF2-40B4-BE49-F238E27FC236}">
                <a16:creationId xmlns:a16="http://schemas.microsoft.com/office/drawing/2014/main" id="{431EEB50-986B-41F9-B063-3C8A6319F6F7}"/>
              </a:ext>
            </a:extLst>
          </p:cNvPr>
          <p:cNvSpPr>
            <a:spLocks noGrp="1"/>
          </p:cNvSpPr>
          <p:nvPr/>
        </p:nvSpPr>
        <p:spPr>
          <a:xfrm>
            <a:off x="3877565" y="3300151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TOP CHAINS</a:t>
            </a:r>
          </a:p>
        </p:txBody>
      </p:sp>
      <p:sp>
        <p:nvSpPr>
          <p:cNvPr id="11" name="Section BRAND VIEW">
            <a:extLst>
              <a:ext uri="{FF2B5EF4-FFF2-40B4-BE49-F238E27FC236}">
                <a16:creationId xmlns:a16="http://schemas.microsoft.com/office/drawing/2014/main" id="{E25C6FF1-5855-4DB9-8170-9A0AA01885D9}"/>
              </a:ext>
            </a:extLst>
          </p:cNvPr>
          <p:cNvSpPr>
            <a:spLocks noGrp="1"/>
          </p:cNvSpPr>
          <p:nvPr/>
        </p:nvSpPr>
        <p:spPr>
          <a:xfrm>
            <a:off x="6175448" y="3300151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BRAND VIEW</a:t>
            </a:r>
          </a:p>
        </p:txBody>
      </p:sp>
      <p:graphicFrame>
        <p:nvGraphicFramePr>
          <p:cNvPr id="32" name="TopChains"/>
          <p:cNvGraphicFramePr/>
          <p:nvPr/>
        </p:nvGraphicFramePr>
        <p:xfrm>
          <a:off x="3877565" y="3483493"/>
          <a:ext cx="2138987" cy="1833419"/>
        </p:xfrm>
        <a:graphic>
          <a:graphicData uri="http://schemas.openxmlformats.org/drawingml/2006/table">
            <a:tbl>
              <a:tblPr/>
              <a:tblGrid>
                <a:gridCol w="641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FY27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D-Mart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2,600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4,232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63%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37%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1,908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2,806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47%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793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2,173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174%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19%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FSN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523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653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Lulu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124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333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169%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Wellness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249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291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BrandView"/>
          <p:cNvGraphicFramePr/>
          <p:nvPr/>
        </p:nvGraphicFramePr>
        <p:xfrm>
          <a:off x="6175448" y="3483493"/>
          <a:ext cx="2138987" cy="1833415"/>
        </p:xfrm>
        <a:graphic>
          <a:graphicData uri="http://schemas.openxmlformats.org/drawingml/2006/table">
            <a:tbl>
              <a:tblPr/>
              <a:tblGrid>
                <a:gridCol w="68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FY27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6,142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8,254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34%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634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2,951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365%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169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196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Other Brands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18%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LeadershipTakeaway">
            <a:extLst>
              <a:ext uri="{FF2B5EF4-FFF2-40B4-BE49-F238E27FC236}">
                <a16:creationId xmlns:a16="http://schemas.microsoft.com/office/drawing/2014/main" id="{7C1B4CF7-8009-44AD-9A24-BA82949B8222}"/>
              </a:ext>
            </a:extLst>
          </p:cNvPr>
          <p:cNvSpPr>
            <a:spLocks noGrp="1"/>
          </p:cNvSpPr>
          <p:nvPr/>
        </p:nvSpPr>
        <p:spPr>
          <a:xfrm>
            <a:off x="3877565" y="5451361"/>
            <a:ext cx="4436870" cy="574471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1200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70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Leadership takeaway: The Derma Co. contributed ₹29.5 Cr and 66% of Q1 growth; D-Mart, Reliance and Apollo delivered 81.8% of June offtake.</a:t>
            </a:r>
          </a:p>
        </p:txBody>
      </p:sp>
      <p:sp>
        <p:nvSpPr>
          <p:cNvPr id="15" name="SourceFooter">
            <a:extLst>
              <a:ext uri="{FF2B5EF4-FFF2-40B4-BE49-F238E27FC236}">
                <a16:creationId xmlns:a16="http://schemas.microsoft.com/office/drawing/2014/main" id="{EF69435F-9B9D-410C-93C2-14BB0C96BB75}"/>
              </a:ext>
            </a:extLst>
          </p:cNvPr>
          <p:cNvSpPr>
            <a:spLocks noGrp="1"/>
          </p:cNvSpPr>
          <p:nvPr/>
        </p:nvSpPr>
        <p:spPr>
          <a:xfrm>
            <a:off x="3877565" y="6661417"/>
            <a:ext cx="3727949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409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MT offtake workbook | Q1 FY27 scorecard</a:t>
            </a:r>
          </a:p>
        </p:txBody>
      </p:sp>
      <p:sp>
        <p:nvSpPr>
          <p:cNvPr id="16" name="PageNum">
            <a:extLst>
              <a:ext uri="{FF2B5EF4-FFF2-40B4-BE49-F238E27FC236}">
                <a16:creationId xmlns:a16="http://schemas.microsoft.com/office/drawing/2014/main" id="{25FF261F-EC0F-4E98-B046-532B170E20E9}"/>
              </a:ext>
            </a:extLst>
          </p:cNvPr>
          <p:cNvSpPr>
            <a:spLocks noGrp="1"/>
          </p:cNvSpPr>
          <p:nvPr/>
        </p:nvSpPr>
        <p:spPr>
          <a:xfrm>
            <a:off x="7519954" y="6661417"/>
            <a:ext cx="794481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433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66284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eaderBand">
            <a:extLst>
              <a:ext uri="{FF2B5EF4-FFF2-40B4-BE49-F238E27FC236}">
                <a16:creationId xmlns:a16="http://schemas.microsoft.com/office/drawing/2014/main" id="{2424D3EC-839E-440B-BF3F-3D99DB368F93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445" cy="293347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9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GROWTH IS BROAD-BASED ACROSS BRANDS AND ZONES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C2D71DE-4402-4F73-B312-71F5A33E9938}"/>
              </a:ext>
            </a:extLst>
          </p:cNvPr>
          <p:cNvSpPr>
            <a:spLocks noGrp="1"/>
          </p:cNvSpPr>
          <p:nvPr/>
        </p:nvSpPr>
        <p:spPr>
          <a:xfrm>
            <a:off x="3877565" y="305569"/>
            <a:ext cx="4436870" cy="171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5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June’26 offtake reached ₹38.24 Cr; every major zone remains above last year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63046C07-7055-4E2F-ABA3-3FC3D7E67D0E}"/>
              </a:ext>
            </a:extLst>
          </p:cNvPr>
          <p:cNvSpPr>
            <a:spLocks noGrp="1"/>
          </p:cNvSpPr>
          <p:nvPr/>
        </p:nvSpPr>
        <p:spPr>
          <a:xfrm>
            <a:off x="3877565" y="482800"/>
            <a:ext cx="4436870" cy="12223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 sz="1155"/>
          </a:p>
        </p:txBody>
      </p:sp>
      <p:sp>
        <p:nvSpPr>
          <p:cNvPr id="4" name="KPI JUN’26 NSV">
            <a:extLst>
              <a:ext uri="{FF2B5EF4-FFF2-40B4-BE49-F238E27FC236}">
                <a16:creationId xmlns:a16="http://schemas.microsoft.com/office/drawing/2014/main" id="{0693945A-CC8A-426A-BB9F-B1D90942F471}"/>
              </a:ext>
            </a:extLst>
          </p:cNvPr>
          <p:cNvSpPr>
            <a:spLocks noGrp="1"/>
          </p:cNvSpPr>
          <p:nvPr/>
        </p:nvSpPr>
        <p:spPr>
          <a:xfrm>
            <a:off x="3877565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JUN’26 NSV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38.24 Cr</a:t>
            </a:r>
          </a:p>
        </p:txBody>
      </p:sp>
      <p:sp>
        <p:nvSpPr>
          <p:cNvPr id="5" name="KPI MOM">
            <a:extLst>
              <a:ext uri="{FF2B5EF4-FFF2-40B4-BE49-F238E27FC236}">
                <a16:creationId xmlns:a16="http://schemas.microsoft.com/office/drawing/2014/main" id="{FACC8D01-7D6C-40B6-B136-D8662439C40B}"/>
              </a:ext>
            </a:extLst>
          </p:cNvPr>
          <p:cNvSpPr>
            <a:spLocks noGrp="1"/>
          </p:cNvSpPr>
          <p:nvPr/>
        </p:nvSpPr>
        <p:spPr>
          <a:xfrm>
            <a:off x="5002061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D94F54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MOM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▼ 5%</a:t>
            </a:r>
          </a:p>
        </p:txBody>
      </p:sp>
      <p:sp>
        <p:nvSpPr>
          <p:cNvPr id="6" name="KPI GOLY">
            <a:extLst>
              <a:ext uri="{FF2B5EF4-FFF2-40B4-BE49-F238E27FC236}">
                <a16:creationId xmlns:a16="http://schemas.microsoft.com/office/drawing/2014/main" id="{C69BF746-D6C4-4D4D-A439-D7072B5E40B6}"/>
              </a:ext>
            </a:extLst>
          </p:cNvPr>
          <p:cNvSpPr>
            <a:spLocks noGrp="1"/>
          </p:cNvSpPr>
          <p:nvPr/>
        </p:nvSpPr>
        <p:spPr>
          <a:xfrm>
            <a:off x="6126557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▲ 68%</a:t>
            </a:r>
          </a:p>
        </p:txBody>
      </p:sp>
      <p:sp>
        <p:nvSpPr>
          <p:cNvPr id="7" name="KPI L3M AVG">
            <a:extLst>
              <a:ext uri="{FF2B5EF4-FFF2-40B4-BE49-F238E27FC236}">
                <a16:creationId xmlns:a16="http://schemas.microsoft.com/office/drawing/2014/main" id="{CF130E2B-903B-46DB-895D-BD9DF6414A7D}"/>
              </a:ext>
            </a:extLst>
          </p:cNvPr>
          <p:cNvSpPr>
            <a:spLocks noGrp="1"/>
          </p:cNvSpPr>
          <p:nvPr/>
        </p:nvSpPr>
        <p:spPr>
          <a:xfrm>
            <a:off x="7251053" y="574471"/>
            <a:ext cx="1063382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36.16 Cr</a:t>
            </a:r>
          </a:p>
        </p:txBody>
      </p:sp>
      <p:sp>
        <p:nvSpPr>
          <p:cNvPr id="8" name="Section MONTHLY OFFTAKE TREND">
            <a:extLst>
              <a:ext uri="{FF2B5EF4-FFF2-40B4-BE49-F238E27FC236}">
                <a16:creationId xmlns:a16="http://schemas.microsoft.com/office/drawing/2014/main" id="{7B82ACE4-EA7A-4087-B06D-8824F99C9429}"/>
              </a:ext>
            </a:extLst>
          </p:cNvPr>
          <p:cNvSpPr>
            <a:spLocks noGrp="1"/>
          </p:cNvSpPr>
          <p:nvPr/>
        </p:nvSpPr>
        <p:spPr>
          <a:xfrm>
            <a:off x="3877565" y="1100050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MONTHLY OFFTAKE TREND</a:t>
            </a:r>
          </a:p>
        </p:txBody>
      </p:sp>
      <p:sp>
        <p:nvSpPr>
          <p:cNvPr id="9" name="Section JUN’26 ZONE NSV">
            <a:extLst>
              <a:ext uri="{FF2B5EF4-FFF2-40B4-BE49-F238E27FC236}">
                <a16:creationId xmlns:a16="http://schemas.microsoft.com/office/drawing/2014/main" id="{4EA84C67-DB34-4934-8699-3818D44ED12D}"/>
              </a:ext>
            </a:extLst>
          </p:cNvPr>
          <p:cNvSpPr>
            <a:spLocks noGrp="1"/>
          </p:cNvSpPr>
          <p:nvPr/>
        </p:nvSpPr>
        <p:spPr>
          <a:xfrm>
            <a:off x="6175448" y="1100050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JUN’26 ZONE NSV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3877565" y="1283392"/>
          <a:ext cx="2138987" cy="1650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="6175448" y="1283392"/>
          <a:ext cx="2138987" cy="1650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ection BRAND CONTRIBUTION">
            <a:extLst>
              <a:ext uri="{FF2B5EF4-FFF2-40B4-BE49-F238E27FC236}">
                <a16:creationId xmlns:a16="http://schemas.microsoft.com/office/drawing/2014/main" id="{DF53DE6D-288B-4535-84C5-D647CBCA731B}"/>
              </a:ext>
            </a:extLst>
          </p:cNvPr>
          <p:cNvSpPr>
            <a:spLocks noGrp="1"/>
          </p:cNvSpPr>
          <p:nvPr/>
        </p:nvSpPr>
        <p:spPr>
          <a:xfrm>
            <a:off x="3877565" y="3055696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BRAND CONTRIBUTION</a:t>
            </a:r>
          </a:p>
        </p:txBody>
      </p:sp>
      <p:sp>
        <p:nvSpPr>
          <p:cNvPr id="13" name="Section ZONE MIX AND GROWTH">
            <a:extLst>
              <a:ext uri="{FF2B5EF4-FFF2-40B4-BE49-F238E27FC236}">
                <a16:creationId xmlns:a16="http://schemas.microsoft.com/office/drawing/2014/main" id="{55E0E62B-0454-46A2-9E90-F50B6E45293A}"/>
              </a:ext>
            </a:extLst>
          </p:cNvPr>
          <p:cNvSpPr>
            <a:spLocks noGrp="1"/>
          </p:cNvSpPr>
          <p:nvPr/>
        </p:nvSpPr>
        <p:spPr>
          <a:xfrm>
            <a:off x="6175448" y="3055696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ZONE MIX AND GROWTH</a:t>
            </a:r>
          </a:p>
        </p:txBody>
      </p:sp>
      <p:graphicFrame>
        <p:nvGraphicFramePr>
          <p:cNvPr id="37" name="BrandContribution"/>
          <p:cNvGraphicFramePr/>
          <p:nvPr/>
        </p:nvGraphicFramePr>
        <p:xfrm>
          <a:off x="3877565" y="3239037"/>
          <a:ext cx="2138987" cy="1515625"/>
        </p:xfrm>
        <a:graphic>
          <a:graphicData uri="http://schemas.openxmlformats.org/drawingml/2006/table">
            <a:tbl>
              <a:tblPr/>
              <a:tblGrid>
                <a:gridCol w="721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Jun’26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MOM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2,757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3%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996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381%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9%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17%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Emerging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44%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8%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" name="ZoneMix"/>
          <p:cNvGraphicFramePr/>
          <p:nvPr/>
        </p:nvGraphicFramePr>
        <p:xfrm>
          <a:off x="6175448" y="3239038"/>
          <a:ext cx="2138987" cy="1515624"/>
        </p:xfrm>
        <a:graphic>
          <a:graphicData uri="http://schemas.openxmlformats.org/drawingml/2006/table">
            <a:tbl>
              <a:tblPr/>
              <a:tblGrid>
                <a:gridCol w="623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5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Zone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Jun’26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MOM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985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67%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4%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5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860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72%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10%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5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South-1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827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82%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5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South-2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548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5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East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387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72%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5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FSN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217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32%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KeyRead">
            <a:extLst>
              <a:ext uri="{FF2B5EF4-FFF2-40B4-BE49-F238E27FC236}">
                <a16:creationId xmlns:a16="http://schemas.microsoft.com/office/drawing/2014/main" id="{E6C40F75-D219-443D-9FF0-75D5574EE6F3}"/>
              </a:ext>
            </a:extLst>
          </p:cNvPr>
          <p:cNvSpPr>
            <a:spLocks noGrp="1"/>
          </p:cNvSpPr>
          <p:nvPr/>
        </p:nvSpPr>
        <p:spPr>
          <a:xfrm>
            <a:off x="3877565" y="4938004"/>
            <a:ext cx="4436870" cy="525580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1200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70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Key read: South-1 leads YoY growth at 82%; Mamaearth remains the scale engine while The Derma Co. is the fastest-growing brand.</a:t>
            </a:r>
          </a:p>
        </p:txBody>
      </p:sp>
      <p:sp>
        <p:nvSpPr>
          <p:cNvPr id="17" name="SourceFooter">
            <a:extLst>
              <a:ext uri="{FF2B5EF4-FFF2-40B4-BE49-F238E27FC236}">
                <a16:creationId xmlns:a16="http://schemas.microsoft.com/office/drawing/2014/main" id="{0766D4D8-8890-4F7F-A958-8E34CB0B7193}"/>
              </a:ext>
            </a:extLst>
          </p:cNvPr>
          <p:cNvSpPr>
            <a:spLocks noGrp="1"/>
          </p:cNvSpPr>
          <p:nvPr/>
        </p:nvSpPr>
        <p:spPr>
          <a:xfrm>
            <a:off x="3877565" y="6661417"/>
            <a:ext cx="3727949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409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MT offtake workbook | Brand and zone performance</a:t>
            </a:r>
          </a:p>
        </p:txBody>
      </p:sp>
      <p:sp>
        <p:nvSpPr>
          <p:cNvPr id="18" name="PageNum">
            <a:extLst>
              <a:ext uri="{FF2B5EF4-FFF2-40B4-BE49-F238E27FC236}">
                <a16:creationId xmlns:a16="http://schemas.microsoft.com/office/drawing/2014/main" id="{0C9D06D1-5811-4EA7-A938-788C6544E16D}"/>
              </a:ext>
            </a:extLst>
          </p:cNvPr>
          <p:cNvSpPr>
            <a:spLocks noGrp="1"/>
          </p:cNvSpPr>
          <p:nvPr/>
        </p:nvSpPr>
        <p:spPr>
          <a:xfrm>
            <a:off x="7519954" y="6661417"/>
            <a:ext cx="794481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433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174785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eaderBand">
            <a:extLst>
              <a:ext uri="{FF2B5EF4-FFF2-40B4-BE49-F238E27FC236}">
                <a16:creationId xmlns:a16="http://schemas.microsoft.com/office/drawing/2014/main" id="{9547B5EC-FBF1-4B00-B33B-1BE1A837D353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445" cy="293347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9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 SHARE MOMENTUM — FACEWASH &amp; SHAMPOO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CA956C6-85AA-4452-9B8B-7FA60162F12F}"/>
              </a:ext>
            </a:extLst>
          </p:cNvPr>
          <p:cNvSpPr>
            <a:spLocks noGrp="1"/>
          </p:cNvSpPr>
          <p:nvPr/>
        </p:nvSpPr>
        <p:spPr>
          <a:xfrm>
            <a:off x="3877565" y="305569"/>
            <a:ext cx="4436870" cy="171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5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Modern Trade | MAT Jun’26 | June performance and distribution health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063D3C6C-E3BE-417E-BB50-5AE024EF0C75}"/>
              </a:ext>
            </a:extLst>
          </p:cNvPr>
          <p:cNvSpPr>
            <a:spLocks noGrp="1"/>
          </p:cNvSpPr>
          <p:nvPr/>
        </p:nvSpPr>
        <p:spPr>
          <a:xfrm>
            <a:off x="3877565" y="482800"/>
            <a:ext cx="4436870" cy="12223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 sz="1155"/>
          </a:p>
        </p:txBody>
      </p:sp>
      <p:sp>
        <p:nvSpPr>
          <p:cNvPr id="4" name="KPI FACEWASH SHARE">
            <a:extLst>
              <a:ext uri="{FF2B5EF4-FFF2-40B4-BE49-F238E27FC236}">
                <a16:creationId xmlns:a16="http://schemas.microsoft.com/office/drawing/2014/main" id="{6468DFAC-0817-4953-AE93-C859DAAA4696}"/>
              </a:ext>
            </a:extLst>
          </p:cNvPr>
          <p:cNvSpPr>
            <a:spLocks noGrp="1"/>
          </p:cNvSpPr>
          <p:nvPr/>
        </p:nvSpPr>
        <p:spPr>
          <a:xfrm>
            <a:off x="3877565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FACEWASH SHARE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10.5% | +3.1pp</a:t>
            </a:r>
          </a:p>
        </p:txBody>
      </p:sp>
      <p:sp>
        <p:nvSpPr>
          <p:cNvPr id="5" name="KPI SHAMPOO SHARE">
            <a:extLst>
              <a:ext uri="{FF2B5EF4-FFF2-40B4-BE49-F238E27FC236}">
                <a16:creationId xmlns:a16="http://schemas.microsoft.com/office/drawing/2014/main" id="{B92DDD00-7987-4A87-AB0B-01A406BE68DB}"/>
              </a:ext>
            </a:extLst>
          </p:cNvPr>
          <p:cNvSpPr>
            <a:spLocks noGrp="1"/>
          </p:cNvSpPr>
          <p:nvPr/>
        </p:nvSpPr>
        <p:spPr>
          <a:xfrm>
            <a:off x="5002061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SHAMPOO SHARE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3.7% | +1.2pp</a:t>
            </a:r>
          </a:p>
        </p:txBody>
      </p:sp>
      <p:sp>
        <p:nvSpPr>
          <p:cNvPr id="6" name="KPI FACEWASH WD">
            <a:extLst>
              <a:ext uri="{FF2B5EF4-FFF2-40B4-BE49-F238E27FC236}">
                <a16:creationId xmlns:a16="http://schemas.microsoft.com/office/drawing/2014/main" id="{F8ADA985-89C6-4052-AA52-087D961FE5D7}"/>
              </a:ext>
            </a:extLst>
          </p:cNvPr>
          <p:cNvSpPr>
            <a:spLocks noGrp="1"/>
          </p:cNvSpPr>
          <p:nvPr/>
        </p:nvSpPr>
        <p:spPr>
          <a:xfrm>
            <a:off x="6126557" y="574471"/>
            <a:ext cx="1038937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FACEWASH WD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89.0%</a:t>
            </a:r>
          </a:p>
        </p:txBody>
      </p:sp>
      <p:sp>
        <p:nvSpPr>
          <p:cNvPr id="7" name="KPI SHAMPOO WD">
            <a:extLst>
              <a:ext uri="{FF2B5EF4-FFF2-40B4-BE49-F238E27FC236}">
                <a16:creationId xmlns:a16="http://schemas.microsoft.com/office/drawing/2014/main" id="{A256652E-EDD3-4DED-9160-A11994838CAE}"/>
              </a:ext>
            </a:extLst>
          </p:cNvPr>
          <p:cNvSpPr>
            <a:spLocks noGrp="1"/>
          </p:cNvSpPr>
          <p:nvPr/>
        </p:nvSpPr>
        <p:spPr>
          <a:xfrm>
            <a:off x="7251053" y="574471"/>
            <a:ext cx="1063382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EBAE0B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SHAMPOO WD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81.5%</a:t>
            </a:r>
          </a:p>
        </p:txBody>
      </p:sp>
      <p:sp>
        <p:nvSpPr>
          <p:cNvPr id="8" name="Section CATEGORY SCORECARD">
            <a:extLst>
              <a:ext uri="{FF2B5EF4-FFF2-40B4-BE49-F238E27FC236}">
                <a16:creationId xmlns:a16="http://schemas.microsoft.com/office/drawing/2014/main" id="{4C607ABE-2885-49A1-A670-66A0A01D5677}"/>
              </a:ext>
            </a:extLst>
          </p:cNvPr>
          <p:cNvSpPr>
            <a:spLocks noGrp="1"/>
          </p:cNvSpPr>
          <p:nvPr/>
        </p:nvSpPr>
        <p:spPr>
          <a:xfrm>
            <a:off x="3877565" y="1112273"/>
            <a:ext cx="4436870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SCORECARD</a:t>
            </a:r>
          </a:p>
        </p:txBody>
      </p:sp>
      <p:graphicFrame>
        <p:nvGraphicFramePr>
          <p:cNvPr id="26" name="CategoryScorecard"/>
          <p:cNvGraphicFramePr/>
          <p:nvPr/>
        </p:nvGraphicFramePr>
        <p:xfrm>
          <a:off x="3877565" y="1307838"/>
          <a:ext cx="4436869" cy="1405620"/>
        </p:xfrm>
        <a:graphic>
          <a:graphicData uri="http://schemas.openxmlformats.org/drawingml/2006/table">
            <a:tbl>
              <a:tblPr/>
              <a:tblGrid>
                <a:gridCol w="116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3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Category / brand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 value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 YoY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value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YoY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share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WD L3M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 / Facewash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₹9.5 Cr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+58.3%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₹90.2 Cr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+55.2%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10.5%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89.0%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 / Facewash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+1,957%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₹3.1 Cr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+3,107%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0.4%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27.3%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 / Shampoo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₹6.2 Cr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+93.8%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₹63.5 Cr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+48.5%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3.7%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81.5%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ection WHAT CHANGED VS LAST YEAR">
            <a:extLst>
              <a:ext uri="{FF2B5EF4-FFF2-40B4-BE49-F238E27FC236}">
                <a16:creationId xmlns:a16="http://schemas.microsoft.com/office/drawing/2014/main" id="{4DF3469F-9F05-45A8-8982-96A0D30E7A58}"/>
              </a:ext>
            </a:extLst>
          </p:cNvPr>
          <p:cNvSpPr>
            <a:spLocks noGrp="1"/>
          </p:cNvSpPr>
          <p:nvPr/>
        </p:nvSpPr>
        <p:spPr>
          <a:xfrm>
            <a:off x="3877565" y="2860131"/>
            <a:ext cx="4436870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CHANGED VS LAST YEAR</a:t>
            </a:r>
          </a:p>
        </p:txBody>
      </p:sp>
      <p:graphicFrame>
        <p:nvGraphicFramePr>
          <p:cNvPr id="28" name="InsightTable"/>
          <p:cNvGraphicFramePr/>
          <p:nvPr/>
        </p:nvGraphicFramePr>
        <p:xfrm>
          <a:off x="3877565" y="3055696"/>
          <a:ext cx="4436870" cy="1833415"/>
        </p:xfrm>
        <a:graphic>
          <a:graphicData uri="http://schemas.openxmlformats.org/drawingml/2006/table">
            <a:tbl>
              <a:tblPr/>
              <a:tblGrid>
                <a:gridCol w="116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6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Signal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Implication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Modern Trade acceleration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FW volume +10.0% L3M; SH +15.6%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Both categories accelerated in June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Facewash share gain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+3.1pp share; WD reached 89%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availability as reach scales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Shampoo scales ahead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Jun +93.8%; MAT +48.5%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Close distribution before broad spend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6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Derma Co. watch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0.4% share; WD 27.3%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Validate chain stock and phasing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PriorityAction">
            <a:extLst>
              <a:ext uri="{FF2B5EF4-FFF2-40B4-BE49-F238E27FC236}">
                <a16:creationId xmlns:a16="http://schemas.microsoft.com/office/drawing/2014/main" id="{681F03A1-D3D2-455B-8E0A-8B5F9F07449F}"/>
              </a:ext>
            </a:extLst>
          </p:cNvPr>
          <p:cNvSpPr>
            <a:spLocks noGrp="1"/>
          </p:cNvSpPr>
          <p:nvPr/>
        </p:nvSpPr>
        <p:spPr>
          <a:xfrm>
            <a:off x="3877565" y="5084678"/>
            <a:ext cx="4436870" cy="525580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127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818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Priority action: Maintain fill-rate ≥95% and close chain-level listing gaps before increasing visibility investment.</a:t>
            </a:r>
          </a:p>
        </p:txBody>
      </p:sp>
      <p:sp>
        <p:nvSpPr>
          <p:cNvPr id="13" name="SourceFooter">
            <a:extLst>
              <a:ext uri="{FF2B5EF4-FFF2-40B4-BE49-F238E27FC236}">
                <a16:creationId xmlns:a16="http://schemas.microsoft.com/office/drawing/2014/main" id="{C762CDD2-9FBD-4A94-865C-5469F8D44CFA}"/>
              </a:ext>
            </a:extLst>
          </p:cNvPr>
          <p:cNvSpPr>
            <a:spLocks noGrp="1"/>
          </p:cNvSpPr>
          <p:nvPr/>
        </p:nvSpPr>
        <p:spPr>
          <a:xfrm>
            <a:off x="3877565" y="6661417"/>
            <a:ext cx="3727949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409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MS insights.xlsx | MT Snapshot and Raw Data</a:t>
            </a:r>
          </a:p>
        </p:txBody>
      </p:sp>
      <p:sp>
        <p:nvSpPr>
          <p:cNvPr id="14" name="PageNum">
            <a:extLst>
              <a:ext uri="{FF2B5EF4-FFF2-40B4-BE49-F238E27FC236}">
                <a16:creationId xmlns:a16="http://schemas.microsoft.com/office/drawing/2014/main" id="{22D49143-9D01-46A6-B8BC-08D031497882}"/>
              </a:ext>
            </a:extLst>
          </p:cNvPr>
          <p:cNvSpPr>
            <a:spLocks noGrp="1"/>
          </p:cNvSpPr>
          <p:nvPr/>
        </p:nvSpPr>
        <p:spPr>
          <a:xfrm>
            <a:off x="7519954" y="6661417"/>
            <a:ext cx="794481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433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178991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eaderBand">
            <a:extLst>
              <a:ext uri="{FF2B5EF4-FFF2-40B4-BE49-F238E27FC236}">
                <a16:creationId xmlns:a16="http://schemas.microsoft.com/office/drawing/2014/main" id="{3A790909-113D-43F2-866E-5EB06DDCA178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445" cy="293347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9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OPPORTUNITY — PROTECT FACEWASH, SCALE SHAMPOO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928894B-5B4A-4BE3-9251-602C5E3F4413}"/>
              </a:ext>
            </a:extLst>
          </p:cNvPr>
          <p:cNvSpPr>
            <a:spLocks noGrp="1"/>
          </p:cNvSpPr>
          <p:nvPr/>
        </p:nvSpPr>
        <p:spPr>
          <a:xfrm>
            <a:off x="3877565" y="305569"/>
            <a:ext cx="4436870" cy="171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5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Competitive position, distribution gaps and pack demand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7A90266D-D74D-45AF-89D2-B8E584B42A04}"/>
              </a:ext>
            </a:extLst>
          </p:cNvPr>
          <p:cNvSpPr>
            <a:spLocks noGrp="1"/>
          </p:cNvSpPr>
          <p:nvPr/>
        </p:nvSpPr>
        <p:spPr>
          <a:xfrm>
            <a:off x="3877565" y="482800"/>
            <a:ext cx="4436870" cy="12223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 sz="1155"/>
          </a:p>
        </p:txBody>
      </p:sp>
      <p:sp>
        <p:nvSpPr>
          <p:cNvPr id="4" name="Section FACEWASH LEADERBOARD">
            <a:extLst>
              <a:ext uri="{FF2B5EF4-FFF2-40B4-BE49-F238E27FC236}">
                <a16:creationId xmlns:a16="http://schemas.microsoft.com/office/drawing/2014/main" id="{AB4DF05F-DFA6-4AF2-8FAA-52AA3F61FE78}"/>
              </a:ext>
            </a:extLst>
          </p:cNvPr>
          <p:cNvSpPr>
            <a:spLocks noGrp="1"/>
          </p:cNvSpPr>
          <p:nvPr/>
        </p:nvSpPr>
        <p:spPr>
          <a:xfrm>
            <a:off x="3877565" y="598916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FACEWASH LEADERBOARD</a:t>
            </a:r>
          </a:p>
        </p:txBody>
      </p:sp>
      <p:sp>
        <p:nvSpPr>
          <p:cNvPr id="5" name="Section SHAMPOO LEADERBOARD">
            <a:extLst>
              <a:ext uri="{FF2B5EF4-FFF2-40B4-BE49-F238E27FC236}">
                <a16:creationId xmlns:a16="http://schemas.microsoft.com/office/drawing/2014/main" id="{73B1D69E-7FB5-4ADA-9968-01E7DBFD0C60}"/>
              </a:ext>
            </a:extLst>
          </p:cNvPr>
          <p:cNvSpPr>
            <a:spLocks noGrp="1"/>
          </p:cNvSpPr>
          <p:nvPr/>
        </p:nvSpPr>
        <p:spPr>
          <a:xfrm>
            <a:off x="6175448" y="598916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SHAMPOO LEADERBOARD</a:t>
            </a:r>
          </a:p>
        </p:txBody>
      </p:sp>
      <p:graphicFrame>
        <p:nvGraphicFramePr>
          <p:cNvPr id="25" name="FacewashLeaderboard"/>
          <p:cNvGraphicFramePr/>
          <p:nvPr/>
        </p:nvGraphicFramePr>
        <p:xfrm>
          <a:off x="3877565" y="794481"/>
          <a:ext cx="2138987" cy="1833419"/>
        </p:xfrm>
        <a:graphic>
          <a:graphicData uri="http://schemas.openxmlformats.org/drawingml/2006/table">
            <a:tbl>
              <a:tblPr/>
              <a:tblGrid>
                <a:gridCol w="916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YoY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Himalaya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22.6%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+2.8%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Garnier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14.2%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+8.4%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90.3%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Pond’s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13.8%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+3.7%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98.8%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10.5%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+55.2%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89.0%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Clean &amp; Clear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7.5%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+12.8%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98.3%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0.4%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+3,107%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27.3%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" name="ShampooLeaderboard"/>
          <p:cNvGraphicFramePr/>
          <p:nvPr/>
        </p:nvGraphicFramePr>
        <p:xfrm>
          <a:off x="6175448" y="794481"/>
          <a:ext cx="2138987" cy="1833419"/>
        </p:xfrm>
        <a:graphic>
          <a:graphicData uri="http://schemas.openxmlformats.org/drawingml/2006/table">
            <a:tbl>
              <a:tblPr/>
              <a:tblGrid>
                <a:gridCol w="916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YoY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Dove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16.6%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−4.8%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99.7%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Head &amp; Shoulders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13.0%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−4.7%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L’Oréal Paris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12.8%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+22.6%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91.6%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Sunsilk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9.6%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−12.6%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99.4%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Clinic Plus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9.6%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+1.0%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99.4%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3.7%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+48.5%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81.5%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ection SHAMPOO PACK DEMAND">
            <a:extLst>
              <a:ext uri="{FF2B5EF4-FFF2-40B4-BE49-F238E27FC236}">
                <a16:creationId xmlns:a16="http://schemas.microsoft.com/office/drawing/2014/main" id="{96348787-85CD-4BC6-806C-0540639B6373}"/>
              </a:ext>
            </a:extLst>
          </p:cNvPr>
          <p:cNvSpPr>
            <a:spLocks noGrp="1"/>
          </p:cNvSpPr>
          <p:nvPr/>
        </p:nvSpPr>
        <p:spPr>
          <a:xfrm>
            <a:off x="3877565" y="2799017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SHAMPOO PACK DEMAND</a:t>
            </a:r>
          </a:p>
        </p:txBody>
      </p:sp>
      <p:sp>
        <p:nvSpPr>
          <p:cNvPr id="9" name="Section EXECUTION PRIORITIES">
            <a:extLst>
              <a:ext uri="{FF2B5EF4-FFF2-40B4-BE49-F238E27FC236}">
                <a16:creationId xmlns:a16="http://schemas.microsoft.com/office/drawing/2014/main" id="{2EC34D35-EBBA-400D-AAFB-1F9B3E837D3B}"/>
              </a:ext>
            </a:extLst>
          </p:cNvPr>
          <p:cNvSpPr>
            <a:spLocks noGrp="1"/>
          </p:cNvSpPr>
          <p:nvPr/>
        </p:nvSpPr>
        <p:spPr>
          <a:xfrm>
            <a:off x="6175448" y="2799017"/>
            <a:ext cx="2138987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EXECUTION PRIORITIES</a:t>
            </a:r>
          </a:p>
        </p:txBody>
      </p:sp>
      <p:graphicFrame>
        <p:nvGraphicFramePr>
          <p:cNvPr id="29" name="PackDemand"/>
          <p:cNvGraphicFramePr/>
          <p:nvPr/>
        </p:nvGraphicFramePr>
        <p:xfrm>
          <a:off x="3877565" y="2994582"/>
          <a:ext cx="2138987" cy="1466735"/>
        </p:xfrm>
        <a:graphic>
          <a:graphicData uri="http://schemas.openxmlformats.org/drawingml/2006/table">
            <a:tbl>
              <a:tblPr/>
              <a:tblGrid>
                <a:gridCol w="464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Pack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 value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650ml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₹41.4 Cr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32.0%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Largest pool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180ml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₹22.2 Cr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17.2%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Mainstream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340ml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₹22.2 Cr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17.2%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Mainstream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1000ml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₹20.1 Cr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15.5%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Large pack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ExecutionPriorities"/>
          <p:cNvGraphicFramePr/>
          <p:nvPr/>
        </p:nvGraphicFramePr>
        <p:xfrm>
          <a:off x="6175448" y="2994582"/>
          <a:ext cx="2138987" cy="1466735"/>
        </p:xfrm>
        <a:graphic>
          <a:graphicData uri="http://schemas.openxmlformats.org/drawingml/2006/table">
            <a:tbl>
              <a:tblPr/>
              <a:tblGrid>
                <a:gridCol w="58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Gap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Move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Distribution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SH WD 81.5%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Close high-velocity gaps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Availability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Stores +15%; value +81%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Maintain fill-rate ≥95%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Pack range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650/180/340/1000 lead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Audit listings by chain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Velocity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PDO +57% L3M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shelf depth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CategoryDecision">
            <a:extLst>
              <a:ext uri="{FF2B5EF4-FFF2-40B4-BE49-F238E27FC236}">
                <a16:creationId xmlns:a16="http://schemas.microsoft.com/office/drawing/2014/main" id="{6D38C060-F2E4-48A7-A8EC-8A9224C831BD}"/>
              </a:ext>
            </a:extLst>
          </p:cNvPr>
          <p:cNvSpPr>
            <a:spLocks noGrp="1"/>
          </p:cNvSpPr>
          <p:nvPr/>
        </p:nvSpPr>
        <p:spPr>
          <a:xfrm>
            <a:off x="3877565" y="4681326"/>
            <a:ext cx="4436870" cy="562248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127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818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Decision: Protect the facewash growth flywheel while expanding shampoo only where distribution, fill-rate and pack demand are proven.</a:t>
            </a:r>
          </a:p>
        </p:txBody>
      </p:sp>
      <p:sp>
        <p:nvSpPr>
          <p:cNvPr id="13" name="SourceFooter">
            <a:extLst>
              <a:ext uri="{FF2B5EF4-FFF2-40B4-BE49-F238E27FC236}">
                <a16:creationId xmlns:a16="http://schemas.microsoft.com/office/drawing/2014/main" id="{554C75EC-321A-45E3-A3EF-EADBD7635790}"/>
              </a:ext>
            </a:extLst>
          </p:cNvPr>
          <p:cNvSpPr>
            <a:spLocks noGrp="1"/>
          </p:cNvSpPr>
          <p:nvPr/>
        </p:nvSpPr>
        <p:spPr>
          <a:xfrm>
            <a:off x="3877565" y="6661417"/>
            <a:ext cx="3727949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409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MS insights.xlsx | Facewash, Shampoo and Pack Mix</a:t>
            </a:r>
          </a:p>
        </p:txBody>
      </p:sp>
      <p:sp>
        <p:nvSpPr>
          <p:cNvPr id="14" name="PageNum">
            <a:extLst>
              <a:ext uri="{FF2B5EF4-FFF2-40B4-BE49-F238E27FC236}">
                <a16:creationId xmlns:a16="http://schemas.microsoft.com/office/drawing/2014/main" id="{159B0E51-208B-4793-AB9E-2FDBC9EE9A2D}"/>
              </a:ext>
            </a:extLst>
          </p:cNvPr>
          <p:cNvSpPr>
            <a:spLocks noGrp="1"/>
          </p:cNvSpPr>
          <p:nvPr/>
        </p:nvSpPr>
        <p:spPr>
          <a:xfrm>
            <a:off x="7519954" y="6661417"/>
            <a:ext cx="794481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433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47647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aderBand">
            <a:extLst>
              <a:ext uri="{FF2B5EF4-FFF2-40B4-BE49-F238E27FC236}">
                <a16:creationId xmlns:a16="http://schemas.microsoft.com/office/drawing/2014/main" id="{CC91AF43-3F91-45BC-94C9-9B83618BE179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445" cy="293347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9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90-DAY ACTION PLAN — OWNERS, INPUTS AND REVIEW CADENCE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D5B9F5E-B9A2-4D06-B83A-DE931DF47C3E}"/>
              </a:ext>
            </a:extLst>
          </p:cNvPr>
          <p:cNvSpPr>
            <a:spLocks noGrp="1"/>
          </p:cNvSpPr>
          <p:nvPr/>
        </p:nvSpPr>
        <p:spPr>
          <a:xfrm>
            <a:off x="3877565" y="305569"/>
            <a:ext cx="4436870" cy="171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5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Convert share momentum into measurable distribution and productivity gains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2F57129A-DFDA-4E98-BE9A-D00D67A58A96}"/>
              </a:ext>
            </a:extLst>
          </p:cNvPr>
          <p:cNvSpPr>
            <a:spLocks noGrp="1"/>
          </p:cNvSpPr>
          <p:nvPr/>
        </p:nvSpPr>
        <p:spPr>
          <a:xfrm>
            <a:off x="3877565" y="482800"/>
            <a:ext cx="4436870" cy="12223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 sz="1155"/>
          </a:p>
        </p:txBody>
      </p:sp>
      <p:sp>
        <p:nvSpPr>
          <p:cNvPr id="4" name="Section IMMEDIATE PRIORITIES">
            <a:extLst>
              <a:ext uri="{FF2B5EF4-FFF2-40B4-BE49-F238E27FC236}">
                <a16:creationId xmlns:a16="http://schemas.microsoft.com/office/drawing/2014/main" id="{F76B0186-6925-40E6-919F-2D0049BE60A8}"/>
              </a:ext>
            </a:extLst>
          </p:cNvPr>
          <p:cNvSpPr>
            <a:spLocks noGrp="1"/>
          </p:cNvSpPr>
          <p:nvPr/>
        </p:nvSpPr>
        <p:spPr>
          <a:xfrm>
            <a:off x="3877565" y="598916"/>
            <a:ext cx="4436870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IMMEDIATE PRIORITIES</a:t>
            </a:r>
          </a:p>
        </p:txBody>
      </p:sp>
      <p:graphicFrame>
        <p:nvGraphicFramePr>
          <p:cNvPr id="24" name="ImmediatePriorities"/>
          <p:cNvGraphicFramePr/>
          <p:nvPr/>
        </p:nvGraphicFramePr>
        <p:xfrm>
          <a:off x="3877565" y="794481"/>
          <a:ext cx="4436870" cy="2016761"/>
        </p:xfrm>
        <a:graphic>
          <a:graphicData uri="http://schemas.openxmlformats.org/drawingml/2006/table">
            <a:tbl>
              <a:tblPr/>
              <a:tblGrid>
                <a:gridCol w="116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1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Priority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KPI / target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Timing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First next step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Close shampoo WD gaps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WD toward 90%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NKAM / Sales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Sep’26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Map chain-level gaps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Align shampoo pack range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650/180/340/1000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RKAM / Category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Sep’26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Compare brand vs category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MT availability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Fill-rate ≥95%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NKAM / Supply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Ongoing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Weekly SKU review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1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Sustain FW productivity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PDO above category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Trade Marketing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Ongoing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shelf visibility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1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Resolve TDC softness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Validate stock/phasing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Sales Analytics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Aug’26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Review chain movement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1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Scale winning listings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Incremental ROS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Brand / Sales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Q2 FY27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Prioritise high-velocity chains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ection INPUTS REQUIRED TO CLOSE THE DIAGNOSIS">
            <a:extLst>
              <a:ext uri="{FF2B5EF4-FFF2-40B4-BE49-F238E27FC236}">
                <a16:creationId xmlns:a16="http://schemas.microsoft.com/office/drawing/2014/main" id="{F190FE44-6F19-4BAB-A7BE-1BEFF3FCD979}"/>
              </a:ext>
            </a:extLst>
          </p:cNvPr>
          <p:cNvSpPr>
            <a:spLocks noGrp="1"/>
          </p:cNvSpPr>
          <p:nvPr/>
        </p:nvSpPr>
        <p:spPr>
          <a:xfrm>
            <a:off x="3877565" y="2970136"/>
            <a:ext cx="4436870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INPUTS REQUIRED TO CLOSE THE DIAGNOSIS</a:t>
            </a:r>
          </a:p>
        </p:txBody>
      </p:sp>
      <p:graphicFrame>
        <p:nvGraphicFramePr>
          <p:cNvPr id="26" name="InputsRequired"/>
          <p:cNvGraphicFramePr/>
          <p:nvPr/>
        </p:nvGraphicFramePr>
        <p:xfrm>
          <a:off x="3877565" y="3165701"/>
          <a:ext cx="4436870" cy="1711190"/>
        </p:xfrm>
        <a:graphic>
          <a:graphicData uri="http://schemas.openxmlformats.org/drawingml/2006/table">
            <a:tbl>
              <a:tblPr/>
              <a:tblGrid>
                <a:gridCol w="116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1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 needed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it matters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 enabled</a:t>
                      </a:r>
                    </a:p>
                  </a:txBody>
                  <a:tcPr marL="58669" marR="58669" marT="29335" marB="29335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Chain × SKU listing / delisting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Separates assortment gaps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RKAM / Key Accounts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Priority-pack plan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Store OOS and fill-rate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Tests availability risk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Supply / Sales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Service intervention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SKU ROS / PDO by chain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Separates velocity from reach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Sales Analytics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Visibility priority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Pack sales by brand / chain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Connects demand to listings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Sales Analytics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Range expansion</a:t>
                      </a:r>
                    </a:p>
                  </a:txBody>
                  <a:tcPr marL="58669" marR="58669" marT="29335" marB="29335"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Inventory and phasing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Tests trade loading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Supply / NKAM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Stock correction</a:t>
                      </a:r>
                    </a:p>
                  </a:txBody>
                  <a:tcPr marL="58669" marR="58669" marT="29335" marB="29335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ection SUCCESS MEASURES">
            <a:extLst>
              <a:ext uri="{FF2B5EF4-FFF2-40B4-BE49-F238E27FC236}">
                <a16:creationId xmlns:a16="http://schemas.microsoft.com/office/drawing/2014/main" id="{E0216725-5C44-4A74-BD8F-2CC0B63697BE}"/>
              </a:ext>
            </a:extLst>
          </p:cNvPr>
          <p:cNvSpPr>
            <a:spLocks noGrp="1"/>
          </p:cNvSpPr>
          <p:nvPr/>
        </p:nvSpPr>
        <p:spPr>
          <a:xfrm>
            <a:off x="3877565" y="5035787"/>
            <a:ext cx="4436870" cy="158896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674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 MEASURES</a:t>
            </a:r>
          </a:p>
        </p:txBody>
      </p:sp>
      <p:sp>
        <p:nvSpPr>
          <p:cNvPr id="9" name="KPI DISTRIBUTION">
            <a:extLst>
              <a:ext uri="{FF2B5EF4-FFF2-40B4-BE49-F238E27FC236}">
                <a16:creationId xmlns:a16="http://schemas.microsoft.com/office/drawing/2014/main" id="{1030926A-2B7F-4BDF-8A37-4694D083FD62}"/>
              </a:ext>
            </a:extLst>
          </p:cNvPr>
          <p:cNvSpPr>
            <a:spLocks noGrp="1"/>
          </p:cNvSpPr>
          <p:nvPr/>
        </p:nvSpPr>
        <p:spPr>
          <a:xfrm>
            <a:off x="3877565" y="5243574"/>
            <a:ext cx="818926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DISTRIBUTION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 WD &gt;90%</a:t>
            </a:r>
          </a:p>
        </p:txBody>
      </p:sp>
      <p:sp>
        <p:nvSpPr>
          <p:cNvPr id="10" name="KPI AVAILABILITY">
            <a:extLst>
              <a:ext uri="{FF2B5EF4-FFF2-40B4-BE49-F238E27FC236}">
                <a16:creationId xmlns:a16="http://schemas.microsoft.com/office/drawing/2014/main" id="{13039CEC-20FD-4213-A352-82F345732B32}"/>
              </a:ext>
            </a:extLst>
          </p:cNvPr>
          <p:cNvSpPr>
            <a:spLocks noGrp="1"/>
          </p:cNvSpPr>
          <p:nvPr/>
        </p:nvSpPr>
        <p:spPr>
          <a:xfrm>
            <a:off x="4769828" y="5243574"/>
            <a:ext cx="818926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AVAILABILITY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Fill-rate ≥95%</a:t>
            </a:r>
          </a:p>
        </p:txBody>
      </p:sp>
      <p:sp>
        <p:nvSpPr>
          <p:cNvPr id="11" name="KPI PRODUCTIVITY">
            <a:extLst>
              <a:ext uri="{FF2B5EF4-FFF2-40B4-BE49-F238E27FC236}">
                <a16:creationId xmlns:a16="http://schemas.microsoft.com/office/drawing/2014/main" id="{CE710886-4896-42FB-8029-EDEF1097585D}"/>
              </a:ext>
            </a:extLst>
          </p:cNvPr>
          <p:cNvSpPr>
            <a:spLocks noGrp="1"/>
          </p:cNvSpPr>
          <p:nvPr/>
        </p:nvSpPr>
        <p:spPr>
          <a:xfrm>
            <a:off x="5662091" y="5243574"/>
            <a:ext cx="818926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PRODUCTIVITY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PDO positive</a:t>
            </a:r>
          </a:p>
        </p:txBody>
      </p:sp>
      <p:sp>
        <p:nvSpPr>
          <p:cNvPr id="12" name="KPI MIX">
            <a:extLst>
              <a:ext uri="{FF2B5EF4-FFF2-40B4-BE49-F238E27FC236}">
                <a16:creationId xmlns:a16="http://schemas.microsoft.com/office/drawing/2014/main" id="{5CFBEE0C-72C1-48E2-9DF8-8036CC887F43}"/>
              </a:ext>
            </a:extLst>
          </p:cNvPr>
          <p:cNvSpPr>
            <a:spLocks noGrp="1"/>
          </p:cNvSpPr>
          <p:nvPr/>
        </p:nvSpPr>
        <p:spPr>
          <a:xfrm>
            <a:off x="6554355" y="5243574"/>
            <a:ext cx="818926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MIX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Priority packs listed</a:t>
            </a:r>
          </a:p>
        </p:txBody>
      </p:sp>
      <p:sp>
        <p:nvSpPr>
          <p:cNvPr id="13" name="KPI SHARE">
            <a:extLst>
              <a:ext uri="{FF2B5EF4-FFF2-40B4-BE49-F238E27FC236}">
                <a16:creationId xmlns:a16="http://schemas.microsoft.com/office/drawing/2014/main" id="{DE45BF83-CE45-4BBF-855A-A0B907883887}"/>
              </a:ext>
            </a:extLst>
          </p:cNvPr>
          <p:cNvSpPr>
            <a:spLocks noGrp="1"/>
          </p:cNvSpPr>
          <p:nvPr/>
        </p:nvSpPr>
        <p:spPr>
          <a:xfrm>
            <a:off x="7446618" y="5243574"/>
            <a:ext cx="818926" cy="440020"/>
          </a:xfrm>
          <a:prstGeom prst="rect">
            <a:avLst/>
          </a:prstGeom>
          <a:solidFill>
            <a:srgbClr val="FFFFFF"/>
          </a:solidFill>
          <a:ln w="14288">
            <a:solidFill>
              <a:srgbClr val="EBAE0B"/>
            </a:solidFill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SHARE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22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FW + SH gains hold</a:t>
            </a:r>
          </a:p>
        </p:txBody>
      </p:sp>
      <p:sp>
        <p:nvSpPr>
          <p:cNvPr id="14" name="LeadershipDecisions">
            <a:extLst>
              <a:ext uri="{FF2B5EF4-FFF2-40B4-BE49-F238E27FC236}">
                <a16:creationId xmlns:a16="http://schemas.microsoft.com/office/drawing/2014/main" id="{DD8AFF0C-2083-4480-B7C9-DDCA3F0D046F}"/>
              </a:ext>
            </a:extLst>
          </p:cNvPr>
          <p:cNvSpPr>
            <a:spLocks noGrp="1"/>
          </p:cNvSpPr>
          <p:nvPr/>
        </p:nvSpPr>
        <p:spPr>
          <a:xfrm>
            <a:off x="3877565" y="5818045"/>
            <a:ext cx="4436870" cy="501134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1238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794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Leadership decisions: confirm availability investment, approve chain/pack priorities, and assign one accountable owner per KPI.</a:t>
            </a:r>
          </a:p>
        </p:txBody>
      </p:sp>
      <p:sp>
        <p:nvSpPr>
          <p:cNvPr id="15" name="SourceFooter">
            <a:extLst>
              <a:ext uri="{FF2B5EF4-FFF2-40B4-BE49-F238E27FC236}">
                <a16:creationId xmlns:a16="http://schemas.microsoft.com/office/drawing/2014/main" id="{DA09E571-4D21-4338-A7F9-9D07C00591CC}"/>
              </a:ext>
            </a:extLst>
          </p:cNvPr>
          <p:cNvSpPr>
            <a:spLocks noGrp="1"/>
          </p:cNvSpPr>
          <p:nvPr/>
        </p:nvSpPr>
        <p:spPr>
          <a:xfrm>
            <a:off x="3877565" y="6661417"/>
            <a:ext cx="3727949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409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MS insights.xlsx | Action tracker and input-gap review</a:t>
            </a:r>
          </a:p>
        </p:txBody>
      </p:sp>
      <p:sp>
        <p:nvSpPr>
          <p:cNvPr id="16" name="PageNum">
            <a:extLst>
              <a:ext uri="{FF2B5EF4-FFF2-40B4-BE49-F238E27FC236}">
                <a16:creationId xmlns:a16="http://schemas.microsoft.com/office/drawing/2014/main" id="{E49F601D-FD78-49A5-A6F6-9653D750B3E5}"/>
              </a:ext>
            </a:extLst>
          </p:cNvPr>
          <p:cNvSpPr>
            <a:spLocks noGrp="1"/>
          </p:cNvSpPr>
          <p:nvPr/>
        </p:nvSpPr>
        <p:spPr>
          <a:xfrm>
            <a:off x="7519954" y="6661417"/>
            <a:ext cx="794481" cy="1222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8891" tIns="24446" rIns="48891" bIns="24446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433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40150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HeaderBg">
            <a:extLst>
              <a:ext uri="{FF2B5EF4-FFF2-40B4-BE49-F238E27FC236}">
                <a16:creationId xmlns:a16="http://schemas.microsoft.com/office/drawing/2014/main" id="{A762FE1A-77F8-4CB1-BEA1-C0D9EBD99971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233" cy="32245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882" name="BrandAnchor">
            <a:extLst>
              <a:ext uri="{FF2B5EF4-FFF2-40B4-BE49-F238E27FC236}">
                <a16:creationId xmlns:a16="http://schemas.microsoft.com/office/drawing/2014/main" id="{60AB2A56-758E-4BAF-9F58-0A46255B37B0}"/>
              </a:ext>
            </a:extLst>
          </p:cNvPr>
          <p:cNvSpPr>
            <a:spLocks noGrp="1"/>
          </p:cNvSpPr>
          <p:nvPr/>
        </p:nvSpPr>
        <p:spPr>
          <a:xfrm>
            <a:off x="3816451" y="38574"/>
            <a:ext cx="4558886" cy="1152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BDD7EE"/>
                </a:solidFill>
                <a:latin typeface="Calibri"/>
                <a:ea typeface="Calibri"/>
                <a:cs typeface="Calibri"/>
              </a:rPr>
              <a:t>Portfolio | All Categories | Executive Summary</a:t>
            </a:r>
          </a:p>
        </p:txBody>
      </p:sp>
      <p:sp>
        <p:nvSpPr>
          <p:cNvPr id="883" name="Title">
            <a:extLst>
              <a:ext uri="{FF2B5EF4-FFF2-40B4-BE49-F238E27FC236}">
                <a16:creationId xmlns:a16="http://schemas.microsoft.com/office/drawing/2014/main" id="{CC25B054-016D-490C-BB63-517231F4AE76}"/>
              </a:ext>
            </a:extLst>
          </p:cNvPr>
          <p:cNvSpPr>
            <a:spLocks noGrp="1"/>
          </p:cNvSpPr>
          <p:nvPr/>
        </p:nvSpPr>
        <p:spPr>
          <a:xfrm>
            <a:off x="3816451" y="128426"/>
            <a:ext cx="4558886" cy="134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027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Primary vs. Offtake Sell-Out — Executive View</a:t>
            </a:r>
          </a:p>
        </p:txBody>
      </p:sp>
      <p:sp>
        <p:nvSpPr>
          <p:cNvPr id="884" name="Subtitle">
            <a:extLst>
              <a:ext uri="{FF2B5EF4-FFF2-40B4-BE49-F238E27FC236}">
                <a16:creationId xmlns:a16="http://schemas.microsoft.com/office/drawing/2014/main" id="{742B67BE-8C6A-4CAF-82BE-215A857A73C5}"/>
              </a:ext>
            </a:extLst>
          </p:cNvPr>
          <p:cNvSpPr>
            <a:spLocks noGrp="1"/>
          </p:cNvSpPr>
          <p:nvPr/>
        </p:nvSpPr>
        <p:spPr>
          <a:xfrm>
            <a:off x="3816451" y="243917"/>
            <a:ext cx="4558886" cy="896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Q1 FY26-27 (Apr-Jun'26) consolidated | 26-chain matched universe (Primary &amp; Offtake both report)</a:t>
            </a:r>
          </a:p>
        </p:txBody>
      </p:sp>
      <p:sp>
        <p:nvSpPr>
          <p:cNvPr id="885" name="KpiTile">
            <a:extLst>
              <a:ext uri="{FF2B5EF4-FFF2-40B4-BE49-F238E27FC236}">
                <a16:creationId xmlns:a16="http://schemas.microsoft.com/office/drawing/2014/main" id="{E30F0C59-7D54-41B7-906C-0F62F3B45356}"/>
              </a:ext>
            </a:extLst>
          </p:cNvPr>
          <p:cNvSpPr>
            <a:spLocks noGrp="1"/>
          </p:cNvSpPr>
          <p:nvPr/>
        </p:nvSpPr>
        <p:spPr>
          <a:xfrm>
            <a:off x="3816451" y="444871"/>
            <a:ext cx="1091389" cy="1991755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886" name="KpiAccent">
            <a:extLst>
              <a:ext uri="{FF2B5EF4-FFF2-40B4-BE49-F238E27FC236}">
                <a16:creationId xmlns:a16="http://schemas.microsoft.com/office/drawing/2014/main" id="{CE8503B1-AC00-4612-AD98-9B12FE7EAEC6}"/>
              </a:ext>
            </a:extLst>
          </p:cNvPr>
          <p:cNvSpPr>
            <a:spLocks noGrp="1"/>
          </p:cNvSpPr>
          <p:nvPr/>
        </p:nvSpPr>
        <p:spPr>
          <a:xfrm>
            <a:off x="3816451" y="444871"/>
            <a:ext cx="35109" cy="199175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887" name="KpiLabel">
            <a:extLst>
              <a:ext uri="{FF2B5EF4-FFF2-40B4-BE49-F238E27FC236}">
                <a16:creationId xmlns:a16="http://schemas.microsoft.com/office/drawing/2014/main" id="{8D517F61-A90B-49BB-B2C3-6A26D9AD2F62}"/>
              </a:ext>
            </a:extLst>
          </p:cNvPr>
          <p:cNvSpPr>
            <a:spLocks noGrp="1"/>
          </p:cNvSpPr>
          <p:nvPr/>
        </p:nvSpPr>
        <p:spPr>
          <a:xfrm>
            <a:off x="3893368" y="502616"/>
            <a:ext cx="937324" cy="696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Total Primary (Q1 FY27)</a:t>
            </a:r>
          </a:p>
        </p:txBody>
      </p:sp>
      <p:sp>
        <p:nvSpPr>
          <p:cNvPr id="888" name="KpiValue">
            <a:extLst>
              <a:ext uri="{FF2B5EF4-FFF2-40B4-BE49-F238E27FC236}">
                <a16:creationId xmlns:a16="http://schemas.microsoft.com/office/drawing/2014/main" id="{C052051D-E1E1-412D-8786-4DAEAEA95E35}"/>
              </a:ext>
            </a:extLst>
          </p:cNvPr>
          <p:cNvSpPr>
            <a:spLocks noGrp="1"/>
          </p:cNvSpPr>
          <p:nvPr/>
        </p:nvSpPr>
        <p:spPr>
          <a:xfrm>
            <a:off x="3893368" y="1241758"/>
            <a:ext cx="937324" cy="896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155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Rs 13,625L</a:t>
            </a:r>
          </a:p>
        </p:txBody>
      </p:sp>
      <p:sp>
        <p:nvSpPr>
          <p:cNvPr id="889" name="KpiDelta">
            <a:extLst>
              <a:ext uri="{FF2B5EF4-FFF2-40B4-BE49-F238E27FC236}">
                <a16:creationId xmlns:a16="http://schemas.microsoft.com/office/drawing/2014/main" id="{02C77745-88BA-4837-BD13-0C6B77127452}"/>
              </a:ext>
            </a:extLst>
          </p:cNvPr>
          <p:cNvSpPr>
            <a:spLocks noGrp="1"/>
          </p:cNvSpPr>
          <p:nvPr/>
        </p:nvSpPr>
        <p:spPr>
          <a:xfrm>
            <a:off x="3893368" y="1998685"/>
            <a:ext cx="937324" cy="398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26-chain matched universe</a:t>
            </a:r>
          </a:p>
        </p:txBody>
      </p:sp>
      <p:sp>
        <p:nvSpPr>
          <p:cNvPr id="890" name="KpiTile">
            <a:extLst>
              <a:ext uri="{FF2B5EF4-FFF2-40B4-BE49-F238E27FC236}">
                <a16:creationId xmlns:a16="http://schemas.microsoft.com/office/drawing/2014/main" id="{E8647D95-C177-4E61-B0CF-58F68FB7884F}"/>
              </a:ext>
            </a:extLst>
          </p:cNvPr>
          <p:cNvSpPr>
            <a:spLocks noGrp="1"/>
          </p:cNvSpPr>
          <p:nvPr/>
        </p:nvSpPr>
        <p:spPr>
          <a:xfrm>
            <a:off x="3816451" y="2559278"/>
            <a:ext cx="1091389" cy="1991755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891" name="KpiAccent">
            <a:extLst>
              <a:ext uri="{FF2B5EF4-FFF2-40B4-BE49-F238E27FC236}">
                <a16:creationId xmlns:a16="http://schemas.microsoft.com/office/drawing/2014/main" id="{D756AEE7-0CBF-47ED-93C4-F4108B9FD784}"/>
              </a:ext>
            </a:extLst>
          </p:cNvPr>
          <p:cNvSpPr>
            <a:spLocks noGrp="1"/>
          </p:cNvSpPr>
          <p:nvPr/>
        </p:nvSpPr>
        <p:spPr>
          <a:xfrm>
            <a:off x="3816451" y="2559278"/>
            <a:ext cx="35109" cy="1991755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892" name="KpiLabel">
            <a:extLst>
              <a:ext uri="{FF2B5EF4-FFF2-40B4-BE49-F238E27FC236}">
                <a16:creationId xmlns:a16="http://schemas.microsoft.com/office/drawing/2014/main" id="{FB455333-18D6-4972-95D8-704FF4BA3C02}"/>
              </a:ext>
            </a:extLst>
          </p:cNvPr>
          <p:cNvSpPr>
            <a:spLocks noGrp="1"/>
          </p:cNvSpPr>
          <p:nvPr/>
        </p:nvSpPr>
        <p:spPr>
          <a:xfrm>
            <a:off x="3893368" y="2617023"/>
            <a:ext cx="937324" cy="696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Total Offtake (Q1 FY27)</a:t>
            </a:r>
          </a:p>
        </p:txBody>
      </p:sp>
      <p:sp>
        <p:nvSpPr>
          <p:cNvPr id="893" name="KpiValue">
            <a:extLst>
              <a:ext uri="{FF2B5EF4-FFF2-40B4-BE49-F238E27FC236}">
                <a16:creationId xmlns:a16="http://schemas.microsoft.com/office/drawing/2014/main" id="{55FDF766-54E8-4099-AF3B-4390EEF2A65B}"/>
              </a:ext>
            </a:extLst>
          </p:cNvPr>
          <p:cNvSpPr>
            <a:spLocks noGrp="1"/>
          </p:cNvSpPr>
          <p:nvPr/>
        </p:nvSpPr>
        <p:spPr>
          <a:xfrm>
            <a:off x="3893368" y="3355933"/>
            <a:ext cx="937324" cy="896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155" b="1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Rs 11,436L</a:t>
            </a:r>
          </a:p>
        </p:txBody>
      </p:sp>
      <p:sp>
        <p:nvSpPr>
          <p:cNvPr id="894" name="KpiDelta">
            <a:extLst>
              <a:ext uri="{FF2B5EF4-FFF2-40B4-BE49-F238E27FC236}">
                <a16:creationId xmlns:a16="http://schemas.microsoft.com/office/drawing/2014/main" id="{43960856-BAA6-44FC-93C2-E6DC2740F42A}"/>
              </a:ext>
            </a:extLst>
          </p:cNvPr>
          <p:cNvSpPr>
            <a:spLocks noGrp="1"/>
          </p:cNvSpPr>
          <p:nvPr/>
        </p:nvSpPr>
        <p:spPr>
          <a:xfrm>
            <a:off x="3893368" y="4113091"/>
            <a:ext cx="937324" cy="398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Same 26-chain universe</a:t>
            </a:r>
          </a:p>
        </p:txBody>
      </p:sp>
      <p:sp>
        <p:nvSpPr>
          <p:cNvPr id="895" name="KpiTile">
            <a:extLst>
              <a:ext uri="{FF2B5EF4-FFF2-40B4-BE49-F238E27FC236}">
                <a16:creationId xmlns:a16="http://schemas.microsoft.com/office/drawing/2014/main" id="{E3175C74-4352-4F95-9C42-E06A89131BB1}"/>
              </a:ext>
            </a:extLst>
          </p:cNvPr>
          <p:cNvSpPr>
            <a:spLocks noGrp="1"/>
          </p:cNvSpPr>
          <p:nvPr/>
        </p:nvSpPr>
        <p:spPr>
          <a:xfrm>
            <a:off x="3816451" y="4673453"/>
            <a:ext cx="1091389" cy="1991755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896" name="KpiAccent">
            <a:extLst>
              <a:ext uri="{FF2B5EF4-FFF2-40B4-BE49-F238E27FC236}">
                <a16:creationId xmlns:a16="http://schemas.microsoft.com/office/drawing/2014/main" id="{81CB0CE0-805E-4F5F-8F5C-0723261C28C1}"/>
              </a:ext>
            </a:extLst>
          </p:cNvPr>
          <p:cNvSpPr>
            <a:spLocks noGrp="1"/>
          </p:cNvSpPr>
          <p:nvPr/>
        </p:nvSpPr>
        <p:spPr>
          <a:xfrm>
            <a:off x="3816451" y="4673453"/>
            <a:ext cx="35109" cy="1991755"/>
          </a:xfrm>
          <a:prstGeom prst="rect">
            <a:avLst/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897" name="KpiLabel">
            <a:extLst>
              <a:ext uri="{FF2B5EF4-FFF2-40B4-BE49-F238E27FC236}">
                <a16:creationId xmlns:a16="http://schemas.microsoft.com/office/drawing/2014/main" id="{C4B2F357-380A-4519-AAB7-EC913EA28A4E}"/>
              </a:ext>
            </a:extLst>
          </p:cNvPr>
          <p:cNvSpPr>
            <a:spLocks noGrp="1"/>
          </p:cNvSpPr>
          <p:nvPr/>
        </p:nvSpPr>
        <p:spPr>
          <a:xfrm>
            <a:off x="3893368" y="4731199"/>
            <a:ext cx="937324" cy="696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Sell-Out %</a:t>
            </a:r>
          </a:p>
        </p:txBody>
      </p:sp>
      <p:sp>
        <p:nvSpPr>
          <p:cNvPr id="898" name="KpiValue">
            <a:extLst>
              <a:ext uri="{FF2B5EF4-FFF2-40B4-BE49-F238E27FC236}">
                <a16:creationId xmlns:a16="http://schemas.microsoft.com/office/drawing/2014/main" id="{4A5B4D7B-5A83-4889-92FE-E5FBC2F63FDD}"/>
              </a:ext>
            </a:extLst>
          </p:cNvPr>
          <p:cNvSpPr>
            <a:spLocks noGrp="1"/>
          </p:cNvSpPr>
          <p:nvPr/>
        </p:nvSpPr>
        <p:spPr>
          <a:xfrm>
            <a:off x="3893368" y="5470340"/>
            <a:ext cx="937324" cy="896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155" b="1">
                <a:solidFill>
                  <a:srgbClr val="E2A500"/>
                </a:solidFill>
                <a:latin typeface="Calibri"/>
                <a:ea typeface="Calibri"/>
                <a:cs typeface="Calibri"/>
              </a:rPr>
              <a:t>83.9%</a:t>
            </a:r>
          </a:p>
        </p:txBody>
      </p:sp>
      <p:sp>
        <p:nvSpPr>
          <p:cNvPr id="899" name="KpiDelta">
            <a:extLst>
              <a:ext uri="{FF2B5EF4-FFF2-40B4-BE49-F238E27FC236}">
                <a16:creationId xmlns:a16="http://schemas.microsoft.com/office/drawing/2014/main" id="{A7972846-2309-4603-B241-23629CED7EA6}"/>
              </a:ext>
            </a:extLst>
          </p:cNvPr>
          <p:cNvSpPr>
            <a:spLocks noGrp="1"/>
          </p:cNvSpPr>
          <p:nvPr/>
        </p:nvSpPr>
        <p:spPr>
          <a:xfrm>
            <a:off x="3893368" y="6227267"/>
            <a:ext cx="937324" cy="398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Gap: Rs 2,188L billed-not-sold</a:t>
            </a:r>
          </a:p>
        </p:txBody>
      </p:sp>
      <p:sp>
        <p:nvSpPr>
          <p:cNvPr id="900" name="CenterTitle">
            <a:extLst>
              <a:ext uri="{FF2B5EF4-FFF2-40B4-BE49-F238E27FC236}">
                <a16:creationId xmlns:a16="http://schemas.microsoft.com/office/drawing/2014/main" id="{73505DED-88A1-467A-9618-B26DB5C4AEE6}"/>
              </a:ext>
            </a:extLst>
          </p:cNvPr>
          <p:cNvSpPr>
            <a:spLocks noGrp="1"/>
          </p:cNvSpPr>
          <p:nvPr/>
        </p:nvSpPr>
        <p:spPr>
          <a:xfrm>
            <a:off x="5004390" y="444871"/>
            <a:ext cx="2183008" cy="1281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vs. Offtake — Sell-Out Tracking</a:t>
            </a:r>
          </a:p>
        </p:txBody>
      </p:sp>
      <p:sp>
        <p:nvSpPr>
          <p:cNvPr id="901" name="LegPrimary">
            <a:extLst>
              <a:ext uri="{FF2B5EF4-FFF2-40B4-BE49-F238E27FC236}">
                <a16:creationId xmlns:a16="http://schemas.microsoft.com/office/drawing/2014/main" id="{C832AD69-529E-4BAB-A988-2211B0326B41}"/>
              </a:ext>
            </a:extLst>
          </p:cNvPr>
          <p:cNvSpPr>
            <a:spLocks noGrp="1"/>
          </p:cNvSpPr>
          <p:nvPr/>
        </p:nvSpPr>
        <p:spPr>
          <a:xfrm>
            <a:off x="5004390" y="586000"/>
            <a:ext cx="89621" cy="63982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02" name="LegPrimaryTxt">
            <a:extLst>
              <a:ext uri="{FF2B5EF4-FFF2-40B4-BE49-F238E27FC236}">
                <a16:creationId xmlns:a16="http://schemas.microsoft.com/office/drawing/2014/main" id="{A8F41AAC-5095-4702-BC74-63B2FADC2FF5}"/>
              </a:ext>
            </a:extLst>
          </p:cNvPr>
          <p:cNvSpPr>
            <a:spLocks noGrp="1"/>
          </p:cNvSpPr>
          <p:nvPr/>
        </p:nvSpPr>
        <p:spPr>
          <a:xfrm>
            <a:off x="5113414" y="566829"/>
            <a:ext cx="577223" cy="10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(billed-in)</a:t>
            </a:r>
          </a:p>
        </p:txBody>
      </p:sp>
      <p:sp>
        <p:nvSpPr>
          <p:cNvPr id="903" name="LegOfftake">
            <a:extLst>
              <a:ext uri="{FF2B5EF4-FFF2-40B4-BE49-F238E27FC236}">
                <a16:creationId xmlns:a16="http://schemas.microsoft.com/office/drawing/2014/main" id="{AE6DF86A-C8DA-432D-8B33-6840EBA7323F}"/>
              </a:ext>
            </a:extLst>
          </p:cNvPr>
          <p:cNvSpPr>
            <a:spLocks noGrp="1"/>
          </p:cNvSpPr>
          <p:nvPr/>
        </p:nvSpPr>
        <p:spPr>
          <a:xfrm>
            <a:off x="5838465" y="586000"/>
            <a:ext cx="89621" cy="63982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04" name="LegOfftakeTxt">
            <a:extLst>
              <a:ext uri="{FF2B5EF4-FFF2-40B4-BE49-F238E27FC236}">
                <a16:creationId xmlns:a16="http://schemas.microsoft.com/office/drawing/2014/main" id="{982BFD2D-FE9C-412A-B882-2AA753184495}"/>
              </a:ext>
            </a:extLst>
          </p:cNvPr>
          <p:cNvSpPr>
            <a:spLocks noGrp="1"/>
          </p:cNvSpPr>
          <p:nvPr/>
        </p:nvSpPr>
        <p:spPr>
          <a:xfrm>
            <a:off x="5947489" y="566829"/>
            <a:ext cx="577223" cy="10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Offtake (sold-out)</a:t>
            </a:r>
          </a:p>
        </p:txBody>
      </p:sp>
      <p:sp>
        <p:nvSpPr>
          <p:cNvPr id="905" name="RowLabel">
            <a:extLst>
              <a:ext uri="{FF2B5EF4-FFF2-40B4-BE49-F238E27FC236}">
                <a16:creationId xmlns:a16="http://schemas.microsoft.com/office/drawing/2014/main" id="{E3D648FA-9C9E-4FA5-A1BF-4BDB19C9668D}"/>
              </a:ext>
            </a:extLst>
          </p:cNvPr>
          <p:cNvSpPr>
            <a:spLocks noGrp="1"/>
          </p:cNvSpPr>
          <p:nvPr/>
        </p:nvSpPr>
        <p:spPr>
          <a:xfrm>
            <a:off x="5004390" y="714426"/>
            <a:ext cx="654833" cy="29625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Q1 FY27</a:t>
            </a:r>
          </a:p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(Apr-Jun26)</a:t>
            </a:r>
          </a:p>
        </p:txBody>
      </p:sp>
      <p:sp>
        <p:nvSpPr>
          <p:cNvPr id="906" name="PrimaryBar">
            <a:extLst>
              <a:ext uri="{FF2B5EF4-FFF2-40B4-BE49-F238E27FC236}">
                <a16:creationId xmlns:a16="http://schemas.microsoft.com/office/drawing/2014/main" id="{B4A30C2B-67EA-4CF0-A4C7-EA657AA7079D}"/>
              </a:ext>
            </a:extLst>
          </p:cNvPr>
          <p:cNvSpPr>
            <a:spLocks noGrp="1"/>
          </p:cNvSpPr>
          <p:nvPr/>
        </p:nvSpPr>
        <p:spPr>
          <a:xfrm>
            <a:off x="5685093" y="892051"/>
            <a:ext cx="1104555" cy="947949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07" name="PrimaryVal">
            <a:extLst>
              <a:ext uri="{FF2B5EF4-FFF2-40B4-BE49-F238E27FC236}">
                <a16:creationId xmlns:a16="http://schemas.microsoft.com/office/drawing/2014/main" id="{AD909EAF-9D06-4058-BEB4-B6DA37A4B65E}"/>
              </a:ext>
            </a:extLst>
          </p:cNvPr>
          <p:cNvSpPr>
            <a:spLocks noGrp="1"/>
          </p:cNvSpPr>
          <p:nvPr/>
        </p:nvSpPr>
        <p:spPr>
          <a:xfrm>
            <a:off x="6809050" y="773558"/>
            <a:ext cx="397520" cy="973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13,625L</a:t>
            </a:r>
          </a:p>
        </p:txBody>
      </p:sp>
      <p:sp>
        <p:nvSpPr>
          <p:cNvPr id="908" name="OfftakeBar">
            <a:extLst>
              <a:ext uri="{FF2B5EF4-FFF2-40B4-BE49-F238E27FC236}">
                <a16:creationId xmlns:a16="http://schemas.microsoft.com/office/drawing/2014/main" id="{CE0DB694-A579-4BDF-9F28-CB5DB6AC519C}"/>
              </a:ext>
            </a:extLst>
          </p:cNvPr>
          <p:cNvSpPr>
            <a:spLocks noGrp="1"/>
          </p:cNvSpPr>
          <p:nvPr/>
        </p:nvSpPr>
        <p:spPr>
          <a:xfrm>
            <a:off x="5685093" y="2255075"/>
            <a:ext cx="927161" cy="947949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09" name="OfftakeVal">
            <a:extLst>
              <a:ext uri="{FF2B5EF4-FFF2-40B4-BE49-F238E27FC236}">
                <a16:creationId xmlns:a16="http://schemas.microsoft.com/office/drawing/2014/main" id="{E7858338-EE5D-44E7-A0C8-08517589109B}"/>
              </a:ext>
            </a:extLst>
          </p:cNvPr>
          <p:cNvSpPr>
            <a:spLocks noGrp="1"/>
          </p:cNvSpPr>
          <p:nvPr/>
        </p:nvSpPr>
        <p:spPr>
          <a:xfrm>
            <a:off x="6631656" y="2136581"/>
            <a:ext cx="397520" cy="973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11,436L</a:t>
            </a:r>
          </a:p>
        </p:txBody>
      </p:sp>
      <p:sp>
        <p:nvSpPr>
          <p:cNvPr id="910" name="SOChip">
            <a:extLst>
              <a:ext uri="{FF2B5EF4-FFF2-40B4-BE49-F238E27FC236}">
                <a16:creationId xmlns:a16="http://schemas.microsoft.com/office/drawing/2014/main" id="{0295208C-37A8-4438-A3BC-C8B9B65BAF9A}"/>
              </a:ext>
            </a:extLst>
          </p:cNvPr>
          <p:cNvSpPr>
            <a:spLocks noGrp="1"/>
          </p:cNvSpPr>
          <p:nvPr/>
        </p:nvSpPr>
        <p:spPr>
          <a:xfrm>
            <a:off x="6828452" y="1158835"/>
            <a:ext cx="359177" cy="2073754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11" name="SOChipTxt">
            <a:extLst>
              <a:ext uri="{FF2B5EF4-FFF2-40B4-BE49-F238E27FC236}">
                <a16:creationId xmlns:a16="http://schemas.microsoft.com/office/drawing/2014/main" id="{ADB0DA65-951F-4184-9019-4BA75E316A4F}"/>
              </a:ext>
            </a:extLst>
          </p:cNvPr>
          <p:cNvSpPr>
            <a:spLocks noGrp="1"/>
          </p:cNvSpPr>
          <p:nvPr/>
        </p:nvSpPr>
        <p:spPr>
          <a:xfrm>
            <a:off x="6828452" y="1158835"/>
            <a:ext cx="359177" cy="20737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84%</a:t>
            </a:r>
          </a:p>
        </p:txBody>
      </p:sp>
      <p:sp>
        <p:nvSpPr>
          <p:cNvPr id="912" name="RowLabel">
            <a:extLst>
              <a:ext uri="{FF2B5EF4-FFF2-40B4-BE49-F238E27FC236}">
                <a16:creationId xmlns:a16="http://schemas.microsoft.com/office/drawing/2014/main" id="{3FCB5FD2-2222-43A6-AACD-A2E0A43C7DAC}"/>
              </a:ext>
            </a:extLst>
          </p:cNvPr>
          <p:cNvSpPr>
            <a:spLocks noGrp="1"/>
          </p:cNvSpPr>
          <p:nvPr/>
        </p:nvSpPr>
        <p:spPr>
          <a:xfrm>
            <a:off x="5004390" y="3702868"/>
            <a:ext cx="654833" cy="29625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Jun'26</a:t>
            </a:r>
          </a:p>
        </p:txBody>
      </p:sp>
      <p:sp>
        <p:nvSpPr>
          <p:cNvPr id="913" name="PrimaryBar">
            <a:extLst>
              <a:ext uri="{FF2B5EF4-FFF2-40B4-BE49-F238E27FC236}">
                <a16:creationId xmlns:a16="http://schemas.microsoft.com/office/drawing/2014/main" id="{A1A13C45-3FBA-4E3B-91CD-1585EE64EBD0}"/>
              </a:ext>
            </a:extLst>
          </p:cNvPr>
          <p:cNvSpPr>
            <a:spLocks noGrp="1"/>
          </p:cNvSpPr>
          <p:nvPr/>
        </p:nvSpPr>
        <p:spPr>
          <a:xfrm>
            <a:off x="5685093" y="3880493"/>
            <a:ext cx="337464" cy="947949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14" name="PrimaryVal">
            <a:extLst>
              <a:ext uri="{FF2B5EF4-FFF2-40B4-BE49-F238E27FC236}">
                <a16:creationId xmlns:a16="http://schemas.microsoft.com/office/drawing/2014/main" id="{61FDF1C4-7187-4BB3-98F0-E70D3C628DF3}"/>
              </a:ext>
            </a:extLst>
          </p:cNvPr>
          <p:cNvSpPr>
            <a:spLocks noGrp="1"/>
          </p:cNvSpPr>
          <p:nvPr/>
        </p:nvSpPr>
        <p:spPr>
          <a:xfrm>
            <a:off x="6041960" y="3761999"/>
            <a:ext cx="397520" cy="973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4,163L</a:t>
            </a:r>
          </a:p>
        </p:txBody>
      </p:sp>
      <p:sp>
        <p:nvSpPr>
          <p:cNvPr id="915" name="OfftakeBar">
            <a:extLst>
              <a:ext uri="{FF2B5EF4-FFF2-40B4-BE49-F238E27FC236}">
                <a16:creationId xmlns:a16="http://schemas.microsoft.com/office/drawing/2014/main" id="{5DA097A3-F2BE-4D86-ADEE-CEFC7042D31C}"/>
              </a:ext>
            </a:extLst>
          </p:cNvPr>
          <p:cNvSpPr>
            <a:spLocks noGrp="1"/>
          </p:cNvSpPr>
          <p:nvPr/>
        </p:nvSpPr>
        <p:spPr>
          <a:xfrm>
            <a:off x="5685093" y="5243516"/>
            <a:ext cx="309747" cy="947949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16" name="OfftakeVal">
            <a:extLst>
              <a:ext uri="{FF2B5EF4-FFF2-40B4-BE49-F238E27FC236}">
                <a16:creationId xmlns:a16="http://schemas.microsoft.com/office/drawing/2014/main" id="{1F3F91FC-CC85-4A3D-B3CB-46BD5C7DAEFB}"/>
              </a:ext>
            </a:extLst>
          </p:cNvPr>
          <p:cNvSpPr>
            <a:spLocks noGrp="1"/>
          </p:cNvSpPr>
          <p:nvPr/>
        </p:nvSpPr>
        <p:spPr>
          <a:xfrm>
            <a:off x="6014242" y="5124792"/>
            <a:ext cx="397520" cy="973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3,823L</a:t>
            </a:r>
          </a:p>
        </p:txBody>
      </p:sp>
      <p:sp>
        <p:nvSpPr>
          <p:cNvPr id="917" name="SOChip">
            <a:extLst>
              <a:ext uri="{FF2B5EF4-FFF2-40B4-BE49-F238E27FC236}">
                <a16:creationId xmlns:a16="http://schemas.microsoft.com/office/drawing/2014/main" id="{2D196577-6735-4CC0-ACB4-04856AC2C001}"/>
              </a:ext>
            </a:extLst>
          </p:cNvPr>
          <p:cNvSpPr>
            <a:spLocks noGrp="1"/>
          </p:cNvSpPr>
          <p:nvPr/>
        </p:nvSpPr>
        <p:spPr>
          <a:xfrm>
            <a:off x="6828452" y="4147277"/>
            <a:ext cx="359177" cy="2073754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18" name="SOChipTxt">
            <a:extLst>
              <a:ext uri="{FF2B5EF4-FFF2-40B4-BE49-F238E27FC236}">
                <a16:creationId xmlns:a16="http://schemas.microsoft.com/office/drawing/2014/main" id="{D718C4E3-B376-41D5-846D-2E3AB5B7E82D}"/>
              </a:ext>
            </a:extLst>
          </p:cNvPr>
          <p:cNvSpPr>
            <a:spLocks noGrp="1"/>
          </p:cNvSpPr>
          <p:nvPr/>
        </p:nvSpPr>
        <p:spPr>
          <a:xfrm>
            <a:off x="6828452" y="4147277"/>
            <a:ext cx="359177" cy="20737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92%</a:t>
            </a:r>
          </a:p>
        </p:txBody>
      </p:sp>
      <p:sp>
        <p:nvSpPr>
          <p:cNvPr id="919" name="SCRBox">
            <a:extLst>
              <a:ext uri="{FF2B5EF4-FFF2-40B4-BE49-F238E27FC236}">
                <a16:creationId xmlns:a16="http://schemas.microsoft.com/office/drawing/2014/main" id="{7F8E49F0-71DE-4BF2-A6B1-3B6B5F3DE3D9}"/>
              </a:ext>
            </a:extLst>
          </p:cNvPr>
          <p:cNvSpPr>
            <a:spLocks noGrp="1"/>
          </p:cNvSpPr>
          <p:nvPr/>
        </p:nvSpPr>
        <p:spPr>
          <a:xfrm>
            <a:off x="7283949" y="444871"/>
            <a:ext cx="1091389" cy="622033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rmAutofit/>
          </a:bodyPr>
          <a:lstStyle/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SITUATION</a:t>
            </a:r>
          </a:p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Q1 FY27: Primary Rs13,625L vs Offtake Rs11,436L - Sell-Out 83.9%.</a:t>
            </a:r>
          </a:p>
          <a:p>
            <a:pPr defTabSz="586679">
              <a:tabLst>
                <a:tab pos="0" algn="l"/>
              </a:tabLst>
            </a:pPr>
            <a:endParaRPr sz="642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COMPLICATION</a:t>
            </a:r>
          </a:p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Rs2,188L billed but not yet sold-through - trade inventory is building faster than consumer offtake.</a:t>
            </a:r>
          </a:p>
          <a:p>
            <a:pPr defTabSz="586679">
              <a:tabLst>
                <a:tab pos="0" algn="l"/>
              </a:tabLst>
            </a:pPr>
            <a:endParaRPr sz="642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RESOLUTION</a:t>
            </a:r>
          </a:p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Slow Q2 primary billing pace vs Q1 to let channel inventory normalize; prioritize sell-out schemes.</a:t>
            </a:r>
          </a:p>
          <a:p>
            <a:pPr defTabSz="586679">
              <a:tabLst>
                <a:tab pos="0" algn="l"/>
              </a:tabLst>
            </a:pPr>
            <a:endParaRPr sz="642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0" name="Footnote">
            <a:extLst>
              <a:ext uri="{FF2B5EF4-FFF2-40B4-BE49-F238E27FC236}">
                <a16:creationId xmlns:a16="http://schemas.microsoft.com/office/drawing/2014/main" id="{613E9814-67FD-4E1C-B1C3-B28D9A769CC5}"/>
              </a:ext>
            </a:extLst>
          </p:cNvPr>
          <p:cNvSpPr>
            <a:spLocks noGrp="1"/>
          </p:cNvSpPr>
          <p:nvPr/>
        </p:nvSpPr>
        <p:spPr>
          <a:xfrm>
            <a:off x="3816451" y="6678375"/>
            <a:ext cx="4558886" cy="1281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Sell-Out % = Offtake / Primary Billing x 100. Matched universe = chains present in both Primary and Offtake reporting (see Chain_Mapping sheet).</a:t>
            </a:r>
          </a:p>
        </p:txBody>
      </p:sp>
    </p:spTree>
    <p:extLst>
      <p:ext uri="{BB962C8B-B14F-4D97-AF65-F5344CB8AC3E}">
        <p14:creationId xmlns:p14="http://schemas.microsoft.com/office/powerpoint/2010/main" val="35653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HeaderBg">
            <a:extLst>
              <a:ext uri="{FF2B5EF4-FFF2-40B4-BE49-F238E27FC236}">
                <a16:creationId xmlns:a16="http://schemas.microsoft.com/office/drawing/2014/main" id="{791643B2-7168-44AC-9C62-C60FDD0F4C62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233" cy="32245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22" name="BrandAnchor">
            <a:extLst>
              <a:ext uri="{FF2B5EF4-FFF2-40B4-BE49-F238E27FC236}">
                <a16:creationId xmlns:a16="http://schemas.microsoft.com/office/drawing/2014/main" id="{8305013D-E5FC-450F-B784-0CA00350261D}"/>
              </a:ext>
            </a:extLst>
          </p:cNvPr>
          <p:cNvSpPr>
            <a:spLocks noGrp="1"/>
          </p:cNvSpPr>
          <p:nvPr/>
        </p:nvSpPr>
        <p:spPr>
          <a:xfrm>
            <a:off x="3816451" y="38574"/>
            <a:ext cx="4558886" cy="1152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BDD7EE"/>
                </a:solidFill>
                <a:latin typeface="Calibri"/>
                <a:ea typeface="Calibri"/>
                <a:cs typeface="Calibri"/>
              </a:rPr>
              <a:t>Portfolio | All Categories | Chain-Level Deep Dive</a:t>
            </a:r>
          </a:p>
        </p:txBody>
      </p:sp>
      <p:sp>
        <p:nvSpPr>
          <p:cNvPr id="923" name="Title">
            <a:extLst>
              <a:ext uri="{FF2B5EF4-FFF2-40B4-BE49-F238E27FC236}">
                <a16:creationId xmlns:a16="http://schemas.microsoft.com/office/drawing/2014/main" id="{805BDAB3-65DC-4300-B57B-5D44EABA0E61}"/>
              </a:ext>
            </a:extLst>
          </p:cNvPr>
          <p:cNvSpPr>
            <a:spLocks noGrp="1"/>
          </p:cNvSpPr>
          <p:nvPr/>
        </p:nvSpPr>
        <p:spPr>
          <a:xfrm>
            <a:off x="3816451" y="128426"/>
            <a:ext cx="4558886" cy="134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027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Primary vs. Offtake Sell-Out — Chain / KAM View</a:t>
            </a:r>
          </a:p>
        </p:txBody>
      </p:sp>
      <p:sp>
        <p:nvSpPr>
          <p:cNvPr id="924" name="Subtitle">
            <a:extLst>
              <a:ext uri="{FF2B5EF4-FFF2-40B4-BE49-F238E27FC236}">
                <a16:creationId xmlns:a16="http://schemas.microsoft.com/office/drawing/2014/main" id="{91CB2E20-77D9-4A1C-B1AA-EC94C0B8DC98}"/>
              </a:ext>
            </a:extLst>
          </p:cNvPr>
          <p:cNvSpPr>
            <a:spLocks noGrp="1"/>
          </p:cNvSpPr>
          <p:nvPr/>
        </p:nvSpPr>
        <p:spPr>
          <a:xfrm>
            <a:off x="3816451" y="243917"/>
            <a:ext cx="4558886" cy="896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Q1 FY26-27 (Apr-Jun'26) | Key accounts: Dmart, Reliance, Apollo + top format chains</a:t>
            </a:r>
          </a:p>
        </p:txBody>
      </p:sp>
      <p:sp>
        <p:nvSpPr>
          <p:cNvPr id="925" name="KpiTile">
            <a:extLst>
              <a:ext uri="{FF2B5EF4-FFF2-40B4-BE49-F238E27FC236}">
                <a16:creationId xmlns:a16="http://schemas.microsoft.com/office/drawing/2014/main" id="{52954F6A-AA53-44A1-83A3-99FC1E7F2A4E}"/>
              </a:ext>
            </a:extLst>
          </p:cNvPr>
          <p:cNvSpPr>
            <a:spLocks noGrp="1"/>
          </p:cNvSpPr>
          <p:nvPr/>
        </p:nvSpPr>
        <p:spPr>
          <a:xfrm>
            <a:off x="3816451" y="444871"/>
            <a:ext cx="1091389" cy="1991755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26" name="KpiAccent">
            <a:extLst>
              <a:ext uri="{FF2B5EF4-FFF2-40B4-BE49-F238E27FC236}">
                <a16:creationId xmlns:a16="http://schemas.microsoft.com/office/drawing/2014/main" id="{6346E0A2-7F61-4EDF-86E6-16E411688882}"/>
              </a:ext>
            </a:extLst>
          </p:cNvPr>
          <p:cNvSpPr>
            <a:spLocks noGrp="1"/>
          </p:cNvSpPr>
          <p:nvPr/>
        </p:nvSpPr>
        <p:spPr>
          <a:xfrm>
            <a:off x="3816451" y="444871"/>
            <a:ext cx="35109" cy="1991755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27" name="KpiLabel">
            <a:extLst>
              <a:ext uri="{FF2B5EF4-FFF2-40B4-BE49-F238E27FC236}">
                <a16:creationId xmlns:a16="http://schemas.microsoft.com/office/drawing/2014/main" id="{5091A015-96A6-49A8-BA0F-C289D26EDB45}"/>
              </a:ext>
            </a:extLst>
          </p:cNvPr>
          <p:cNvSpPr>
            <a:spLocks noGrp="1"/>
          </p:cNvSpPr>
          <p:nvPr/>
        </p:nvSpPr>
        <p:spPr>
          <a:xfrm>
            <a:off x="3893368" y="502616"/>
            <a:ext cx="937324" cy="696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Weakest Sell-Out (Q1)</a:t>
            </a:r>
          </a:p>
        </p:txBody>
      </p:sp>
      <p:sp>
        <p:nvSpPr>
          <p:cNvPr id="928" name="KpiValue">
            <a:extLst>
              <a:ext uri="{FF2B5EF4-FFF2-40B4-BE49-F238E27FC236}">
                <a16:creationId xmlns:a16="http://schemas.microsoft.com/office/drawing/2014/main" id="{5CB70F43-6AFE-4BA4-A060-4EE58147616B}"/>
              </a:ext>
            </a:extLst>
          </p:cNvPr>
          <p:cNvSpPr>
            <a:spLocks noGrp="1"/>
          </p:cNvSpPr>
          <p:nvPr/>
        </p:nvSpPr>
        <p:spPr>
          <a:xfrm>
            <a:off x="3893368" y="1241758"/>
            <a:ext cx="937324" cy="896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155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Dmart 77%</a:t>
            </a:r>
          </a:p>
        </p:txBody>
      </p:sp>
      <p:sp>
        <p:nvSpPr>
          <p:cNvPr id="929" name="KpiDelta">
            <a:extLst>
              <a:ext uri="{FF2B5EF4-FFF2-40B4-BE49-F238E27FC236}">
                <a16:creationId xmlns:a16="http://schemas.microsoft.com/office/drawing/2014/main" id="{AFEB2B84-3915-4592-8D6B-87BEB3BEAFF3}"/>
              </a:ext>
            </a:extLst>
          </p:cNvPr>
          <p:cNvSpPr>
            <a:spLocks noGrp="1"/>
          </p:cNvSpPr>
          <p:nvPr/>
        </p:nvSpPr>
        <p:spPr>
          <a:xfrm>
            <a:off x="3893368" y="1998685"/>
            <a:ext cx="937324" cy="398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Rs5,527L vs Offtake Rs4,232L</a:t>
            </a:r>
          </a:p>
        </p:txBody>
      </p:sp>
      <p:sp>
        <p:nvSpPr>
          <p:cNvPr id="930" name="KpiTile">
            <a:extLst>
              <a:ext uri="{FF2B5EF4-FFF2-40B4-BE49-F238E27FC236}">
                <a16:creationId xmlns:a16="http://schemas.microsoft.com/office/drawing/2014/main" id="{D0A73EB1-23D9-444E-BD61-DF4F6F3AF542}"/>
              </a:ext>
            </a:extLst>
          </p:cNvPr>
          <p:cNvSpPr>
            <a:spLocks noGrp="1"/>
          </p:cNvSpPr>
          <p:nvPr/>
        </p:nvSpPr>
        <p:spPr>
          <a:xfrm>
            <a:off x="3816451" y="2559278"/>
            <a:ext cx="1091389" cy="1991755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31" name="KpiAccent">
            <a:extLst>
              <a:ext uri="{FF2B5EF4-FFF2-40B4-BE49-F238E27FC236}">
                <a16:creationId xmlns:a16="http://schemas.microsoft.com/office/drawing/2014/main" id="{3DE1407A-8FFE-4601-BF79-FA8BE000F5C0}"/>
              </a:ext>
            </a:extLst>
          </p:cNvPr>
          <p:cNvSpPr>
            <a:spLocks noGrp="1"/>
          </p:cNvSpPr>
          <p:nvPr/>
        </p:nvSpPr>
        <p:spPr>
          <a:xfrm>
            <a:off x="3816451" y="2559278"/>
            <a:ext cx="35109" cy="1991755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32" name="KpiLabel">
            <a:extLst>
              <a:ext uri="{FF2B5EF4-FFF2-40B4-BE49-F238E27FC236}">
                <a16:creationId xmlns:a16="http://schemas.microsoft.com/office/drawing/2014/main" id="{11CD27D0-6C16-418D-8B90-6BE16959E6E3}"/>
              </a:ext>
            </a:extLst>
          </p:cNvPr>
          <p:cNvSpPr>
            <a:spLocks noGrp="1"/>
          </p:cNvSpPr>
          <p:nvPr/>
        </p:nvSpPr>
        <p:spPr>
          <a:xfrm>
            <a:off x="3893368" y="2617023"/>
            <a:ext cx="937324" cy="696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OOS Risk Flag (Q1)</a:t>
            </a:r>
          </a:p>
        </p:txBody>
      </p:sp>
      <p:sp>
        <p:nvSpPr>
          <p:cNvPr id="933" name="KpiValue">
            <a:extLst>
              <a:ext uri="{FF2B5EF4-FFF2-40B4-BE49-F238E27FC236}">
                <a16:creationId xmlns:a16="http://schemas.microsoft.com/office/drawing/2014/main" id="{69FF2D0F-0379-4BB2-83AC-9229341B783B}"/>
              </a:ext>
            </a:extLst>
          </p:cNvPr>
          <p:cNvSpPr>
            <a:spLocks noGrp="1"/>
          </p:cNvSpPr>
          <p:nvPr/>
        </p:nvSpPr>
        <p:spPr>
          <a:xfrm>
            <a:off x="3893368" y="3355933"/>
            <a:ext cx="937324" cy="896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155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Metro Cnc 152%</a:t>
            </a:r>
          </a:p>
        </p:txBody>
      </p:sp>
      <p:sp>
        <p:nvSpPr>
          <p:cNvPr id="934" name="KpiDelta">
            <a:extLst>
              <a:ext uri="{FF2B5EF4-FFF2-40B4-BE49-F238E27FC236}">
                <a16:creationId xmlns:a16="http://schemas.microsoft.com/office/drawing/2014/main" id="{DD502E81-2EE9-4709-9261-6CE0C81FACE7}"/>
              </a:ext>
            </a:extLst>
          </p:cNvPr>
          <p:cNvSpPr>
            <a:spLocks noGrp="1"/>
          </p:cNvSpPr>
          <p:nvPr/>
        </p:nvSpPr>
        <p:spPr>
          <a:xfrm>
            <a:off x="3893368" y="4113091"/>
            <a:ext cx="937324" cy="398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Offtake exceeds Primary - stock depleting</a:t>
            </a:r>
          </a:p>
        </p:txBody>
      </p:sp>
      <p:sp>
        <p:nvSpPr>
          <p:cNvPr id="935" name="KpiTile">
            <a:extLst>
              <a:ext uri="{FF2B5EF4-FFF2-40B4-BE49-F238E27FC236}">
                <a16:creationId xmlns:a16="http://schemas.microsoft.com/office/drawing/2014/main" id="{ABAC8CF2-E93C-4681-8E53-3EB3D806EC1B}"/>
              </a:ext>
            </a:extLst>
          </p:cNvPr>
          <p:cNvSpPr>
            <a:spLocks noGrp="1"/>
          </p:cNvSpPr>
          <p:nvPr/>
        </p:nvSpPr>
        <p:spPr>
          <a:xfrm>
            <a:off x="3816451" y="4673453"/>
            <a:ext cx="1091389" cy="1991755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36" name="KpiAccent">
            <a:extLst>
              <a:ext uri="{FF2B5EF4-FFF2-40B4-BE49-F238E27FC236}">
                <a16:creationId xmlns:a16="http://schemas.microsoft.com/office/drawing/2014/main" id="{2E68F1B2-C4DD-4EA3-8F4D-8E59781B4CFB}"/>
              </a:ext>
            </a:extLst>
          </p:cNvPr>
          <p:cNvSpPr>
            <a:spLocks noGrp="1"/>
          </p:cNvSpPr>
          <p:nvPr/>
        </p:nvSpPr>
        <p:spPr>
          <a:xfrm>
            <a:off x="3816451" y="4673453"/>
            <a:ext cx="35109" cy="1991755"/>
          </a:xfrm>
          <a:prstGeom prst="rect">
            <a:avLst/>
          </a:prstGeom>
          <a:solidFill>
            <a:srgbClr val="1F7A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37" name="KpiLabel">
            <a:extLst>
              <a:ext uri="{FF2B5EF4-FFF2-40B4-BE49-F238E27FC236}">
                <a16:creationId xmlns:a16="http://schemas.microsoft.com/office/drawing/2014/main" id="{36C3A68D-3F8E-415C-ADAD-5064E108AC92}"/>
              </a:ext>
            </a:extLst>
          </p:cNvPr>
          <p:cNvSpPr>
            <a:spLocks noGrp="1"/>
          </p:cNvSpPr>
          <p:nvPr/>
        </p:nvSpPr>
        <p:spPr>
          <a:xfrm>
            <a:off x="3893368" y="4731199"/>
            <a:ext cx="937324" cy="696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Healthiest Large KAM</a:t>
            </a:r>
          </a:p>
        </p:txBody>
      </p:sp>
      <p:sp>
        <p:nvSpPr>
          <p:cNvPr id="938" name="KpiValue">
            <a:extLst>
              <a:ext uri="{FF2B5EF4-FFF2-40B4-BE49-F238E27FC236}">
                <a16:creationId xmlns:a16="http://schemas.microsoft.com/office/drawing/2014/main" id="{33D64A6D-B952-4226-AC59-294A1738F23F}"/>
              </a:ext>
            </a:extLst>
          </p:cNvPr>
          <p:cNvSpPr>
            <a:spLocks noGrp="1"/>
          </p:cNvSpPr>
          <p:nvPr/>
        </p:nvSpPr>
        <p:spPr>
          <a:xfrm>
            <a:off x="3893368" y="5470340"/>
            <a:ext cx="937324" cy="896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155" b="1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Reliance 92%</a:t>
            </a:r>
          </a:p>
        </p:txBody>
      </p:sp>
      <p:sp>
        <p:nvSpPr>
          <p:cNvPr id="939" name="KpiDelta">
            <a:extLst>
              <a:ext uri="{FF2B5EF4-FFF2-40B4-BE49-F238E27FC236}">
                <a16:creationId xmlns:a16="http://schemas.microsoft.com/office/drawing/2014/main" id="{65BF0488-E545-45D5-9C34-DA9A979E11B8}"/>
              </a:ext>
            </a:extLst>
          </p:cNvPr>
          <p:cNvSpPr>
            <a:spLocks noGrp="1"/>
          </p:cNvSpPr>
          <p:nvPr/>
        </p:nvSpPr>
        <p:spPr>
          <a:xfrm>
            <a:off x="3893368" y="6227267"/>
            <a:ext cx="937324" cy="3982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Rs3,047L vs Offtake Rs2,806L</a:t>
            </a:r>
          </a:p>
        </p:txBody>
      </p:sp>
      <p:sp>
        <p:nvSpPr>
          <p:cNvPr id="940" name="CenterTitle">
            <a:extLst>
              <a:ext uri="{FF2B5EF4-FFF2-40B4-BE49-F238E27FC236}">
                <a16:creationId xmlns:a16="http://schemas.microsoft.com/office/drawing/2014/main" id="{FE40FA82-B37C-40E3-8D68-D6CB5E4ECED7}"/>
              </a:ext>
            </a:extLst>
          </p:cNvPr>
          <p:cNvSpPr>
            <a:spLocks noGrp="1"/>
          </p:cNvSpPr>
          <p:nvPr/>
        </p:nvSpPr>
        <p:spPr>
          <a:xfrm>
            <a:off x="5004390" y="444871"/>
            <a:ext cx="2183008" cy="1281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vs. Offtake — Sell-Out Tracking</a:t>
            </a:r>
          </a:p>
        </p:txBody>
      </p:sp>
      <p:sp>
        <p:nvSpPr>
          <p:cNvPr id="941" name="LegPrimary">
            <a:extLst>
              <a:ext uri="{FF2B5EF4-FFF2-40B4-BE49-F238E27FC236}">
                <a16:creationId xmlns:a16="http://schemas.microsoft.com/office/drawing/2014/main" id="{0B9F78D3-810D-4DE0-91A1-BFE170FE6D19}"/>
              </a:ext>
            </a:extLst>
          </p:cNvPr>
          <p:cNvSpPr>
            <a:spLocks noGrp="1"/>
          </p:cNvSpPr>
          <p:nvPr/>
        </p:nvSpPr>
        <p:spPr>
          <a:xfrm>
            <a:off x="5004390" y="586000"/>
            <a:ext cx="89621" cy="63982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42" name="LegPrimaryTxt">
            <a:extLst>
              <a:ext uri="{FF2B5EF4-FFF2-40B4-BE49-F238E27FC236}">
                <a16:creationId xmlns:a16="http://schemas.microsoft.com/office/drawing/2014/main" id="{8FF131B3-62E9-4FE0-BCCB-752165E6E6E1}"/>
              </a:ext>
            </a:extLst>
          </p:cNvPr>
          <p:cNvSpPr>
            <a:spLocks noGrp="1"/>
          </p:cNvSpPr>
          <p:nvPr/>
        </p:nvSpPr>
        <p:spPr>
          <a:xfrm>
            <a:off x="5113414" y="566829"/>
            <a:ext cx="577223" cy="10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(billed-in)</a:t>
            </a:r>
          </a:p>
        </p:txBody>
      </p:sp>
      <p:sp>
        <p:nvSpPr>
          <p:cNvPr id="943" name="LegOfftake">
            <a:extLst>
              <a:ext uri="{FF2B5EF4-FFF2-40B4-BE49-F238E27FC236}">
                <a16:creationId xmlns:a16="http://schemas.microsoft.com/office/drawing/2014/main" id="{F0C3F121-FEB7-4CDE-927B-933072C40C06}"/>
              </a:ext>
            </a:extLst>
          </p:cNvPr>
          <p:cNvSpPr>
            <a:spLocks noGrp="1"/>
          </p:cNvSpPr>
          <p:nvPr/>
        </p:nvSpPr>
        <p:spPr>
          <a:xfrm>
            <a:off x="5838465" y="586000"/>
            <a:ext cx="89621" cy="63982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44" name="LegOfftakeTxt">
            <a:extLst>
              <a:ext uri="{FF2B5EF4-FFF2-40B4-BE49-F238E27FC236}">
                <a16:creationId xmlns:a16="http://schemas.microsoft.com/office/drawing/2014/main" id="{E2DFE7E4-A342-4D6E-9AEA-12AE043FC890}"/>
              </a:ext>
            </a:extLst>
          </p:cNvPr>
          <p:cNvSpPr>
            <a:spLocks noGrp="1"/>
          </p:cNvSpPr>
          <p:nvPr/>
        </p:nvSpPr>
        <p:spPr>
          <a:xfrm>
            <a:off x="5947489" y="566829"/>
            <a:ext cx="577223" cy="10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Offtake (sold-out)</a:t>
            </a:r>
          </a:p>
        </p:txBody>
      </p:sp>
      <p:sp>
        <p:nvSpPr>
          <p:cNvPr id="945" name="RowLabel">
            <a:extLst>
              <a:ext uri="{FF2B5EF4-FFF2-40B4-BE49-F238E27FC236}">
                <a16:creationId xmlns:a16="http://schemas.microsoft.com/office/drawing/2014/main" id="{ABFB2609-CFE2-49F5-8786-0435FDD67ECC}"/>
              </a:ext>
            </a:extLst>
          </p:cNvPr>
          <p:cNvSpPr>
            <a:spLocks noGrp="1"/>
          </p:cNvSpPr>
          <p:nvPr/>
        </p:nvSpPr>
        <p:spPr>
          <a:xfrm>
            <a:off x="5004390" y="714426"/>
            <a:ext cx="654833" cy="9701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Dmart</a:t>
            </a:r>
          </a:p>
        </p:txBody>
      </p:sp>
      <p:sp>
        <p:nvSpPr>
          <p:cNvPr id="946" name="PrimaryBar">
            <a:extLst>
              <a:ext uri="{FF2B5EF4-FFF2-40B4-BE49-F238E27FC236}">
                <a16:creationId xmlns:a16="http://schemas.microsoft.com/office/drawing/2014/main" id="{7365189F-1D15-44A4-903A-FC8EEDB6E958}"/>
              </a:ext>
            </a:extLst>
          </p:cNvPr>
          <p:cNvSpPr>
            <a:spLocks noGrp="1"/>
          </p:cNvSpPr>
          <p:nvPr/>
        </p:nvSpPr>
        <p:spPr>
          <a:xfrm>
            <a:off x="5685093" y="772634"/>
            <a:ext cx="1104555" cy="310208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47" name="PrimaryVal">
            <a:extLst>
              <a:ext uri="{FF2B5EF4-FFF2-40B4-BE49-F238E27FC236}">
                <a16:creationId xmlns:a16="http://schemas.microsoft.com/office/drawing/2014/main" id="{5B35A35B-3F6F-4E51-AABE-F428FB9B15B7}"/>
              </a:ext>
            </a:extLst>
          </p:cNvPr>
          <p:cNvSpPr>
            <a:spLocks noGrp="1"/>
          </p:cNvSpPr>
          <p:nvPr/>
        </p:nvSpPr>
        <p:spPr>
          <a:xfrm>
            <a:off x="6809050" y="733829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5,527L</a:t>
            </a:r>
          </a:p>
        </p:txBody>
      </p:sp>
      <p:sp>
        <p:nvSpPr>
          <p:cNvPr id="948" name="OfftakeBar">
            <a:extLst>
              <a:ext uri="{FF2B5EF4-FFF2-40B4-BE49-F238E27FC236}">
                <a16:creationId xmlns:a16="http://schemas.microsoft.com/office/drawing/2014/main" id="{60680C6E-9FBB-4085-B4D2-AA1AAFBF427B}"/>
              </a:ext>
            </a:extLst>
          </p:cNvPr>
          <p:cNvSpPr>
            <a:spLocks noGrp="1"/>
          </p:cNvSpPr>
          <p:nvPr/>
        </p:nvSpPr>
        <p:spPr>
          <a:xfrm>
            <a:off x="5685093" y="1219122"/>
            <a:ext cx="845624" cy="310208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49" name="OfftakeVal">
            <a:extLst>
              <a:ext uri="{FF2B5EF4-FFF2-40B4-BE49-F238E27FC236}">
                <a16:creationId xmlns:a16="http://schemas.microsoft.com/office/drawing/2014/main" id="{87169A55-E3C2-4364-826D-274A6D23D414}"/>
              </a:ext>
            </a:extLst>
          </p:cNvPr>
          <p:cNvSpPr>
            <a:spLocks noGrp="1"/>
          </p:cNvSpPr>
          <p:nvPr/>
        </p:nvSpPr>
        <p:spPr>
          <a:xfrm>
            <a:off x="6550119" y="1180317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4,232L</a:t>
            </a:r>
          </a:p>
        </p:txBody>
      </p:sp>
      <p:sp>
        <p:nvSpPr>
          <p:cNvPr id="950" name="SOChip">
            <a:extLst>
              <a:ext uri="{FF2B5EF4-FFF2-40B4-BE49-F238E27FC236}">
                <a16:creationId xmlns:a16="http://schemas.microsoft.com/office/drawing/2014/main" id="{A8864DD4-B44C-4D77-AEB0-CA732600D600}"/>
              </a:ext>
            </a:extLst>
          </p:cNvPr>
          <p:cNvSpPr>
            <a:spLocks noGrp="1"/>
          </p:cNvSpPr>
          <p:nvPr/>
        </p:nvSpPr>
        <p:spPr>
          <a:xfrm>
            <a:off x="6828452" y="859945"/>
            <a:ext cx="359177" cy="679086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51" name="SOChipTxt">
            <a:extLst>
              <a:ext uri="{FF2B5EF4-FFF2-40B4-BE49-F238E27FC236}">
                <a16:creationId xmlns:a16="http://schemas.microsoft.com/office/drawing/2014/main" id="{A84D3107-40BF-4E9B-A3C7-2EE75FB8D849}"/>
              </a:ext>
            </a:extLst>
          </p:cNvPr>
          <p:cNvSpPr>
            <a:spLocks noGrp="1"/>
          </p:cNvSpPr>
          <p:nvPr/>
        </p:nvSpPr>
        <p:spPr>
          <a:xfrm>
            <a:off x="6828452" y="859945"/>
            <a:ext cx="359177" cy="679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77%</a:t>
            </a:r>
          </a:p>
        </p:txBody>
      </p:sp>
      <p:sp>
        <p:nvSpPr>
          <p:cNvPr id="952" name="RowLabel">
            <a:extLst>
              <a:ext uri="{FF2B5EF4-FFF2-40B4-BE49-F238E27FC236}">
                <a16:creationId xmlns:a16="http://schemas.microsoft.com/office/drawing/2014/main" id="{E12AE677-3C29-4557-B1D0-A6EB91E3C54B}"/>
              </a:ext>
            </a:extLst>
          </p:cNvPr>
          <p:cNvSpPr>
            <a:spLocks noGrp="1"/>
          </p:cNvSpPr>
          <p:nvPr/>
        </p:nvSpPr>
        <p:spPr>
          <a:xfrm>
            <a:off x="5004390" y="1710420"/>
            <a:ext cx="654833" cy="9701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Reliance</a:t>
            </a:r>
          </a:p>
        </p:txBody>
      </p:sp>
      <p:sp>
        <p:nvSpPr>
          <p:cNvPr id="953" name="PrimaryBar">
            <a:extLst>
              <a:ext uri="{FF2B5EF4-FFF2-40B4-BE49-F238E27FC236}">
                <a16:creationId xmlns:a16="http://schemas.microsoft.com/office/drawing/2014/main" id="{243B2B05-6544-4F5D-87DA-F9D2958D7203}"/>
              </a:ext>
            </a:extLst>
          </p:cNvPr>
          <p:cNvSpPr>
            <a:spLocks noGrp="1"/>
          </p:cNvSpPr>
          <p:nvPr/>
        </p:nvSpPr>
        <p:spPr>
          <a:xfrm>
            <a:off x="5685093" y="1768858"/>
            <a:ext cx="608868" cy="310208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54" name="PrimaryVal">
            <a:extLst>
              <a:ext uri="{FF2B5EF4-FFF2-40B4-BE49-F238E27FC236}">
                <a16:creationId xmlns:a16="http://schemas.microsoft.com/office/drawing/2014/main" id="{DC243F3E-CA47-4FA2-AD6B-B512D04F32CD}"/>
              </a:ext>
            </a:extLst>
          </p:cNvPr>
          <p:cNvSpPr>
            <a:spLocks noGrp="1"/>
          </p:cNvSpPr>
          <p:nvPr/>
        </p:nvSpPr>
        <p:spPr>
          <a:xfrm>
            <a:off x="6313363" y="1729822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3,047L</a:t>
            </a:r>
          </a:p>
        </p:txBody>
      </p:sp>
      <p:sp>
        <p:nvSpPr>
          <p:cNvPr id="955" name="OfftakeBar">
            <a:extLst>
              <a:ext uri="{FF2B5EF4-FFF2-40B4-BE49-F238E27FC236}">
                <a16:creationId xmlns:a16="http://schemas.microsoft.com/office/drawing/2014/main" id="{2794F594-6DFF-4343-BBEC-404576230B7D}"/>
              </a:ext>
            </a:extLst>
          </p:cNvPr>
          <p:cNvSpPr>
            <a:spLocks noGrp="1"/>
          </p:cNvSpPr>
          <p:nvPr/>
        </p:nvSpPr>
        <p:spPr>
          <a:xfrm>
            <a:off x="5685093" y="2215115"/>
            <a:ext cx="560593" cy="310208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56" name="OfftakeVal">
            <a:extLst>
              <a:ext uri="{FF2B5EF4-FFF2-40B4-BE49-F238E27FC236}">
                <a16:creationId xmlns:a16="http://schemas.microsoft.com/office/drawing/2014/main" id="{9BD33057-4AA8-4C03-AC02-85DBE5290A0F}"/>
              </a:ext>
            </a:extLst>
          </p:cNvPr>
          <p:cNvSpPr>
            <a:spLocks noGrp="1"/>
          </p:cNvSpPr>
          <p:nvPr/>
        </p:nvSpPr>
        <p:spPr>
          <a:xfrm>
            <a:off x="6265088" y="2176310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2,806L</a:t>
            </a:r>
          </a:p>
        </p:txBody>
      </p:sp>
      <p:sp>
        <p:nvSpPr>
          <p:cNvPr id="957" name="SOChip">
            <a:extLst>
              <a:ext uri="{FF2B5EF4-FFF2-40B4-BE49-F238E27FC236}">
                <a16:creationId xmlns:a16="http://schemas.microsoft.com/office/drawing/2014/main" id="{90CD29A4-2846-4FD3-BA38-CE4CDCE6139D}"/>
              </a:ext>
            </a:extLst>
          </p:cNvPr>
          <p:cNvSpPr>
            <a:spLocks noGrp="1"/>
          </p:cNvSpPr>
          <p:nvPr/>
        </p:nvSpPr>
        <p:spPr>
          <a:xfrm>
            <a:off x="6828452" y="1856169"/>
            <a:ext cx="359177" cy="679086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58" name="SOChipTxt">
            <a:extLst>
              <a:ext uri="{FF2B5EF4-FFF2-40B4-BE49-F238E27FC236}">
                <a16:creationId xmlns:a16="http://schemas.microsoft.com/office/drawing/2014/main" id="{FA084728-58B9-461F-8CE3-C864133A5FDA}"/>
              </a:ext>
            </a:extLst>
          </p:cNvPr>
          <p:cNvSpPr>
            <a:spLocks noGrp="1"/>
          </p:cNvSpPr>
          <p:nvPr/>
        </p:nvSpPr>
        <p:spPr>
          <a:xfrm>
            <a:off x="6828452" y="1856169"/>
            <a:ext cx="359177" cy="679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92%</a:t>
            </a:r>
          </a:p>
        </p:txBody>
      </p:sp>
      <p:sp>
        <p:nvSpPr>
          <p:cNvPr id="959" name="RowLabel">
            <a:extLst>
              <a:ext uri="{FF2B5EF4-FFF2-40B4-BE49-F238E27FC236}">
                <a16:creationId xmlns:a16="http://schemas.microsoft.com/office/drawing/2014/main" id="{07875FC4-FC68-4F8A-84D8-8BF5F50FEE03}"/>
              </a:ext>
            </a:extLst>
          </p:cNvPr>
          <p:cNvSpPr>
            <a:spLocks noGrp="1"/>
          </p:cNvSpPr>
          <p:nvPr/>
        </p:nvSpPr>
        <p:spPr>
          <a:xfrm>
            <a:off x="5004390" y="2706644"/>
            <a:ext cx="654833" cy="9701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Apollo</a:t>
            </a:r>
          </a:p>
        </p:txBody>
      </p:sp>
      <p:sp>
        <p:nvSpPr>
          <p:cNvPr id="960" name="PrimaryBar">
            <a:extLst>
              <a:ext uri="{FF2B5EF4-FFF2-40B4-BE49-F238E27FC236}">
                <a16:creationId xmlns:a16="http://schemas.microsoft.com/office/drawing/2014/main" id="{BFB6FE86-DFCF-4ACB-B5DD-033F60EC3EA1}"/>
              </a:ext>
            </a:extLst>
          </p:cNvPr>
          <p:cNvSpPr>
            <a:spLocks noGrp="1"/>
          </p:cNvSpPr>
          <p:nvPr/>
        </p:nvSpPr>
        <p:spPr>
          <a:xfrm>
            <a:off x="5685093" y="2764851"/>
            <a:ext cx="510470" cy="310208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61" name="PrimaryVal">
            <a:extLst>
              <a:ext uri="{FF2B5EF4-FFF2-40B4-BE49-F238E27FC236}">
                <a16:creationId xmlns:a16="http://schemas.microsoft.com/office/drawing/2014/main" id="{33518815-8178-4D67-B669-6DE9396D2037}"/>
              </a:ext>
            </a:extLst>
          </p:cNvPr>
          <p:cNvSpPr>
            <a:spLocks noGrp="1"/>
          </p:cNvSpPr>
          <p:nvPr/>
        </p:nvSpPr>
        <p:spPr>
          <a:xfrm>
            <a:off x="6214965" y="2726046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2,555L</a:t>
            </a:r>
          </a:p>
        </p:txBody>
      </p:sp>
      <p:sp>
        <p:nvSpPr>
          <p:cNvPr id="962" name="OfftakeBar">
            <a:extLst>
              <a:ext uri="{FF2B5EF4-FFF2-40B4-BE49-F238E27FC236}">
                <a16:creationId xmlns:a16="http://schemas.microsoft.com/office/drawing/2014/main" id="{A9C4C56F-6A9A-41EE-AB03-0EF60F66AA48}"/>
              </a:ext>
            </a:extLst>
          </p:cNvPr>
          <p:cNvSpPr>
            <a:spLocks noGrp="1"/>
          </p:cNvSpPr>
          <p:nvPr/>
        </p:nvSpPr>
        <p:spPr>
          <a:xfrm>
            <a:off x="5685093" y="3211339"/>
            <a:ext cx="434015" cy="310208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63" name="OfftakeVal">
            <a:extLst>
              <a:ext uri="{FF2B5EF4-FFF2-40B4-BE49-F238E27FC236}">
                <a16:creationId xmlns:a16="http://schemas.microsoft.com/office/drawing/2014/main" id="{D6518EF5-F455-4AE2-B941-A46CD310BCEB}"/>
              </a:ext>
            </a:extLst>
          </p:cNvPr>
          <p:cNvSpPr>
            <a:spLocks noGrp="1"/>
          </p:cNvSpPr>
          <p:nvPr/>
        </p:nvSpPr>
        <p:spPr>
          <a:xfrm>
            <a:off x="6138510" y="3172534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2,173L</a:t>
            </a:r>
          </a:p>
        </p:txBody>
      </p:sp>
      <p:sp>
        <p:nvSpPr>
          <p:cNvPr id="964" name="SOChip">
            <a:extLst>
              <a:ext uri="{FF2B5EF4-FFF2-40B4-BE49-F238E27FC236}">
                <a16:creationId xmlns:a16="http://schemas.microsoft.com/office/drawing/2014/main" id="{812B5C0E-F7D7-4F48-8908-5AF1A2B0065D}"/>
              </a:ext>
            </a:extLst>
          </p:cNvPr>
          <p:cNvSpPr>
            <a:spLocks noGrp="1"/>
          </p:cNvSpPr>
          <p:nvPr/>
        </p:nvSpPr>
        <p:spPr>
          <a:xfrm>
            <a:off x="6828452" y="2852162"/>
            <a:ext cx="359177" cy="679086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65" name="SOChipTxt">
            <a:extLst>
              <a:ext uri="{FF2B5EF4-FFF2-40B4-BE49-F238E27FC236}">
                <a16:creationId xmlns:a16="http://schemas.microsoft.com/office/drawing/2014/main" id="{E4DFDA2D-65A6-42A9-957A-B92671D3E027}"/>
              </a:ext>
            </a:extLst>
          </p:cNvPr>
          <p:cNvSpPr>
            <a:spLocks noGrp="1"/>
          </p:cNvSpPr>
          <p:nvPr/>
        </p:nvSpPr>
        <p:spPr>
          <a:xfrm>
            <a:off x="6828452" y="2852162"/>
            <a:ext cx="359177" cy="679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85%</a:t>
            </a:r>
          </a:p>
        </p:txBody>
      </p:sp>
      <p:sp>
        <p:nvSpPr>
          <p:cNvPr id="966" name="RowLabel">
            <a:extLst>
              <a:ext uri="{FF2B5EF4-FFF2-40B4-BE49-F238E27FC236}">
                <a16:creationId xmlns:a16="http://schemas.microsoft.com/office/drawing/2014/main" id="{F38BC0D9-62B3-4D56-A955-D67A0A6CA08F}"/>
              </a:ext>
            </a:extLst>
          </p:cNvPr>
          <p:cNvSpPr>
            <a:spLocks noGrp="1"/>
          </p:cNvSpPr>
          <p:nvPr/>
        </p:nvSpPr>
        <p:spPr>
          <a:xfrm>
            <a:off x="5004390" y="3702868"/>
            <a:ext cx="654833" cy="9701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Metro Cnc</a:t>
            </a:r>
          </a:p>
        </p:txBody>
      </p:sp>
      <p:sp>
        <p:nvSpPr>
          <p:cNvPr id="967" name="PrimaryBar">
            <a:extLst>
              <a:ext uri="{FF2B5EF4-FFF2-40B4-BE49-F238E27FC236}">
                <a16:creationId xmlns:a16="http://schemas.microsoft.com/office/drawing/2014/main" id="{65979606-301F-4D8D-985C-55E4B3C261B1}"/>
              </a:ext>
            </a:extLst>
          </p:cNvPr>
          <p:cNvSpPr>
            <a:spLocks noGrp="1"/>
          </p:cNvSpPr>
          <p:nvPr/>
        </p:nvSpPr>
        <p:spPr>
          <a:xfrm>
            <a:off x="5685093" y="3761076"/>
            <a:ext cx="20326" cy="310208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68" name="PrimaryVal">
            <a:extLst>
              <a:ext uri="{FF2B5EF4-FFF2-40B4-BE49-F238E27FC236}">
                <a16:creationId xmlns:a16="http://schemas.microsoft.com/office/drawing/2014/main" id="{4CEE1BB8-6792-4128-A79D-C58697398657}"/>
              </a:ext>
            </a:extLst>
          </p:cNvPr>
          <p:cNvSpPr>
            <a:spLocks noGrp="1"/>
          </p:cNvSpPr>
          <p:nvPr/>
        </p:nvSpPr>
        <p:spPr>
          <a:xfrm>
            <a:off x="5724822" y="3722271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103L</a:t>
            </a:r>
          </a:p>
        </p:txBody>
      </p:sp>
      <p:sp>
        <p:nvSpPr>
          <p:cNvPr id="969" name="OfftakeBar">
            <a:extLst>
              <a:ext uri="{FF2B5EF4-FFF2-40B4-BE49-F238E27FC236}">
                <a16:creationId xmlns:a16="http://schemas.microsoft.com/office/drawing/2014/main" id="{44E062AF-5235-4408-82AC-020FD2F517C7}"/>
              </a:ext>
            </a:extLst>
          </p:cNvPr>
          <p:cNvSpPr>
            <a:spLocks noGrp="1"/>
          </p:cNvSpPr>
          <p:nvPr/>
        </p:nvSpPr>
        <p:spPr>
          <a:xfrm>
            <a:off x="5685093" y="4207332"/>
            <a:ext cx="30952" cy="310208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70" name="OfftakeVal">
            <a:extLst>
              <a:ext uri="{FF2B5EF4-FFF2-40B4-BE49-F238E27FC236}">
                <a16:creationId xmlns:a16="http://schemas.microsoft.com/office/drawing/2014/main" id="{98928489-2E19-46D9-B180-804F51E55414}"/>
              </a:ext>
            </a:extLst>
          </p:cNvPr>
          <p:cNvSpPr>
            <a:spLocks noGrp="1"/>
          </p:cNvSpPr>
          <p:nvPr/>
        </p:nvSpPr>
        <p:spPr>
          <a:xfrm>
            <a:off x="5735447" y="4168527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157L</a:t>
            </a:r>
          </a:p>
        </p:txBody>
      </p:sp>
      <p:sp>
        <p:nvSpPr>
          <p:cNvPr id="971" name="SOChip">
            <a:extLst>
              <a:ext uri="{FF2B5EF4-FFF2-40B4-BE49-F238E27FC236}">
                <a16:creationId xmlns:a16="http://schemas.microsoft.com/office/drawing/2014/main" id="{B36165E7-C5AE-4D11-857C-B877FC3F0FE7}"/>
              </a:ext>
            </a:extLst>
          </p:cNvPr>
          <p:cNvSpPr>
            <a:spLocks noGrp="1"/>
          </p:cNvSpPr>
          <p:nvPr/>
        </p:nvSpPr>
        <p:spPr>
          <a:xfrm>
            <a:off x="6828452" y="3848387"/>
            <a:ext cx="359177" cy="679086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72" name="SOChipTxt">
            <a:extLst>
              <a:ext uri="{FF2B5EF4-FFF2-40B4-BE49-F238E27FC236}">
                <a16:creationId xmlns:a16="http://schemas.microsoft.com/office/drawing/2014/main" id="{798C16AE-3AE6-4D46-8E80-5C834D5ABC8F}"/>
              </a:ext>
            </a:extLst>
          </p:cNvPr>
          <p:cNvSpPr>
            <a:spLocks noGrp="1"/>
          </p:cNvSpPr>
          <p:nvPr/>
        </p:nvSpPr>
        <p:spPr>
          <a:xfrm>
            <a:off x="6828452" y="3848387"/>
            <a:ext cx="359177" cy="679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152%</a:t>
            </a:r>
          </a:p>
        </p:txBody>
      </p:sp>
      <p:sp>
        <p:nvSpPr>
          <p:cNvPr id="973" name="RowLabel">
            <a:extLst>
              <a:ext uri="{FF2B5EF4-FFF2-40B4-BE49-F238E27FC236}">
                <a16:creationId xmlns:a16="http://schemas.microsoft.com/office/drawing/2014/main" id="{55F528F6-854A-4849-AA15-1F4E87743186}"/>
              </a:ext>
            </a:extLst>
          </p:cNvPr>
          <p:cNvSpPr>
            <a:spLocks noGrp="1"/>
          </p:cNvSpPr>
          <p:nvPr/>
        </p:nvSpPr>
        <p:spPr>
          <a:xfrm>
            <a:off x="5004390" y="4698861"/>
            <a:ext cx="654833" cy="9701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Lulu</a:t>
            </a:r>
          </a:p>
        </p:txBody>
      </p:sp>
      <p:sp>
        <p:nvSpPr>
          <p:cNvPr id="974" name="PrimaryBar">
            <a:extLst>
              <a:ext uri="{FF2B5EF4-FFF2-40B4-BE49-F238E27FC236}">
                <a16:creationId xmlns:a16="http://schemas.microsoft.com/office/drawing/2014/main" id="{7D9C9FC7-2CE9-4524-A418-40DF504B41D8}"/>
              </a:ext>
            </a:extLst>
          </p:cNvPr>
          <p:cNvSpPr>
            <a:spLocks noGrp="1"/>
          </p:cNvSpPr>
          <p:nvPr/>
        </p:nvSpPr>
        <p:spPr>
          <a:xfrm>
            <a:off x="5685093" y="4757069"/>
            <a:ext cx="100708" cy="310208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75" name="PrimaryVal">
            <a:extLst>
              <a:ext uri="{FF2B5EF4-FFF2-40B4-BE49-F238E27FC236}">
                <a16:creationId xmlns:a16="http://schemas.microsoft.com/office/drawing/2014/main" id="{7B73A996-939C-4425-BE33-A9FF48408FA5}"/>
              </a:ext>
            </a:extLst>
          </p:cNvPr>
          <p:cNvSpPr>
            <a:spLocks noGrp="1"/>
          </p:cNvSpPr>
          <p:nvPr/>
        </p:nvSpPr>
        <p:spPr>
          <a:xfrm>
            <a:off x="5805203" y="4718264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505L</a:t>
            </a:r>
          </a:p>
        </p:txBody>
      </p:sp>
      <p:sp>
        <p:nvSpPr>
          <p:cNvPr id="976" name="OfftakeBar">
            <a:extLst>
              <a:ext uri="{FF2B5EF4-FFF2-40B4-BE49-F238E27FC236}">
                <a16:creationId xmlns:a16="http://schemas.microsoft.com/office/drawing/2014/main" id="{041AF3E7-6045-4BFE-938A-84B1BBDC8D8F}"/>
              </a:ext>
            </a:extLst>
          </p:cNvPr>
          <p:cNvSpPr>
            <a:spLocks noGrp="1"/>
          </p:cNvSpPr>
          <p:nvPr/>
        </p:nvSpPr>
        <p:spPr>
          <a:xfrm>
            <a:off x="5685093" y="5203557"/>
            <a:ext cx="66292" cy="310208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77" name="OfftakeVal">
            <a:extLst>
              <a:ext uri="{FF2B5EF4-FFF2-40B4-BE49-F238E27FC236}">
                <a16:creationId xmlns:a16="http://schemas.microsoft.com/office/drawing/2014/main" id="{97ED26E0-88A5-4BE2-8928-928E140A4DEA}"/>
              </a:ext>
            </a:extLst>
          </p:cNvPr>
          <p:cNvSpPr>
            <a:spLocks noGrp="1"/>
          </p:cNvSpPr>
          <p:nvPr/>
        </p:nvSpPr>
        <p:spPr>
          <a:xfrm>
            <a:off x="5770787" y="5164752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333L</a:t>
            </a:r>
          </a:p>
        </p:txBody>
      </p:sp>
      <p:sp>
        <p:nvSpPr>
          <p:cNvPr id="978" name="SOChip">
            <a:extLst>
              <a:ext uri="{FF2B5EF4-FFF2-40B4-BE49-F238E27FC236}">
                <a16:creationId xmlns:a16="http://schemas.microsoft.com/office/drawing/2014/main" id="{B20D451D-DAA5-43ED-BF24-D7B4BE10DC27}"/>
              </a:ext>
            </a:extLst>
          </p:cNvPr>
          <p:cNvSpPr>
            <a:spLocks noGrp="1"/>
          </p:cNvSpPr>
          <p:nvPr/>
        </p:nvSpPr>
        <p:spPr>
          <a:xfrm>
            <a:off x="6828452" y="4844380"/>
            <a:ext cx="359177" cy="679086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79" name="SOChipTxt">
            <a:extLst>
              <a:ext uri="{FF2B5EF4-FFF2-40B4-BE49-F238E27FC236}">
                <a16:creationId xmlns:a16="http://schemas.microsoft.com/office/drawing/2014/main" id="{AEA3A378-CD95-4F84-9423-7F4B735BA236}"/>
              </a:ext>
            </a:extLst>
          </p:cNvPr>
          <p:cNvSpPr>
            <a:spLocks noGrp="1"/>
          </p:cNvSpPr>
          <p:nvPr/>
        </p:nvSpPr>
        <p:spPr>
          <a:xfrm>
            <a:off x="6828452" y="4844380"/>
            <a:ext cx="359177" cy="679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66%</a:t>
            </a:r>
          </a:p>
        </p:txBody>
      </p:sp>
      <p:sp>
        <p:nvSpPr>
          <p:cNvPr id="980" name="RowLabel">
            <a:extLst>
              <a:ext uri="{FF2B5EF4-FFF2-40B4-BE49-F238E27FC236}">
                <a16:creationId xmlns:a16="http://schemas.microsoft.com/office/drawing/2014/main" id="{EE64F5FF-E663-4093-8D16-58ACADB4731C}"/>
              </a:ext>
            </a:extLst>
          </p:cNvPr>
          <p:cNvSpPr>
            <a:spLocks noGrp="1"/>
          </p:cNvSpPr>
          <p:nvPr/>
        </p:nvSpPr>
        <p:spPr>
          <a:xfrm>
            <a:off x="5004390" y="5695086"/>
            <a:ext cx="654833" cy="9701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42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H&amp;G</a:t>
            </a:r>
          </a:p>
        </p:txBody>
      </p:sp>
      <p:sp>
        <p:nvSpPr>
          <p:cNvPr id="981" name="PrimaryBar">
            <a:extLst>
              <a:ext uri="{FF2B5EF4-FFF2-40B4-BE49-F238E27FC236}">
                <a16:creationId xmlns:a16="http://schemas.microsoft.com/office/drawing/2014/main" id="{642047D0-3CA3-489F-9C59-DB66473643DA}"/>
              </a:ext>
            </a:extLst>
          </p:cNvPr>
          <p:cNvSpPr>
            <a:spLocks noGrp="1"/>
          </p:cNvSpPr>
          <p:nvPr/>
        </p:nvSpPr>
        <p:spPr>
          <a:xfrm>
            <a:off x="5685093" y="5753293"/>
            <a:ext cx="47582" cy="310208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82" name="PrimaryVal">
            <a:extLst>
              <a:ext uri="{FF2B5EF4-FFF2-40B4-BE49-F238E27FC236}">
                <a16:creationId xmlns:a16="http://schemas.microsoft.com/office/drawing/2014/main" id="{65144C74-CD3B-4116-8038-3A392914A575}"/>
              </a:ext>
            </a:extLst>
          </p:cNvPr>
          <p:cNvSpPr>
            <a:spLocks noGrp="1"/>
          </p:cNvSpPr>
          <p:nvPr/>
        </p:nvSpPr>
        <p:spPr>
          <a:xfrm>
            <a:off x="5752078" y="5714488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239L</a:t>
            </a:r>
          </a:p>
        </p:txBody>
      </p:sp>
      <p:sp>
        <p:nvSpPr>
          <p:cNvPr id="983" name="OfftakeBar">
            <a:extLst>
              <a:ext uri="{FF2B5EF4-FFF2-40B4-BE49-F238E27FC236}">
                <a16:creationId xmlns:a16="http://schemas.microsoft.com/office/drawing/2014/main" id="{F0CE41FE-0FC9-4E01-B18B-D37F63478F92}"/>
              </a:ext>
            </a:extLst>
          </p:cNvPr>
          <p:cNvSpPr>
            <a:spLocks noGrp="1"/>
          </p:cNvSpPr>
          <p:nvPr/>
        </p:nvSpPr>
        <p:spPr>
          <a:xfrm>
            <a:off x="5685093" y="6199781"/>
            <a:ext cx="39960" cy="310208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84" name="OfftakeVal">
            <a:extLst>
              <a:ext uri="{FF2B5EF4-FFF2-40B4-BE49-F238E27FC236}">
                <a16:creationId xmlns:a16="http://schemas.microsoft.com/office/drawing/2014/main" id="{8CD8B3F1-90A5-43C0-8C43-927BBFEADF4F}"/>
              </a:ext>
            </a:extLst>
          </p:cNvPr>
          <p:cNvSpPr>
            <a:spLocks noGrp="1"/>
          </p:cNvSpPr>
          <p:nvPr/>
        </p:nvSpPr>
        <p:spPr>
          <a:xfrm>
            <a:off x="5744455" y="6160976"/>
            <a:ext cx="397520" cy="336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201L</a:t>
            </a:r>
          </a:p>
        </p:txBody>
      </p:sp>
      <p:sp>
        <p:nvSpPr>
          <p:cNvPr id="985" name="SOChip">
            <a:extLst>
              <a:ext uri="{FF2B5EF4-FFF2-40B4-BE49-F238E27FC236}">
                <a16:creationId xmlns:a16="http://schemas.microsoft.com/office/drawing/2014/main" id="{D3F57398-0901-4E46-8FFE-E0ACA842D0E9}"/>
              </a:ext>
            </a:extLst>
          </p:cNvPr>
          <p:cNvSpPr>
            <a:spLocks noGrp="1"/>
          </p:cNvSpPr>
          <p:nvPr/>
        </p:nvSpPr>
        <p:spPr>
          <a:xfrm>
            <a:off x="6828452" y="5840604"/>
            <a:ext cx="359177" cy="679086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986" name="SOChipTxt">
            <a:extLst>
              <a:ext uri="{FF2B5EF4-FFF2-40B4-BE49-F238E27FC236}">
                <a16:creationId xmlns:a16="http://schemas.microsoft.com/office/drawing/2014/main" id="{08165F39-09D1-4CBD-A547-BD3E39E8116B}"/>
              </a:ext>
            </a:extLst>
          </p:cNvPr>
          <p:cNvSpPr>
            <a:spLocks noGrp="1"/>
          </p:cNvSpPr>
          <p:nvPr/>
        </p:nvSpPr>
        <p:spPr>
          <a:xfrm>
            <a:off x="6828452" y="5840604"/>
            <a:ext cx="359177" cy="679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642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84%</a:t>
            </a:r>
          </a:p>
        </p:txBody>
      </p:sp>
      <p:sp>
        <p:nvSpPr>
          <p:cNvPr id="987" name="SCRBox">
            <a:extLst>
              <a:ext uri="{FF2B5EF4-FFF2-40B4-BE49-F238E27FC236}">
                <a16:creationId xmlns:a16="http://schemas.microsoft.com/office/drawing/2014/main" id="{37E949C6-3540-445C-B716-05FD55632520}"/>
              </a:ext>
            </a:extLst>
          </p:cNvPr>
          <p:cNvSpPr>
            <a:spLocks noGrp="1"/>
          </p:cNvSpPr>
          <p:nvPr/>
        </p:nvSpPr>
        <p:spPr>
          <a:xfrm>
            <a:off x="7283949" y="444871"/>
            <a:ext cx="1091389" cy="622033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rmAutofit/>
          </a:bodyPr>
          <a:lstStyle/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SITUATION</a:t>
            </a:r>
          </a:p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Dmart Q1: Primary Rs5,527L, Offtake Rs4,232L - Sell-Out 77%, weakest large KAM.</a:t>
            </a:r>
          </a:p>
          <a:p>
            <a:pPr defTabSz="586679">
              <a:tabLst>
                <a:tab pos="0" algn="l"/>
              </a:tabLst>
            </a:pPr>
            <a:endParaRPr sz="642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COMPLICATION</a:t>
            </a:r>
          </a:p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Dmart and Lulu show Primary well ahead of Offtake - stock sitting in DC/store, near-expiry claim risk builds.</a:t>
            </a:r>
          </a:p>
          <a:p>
            <a:pPr defTabSz="586679">
              <a:tabLst>
                <a:tab pos="0" algn="l"/>
              </a:tabLst>
            </a:pPr>
            <a:endParaRPr sz="642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586679">
              <a:tabLst>
                <a:tab pos="0" algn="l"/>
              </a:tabLst>
            </a:pPr>
            <a:r>
              <a:rPr sz="706" b="1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RESOLUTION</a:t>
            </a:r>
          </a:p>
          <a:p>
            <a:pPr defTabSz="586679">
              <a:tabLst>
                <a:tab pos="0" algn="l"/>
              </a:tabLst>
            </a:pPr>
            <a:r>
              <a:rPr sz="642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Freeze incremental Dmart/Lulu primary orders this cycle; secure urgent PO for Metro Cnc (OOS risk).</a:t>
            </a:r>
          </a:p>
          <a:p>
            <a:pPr defTabSz="586679">
              <a:tabLst>
                <a:tab pos="0" algn="l"/>
              </a:tabLst>
            </a:pPr>
            <a:endParaRPr sz="642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8" name="Footnote">
            <a:extLst>
              <a:ext uri="{FF2B5EF4-FFF2-40B4-BE49-F238E27FC236}">
                <a16:creationId xmlns:a16="http://schemas.microsoft.com/office/drawing/2014/main" id="{238572E1-CE01-4718-8DE2-B208EE8A8207}"/>
              </a:ext>
            </a:extLst>
          </p:cNvPr>
          <p:cNvSpPr>
            <a:spLocks noGrp="1"/>
          </p:cNvSpPr>
          <p:nvPr/>
        </p:nvSpPr>
        <p:spPr>
          <a:xfrm>
            <a:off x="3816451" y="6678375"/>
            <a:ext cx="4558886" cy="1281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13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Chains matched via Chain_Mapping sheet (confirmed name pairs only). Chains with Q1 Primary &lt;Rs20L excluded as immaterial.</a:t>
            </a:r>
          </a:p>
        </p:txBody>
      </p:sp>
    </p:spTree>
    <p:extLst>
      <p:ext uri="{BB962C8B-B14F-4D97-AF65-F5344CB8AC3E}">
        <p14:creationId xmlns:p14="http://schemas.microsoft.com/office/powerpoint/2010/main" val="71646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6260CD24-E719-4030-B89D-250A580D6BCD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233" cy="641436"/>
          </a:xfrm>
          <a:prstGeom prst="rect">
            <a:avLst/>
          </a:prstGeom>
          <a:solidFill>
            <a:srgbClr val="2D9B7F"/>
          </a:solidFill>
          <a:ln w="0">
            <a:solidFill>
              <a:srgbClr val="1736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2A62C755-16CD-4B8A-8CA6-7B4E985CC943}"/>
              </a:ext>
            </a:extLst>
          </p:cNvPr>
          <p:cNvSpPr>
            <a:spLocks noGrp="1"/>
          </p:cNvSpPr>
          <p:nvPr/>
        </p:nvSpPr>
        <p:spPr>
          <a:xfrm>
            <a:off x="3926398" y="146673"/>
            <a:ext cx="4338761" cy="274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96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 SHARE MOMENTUM — FACEWASH &amp; SHAMPOO</a:t>
            </a: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E9E475D6-EB41-4235-90D8-2D4B345E2169}"/>
              </a:ext>
            </a:extLst>
          </p:cNvPr>
          <p:cNvSpPr>
            <a:spLocks noGrp="1"/>
          </p:cNvSpPr>
          <p:nvPr/>
        </p:nvSpPr>
        <p:spPr>
          <a:xfrm>
            <a:off x="3926398" y="440020"/>
            <a:ext cx="4094382" cy="1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26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MT = AI (U+R) MT | MAT Jun-26 | Leadership cut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9E1C2C5-D6A9-42D0-BA52-1515BD516DCC}"/>
              </a:ext>
            </a:extLst>
          </p:cNvPr>
          <p:cNvSpPr>
            <a:spLocks noGrp="1"/>
          </p:cNvSpPr>
          <p:nvPr/>
        </p:nvSpPr>
        <p:spPr>
          <a:xfrm>
            <a:off x="8069979" y="427778"/>
            <a:ext cx="256390" cy="146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r" defTabSz="586679">
              <a:tabLst>
                <a:tab pos="0" algn="l"/>
              </a:tabLst>
            </a:pPr>
            <a:r>
              <a:rPr sz="481" b="1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8DCF3F81-26C3-461C-BC5F-423092AAA19A}"/>
              </a:ext>
            </a:extLst>
          </p:cNvPr>
          <p:cNvSpPr>
            <a:spLocks noGrp="1"/>
          </p:cNvSpPr>
          <p:nvPr/>
        </p:nvSpPr>
        <p:spPr>
          <a:xfrm>
            <a:off x="3926398" y="770093"/>
            <a:ext cx="4338761" cy="3665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059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Mamaearth is gaining share in both categories, with current momentum materially ahead of the market.</a:t>
            </a:r>
          </a:p>
        </p:txBody>
      </p:sp>
      <p:sp>
        <p:nvSpPr>
          <p:cNvPr id="1055" name="Rectangle: Rounded Corners 1054">
            <a:extLst>
              <a:ext uri="{FF2B5EF4-FFF2-40B4-BE49-F238E27FC236}">
                <a16:creationId xmlns:a16="http://schemas.microsoft.com/office/drawing/2014/main" id="{4069E458-220C-4CD0-97B6-87DA156F5209}"/>
              </a:ext>
            </a:extLst>
          </p:cNvPr>
          <p:cNvSpPr>
            <a:spLocks noGrp="1"/>
          </p:cNvSpPr>
          <p:nvPr/>
        </p:nvSpPr>
        <p:spPr>
          <a:xfrm>
            <a:off x="3926398" y="1252845"/>
            <a:ext cx="2120412" cy="1833302"/>
          </a:xfrm>
          <a:prstGeom prst="roundRect">
            <a:avLst>
              <a:gd name="adj" fmla="val 2667"/>
            </a:avLst>
          </a:prstGeom>
          <a:solidFill>
            <a:srgbClr val="EAF2F8"/>
          </a:solidFill>
          <a:ln w="0">
            <a:solidFill>
              <a:srgbClr val="EAF2F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E998DF8-76EF-4616-89F5-C3B22FC8EE13}"/>
              </a:ext>
            </a:extLst>
          </p:cNvPr>
          <p:cNvSpPr>
            <a:spLocks noGrp="1"/>
          </p:cNvSpPr>
          <p:nvPr/>
        </p:nvSpPr>
        <p:spPr>
          <a:xfrm>
            <a:off x="4073072" y="1356787"/>
            <a:ext cx="1827065" cy="170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7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FACEWASH</a:t>
            </a: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BCB20EF5-53AF-479C-890C-0253A2EAAD5C}"/>
              </a:ext>
            </a:extLst>
          </p:cNvPr>
          <p:cNvSpPr>
            <a:spLocks noGrp="1"/>
          </p:cNvSpPr>
          <p:nvPr/>
        </p:nvSpPr>
        <p:spPr>
          <a:xfrm>
            <a:off x="4073072" y="1619413"/>
            <a:ext cx="885815" cy="3358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681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10.5%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F8F2E864-509D-4965-9C55-5B9B659671D4}"/>
              </a:ext>
            </a:extLst>
          </p:cNvPr>
          <p:cNvSpPr>
            <a:spLocks noGrp="1"/>
          </p:cNvSpPr>
          <p:nvPr/>
        </p:nvSpPr>
        <p:spPr>
          <a:xfrm>
            <a:off x="4965354" y="1698870"/>
            <a:ext cx="916536" cy="207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MAT value share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48967934-9B07-4A6C-9E5B-01873157B9E7}"/>
              </a:ext>
            </a:extLst>
          </p:cNvPr>
          <p:cNvSpPr>
            <a:spLocks noGrp="1"/>
          </p:cNvSpPr>
          <p:nvPr/>
        </p:nvSpPr>
        <p:spPr>
          <a:xfrm>
            <a:off x="4073072" y="2047422"/>
            <a:ext cx="885815" cy="274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96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+3.1 pp</a:t>
            </a:r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D00BD312-C3A4-4457-92C9-FFD1D3437B21}"/>
              </a:ext>
            </a:extLst>
          </p:cNvPr>
          <p:cNvSpPr>
            <a:spLocks noGrp="1"/>
          </p:cNvSpPr>
          <p:nvPr/>
        </p:nvSpPr>
        <p:spPr>
          <a:xfrm>
            <a:off x="4965354" y="2083917"/>
            <a:ext cx="916536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share gain</a:t>
            </a:r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6A4C8A23-6B57-46EB-A81B-1BB32AF491F3}"/>
              </a:ext>
            </a:extLst>
          </p:cNvPr>
          <p:cNvSpPr>
            <a:spLocks noGrp="1"/>
          </p:cNvSpPr>
          <p:nvPr/>
        </p:nvSpPr>
        <p:spPr>
          <a:xfrm>
            <a:off x="4073072" y="2413990"/>
            <a:ext cx="885815" cy="274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96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+58%</a:t>
            </a: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30E165C3-13E4-4EA7-8808-C31F5BDD993E}"/>
              </a:ext>
            </a:extLst>
          </p:cNvPr>
          <p:cNvSpPr>
            <a:spLocks noGrp="1"/>
          </p:cNvSpPr>
          <p:nvPr/>
        </p:nvSpPr>
        <p:spPr>
          <a:xfrm>
            <a:off x="4965354" y="2450716"/>
            <a:ext cx="916536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L3M YoY</a:t>
            </a:r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84DE4C7-223D-4C0E-B29B-CCE70A893CD6}"/>
              </a:ext>
            </a:extLst>
          </p:cNvPr>
          <p:cNvSpPr>
            <a:spLocks noGrp="1"/>
          </p:cNvSpPr>
          <p:nvPr/>
        </p:nvSpPr>
        <p:spPr>
          <a:xfrm>
            <a:off x="4073072" y="2768547"/>
            <a:ext cx="885815" cy="2136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059" b="1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89%</a:t>
            </a: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E78B24E9-9937-4BC8-A504-4B36784E0613}"/>
              </a:ext>
            </a:extLst>
          </p:cNvPr>
          <p:cNvSpPr>
            <a:spLocks noGrp="1"/>
          </p:cNvSpPr>
          <p:nvPr/>
        </p:nvSpPr>
        <p:spPr>
          <a:xfrm>
            <a:off x="4965354" y="2762310"/>
            <a:ext cx="916536" cy="2198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weighted distribution</a:t>
            </a: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13ECDAC1-DE0F-49F6-82F9-EDCD06B9D394}"/>
              </a:ext>
            </a:extLst>
          </p:cNvPr>
          <p:cNvSpPr>
            <a:spLocks noGrp="1"/>
          </p:cNvSpPr>
          <p:nvPr/>
        </p:nvSpPr>
        <p:spPr>
          <a:xfrm>
            <a:off x="6144978" y="1252845"/>
            <a:ext cx="2120412" cy="1833302"/>
          </a:xfrm>
          <a:prstGeom prst="roundRect">
            <a:avLst>
              <a:gd name="adj" fmla="val 2667"/>
            </a:avLst>
          </a:prstGeom>
          <a:solidFill>
            <a:srgbClr val="EAF2F8"/>
          </a:solidFill>
          <a:ln w="0">
            <a:solidFill>
              <a:srgbClr val="EAF2F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EC0DB1A8-591F-4E0C-9B65-1957E41A4BCA}"/>
              </a:ext>
            </a:extLst>
          </p:cNvPr>
          <p:cNvSpPr>
            <a:spLocks noGrp="1"/>
          </p:cNvSpPr>
          <p:nvPr/>
        </p:nvSpPr>
        <p:spPr>
          <a:xfrm>
            <a:off x="6291651" y="1356787"/>
            <a:ext cx="1827065" cy="1709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7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C1B59AEA-70B4-4FCE-A88D-D13A7D413254}"/>
              </a:ext>
            </a:extLst>
          </p:cNvPr>
          <p:cNvSpPr>
            <a:spLocks noGrp="1"/>
          </p:cNvSpPr>
          <p:nvPr/>
        </p:nvSpPr>
        <p:spPr>
          <a:xfrm>
            <a:off x="6291651" y="1619413"/>
            <a:ext cx="885815" cy="3358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681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3.7%</a:t>
            </a: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F0F39591-A22A-41E4-B752-F8913BB7208D}"/>
              </a:ext>
            </a:extLst>
          </p:cNvPr>
          <p:cNvSpPr>
            <a:spLocks noGrp="1"/>
          </p:cNvSpPr>
          <p:nvPr/>
        </p:nvSpPr>
        <p:spPr>
          <a:xfrm>
            <a:off x="7183933" y="1698870"/>
            <a:ext cx="916536" cy="207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MAT value share</a:t>
            </a: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D6860606-EAF9-4433-B727-3041D4352DA0}"/>
              </a:ext>
            </a:extLst>
          </p:cNvPr>
          <p:cNvSpPr>
            <a:spLocks noGrp="1"/>
          </p:cNvSpPr>
          <p:nvPr/>
        </p:nvSpPr>
        <p:spPr>
          <a:xfrm>
            <a:off x="6291651" y="2047422"/>
            <a:ext cx="885815" cy="274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96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+1.2 pp</a:t>
            </a: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4E1A2659-646B-48AA-91C8-A3E709AAFCEA}"/>
              </a:ext>
            </a:extLst>
          </p:cNvPr>
          <p:cNvSpPr>
            <a:spLocks noGrp="1"/>
          </p:cNvSpPr>
          <p:nvPr/>
        </p:nvSpPr>
        <p:spPr>
          <a:xfrm>
            <a:off x="7183933" y="2083917"/>
            <a:ext cx="916536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share gain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2BF360AC-07DD-4BF6-8958-97787F66C73A}"/>
              </a:ext>
            </a:extLst>
          </p:cNvPr>
          <p:cNvSpPr>
            <a:spLocks noGrp="1"/>
          </p:cNvSpPr>
          <p:nvPr/>
        </p:nvSpPr>
        <p:spPr>
          <a:xfrm>
            <a:off x="6291651" y="2413990"/>
            <a:ext cx="885815" cy="274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96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+80%</a:t>
            </a: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AC682FDD-9BD5-44DD-A381-0D9F50D0199F}"/>
              </a:ext>
            </a:extLst>
          </p:cNvPr>
          <p:cNvSpPr>
            <a:spLocks noGrp="1"/>
          </p:cNvSpPr>
          <p:nvPr/>
        </p:nvSpPr>
        <p:spPr>
          <a:xfrm>
            <a:off x="7183933" y="2450716"/>
            <a:ext cx="916536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L3M YoY</a:t>
            </a: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2C5223F5-D395-4C5B-998F-42CC27B5EE76}"/>
              </a:ext>
            </a:extLst>
          </p:cNvPr>
          <p:cNvSpPr>
            <a:spLocks noGrp="1"/>
          </p:cNvSpPr>
          <p:nvPr/>
        </p:nvSpPr>
        <p:spPr>
          <a:xfrm>
            <a:off x="6291651" y="2768547"/>
            <a:ext cx="885815" cy="2136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059" b="1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81.5%</a:t>
            </a: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CB55CFF8-F422-4AB2-A6AF-4895ECE2DE77}"/>
              </a:ext>
            </a:extLst>
          </p:cNvPr>
          <p:cNvSpPr>
            <a:spLocks noGrp="1"/>
          </p:cNvSpPr>
          <p:nvPr/>
        </p:nvSpPr>
        <p:spPr>
          <a:xfrm>
            <a:off x="7183933" y="2762310"/>
            <a:ext cx="916536" cy="2198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weighted distribution</a:t>
            </a: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7BBE41A4-42A6-4CDF-930A-E1CE9DF17ED7}"/>
              </a:ext>
            </a:extLst>
          </p:cNvPr>
          <p:cNvSpPr>
            <a:spLocks noGrp="1"/>
          </p:cNvSpPr>
          <p:nvPr/>
        </p:nvSpPr>
        <p:spPr>
          <a:xfrm>
            <a:off x="3926398" y="3330756"/>
            <a:ext cx="4338761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25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WHAT THE MARKET IS SAYING</a:t>
            </a:r>
          </a:p>
        </p:txBody>
      </p:sp>
      <p:sp>
        <p:nvSpPr>
          <p:cNvPr id="1076" name="Oval 1075">
            <a:extLst>
              <a:ext uri="{FF2B5EF4-FFF2-40B4-BE49-F238E27FC236}">
                <a16:creationId xmlns:a16="http://schemas.microsoft.com/office/drawing/2014/main" id="{21C80909-2344-412F-A045-E09436938D33}"/>
              </a:ext>
            </a:extLst>
          </p:cNvPr>
          <p:cNvSpPr>
            <a:spLocks noGrp="1"/>
          </p:cNvSpPr>
          <p:nvPr/>
        </p:nvSpPr>
        <p:spPr>
          <a:xfrm>
            <a:off x="3926398" y="3605625"/>
            <a:ext cx="268632" cy="268632"/>
          </a:xfrm>
          <a:prstGeom prst="ellipse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CFD05D69-0FEA-436F-9E83-675B333B663A}"/>
              </a:ext>
            </a:extLst>
          </p:cNvPr>
          <p:cNvSpPr>
            <a:spLocks noGrp="1"/>
          </p:cNvSpPr>
          <p:nvPr/>
        </p:nvSpPr>
        <p:spPr>
          <a:xfrm>
            <a:off x="3926398" y="3605625"/>
            <a:ext cx="268632" cy="2686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77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FA37B650-FCA8-42EF-9B80-CA5C08881DBC}"/>
              </a:ext>
            </a:extLst>
          </p:cNvPr>
          <p:cNvSpPr>
            <a:spLocks noGrp="1"/>
          </p:cNvSpPr>
          <p:nvPr/>
        </p:nvSpPr>
        <p:spPr>
          <a:xfrm>
            <a:off x="4305439" y="3605625"/>
            <a:ext cx="763626" cy="146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29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FACEWASH</a:t>
            </a: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AAC4AD18-28C5-4AFD-8349-163DF27DB270}"/>
              </a:ext>
            </a:extLst>
          </p:cNvPr>
          <p:cNvSpPr>
            <a:spLocks noGrp="1"/>
          </p:cNvSpPr>
          <p:nvPr/>
        </p:nvSpPr>
        <p:spPr>
          <a:xfrm>
            <a:off x="5075301" y="3593614"/>
            <a:ext cx="3189858" cy="31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Mamaearth is the fastest-growing large brand: +55% MAT and +58% L3M versus category +10% MAT.</a:t>
            </a:r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B7CD4790-2659-4033-A461-B9B89F7FC557}"/>
              </a:ext>
            </a:extLst>
          </p:cNvPr>
          <p:cNvSpPr>
            <a:spLocks noGrp="1"/>
          </p:cNvSpPr>
          <p:nvPr/>
        </p:nvSpPr>
        <p:spPr>
          <a:xfrm>
            <a:off x="3926398" y="4229044"/>
            <a:ext cx="268632" cy="268632"/>
          </a:xfrm>
          <a:prstGeom prst="ellipse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FEA180CC-09EE-42AC-AA6B-6602CD8C5890}"/>
              </a:ext>
            </a:extLst>
          </p:cNvPr>
          <p:cNvSpPr>
            <a:spLocks noGrp="1"/>
          </p:cNvSpPr>
          <p:nvPr/>
        </p:nvSpPr>
        <p:spPr>
          <a:xfrm>
            <a:off x="3926398" y="4229044"/>
            <a:ext cx="268632" cy="2686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77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AE4339FE-28F7-4CE5-A8E8-9ED9E2196896}"/>
              </a:ext>
            </a:extLst>
          </p:cNvPr>
          <p:cNvSpPr>
            <a:spLocks noGrp="1"/>
          </p:cNvSpPr>
          <p:nvPr/>
        </p:nvSpPr>
        <p:spPr>
          <a:xfrm>
            <a:off x="4305439" y="4229045"/>
            <a:ext cx="763626" cy="146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29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F7EE7799-D2E6-4D15-AE3C-325EC4189DD5}"/>
              </a:ext>
            </a:extLst>
          </p:cNvPr>
          <p:cNvSpPr>
            <a:spLocks noGrp="1"/>
          </p:cNvSpPr>
          <p:nvPr/>
        </p:nvSpPr>
        <p:spPr>
          <a:xfrm>
            <a:off x="5075301" y="4216802"/>
            <a:ext cx="3189858" cy="31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Mamaearth is scaling faster than every major brand: +48% MAT and +80% L3M; share reached 3.7%.</a:t>
            </a:r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DEAF1DB2-5D5A-41AF-9B9B-D6B8653AC5C0}"/>
              </a:ext>
            </a:extLst>
          </p:cNvPr>
          <p:cNvSpPr>
            <a:spLocks noGrp="1"/>
          </p:cNvSpPr>
          <p:nvPr/>
        </p:nvSpPr>
        <p:spPr>
          <a:xfrm>
            <a:off x="3926398" y="4852464"/>
            <a:ext cx="268632" cy="268632"/>
          </a:xfrm>
          <a:prstGeom prst="ellipse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C745F81F-926F-4140-8617-9D0DE6359D6C}"/>
              </a:ext>
            </a:extLst>
          </p:cNvPr>
          <p:cNvSpPr>
            <a:spLocks noGrp="1"/>
          </p:cNvSpPr>
          <p:nvPr/>
        </p:nvSpPr>
        <p:spPr>
          <a:xfrm>
            <a:off x="3926398" y="4852464"/>
            <a:ext cx="268632" cy="2686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77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7A30819D-59B7-4476-A5BE-5CAE6B8F6686}"/>
              </a:ext>
            </a:extLst>
          </p:cNvPr>
          <p:cNvSpPr>
            <a:spLocks noGrp="1"/>
          </p:cNvSpPr>
          <p:nvPr/>
        </p:nvSpPr>
        <p:spPr>
          <a:xfrm>
            <a:off x="4305439" y="4852464"/>
            <a:ext cx="763626" cy="146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29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VELOCITY</a:t>
            </a: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11602B57-42A7-4FC1-B537-0F87DF3FC707}"/>
              </a:ext>
            </a:extLst>
          </p:cNvPr>
          <p:cNvSpPr>
            <a:spLocks noGrp="1"/>
          </p:cNvSpPr>
          <p:nvPr/>
        </p:nvSpPr>
        <p:spPr>
          <a:xfrm>
            <a:off x="5075301" y="4840222"/>
            <a:ext cx="3189858" cy="31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The next leg must come from PDO and shelf productivity, not distribution alone; mature leaders already sit near full WD.</a:t>
            </a:r>
          </a:p>
        </p:txBody>
      </p:sp>
      <p:sp>
        <p:nvSpPr>
          <p:cNvPr id="1088" name="Oval 1087">
            <a:extLst>
              <a:ext uri="{FF2B5EF4-FFF2-40B4-BE49-F238E27FC236}">
                <a16:creationId xmlns:a16="http://schemas.microsoft.com/office/drawing/2014/main" id="{CF4B9826-9877-45BE-9948-92CC3DB48339}"/>
              </a:ext>
            </a:extLst>
          </p:cNvPr>
          <p:cNvSpPr>
            <a:spLocks noGrp="1"/>
          </p:cNvSpPr>
          <p:nvPr/>
        </p:nvSpPr>
        <p:spPr>
          <a:xfrm>
            <a:off x="3926398" y="5475884"/>
            <a:ext cx="268632" cy="268632"/>
          </a:xfrm>
          <a:prstGeom prst="ellipse">
            <a:avLst/>
          </a:prstGeom>
          <a:solidFill>
            <a:srgbClr val="ED7D31"/>
          </a:solidFill>
          <a:ln w="0">
            <a:solidFill>
              <a:srgbClr val="ED7D3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19B91C0B-6173-4B84-9904-977FBB69E038}"/>
              </a:ext>
            </a:extLst>
          </p:cNvPr>
          <p:cNvSpPr>
            <a:spLocks noGrp="1"/>
          </p:cNvSpPr>
          <p:nvPr/>
        </p:nvSpPr>
        <p:spPr>
          <a:xfrm>
            <a:off x="3926398" y="5475884"/>
            <a:ext cx="268632" cy="2686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ctr" defTabSz="586679">
              <a:tabLst>
                <a:tab pos="0" algn="l"/>
              </a:tabLst>
            </a:pPr>
            <a:r>
              <a:rPr sz="77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064CDD1A-335B-43F5-AF8E-F314B198F4B2}"/>
              </a:ext>
            </a:extLst>
          </p:cNvPr>
          <p:cNvSpPr>
            <a:spLocks noGrp="1"/>
          </p:cNvSpPr>
          <p:nvPr/>
        </p:nvSpPr>
        <p:spPr>
          <a:xfrm>
            <a:off x="4305439" y="5475884"/>
            <a:ext cx="763626" cy="146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29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WATCHLIST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F3165CE2-6707-4618-9AB5-DFD879152632}"/>
              </a:ext>
            </a:extLst>
          </p:cNvPr>
          <p:cNvSpPr>
            <a:spLocks noGrp="1"/>
          </p:cNvSpPr>
          <p:nvPr/>
        </p:nvSpPr>
        <p:spPr>
          <a:xfrm>
            <a:off x="5075301" y="5463642"/>
            <a:ext cx="3189858" cy="31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Ingredient-led challengers are expanding quickly. The Derma Co is still small in Facewash share but growing from a low base.</a:t>
            </a:r>
          </a:p>
        </p:txBody>
      </p:sp>
      <p:sp>
        <p:nvSpPr>
          <p:cNvPr id="1092" name="Rectangle: Rounded Corners 1091">
            <a:extLst>
              <a:ext uri="{FF2B5EF4-FFF2-40B4-BE49-F238E27FC236}">
                <a16:creationId xmlns:a16="http://schemas.microsoft.com/office/drawing/2014/main" id="{3FEE25CE-CBB7-4E28-AE16-1126A2B14A38}"/>
              </a:ext>
            </a:extLst>
          </p:cNvPr>
          <p:cNvSpPr>
            <a:spLocks noGrp="1"/>
          </p:cNvSpPr>
          <p:nvPr/>
        </p:nvSpPr>
        <p:spPr>
          <a:xfrm>
            <a:off x="3926398" y="6099072"/>
            <a:ext cx="4338761" cy="354326"/>
          </a:xfrm>
          <a:prstGeom prst="roundRect">
            <a:avLst>
              <a:gd name="adj" fmla="val 13793"/>
            </a:avLst>
          </a:prstGeom>
          <a:solidFill>
            <a:srgbClr val="FFF4EC"/>
          </a:solidFill>
          <a:ln w="0">
            <a:solidFill>
              <a:srgbClr val="FFF4E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10554A60-49A8-4C49-8E59-483D4C6AE30A}"/>
              </a:ext>
            </a:extLst>
          </p:cNvPr>
          <p:cNvSpPr>
            <a:spLocks noGrp="1"/>
          </p:cNvSpPr>
          <p:nvPr/>
        </p:nvSpPr>
        <p:spPr>
          <a:xfrm>
            <a:off x="4048588" y="6154277"/>
            <a:ext cx="4094382" cy="2441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Decision: keep MT investment growth-led, but track weekly WD + PDO + fill rate together so share gains translate into durable sales.</a:t>
            </a: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C1518ACF-5BC5-401D-81ED-1A0FBF24166A}"/>
              </a:ext>
            </a:extLst>
          </p:cNvPr>
          <p:cNvSpPr>
            <a:spLocks noGrp="1"/>
          </p:cNvSpPr>
          <p:nvPr/>
        </p:nvSpPr>
        <p:spPr>
          <a:xfrm>
            <a:off x="3926398" y="6612545"/>
            <a:ext cx="4338761" cy="1097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43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Source: MS insights.xlsx | MAT Jun-26 | External market sales; internal NSV shown separately elsewhere in this deck</a:t>
            </a:r>
          </a:p>
        </p:txBody>
      </p:sp>
    </p:spTree>
    <p:extLst>
      <p:ext uri="{BB962C8B-B14F-4D97-AF65-F5344CB8AC3E}">
        <p14:creationId xmlns:p14="http://schemas.microsoft.com/office/powerpoint/2010/main" val="110142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Rectangle 1094">
            <a:extLst>
              <a:ext uri="{FF2B5EF4-FFF2-40B4-BE49-F238E27FC236}">
                <a16:creationId xmlns:a16="http://schemas.microsoft.com/office/drawing/2014/main" id="{562374CF-52BB-405C-9BFE-E966C864C47E}"/>
              </a:ext>
            </a:extLst>
          </p:cNvPr>
          <p:cNvSpPr>
            <a:spLocks noGrp="1"/>
          </p:cNvSpPr>
          <p:nvPr/>
        </p:nvSpPr>
        <p:spPr>
          <a:xfrm>
            <a:off x="3669778" y="0"/>
            <a:ext cx="4852233" cy="641436"/>
          </a:xfrm>
          <a:prstGeom prst="rect">
            <a:avLst/>
          </a:prstGeom>
          <a:solidFill>
            <a:srgbClr val="2D9B7F"/>
          </a:solidFill>
          <a:ln w="0">
            <a:solidFill>
              <a:srgbClr val="1736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D4BDB2BF-E9C5-40D2-955E-B0C0B5ED386E}"/>
              </a:ext>
            </a:extLst>
          </p:cNvPr>
          <p:cNvSpPr>
            <a:spLocks noGrp="1"/>
          </p:cNvSpPr>
          <p:nvPr/>
        </p:nvSpPr>
        <p:spPr>
          <a:xfrm>
            <a:off x="3926398" y="146673"/>
            <a:ext cx="4338761" cy="274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96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TURN SHARE GAINS INTO REPEATABLE GROWTH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0924738-3EEF-4183-A050-835A74E6F6F3}"/>
              </a:ext>
            </a:extLst>
          </p:cNvPr>
          <p:cNvSpPr>
            <a:spLocks noGrp="1"/>
          </p:cNvSpPr>
          <p:nvPr/>
        </p:nvSpPr>
        <p:spPr>
          <a:xfrm>
            <a:off x="3926398" y="440020"/>
            <a:ext cx="4094382" cy="1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26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Four moves for Q2 FY27</a:t>
            </a: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D98762F4-C4DB-4C2C-BC9C-51C395E30BED}"/>
              </a:ext>
            </a:extLst>
          </p:cNvPr>
          <p:cNvSpPr>
            <a:spLocks noGrp="1"/>
          </p:cNvSpPr>
          <p:nvPr/>
        </p:nvSpPr>
        <p:spPr>
          <a:xfrm>
            <a:off x="8069979" y="427778"/>
            <a:ext cx="256390" cy="146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algn="r" defTabSz="586679">
              <a:tabLst>
                <a:tab pos="0" algn="l"/>
              </a:tabLst>
            </a:pPr>
            <a:r>
              <a:rPr sz="481" b="1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1A90FC57-D30E-46AF-913F-4B648223BFBD}"/>
              </a:ext>
            </a:extLst>
          </p:cNvPr>
          <p:cNvSpPr>
            <a:spLocks noGrp="1"/>
          </p:cNvSpPr>
          <p:nvPr/>
        </p:nvSpPr>
        <p:spPr>
          <a:xfrm>
            <a:off x="3926398" y="770093"/>
            <a:ext cx="4338761" cy="3420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059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The opportunity is clear. Execution now decides whether momentum compounds or fades.</a:t>
            </a:r>
          </a:p>
        </p:txBody>
      </p:sp>
      <p:sp>
        <p:nvSpPr>
          <p:cNvPr id="1100" name="Rectangle: Rounded Corners 1099">
            <a:extLst>
              <a:ext uri="{FF2B5EF4-FFF2-40B4-BE49-F238E27FC236}">
                <a16:creationId xmlns:a16="http://schemas.microsoft.com/office/drawing/2014/main" id="{B7AA4E02-E384-43E5-9120-61592AEF7490}"/>
              </a:ext>
            </a:extLst>
          </p:cNvPr>
          <p:cNvSpPr>
            <a:spLocks noGrp="1"/>
          </p:cNvSpPr>
          <p:nvPr/>
        </p:nvSpPr>
        <p:spPr>
          <a:xfrm>
            <a:off x="3926398" y="1283334"/>
            <a:ext cx="4338761" cy="1050967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0">
            <a:solidFill>
              <a:srgbClr val="F7FAF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D2300528-0DB1-4B4C-A4CA-471F36F21288}"/>
              </a:ext>
            </a:extLst>
          </p:cNvPr>
          <p:cNvSpPr>
            <a:spLocks noGrp="1"/>
          </p:cNvSpPr>
          <p:nvPr/>
        </p:nvSpPr>
        <p:spPr>
          <a:xfrm>
            <a:off x="3926398" y="1283334"/>
            <a:ext cx="48737" cy="1050967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BFA74C56-4A1B-4E66-982B-C7CBF0B739B7}"/>
              </a:ext>
            </a:extLst>
          </p:cNvPr>
          <p:cNvSpPr>
            <a:spLocks noGrp="1"/>
          </p:cNvSpPr>
          <p:nvPr/>
        </p:nvSpPr>
        <p:spPr>
          <a:xfrm>
            <a:off x="4085314" y="1454492"/>
            <a:ext cx="354326" cy="2563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00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BDCB2E62-0DC2-494C-BC1A-306447D27385}"/>
              </a:ext>
            </a:extLst>
          </p:cNvPr>
          <p:cNvSpPr>
            <a:spLocks noGrp="1"/>
          </p:cNvSpPr>
          <p:nvPr/>
        </p:nvSpPr>
        <p:spPr>
          <a:xfrm>
            <a:off x="4537576" y="1436244"/>
            <a:ext cx="3483205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7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PROTECT FACEWASH LEAD</a:t>
            </a:r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573E83C3-7D13-4A33-A5B7-C52F47BD0616}"/>
              </a:ext>
            </a:extLst>
          </p:cNvPr>
          <p:cNvSpPr>
            <a:spLocks noGrp="1"/>
          </p:cNvSpPr>
          <p:nvPr/>
        </p:nvSpPr>
        <p:spPr>
          <a:xfrm>
            <a:off x="4537576" y="1662375"/>
            <a:ext cx="3483205" cy="3785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Hold availability in 150ml and 100ml heroes; prioritise South accounts where category growth and Mamaearth momentum are strongest.</a:t>
            </a:r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8CAA225A-8DA3-4889-93F9-376E2E48924D}"/>
              </a:ext>
            </a:extLst>
          </p:cNvPr>
          <p:cNvSpPr>
            <a:spLocks noGrp="1"/>
          </p:cNvSpPr>
          <p:nvPr/>
        </p:nvSpPr>
        <p:spPr>
          <a:xfrm>
            <a:off x="4537576" y="2077912"/>
            <a:ext cx="3483205" cy="1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KPI: WD ≥90% | Fill rate ≥95%</a:t>
            </a: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6BFD5860-E0A9-48C3-A16F-D8D63851EE74}"/>
              </a:ext>
            </a:extLst>
          </p:cNvPr>
          <p:cNvSpPr>
            <a:spLocks noGrp="1"/>
          </p:cNvSpPr>
          <p:nvPr/>
        </p:nvSpPr>
        <p:spPr>
          <a:xfrm>
            <a:off x="3926398" y="2432237"/>
            <a:ext cx="4338761" cy="1050967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EBC38644-748B-4D7C-9E28-CCA88E18C791}"/>
              </a:ext>
            </a:extLst>
          </p:cNvPr>
          <p:cNvSpPr>
            <a:spLocks noGrp="1"/>
          </p:cNvSpPr>
          <p:nvPr/>
        </p:nvSpPr>
        <p:spPr>
          <a:xfrm>
            <a:off x="3926398" y="2432237"/>
            <a:ext cx="48737" cy="1050967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B3EBC146-9993-4ACA-A8A1-8A58D48DF5D9}"/>
              </a:ext>
            </a:extLst>
          </p:cNvPr>
          <p:cNvSpPr>
            <a:spLocks noGrp="1"/>
          </p:cNvSpPr>
          <p:nvPr/>
        </p:nvSpPr>
        <p:spPr>
          <a:xfrm>
            <a:off x="4085314" y="2603395"/>
            <a:ext cx="354326" cy="2563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00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B4F9F7FF-5ED1-47BF-BBA5-8F0CB0119C63}"/>
              </a:ext>
            </a:extLst>
          </p:cNvPr>
          <p:cNvSpPr>
            <a:spLocks noGrp="1"/>
          </p:cNvSpPr>
          <p:nvPr/>
        </p:nvSpPr>
        <p:spPr>
          <a:xfrm>
            <a:off x="4537576" y="2585147"/>
            <a:ext cx="3483205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7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SCALE SHAMPOO SMARTLY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7CA8E08B-9EB5-4F78-AACB-2A269C331B85}"/>
              </a:ext>
            </a:extLst>
          </p:cNvPr>
          <p:cNvSpPr>
            <a:spLocks noGrp="1"/>
          </p:cNvSpPr>
          <p:nvPr/>
        </p:nvSpPr>
        <p:spPr>
          <a:xfrm>
            <a:off x="4537576" y="2811279"/>
            <a:ext cx="3483205" cy="3785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Expand Rosemary as the scale lever while protecting Onion. Review pack mix to prevent volume growth from over-diluting realised price/ml.</a:t>
            </a:r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C0E6D78A-DAA6-4229-9A2C-F214405D06B1}"/>
              </a:ext>
            </a:extLst>
          </p:cNvPr>
          <p:cNvSpPr>
            <a:spLocks noGrp="1"/>
          </p:cNvSpPr>
          <p:nvPr/>
        </p:nvSpPr>
        <p:spPr>
          <a:xfrm>
            <a:off x="4537576" y="3226815"/>
            <a:ext cx="3483205" cy="1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KPI: Share &gt;4% | PDO growth &gt; category</a:t>
            </a:r>
          </a:p>
        </p:txBody>
      </p:sp>
      <p:sp>
        <p:nvSpPr>
          <p:cNvPr id="1112" name="Rectangle: Rounded Corners 1111">
            <a:extLst>
              <a:ext uri="{FF2B5EF4-FFF2-40B4-BE49-F238E27FC236}">
                <a16:creationId xmlns:a16="http://schemas.microsoft.com/office/drawing/2014/main" id="{0C6B0B2C-7B70-4DFA-B1EA-88445D692E4E}"/>
              </a:ext>
            </a:extLst>
          </p:cNvPr>
          <p:cNvSpPr>
            <a:spLocks noGrp="1"/>
          </p:cNvSpPr>
          <p:nvPr/>
        </p:nvSpPr>
        <p:spPr>
          <a:xfrm>
            <a:off x="3926398" y="3581372"/>
            <a:ext cx="4338761" cy="1050967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0">
            <a:solidFill>
              <a:srgbClr val="F7FAF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7A068472-2060-4348-9FBE-C3DCE2164F85}"/>
              </a:ext>
            </a:extLst>
          </p:cNvPr>
          <p:cNvSpPr>
            <a:spLocks noGrp="1"/>
          </p:cNvSpPr>
          <p:nvPr/>
        </p:nvSpPr>
        <p:spPr>
          <a:xfrm>
            <a:off x="3926398" y="3581372"/>
            <a:ext cx="48737" cy="1050967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3F4C6350-E61F-416B-8CC2-9310404D0FB5}"/>
              </a:ext>
            </a:extLst>
          </p:cNvPr>
          <p:cNvSpPr>
            <a:spLocks noGrp="1"/>
          </p:cNvSpPr>
          <p:nvPr/>
        </p:nvSpPr>
        <p:spPr>
          <a:xfrm>
            <a:off x="4085314" y="3752298"/>
            <a:ext cx="354326" cy="2563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00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CEEDB6CE-197B-46CC-AB01-8D42EA63296E}"/>
              </a:ext>
            </a:extLst>
          </p:cNvPr>
          <p:cNvSpPr>
            <a:spLocks noGrp="1"/>
          </p:cNvSpPr>
          <p:nvPr/>
        </p:nvSpPr>
        <p:spPr>
          <a:xfrm>
            <a:off x="4537576" y="3734050"/>
            <a:ext cx="3483205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7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WIN THE VELOCITY BATTLE</a:t>
            </a:r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C8D67F1A-9A7A-4102-9C7B-B3633C6CEF6D}"/>
              </a:ext>
            </a:extLst>
          </p:cNvPr>
          <p:cNvSpPr>
            <a:spLocks noGrp="1"/>
          </p:cNvSpPr>
          <p:nvPr/>
        </p:nvSpPr>
        <p:spPr>
          <a:xfrm>
            <a:off x="4537576" y="3960182"/>
            <a:ext cx="3483205" cy="3785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Rank chains by share opportunity using WD × PDO. Fix the largest high-distribution, low-velocity gaps before adding broad new listings.</a:t>
            </a:r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94935B7D-974F-4257-B97C-586F6D509096}"/>
              </a:ext>
            </a:extLst>
          </p:cNvPr>
          <p:cNvSpPr>
            <a:spLocks noGrp="1"/>
          </p:cNvSpPr>
          <p:nvPr/>
        </p:nvSpPr>
        <p:spPr>
          <a:xfrm>
            <a:off x="4537576" y="4375718"/>
            <a:ext cx="3483205" cy="1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 b="1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KPI: Top-10 gap closure weekly</a:t>
            </a:r>
          </a:p>
        </p:txBody>
      </p:sp>
      <p:sp>
        <p:nvSpPr>
          <p:cNvPr id="1118" name="Rectangle: Rounded Corners 1117">
            <a:extLst>
              <a:ext uri="{FF2B5EF4-FFF2-40B4-BE49-F238E27FC236}">
                <a16:creationId xmlns:a16="http://schemas.microsoft.com/office/drawing/2014/main" id="{BB3067D5-F543-4A06-A25C-BFE7081E09E4}"/>
              </a:ext>
            </a:extLst>
          </p:cNvPr>
          <p:cNvSpPr>
            <a:spLocks noGrp="1"/>
          </p:cNvSpPr>
          <p:nvPr/>
        </p:nvSpPr>
        <p:spPr>
          <a:xfrm>
            <a:off x="3926398" y="4730275"/>
            <a:ext cx="4338761" cy="1050967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63092DC9-BF55-4261-8C73-106064B0BBB8}"/>
              </a:ext>
            </a:extLst>
          </p:cNvPr>
          <p:cNvSpPr>
            <a:spLocks noGrp="1"/>
          </p:cNvSpPr>
          <p:nvPr/>
        </p:nvSpPr>
        <p:spPr>
          <a:xfrm>
            <a:off x="3926398" y="4730275"/>
            <a:ext cx="48737" cy="1050967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11012368-7C1A-4003-A449-3B0310FDCC77}"/>
              </a:ext>
            </a:extLst>
          </p:cNvPr>
          <p:cNvSpPr>
            <a:spLocks noGrp="1"/>
          </p:cNvSpPr>
          <p:nvPr/>
        </p:nvSpPr>
        <p:spPr>
          <a:xfrm>
            <a:off x="4085314" y="4901432"/>
            <a:ext cx="354326" cy="2563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1200" b="1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07A9DDB-49A2-49E3-B077-A743823415F0}"/>
              </a:ext>
            </a:extLst>
          </p:cNvPr>
          <p:cNvSpPr>
            <a:spLocks noGrp="1"/>
          </p:cNvSpPr>
          <p:nvPr/>
        </p:nvSpPr>
        <p:spPr>
          <a:xfrm>
            <a:off x="4537576" y="4882953"/>
            <a:ext cx="3483205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70" b="1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SEPARATE THE MEASUREMENT BASES</a:t>
            </a: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99EEE4D8-91D6-4D3E-BD15-889C478E2C53}"/>
              </a:ext>
            </a:extLst>
          </p:cNvPr>
          <p:cNvSpPr>
            <a:spLocks noGrp="1"/>
          </p:cNvSpPr>
          <p:nvPr/>
        </p:nvSpPr>
        <p:spPr>
          <a:xfrm>
            <a:off x="4537576" y="5109085"/>
            <a:ext cx="3483205" cy="3785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674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Use external market share for competitive health and internal NSV for business delivery. Do not compare them as the same sales base.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8AC10B-655C-4494-AFE0-759249D5BAEA}"/>
              </a:ext>
            </a:extLst>
          </p:cNvPr>
          <p:cNvSpPr>
            <a:spLocks noGrp="1"/>
          </p:cNvSpPr>
          <p:nvPr/>
        </p:nvSpPr>
        <p:spPr>
          <a:xfrm>
            <a:off x="4537576" y="5524621"/>
            <a:ext cx="3483205" cy="1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 b="1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KPI: One source label on every chart</a:t>
            </a:r>
          </a:p>
        </p:txBody>
      </p:sp>
      <p:sp>
        <p:nvSpPr>
          <p:cNvPr id="1124" name="Rectangle: Rounded Corners 1123">
            <a:extLst>
              <a:ext uri="{FF2B5EF4-FFF2-40B4-BE49-F238E27FC236}">
                <a16:creationId xmlns:a16="http://schemas.microsoft.com/office/drawing/2014/main" id="{3D0780C5-5B76-47D4-91EB-87489DFEC29C}"/>
              </a:ext>
            </a:extLst>
          </p:cNvPr>
          <p:cNvSpPr>
            <a:spLocks noGrp="1"/>
          </p:cNvSpPr>
          <p:nvPr/>
        </p:nvSpPr>
        <p:spPr>
          <a:xfrm>
            <a:off x="3926398" y="6001367"/>
            <a:ext cx="4338761" cy="464273"/>
          </a:xfrm>
          <a:prstGeom prst="roundRect">
            <a:avLst>
              <a:gd name="adj" fmla="val 10526"/>
            </a:avLst>
          </a:prstGeom>
          <a:solidFill>
            <a:srgbClr val="17365D"/>
          </a:solidFill>
          <a:ln w="0">
            <a:solidFill>
              <a:srgbClr val="1736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t">
            <a:noAutofit/>
          </a:bodyPr>
          <a:lstStyle/>
          <a:p>
            <a:endParaRPr sz="1155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CCA79C4D-A48C-4B7A-89A7-FCC7D527FDBB}"/>
              </a:ext>
            </a:extLst>
          </p:cNvPr>
          <p:cNvSpPr>
            <a:spLocks noGrp="1"/>
          </p:cNvSpPr>
          <p:nvPr/>
        </p:nvSpPr>
        <p:spPr>
          <a:xfrm>
            <a:off x="4048587" y="6068583"/>
            <a:ext cx="977515" cy="1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577" b="1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LEADERSHIP ASK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9A359D00-AA7C-41BE-8645-5EB26BB8F8C7}"/>
              </a:ext>
            </a:extLst>
          </p:cNvPr>
          <p:cNvSpPr>
            <a:spLocks noGrp="1"/>
          </p:cNvSpPr>
          <p:nvPr/>
        </p:nvSpPr>
        <p:spPr>
          <a:xfrm>
            <a:off x="4048588" y="6227498"/>
            <a:ext cx="4033403" cy="183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 chain-level WD × PDO review and monthly pack-mix governance for Facewash and Shampoo.</a:t>
            </a: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B361ED5C-C172-4AEF-BBD0-2568F6D663BE}"/>
              </a:ext>
            </a:extLst>
          </p:cNvPr>
          <p:cNvSpPr>
            <a:spLocks noGrp="1"/>
          </p:cNvSpPr>
          <p:nvPr/>
        </p:nvSpPr>
        <p:spPr>
          <a:xfrm>
            <a:off x="3926398" y="6612545"/>
            <a:ext cx="4338761" cy="1097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745" tIns="28873" rIns="57745" bIns="28873" anchor="ctr">
            <a:noAutofit/>
          </a:bodyPr>
          <a:lstStyle/>
          <a:p>
            <a:pPr defTabSz="586679">
              <a:tabLst>
                <a:tab pos="0" algn="l"/>
              </a:tabLst>
            </a:pPr>
            <a:r>
              <a:rPr sz="43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Source: MS insights.xlsx | MAT Jun-26 | External market sales; internal NSV shown separately elsewhere in this deck</a:t>
            </a:r>
          </a:p>
        </p:txBody>
      </p:sp>
    </p:spTree>
    <p:extLst>
      <p:ext uri="{BB962C8B-B14F-4D97-AF65-F5344CB8AC3E}">
        <p14:creationId xmlns:p14="http://schemas.microsoft.com/office/powerpoint/2010/main" val="123278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2007</Words>
  <Application>Microsoft Office PowerPoint</Application>
  <PresentationFormat>Widescreen</PresentationFormat>
  <Paragraphs>569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Sheshant  Singh Aswal</dc:creator>
  <cp:lastModifiedBy>Sheshant  Singh Aswal</cp:lastModifiedBy>
  <cp:revision>1</cp:revision>
  <dcterms:created xsi:type="dcterms:W3CDTF">2026-07-23T05:29:36Z</dcterms:created>
  <dcterms:modified xsi:type="dcterms:W3CDTF">2026-07-23T05:31:13Z</dcterms:modified>
</cp:coreProperties>
</file>