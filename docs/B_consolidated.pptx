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1B2A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Jun-25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22.71</c:v>
                </c:pt>
                <c:pt idx="1">
                  <c:v>27.61</c:v>
                </c:pt>
                <c:pt idx="2">
                  <c:v>32.340000000000003</c:v>
                </c:pt>
                <c:pt idx="3">
                  <c:v>35.89</c:v>
                </c:pt>
                <c:pt idx="4">
                  <c:v>40.26</c:v>
                </c:pt>
                <c:pt idx="5">
                  <c:v>38.24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A-4B3B-8ABB-A48B345BAD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3F-4E70-9F18-DA92513C8987}"/>
              </c:ext>
            </c:extLst>
          </c:dPt>
          <c:dPt>
            <c:idx val="1"/>
            <c:bubble3D val="0"/>
            <c:spPr>
              <a:solidFill>
                <a:srgbClr val="43A047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3F-4E70-9F18-DA92513C8987}"/>
              </c:ext>
            </c:extLst>
          </c:dPt>
          <c:dPt>
            <c:idx val="2"/>
            <c:bubble3D val="0"/>
            <c:spPr>
              <a:solidFill>
                <a:srgbClr val="81C78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3F-4E70-9F18-DA92513C8987}"/>
              </c:ext>
            </c:extLst>
          </c:dPt>
          <c:dPt>
            <c:idx val="3"/>
            <c:bubble3D val="0"/>
            <c:spPr>
              <a:solidFill>
                <a:srgbClr val="F5A623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973F-4E70-9F18-DA92513C8987}"/>
              </c:ext>
            </c:extLst>
          </c:dPt>
          <c:dPt>
            <c:idx val="4"/>
            <c:bubble3D val="0"/>
            <c:spPr>
              <a:solidFill>
                <a:srgbClr val="E8721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973F-4E70-9F18-DA92513C8987}"/>
              </c:ext>
            </c:extLst>
          </c:dPt>
          <c:dPt>
            <c:idx val="5"/>
            <c:bubble3D val="0"/>
            <c:spPr>
              <a:solidFill>
                <a:srgbClr val="B9C9B9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973F-4E70-9F18-DA92513C8987}"/>
              </c:ext>
            </c:extLst>
          </c:dPt>
          <c:cat>
            <c:strRef>
              <c:f>Sheet1!$A$2:$A$7</c:f>
              <c:strCache>
                <c:ptCount val="6"/>
                <c:pt idx="0">
                  <c:v>D-mart 38%</c:v>
                </c:pt>
                <c:pt idx="1">
                  <c:v>Reliance 25%</c:v>
                </c:pt>
                <c:pt idx="2">
                  <c:v>Apollo 19%</c:v>
                </c:pt>
                <c:pt idx="3">
                  <c:v>FSN 6%</c:v>
                </c:pt>
                <c:pt idx="4">
                  <c:v>Lulu 3%</c:v>
                </c:pt>
                <c:pt idx="5">
                  <c:v>Others 9%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38.1</c:v>
                </c:pt>
                <c:pt idx="1">
                  <c:v>24.8</c:v>
                </c:pt>
                <c:pt idx="2">
                  <c:v>18.899999999999999</c:v>
                </c:pt>
                <c:pt idx="3">
                  <c:v>5.7</c:v>
                </c:pt>
                <c:pt idx="4">
                  <c:v>3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73F-4E70-9F18-DA92513C89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B2A1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30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10896" y="822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" y="27432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Jun'26 &amp; Q1 FY27 — The Headline Story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00239" y="109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 |  Best-ever June  |  NSV ₹ Lacs · MT + EB2B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" y="1024128"/>
            <a:ext cx="1836877" cy="841248"/>
          </a:xfrm>
          <a:prstGeom prst="roundRect">
            <a:avLst>
              <a:gd name="adj" fmla="val 7609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6616" y="1133856"/>
            <a:ext cx="1745437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₹38.24 Cr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" y="1528877"/>
            <a:ext cx="1745437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NSV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57501" y="1024128"/>
            <a:ext cx="1836877" cy="841248"/>
          </a:xfrm>
          <a:prstGeom prst="roundRect">
            <a:avLst>
              <a:gd name="adj" fmla="val 7609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303221" y="1133856"/>
            <a:ext cx="1745437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68%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03221" y="1528877"/>
            <a:ext cx="1745437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GOLY (vs Jun'25)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4106" y="1024128"/>
            <a:ext cx="1836877" cy="841248"/>
          </a:xfrm>
          <a:prstGeom prst="roundRect">
            <a:avLst>
              <a:gd name="adj" fmla="val 7609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49826" y="1133856"/>
            <a:ext cx="1745437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5%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49826" y="1528877"/>
            <a:ext cx="1745437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(off May record)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50712" y="1024128"/>
            <a:ext cx="1836877" cy="841248"/>
          </a:xfrm>
          <a:prstGeom prst="roundRect">
            <a:avLst>
              <a:gd name="adj" fmla="val 7609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96432" y="1133856"/>
            <a:ext cx="1745437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₹36.16 Cr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6432" y="1528877"/>
            <a:ext cx="1745437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Avg  ·  GO +6%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97317" y="1024128"/>
            <a:ext cx="1836877" cy="841248"/>
          </a:xfrm>
          <a:prstGeom prst="roundRect">
            <a:avLst>
              <a:gd name="adj" fmla="val 7609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143037" y="1133856"/>
            <a:ext cx="1745437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+₹15.53 Cr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43037" y="1528877"/>
            <a:ext cx="1745437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NSV added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43922" y="1024128"/>
            <a:ext cx="1836877" cy="841248"/>
          </a:xfrm>
          <a:prstGeom prst="roundRect">
            <a:avLst>
              <a:gd name="adj" fmla="val 7609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089642" y="1133856"/>
            <a:ext cx="1745437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₹40.26 Cr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89642" y="1528877"/>
            <a:ext cx="1745437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— best month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" y="2057400"/>
            <a:ext cx="3246120" cy="37033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0624" y="2167128"/>
            <a:ext cx="3026664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Q1 FY27 SCORECARD (Apr–Jun'26)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2532888"/>
            <a:ext cx="1440180" cy="786384"/>
          </a:xfrm>
          <a:prstGeom prst="roundRect">
            <a:avLst>
              <a:gd name="adj" fmla="val 8140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" y="2642616"/>
            <a:ext cx="134874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₹114.39 Cr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4632" y="3004718"/>
            <a:ext cx="134874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NSV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88820" y="2532888"/>
            <a:ext cx="1440180" cy="786384"/>
          </a:xfrm>
          <a:prstGeom prst="roundRect">
            <a:avLst>
              <a:gd name="adj" fmla="val 8140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034540" y="2642616"/>
            <a:ext cx="134874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63.6%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034540" y="3004718"/>
            <a:ext cx="134874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Q1 FY26 ₹69.92 Cr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" y="342900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Q1 CAGR +44% — structural scale. Every zone grew ≥55%; South-1 led at ▲84%.</a:t>
            </a:r>
            <a:endParaRPr lang="en-US" sz="92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3904488"/>
          <a:ext cx="2999232" cy="1499616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Gr.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South-1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South-2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Pan-India FSN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6,992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11,439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3703320" y="2057400"/>
            <a:ext cx="3794760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3813048" y="2167128"/>
            <a:ext cx="3575304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MONTHLY NSV TREND (₹ Cr)</a:t>
            </a:r>
            <a:endParaRPr lang="en-US" sz="11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794760" y="2496312"/>
          <a:ext cx="36118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 35"/>
          <p:cNvSpPr/>
          <p:nvPr/>
        </p:nvSpPr>
        <p:spPr>
          <a:xfrm>
            <a:off x="3813048" y="393192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TOTAL-CHANNEL NSV by chain (₹ Lacs)</a:t>
            </a:r>
            <a:endParaRPr lang="en-US" sz="850" dirty="0"/>
          </a:p>
        </p:txBody>
      </p:sp>
      <p:graphicFrame>
        <p:nvGraphicFramePr>
          <p:cNvPr id="4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3048" y="4142232"/>
          <a:ext cx="3575304" cy="1426464"/>
        </p:xfrm>
        <a:graphic>
          <a:graphicData uri="http://schemas.openxmlformats.org/drawingml/2006/table">
            <a:tbl>
              <a:tblPr/>
              <a:tblGrid>
                <a:gridCol w="786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D-mart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▲70%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▲163%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▲169%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7644384" y="2057400"/>
            <a:ext cx="4236415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7754112" y="2167128"/>
            <a:ext cx="4016959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JUN'26 CHAIN MIX  &amp;  BRAND VIEW</a:t>
            </a:r>
            <a:endParaRPr lang="en-US" sz="1100" dirty="0"/>
          </a:p>
        </p:txBody>
      </p:sp>
      <p:graphicFrame>
        <p:nvGraphicFramePr>
          <p:cNvPr id="43" name="Chart 1"/>
          <p:cNvGraphicFramePr/>
          <p:nvPr/>
        </p:nvGraphicFramePr>
        <p:xfrm>
          <a:off x="7690104" y="2459736"/>
          <a:ext cx="4144975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 38"/>
          <p:cNvSpPr/>
          <p:nvPr/>
        </p:nvSpPr>
        <p:spPr>
          <a:xfrm>
            <a:off x="7754112" y="3904488"/>
            <a:ext cx="4016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chains = 81.8% of Jun'26 offtake</a:t>
            </a:r>
            <a:endParaRPr lang="en-US" sz="860" dirty="0"/>
          </a:p>
        </p:txBody>
      </p:sp>
      <p:sp>
        <p:nvSpPr>
          <p:cNvPr id="45" name="Text 39"/>
          <p:cNvSpPr/>
          <p:nvPr/>
        </p:nvSpPr>
        <p:spPr>
          <a:xfrm>
            <a:off x="7754112" y="4123944"/>
            <a:ext cx="4016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VIEW — Q1 FY27 (₹ Lacs)</a:t>
            </a:r>
            <a:endParaRPr lang="en-US" sz="85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54112" y="4325112"/>
          <a:ext cx="3547872" cy="1028700"/>
        </p:xfrm>
        <a:graphic>
          <a:graphicData uri="http://schemas.openxmlformats.org/drawingml/2006/table">
            <a:tbl>
              <a:tblPr/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Gr.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6,142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8,254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▲365%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Aqualogica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▼18%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Text 40"/>
          <p:cNvSpPr/>
          <p:nvPr/>
        </p:nvSpPr>
        <p:spPr>
          <a:xfrm>
            <a:off x="7754112" y="5422392"/>
            <a:ext cx="4016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= ₹29.5 Cr &amp; 66% of Q1 growth; Mamaearth holds 71.8% portfolio share.</a:t>
            </a:r>
            <a:endParaRPr lang="en-US" sz="820" dirty="0"/>
          </a:p>
        </p:txBody>
      </p:sp>
      <p:sp>
        <p:nvSpPr>
          <p:cNvPr id="48" name="Shape 41"/>
          <p:cNvSpPr/>
          <p:nvPr/>
        </p:nvSpPr>
        <p:spPr>
          <a:xfrm>
            <a:off x="310896" y="6291072"/>
            <a:ext cx="11569903" cy="457200"/>
          </a:xfrm>
          <a:prstGeom prst="roundRect">
            <a:avLst>
              <a:gd name="adj" fmla="val 12000"/>
            </a:avLst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2"/>
          <p:cNvSpPr/>
          <p:nvPr/>
        </p:nvSpPr>
        <p:spPr>
          <a:xfrm>
            <a:off x="384048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₹38.24 Cr · ▲68% YoY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3276524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₹114.39 Cr · ▲64%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3203372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5"/>
          <p:cNvSpPr/>
          <p:nvPr/>
        </p:nvSpPr>
        <p:spPr>
          <a:xfrm>
            <a:off x="6169000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 Co. ▲365%, 66% of growth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6095848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7"/>
          <p:cNvSpPr/>
          <p:nvPr/>
        </p:nvSpPr>
        <p:spPr>
          <a:xfrm>
            <a:off x="9061475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CNC billed nil in Jun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8988323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10896" y="822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" y="27432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Deep-Dive — East · North · South-1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00239" y="109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deep-dive  |  Jun'26 vs Jun'25 &amp; L3M  |  NSV ₹ Lacs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" y="1024128"/>
            <a:ext cx="3759098" cy="507492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02336" y="1115568"/>
            <a:ext cx="357621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" y="1115568"/>
            <a:ext cx="196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0445" y="1115568"/>
            <a:ext cx="17423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</a:t>
            </a: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▲72%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
</a:t>
            </a:r>
            <a:r>
              <a:rPr lang="en-US" sz="7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91819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
</a:t>
            </a: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▼7%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63013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avg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 (▲6%)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34208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1,173 ▲68%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0624" y="20848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 (Jun'26 · Cont% · GOLY)</a:t>
            </a:r>
            <a:endParaRPr lang="en-US" sz="76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2286000"/>
          <a:ext cx="3539642" cy="1074420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▲292%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Aqualogica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▼29%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20624" y="34564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MOMENTUM (Jun'26 NSV · GOLY)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420624" y="3639312"/>
            <a:ext cx="35396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MAM: FW 128 (▲96%) · Sun Care 110 (▲108%) · Shampoo 25 (▲58%).  TDC: FW 22 (▲633%) · Serum 14 (▲125%)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20624" y="4315968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  (Jun'26 · Cont% · GOLY)</a:t>
            </a:r>
            <a:endParaRPr lang="en-US" sz="76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4517136"/>
          <a:ext cx="3539642" cy="859536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▲131%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20624" y="5577840"/>
            <a:ext cx="3539642" cy="292608"/>
          </a:xfrm>
          <a:prstGeom prst="roundRect">
            <a:avLst>
              <a:gd name="adj" fmla="val 15625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93776" y="5577840"/>
            <a:ext cx="3448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</a:t>
            </a:r>
            <a:r>
              <a:rPr lang="en-US" sz="78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▲149%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May-26 · 415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4216298" y="1024128"/>
            <a:ext cx="3759098" cy="507492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4307738" y="1115568"/>
            <a:ext cx="357621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4399178" y="1115568"/>
            <a:ext cx="196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095848" y="1115568"/>
            <a:ext cx="17423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</a:t>
            </a: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▲72%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326026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
</a:t>
            </a:r>
            <a:r>
              <a:rPr lang="en-US" sz="7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5197221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
</a:t>
            </a: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▼8%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068416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avg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848 (▲1%)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6939610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2,641 ▲67%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326026" y="20848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 (Jun'26 · Cont% · GOLY)</a:t>
            </a:r>
            <a:endParaRPr lang="en-US" sz="760" dirty="0"/>
          </a:p>
        </p:txBody>
      </p:sp>
      <p:graphicFrame>
        <p:nvGraphicFramePr>
          <p:cNvPr id="3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26026" y="2286000"/>
          <a:ext cx="3539642" cy="1074420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▲519%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Aqualogica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 29"/>
          <p:cNvSpPr/>
          <p:nvPr/>
        </p:nvSpPr>
        <p:spPr>
          <a:xfrm>
            <a:off x="4326026" y="34564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MOMENTUM (Jun'26 NSV · GOLY)</a:t>
            </a:r>
            <a:endParaRPr lang="en-US" sz="760" dirty="0"/>
          </a:p>
        </p:txBody>
      </p:sp>
      <p:sp>
        <p:nvSpPr>
          <p:cNvPr id="35" name="Text 30"/>
          <p:cNvSpPr/>
          <p:nvPr/>
        </p:nvSpPr>
        <p:spPr>
          <a:xfrm>
            <a:off x="4326026" y="3639312"/>
            <a:ext cx="35396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 252 (▲32%) · Sun Care 182 (▲47%) · Shampoo 66 (▲78%) · TDC FW 135 (▲1400%)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4326026" y="4315968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  (Jun'26 · Cont% · GOLY)</a:t>
            </a:r>
            <a:endParaRPr lang="en-US" sz="76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26026" y="4517136"/>
          <a:ext cx="3539642" cy="859536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Dmart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▲161%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Shape 32"/>
          <p:cNvSpPr/>
          <p:nvPr/>
        </p:nvSpPr>
        <p:spPr>
          <a:xfrm>
            <a:off x="4326026" y="5577840"/>
            <a:ext cx="3539642" cy="292608"/>
          </a:xfrm>
          <a:prstGeom prst="roundRect">
            <a:avLst>
              <a:gd name="adj" fmla="val 15625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4399178" y="5577840"/>
            <a:ext cx="3448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</a:t>
            </a:r>
            <a:r>
              <a:rPr lang="en-US" sz="78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▲260%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May-26 · 936</a:t>
            </a:r>
            <a:endParaRPr lang="en-US" sz="730" dirty="0"/>
          </a:p>
        </p:txBody>
      </p:sp>
      <p:sp>
        <p:nvSpPr>
          <p:cNvPr id="40" name="Shape 34"/>
          <p:cNvSpPr/>
          <p:nvPr/>
        </p:nvSpPr>
        <p:spPr>
          <a:xfrm>
            <a:off x="8121701" y="1024128"/>
            <a:ext cx="3759098" cy="507492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5"/>
          <p:cNvSpPr/>
          <p:nvPr/>
        </p:nvSpPr>
        <p:spPr>
          <a:xfrm>
            <a:off x="8213141" y="1115568"/>
            <a:ext cx="357621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8304581" y="1115568"/>
            <a:ext cx="196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SOUTH-1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0001250" y="1115568"/>
            <a:ext cx="17423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827</a:t>
            </a: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▲82%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8231429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
</a:t>
            </a:r>
            <a:r>
              <a:rPr lang="en-US" sz="7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9102623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
</a:t>
            </a: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▼8%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9973818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avg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 (▲7%)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10845013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2,489 ▲84%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8231429" y="20848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 (Jun'26 · Cont% · GOLY)</a:t>
            </a:r>
            <a:endParaRPr lang="en-US" sz="760" dirty="0"/>
          </a:p>
        </p:txBody>
      </p:sp>
      <p:graphicFrame>
        <p:nvGraphicFramePr>
          <p:cNvPr id="49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429" y="2286000"/>
          <a:ext cx="3539642" cy="1074420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▲276%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Aqualogica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Text 43"/>
          <p:cNvSpPr/>
          <p:nvPr/>
        </p:nvSpPr>
        <p:spPr>
          <a:xfrm>
            <a:off x="8231429" y="34564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MOMENTUM (Jun'26 NSV · GOLY)</a:t>
            </a:r>
            <a:endParaRPr lang="en-US" sz="760" dirty="0"/>
          </a:p>
        </p:txBody>
      </p:sp>
      <p:sp>
        <p:nvSpPr>
          <p:cNvPr id="51" name="Text 44"/>
          <p:cNvSpPr/>
          <p:nvPr/>
        </p:nvSpPr>
        <p:spPr>
          <a:xfrm>
            <a:off x="8231429" y="3639312"/>
            <a:ext cx="35396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179 (▲130%) · FW 173 (▲41%) · Shampoo 53 (▲72%) · TDC FW 115 (▲721%)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8231429" y="4315968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  (Jun'26 · Cont% · GOLY)</a:t>
            </a:r>
            <a:endParaRPr lang="en-US" sz="760" dirty="0"/>
          </a:p>
        </p:txBody>
      </p:sp>
      <p:graphicFrame>
        <p:nvGraphicFramePr>
          <p:cNvPr id="5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429" y="4517136"/>
          <a:ext cx="3539642" cy="859536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▲183%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Dmart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Shape 46"/>
          <p:cNvSpPr/>
          <p:nvPr/>
        </p:nvSpPr>
        <p:spPr>
          <a:xfrm>
            <a:off x="8231429" y="5577840"/>
            <a:ext cx="3539642" cy="292608"/>
          </a:xfrm>
          <a:prstGeom prst="roundRect">
            <a:avLst>
              <a:gd name="adj" fmla="val 15625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47"/>
          <p:cNvSpPr/>
          <p:nvPr/>
        </p:nvSpPr>
        <p:spPr>
          <a:xfrm>
            <a:off x="8304581" y="5577840"/>
            <a:ext cx="3448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</a:t>
            </a:r>
            <a:r>
              <a:rPr lang="en-US" sz="78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▲183%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May-26 · 895</a:t>
            </a:r>
            <a:endParaRPr lang="en-US" sz="730" dirty="0"/>
          </a:p>
        </p:txBody>
      </p:sp>
      <p:sp>
        <p:nvSpPr>
          <p:cNvPr id="56" name="Shape 48"/>
          <p:cNvSpPr/>
          <p:nvPr/>
        </p:nvSpPr>
        <p:spPr>
          <a:xfrm>
            <a:off x="310896" y="6291072"/>
            <a:ext cx="11569903" cy="457200"/>
          </a:xfrm>
          <a:prstGeom prst="roundRect">
            <a:avLst>
              <a:gd name="adj" fmla="val 12000"/>
            </a:avLst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384048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₹8.6 Cr · Derma ▲519%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3276524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zone ▲84% Q1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3203372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2"/>
          <p:cNvSpPr/>
          <p:nvPr/>
        </p:nvSpPr>
        <p:spPr>
          <a:xfrm>
            <a:off x="6169000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but ▲68% Q1</a:t>
            </a:r>
            <a:endParaRPr lang="en-US" sz="1000" dirty="0"/>
          </a:p>
        </p:txBody>
      </p:sp>
      <p:sp>
        <p:nvSpPr>
          <p:cNvPr id="61" name="Shape 53"/>
          <p:cNvSpPr/>
          <p:nvPr/>
        </p:nvSpPr>
        <p:spPr>
          <a:xfrm>
            <a:off x="6095848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4"/>
          <p:cNvSpPr/>
          <p:nvPr/>
        </p:nvSpPr>
        <p:spPr>
          <a:xfrm>
            <a:off x="9061475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above last year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8988323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10896" y="822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" y="27432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Deep-Dive — South-2 · West · Pan-India (FSN)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00239" y="109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deep-dive  |  Jun'26 vs Jun'25 &amp; L3M  |  NSV ₹ Lacs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" y="1024128"/>
            <a:ext cx="3759098" cy="507492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02336" y="1115568"/>
            <a:ext cx="357621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" y="1115568"/>
            <a:ext cx="196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0445" y="1115568"/>
            <a:ext cx="17423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</a:t>
            </a: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▲64%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
</a:t>
            </a:r>
            <a:r>
              <a:rPr lang="en-US" sz="7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91819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
</a:t>
            </a: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▼1%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63013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avg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(▲13%)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34208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1,576 ▲65%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0624" y="20848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 (Jun'26 · Cont% · GOLY)</a:t>
            </a:r>
            <a:endParaRPr lang="en-US" sz="76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2286000"/>
          <a:ext cx="3539642" cy="1074420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▲391%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Aqualogica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20624" y="34564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MOMENTUM (Jun'26 NSV · GOLY)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420624" y="3639312"/>
            <a:ext cx="35396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159 (▲47%) · FW 130 (▲60%) · Shampoo 29 (▲93%) · TDC FaceSerum 66 (▲250%)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20624" y="4315968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  (Jun'26 · Cont% · GOLY)</a:t>
            </a:r>
            <a:endParaRPr lang="en-US" sz="76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4517136"/>
          <a:ext cx="3539642" cy="859536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Dmart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▲132%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20624" y="5577840"/>
            <a:ext cx="3539642" cy="292608"/>
          </a:xfrm>
          <a:prstGeom prst="roundRect">
            <a:avLst>
              <a:gd name="adj" fmla="val 15625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93776" y="5577840"/>
            <a:ext cx="3448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</a:t>
            </a:r>
            <a:r>
              <a:rPr lang="en-US" sz="78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▲132%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May-26 · 555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4216298" y="1024128"/>
            <a:ext cx="3759098" cy="507492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4307738" y="1115568"/>
            <a:ext cx="357621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4399178" y="1115568"/>
            <a:ext cx="196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095848" y="1115568"/>
            <a:ext cx="17423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</a:t>
            </a: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▲67%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326026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
</a:t>
            </a:r>
            <a:r>
              <a:rPr lang="en-US" sz="7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5197221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
</a:t>
            </a: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▼3%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068416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avg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938 (▲5%)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6939610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2,905 ▲55%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326026" y="20848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 (Jun'26 · Cont% · GOLY)</a:t>
            </a:r>
            <a:endParaRPr lang="en-US" sz="760" dirty="0"/>
          </a:p>
        </p:txBody>
      </p:sp>
      <p:graphicFrame>
        <p:nvGraphicFramePr>
          <p:cNvPr id="3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26026" y="2286000"/>
          <a:ext cx="3539642" cy="1074420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▲560%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Aqualogica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 29"/>
          <p:cNvSpPr/>
          <p:nvPr/>
        </p:nvSpPr>
        <p:spPr>
          <a:xfrm>
            <a:off x="4326026" y="34564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MOMENTUM (Jun'26 NSV · GOLY)</a:t>
            </a:r>
            <a:endParaRPr lang="en-US" sz="760" dirty="0"/>
          </a:p>
        </p:txBody>
      </p:sp>
      <p:sp>
        <p:nvSpPr>
          <p:cNvPr id="35" name="Text 30"/>
          <p:cNvSpPr/>
          <p:nvPr/>
        </p:nvSpPr>
        <p:spPr>
          <a:xfrm>
            <a:off x="4326026" y="3639312"/>
            <a:ext cx="35396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308 (▲19%) · FW 191 (▲44%) · Shampoo 51 (▲50%) · TDC FW 230 (▲1669%)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4326026" y="4315968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  (Jun'26 · Cont% · GOLY)</a:t>
            </a:r>
            <a:endParaRPr lang="en-US" sz="76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26026" y="4517136"/>
          <a:ext cx="3539642" cy="859536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Dmart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▲70%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▲187%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Shape 32"/>
          <p:cNvSpPr/>
          <p:nvPr/>
        </p:nvSpPr>
        <p:spPr>
          <a:xfrm>
            <a:off x="4326026" y="5577840"/>
            <a:ext cx="3539642" cy="292608"/>
          </a:xfrm>
          <a:prstGeom prst="roundRect">
            <a:avLst>
              <a:gd name="adj" fmla="val 15625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4399178" y="5577840"/>
            <a:ext cx="3448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</a:t>
            </a:r>
            <a:r>
              <a:rPr lang="en-US" sz="78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Cnc ▲199%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May-26 · 1,017</a:t>
            </a:r>
            <a:endParaRPr lang="en-US" sz="730" dirty="0"/>
          </a:p>
        </p:txBody>
      </p:sp>
      <p:sp>
        <p:nvSpPr>
          <p:cNvPr id="40" name="Shape 34"/>
          <p:cNvSpPr/>
          <p:nvPr/>
        </p:nvSpPr>
        <p:spPr>
          <a:xfrm>
            <a:off x="8121701" y="1024128"/>
            <a:ext cx="3759098" cy="507492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5"/>
          <p:cNvSpPr/>
          <p:nvPr/>
        </p:nvSpPr>
        <p:spPr>
          <a:xfrm>
            <a:off x="8213141" y="1115568"/>
            <a:ext cx="357621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8304581" y="1115568"/>
            <a:ext cx="196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PAN-INDIA (FSN)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0001250" y="1115568"/>
            <a:ext cx="17423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▲32%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8231429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
</a:t>
            </a:r>
            <a:r>
              <a:rPr lang="en-US" sz="7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9102623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▲4%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9973818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avg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 (▲7%)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10845013" y="1536192"/>
            <a:ext cx="8346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
</a:t>
            </a:r>
            <a:r>
              <a:rPr lang="en-US" sz="75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 ▲25%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8231429" y="20848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 (Jun'26 · Cont% · GOLY)</a:t>
            </a:r>
            <a:endParaRPr lang="en-US" sz="760" dirty="0"/>
          </a:p>
        </p:txBody>
      </p:sp>
      <p:graphicFrame>
        <p:nvGraphicFramePr>
          <p:cNvPr id="49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429" y="2286000"/>
          <a:ext cx="3539642" cy="1074420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▲75%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Aqualogica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▼40%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Text 43"/>
          <p:cNvSpPr/>
          <p:nvPr/>
        </p:nvSpPr>
        <p:spPr>
          <a:xfrm>
            <a:off x="8231429" y="345643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MOMENTUM (Jun'26 NSV · GOLY)</a:t>
            </a:r>
            <a:endParaRPr lang="en-US" sz="760" dirty="0"/>
          </a:p>
        </p:txBody>
      </p:sp>
      <p:sp>
        <p:nvSpPr>
          <p:cNvPr id="51" name="Text 44"/>
          <p:cNvSpPr/>
          <p:nvPr/>
        </p:nvSpPr>
        <p:spPr>
          <a:xfrm>
            <a:off x="8231429" y="3639312"/>
            <a:ext cx="35396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 108 (▲7%) · Shampoo 24 (▲46%) · Sun Care 16 (▲50%) · TDC FaceSerum 16 (▲433%)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8231429" y="4315968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  (Jun'26 · Cont% · GOLY)</a:t>
            </a:r>
            <a:endParaRPr lang="en-US" sz="760" dirty="0"/>
          </a:p>
        </p:txBody>
      </p:sp>
      <p:graphicFrame>
        <p:nvGraphicFramePr>
          <p:cNvPr id="5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429" y="4517136"/>
          <a:ext cx="3539642" cy="644652"/>
        </p:xfrm>
        <a:graphic>
          <a:graphicData uri="http://schemas.openxmlformats.org/drawingml/2006/table">
            <a:tbl>
              <a:tblPr/>
              <a:tblGrid>
                <a:gridCol w="155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Jun'26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FSN (Nykaa)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Shape 46"/>
          <p:cNvSpPr/>
          <p:nvPr/>
        </p:nvSpPr>
        <p:spPr>
          <a:xfrm>
            <a:off x="8231429" y="5577840"/>
            <a:ext cx="3539642" cy="292608"/>
          </a:xfrm>
          <a:prstGeom prst="roundRect">
            <a:avLst>
              <a:gd name="adj" fmla="val 15625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47"/>
          <p:cNvSpPr/>
          <p:nvPr/>
        </p:nvSpPr>
        <p:spPr>
          <a:xfrm>
            <a:off x="8304581" y="5577840"/>
            <a:ext cx="3448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</a:t>
            </a:r>
            <a:r>
              <a:rPr lang="en-US" sz="780" b="1" dirty="0">
                <a:solidFill>
                  <a:srgbClr val="1B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▲32%   </a:t>
            </a:r>
            <a:r>
              <a:rPr lang="en-US" sz="73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</a:t>
            </a:r>
            <a:r>
              <a:rPr lang="en-US" sz="78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Apr-26 · 229</a:t>
            </a:r>
            <a:endParaRPr lang="en-US" sz="730" dirty="0"/>
          </a:p>
        </p:txBody>
      </p:sp>
      <p:sp>
        <p:nvSpPr>
          <p:cNvPr id="56" name="Shape 48"/>
          <p:cNvSpPr/>
          <p:nvPr/>
        </p:nvSpPr>
        <p:spPr>
          <a:xfrm>
            <a:off x="310896" y="6291072"/>
            <a:ext cx="11569903" cy="457200"/>
          </a:xfrm>
          <a:prstGeom prst="roundRect">
            <a:avLst>
              <a:gd name="adj" fmla="val 12000"/>
            </a:avLst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384048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zone · 25.8% mix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3276524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vs L3M ▲13%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3203372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2"/>
          <p:cNvSpPr/>
          <p:nvPr/>
        </p:nvSpPr>
        <p:spPr>
          <a:xfrm>
            <a:off x="6169000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▲32% YoY but trails network</a:t>
            </a:r>
            <a:endParaRPr lang="en-US" sz="1000" dirty="0"/>
          </a:p>
        </p:txBody>
      </p:sp>
      <p:sp>
        <p:nvSpPr>
          <p:cNvPr id="61" name="Shape 53"/>
          <p:cNvSpPr/>
          <p:nvPr/>
        </p:nvSpPr>
        <p:spPr>
          <a:xfrm>
            <a:off x="6095848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4"/>
          <p:cNvSpPr/>
          <p:nvPr/>
        </p:nvSpPr>
        <p:spPr>
          <a:xfrm>
            <a:off x="9061475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needs assortment + promo refresh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8988323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10896" y="822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" y="27432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Share Momentum — Facewash &amp; Shampoo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00239" y="109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MAT Jun'26  |  External market share (AC Nielsen basis)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" y="1024128"/>
            <a:ext cx="2810180" cy="786384"/>
          </a:xfrm>
          <a:prstGeom prst="roundRect">
            <a:avLst>
              <a:gd name="adj" fmla="val 8140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6616" y="1133856"/>
            <a:ext cx="271874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" y="1495958"/>
            <a:ext cx="271874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share  (+3.1pp)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30804" y="1024128"/>
            <a:ext cx="2810180" cy="786384"/>
          </a:xfrm>
          <a:prstGeom prst="roundRect">
            <a:avLst>
              <a:gd name="adj" fmla="val 8140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76524" y="1133856"/>
            <a:ext cx="271874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76524" y="1495958"/>
            <a:ext cx="271874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share  (+1.2pp)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50712" y="1024128"/>
            <a:ext cx="2810180" cy="786384"/>
          </a:xfrm>
          <a:prstGeom prst="roundRect">
            <a:avLst>
              <a:gd name="adj" fmla="val 8140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96432" y="1133856"/>
            <a:ext cx="271874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6432" y="1495958"/>
            <a:ext cx="271874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WD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0619" y="1024128"/>
            <a:ext cx="2810180" cy="786384"/>
          </a:xfrm>
          <a:prstGeom prst="roundRect">
            <a:avLst>
              <a:gd name="adj" fmla="val 8140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16339" y="1133856"/>
            <a:ext cx="2718740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16339" y="1495958"/>
            <a:ext cx="271874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WD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" y="1993392"/>
            <a:ext cx="375909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0624" y="2103120"/>
            <a:ext cx="3539642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FACEWASH LEADERBOARD (MAT share)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2450592"/>
          <a:ext cx="3539642" cy="1728216"/>
        </p:xfrm>
        <a:graphic>
          <a:graphicData uri="http://schemas.openxmlformats.org/drawingml/2006/table">
            <a:tbl>
              <a:tblPr/>
              <a:tblGrid>
                <a:gridCol w="141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 YoY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Himalaya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Garnier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▲8.4%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Pond's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▲3.7%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▲55.2%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&amp; Clear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▲12.8%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Derma Co.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▲3107%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216298" y="1993392"/>
            <a:ext cx="375909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26026" y="2103120"/>
            <a:ext cx="3539642" cy="274320"/>
          </a:xfrm>
          <a:prstGeom prst="rect">
            <a:avLst/>
          </a:prstGeom>
          <a:solidFill>
            <a:srgbClr val="43A047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SHAMPOO LEADERBOARD (MAT share)</a:t>
            </a:r>
            <a:endParaRPr lang="en-US" sz="110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26026" y="2450592"/>
          <a:ext cx="3539642" cy="1728216"/>
        </p:xfrm>
        <a:graphic>
          <a:graphicData uri="http://schemas.openxmlformats.org/drawingml/2006/table">
            <a:tbl>
              <a:tblPr/>
              <a:tblGrid>
                <a:gridCol w="1415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 YoY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▼4.8%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&amp; Sh.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▼4.7%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Paris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▲22.6%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Sunsilk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▼12.6%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Plus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Mamaearth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▲48.5%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8121701" y="1993392"/>
            <a:ext cx="375909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8231429" y="2103120"/>
            <a:ext cx="3539642" cy="274320"/>
          </a:xfrm>
          <a:prstGeom prst="rect">
            <a:avLst/>
          </a:prstGeom>
          <a:solidFill>
            <a:srgbClr val="E8721C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CATEGORY SCORECARD  &amp;  PACK DEMAND</a:t>
            </a:r>
            <a:endParaRPr lang="en-US" sz="1100" dirty="0"/>
          </a:p>
        </p:txBody>
      </p:sp>
      <p:graphicFrame>
        <p:nvGraphicFramePr>
          <p:cNvPr id="3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429" y="2450592"/>
          <a:ext cx="3539643" cy="896112"/>
        </p:xfrm>
        <a:graphic>
          <a:graphicData uri="http://schemas.openxmlformats.org/drawingml/2006/table">
            <a:tbl>
              <a:tblPr/>
              <a:tblGrid>
                <a:gridCol w="148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/ Cat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YoY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 sh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 / Facewash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₹9.5Cr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TDC / Facewash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▲1957%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 / Shampoo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₹6.2Cr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▲94%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8231429" y="3410712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PACK DEMAND (Jun value · share)</a:t>
            </a:r>
            <a:endParaRPr lang="en-US" sz="8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1429" y="3584448"/>
          <a:ext cx="3539642" cy="731520"/>
        </p:xfrm>
        <a:graphic>
          <a:graphicData uri="http://schemas.openxmlformats.org/drawingml/2006/table">
            <a:tbl>
              <a:tblPr/>
              <a:tblGrid>
                <a:gridCol w="77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650ml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₹41.4Cr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pool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180ml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₹22.2Cr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Mainstream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340ml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₹22.2Cr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Mainstream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1000ml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₹20.1Cr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pack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hape 25"/>
          <p:cNvSpPr/>
          <p:nvPr/>
        </p:nvSpPr>
        <p:spPr>
          <a:xfrm>
            <a:off x="310896" y="4224528"/>
            <a:ext cx="57118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420624" y="4334256"/>
            <a:ext cx="5492344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CHANGED vs LAST YEAR</a:t>
            </a:r>
            <a:endParaRPr lang="en-US" sz="1100" dirty="0"/>
          </a:p>
        </p:txBody>
      </p:sp>
      <p:graphicFrame>
        <p:nvGraphicFramePr>
          <p:cNvPr id="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4681728"/>
          <a:ext cx="5349240" cy="10058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acceleration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 +10% L3M; SH +15.6%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categories accelerating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Facewash share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+3.1pp; WD 89%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availability as reach scales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Shampoo scales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+94%; MAT +48%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distribution before spend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 Co. watch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 share; WD 27.3%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chain stock &amp; phasing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Shape 27"/>
          <p:cNvSpPr/>
          <p:nvPr/>
        </p:nvSpPr>
        <p:spPr>
          <a:xfrm>
            <a:off x="6169000" y="4224528"/>
            <a:ext cx="57118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6278728" y="4334256"/>
            <a:ext cx="5492344" cy="274320"/>
          </a:xfrm>
          <a:prstGeom prst="rect">
            <a:avLst/>
          </a:prstGeom>
          <a:solidFill>
            <a:srgbClr val="E8721C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EXECUTION PRIORITIES (gap → move)</a:t>
            </a:r>
            <a:endParaRPr lang="en-US" sz="1100" dirty="0"/>
          </a:p>
        </p:txBody>
      </p:sp>
      <p:graphicFrame>
        <p:nvGraphicFramePr>
          <p:cNvPr id="2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4681728"/>
          <a:ext cx="5349240" cy="1005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WD 81.5%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high-velocity gaps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+15%; value +81%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fill-rate ≥95%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range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650/180/340/1000 lead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listings by chain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PDO +57% L3M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shelf depth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Shape 29"/>
          <p:cNvSpPr/>
          <p:nvPr/>
        </p:nvSpPr>
        <p:spPr>
          <a:xfrm>
            <a:off x="310896" y="6291072"/>
            <a:ext cx="11569903" cy="457200"/>
          </a:xfrm>
          <a:prstGeom prst="roundRect">
            <a:avLst>
              <a:gd name="adj" fmla="val 12000"/>
            </a:avLst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384048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 share · +3.1pp · +58% L3M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3276524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 share · scaling +80% L3M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203372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6169000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FW flywheel; scale SH where proven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095848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9061475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Fill-rate ≥95% before more visibility spend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8988323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10896" y="822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" y="27432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Sell-Out, Execution &amp; The Q2 FY27 Plan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00239" y="109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 |  Q1 FY27  |  26-chain matched universe  |  ₹ Lacs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" y="1024128"/>
            <a:ext cx="2810180" cy="749808"/>
          </a:xfrm>
          <a:prstGeom prst="roundRect">
            <a:avLst>
              <a:gd name="adj" fmla="val 8537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6616" y="1133856"/>
            <a:ext cx="27187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₹13,625L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" y="1474013"/>
            <a:ext cx="27187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Primary (billed-in)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30804" y="1024128"/>
            <a:ext cx="2810180" cy="749808"/>
          </a:xfrm>
          <a:prstGeom prst="roundRect">
            <a:avLst>
              <a:gd name="adj" fmla="val 8537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76524" y="1133856"/>
            <a:ext cx="27187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₹11,436L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76524" y="1474013"/>
            <a:ext cx="27187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Offtake (sold-out)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50712" y="1024128"/>
            <a:ext cx="2810180" cy="749808"/>
          </a:xfrm>
          <a:prstGeom prst="roundRect">
            <a:avLst>
              <a:gd name="adj" fmla="val 8537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96432" y="1133856"/>
            <a:ext cx="27187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83.9%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6432" y="1474013"/>
            <a:ext cx="27187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Sell-Out 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0619" y="1024128"/>
            <a:ext cx="2810180" cy="749808"/>
          </a:xfrm>
          <a:prstGeom prst="roundRect">
            <a:avLst>
              <a:gd name="adj" fmla="val 8537"/>
            </a:avLst>
          </a:prstGeom>
          <a:solidFill>
            <a:srgbClr val="EAF3EA"/>
          </a:solidFill>
          <a:ln w="12700">
            <a:solidFill>
              <a:srgbClr val="D2E3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16339" y="1133856"/>
            <a:ext cx="27187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₹2,188L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16339" y="1474013"/>
            <a:ext cx="27187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Billed-not-sold gap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" y="1920240"/>
            <a:ext cx="411480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0624" y="2029968"/>
            <a:ext cx="3895344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CHAIN-LEVEL SELL-OUT (Q1 FY27)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2377440"/>
          <a:ext cx="3895343" cy="1536192"/>
        </p:xfrm>
        <a:graphic>
          <a:graphicData uri="http://schemas.openxmlformats.org/drawingml/2006/table">
            <a:tbl>
              <a:tblPr/>
              <a:tblGrid>
                <a:gridCol w="856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0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Offtake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Sell-Out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D-mart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4,232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 KAM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7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Healthiest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build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H&amp;G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Cnc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E87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E872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OOS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0" y="1920240"/>
            <a:ext cx="324612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681728" y="2029968"/>
            <a:ext cx="3026664" cy="274320"/>
          </a:xfrm>
          <a:prstGeom prst="rect">
            <a:avLst/>
          </a:prstGeom>
          <a:solidFill>
            <a:srgbClr val="E8721C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SITUATION · COMPLICATION · RESOLUTION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00016" y="2377440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</a:t>
            </a:r>
            <a:r>
              <a:rPr lang="en-US" sz="82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sell-out 83.9%; Dmart 77% is the weakest large KAM.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4700016" y="3017520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 </a:t>
            </a:r>
            <a:r>
              <a:rPr lang="en-US" sz="82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₹2,188L billed-not-sold — trade inventory building faster than consumer offtake; Dmart &amp; Lulu carry stock, near-expiry claim risk.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4700016" y="3657600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 </a:t>
            </a:r>
            <a:r>
              <a:rPr lang="en-US" sz="82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Q2 primary pace; freeze incremental Dmart/Lulu orders; secure urgent PO for Metro Cnc; prioritise sell-out schemes.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7964424" y="1920240"/>
            <a:ext cx="3916375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8074152" y="2029968"/>
            <a:ext cx="3696919" cy="274320"/>
          </a:xfrm>
          <a:prstGeom prst="rect">
            <a:avLst/>
          </a:prstGeom>
          <a:solidFill>
            <a:srgbClr val="43A047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FIELD EXECUTION PROOF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110728" y="2377440"/>
            <a:ext cx="364205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· Hyderabad (S-1) — Endcap / Bin-Tower, Sun Care BOGO strip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· Hyderabad (S-1) — Eye-level shelf block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· Hyderabad (S-1) — 'Merawala Combo' Buy-4-Get-1 endcap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 · Bengaluru (S-2) — BOGO bin; Derma HA sunscreen (geo-tagged 4-Jun)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region &amp; ROM (West) — May'26 execution captures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/ SIS Delhi-NCR — SIS execution snapshot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SOS/SOA — 'Sumo Save' Honasa portfolio visibility displays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10896" y="4498848"/>
            <a:ext cx="57118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20624" y="4608576"/>
            <a:ext cx="5492344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90-DAY ACTION PLAN — OWNERS &amp; TIMING</a:t>
            </a:r>
            <a:endParaRPr lang="en-US" sz="11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4956048"/>
          <a:ext cx="5540446" cy="982980"/>
        </p:xfrm>
        <a:graphic>
          <a:graphicData uri="http://schemas.openxmlformats.org/drawingml/2006/table">
            <a:tbl>
              <a:tblPr/>
              <a:tblGrid>
                <a:gridCol w="1942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target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shampoo WD gaps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 → 90%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NKAM/Sales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Sep'26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SH pack range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650/180/340/1000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RKAM/Cat.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Sep'26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MT availability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Fill-rate ≥95%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NKAM/Supply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TDC softness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stock/phasing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Anlytx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1B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Aug'26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E3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169000" y="4498848"/>
            <a:ext cx="57118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2E3D2"/>
            </a:solidFill>
            <a:prstDash val="solid"/>
          </a:ln>
          <a:effectLst>
            <a:outerShdw blurRad="50800" dist="25400" dir="5400000" algn="bl" rotWithShape="0">
              <a:srgbClr val="9AB59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278728" y="4608576"/>
            <a:ext cx="5492344" cy="274320"/>
          </a:xfrm>
          <a:prstGeom prst="rect">
            <a:avLst/>
          </a:prstGeom>
          <a:solidFill>
            <a:srgbClr val="E8721C"/>
          </a:solidFill>
          <a:ln/>
        </p:spPr>
        <p:txBody>
          <a:bodyPr wrap="square" lIns="0" tIns="1270" rIns="127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FOUR MOVES FOR Q2 FY27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297016" y="4956048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Protect facewash lead  </a:t>
            </a:r>
            <a:r>
              <a:rPr lang="en-US" sz="77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150ml/100ml heroes; prioritise South.  WD ≥90% · Fill ≥95%</a:t>
            </a:r>
            <a:endParaRPr lang="en-US" sz="820" dirty="0"/>
          </a:p>
        </p:txBody>
      </p:sp>
      <p:sp>
        <p:nvSpPr>
          <p:cNvPr id="37" name="Text 33"/>
          <p:cNvSpPr/>
          <p:nvPr/>
        </p:nvSpPr>
        <p:spPr>
          <a:xfrm>
            <a:off x="6297016" y="5189220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Scale shampoo smartly  </a:t>
            </a:r>
            <a:r>
              <a:rPr lang="en-US" sz="77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Rosemary as scale lever, protect Onion; guard price/ml.  Share &gt;4%</a:t>
            </a:r>
            <a:endParaRPr lang="en-US" sz="820" dirty="0"/>
          </a:p>
        </p:txBody>
      </p:sp>
      <p:sp>
        <p:nvSpPr>
          <p:cNvPr id="38" name="Text 34"/>
          <p:cNvSpPr/>
          <p:nvPr/>
        </p:nvSpPr>
        <p:spPr>
          <a:xfrm>
            <a:off x="6297016" y="5422392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Win the velocity battle  </a:t>
            </a:r>
            <a:r>
              <a:rPr lang="en-US" sz="77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chains by WD×PDO; fix high-dist/low-velocity gaps first</a:t>
            </a:r>
            <a:endParaRPr lang="en-US" sz="820" dirty="0"/>
          </a:p>
        </p:txBody>
      </p:sp>
      <p:sp>
        <p:nvSpPr>
          <p:cNvPr id="39" name="Text 35"/>
          <p:cNvSpPr/>
          <p:nvPr/>
        </p:nvSpPr>
        <p:spPr>
          <a:xfrm>
            <a:off x="6297016" y="5655564"/>
            <a:ext cx="545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Separate measurement bases  </a:t>
            </a:r>
            <a:r>
              <a:rPr lang="en-US" sz="77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share = competition; internal NSV = delivery. Label sources</a:t>
            </a:r>
            <a:endParaRPr lang="en-US" sz="820" dirty="0"/>
          </a:p>
        </p:txBody>
      </p:sp>
      <p:sp>
        <p:nvSpPr>
          <p:cNvPr id="40" name="Shape 36"/>
          <p:cNvSpPr/>
          <p:nvPr/>
        </p:nvSpPr>
        <p:spPr>
          <a:xfrm>
            <a:off x="310896" y="6291072"/>
            <a:ext cx="11569903" cy="457200"/>
          </a:xfrm>
          <a:prstGeom prst="roundRect">
            <a:avLst>
              <a:gd name="adj" fmla="val 12000"/>
            </a:avLst>
          </a:prstGeom>
          <a:solidFill>
            <a:srgbClr val="1440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384048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SELL-OUT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 · ₹2,188L billed-not-sold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3276524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Q2 primary; freeze Dmart/Lulu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3203372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6169000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RISK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Cnc 152% — urgent PO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6095848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9061475" y="6318504"/>
            <a:ext cx="27461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  </a:t>
            </a:r>
            <a:r>
              <a:rPr lang="en-US" sz="900" dirty="0">
                <a:solidFill>
                  <a:srgbClr val="EA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WD×PDO review + pack governance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8988323" y="6364224"/>
            <a:ext cx="0" cy="310896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2281</Words>
  <Application>Microsoft Office PowerPoint</Application>
  <PresentationFormat>Widescreen</PresentationFormat>
  <Paragraphs>673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Sheshant  Singh Aswal</cp:lastModifiedBy>
  <cp:revision>1</cp:revision>
  <dcterms:created xsi:type="dcterms:W3CDTF">2026-07-30T06:27:47Z</dcterms:created>
  <dcterms:modified xsi:type="dcterms:W3CDTF">2026-07-30T07:27:12Z</dcterms:modified>
</cp:coreProperties>
</file>