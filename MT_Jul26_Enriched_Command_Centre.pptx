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s/slide26.xml" ContentType="application/vnd.openxmlformats-officedocument.presentationml.slide+xml"/>
  <Override PartName="/ppt/charts/chart35.xml" ContentType="application/vnd.openxmlformats-officedocument.drawingml.chart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  <p:sldId id="281" r:id="rId32"/>
    <p:sldId id="282" r:id="rId33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  <Relationship Id="rId32" Type="http://schemas.openxmlformats.org/officeDocument/2006/relationships/slide" Target="slides/slide26.xml"/>
  <Relationship Id="rId33" Type="http://schemas.openxmlformats.org/officeDocument/2006/relationships/slide" Target="slides/slide27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
<Relationships xmlns="http://schemas.openxmlformats.org/package/2006/relationships"/>

</file>

<file path=ppt/charts/_rels/chart32.xml.rels><?xml version="1.0" encoding="UTF-8" standalone="yes"?>
<Relationships xmlns="http://schemas.openxmlformats.org/package/2006/relationships"/>

</file>

<file path=ppt/charts/_rels/chart33.xml.rels><?xml version="1.0" encoding="UTF-8" standalone="yes"?>
<Relationships xmlns="http://schemas.openxmlformats.org/package/2006/relationships"/>

</file>

<file path=ppt/charts/_rels/chart34.xml.rels><?xml version="1.0" encoding="UTF-8" standalone="yes"?>
<Relationships xmlns="http://schemas.openxmlformats.org/package/2006/relationships"/>

</file>

<file path=ppt/charts/_rels/chart35.xml.rels><?xml version="1.0" encoding="UTF-8" standalone="yes"?>
<Relationships xmlns="http://schemas.openxmlformats.org/package/2006/relationships"/>

</file>

<file path=ppt/charts/_rels/chart36.xml.rels><?xml version="1.0" encoding="UTF-8" standalone="yes"?>
<Relationships xmlns="http://schemas.openxmlformats.org/package/2006/relationships"/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1ED8C7-3132-4FB6-8450-13F504C9AD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DB34D3E-D190-4FF3-A4B9-CDDFF653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CD28AA4-2138-4D60-B182-04D0B3439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542B95-F80D-4B42-9398-FC0A8FF09E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298605-46DC-4B2D-9433-726791A6CC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4F0B3E-458B-4530-AC26-2E01346C4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FA88FC1-A494-4354-884B-E481A60BED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8C4DA805-D11C-4020-8C12-0D9136EE6D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CE1025E-A46A-4C4F-BFFF-07DBC1B38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E776A80-C46F-4B45-A899-4003A8C066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1E92CC-BEEE-4C6D-8428-42D1E50E98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EA3F1D7-9170-4D87-B55B-A32017B226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15.16</c:v>
                </c:pt>
                <c:pt idx="1">
                  <c:v>17.23</c:v>
                </c:pt>
                <c:pt idx="2">
                  <c:v>9.65</c:v>
                </c:pt>
                <c:pt idx="3">
                  <c:v>0.21</c:v>
                </c:pt>
                <c:pt idx="4">
                  <c:v>0.75</c:v>
                </c:pt>
                <c:pt idx="5">
                  <c:v>0.48</c:v>
                </c:pt>
                <c:pt idx="6">
                  <c:v>0.43</c:v>
                </c:pt>
                <c:pt idx="7">
                  <c:v>1.84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C9694A98-F30F-4F2C-869A-E5D3EFDDF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21571B24-BC26-4D8B-A2A5-D351837E41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Jul'25 (LY)</c:v>
                </c:pt>
              </c:strCache>
            </c:strRef>
          </c:tx>
          <c:spPr>
            <a:solidFill>
              <a:srgbClr val="9FBCD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6.1</c:v>
                </c:pt>
                <c:pt idx="1">
                  <c:v>8.0</c:v>
                </c:pt>
                <c:pt idx="2">
                  <c:v>4.77</c:v>
                </c:pt>
                <c:pt idx="3">
                  <c:v>0.88</c:v>
                </c:pt>
                <c:pt idx="4">
                  <c:v>0.88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Jul'26 (TY)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17.23</c:v>
                </c:pt>
                <c:pt idx="1">
                  <c:v>15.16</c:v>
                </c:pt>
                <c:pt idx="2">
                  <c:v>9.65</c:v>
                </c:pt>
                <c:pt idx="3">
                  <c:v>1.84</c:v>
                </c:pt>
                <c:pt idx="4">
                  <c:v>0.75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chart" Target="../charts/chart3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chart" Target="../charts/chart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 conversion: Reliance at 47% drives ₹9.2 Cr pipeline risk — DMart improved to 92%, Apollo 74%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P&amp;O conversion | July 2026 | ₹ Cr | conversion % = offtake ÷ primary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primary ₹17.23 Cr — 46.8% converted; ₹9.17 Cr unsold. DMart improved to 92.2%; South-2 residual ₹1.19 Cr. Apollo 74.4%; ₹2.47 Cr gap. Lulu, H&amp;G, Wellness: offtake exceeds primary supply.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₹14.18 Cr billed-but-unsold pipeline risk (Reliance ₹9.17, Apollo ₹2.47, DMart ₹1.19, Metro ₹1.35). ₹1.27 Cr supply-constrained upside at Lulu, H&amp;G, and Wellness — demand established, primary not keeping pace.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no new loading; NKAM drives secondary sell-through in North &amp; East. Apollo: NKAM to push SKU-level sell-through; reconcile zone stock. Lulu/H&amp;G/Wellness: scale primary to match pull-through; avoid OOS. DMart: monitor South-2 DC fill.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NKAM (Reliance team). Apollo: NKAM (Apollo team). Lulu / H&amp;G / Wellness: NKAM + Supply Planning. DMart: NKAM. Review at next weekly MT call.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₹9.17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 — 53.2% unsold; ₹9.17 Cr pipeline risk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₹1.19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 — improved; South-2 residual ₹1.19 Cr remains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74.4%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₹2.47 Cr pipeline gap; recover zone-level secondary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+9.17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parity; South-2 residual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+1.35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−0.95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supply; scale primary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₹14.18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across four chains. Recoverable pool — 64.7% in Reliance, 17.4% in Apollo, 8.4% in DMart, 9.5% in Metro.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₹1.27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exceeds primary in Lulu, H&amp;G, and Wellness — demand established; primary supply needs scaling, not a mapping defect.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₹9.17 Cr pipeline at risk — attack North and East; convert billed inventory through hero-SKU visibility and replenishment. No new loading until secondary improves.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improved to 92.2%; residual ₹1.19 Cr concentrated in South-2. Review DC-to-store fill and top-SKU store availability in that region.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74.4% conversion with ₹2.47 Cr gap — push NKAM to drive secondary sell-through. Reconcile zone-level stock; national primary is healthy.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H&amp;G, Wellness: demand exceeds primary supply — offtake running ahead. Scale primary to match pull-through and avoid OOS. ₹1.27 Cr upside if supply keeps pace.</a:t>
            </a:r>
            <a:endParaRPr lang="en-US" sz="7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Reliance primary +183% YoY to ₹17.2 Cr — total MT primary doubled to ₹47.0 Cr; Lulu flat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primary: Jul'25 vs Jul'26 | ₹ Cr | allocated via distributor secondary weights | Jul'26 total ₹47.0 Cr vs Jul'25 ₹22.4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₹6.10 Cr → ₹17.23 Cr; largest absolute increase in MT primary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+90%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₹8.00 Cr → ₹15.16 Cr; consistent growth across zones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+102%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₹4.77 Cr → ₹9.65 Cr; strong YoY on direct billing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 — JUL'25 vs JUL'26 (₹ Cr)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₹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%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6.10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+11.13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YoY absolute gain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+7.16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across all zones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+109%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C&amp;C format;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−0.13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allocation shift; territory mix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4.77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9.65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+102%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direct billing growth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TOTAL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22.43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+24.59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doubled YoY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SPLIT — JUL'26 PRIMARY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 ₹41.6 Cr | TDC ₹3.7 Cr | Others ₹1.7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leads at ₹41.6 Cr (+117% YoY); The Derma Co. ₹3.7 Cr (+83%); Jul'25 brand: ME ₹19.9 Cr, TDC ₹2.0 Cr, AQ ₹0.33 Cr, BBlunt ₹0.14 Cr.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YoY CALLOUTS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 Reliance | +102% Apollo | −15% Lulu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flat YoY (dist. territory allocation shift — demand strong at ₹1.70 Cr offtake). Wellness and H&amp;G primary minimal in Jul'25 — growth from near-zero base.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NOTE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primary_article_Jul_25.csv (MT channel only) + primary_article_Jul_26.csv. Distributor primary allocated to chains using Jul'26 offtake territory weights (aggregate across brands).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direct primary: Reliance ₹5.86 Cr, DMart ₹3.73 Cr, Apollo ₹1.97 Cr, Metro ₹0.88 Cr. Distributor secondary (₹9.87 Cr) allocated via KOTTARAM/GV/Vanaja/Az weights.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₹22.43 Cr vs Jul'26 ₹47.02 Cr — +109.6% YoY. Key driver: Reliance direct POs more than doubled; Apollo Dist. allocation now fully mapped for the first time.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YoY decline is a territory-weight artifact — Jul'25 KOTTARAM/GV allocated more to Lulu (KER 76.8%/TN 8.6%) vs Jul'26 total. Offtake up ₹1.70 Cr confirms demand is real.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