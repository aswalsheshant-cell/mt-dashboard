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1695" cy="6858000" type="screen16x9"/>
  <p:notesSz cx="6858000" cy="12191695"/>
</p:presentation>
</file>

<file path=ppt/_rels/presentation.xml.rels><?xml version="1.0" encoding="UTF-8" standalone="yes"?>
<Relationships xmlns="http://schemas.openxmlformats.org/package/2006/relationships">
<Relationship Id="rIdMaster1" Type="http://schemas.openxmlformats.org/officeDocument/2006/relationships/slideMaster" Target="slideMasters/slideMaster1.xml"/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Slide3" Type="http://schemas.openxmlformats.org/officeDocument/2006/relationships/slide" Target="slides/slide3.xml"/>
<Relationship Id="rIdSlide4" Type="http://schemas.openxmlformats.org/officeDocument/2006/relationships/slide" Target="slides/slide4.xml"/>
<Relationship Id="rIdSlide5" Type="http://schemas.openxmlformats.org/officeDocument/2006/relationships/slide" Target="slides/slide5.xml"/>
<Relationship Id="rIdSlide6" Type="http://schemas.openxmlformats.org/officeDocument/2006/relationships/slide" Target="slides/slide6.xml"/>
<Relationship Id="rIdSlide7" Type="http://schemas.openxmlformats.org/officeDocument/2006/relationships/slide" Target="slides/slide7.xml"/>
<Relationship Id="rIdSlide8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Master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Layout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mbria"/>
              </a:rPr>
              <a:t>MODERN TRADE vs GENERAL TRADE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000" dirty="0">
                <a:solidFill>
                  <a:srgbClr val="ECE2D0"/>
                </a:solidFill>
                <a:latin typeface="Calibri"/>
              </a:rPr>
              <a:t>Deep-Dive Performance Comparison — Facewash &amp; Shampoo (Mamaearth)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i="1" dirty="0">
                <a:solidFill>
                  <a:srgbClr val="D9C7CE"/>
                </a:solidFill>
                <a:latin typeface="Calibri"/>
              </a:rPr>
              <a:t>Data through Jun'26  |  Source: Nielsen/Kantar Retail Audit Panel (Urban)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000" b="1" dirty="0">
                <a:solidFill>
                  <a:srgbClr val="1A1A1A"/>
                </a:solidFill>
                <a:latin typeface="Cambria"/>
              </a:rPr>
              <a:t>Executive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500" dirty="0">
                <a:solidFill>
                  <a:srgbClr val="666666"/>
                </a:solidFill>
                <a:latin typeface="Calibri"/>
              </a:rPr>
              <a:t>MT is winning on every axis; GT Shampoo is in active decline and needs urgent attention.</a:t>
            </a:r>
          </a:p>
        </p:txBody>
      </p:sp>
      <p:sp>
        <p:nvSpPr>
          <p:cNvPr id="4" name="Rect 4"/>
          <p:cNvSpPr/>
          <p:nvPr/>
        </p:nvSpPr>
        <p:spPr>
          <a:xfrm>
            <a:off x="548640" y="1691640"/>
            <a:ext cx="26974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13232" y="1856232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666666"/>
                </a:solidFill>
                <a:latin typeface="Calibri"/>
              </a:rPr>
              <a:t>MT Facewash (Mamaearth)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2377440"/>
            <a:ext cx="2368296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800" b="1" dirty="0">
                <a:solidFill>
                  <a:srgbClr val="1E9E6C"/>
                </a:solidFill>
                <a:latin typeface="Cambria"/>
              </a:rPr>
              <a:t>+55.2%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" y="3200400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100" dirty="0">
                <a:solidFill>
                  <a:srgbClr val="1A1A1A"/>
                </a:solidFill>
                <a:latin typeface="Calibri"/>
              </a:rPr>
              <a:t>L12M value growth; share +3.0pp to 10.5%</a:t>
            </a:r>
          </a:p>
        </p:txBody>
      </p:sp>
      <p:sp>
        <p:nvSpPr>
          <p:cNvPr id="8" name="Rect 8"/>
          <p:cNvSpPr/>
          <p:nvPr/>
        </p:nvSpPr>
        <p:spPr>
          <a:xfrm>
            <a:off x="3429000" y="1691640"/>
            <a:ext cx="26974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3593592" y="1856232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666666"/>
                </a:solidFill>
                <a:latin typeface="Calibri"/>
              </a:rPr>
              <a:t>GT Facewash (Mamaearth)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93592" y="2377440"/>
            <a:ext cx="2368296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800" b="1" dirty="0">
                <a:solidFill>
                  <a:srgbClr val="2F3C7E"/>
                </a:solidFill>
                <a:latin typeface="Cambria"/>
              </a:rPr>
              <a:t>+13.1%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93592" y="3200400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100" dirty="0">
                <a:solidFill>
                  <a:srgbClr val="1A1A1A"/>
                </a:solidFill>
                <a:latin typeface="Calibri"/>
              </a:rPr>
              <a:t>L12M value growth; share +0.3pp to 4.4%</a:t>
            </a:r>
          </a:p>
        </p:txBody>
      </p:sp>
      <p:sp>
        <p:nvSpPr>
          <p:cNvPr id="12" name="Rect 12"/>
          <p:cNvSpPr/>
          <p:nvPr/>
        </p:nvSpPr>
        <p:spPr>
          <a:xfrm>
            <a:off x="6309360" y="1691640"/>
            <a:ext cx="26974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473952" y="1856232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666666"/>
                </a:solidFill>
                <a:latin typeface="Calibri"/>
              </a:rPr>
              <a:t>MT Shampoo (Mamaearth)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73952" y="2377440"/>
            <a:ext cx="2368296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800" b="1" dirty="0">
                <a:solidFill>
                  <a:srgbClr val="1E9E6C"/>
                </a:solidFill>
                <a:latin typeface="Cambria"/>
              </a:rPr>
              <a:t>+48.4%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73952" y="3200400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100" dirty="0">
                <a:solidFill>
                  <a:srgbClr val="1A1A1A"/>
                </a:solidFill>
                <a:latin typeface="Calibri"/>
              </a:rPr>
              <a:t>L12M value growth; share +1.2pp to 3.7%</a:t>
            </a:r>
          </a:p>
        </p:txBody>
      </p:sp>
      <p:sp>
        <p:nvSpPr>
          <p:cNvPr id="16" name="Rect 16"/>
          <p:cNvSpPr/>
          <p:nvPr/>
        </p:nvSpPr>
        <p:spPr>
          <a:xfrm>
            <a:off x="9189720" y="1691640"/>
            <a:ext cx="26974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9354312" y="1856232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666666"/>
                </a:solidFill>
                <a:latin typeface="Calibri"/>
              </a:rPr>
              <a:t>GT Shampoo (Mamaearth)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54312" y="2377440"/>
            <a:ext cx="2368296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800" b="1" dirty="0">
                <a:solidFill>
                  <a:srgbClr val="C0392B"/>
                </a:solidFill>
                <a:latin typeface="Cambria"/>
              </a:rPr>
              <a:t>-22.8%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54312" y="3200400"/>
            <a:ext cx="2368296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100" dirty="0">
                <a:solidFill>
                  <a:srgbClr val="1A1A1A"/>
                </a:solidFill>
                <a:latin typeface="Calibri"/>
              </a:rPr>
              <a:t>L12M value DECLINE; distribution -5.0pp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600" b="1" dirty="0">
                <a:solidFill>
                  <a:srgbClr val="6D2E46"/>
                </a:solidFill>
                <a:latin typeface="Calibri"/>
              </a:rPr>
              <a:t>Bottom 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8640" y="4526280"/>
            <a:ext cx="10972800" cy="2011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•  MT: share, distribution, and dealer productivity all rising fast in both categories — a genuine bright spot.</a:t>
            </a:r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•  GT Facewash: holding steady but underperforming MT; GT Shampoo: value, share, distribution and store count all falling double-digits.</a:t>
            </a:r>
          </a:p>
          <a:p>
            <a:pPr algn="l">
              <a:spcAft>
                <a:spcPts val="1000"/>
              </a:spcAft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•  Action: root-cause GT Shampoo distribution loss before FY27 planning; replicate MT's merchandising playbook into top GT chains.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800" b="1" dirty="0">
                <a:solidFill>
                  <a:srgbClr val="1A1A1A"/>
                </a:solidFill>
                <a:latin typeface="Cambria"/>
              </a:rPr>
              <a:t>Facewash — MT vs GT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i="1" dirty="0">
                <a:solidFill>
                  <a:srgbClr val="666666"/>
                </a:solidFill>
                <a:latin typeface="Calibri"/>
              </a:rPr>
              <a:t>Mamaearth performance, Nielsen/Kantar retail audit panel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48640" y="1325880"/>
          <a:ext cx="10881360" cy="3200400"/>
        </p:xfrm>
        <a:graphic>
          <a:graphicData uri="http://schemas.openxmlformats.org/drawingml/2006/table">
            <a:tbl>
              <a:tblPr firstRow="1" bandRow="0"/>
              <a:tblGrid>
                <a:gridCol w="4023360"/>
                <a:gridCol w="1737360"/>
                <a:gridCol w="173736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 (L12M, Jun'25→Jun'26)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Category value growth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+9.9%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+5.1%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MT category growing ~2x faster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Mamaearth value growth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+55.2%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+13.1%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MT growth 4x GT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Mamaearth Market Share (Val)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7.5% -&gt; 10.5%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4.1% -&gt; 4.4%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MT share +3.0pp vs GT +0.3pp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Weighted Distribution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78.7% -&gt; 87.0%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n/a in extract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MT approaching distribution ceiling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PDO (Rs/dealer, productivity)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+19.9%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productivity declining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Jun'26 vs Jun'25 (latest month)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+58.3%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+9.6%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category itself flat (-0.2%)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5"/>
          <p:cNvSpPr/>
          <p:nvPr/>
        </p:nvSpPr>
        <p:spPr>
          <a:xfrm>
            <a:off x="548640" y="4846320"/>
            <a:ext cx="11064240" cy="91440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822960" y="4956048"/>
            <a:ext cx="105156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Read: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5276088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  <a:latin typeface="Calibri"/>
              </a:rPr>
              <a:t>MT is compounding share and distribution gains; GT growth is real but far slower and productivity (PDO) is declining.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800" b="1" dirty="0">
                <a:solidFill>
                  <a:srgbClr val="1A1A1A"/>
                </a:solidFill>
                <a:latin typeface="Cambria"/>
              </a:rPr>
              <a:t>Shampoo — MT vs GT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i="1" dirty="0">
                <a:solidFill>
                  <a:srgbClr val="666666"/>
                </a:solidFill>
                <a:latin typeface="Calibri"/>
              </a:rPr>
              <a:t>Mamaearth performance — steepest MT/GT divergence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48640" y="1325880"/>
          <a:ext cx="10881360" cy="3200400"/>
        </p:xfrm>
        <a:graphic>
          <a:graphicData uri="http://schemas.openxmlformats.org/drawingml/2006/table">
            <a:tbl>
              <a:tblPr firstRow="1" bandRow="0"/>
              <a:tblGrid>
                <a:gridCol w="4023360"/>
                <a:gridCol w="1737360"/>
                <a:gridCol w="173736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 (L12M, Jun'25→Jun'26)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Category value growth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flat (~0%)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Category itself soft in both channels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Mamaearth value growth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+48.4%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-22.8%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Mamaearth shampoo DECLINING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Mamaearth Market Share (Val)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2.5% -&gt; 3.7%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1.2% -&gt; 0.9%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share eroding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Weighted Distribution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73.5% -&gt; 78.3%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28.3% -&gt; 23.3%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losing listings (-5.0pp)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# Stores Retailing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+17.3%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GT store count shrinking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Jun'26 vs Jun'25 (latest month)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+93.8%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-20.0%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/>
                        </a:rPr>
                        <a:t>Sharpest divergence of all metrics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5"/>
          <p:cNvSpPr/>
          <p:nvPr/>
        </p:nvSpPr>
        <p:spPr>
          <a:xfrm>
            <a:off x="548640" y="4846320"/>
            <a:ext cx="1106424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822960" y="4956048"/>
            <a:ext cx="105156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Read: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5276088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  <a:latin typeface="Calibri"/>
              </a:rPr>
              <a:t>GT Shampoo is in active decline on every metric — value, share, distribution, and store count. This is the single weakest pocket and needs urgent root-cause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800" b="1" dirty="0">
                <a:solidFill>
                  <a:srgbClr val="1A1A1A"/>
                </a:solidFill>
                <a:latin typeface="Cambria"/>
              </a:rPr>
              <a:t>Why This Is Happening</a:t>
            </a:r>
          </a:p>
        </p:txBody>
      </p:sp>
      <p:sp>
        <p:nvSpPr>
          <p:cNvPr id="3" name="Rect 3"/>
          <p:cNvSpPr/>
          <p:nvPr/>
        </p:nvSpPr>
        <p:spPr>
          <a:xfrm>
            <a:off x="548640" y="1051560"/>
            <a:ext cx="73152" cy="9144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77240" y="1051560"/>
            <a:ext cx="10607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6D2E46"/>
                </a:solidFill>
                <a:latin typeface="Calibri"/>
              </a:rPr>
              <a:t>Distribution is the core lever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" y="1417320"/>
            <a:ext cx="1060704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250" dirty="0">
                <a:solidFill>
                  <a:srgbClr val="1A1A1A"/>
                </a:solidFill>
                <a:latin typeface="Calibri"/>
              </a:rPr>
              <a:t>MT WD is near ceiling (87-89%) and still adding stores (+17-32%); GT shampoo WD fell 5pp and Mamaearth GT stores shrank 9% — a de-listing problem, not a demand problem.</a:t>
            </a:r>
          </a:p>
        </p:txBody>
      </p:sp>
      <p:sp>
        <p:nvSpPr>
          <p:cNvPr id="6" name="Rect 6"/>
          <p:cNvSpPr/>
          <p:nvPr/>
        </p:nvSpPr>
        <p:spPr>
          <a:xfrm>
            <a:off x="548640" y="2103120"/>
            <a:ext cx="73152" cy="9144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6D2E46"/>
                </a:solidFill>
                <a:latin typeface="Calibri"/>
              </a:rPr>
              <a:t>Productivity gap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2468880"/>
            <a:ext cx="1060704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250" dirty="0">
                <a:solidFill>
                  <a:srgbClr val="1A1A1A"/>
                </a:solidFill>
                <a:latin typeface="Calibri"/>
              </a:rPr>
              <a:t>MT PDO growth is 20-62%; GT PDO is flat-to-declining — MT merchandising/visibility execution is converting distribution into offtake far more efficiently.</a:t>
            </a:r>
          </a:p>
        </p:txBody>
      </p:sp>
      <p:sp>
        <p:nvSpPr>
          <p:cNvPr id="9" name="Rect 9"/>
          <p:cNvSpPr/>
          <p:nvPr/>
        </p:nvSpPr>
        <p:spPr>
          <a:xfrm>
            <a:off x="548640" y="3154680"/>
            <a:ext cx="73152" cy="9144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77240" y="3154680"/>
            <a:ext cx="10607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500" b="1" dirty="0">
                <a:solidFill>
                  <a:srgbClr val="6D2E46"/>
                </a:solidFill>
                <a:latin typeface="Calibri"/>
              </a:rPr>
              <a:t>Pack mix explains part of the price gap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" y="3520440"/>
            <a:ext cx="1060704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250" dirty="0">
                <a:solidFill>
                  <a:srgbClr val="1A1A1A"/>
                </a:solidFill>
                <a:latin typeface="Calibri"/>
              </a:rPr>
              <a:t>GT shampoo basket skews small packs (180/100/200/80ml); MT skews large packs (650/340/180/1000ml) — this caps GT per-store realization and PDO.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4297680"/>
          <a:ext cx="11064240" cy="1463040"/>
        </p:xfrm>
        <a:graphic>
          <a:graphicData uri="http://schemas.openxmlformats.org/drawingml/2006/table">
            <a:tbl>
              <a:tblPr firstRow="1" bandRow="0"/>
              <a:tblGrid>
                <a:gridCol w="3108960"/>
                <a:gridCol w="2423160"/>
                <a:gridCol w="3108960"/>
                <a:gridCol w="2423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MT — Top Packs (Jun'26)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GT — Top Packs (Jun'26)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650ml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41.4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180ml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180ml / 340ml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22.2 each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1000ml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20.1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200ml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600" b="1" dirty="0">
                <a:solidFill>
                  <a:srgbClr val="1A1A1A"/>
                </a:solidFill>
                <a:latin typeface="Cambria"/>
              </a:rPr>
              <a:t>Competitive Landscape — National Urban (Nielsen)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804672"/>
            <a:ext cx="109728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200" i="1" dirty="0">
                <a:solidFill>
                  <a:srgbClr val="666666"/>
                </a:solidFill>
                <a:latin typeface="Calibri"/>
              </a:rPr>
              <a:t>Separate data source: total Urban MS Val vs named competitors, May'26 vintage (not the MT/GT panel in prior slides).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1325880"/>
            <a:ext cx="54406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400" b="1" dirty="0">
                <a:solidFill>
                  <a:srgbClr val="6D2E46"/>
                </a:solidFill>
                <a:latin typeface="Calibri"/>
              </a:rPr>
              <a:t>Facewash — top competitors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91640"/>
          <a:ext cx="5440680" cy="2880360"/>
        </p:xfrm>
        <a:graphic>
          <a:graphicData uri="http://schemas.openxmlformats.org/drawingml/2006/table">
            <a:tbl>
              <a:tblPr firstRow="1" bandRow="0"/>
              <a:tblGrid>
                <a:gridCol w="731520"/>
                <a:gridCol w="2011680"/>
                <a:gridCol w="1188720"/>
                <a:gridCol w="960120"/>
                <a:gridCol w="548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MS Val 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Himalaya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17.9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-328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Garnier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11.8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+55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Pond's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-61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+311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Clean &amp; Clear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+22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The Derma Co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+71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6172200" y="1325880"/>
            <a:ext cx="54406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400" b="1" dirty="0">
                <a:solidFill>
                  <a:srgbClr val="6D2E46"/>
                </a:solidFill>
                <a:latin typeface="Calibri"/>
              </a:rPr>
              <a:t>Shampoo — top competitors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172200" y="1691640"/>
          <a:ext cx="5440680" cy="2468880"/>
        </p:xfrm>
        <a:graphic>
          <a:graphicData uri="http://schemas.openxmlformats.org/drawingml/2006/table">
            <a:tbl>
              <a:tblPr firstRow="1" bandRow="0"/>
              <a:tblGrid>
                <a:gridCol w="731520"/>
                <a:gridCol w="2011680"/>
                <a:gridCol w="1188720"/>
                <a:gridCol w="960120"/>
                <a:gridCol w="548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MS Val 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22.1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+130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19.0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+200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+140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+130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8" name="Rect 8"/>
          <p:cNvSpPr/>
          <p:nvPr/>
        </p:nvSpPr>
        <p:spPr>
          <a:xfrm>
            <a:off x="548640" y="4663440"/>
            <a:ext cx="11064240" cy="1463040"/>
          </a:xfrm>
          <a:prstGeom prst="roundRect">
            <a:avLst/>
          </a:prstGeom>
          <a:solidFill>
            <a:srgbClr val="ECE2D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22960" y="4828032"/>
            <a:ext cx="10515600" cy="1143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6D2E46"/>
                </a:solidFill>
                <a:latin typeface="Calibri"/>
              </a:rPr>
              <a:t>Facewash: </a:t>
            </a:r>
            <a:r>
              <a:rPr lang="en-US" sz="1250" dirty="0">
                <a:solidFill>
                  <a:srgbClr val="1A1A1A"/>
                </a:solidFill>
                <a:latin typeface="Calibri"/>
              </a:rPr>
              <a:t>Mamaearth ranks #4 nationally and is growing share fastest of the top 5 (+311bps YoY vs next-best Garnier +55bps) — validates the MT bright-spot story at national level too.</a:t>
            </a:r>
          </a:p>
          <a:p>
            <a:pPr algn="l"/>
            <a:r>
              <a:rPr lang="en-US" sz="1300" b="1" dirty="0">
                <a:solidFill>
                  <a:srgbClr val="6D2E46"/>
                </a:solidFill>
                <a:latin typeface="Calibri"/>
              </a:rPr>
              <a:t>Shampoo: </a:t>
            </a:r>
            <a:r>
              <a:rPr lang="en-US" sz="1250" dirty="0">
                <a:solidFill>
                  <a:srgbClr val="1A1A1A"/>
                </a:solidFill>
                <a:latin typeface="Calibri"/>
              </a:rPr>
              <a:t>Mamaearth is #7 nationally; category leaders (Dove, H&amp;S) are also growing double-digit bps YoY — this is a crowded, well-defended category, consistent with GT-specific weakness found in the MT vs GT panel.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600" b="1" dirty="0">
                <a:solidFill>
                  <a:srgbClr val="1A1A1A"/>
                </a:solidFill>
                <a:latin typeface="Cambria"/>
              </a:rPr>
              <a:t>Pack-Size &amp; State White Space (Nielsen, May'26)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400" b="1" dirty="0">
                <a:solidFill>
                  <a:srgbClr val="6D2E46"/>
                </a:solidFill>
                <a:latin typeface="Calibri"/>
              </a:rPr>
              <a:t>Mamaearth Facewash — pack size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48640" y="1325880"/>
          <a:ext cx="11064240" cy="2468880"/>
        </p:xfrm>
        <a:graphic>
          <a:graphicData uri="http://schemas.openxmlformats.org/drawingml/2006/table">
            <a:tbl>
              <a:tblPr firstRow="1" bandRow="0"/>
              <a:tblGrid>
                <a:gridCol w="1371600"/>
                <a:gridCol w="3017520"/>
                <a:gridCol w="1828800"/>
                <a:gridCol w="48463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Pack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% of Mamaearth Facewash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YoY Growth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150ml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+98%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Hero pack — protect shelf depth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-11%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Declining — check availability/promo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200ml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Emerging growth builder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50ml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+80%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Trial pack — till-point placement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250ml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-94%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Sharp decline, low base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400" b="1" dirty="0">
                <a:solidFill>
                  <a:srgbClr val="6D2E46"/>
                </a:solidFill>
                <a:latin typeface="Calibri"/>
              </a:rPr>
              <a:t>High-contribution, low-share states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4069080"/>
          <a:ext cx="11064240" cy="1920240"/>
        </p:xfrm>
        <a:graphic>
          <a:graphicData uri="http://schemas.openxmlformats.org/drawingml/2006/table">
            <a:tbl>
              <a:tblPr firstRow="1" bandRow="0"/>
              <a:tblGrid>
                <a:gridCol w="3657600"/>
                <a:gridCol w="2468880"/>
                <a:gridCol w="201168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Category Contribution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Gap Read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Uttar Pradesh (Facewash)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Maharashtra (Facewash)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Maharashtra (Shampoo)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Uttar Pradesh (Shampoo)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 7"/>
          <p:cNvSpPr/>
          <p:nvPr/>
        </p:nvSpPr>
        <p:spPr>
          <a:xfrm>
            <a:off x="548640" y="5806440"/>
            <a:ext cx="11064240" cy="77724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Key insight: Uttar Pradesh and Maharashtra are the two largest under-penetrated states across BOTH Facewash and Shampoo — the single biggest distribution/visibility white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800" b="1" dirty="0">
                <a:solidFill>
                  <a:srgbClr val="1A1A1A"/>
                </a:solidFill>
                <a:latin typeface="Cambria"/>
              </a:rPr>
              <a:t>Action Tracker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48640" y="1097280"/>
          <a:ext cx="11064240" cy="3968496"/>
        </p:xfrm>
        <a:graphic>
          <a:graphicData uri="http://schemas.openxmlformats.org/drawingml/2006/table">
            <a:tbl>
              <a:tblPr firstRow="1" bandRow="0"/>
              <a:tblGrid>
                <a:gridCol w="5577840"/>
                <a:gridCol w="219456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F3C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Diagnose GT Shampoo distribution loss via stockist-level DMS billing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GT Sales / DMS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Aug'26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P1 - Immediate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Push 340/650ml SKUs into top 20 GT chains to lift PDO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RKAM / GT Category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Sep'26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Pilot MT merchandising/visibility playbook in 20 GT towns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Trade Marketing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Sep'26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Sustain MT momentum — protect fill-rate as stores scale +30%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NKAM / MT Team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Re-baseline FY27 GT Shampoo plan given -22.8% LTM decline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Category Lead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Before QBR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Close UP/Maharashtra distribution white space (both categories)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RKAM / Zone Sales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Q3 FY27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TvsGT">
  <a:themeElements>
    <a:clrScheme name="MTvsGT">
      <a:dk1>
        <a:srgbClr val="1A1A1A"/>
      </a:dk1>
      <a:lt1>
        <a:srgbClr val="FFFFFF"/>
      </a:lt1>
      <a:dk2>
        <a:srgbClr val="6D2E46"/>
      </a:dk2>
      <a:lt2>
        <a:srgbClr val="ECE2D0"/>
      </a:lt2>
      <a:accent1>
        <a:srgbClr val="6D2E46"/>
      </a:accent1>
      <a:accent2>
        <a:srgbClr val="A26769"/>
      </a:accent2>
      <a:accent3>
        <a:srgbClr val="2F3C7E"/>
      </a:accent3>
      <a:accent4>
        <a:srgbClr val="1E9E6C"/>
      </a:accent4>
      <a:accent5>
        <a:srgbClr val="C0392B"/>
      </a:accent5>
      <a:accent6>
        <a:srgbClr val="ECE2D0"/>
      </a:accent6>
      <a:hlink>
        <a:srgbClr val="2F3C7E"/>
      </a:hlink>
      <a:folHlink>
        <a:srgbClr val="A26769"/>
      </a:folHlink>
    </a:clrScheme>
    <a:fontScheme name="MTvsGT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MTvsG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Custom</Application>
</Properties>
</file>

<file path=docProps/core.xml><?xml version="1.0" encoding="utf-8"?>
<cp:coreProperties xmlns:cp="http://schemas.openxmlformats.org/package/2006/metadata/core-properties" xmlns:dc="http://purl.org/dc/elements/1.1/">
  <dc:title>MT vs GT Deep Dive</dc:title>
  <dc:creator>MT Channel Analytics</dc:creator>
</cp:coreProperties>
</file>