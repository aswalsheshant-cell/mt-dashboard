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
<Relationship Id="rIdMaster1" Type="http://schemas.openxmlformats.org/officeDocument/2006/relationships/slideMaster" Target="slideMasters/slideMaster1.xml"/>
<Relationship Id="rIdSlide1" Type="http://schemas.openxmlformats.org/officeDocument/2006/relationships/slide" Target="slides/slide1.xml"/>
<Relationship Id="rIdSlide2" Type="http://schemas.openxmlformats.org/officeDocument/2006/relationships/slide" Target="slides/slide2.xml"/>
<Relationship Id="rIdSlide3" Type="http://schemas.openxmlformats.org/officeDocument/2006/relationships/slide" Target="slides/slide3.xml"/>
<Relationship Id="rIdSlide4" Type="http://schemas.openxmlformats.org/officeDocument/2006/relationships/slide" Target="slides/slide4.xml"/>
<Relationship Id="rIdSlide5" Type="http://schemas.openxmlformats.org/officeDocument/2006/relationships/slide" Target="slides/slide5.xml"/>
<Relationship Id="rIdSlide6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mbria"/>
              </a:rPr>
              <a:t>MODERN TRADE vs GENERAL TRADE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000" dirty="0">
                <a:solidFill>
                  <a:srgbClr val="ECE2D0"/>
                </a:solidFill>
                <a:latin typeface="Calibri"/>
              </a:rPr>
              <a:t>Deep-Dive Performance Comparison — Facewash &amp; Shampoo (Mamaearth)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D9C7CE"/>
                </a:solidFill>
                <a:latin typeface="Calibri"/>
              </a:rPr>
              <a:t>Data through Jun'26  |  Source: Nielsen/Kantar Retail Audit Panel (Urban)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000" b="1" dirty="0">
                <a:solidFill>
                  <a:srgbClr val="1A1A1A"/>
                </a:solidFill>
                <a:latin typeface="Cambria"/>
              </a:rPr>
              <a:t>Executive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dirty="0">
                <a:solidFill>
                  <a:srgbClr val="666666"/>
                </a:solidFill>
                <a:latin typeface="Calibri"/>
              </a:rPr>
              <a:t>MT is winning on every axis; GT Shampoo is in active decline and needs urgent attention.</a:t>
            </a:r>
          </a:p>
        </p:txBody>
      </p:sp>
      <p:sp>
        <p:nvSpPr>
          <p:cNvPr id="4" name="Rect 4"/>
          <p:cNvSpPr/>
          <p:nvPr/>
        </p:nvSpPr>
        <p:spPr>
          <a:xfrm>
            <a:off x="54864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71323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MT Facewash (Mamaearth)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323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1E9E6C"/>
                </a:solidFill>
                <a:latin typeface="Cambria"/>
              </a:rPr>
              <a:t>+55.2%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323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+3.0pp to 10.5%</a:t>
            </a:r>
          </a:p>
        </p:txBody>
      </p:sp>
      <p:sp>
        <p:nvSpPr>
          <p:cNvPr id="8" name="Rect 8"/>
          <p:cNvSpPr/>
          <p:nvPr/>
        </p:nvSpPr>
        <p:spPr>
          <a:xfrm>
            <a:off x="342900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9359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GT Facewash (Mamaearth)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9359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2F3C7E"/>
                </a:solidFill>
                <a:latin typeface="Cambria"/>
              </a:rPr>
              <a:t>+13.1%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9359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+0.3pp to 4.4%</a:t>
            </a:r>
          </a:p>
        </p:txBody>
      </p:sp>
      <p:sp>
        <p:nvSpPr>
          <p:cNvPr id="12" name="Rect 12"/>
          <p:cNvSpPr/>
          <p:nvPr/>
        </p:nvSpPr>
        <p:spPr>
          <a:xfrm>
            <a:off x="630936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47395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MT Shampoo (Mamaearth)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7395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1E9E6C"/>
                </a:solidFill>
                <a:latin typeface="Cambria"/>
              </a:rPr>
              <a:t>+48.4%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7395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+1.2pp to 3.7%</a:t>
            </a:r>
          </a:p>
        </p:txBody>
      </p:sp>
      <p:sp>
        <p:nvSpPr>
          <p:cNvPr id="16" name="Rect 16"/>
          <p:cNvSpPr/>
          <p:nvPr/>
        </p:nvSpPr>
        <p:spPr>
          <a:xfrm>
            <a:off x="918972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35431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GT Shampoo (Mamaearth)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5431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C0392B"/>
                </a:solidFill>
                <a:latin typeface="Cambria"/>
              </a:rPr>
              <a:t>-22.8%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5431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DECLINE; distribution -5.0pp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600" b="1" dirty="0">
                <a:solidFill>
                  <a:srgbClr val="6D2E46"/>
                </a:solidFill>
                <a:latin typeface="Calibri"/>
              </a:rPr>
              <a:t>Bottom line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8640" y="4526280"/>
            <a:ext cx="10972800" cy="2011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MT: share, distribution, and dealer productivity all rising fast in both categories — a genuine bright spot.</a:t>
            </a:r>
          </a:p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GT Facewash: holding steady but underperforming MT; GT Shampoo: value, share, distribution and store count all falling double-digits.</a:t>
            </a:r>
          </a:p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Action: root-cause GT Shampoo distribution loss before FY27 planning; replicate MT's merchandising playbook into top GT chains.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Facewash — MT vs GT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666666"/>
                </a:solidFill>
                <a:latin typeface="Calibri"/>
              </a:rPr>
              <a:t>Mamaearth performance, Nielsen/Kantar retail audit panel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088136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023360"/>
                <a:gridCol w="1737360"/>
                <a:gridCol w="17373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Metric (L12M, Jun'25→Jun'26)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+9.9%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category growing ~2x faster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+55.2%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+13.1%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growth 4x GT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Market Share (Val)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7.5% -&gt; 10.5%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4.1% -&gt; 4.4%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share +3.0pp vs GT +0.3pp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Weighted Distribution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78.7% -&gt; 87.0%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n/a in extract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approaching distribution ceiling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PDO (Rs/dealer, productivity)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+19.9%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productivity declining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Jun'26 vs Jun'25 (latest month)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+58.3%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+9.6%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category itself flat (-0.2%)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 5"/>
          <p:cNvSpPr/>
          <p:nvPr/>
        </p:nvSpPr>
        <p:spPr>
          <a:xfrm>
            <a:off x="548640" y="4846320"/>
            <a:ext cx="11064240" cy="91440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Read: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527608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dirty="0">
                <a:solidFill>
                  <a:srgbClr val="FFFFFF"/>
                </a:solidFill>
                <a:latin typeface="Calibri"/>
              </a:rPr>
              <a:t>MT is compounding share and distribution gains; GT growth is real but far slower and productivity (PDO) is declining.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Shampoo — MT vs GT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666666"/>
                </a:solidFill>
                <a:latin typeface="Calibri"/>
              </a:rPr>
              <a:t>Mamaearth performance — steepest MT/GT divergence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088136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023360"/>
                <a:gridCol w="1737360"/>
                <a:gridCol w="17373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Metric (L12M, Jun'25→Jun'26)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flat (~0%)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itself soft in both channels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+48.4%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-22.8%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Mamaearth shampoo DECLINING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Market Share (Val)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2.5% -&gt; 3.7%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1.2% -&gt; 0.9%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share eroding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Weighted Distribution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73.5% -&gt; 78.3%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28.3% -&gt; 23.3%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losing listings (-5.0pp)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# Stores Retailing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+17.3%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store count shrinking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Jun'26 vs Jun'25 (latest month)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+93.8%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-20.0%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Sharpest divergence of all metrics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 5"/>
          <p:cNvSpPr/>
          <p:nvPr/>
        </p:nvSpPr>
        <p:spPr>
          <a:xfrm>
            <a:off x="548640" y="4846320"/>
            <a:ext cx="1106424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Read: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527608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dirty="0">
                <a:solidFill>
                  <a:srgbClr val="FFFFFF"/>
                </a:solidFill>
                <a:latin typeface="Calibri"/>
              </a:rPr>
              <a:t>GT Shampoo is in active decline on every metric — value, share, distribution, and store count. This is the single weakest pocket and needs urgent root-cause diagnosis.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Why This Is Happening</a:t>
            </a:r>
          </a:p>
        </p:txBody>
      </p:sp>
      <p:sp>
        <p:nvSpPr>
          <p:cNvPr id="3" name="Rect 3"/>
          <p:cNvSpPr/>
          <p:nvPr/>
        </p:nvSpPr>
        <p:spPr>
          <a:xfrm>
            <a:off x="548640" y="105156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4" name="TextBox 4"/>
          <p:cNvSpPr txBox="1"/>
          <p:nvPr/>
        </p:nvSpPr>
        <p:spPr>
          <a:xfrm>
            <a:off x="777240" y="105156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Distribution is the core lever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240" y="141732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MT WD is near ceiling (87-89%) and still adding stores (+17-32%); GT shampoo WD fell 5pp and Mamaearth GT stores shrank 9% — a de-listing problem, not a demand problem.</a:t>
            </a:r>
          </a:p>
        </p:txBody>
      </p:sp>
      <p:sp>
        <p:nvSpPr>
          <p:cNvPr id="6" name="Rect 6"/>
          <p:cNvSpPr/>
          <p:nvPr/>
        </p:nvSpPr>
        <p:spPr>
          <a:xfrm>
            <a:off x="548640" y="210312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Productivity gap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7240" y="246888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MT PDO growth is 20-62%; GT PDO is flat-to-declining — MT merchandising/visibility execution is converting distribution into offtake far more efficiently.</a:t>
            </a:r>
          </a:p>
        </p:txBody>
      </p:sp>
      <p:sp>
        <p:nvSpPr>
          <p:cNvPr id="9" name="Rect 9"/>
          <p:cNvSpPr/>
          <p:nvPr/>
        </p:nvSpPr>
        <p:spPr>
          <a:xfrm>
            <a:off x="548640" y="315468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777240" y="315468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Pack mix explains part of the price gap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7240" y="352044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GT shampoo basket skews small packs (180/100/200/80ml); MT skews large packs (650/340/180/1000ml) — this caps GT per-store realization and PDO.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548640" y="4297680"/>
          <a:ext cx="1106424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108960"/>
                <a:gridCol w="2423160"/>
                <a:gridCol w="310896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MT — Top Packs (Jun'26)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GT — Top Packs (Jun'26)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650ml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41.4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180ml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180ml / 340ml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22.2 each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13.3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Action Tracker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48640" y="1097280"/>
          <a:ext cx="11064240" cy="35661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77840"/>
                <a:gridCol w="2194560"/>
                <a:gridCol w="1645920"/>
                <a:gridCol w="164592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Diagnose GT Shampoo distribution loss via stockist-level DMS billing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Sales / DMS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Aug'26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P1 - Immediate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Push 340/650ml SKUs into top 20 GT chains to lift PDO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RKAM / GT Category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Sep'26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Pilot MT merchandising/visibility playbook in 20 GT towns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Trade Marketing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Sep'26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Sustain MT momentum — protect fill-rate as stores scale +30%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NKAM / MT Team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Re-baseline FY27 GT Shampoo plan given -22.8% LTM decline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Lead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Before QBR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TvsGT">
  <a:themeElements>
    <a:clrScheme name="MTvsGT">
      <a:dk1>
        <a:srgbClr val="1A1A1A"/>
      </a:dk1>
      <a:lt1>
        <a:srgbClr val="FFFFFF"/>
      </a:lt1>
      <a:dk2>
        <a:srgbClr val="6D2E46"/>
      </a:dk2>
      <a:lt2>
        <a:srgbClr val="ECE2D0"/>
      </a:lt2>
      <a:accent1>
        <a:srgbClr val="6D2E46"/>
      </a:accent1>
      <a:accent2>
        <a:srgbClr val="A26769"/>
      </a:accent2>
      <a:accent3>
        <a:srgbClr val="2F3C7E"/>
      </a:accent3>
      <a:accent4>
        <a:srgbClr val="1E9E6C"/>
      </a:accent4>
      <a:accent5>
        <a:srgbClr val="C0392B"/>
      </a:accent5>
      <a:accent6>
        <a:srgbClr val="ECE2D0"/>
      </a:accent6>
      <a:hlink>
        <a:srgbClr val="2F3C7E"/>
      </a:hlink>
      <a:folHlink>
        <a:srgbClr val="A26769"/>
      </a:folHlink>
    </a:clrScheme>
    <a:fontScheme name="MTvsGT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MTvsG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Custom</Application>
</Properties>
</file>

<file path=docProps/core.xml><?xml version="1.0" encoding="utf-8"?>
<cp:coreProperties xmlns:cp="http://schemas.openxmlformats.org/package/2006/metadata/core-properties" xmlns:dc="http://purl.org/dc/elements/1.1/">
  <dc:title>MT vs GT Deep Dive</dc:title>
  <dc:creator>MT Channel Analytics</dc:creator>
</cp:coreProperties>
</file>